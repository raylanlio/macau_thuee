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5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6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ink/ink7.xml" ContentType="application/inkml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ink/ink8.xml" ContentType="application/inkml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86"/>
  </p:notesMasterIdLst>
  <p:handoutMasterIdLst>
    <p:handoutMasterId r:id="rId87"/>
  </p:handoutMasterIdLst>
  <p:sldIdLst>
    <p:sldId id="1946" r:id="rId3"/>
    <p:sldId id="1990" r:id="rId4"/>
    <p:sldId id="1677" r:id="rId5"/>
    <p:sldId id="1714" r:id="rId6"/>
    <p:sldId id="1678" r:id="rId7"/>
    <p:sldId id="1940" r:id="rId8"/>
    <p:sldId id="1708" r:id="rId9"/>
    <p:sldId id="1814" r:id="rId10"/>
    <p:sldId id="1813" r:id="rId11"/>
    <p:sldId id="1815" r:id="rId12"/>
    <p:sldId id="1816" r:id="rId13"/>
    <p:sldId id="1711" r:id="rId14"/>
    <p:sldId id="1704" r:id="rId15"/>
    <p:sldId id="1709" r:id="rId16"/>
    <p:sldId id="1706" r:id="rId17"/>
    <p:sldId id="1712" r:id="rId18"/>
    <p:sldId id="1707" r:id="rId19"/>
    <p:sldId id="1710" r:id="rId20"/>
    <p:sldId id="1926" r:id="rId21"/>
    <p:sldId id="1905" r:id="rId22"/>
    <p:sldId id="1702" r:id="rId23"/>
    <p:sldId id="1715" r:id="rId24"/>
    <p:sldId id="1682" r:id="rId25"/>
    <p:sldId id="1717" r:id="rId26"/>
    <p:sldId id="1718" r:id="rId27"/>
    <p:sldId id="1719" r:id="rId28"/>
    <p:sldId id="1725" r:id="rId29"/>
    <p:sldId id="1720" r:id="rId30"/>
    <p:sldId id="1726" r:id="rId31"/>
    <p:sldId id="1729" r:id="rId32"/>
    <p:sldId id="1730" r:id="rId33"/>
    <p:sldId id="1716" r:id="rId34"/>
    <p:sldId id="1721" r:id="rId35"/>
    <p:sldId id="1722" r:id="rId36"/>
    <p:sldId id="1921" r:id="rId37"/>
    <p:sldId id="1734" r:id="rId38"/>
    <p:sldId id="1735" r:id="rId39"/>
    <p:sldId id="1724" r:id="rId40"/>
    <p:sldId id="1923" r:id="rId41"/>
    <p:sldId id="1703" r:id="rId42"/>
    <p:sldId id="1924" r:id="rId43"/>
    <p:sldId id="1914" r:id="rId44"/>
    <p:sldId id="1991" r:id="rId45"/>
    <p:sldId id="1593" r:id="rId46"/>
    <p:sldId id="1542" r:id="rId47"/>
    <p:sldId id="1942" r:id="rId48"/>
    <p:sldId id="1741" r:id="rId49"/>
    <p:sldId id="1773" r:id="rId50"/>
    <p:sldId id="1774" r:id="rId51"/>
    <p:sldId id="1775" r:id="rId52"/>
    <p:sldId id="1566" r:id="rId53"/>
    <p:sldId id="1790" r:id="rId54"/>
    <p:sldId id="1746" r:id="rId55"/>
    <p:sldId id="1747" r:id="rId56"/>
    <p:sldId id="1748" r:id="rId57"/>
    <p:sldId id="1749" r:id="rId58"/>
    <p:sldId id="1776" r:id="rId59"/>
    <p:sldId id="1752" r:id="rId60"/>
    <p:sldId id="1753" r:id="rId61"/>
    <p:sldId id="1777" r:id="rId62"/>
    <p:sldId id="1754" r:id="rId63"/>
    <p:sldId id="1755" r:id="rId64"/>
    <p:sldId id="1791" r:id="rId65"/>
    <p:sldId id="1779" r:id="rId66"/>
    <p:sldId id="1780" r:id="rId67"/>
    <p:sldId id="1781" r:id="rId68"/>
    <p:sldId id="1782" r:id="rId69"/>
    <p:sldId id="1766" r:id="rId70"/>
    <p:sldId id="1783" r:id="rId71"/>
    <p:sldId id="1767" r:id="rId72"/>
    <p:sldId id="1768" r:id="rId73"/>
    <p:sldId id="1784" r:id="rId74"/>
    <p:sldId id="1785" r:id="rId75"/>
    <p:sldId id="1786" r:id="rId76"/>
    <p:sldId id="1938" r:id="rId77"/>
    <p:sldId id="1771" r:id="rId78"/>
    <p:sldId id="1787" r:id="rId79"/>
    <p:sldId id="1788" r:id="rId80"/>
    <p:sldId id="1944" r:id="rId81"/>
    <p:sldId id="1817" r:id="rId82"/>
    <p:sldId id="1818" r:id="rId83"/>
    <p:sldId id="1819" r:id="rId84"/>
    <p:sldId id="1820" r:id="rId8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6600"/>
    <a:srgbClr val="0432FF"/>
    <a:srgbClr val="1A49EA"/>
    <a:srgbClr val="0A0099"/>
    <a:srgbClr val="CCFFCC"/>
    <a:srgbClr val="FF99CC"/>
    <a:srgbClr val="3333FF"/>
    <a:srgbClr val="009999"/>
    <a:srgbClr val="FFFF9A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4" autoAdjust="0"/>
    <p:restoredTop sz="90068" autoAdjust="0"/>
  </p:normalViewPr>
  <p:slideViewPr>
    <p:cSldViewPr snapToGrid="0">
      <p:cViewPr varScale="1">
        <p:scale>
          <a:sx n="92" d="100"/>
          <a:sy n="92" d="100"/>
        </p:scale>
        <p:origin x="846" y="42"/>
      </p:cViewPr>
      <p:guideLst>
        <p:guide orient="horz" pos="349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6" d="100"/>
        <a:sy n="166" d="100"/>
      </p:scale>
      <p:origin x="0" y="2742"/>
    </p:cViewPr>
  </p:sorterViewPr>
  <p:notesViewPr>
    <p:cSldViewPr snapToGrid="0">
      <p:cViewPr varScale="1">
        <p:scale>
          <a:sx n="88" d="100"/>
          <a:sy n="88" d="100"/>
        </p:scale>
        <p:origin x="93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6395961-78AC-4172-A9D4-2880E5973E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46C722-DFA8-4F89-A8FF-79F824E95D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3EEF7-398C-4CC9-B279-5CBBD10BBD98}" type="datetimeFigureOut">
              <a:rPr lang="zh-CN" altLang="en-US" smtClean="0">
                <a:ea typeface="SimHei" panose="02010609060101010101" pitchFamily="49" charset="-122"/>
              </a:rPr>
              <a:t>2024/6/11</a:t>
            </a:fld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0BD996-2C1A-4268-B94B-EE24D46C2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4D9BD0-2C1F-44BD-8ED2-98D8FEB2D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0E1E4-72F4-4EC6-888F-6D0DE1EB4E5D}" type="slidenum">
              <a:rPr lang="zh-CN" altLang="en-US" smtClean="0">
                <a:ea typeface="SimHei" panose="02010609060101010101" pitchFamily="49" charset="-122"/>
              </a:rPr>
              <a:t>‹#›</a:t>
            </a:fld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0309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6-11T11:20:33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11905 12491 0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6-11T11:25:48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12587 7267 0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7T12:21:21.0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17453 7384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6-11T11:45:37.37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">
        <inkml:traceFormat>
          <inkml:channel name="X" type="integer" max="3408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9.57895" units="1/cm"/>
          <inkml:channelProperty channel="Y" name="resolution" value="118.73684" units="1/cm"/>
          <inkml:channelProperty channel="T" name="resolution" value="1" units="1/dev"/>
        </inkml:channelProperties>
      </inkml:inkSource>
      <inkml:timestamp xml:id="ts1" timeString="2024-06-11T11:46:12.872"/>
    </inkml:context>
  </inkml:definitions>
  <inkml:trace contextRef="#ctx0" brushRef="#br0">7883 13590 12 0,'0'0'0'0,"0"0"0"0,0 0 0 0,0 0 3 0,0 0 2 0,0 0-1 0,0 0 1 0,0 0 5 0,0 0 0 0,0 0 0 0,0 0 1 0,0 0 3 0,0 0-1 0,0 0 1 0,0 0-1 0,0 0 41 0,0 0 0 0,0 0 0 0,9 0 0 0,-9 0-33 0,0 0 0 0,0 0 0 16,0 0 1-16,0 0-9 0,0 0 1 0,0 0-1 0,0 0 1 16,0 0 15-16,4 0 1 0,-4 0 0 15,0 0 1-15,0 0 5 0,0 0 0 0,0 0-1 0,0 0 1 16,0 0-1-16,0 0 0 0,0 0 0 0,0 0 0 16,0 0-5-16,0 0 0 0,0 0 0 0,0-4 1 15,0 4-7-15,0-5 1 0,0 5 0 0,0-2-1 0,0 2-4 16,0-7 0-16,0 7-1 0,0-4 1 0,0 4-4 15,-4 0-1-15,4 0 1 0,-9-5 0 0,9 5-3 16,-2-4 2-16,2 4 0 0,-5-2-1 0,5 2 7 16,-4 0 1-16,4 0-1 0,-2-2 2 0,2 2 2 15,0-3 1-15,0 3 0 0,0 0 0 0,0 0 3 16,0 9 0-16,0-9 0 0,0 0 0 0,0 0 0 0,0 0 0 16,0 0-1-16,0 0 1 0,0 0-7 0,0 0 1 15,0 0-1-15,0 0 1 0,0 0-3 0,-5-2 0 16,5 2 0-16,-6 0 2 0,6 0-6 0,-2 0 2 15,2 0 0-15,-5 0 0 0,5 0-2 0,0 0 0 16,0 0-1-16,0 0 2 0,0 0-10 0,0 0 1 16,0 0 0-16,0 0 0 0,0 0-4 0,5 0 2 0,-5 0-1 15,0 0 1-15,0 0-3 0,2 0 1 0,-2 0-1 16,6-4 2-16,-6 4-3 0,7-3 1 0,-7 3-1 16,9-6 2-16,-9 6 4 0,2 0-1 0,-2 0 1 15,13 0 0-15,-13 0 6 0,20 2 0 0,-20-2 0 16,22 7 0-16,-22-7 4 0,16 0 0 0,-16 0 0 15,13 0 0-15,-13 0-7 0,17 2 2 0,-17-2-1 16,14 6 0-16,-14-6-4 0,6 0 1 0,-6 0 0 16,7 0 0-16,-7 0-4 0,9 3 0 0,-9-3 0 0,6 6 0 15,-6-6-1-15,14 0-1 0,-14 0 0 0,8 0 2 16,-8 0-2-16,16 0 1 0,-16 0-1 0,11 0 0 16,-11 0 1-16,11 3-1 0,-11-3 0 0,9 6 1 15,-9-6-1-15,15-2 1 0,-15 2-1 0,11-4 1 16,-11 4 0-16,16 0 0 0,-16 0 0 0,11 0 0 0,-11 0 1 15,8 0-1-15,-8 0 1 0,3 0 0 16,-3 0 2-16,13 0 1 0,-13 0 0 0,7 0 0 0,-7 0 0 16,8 0 3-16,-8 0-2 0,3 0 1 0,-3 0 0 0,4 0 0 15,-4 0 0-15,4 0 0 0,-4 0 0 0,5 0 0 16,-5 0 0-16,0 0 0 0,0 0-3 0,4 0 1 16,-4 0 0-16,0 0 0 0,0 0-4 0,0 0 1 15,0 0-1-15,0 0 2 0,0 0-3 16,0 0 1-16</inkml:trace>
  <inkml:trace contextRef="#ctx0" brushRef="#br0" timeOffset="3135.29">7995 13524 12 0,'0'0'0'16,"0"0"0"-16,0 0 0 0,0 0 35 0,3 0 1 0,-3 0-2 0,0 0 2 0,0 0 43 0,0 0-1 0,0 0 1 0,0 0 1 0,0 0-21 0,0 0 1 0,0 0-1 0,0 0 2 0,0 0-12 15,0 0 0-15,0 0 1 0,0 0 0 0,0 0-19 16,0 0-1-16,0 0 0 0,0 0 2 0,0 0-9 15,0 6 2-15,0-6-1 0,0 9 1 0,0-9-8 16,-7 9 1-16,7-9 0 0,-7 18 0 0,7-18-7 16,-4 29 0-16,4-29 1 0,-2 20-1 0,2-20-1 0,-5 28 0 15,5-28 0-15,-6 36 0 0,6-36 1 0,-2 29 2 16,2-29-2-16,2 33 1 0,-2-33-3 0,0 27 1 16,0-27 0-16,6 26 1 0,-6-26-4 0,5 27 2 15,-5-27 0-15,0 22 0 0,0-22-2 0,0 20 1 0,0-20-1 16,2 18 1-16,-2-18-3 0,0 20 1 0,0-20-1 15,4 11 1-15,-4-11-2 0,5 13 2 0,-5-13-1 16,0 14 0-16,0-14 1 0,2 13-1 0,-2-13 1 16,0 18 0-16,0-18-2 0,0 20 1 0,0-20-1 15,0 33 2-15,0-33-2 0,0 40 1 0,0-40-1 16,0 40 1-16,0-40-1 0,0 33 1 0,0-33-1 16,0 34 1-16,0-34-2 0,0 29 0 0,0-29 1 15,0 35 0-15,0-35-2 0,-7 36 2 0,7-36-1 0,-2 31 1 16,2-31-2-16,0 29 1 0,0-29 1 0,0 22-1 15,0-22 0-15,0 20 1 0,0-20-1 0,0 15 0 16,0-15 1-16,0 20-1 0,0-20 0 0,0 25 1 16,0-25-1-16,0 22 1 0,0-22-1 0,0 22 1 15,0-22 2-15,0 22 0 0,0-22-1 0,0 23 1 0,0-23-1 16,0 28 2-16,0-28 0 0,0 27 0 0,0-27-1 16,0 31 2-16,0-31-1 0,2 33 1 0,-2-33-4 15,5 32 2-15,-5-32-2 0,0 26 2 16,0-26-3-16,2 25 1 0,-2-25-1 0,0 24 1 0,0-24-3 15,0 24 1-15,0-24 0 0,4 25 0 0,-4-25-1 0,0 33 1 16,0-33-1-16,0 29 1 0,0-29-2 0,0 27 1 16,0-27 0-16,0 29 0 0,0-29 2 0,0 31 0 15,0-31 0-15,-4 31 1 0,4-31 1 0,-13 31 1 16,13-31 0-16,-11 26 0 0,11-26 0 0,6 23 1 16,-6-23-1-16,5 17 1 0,-5-17-4 0,0 18 2 15,0-18-2-15,2 18 2 0,-2-18-2 0,4 18 1 16,-4-18-1-16,0 20 0 0,0-20-2 0,0 37 0 0,0-37 1 15,5 36 0-15,-5-36-2 0,2 27 0 0,-2-27 0 16,7 22 1-16,-7-22-1 0,0 24 0 0,0-24 0 16,0 27 0-16,0-27 0 0,0 35 0 0,0-35 0 15,0 36 0-15,0-36 0 0,0 40 0 0,2-18 0 16,-2-2 0-16,0 2 3 0,0 1 1 0,0-3-1 16,0 0 0-16,-2 0 8 0,-5-3 0 0,7-1-1 15,0 2 1-15,0-1 5 0,4 1 1 0,-4-5-2 0,0-1 2 16,0-1-1-16,0-7 0 0,3 5-1 15,-1 0 1-15,2 0-8 0,-4 2 1 0,0-2 0 0,0 2 0 16,0-2-8-16,0 0 1 0,5-1 0 0,-5 1 1 16,2 0-3-16,0 2 0 0,-2 3 0 0,0-1 0 15,0-2-1-15,0 2 1 0,0-4-2 0,0 0 2 0,0 0-2 16,0 0 1-16,0 0-1 0,0 0 1 0,0 0-2 16,0-1 2-16,0 1 0 0,0 0 0 0,0 0-1 15,0 4 1-15,0-1 0 0,0-1-1 0,0-2 1 16,0 2 0-16,0-5 0 0,0 3 0 0,0 2 0 15,0 5 1-15,2-1-1 0,3-1 1 0,-5-5-3 16,4 2 1-16,-2 0 0 0,7 0 0 0,-9 2-3 0,5-6 1 16,-5 2-1-16,4-3 2 0,-4 1-3 0,2 0 1 15,0-1-1-15,1 1 0 0,-3-2-1 0,0-1-1 16,0 0 0-16,4 1 0 0,-4-1 0 0,4 1 0 16,-4-1 0-16,3 1 2 0,-3-1-4 0,0 0 0 15,2 1-1-15,-2-1 1 0,6 1-10 0,-6-3 0 16,5 2 0-16,-5 1 0 0,0-1-21 0,0 1 1 0</inkml:trace>
  <inkml:trace contextRef="#ctx0" brushRef="#br0" timeOffset="4083.43">7978 15988 640 0,'0'0'0'0,"0"0"0"0,-5 0 0 0,5 0-1 0,-6 0 0 16,6 0 0-16,-2 3 0 0,2-3-8 0,0 15 0 0,0-15 0 0,0 18 0 0,0-18 6 0,0 31 0 0,0-31 0 0,0 38 1 0,0-38 2 0,0 37 0 15,0-37 0-15,0 36 0 0,0-36 4 0,2 36 1 16,-2-36-1-16,6 31 2 0,-6-31 23 0,5 31 0 15,-5-31 0-15,4 31 2 0,-4-31 11 0,9 31 1 16,-9-31-1-16,9 33 2 0,-9-33-6 0,4 25 2 16,-4-25-1-16,7 24 0 0,-7-24-12 0,4 22 1 0,-4-22-1 15,5 20 1-15,-5-20-6 0,0 22-1 0,0-22 0 16,4 20 0-16,-4-20-6 0,0 14 0 0,0-14-1 16,2 9 1-16,-2-9-3 0,0 9 1 0,0-9-1 15,5 8 0-15,-5-8-2 0,0 18 2 0,0-18-1 16,0 20 0-16,0-20-1 0,0 13 0 0,0-13 0 15,0 14 0-15,0-14-2 0,0 18 1 0,0-18-1 0,-5 17 1 16,5-17-2-16,-11 18 1 0,11-18 0 0,-6 16-1 16,6-16-1-16,0 15 1 0,0-15-1 0,0 11 1 15,0-11-3-15,0 9 0 0,0-9 1 0,0 7-1 16,0-7-3-16,4 4 0 0</inkml:trace>
  <inkml:trace contextRef="#ctx0" brushRef="#br0" timeOffset="4483.18">7859 16646 941 0,'-2'4'0'0,"2"-4"0"0,-7 13 0 0,7-13 10 0,-4 14 0 0,4-14 0 0,0 13 0 0,0-13 11 0,4 13 0 0,-4-13 0 0,7 20 1 0,-7-20 6 0,8 16 0 0,-8-16 0 16,18 31 0-16,-3-11-8 0,3 4 1 0,-2-1 1 15,-1-1-1-15,0 0 1 0,-4 0 1 0,-4-2-1 16,2-2 2-16,-3-5-1 0,3-4 2 0,-4-4 0 15,-5-3-1-15,2 0 3 0,0 3 1 0,5-5-1 16,-7 2 1-16,4-2-1 0,-2 0 1 0,3-2-1 16,-1 2 1-16,1-7-1 0,-1 2 1 0,3-3-1 15,1-8 1-15,-3-8-1 0,6-5 0 0,-7 0 0 0,3-2 1 16,0-3-4-16,-3 6-1 0,-4-10 1 0,0 0 0 16,0-2-4-16,-2 2 1 0</inkml:trace>
  <inkml:trace contextRef="#ctx0" brushRef="#br0" timeOffset="5482.8">7759 13948 1243 0,'0'0'0'0,"0"0"0"0,5 0 0 0,-5 0 23 0,11 0 1 0,-11 0 0 0,9 0-1 0,-9 0 19 0,6 0-1 0,-6 0 1 0,9 0 0 0,-9 0-16 0,11-5 1 16,-11 5-1-16,9-11 1 0,-9 11-17 0,15-20 0 0,-15 20 0 15,18-22 1-15,-18 22-6 0,18-25 0 0,-18 25 1 16,13-22 0-16,-13 22 0 0,15-22 1 0,-15 22 0 16,9-22 0-16,-9 22-1 0,9-16 2 0,-9 16-1 15,11-17 1-15,-11 17 1 0,11-18 0 0,-11 18 0 16,16-18 0-16,-16 18-1 0,4-9-1 0,-4 9 1 15,4-9 1-15,-4 9-2 0,5-6 1 0,-5 6-1 16,6-5 0-16,-6 5-1 0,0-4 0 0,0 4-1 16,5-3 1-16,-5 3-1 0,0-2 2 0,0 2-1 15,0-2 1-15,0 2-2 0,4-4 2 0,-4 4 0 0,0-5-1 16,0 5 1-16,7-2 1 0,-7 2-1 0,0-7 1 16,0 7 7-16,2-4 2 0,-2 4 0 0,4-5 0 15,-4 5-4-15,5 0 1 0,-5 0-1 0,0 0 2 16,0 0 5-16,4-6 0 0,-4 6 0 0,0-5 2 15,0 5 1-15,5-4 1 0,-5 4-1 0,0 0 1 0,0 0-3 16,0 0 1-16,0 0-1 0,0-2 0 0,0 2-3 16,0-5 1-16,0 5 0 0,0-2 0 0,0 2-4 15,0 0 1-15,0 0-2 0,0 0 2 0,0 0-8 16,0 0 0-16,0 0 0 0,0 0 1 0,0 0-6 0,0 0 0 16,0 0 1-16,0 0-1 0,0 0-2 0,0 0 1 15,0 0-1-15,0 0 2 0,0 0-3 0,0 0 1 16,0 0-1-16,0 0 1 0,0 0 0 0,2 0 0 15,-2 0 0-15,4 0 0 0,-4 0 1 0,5 0 0 16,-5 0 0-16,6 11 0 0,-6-11 2 0,18 31 0 16,-18-31 0-16,31 40 0 0,-11-20 2 0,-3 2-1 15,3 1 1-15,-7-3-1 0,1 0 2 0,3 2 1 0,-3-5 0 16,-1 1 0-16,-9-4 0 0,7-3 1 0,-4-2-2 16,-1-5 2-16,5 0-4 0,0 3-1 0</inkml:trace>
  <inkml:trace contextRef="#ctx1" brushRef="#br0">12566 14339 0,'0'0'0,"0"-12"16,23-11-16,-23 23 0,24-36 0,-13 24 0,13-11 15,0-1 1,-1 0 0,-23 24-1</inkml:trace>
  <inkml:trace contextRef="#ctx0" brushRef="#br0" timeOffset="36300.22">7691 10841 237 0,'0'0'0'0,"0"0"0"0,0 0 0 0,0 0 22 16,0 0-1-16,0 0 0 0,0 0 2 0,0 0 106 0,0 0 0 0,0 0 0 0,0 0 1 0,0 0-18 0,0-7 1 0,0 7-1 0,0-2 1 0,0 2-29 0,0 0 0 0,0 0 1 0,0 0-1 0,0 0-39 0,0 0 0 0,0 0-1 15,0 0 2-15,0 0-11 0,7 0 0 16,-7 0 0-16,4 0 0 0,-4 0-4 0,5 0 2 0,-5 0-1 15,6 2 1-15,-6-2-5 0,11 9 1 0,-11-9-1 16,20 2 1-16,-20-2-2 0,24-2 1 0,-24 2-1 16,18-2 1-16,-18 2-4 0,24 0-1 0,-24 0 1 15,24 0-1-15,-24 0 2 0,16 0 0 0,-16 0-1 16,15 0 1-16,-15 0-5 0,11 0 1 0,-11 0-1 16,20-4 0-16,-20 4-3 0,16-5 1 0,-16 5 0 15,20-2 0-15,-20 2-3 0,15-7 1 0,-15 7 0 16,20-4 1-16,-20 4-4 0,24-5 1 0,-24 5-1 15,13-4 0-15,-13 4-1 0,5-4 0 0,-5 4-1 0,6-3 2 16,-6 3-6-16,5 0 2 0,-5 0-1 0,0 0 1 16,0 0-3-16,0 0 1 0</inkml:trace>
  <inkml:trace contextRef="#ctx0" brushRef="#br0" timeOffset="37283.65">7786 10874 1557 0,'0'0'0'0,"0"0"0"0,0 0 0 0,0 0 28 0,9-2 0 0,-9 2 0 0,4-4 0 0,-4 4 18 0,0 0 0 0,0 0 0 0,0 0 1 0,0 0-24 0,0 0 0 0,0 0 0 15,0 0 1-15,0 0-19 0,0 0 2 0,0 0 0 16,0 0-1-16,0 0-3 0,0 0 0 0,0 0-1 16,5 9 2-16,-5-9-2 0,6 17 1 0,-6-17-1 15,5 31 2-15,-5-31 0 0,4 43 1 0,-2-21-1 16,0-2 2-16,-2 0-1 0,7-2 2 0,-7-3-1 15,0 1 1-15,0-7 0 0,0 2 2 0,0 0-1 0,0 0 1 16,0 4 0-16,0-4 0 0,-7 9 0 0,7 0 0 16,-2 7 0-16,0 2 0 0,0 0 0 0,2-3 1 0,0-3 2 15,2 3 2-15,0-3-2 0,0 1 2 0,-2 3 3 16,7-5 1-16,-7 2-1 0,4-2 1 0,3 1 0 16,-2-3 1-16,-5 0-1 0,0-3 2 0,0 1-5 15,0-2 1-15,0-1 0 0,0-1-1 16,0-3-2-16,0 4-1 0,0-4 0 0,-5 5 1 0,-2 2-8 15,7-3 2-15,0 1 0 0,0 4 0 0,0-3-4 16,0 3 1-16,0 0 0 0,-4-2 0 0,-3 0-3 0,7 0 2 16,0-1-2-16,0 1 1 0,0 0-2 0,7 2 1 15,-7-2 0-15,4 6 0 0,-4-6 0 0,0 6 1 16,0-6-1-16,-4 2 0 0,4 0 0 0,-7-7 1 16,7 1 0-16,-2-1 1 0,2 0-1 0,0-4 1 15,0 5 1-15,2-1-1 0,-2 0 2 0,0 3-1 16,0-1 1-16,0-1-1 0,0-1-2 0,0 0 2 0,-2 1-2 15,-2-1 1-15,2 0-3 0,2 1 1 0,0 1 0 16,0 1 1-16,0 6-2 0,0-4 0 0,0 2 0 16,0-3 0-16,-5 1 0 0,1 0 0 0,2-2 0 15,2-1 0-15,2 1-2 0,2-1 2 0,-4 1-1 16,0-1 1-16,0 1-2 0,0-1 1 0,0 3 0 16,0 2 0-16,0-4-3 0,0 1 2 0,0 3-1 15,0-4 1-15,0-1-2 0,0 3 1 0,0-2-1 16,0-1 1-16,0 1-1 0,0-1-1 0,0 1 1 15,0-1-1-15,0-3-1 0,0-1 1 0,0 0-1 16,0-2 1-16,0 0-1 0,0-1 0 0,0 1 1 0,0 2-1 16,0 5 1-16,0-5 0 0,0 0 1 0,0 0-1 15,0-2 1-15,0-2-1 0,0 2 1 0,0-5-1 16,0 3 4-16,0-1 0 0,0 3 0 0,0-4 0 16,5 1 1-16,-5 1 0 0,0-2 0 0,0 3 0 0,2-3-1 15,0 2 1-15,-2-1 0 0,0 3 0 0,2-4-2 16,0 1 1-16,-2 1 0 0,0 2 1 0,0-5-2 15,0 3 1-15,0-3-1 0,0 1 0 0,0-1 0 16,0 3 0-16,0-5 0 0,0 2-1 0,0 1 0 16,0-1 0-16,0 1-1 0,0 1 2 0,0-1-1 0,0 6-1 15,0 0 1-15,0-2 0 0,0 0-1 0,0 0 1 16,0 0 0-16,0 0-1 0,0-1 1 0,0 1 1 16,0-2-1-16,0 0 1 0,0 1 0 0,0-5 1 15,0 1 0-15,0-2-1 0,0 1 1 0,0-3 0 16,0 0 0-16,0 0 1 0,0 0-1 0,0 0 1 0,0 0-1 15,0 0 1-15,0-3-1 0,0 1 1 0</inkml:trace>
  <inkml:trace contextRef="#ctx0" brushRef="#br0" timeOffset="37717.96">7647 13146 1269 0,'0'0'0'0,"0"0"0"0,0 0 0 0,0 4 23 0,0 3 2 0,0-5 0 0,4 3-1 0,-4-1 23 0,5 1 2 0,-3-1-2 0,7 1 1 0,-3 1-10 0,8 5 2 0,-3 5-1 0,4-7 0 0,5 4-13 0,-5 0 1 16,1 1-1-16,-1-1 1 0,-8 0-6 0,6 1 0 16,-8-3 1-16,1 0 0 0,3-9 0 0,-5 3 2 15,3-3-2-15,-3 0 2 0,-4 2-3 0,7-4 1 16,-2 3-1-16,-5-1 0 0,0 0-6 0,4 0 1 15,-4 1-2-15,2-3 2 0,3 4-5 0,-5-4 1 0,2 2 0 16,-2 0 0-16,0 1-2 0,0 1 0 0,0-4 0 16,0 0 2-16,0 0 2 0,0 0 1 0,0 0-1 15,0 0 1-15,0 0 5 0,0 0 1 0,0 0 1 16,0 0-1-16,0 0 2 0,0 0-1 0</inkml:trace>
  <inkml:trace contextRef="#ctx0" brushRef="#br0" timeOffset="38399.62">7795 10901 1507 0,'0'0'0'0,"0"0"0"0,0 0 0 0,0 0 50 0,4 4 2 0,-4-4-1 0,5 5 1 0,-5-5 34 0,0-2 2 0,0 2-2 0,0-3 2 0,0 3-47 0,0 0 1 0,0 0-1 0,0 0 1 0,0 0-19 15,0 0 2-15,0 0 0 0,0 9 0 0,0-9-7 16,-5 5-1-16,5-5 1 0,-13 18 2 0,13-18-4 16,-18 31 1-16,18-31 0 0,-20 42 1 0,7-22 0 15,0 4 1-15,0 1 0 0,2-1 0 0,-5 3 1 16,5 2 1-16,-4-1-1 0,6 1 0 0,-6 2 2 0,1 3 2 16,3-5-2-16,5-3 2 0,-5-10-3 0,4-3 1 15,5-4-1-15,-3-5 0 0,3-8-4 0,2 0 0 16,2-3 0-16,3-9 0 0,4-6-8 0,2-5 0 15</inkml:trace>
  <inkml:trace contextRef="#ctx0" brushRef="#br0" timeOffset="38615.51">7764 10905 1394 0,'0'0'0'0,"0"0"0"16,4 5 0-16,-4-5 44 0,0 4 0 0,0-4 0 15,7 3-1-15,-7-3 30 0,0-3 0 0,0 3 0 16,0-6 1-16,0 6-30 0,0 0 0 0,0 0 0 15,0 0 1-15,0 0-24 0,4 0 0 0,-4 0 0 16,5 0 1-16,-5 0-3 0,2 0 1 0,-2 0 0 0,9 2 0 16,-9-2 5-16,9 15 1 0,-9-15-1 15,26 25 0-15,-26-25 5 0,27 35 0 0,-12-10 0 0,0-7 1 16,-1 6 0-16,-3-4 0 0,0 2 1 0,-2-6-1 16,2-1-8-16,-7-4-1 0,-2-4 1 0,3 2-1 15,3-5-5-15,-3 3 0 0</inkml:trace>
  <inkml:trace contextRef="#ctx1" brushRef="#br0" timeOffset="4367.49">13354 14813 0,'-12'12'0,"0"0"16,-23 11-1,0 1 1,35-24 0,0 0-1</inkml:trace>
  <inkml:trace contextRef="#ctx0" brushRef="#br0" timeOffset="40784.35">7815 13304 12 0,'0'0'0'0,"0"0"0"0,0 0 0 0,0 0 39 0,8 0 2 0,-8 0-1 0,11 0 0 0,-11 0 23 0,7 0 0 0,-7 0 0 0,5 0 0 0,-5 0 29 0,0 0 0 0,0 0 0 15,0 0 0-15,0 0-28 0,0 0 1 0,0 0-1 16,4 0 1-16,-4 0-22 0,0 0 0 0,0 0 0 16,2 0 1-16,-2 0-12 0,5 0 2 0,-5 0 0 15,0 0-1-15,0 0-8 0,2 0 1 0,-2 0 0 16,0 0-1-16,0 0 7 0,6 0-1 0,-6 0 1 16,0 0-1-16,0 0 4 0,3 0 1 0,-3 0-1 15,4 0 0-15,-4 0-3 0,4 0-1 0,-4 0 1 0,5 0 0 16,-5 0-6-16,6 0 0 0,-6 0 0 0,9-5-1 15,-9 5-5-15,11-4-1 0,-11 4 0 0,9-9 0 16,-9 9-1-16,16-13 0 0,-16 13 0 0,6-14 0 0,-6 14 1 16,5-11 0-16,-5 11 0 0,4-4 0 0,-4 4-1 15,7-9 1-15,-7 9 0 0,0-5 0 0,0 5-4 16,4-4 0-16,-4 4 1 0,0-4 0 0,0 4-2 16,4-5 1-16,-4 5 0 0,3-7-1 0,-3 7-4 15,2-8 0-15,-2 8 0 0,11-12 2 0,-11 12-4 16,11-17-1-16,-11 17 1 0,11-16 1 0,-11 16-1 15,13-20 0-15,-13 20 0 0,11-15 1 0,-11 15-1 0,2-7-1 16,-2 7 1-16,9-5 1 0,-9 5-1 0,5-4 0 16,-5 4 0-16,0-2 1 0,0 2-4 0,4 0 1 15,-4 0 0-15,0 0-1 0,0 0-2 0,0 0-1 16,0 0 0-16,0 0 0 0,0 0-2 0,0 0 1 16,0 0-1-16,0 0 2 0,0 0-2 0,0 0 0 0,0 0 0 15,0 0 0-15,0 0 0 0,0 0 0 0,0 0 0 16,0 0 0-16,0 0 0 0,0 0 0 0,0 0 0 15,0 0 0-15,0 0-2 0,0 0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6-11T11:57:27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16171 13368 12 0,'-14'-4'0'0,"14"4"0"0,-35 6 0 15,35-6 11-15,-20 16 0 0,20-16 1 0,-24 15-1 0,24-15 70 0,-24 9-1 0,24-9 1 0,-16 2 0 0,16-2-3 0,-4 5 1 0,4-5 0 0,-7 4 0 0,7-4 10 0,3 0 0 0,-3 0-1 0,24 0 1 16,7 0-32-16,4 0 1 0,2 5 1 0,3-3-1 15,2 2-12-15,0 1 0 0,2-1 0 0,-2 3 0 0,4 2-3 16,5 2 1-16,0-9-2 0,4 3 2 16,-2-3-4-16,2-2 2 0,2-5-2 0,3 1 2 0,-3-7-8 15,5 0-1-15,-3-3 1 0,-3-1 0 0,-6-1-4 16,-1 1 0-16,-5-3 0 0,-9 3 2 0,-2-5-6 16,-4 2 1-16,-5-2 0 0,-2 4-1 0,-11 3-3 15,-2 0-1-15,-5 1 1 0,-1 1 0 0,-6 3-5 16,-1 3 1-16,-5 3 0 0,-2-7 1 0,-11 2-6 15,-2-4 2-15,-7 7-2 0,-11 4 2 0,2 4-4 0,-10 1 2 16,-8 6-2-16,3 2 2 0,0 3-4 0,-2 1 0 16,-3 1 0-16,3 2 0 0,-3 7-3 0,7-5 1 0,-2 0-2 15,5 3 2-15,3 1-1 0,5 1 1 16,7 4-1-16,0-4 1 0,8 2-3 0,5-1 2 16,2 1 0-16,9-2-1 0,9-3 1 0,4-1 0 0,7 1 0 15,7-6 0-15,6-7-1 0,6 2 0 0,5-4-1 16,3-5 1-16,10-4-2 0,3-2 1 0,1-2-1 15,5-3 1-15,-2-8-3 0,7 1 1 0,-3-4 0 16,3-1 0-16,-3-6 0 0,3-2 2 0,-5 3-1 16,-2-3 1-16,-7-1-1 0,-8 1 2 0,-1 0-2 15,-4 1 2-15,-6-1 1 0,-5 0-1 0,-3 1 1 16,-3 3 1-16,-7-3 0 0,4-3 0 0,-13 4 0 16,0 5 0-16,-13-2-2 0,2 2 2 0,-7 0-1 15,-2 0 1-15,-8 3-3 0,-3 1 1 0,-5 7 0 0,-1 2 0 16,-3 5 0-16,-4 2 1 0,4 7-2 0,-4 4 2 15,-4 5-3-15,4 1 2 0,2 6-1 0,2-1 0 16,5 4-1-16,-5 1-1 0,7 0 0 0,2 4 1 0,11-5-3 16,0 1 1-16,5 4 0 0,6-4 0 0,7-1-2 15,4-3 2-15,7-3-1 0,6-3 0 0,1-1-1 16,4-3 0-16,6-2 0 0,1-6 0 0,8 1 0 16,2-1 0-16,8-5 0 0,1-5 0 0,5-1 0 0,4-8 0 15,-2-1 0-15,-3-3 0 0,5-4 0 0,-4 2 0 16,-13-4 0-16,6 6 0 0,-16-2 0 0,1 4 0 15</inkml:trace>
  <inkml:trace contextRef="#ctx0" brushRef="#br0" timeOffset="783.67">16305 11474 12 0,'0'0'0'0,"0"0"0"0,0 0 0 0,0 0 120 0,0 9 0 0,0-9 0 0,0 6 0 0,0-6-28 0,0 3 0 0,0-3 0 0,2 4 0 0,-2-4-8 0,9 5 2 0,-9-5-1 0,16 4 0 0,-16-4 7 16,35 4 0-16,-35-4 0 0,29 9 0 0,-29-9-61 15,15 9 0-15,-15-9-1 0,11 9 2 0,-11-9-2 0,4 7 0 16,-4-7 1-16,7 4 0 0,-7-4-8 0,4 5 0 16</inkml:trace>
  <inkml:trace contextRef="#ctx0" brushRef="#br0" timeOffset="1100.22">16146 11654 1105 0,'-4'9'0'0,"4"-9"0"16,-7 24 0-16,7-24 26 0,0 25 1 0,0-25 0 16,-8 19-1-16,8-19 20 0,-5 16 2 0,5-16-2 15,0 11 1-15,0-11-18 0,0 5 0 0,0-5 0 16,0 6 2-16,0-6-17 0,0 2 1 0,0-2-1 16,0 5 2-16,0-5-8 0,0 0 0 0,0 0 0 15,0-2-1-15,0 2-2 0,5-5 1 0,-5 5-1 0,4-4 1 16,-4 4-3-16,4-7 1 0,-4 7-1 15,16-15 1-15,-16 15-1 0,20-25 0 0,-20 25 0 0,33-24 1 16,-33 24-1-16,44-18 0 0,-24 11 1 0,2-4 0 16,4 2-1-16,1 3-1 0,6-3 0 0,-2 2 1 15,-1 3-1-15,6-3 0 0,-1 0-1 0,-8 3 1 0,-3 4-2 16,7 0 1-16,-14 0 0 0,3 2 1 0,-7 0-1 16,-2 5 0-16,-6-5 0 0,-1 0 0 0,-2 1-1 15,-2 1 1-15,0 3 0 0,0 2 0 0,-2-7-1 16,-2 7 1-16</inkml:trace>
  <inkml:trace contextRef="#ctx0" brushRef="#br0" timeOffset="1566.32">16338 11818 1080 0,'-6'9'0'15,"-1"2"0"-15,-4 0 0 0,4-2 14 0,3-2 0 0,0-1 1 16,-7 3-1-16,2-4 18 0,-5 1 0 15,6-1 0-15,3-1 0 0,3-2-15 0,0 1 0 16,2-1 0-16,-5-2 0 0,5 0-11 0,-4-2 1 0,4-1 0 16,4 1 1-16,-4 0-5 0,5 0 0 0,6-7 1 15,11-2-1-15,11-5 1 0,0-1 0 0,5 3 1 16,-1 5-1-16,-10 5 1 0,-1 2 0 0,7 2 0 16,-9 0 0-16,1 0 1 0,-6 2 1 0,-1 5-2 15,-5-1 2-15,-6 3-1 0,-5-4-1 0,-2 1 1 16,0 3 0-16,-2 4-1 0,-5 1-1 0,-8 3 1 15,-7 6 1-15,-7 6-3 0,-4 2 0 0,-11 2 1 0,6-2-1 16,-8 0-1-16,-5-4 1 0,1 2-1 0,-1 0 1 16,-6 2-3-16,2 2 1 0,-7 0-1 0,2-2 1 0,1 0-1 15,-1 0 0-15,9 5 0 0,5-3 0 0,11-2 0 16,8 0 1-16,5-8 1 0,11-3-1 0,9-9 0 16,2-5 1-16,2-3-1 0,7-6 1 0,-2-1 1 15,6 2 0-15,5-9 0 0,15-5 1 0,6-8-1 16,14-3 2-16,2 0-1 0,9-1 1 0,5-1-1 15,4 0 1-15,-3 4-1 0,1 3 2 0,-10 7-2 16,3-3 1-16,-6 9-1 0,-3-2 2 0,-7 6 12 16,-1 5 0-16,-12 0 0 0,-4 0 0 0,-7 3 6 0,0-1 1 15,-6 0 0-15,-5-2 0 0,-8 0-1 0,-1 0 0 16,-4 0-1-16,0 0 2 0,0 0-13 0,0 0 2 16</inkml:trace>
  <inkml:trace contextRef="#ctx0" brushRef="#br0" timeOffset="1833.23">16380 12644 1231 0,'11'5'0'0,"-11"-5"0"0,16 6 0 0,-16-6 13 0,6 5 0 0,-6-5 1 0,18 6 1 0,-18-6 11 0,37 5 3 0,-37-5-3 16,40 4 3-16,-40-4-8 0,31-2 1 0,-31 2 1 15,33-13-1-15,-33 13-12 0,35-25 1 0,-35 25 1 16,29-33-1-16,-29 33-3 0,15-38 0 0,-15 38-1 0,0-33 1 16,0 33-2-16,-19-22 1 0,19 22-1 0,-36-18 1 0,12 9 4 15,-2 0 1-15,-1 0-1 0,3 0 0 16,2 3 8-16,-5 1 1 0,7-4-1 0,5 3 2 16,6 1-5-16,5 3 1 0</inkml:trace>
  <inkml:trace contextRef="#ctx0" brushRef="#br0" timeOffset="2451.08">17117 11516 1105 0,'0'2'0'15,"0"-2"0"-15,0 5 0 0,0-5 5 0,0 9 2 16,0-9 0-16,0 2 0 0,0-2 2 0,0 4 0 0,0-4 0 16,0 5 1-16,0-5-6 0,0 11 2 0,0-11-1 15,0 20 1-15,0-20 1 0,4 29-1 0,-4-29 1 16,0 29 1-16,0-29 1 0,0 20 0 0,0-20 0 16,0 13 0-16,0-13 3 0,0 4 2 0,0-4-1 15,5 3 1-15,-5-3 1 0,4 0 1 0,-4 0 0 16,0-3 1-16,0 3-4 0,0-6 2 0,0 6-2 15,7-5 2-15,-7 5-3 0,8-15 0 0,-8 15 1 16,16-36 0-16,-16 36-3 0,26-42 1 0,-26 42-1 0,25-38 0 16,-25 38-1-16,30-22 1 0,-30 22-1 0,27-11 1 15,-27 11-3-15,18-2-1 0,-18 2 1 0,6 0 1 16,-6 0-4-16,11 0 2 0,-11 0 0 0,11 9-1 16,-11-9-1-16,13 24 0 0,-13-24-1 0,11 27 2 15,-11-27-3-15,0 26 2 0,0-26-1 0,0 34 0 0,0-34 0 16,-11 31 0-16,11-31 0 0,-17 26 1 0,17-26 3 15,-11 23 2-15,11-23 0 0,-16 22 0 0,16-22 6 16,-24 22 0-16,24-22-1 0,-26 18 1 0,26-18-7 16,-29 9-1-16,29-9 1 0,-33 2 1 0,33-2-4 15,-29-7-1-15,29 7 1 0,-31-9-1 0,31 9 2 16,-35-6 1-16,35 6-1 0,-29-7 1 0,29 7-4 16,-24 2 1-16,24-2-1 0,-20 9 1 0,20-9-2 0,-11 7 0 15,11-7 0-15,-13 6 1 0,13-6-2 0,-2 9 0 16,2-9 0-16,2 18 0 0,-2-18-1 0,13 24 1 15,-13-24-1-15,36 16 1 0,-6-14-1 0,-1 0 1 16,9 1-1-16,-3-3 2 0,0-3-2 0,7-1 0 0,-7-3 0 16,1-2 1-16,-6-6-1 0,1-1 1 0,0 5-1 15,-4-2 1-15,1 2-1 0,-1 0 1 0,-7 4 0 16,-5 0 0-16,-4 5-1 0,-9 2 1 0,1 0 0 16,-3 0 1-16,0 0-2 0,0 0 0 0</inkml:trace>
  <inkml:trace contextRef="#ctx0" brushRef="#br0" timeOffset="2733.95">17220 12027 1080 0,'-2'11'0'0,"2"-11"0"0,-13 27 0 0,13-27 14 0,-9 15 0 0,9-15 1 0,-4 20-1 0,4-20 12 0,-5 36 0 0,5-36 0 0,0 24 1 0,0-24 2 16,0 11 1-16,0-11-1 0,0 5 2 15,0-5-16-15,3 4 2 0,-3-4-1 0,2 4 1 0,-2-4-6 16,0 7 0-16,0-7 0 0,2-4 2 16,-2 4-4-16,2-5 0 0,-2 5 0 0,7-6 1 0,-7 6-2 15,11-23 1-15,-11 23 0 0,15-26 0 0,-15 26-3 16,20-27 2-16,-20 27 0 0,20-20 0 0,-20 20-1 0,22-11-1 16,-22 11 1-16,24-9 0 0,-24 9-2 0,20-9 1 15,-20 9 0-15,15-6 0 0,-15 6-2 0,3-5-1 16</inkml:trace>
  <inkml:trace contextRef="#ctx0" brushRef="#br0" timeOffset="3149.59">17280 12118 715 0,'0'0'0'0,"0"0"0"16,0 15 0-16,0-15 15 0,4 27 1 0,-4-27-1 16,7 38 1-16,-5-16 20 0,5 2 0 0,-3-6 0 15,1 2 0-15,1 0-3 0,-1-2 2 0,-5-7-1 16,2 2 1-16,2-6-14 0,-2 2 0 0,-2-5 1 15,7 3-1-15,-7 0-4 0,-7 2 1 0,5-5 0 16,-2 3 0-16,2-1 11 0,-3 3 0 0,-6-4 0 16,0-1 2-16,-2 3 1 0,-5-7 1 0,5 2-1 15,-2-2 1-15,1 0-3 0,6-2 1 0,-1 2 0 0,2-7 0 16,7 3-4-16,-2-1 1 0,0 5-1 0,2-4 1 16,0 2-5-16,2-1 0 0,0 1 1 0,7-2-1 0,4-1-3 15,7 1 2-15,-5 2-1 0,5-5 0 16,-2 2 0-16,-5 1 0 0,3 4 0 0,-10-4 1 0,-4 1-3 15,5 3 1-15,-7 0-1 0,2 0 1 16,-2 0-3-16,0 0 1 0,0 3-1 0,0 3 1 0,0 3-3 16,0 0 1-16,-2 4 0 0,-9 7 1 0,-4 7-4 15,-3 4 1-15,3-4-1 0,3-5 1 0,4-2-8 16,5 0 2-16,-1-7 0 0,0 1 0 0,1-8-4 16,3 3 2-16,3-4 0 0,1 1-1 0,0-4-3 0,-1 3 2 15,10-1-1-15,-4 1 1 0,6-1 0 0,7 1 2 16,-2-3-2-16,2-2 2 0,2-2 3 0,1-3 0 15,1-4 0-15,-2-2 1 0,-2 0 0 0,-4-4 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6-11T12:14:06.2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19107 6118 0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6-11T12:28:51.6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18092 6613 0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7T03:19:57.48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12231 12837 7533,'-6'-6'0,"-5"-4"-540,10 8 0,-9-3 540,9 5-90,-9 0 0,9 0 0,-10 0 1,10 0 89,-4 0 0,5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ea typeface="SimHei" panose="02010609060101010101" pitchFamily="49" charset="-122"/>
              </a:defRPr>
            </a:lvl1pPr>
          </a:lstStyle>
          <a:p>
            <a:fld id="{AFADF04F-F2F9-486C-A752-12D4B1C511A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18866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131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850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897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000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391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009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739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9483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929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009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495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907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7747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2855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675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840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946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其他的请同学们自行分析或参考教材。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35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905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58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3419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4678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9470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6924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9306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4827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9183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204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485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7627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9788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236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更进一步的，我们还可以插入更多级缓存。类似前面一级缓存的分析思路，我们可以计算出，在这个例子里面，二级缓存方案的平均访问时间为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2.8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个时钟周期，比一级缓存方案的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个时钟周期减少了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30%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的延迟。这种多级缓存技术在我们现有的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中已经广泛使用。但是层级越多，系统越复杂。所以常见的缓存不会超过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级。同学们可以根据作业中的场景，做一个具体的分析和评估。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BE11BB-E3AC-064B-928A-0E7C9EAAE83C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1752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1428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49894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795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36370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735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总结我们今天的课程，有好几点是需要同学们深入理解的。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第一，我希望同学们理解，虽然我们有诸多类别、不同实现原理的存储器，却没有一款是在各个方面都有完美的表现，他们往往在不同的方面表现突出。这往往是很多领域中的现实写照。</a:t>
            </a:r>
            <a:b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</a:br>
            <a:endParaRPr lang="zh-CN" altLang="en-US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第二，我希望同学们体会，即便没有完美的技术或者模块，可以通过优化组合和设计，让它们组成的系统扬长避短，表现更加。这在你们今后的科研和工作中的一大利器。</a:t>
            </a:r>
            <a:b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</a:br>
            <a:endParaRPr lang="zh-CN" altLang="en-US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第三，我希望同学们反思，和所有的事物一样，存储器也有发展的一个历史过程，在不同阶段，也往往会遇到不同的瓶颈限制。有一些存储器，就像软盘，没能迈过那个坎，被其他超越了，也就变成了历史。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1504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35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393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8359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5332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57317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77986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72173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455685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7918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03460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46575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17781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10307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3597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90506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32029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05721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42201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14924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53066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4093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944610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32630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419142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304727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704925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460335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84480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97696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26812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513502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224163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轮询方式要求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IO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系统将自身的状态信息反映在预设的状态寄存位上，处理 器会周期地查看状态寄存位上的表征的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IO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系统状态信息，并根据状态信息决定 是否发生，如何发生，发生了怎么样的信息。 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SimHei" panose="02010609060101010101" pitchFamily="49" charset="-122"/>
              </a:rPr>
              <a:t>轮询式：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当且仅 当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IO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系统空闲，且能够向外输出一个字符时，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IO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系统才会将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ready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信号置为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，其他情况下，例如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IO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系统正在进行字符串的输出时，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ready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信号均为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。 </a:t>
            </a:r>
            <a:endParaRPr lang="zh-CN" alt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3756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这里实际上画的是主存的数据排布，每个框代表一个主存块，第一行依次是块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，第二行依次是块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，等，红线代表数据读取的顺序，虚线划分以及标注的</a:t>
            </a:r>
            <a:r>
              <a:rPr lang="en-US" altLang="zh-CN" dirty="0"/>
              <a:t>Line 0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等代表这些主存块对应的</a:t>
            </a:r>
            <a:r>
              <a:rPr lang="en-US" altLang="zh-CN" dirty="0"/>
              <a:t>cache</a:t>
            </a:r>
            <a:r>
              <a:rPr lang="zh-CN" altLang="en-US" dirty="0"/>
              <a:t>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46441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这里实际上画的是主存的数据排布，每个框代表一个主存块，第一行依次是块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，第二行依次是块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，等，红线代表数据读取的顺序，虚线划分以及标注的</a:t>
            </a:r>
            <a:r>
              <a:rPr lang="en-US" altLang="zh-CN" dirty="0"/>
              <a:t>Line 0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等代表这些主存块对应的</a:t>
            </a:r>
            <a:r>
              <a:rPr lang="en-US" altLang="zh-CN" dirty="0"/>
              <a:t>cache</a:t>
            </a:r>
            <a:r>
              <a:rPr lang="zh-CN" altLang="en-US" dirty="0"/>
              <a:t>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13352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这里实际上画的是主存的数据排布，每个框代表一个主存块，第一行依次是块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，第二行依次是块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，等，红线代表数据读取的顺序，虚线划分以及标注的</a:t>
            </a:r>
            <a:r>
              <a:rPr lang="en-US" altLang="zh-CN" dirty="0"/>
              <a:t>Line 0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等代表这些主存块对应的</a:t>
            </a:r>
            <a:r>
              <a:rPr lang="en-US" altLang="zh-CN" dirty="0"/>
              <a:t>cache</a:t>
            </a:r>
            <a:r>
              <a:rPr lang="zh-CN" altLang="en-US" dirty="0"/>
              <a:t>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319720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8313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919B8-A1B4-420E-AADF-E63307EE92DF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B3243C-2B3E-9244-9AE7-362CBEA172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29" y="0"/>
            <a:ext cx="1313572" cy="1313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AF7C71-CEB7-D443-B4F8-90277219EE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528" t="909" r="12068" b="1273"/>
          <a:stretch/>
        </p:blipFill>
        <p:spPr>
          <a:xfrm>
            <a:off x="0" y="0"/>
            <a:ext cx="1340427" cy="13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35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0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AC4FE-4EB1-4196-830A-993FA99EEC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297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3EBDF-DAB8-41D8-86B3-1BFF07A18F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0453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22BC1-7FC1-4B65-8DCC-88E2F44949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02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3D995-88A0-46FA-B356-FA459EF841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1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AB43A-8F39-40F7-AB51-66BE5F0EDC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814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2373F-9A07-4B83-AD01-C0E1FFF861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500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0F13C-7485-4D41-9A6D-469650A33C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18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3C9E0C-B70F-4EE2-835C-E91EA4A4E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406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E7160-E460-44BC-A56A-E2A6D1A944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5459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C79243-752F-DF47-B6D4-756C566A026A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B3243C-2B3E-9244-9AE7-362CBEA172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483" y="31177"/>
            <a:ext cx="1205345" cy="12053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AF7C71-CEB7-D443-B4F8-90277219EE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28" t="909" r="12068" b="1273"/>
          <a:stretch/>
        </p:blipFill>
        <p:spPr>
          <a:xfrm>
            <a:off x="31173" y="10392"/>
            <a:ext cx="1229988" cy="12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01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020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45AFC4-5D56-9E4D-960E-96CF80556026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042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BF26C3-45FA-7841-91B3-D1A1061DB1A2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257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8A5DE4-6B76-514B-9C85-46D3C195F145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304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6A05FC-335B-8C47-829B-195C5628D3E2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63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9323FE-D334-C941-AFD5-A89894881CDB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1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D4ABB2-ECCD-D243-95A1-B013631202D5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16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15D010-23F8-7447-A50B-C42956F25B7A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065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76EB90-D37C-6C45-AA62-36B4DB0EB232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3254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4D3958-10B6-8640-872C-5A3340696B79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2123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68A385-D8EF-7645-A81A-FF8377BC6CF1}" type="datetime1">
              <a:rPr lang="en-US" altLang="zh-CN" smtClean="0"/>
              <a:t>6/11/2024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76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i="0">
                <a:ea typeface="SimHei" panose="02010609060101010101" pitchFamily="49" charset="-122"/>
              </a:defRPr>
            </a:lvl1pPr>
          </a:lstStyle>
          <a:p>
            <a:fld id="{B36EB2BA-E18C-44D4-9F8D-4FCE250BF3F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1031" name="Group 7"/>
          <p:cNvGrpSpPr>
            <a:grpSpLocks/>
          </p:cNvGrpSpPr>
          <p:nvPr userDrawn="1"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0" i="0" dirty="0">
                <a:ea typeface="SimHei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 i="0" dirty="0">
                <a:solidFill>
                  <a:schemeClr val="accent2"/>
                </a:solidFill>
                <a:latin typeface="Times New Roman" pitchFamily="18" charset="0"/>
                <a:ea typeface="SimHei" panose="02010609060101010101" pitchFamily="49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4000" y="136525"/>
            <a:ext cx="8648700" cy="826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22968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 b="0" i="0">
                <a:ea typeface="SimHei" panose="02010609060101010101" pitchFamily="49" charset="-122"/>
              </a:defRPr>
            </a:lvl1pPr>
          </a:lstStyle>
          <a:p>
            <a:fld id="{ED937CD1-4ED1-F54D-9170-DAEC6AA9BB82}" type="datetime1">
              <a:rPr lang="en-US" altLang="zh-CN" smtClean="0"/>
              <a:pPr/>
              <a:t>6/11/2024</a:t>
            </a:fld>
            <a:endParaRPr lang="zh-CN" alt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 b="0" i="0">
                <a:ea typeface="SimHe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i="0">
                <a:ea typeface="SimHei" panose="02010609060101010101" pitchFamily="49" charset="-122"/>
              </a:defRPr>
            </a:lvl1pPr>
          </a:lstStyle>
          <a:p>
            <a:fld id="{B1806CE5-282B-4233-8654-09F35EA875E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684214" y="956460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0" i="0" dirty="0">
                <a:ea typeface="SimHei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1800" b="0" i="0" dirty="0">
                <a:solidFill>
                  <a:schemeClr val="accent2"/>
                </a:solidFill>
                <a:latin typeface="Times New Roman" pitchFamily="18" charset="0"/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509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 b="1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 b="1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 b="1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3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image" Target="../media/image13.tmp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customXml" Target="../ink/ink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0" y="1781833"/>
            <a:ext cx="9144000" cy="211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4800" b="1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第八讲</a:t>
            </a:r>
            <a:r>
              <a:rPr lang="en-US" altLang="zh-CN" sz="4800" b="1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4800" b="1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存储器与总线外设</a:t>
            </a:r>
            <a:endParaRPr lang="en-US" altLang="zh-CN" sz="4800" b="1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</a:t>
            </a:r>
            <a:r>
              <a:rPr lang="en-US" altLang="zh-CN" sz="3600" b="1" dirty="0">
                <a:solidFill>
                  <a:srgbClr val="000000"/>
                </a:solidFill>
                <a:latin typeface="+mj-lt"/>
                <a:ea typeface="SimHei" panose="02010609060101010101" pitchFamily="49" charset="-122"/>
              </a:rPr>
              <a:t>3-1</a:t>
            </a:r>
            <a:r>
              <a:rPr kumimoji="0" lang="zh-CN" altLang="en-US" sz="3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部分 </a:t>
            </a:r>
            <a:r>
              <a:rPr kumimoji="0" lang="en-US" altLang="zh-CN" sz="3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SimHei" panose="02010609060101010101" pitchFamily="49" charset="-122"/>
                <a:cs typeface="+mn-cs"/>
              </a:rPr>
              <a:t>Cache</a:t>
            </a:r>
            <a:r>
              <a:rPr kumimoji="0" lang="zh-CN" altLang="en-US" sz="3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性能评估</a:t>
            </a:r>
            <a:endParaRPr kumimoji="0" lang="en-US" altLang="zh-CN" sz="36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algn="ctr"/>
            <a:endParaRPr lang="zh-CN" altLang="en-US" sz="2800" b="1" dirty="0">
              <a:solidFill>
                <a:srgbClr val="0432FF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0" y="12357"/>
            <a:ext cx="9144000" cy="13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数字逻辑与处理器基础</a:t>
            </a:r>
            <a:endParaRPr lang="en-US" altLang="zh-CN" sz="360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Fundamentals of Digital Logic and Processor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12905A9-55FE-858D-BCE4-8A7F5E0DF7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3842795"/>
            <a:ext cx="9143999" cy="276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6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李学清</a:t>
            </a:r>
            <a:endParaRPr lang="en-US" altLang="zh-CN" sz="36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#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腾讯会议：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858-8541-2550</a:t>
            </a:r>
            <a:endParaRPr lang="zh-CN" alt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2024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年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6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月</a:t>
            </a:r>
            <a:r>
              <a:rPr lang="en-US" altLang="zh-CN" sz="2800" dirty="0">
                <a:latin typeface="+mn-lt"/>
                <a:ea typeface="黑体" pitchFamily="2" charset="-122"/>
              </a:rPr>
              <a:t>4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日</a:t>
            </a:r>
            <a:endParaRPr 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B680135-E6DA-E0CB-59A0-9D68B8F31235}"/>
                  </a:ext>
                </a:extLst>
              </p14:cNvPr>
              <p14:cNvContentPartPr/>
              <p14:nvPr/>
            </p14:nvContentPartPr>
            <p14:xfrm>
              <a:off x="4285800" y="4496760"/>
              <a:ext cx="360" cy="3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B680135-E6DA-E0CB-59A0-9D68B8F312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6440" y="4487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598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03-9B07-6A4B-85FB-680FDCDD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</a:rPr>
              <a:t>微体系结构</a:t>
            </a:r>
            <a:endParaRPr lang="en-CN" dirty="0">
              <a:latin typeface="SimHei" panose="02010609060101010101" pitchFamily="49" charset="-122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604ACD-5754-9F4F-AC2A-F5A8E2D5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21A072-E7F7-460A-8CDA-1F33B6B9FE37}"/>
              </a:ext>
            </a:extLst>
          </p:cNvPr>
          <p:cNvCxnSpPr>
            <a:cxnSpLocks/>
          </p:cNvCxnSpPr>
          <p:nvPr/>
        </p:nvCxnSpPr>
        <p:spPr>
          <a:xfrm flipV="1">
            <a:off x="525583" y="3810457"/>
            <a:ext cx="0" cy="639149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C1EAB-A398-495E-B820-5463D7961843}"/>
              </a:ext>
            </a:extLst>
          </p:cNvPr>
          <p:cNvCxnSpPr>
            <a:cxnSpLocks/>
          </p:cNvCxnSpPr>
          <p:nvPr/>
        </p:nvCxnSpPr>
        <p:spPr>
          <a:xfrm>
            <a:off x="532184" y="5017479"/>
            <a:ext cx="0" cy="98104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01B781-19FA-4DB6-8601-5232956DD816}"/>
              </a:ext>
            </a:extLst>
          </p:cNvPr>
          <p:cNvCxnSpPr>
            <a:cxnSpLocks/>
          </p:cNvCxnSpPr>
          <p:nvPr/>
        </p:nvCxnSpPr>
        <p:spPr>
          <a:xfrm flipH="1" flipV="1">
            <a:off x="529916" y="1482390"/>
            <a:ext cx="6843" cy="97182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EA88E30F-39ED-47A2-B237-ACC2C6B2048C}"/>
              </a:ext>
            </a:extLst>
          </p:cNvPr>
          <p:cNvCxnSpPr>
            <a:cxnSpLocks/>
          </p:cNvCxnSpPr>
          <p:nvPr/>
        </p:nvCxnSpPr>
        <p:spPr>
          <a:xfrm>
            <a:off x="83118" y="3810457"/>
            <a:ext cx="1227927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9">
            <a:extLst>
              <a:ext uri="{FF2B5EF4-FFF2-40B4-BE49-F238E27FC236}">
                <a16:creationId xmlns:a16="http://schemas.microsoft.com/office/drawing/2014/main" id="{52807708-A919-4E61-A0DD-DF1CB0390A36}"/>
              </a:ext>
            </a:extLst>
          </p:cNvPr>
          <p:cNvGraphicFramePr>
            <a:graphicFrameLocks/>
          </p:cNvGraphicFramePr>
          <p:nvPr/>
        </p:nvGraphicFramePr>
        <p:xfrm>
          <a:off x="1229032" y="1482388"/>
          <a:ext cx="2870863" cy="46607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0863">
                  <a:extLst>
                    <a:ext uri="{9D8B030D-6E8A-4147-A177-3AD203B41FA5}">
                      <a16:colId xmlns:a16="http://schemas.microsoft.com/office/drawing/2014/main" val="1946283791"/>
                    </a:ext>
                  </a:extLst>
                </a:gridCol>
              </a:tblGrid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应用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55462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算法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49615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操作系统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177615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编译器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00589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计算机指令系统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80628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i="0" kern="120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微体系结构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812972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CPU/DSP/…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467303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电路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204186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器件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63798"/>
                  </a:ext>
                </a:extLst>
              </a:tr>
            </a:tbl>
          </a:graphicData>
        </a:graphic>
      </p:graphicFrame>
      <p:sp>
        <p:nvSpPr>
          <p:cNvPr id="21" name="TextBox 25">
            <a:extLst>
              <a:ext uri="{FF2B5EF4-FFF2-40B4-BE49-F238E27FC236}">
                <a16:creationId xmlns:a16="http://schemas.microsoft.com/office/drawing/2014/main" id="{CE921038-380C-462D-8759-1D8F7FD316C6}"/>
              </a:ext>
            </a:extLst>
          </p:cNvPr>
          <p:cNvSpPr txBox="1"/>
          <p:nvPr/>
        </p:nvSpPr>
        <p:spPr>
          <a:xfrm>
            <a:off x="1804122" y="6131646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计算机系统</a:t>
            </a:r>
          </a:p>
        </p:txBody>
      </p:sp>
      <p:cxnSp>
        <p:nvCxnSpPr>
          <p:cNvPr id="22" name="Straight Connector 26">
            <a:extLst>
              <a:ext uri="{FF2B5EF4-FFF2-40B4-BE49-F238E27FC236}">
                <a16:creationId xmlns:a16="http://schemas.microsoft.com/office/drawing/2014/main" id="{D9648051-9A30-43AB-B9F8-96D81F2207CB}"/>
              </a:ext>
            </a:extLst>
          </p:cNvPr>
          <p:cNvCxnSpPr>
            <a:cxnSpLocks/>
          </p:cNvCxnSpPr>
          <p:nvPr/>
        </p:nvCxnSpPr>
        <p:spPr>
          <a:xfrm>
            <a:off x="525583" y="3038525"/>
            <a:ext cx="0" cy="771932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8">
            <a:extLst>
              <a:ext uri="{FF2B5EF4-FFF2-40B4-BE49-F238E27FC236}">
                <a16:creationId xmlns:a16="http://schemas.microsoft.com/office/drawing/2014/main" id="{BE731097-E7F9-4EBE-9269-4CD4F0A4BCD3}"/>
              </a:ext>
            </a:extLst>
          </p:cNvPr>
          <p:cNvSpPr txBox="1"/>
          <p:nvPr/>
        </p:nvSpPr>
        <p:spPr>
          <a:xfrm>
            <a:off x="187945" y="256886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软件</a:t>
            </a:r>
          </a:p>
        </p:txBody>
      </p:sp>
      <p:sp>
        <p:nvSpPr>
          <p:cNvPr id="24" name="TextBox 29">
            <a:extLst>
              <a:ext uri="{FF2B5EF4-FFF2-40B4-BE49-F238E27FC236}">
                <a16:creationId xmlns:a16="http://schemas.microsoft.com/office/drawing/2014/main" id="{4E8CDB25-D623-4634-8167-87F91560DAB2}"/>
              </a:ext>
            </a:extLst>
          </p:cNvPr>
          <p:cNvSpPr txBox="1"/>
          <p:nvPr/>
        </p:nvSpPr>
        <p:spPr>
          <a:xfrm>
            <a:off x="183375" y="450271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硬件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D390940-5AF8-49CE-4A39-701C665F1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669408"/>
              </p:ext>
            </p:extLst>
          </p:nvPr>
        </p:nvGraphicFramePr>
        <p:xfrm>
          <a:off x="4391980" y="1394516"/>
          <a:ext cx="4049389" cy="5158684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72096">
                  <a:extLst>
                    <a:ext uri="{9D8B030D-6E8A-4147-A177-3AD203B41FA5}">
                      <a16:colId xmlns:a16="http://schemas.microsoft.com/office/drawing/2014/main" val="2649625643"/>
                    </a:ext>
                  </a:extLst>
                </a:gridCol>
                <a:gridCol w="723402">
                  <a:extLst>
                    <a:ext uri="{9D8B030D-6E8A-4147-A177-3AD203B41FA5}">
                      <a16:colId xmlns:a16="http://schemas.microsoft.com/office/drawing/2014/main" val="3191345124"/>
                    </a:ext>
                  </a:extLst>
                </a:gridCol>
                <a:gridCol w="2553891">
                  <a:extLst>
                    <a:ext uri="{9D8B030D-6E8A-4147-A177-3AD203B41FA5}">
                      <a16:colId xmlns:a16="http://schemas.microsoft.com/office/drawing/2014/main" val="3013045087"/>
                    </a:ext>
                  </a:extLst>
                </a:gridCol>
              </a:tblGrid>
              <a:tr h="30345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周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日期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暂定主要内容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27359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2/2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7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概论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1660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3/5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布尔代数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337287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组合逻辑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52186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3/1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9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时序逻辑</a:t>
                      </a:r>
                      <a:endParaRPr lang="en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204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3/2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时序逻辑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17128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4</a:t>
                      </a: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/2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计算机指令系统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14479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00" dirty="0">
                          <a:effectLst/>
                          <a:latin typeface="+mn-lt"/>
                          <a:ea typeface="+mn-ea"/>
                        </a:rPr>
                        <a:t>计算机指令系统</a:t>
                      </a:r>
                      <a:endParaRPr lang="en-CN" altLang="zh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83858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8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4/1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  <a:endParaRPr lang="en-CN" altLang="zh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988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待定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期中考试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755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en-CN" sz="1800" b="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劳动节放假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1716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71481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CN" sz="18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流水线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459178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en-CN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流水线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92087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14</a:t>
                      </a:r>
                      <a:endParaRPr lang="en-CN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28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6250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15</a:t>
                      </a:r>
                      <a:endParaRPr lang="en-CN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245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16</a:t>
                      </a:r>
                      <a:endParaRPr lang="en-CN" sz="1800" b="1" kern="10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6/11</a:t>
                      </a:r>
                      <a:endParaRPr lang="en-CN" sz="1800" b="1" kern="1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IO</a:t>
                      </a:r>
                      <a:r>
                        <a:rPr lang="zh-CN" altLang="en-US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与总线</a:t>
                      </a:r>
                      <a:r>
                        <a:rPr lang="en-US" altLang="zh-CN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总结</a:t>
                      </a:r>
                      <a:endParaRPr lang="en-CN" sz="1800" b="1" kern="1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204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11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/>
              <a:t>复习与回顾</a:t>
            </a:r>
            <a:endParaRPr lang="en-US" altLang="zh-CN" dirty="0"/>
          </a:p>
          <a:p>
            <a:pPr marL="342900" lvl="1" indent="-342900">
              <a:buFontTx/>
              <a:buChar char="•"/>
            </a:pPr>
            <a:r>
              <a:rPr lang="zh-CN" altLang="en-US" sz="3200" dirty="0"/>
              <a:t>存储器系统基础</a:t>
            </a:r>
            <a:endParaRPr lang="en-US" altLang="zh-CN" dirty="0"/>
          </a:p>
          <a:p>
            <a:r>
              <a:rPr lang="zh-CN" altLang="en-US" dirty="0"/>
              <a:t>存储器系统的设计理论</a:t>
            </a:r>
            <a:endParaRPr lang="en-US" altLang="zh-CN" dirty="0"/>
          </a:p>
          <a:p>
            <a:r>
              <a:rPr lang="zh-CN" altLang="en-US" dirty="0"/>
              <a:t>缓存技术</a:t>
            </a:r>
            <a:endParaRPr lang="en-US" altLang="zh-CN" dirty="0"/>
          </a:p>
          <a:p>
            <a:r>
              <a:rPr lang="zh-CN" altLang="en-US" dirty="0">
                <a:solidFill>
                  <a:srgbClr val="1A49EA"/>
                </a:solidFill>
              </a:rPr>
              <a:t>缓存性能评估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72874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缓存性能评估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4AD668E-C9A5-DB48-A89D-D4F758492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779793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>
                <a:solidFill>
                  <a:srgbClr val="1A49EA"/>
                </a:solidFill>
              </a:rPr>
              <a:t>缓存性能评估</a:t>
            </a:r>
            <a:endParaRPr kumimoji="1" lang="en-US" altLang="zh-CN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rabicPeriod"/>
            </a:pPr>
            <a:r>
              <a:rPr lang="en-US" altLang="zh-CN" dirty="0">
                <a:solidFill>
                  <a:srgbClr val="1A49EA"/>
                </a:solidFill>
              </a:rPr>
              <a:t>Cache</a:t>
            </a:r>
            <a:r>
              <a:rPr lang="zh-CN" altLang="en-US" dirty="0">
                <a:solidFill>
                  <a:srgbClr val="1A49EA"/>
                </a:solidFill>
              </a:rPr>
              <a:t>缺失的</a:t>
            </a:r>
            <a:r>
              <a:rPr lang="en-US" altLang="zh-CN" dirty="0">
                <a:solidFill>
                  <a:srgbClr val="1A49EA"/>
                </a:solidFill>
              </a:rPr>
              <a:t>3C</a:t>
            </a:r>
            <a:r>
              <a:rPr lang="zh-CN" altLang="en-US" dirty="0">
                <a:solidFill>
                  <a:srgbClr val="1A49EA"/>
                </a:solidFill>
              </a:rPr>
              <a:t>原则</a:t>
            </a:r>
            <a:endParaRPr lang="zh-CN" altLang="en-US" sz="2400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rabicPeriod"/>
            </a:pP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  <a:endParaRPr lang="zh-CN" altLang="en-US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rabicPeriod"/>
            </a:pPr>
            <a:r>
              <a:rPr lang="zh-CN" altLang="en-US" dirty="0"/>
              <a:t>如何提高</a:t>
            </a:r>
            <a:r>
              <a:rPr lang="en-US" altLang="zh-CN" dirty="0"/>
              <a:t>Cache</a:t>
            </a:r>
            <a:r>
              <a:rPr lang="zh-CN" altLang="en-US" dirty="0"/>
              <a:t>性能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B67E924-F3E7-CB7E-06C2-2B9B2D3E0A29}"/>
                  </a:ext>
                </a:extLst>
              </p14:cNvPr>
              <p14:cNvContentPartPr/>
              <p14:nvPr/>
            </p14:nvContentPartPr>
            <p14:xfrm>
              <a:off x="4531320" y="2616120"/>
              <a:ext cx="360" cy="3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B67E924-F3E7-CB7E-06C2-2B9B2D3E0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1960" y="26067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137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486078" cy="4779793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en-US" altLang="zh-CN" dirty="0"/>
              <a:t>CPU</a:t>
            </a:r>
            <a:r>
              <a:rPr kumimoji="1" lang="zh-CN" altLang="en-US" dirty="0"/>
              <a:t>的性能方程：</a:t>
            </a:r>
            <a:endParaRPr kumimoji="1" lang="en-US" altLang="zh-CN" dirty="0"/>
          </a:p>
          <a:p>
            <a:pPr marL="914400" lvl="1" indent="-457200">
              <a:spcBef>
                <a:spcPts val="1000"/>
              </a:spcBef>
            </a:pPr>
            <a:r>
              <a:rPr kumimoji="1" lang="en-US" altLang="zh-CN" sz="2400" dirty="0"/>
              <a:t>CPU</a:t>
            </a:r>
            <a:r>
              <a:rPr kumimoji="1" lang="zh-CN" altLang="en-US" sz="2400" dirty="0"/>
              <a:t>执行时间</a:t>
            </a:r>
            <a:r>
              <a:rPr kumimoji="1" lang="en-US" altLang="zh-CN" sz="2400" dirty="0"/>
              <a:t>=</a:t>
            </a:r>
            <a:r>
              <a:rPr kumimoji="1" lang="zh-CN" altLang="en-US" sz="2400" dirty="0"/>
              <a:t>指令数</a:t>
            </a:r>
            <a:r>
              <a:rPr kumimoji="1" lang="en-US" altLang="zh-CN" sz="2400" dirty="0"/>
              <a:t>×CPI×</a:t>
            </a:r>
            <a:r>
              <a:rPr kumimoji="1" lang="zh-CN" altLang="en-US" sz="2400" dirty="0"/>
              <a:t>时钟周期</a:t>
            </a:r>
            <a:endParaRPr kumimoji="1" lang="en-US" altLang="zh-CN" sz="2000" dirty="0">
              <a:solidFill>
                <a:schemeClr val="accent1"/>
              </a:solidFill>
            </a:endParaRP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在存储器的角度看来，存储器的访问延时会带来</a:t>
            </a:r>
            <a:r>
              <a:rPr kumimoji="1" lang="en-US" altLang="zh-CN" sz="2400" dirty="0"/>
              <a:t>CPI</a:t>
            </a:r>
            <a:r>
              <a:rPr kumimoji="1" lang="zh-CN" altLang="en-US" sz="2400" dirty="0"/>
              <a:t>的增加。取恒定的存储器阻塞周期，存在如下关系：</a:t>
            </a:r>
            <a:endParaRPr kumimoji="1" lang="en-US" altLang="zh-CN" sz="2400" dirty="0"/>
          </a:p>
          <a:p>
            <a:pPr marL="57150" indent="0" algn="ctr">
              <a:spcBef>
                <a:spcPts val="1000"/>
              </a:spcBef>
              <a:buNone/>
            </a:pPr>
            <a:r>
              <a:rPr kumimoji="1" lang="zh-CN" altLang="en-US" sz="2400" dirty="0">
                <a:solidFill>
                  <a:srgbClr val="1A49EA"/>
                </a:solidFill>
              </a:rPr>
              <a:t>实际</a:t>
            </a:r>
            <a:r>
              <a:rPr kumimoji="1" lang="en-US" altLang="zh-CN" sz="2400" dirty="0">
                <a:solidFill>
                  <a:srgbClr val="1A49EA"/>
                </a:solidFill>
              </a:rPr>
              <a:t>CPI=</a:t>
            </a:r>
            <a:r>
              <a:rPr kumimoji="1" lang="zh-CN" altLang="en-US" sz="2400" dirty="0">
                <a:solidFill>
                  <a:srgbClr val="1A49EA"/>
                </a:solidFill>
              </a:rPr>
              <a:t>理想</a:t>
            </a:r>
            <a:r>
              <a:rPr kumimoji="1" lang="en-US" altLang="zh-CN" sz="2400" dirty="0">
                <a:solidFill>
                  <a:srgbClr val="1A49EA"/>
                </a:solidFill>
              </a:rPr>
              <a:t>CPI+</a:t>
            </a:r>
            <a:r>
              <a:rPr kumimoji="1" lang="zh-CN" altLang="en-US" sz="2400" dirty="0">
                <a:solidFill>
                  <a:srgbClr val="1A49EA"/>
                </a:solidFill>
              </a:rPr>
              <a:t>存储器阻塞周期数</a:t>
            </a:r>
            <a:endParaRPr kumimoji="1" lang="en-US" altLang="zh-CN" sz="2400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实际</a:t>
            </a:r>
            <a:r>
              <a:rPr kumimoji="1" lang="en-US" altLang="zh-CN" sz="2400" dirty="0"/>
              <a:t>CPI</a:t>
            </a:r>
            <a:r>
              <a:rPr kumimoji="1" lang="zh-CN" altLang="en-US" sz="2400" dirty="0"/>
              <a:t>受限于指令和数据的</a:t>
            </a:r>
            <a:r>
              <a:rPr kumimoji="1" lang="en-US" altLang="zh-CN" sz="2400" dirty="0"/>
              <a:t>AMAT(Average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Memory Access Time)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marL="57150" indent="0" algn="ctr">
              <a:spcBef>
                <a:spcPts val="1000"/>
              </a:spcBef>
              <a:buNone/>
            </a:pPr>
            <a:r>
              <a:rPr kumimoji="1" lang="en-US" altLang="zh-CN" sz="2400" dirty="0">
                <a:solidFill>
                  <a:srgbClr val="1A49EA"/>
                </a:solidFill>
              </a:rPr>
              <a:t>AMAT=</a:t>
            </a:r>
            <a:r>
              <a:rPr kumimoji="1" lang="zh-CN" altLang="en-US" sz="2400" dirty="0">
                <a:solidFill>
                  <a:srgbClr val="1A49EA"/>
                </a:solidFill>
              </a:rPr>
              <a:t>命中访问时间</a:t>
            </a:r>
            <a:r>
              <a:rPr kumimoji="1" lang="en-US" altLang="zh-CN" sz="2400" dirty="0">
                <a:solidFill>
                  <a:srgbClr val="1A49EA"/>
                </a:solidFill>
              </a:rPr>
              <a:t>+</a:t>
            </a:r>
            <a:r>
              <a:rPr kumimoji="1" lang="zh-CN" altLang="en-US" sz="2400" dirty="0">
                <a:solidFill>
                  <a:srgbClr val="1A49EA"/>
                </a:solidFill>
              </a:rPr>
              <a:t>缺失率</a:t>
            </a:r>
            <a:r>
              <a:rPr kumimoji="1" lang="en-US" altLang="zh-CN" sz="2400" dirty="0">
                <a:solidFill>
                  <a:srgbClr val="1A49EA"/>
                </a:solidFill>
              </a:rPr>
              <a:t>×</a:t>
            </a:r>
            <a:r>
              <a:rPr kumimoji="1" lang="zh-CN" altLang="en-US" sz="2400" dirty="0">
                <a:solidFill>
                  <a:srgbClr val="1A49EA"/>
                </a:solidFill>
              </a:rPr>
              <a:t>缺失时间代价</a:t>
            </a:r>
            <a:endParaRPr kumimoji="1" lang="en-US" altLang="zh-CN" sz="2400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目标：研究缺失的原因的解决方法，降低</a:t>
            </a:r>
            <a:r>
              <a:rPr kumimoji="1" lang="en-US" altLang="zh-CN" sz="2400" dirty="0"/>
              <a:t>AMAT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0821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A8B7439-77C7-49D7-B6EB-6A534D295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0988"/>
            <a:ext cx="8229600" cy="4525962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en-US" altLang="zh-CN" dirty="0"/>
              <a:t>3C</a:t>
            </a:r>
            <a:r>
              <a:rPr kumimoji="1" lang="zh-CN" altLang="en-US" dirty="0"/>
              <a:t>原则</a:t>
            </a:r>
            <a:endParaRPr kumimoji="1" lang="en-US" altLang="zh-CN" dirty="0"/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强迫性缺失</a:t>
            </a:r>
            <a:r>
              <a:rPr kumimoji="1" lang="en-US" altLang="zh-CN" sz="2400" dirty="0"/>
              <a:t>(</a:t>
            </a:r>
            <a:r>
              <a:rPr kumimoji="1" lang="en-US" altLang="zh-CN" sz="2400" u="sng" dirty="0"/>
              <a:t>C</a:t>
            </a:r>
            <a:r>
              <a:rPr kumimoji="1" lang="en-US" altLang="zh-CN" sz="2400" dirty="0"/>
              <a:t>ompulsory)</a:t>
            </a:r>
            <a:r>
              <a:rPr kumimoji="1" lang="zh-CN" altLang="en-US" sz="2400" dirty="0"/>
              <a:t>：第一次访问主存储器中的某一个数据块，只能先从主存储器将数据加载到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中，也称为</a:t>
            </a:r>
            <a:r>
              <a:rPr kumimoji="1" lang="zh-CN" altLang="en-US" sz="2400" dirty="0">
                <a:solidFill>
                  <a:srgbClr val="0432FF"/>
                </a:solidFill>
              </a:rPr>
              <a:t>冷启动缺失或首次访问失效</a:t>
            </a:r>
            <a:endParaRPr kumimoji="1" lang="en-US" altLang="zh-CN" sz="2400" dirty="0">
              <a:solidFill>
                <a:srgbClr val="0432FF"/>
              </a:solidFill>
            </a:endParaRP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容量缺失</a:t>
            </a:r>
            <a:r>
              <a:rPr kumimoji="1" lang="en-US" altLang="zh-CN" sz="2400" dirty="0"/>
              <a:t>(</a:t>
            </a:r>
            <a:r>
              <a:rPr kumimoji="1" lang="en-US" altLang="zh-CN" sz="2400" u="sng" dirty="0"/>
              <a:t>C</a:t>
            </a:r>
            <a:r>
              <a:rPr kumimoji="1" lang="en-US" altLang="zh-CN" sz="2400" dirty="0"/>
              <a:t>apacity)</a:t>
            </a:r>
            <a:r>
              <a:rPr kumimoji="1" lang="zh-CN" altLang="en-US" sz="2400" dirty="0"/>
              <a:t>：由于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容纳不了程序所需的</a:t>
            </a:r>
            <a:r>
              <a:rPr kumimoji="1" lang="zh-CN" altLang="en-US" sz="2400" dirty="0">
                <a:solidFill>
                  <a:srgbClr val="1A49EA"/>
                </a:solidFill>
              </a:rPr>
              <a:t>所有</a:t>
            </a:r>
            <a:r>
              <a:rPr kumimoji="1" lang="zh-CN" altLang="en-US" sz="2400" dirty="0"/>
              <a:t>主存块而引起的缺失。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冲突缺失</a:t>
            </a:r>
            <a:r>
              <a:rPr kumimoji="1" lang="en-US" altLang="zh-CN" sz="2400" dirty="0"/>
              <a:t>(</a:t>
            </a:r>
            <a:r>
              <a:rPr kumimoji="1" lang="en-US" altLang="zh-CN" sz="2400" u="sng" dirty="0"/>
              <a:t>C</a:t>
            </a:r>
            <a:r>
              <a:rPr kumimoji="1" lang="en-US" altLang="zh-CN" sz="2400" dirty="0"/>
              <a:t>onflict)</a:t>
            </a:r>
            <a:r>
              <a:rPr kumimoji="1" lang="zh-CN" altLang="en-US" sz="2400" dirty="0"/>
              <a:t>：在</a:t>
            </a:r>
            <a:r>
              <a:rPr kumimoji="1" lang="zh-CN" altLang="en-US" sz="2400" dirty="0">
                <a:solidFill>
                  <a:srgbClr val="1A49EA"/>
                </a:solidFill>
              </a:rPr>
              <a:t>组相联</a:t>
            </a:r>
            <a:r>
              <a:rPr kumimoji="1" lang="zh-CN" altLang="en-US" sz="2400" dirty="0"/>
              <a:t>或者</a:t>
            </a:r>
            <a:r>
              <a:rPr kumimoji="1" lang="zh-CN" altLang="en-US" sz="2400" dirty="0">
                <a:solidFill>
                  <a:srgbClr val="1A49EA"/>
                </a:solidFill>
              </a:rPr>
              <a:t>直接映像</a:t>
            </a:r>
            <a:r>
              <a:rPr kumimoji="1" lang="zh-CN" altLang="en-US" sz="2400" dirty="0"/>
              <a:t>中，多个的主存块竞争</a:t>
            </a:r>
            <a:r>
              <a:rPr kumimoji="1" lang="zh-CN" altLang="en-US" sz="2400" dirty="0">
                <a:solidFill>
                  <a:srgbClr val="1A49EA"/>
                </a:solidFill>
              </a:rPr>
              <a:t>同一个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组时引起的缺失</a:t>
            </a:r>
            <a:r>
              <a:rPr kumimoji="1" lang="zh-CN" altLang="en-US" sz="2400" dirty="0">
                <a:solidFill>
                  <a:srgbClr val="1A49EA"/>
                </a:solidFill>
              </a:rPr>
              <a:t>且该存储块曾经存在于</a:t>
            </a:r>
            <a:r>
              <a:rPr kumimoji="1" lang="en-US" altLang="zh-CN" sz="2400" dirty="0">
                <a:solidFill>
                  <a:srgbClr val="1A49EA"/>
                </a:solidFill>
              </a:rPr>
              <a:t>cache</a:t>
            </a:r>
            <a:r>
              <a:rPr kumimoji="1" lang="zh-CN" altLang="en-US" sz="2400" dirty="0">
                <a:solidFill>
                  <a:srgbClr val="1A49EA"/>
                </a:solidFill>
              </a:rPr>
              <a:t>中</a:t>
            </a:r>
            <a:r>
              <a:rPr kumimoji="1" lang="zh-CN" altLang="en-US" sz="2400" dirty="0"/>
              <a:t>，也称碰撞缺失（</a:t>
            </a:r>
            <a:r>
              <a:rPr kumimoji="1" lang="zh-CN" altLang="en-US" sz="2400" dirty="0">
                <a:solidFill>
                  <a:srgbClr val="FF0000"/>
                </a:solidFill>
              </a:rPr>
              <a:t>前提：</a:t>
            </a:r>
            <a:r>
              <a:rPr kumimoji="1" lang="en-US" altLang="zh-CN" sz="2400" dirty="0">
                <a:solidFill>
                  <a:srgbClr val="FF0000"/>
                </a:solidFill>
              </a:rPr>
              <a:t>cache</a:t>
            </a:r>
            <a:r>
              <a:rPr kumimoji="1" lang="zh-CN" altLang="en-US" sz="2400" dirty="0">
                <a:solidFill>
                  <a:srgbClr val="FF0000"/>
                </a:solidFill>
              </a:rPr>
              <a:t>未满</a:t>
            </a:r>
            <a:r>
              <a:rPr kumimoji="1" lang="zh-CN" altLang="en-US" sz="2400" dirty="0"/>
              <a:t>）。</a:t>
            </a:r>
            <a:endParaRPr lang="en-US" altLang="zh-CN" sz="2000" dirty="0">
              <a:solidFill>
                <a:schemeClr val="accen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96D63A-3ECF-760D-8F3B-741BE5D8B7BF}"/>
              </a:ext>
            </a:extLst>
          </p:cNvPr>
          <p:cNvSpPr txBox="1"/>
          <p:nvPr/>
        </p:nvSpPr>
        <p:spPr>
          <a:xfrm>
            <a:off x="150471" y="5890478"/>
            <a:ext cx="8889357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注意：</a:t>
            </a:r>
            <a:r>
              <a:rPr kumimoji="1" lang="zh-CN" altLang="en-US" sz="2400" b="1" dirty="0">
                <a:latin typeface="+mn-ea"/>
                <a:ea typeface="+mn-ea"/>
              </a:rPr>
              <a:t>所有新的数据块第一次进入</a:t>
            </a:r>
            <a:r>
              <a:rPr kumimoji="1" lang="en-US" altLang="zh-CN" sz="2400" b="1" dirty="0">
                <a:latin typeface="+mn-ea"/>
                <a:ea typeface="+mn-ea"/>
              </a:rPr>
              <a:t>cache</a:t>
            </a:r>
            <a:r>
              <a:rPr kumimoji="1" lang="zh-CN" altLang="en-US" sz="2400" b="1" dirty="0">
                <a:latin typeface="+mn-ea"/>
                <a:ea typeface="+mn-ea"/>
              </a:rPr>
              <a:t>时都为强迫性缺失，替换出去后再次进入</a:t>
            </a:r>
            <a:r>
              <a:rPr kumimoji="1" lang="en-US" altLang="zh-CN" sz="2400" b="1" dirty="0">
                <a:latin typeface="+mn-ea"/>
                <a:ea typeface="+mn-ea"/>
              </a:rPr>
              <a:t>cache</a:t>
            </a:r>
            <a:r>
              <a:rPr kumimoji="1" lang="zh-CN" altLang="en-US" sz="2400" b="1" dirty="0">
                <a:latin typeface="+mn-ea"/>
                <a:ea typeface="+mn-ea"/>
              </a:rPr>
              <a:t>按情况分为容量缺失或冲突缺失。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961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69" y="1407360"/>
            <a:ext cx="7175881" cy="4214448"/>
          </a:xfrm>
        </p:spPr>
        <p:txBody>
          <a:bodyPr/>
          <a:lstStyle/>
          <a:p>
            <a:pPr marL="514350" indent="-457200" algn="just">
              <a:spcBef>
                <a:spcPts val="500"/>
              </a:spcBef>
            </a:pPr>
            <a:r>
              <a:rPr kumimoji="1" lang="zh-CN" altLang="en-US" dirty="0"/>
              <a:t>容量</a:t>
            </a:r>
            <a:r>
              <a:rPr kumimoji="1" lang="en-US" altLang="zh-CN" dirty="0"/>
              <a:t> vs </a:t>
            </a:r>
            <a:r>
              <a:rPr kumimoji="1" lang="zh-CN" altLang="en-US" dirty="0"/>
              <a:t>冲突</a:t>
            </a:r>
            <a:endParaRPr kumimoji="1" lang="en-US" altLang="zh-CN" dirty="0"/>
          </a:p>
          <a:p>
            <a:pPr marL="914400" lvl="1" indent="-457200" algn="just">
              <a:spcBef>
                <a:spcPts val="500"/>
              </a:spcBef>
            </a:pPr>
            <a:r>
              <a:rPr kumimoji="1" lang="zh-CN" altLang="en-US" sz="2400" dirty="0"/>
              <a:t>容量缺失</a:t>
            </a:r>
            <a:endParaRPr kumimoji="1" lang="en-US" altLang="zh-CN" sz="2400" dirty="0"/>
          </a:p>
          <a:p>
            <a:pPr marL="1314450" lvl="2" indent="-457200" algn="just">
              <a:spcBef>
                <a:spcPts val="500"/>
              </a:spcBef>
            </a:pPr>
            <a:r>
              <a:rPr kumimoji="1" lang="zh-CN" altLang="en-US" dirty="0"/>
              <a:t>当缓存中的</a:t>
            </a:r>
            <a:r>
              <a:rPr kumimoji="1" lang="zh-CN" altLang="en-US" dirty="0">
                <a:solidFill>
                  <a:srgbClr val="1A49EA"/>
                </a:solidFill>
              </a:rPr>
              <a:t>所有</a:t>
            </a:r>
            <a:r>
              <a:rPr kumimoji="1" lang="zh-CN" altLang="en-US" dirty="0"/>
              <a:t>行都已被使用，但是有新的块要放进缓存中（缓存若不替换掉</a:t>
            </a:r>
            <a:r>
              <a:rPr kumimoji="1" lang="zh-CN" altLang="en-CN" dirty="0"/>
              <a:t>一行</a:t>
            </a:r>
            <a:r>
              <a:rPr kumimoji="1" lang="zh-CN" altLang="en-US" dirty="0"/>
              <a:t>就存不下这个新的块）</a:t>
            </a:r>
            <a:endParaRPr kumimoji="1" lang="en-US" altLang="zh-CN" dirty="0"/>
          </a:p>
          <a:p>
            <a:pPr marL="914400" lvl="1" indent="-457200" algn="just">
              <a:spcBef>
                <a:spcPts val="500"/>
              </a:spcBef>
            </a:pPr>
            <a:r>
              <a:rPr kumimoji="1" lang="zh-CN" altLang="en-US" sz="2400" dirty="0"/>
              <a:t>冲突缺失（碰撞缺失）</a:t>
            </a:r>
            <a:endParaRPr kumimoji="1" lang="en-US" altLang="zh-CN" sz="2400" dirty="0"/>
          </a:p>
          <a:p>
            <a:pPr marL="1314450" lvl="2" indent="-457200" algn="just">
              <a:spcBef>
                <a:spcPts val="500"/>
              </a:spcBef>
            </a:pPr>
            <a:r>
              <a:rPr kumimoji="1" lang="zh-CN" altLang="en-US" dirty="0"/>
              <a:t>当缓存中还有空的行时，若有一个新的块要放进缓存中的某一组，而该组的所有行都已经用了（存了别的块），这个新的块需要替换掉其中的某一行</a:t>
            </a:r>
            <a:endParaRPr kumimoji="1" lang="en-US" altLang="zh-CN" dirty="0"/>
          </a:p>
          <a:p>
            <a:pPr marL="1314450" lvl="2" indent="-457200" algn="just">
              <a:spcBef>
                <a:spcPts val="500"/>
              </a:spcBef>
            </a:pPr>
            <a:r>
              <a:rPr kumimoji="1" lang="zh-CN" altLang="en-US" dirty="0"/>
              <a:t>只出现在</a:t>
            </a:r>
            <a:r>
              <a:rPr kumimoji="1" lang="zh-CN" altLang="en-US" dirty="0">
                <a:solidFill>
                  <a:srgbClr val="1A49EA"/>
                </a:solidFill>
              </a:rPr>
              <a:t>组相联</a:t>
            </a:r>
            <a:r>
              <a:rPr kumimoji="1" lang="zh-CN" altLang="en-US" dirty="0"/>
              <a:t>和</a:t>
            </a:r>
            <a:r>
              <a:rPr kumimoji="1" lang="zh-CN" altLang="en-US" dirty="0">
                <a:solidFill>
                  <a:srgbClr val="1A49EA"/>
                </a:solidFill>
              </a:rPr>
              <a:t>直接映射</a:t>
            </a:r>
            <a:r>
              <a:rPr kumimoji="1" lang="zh-CN" altLang="en-US" dirty="0"/>
              <a:t>的缓存中出现</a:t>
            </a:r>
            <a:endParaRPr kumimoji="1"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CA5F9-F60F-5C4F-91DA-AFF71EB89E50}"/>
              </a:ext>
            </a:extLst>
          </p:cNvPr>
          <p:cNvSpPr txBox="1"/>
          <p:nvPr/>
        </p:nvSpPr>
        <p:spPr>
          <a:xfrm>
            <a:off x="7297815" y="2456060"/>
            <a:ext cx="1799886" cy="31700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类比课上例子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：</a:t>
            </a:r>
            <a:r>
              <a:rPr kumimoji="0" lang="zh-CN" altLang="en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教室还有空位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，却“非要挤一个同学的座位”，这是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冲突缺失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；只有教室没有空位了，“挤他人座位”才是</a:t>
            </a:r>
            <a:r>
              <a:rPr kumimoji="0" lang="zh-CN" altLang="en-CN" sz="200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容量缺失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CN" sz="200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B63357-F586-80E6-07BD-83A515F4173E}"/>
              </a:ext>
            </a:extLst>
          </p:cNvPr>
          <p:cNvSpPr txBox="1"/>
          <p:nvPr/>
        </p:nvSpPr>
        <p:spPr>
          <a:xfrm>
            <a:off x="0" y="6022292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注意：</a:t>
            </a:r>
            <a:r>
              <a:rPr kumimoji="1" lang="zh-CN" altLang="en-US" sz="2000" b="1" dirty="0">
                <a:latin typeface="+mn-ea"/>
                <a:ea typeface="+mn-ea"/>
              </a:rPr>
              <a:t>在此处及课件的后续页中，</a:t>
            </a:r>
            <a:r>
              <a:rPr kumimoji="1" lang="zh-CN" altLang="en-US" sz="2000" b="1" dirty="0">
                <a:solidFill>
                  <a:srgbClr val="1A49EA"/>
                </a:solidFill>
                <a:latin typeface="+mn-ea"/>
                <a:ea typeface="+mn-ea"/>
              </a:rPr>
              <a:t>讨论容量缺失及冲突缺失时都已假设了这些数据块都曾经存在于</a:t>
            </a:r>
            <a:r>
              <a:rPr kumimoji="1" lang="en-US" altLang="zh-CN" sz="2000" b="1" dirty="0">
                <a:solidFill>
                  <a:srgbClr val="1A49EA"/>
                </a:solidFill>
                <a:latin typeface="+mn-ea"/>
                <a:ea typeface="+mn-ea"/>
              </a:rPr>
              <a:t>cache</a:t>
            </a:r>
            <a:r>
              <a:rPr kumimoji="1" lang="zh-CN" altLang="en-US" sz="2000" b="1" dirty="0">
                <a:solidFill>
                  <a:srgbClr val="1A49EA"/>
                </a:solidFill>
                <a:latin typeface="+mn-ea"/>
                <a:ea typeface="+mn-ea"/>
              </a:rPr>
              <a:t>中，即这些块都已发生过一次强迫性缺失。</a:t>
            </a:r>
            <a:endParaRPr lang="zh-CN" altLang="en-US" sz="2000" b="1" dirty="0">
              <a:solidFill>
                <a:srgbClr val="1A49EA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564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65814"/>
            <a:ext cx="8397433" cy="2978040"/>
          </a:xfrm>
        </p:spPr>
        <p:txBody>
          <a:bodyPr/>
          <a:lstStyle/>
          <a:p>
            <a:pPr marL="514350" indent="-457200" algn="just">
              <a:spcBef>
                <a:spcPts val="0"/>
              </a:spcBef>
            </a:pPr>
            <a:r>
              <a:rPr kumimoji="1" lang="zh-CN" altLang="en-US" dirty="0"/>
              <a:t>全相联 </a:t>
            </a:r>
            <a:r>
              <a:rPr kumimoji="1" lang="en-US" altLang="zh-CN" dirty="0"/>
              <a:t>Cache</a:t>
            </a:r>
          </a:p>
          <a:p>
            <a:pPr marL="914400" lvl="1" indent="-457200" algn="just">
              <a:spcBef>
                <a:spcPts val="500"/>
              </a:spcBef>
            </a:pPr>
            <a:r>
              <a:rPr kumimoji="1" lang="zh-CN" altLang="en-US" sz="2000" dirty="0"/>
              <a:t>强迫性缺失</a:t>
            </a:r>
            <a:r>
              <a:rPr kumimoji="1" lang="en-US" altLang="zh-CN" sz="2000" dirty="0"/>
              <a:t>: </a:t>
            </a:r>
            <a:r>
              <a:rPr kumimoji="1" lang="zh-CN" altLang="en-US" sz="2000" dirty="0">
                <a:solidFill>
                  <a:srgbClr val="1A49EA"/>
                </a:solidFill>
              </a:rPr>
              <a:t>存在</a:t>
            </a:r>
            <a:endParaRPr kumimoji="1" lang="en-US" altLang="zh-CN" sz="2000" dirty="0">
              <a:solidFill>
                <a:srgbClr val="1A49EA"/>
              </a:solidFill>
            </a:endParaRPr>
          </a:p>
          <a:p>
            <a:pPr marL="1314450" lvl="2" indent="-457200" algn="just">
              <a:spcBef>
                <a:spcPts val="500"/>
              </a:spcBef>
            </a:pPr>
            <a:r>
              <a:rPr kumimoji="1" lang="zh-CN" altLang="en-US" sz="2000" dirty="0"/>
              <a:t>由第一次访问从未在缓存中出现过的区块引起的。也被称为冷启动失误或无效的第一次访问</a:t>
            </a:r>
            <a:endParaRPr kumimoji="1" lang="en-US" altLang="zh-CN" sz="2000" dirty="0"/>
          </a:p>
          <a:p>
            <a:pPr marL="914400" lvl="1" indent="-457200" algn="just">
              <a:spcBef>
                <a:spcPts val="0"/>
              </a:spcBef>
            </a:pPr>
            <a:r>
              <a:rPr kumimoji="1" lang="zh-CN" altLang="en-US" sz="2000" dirty="0"/>
              <a:t>冲突缺失</a:t>
            </a:r>
            <a:r>
              <a:rPr kumimoji="1" lang="en-US" altLang="zh-CN" sz="2000" dirty="0"/>
              <a:t>: </a:t>
            </a:r>
            <a:r>
              <a:rPr kumimoji="1" lang="zh-CN" altLang="en-US" sz="2000" dirty="0">
                <a:solidFill>
                  <a:srgbClr val="FF0000"/>
                </a:solidFill>
              </a:rPr>
              <a:t>不存在</a:t>
            </a:r>
            <a:endParaRPr kumimoji="1" lang="en-US" altLang="zh-CN" sz="2000" dirty="0">
              <a:solidFill>
                <a:srgbClr val="FF0000"/>
              </a:solidFill>
            </a:endParaRPr>
          </a:p>
          <a:p>
            <a:pPr marL="1314450" lvl="2" indent="-457200" algn="just">
              <a:spcBef>
                <a:spcPts val="0"/>
              </a:spcBef>
            </a:pPr>
            <a:r>
              <a:rPr kumimoji="1" lang="zh-CN" altLang="en-US" sz="2000" dirty="0"/>
              <a:t>当块数多于同一组路数，且在缓存中实际上有</a:t>
            </a:r>
            <a:r>
              <a:rPr kumimoji="1" lang="zh-CN" altLang="en-US" sz="2000" dirty="0">
                <a:solidFill>
                  <a:srgbClr val="1A49EA"/>
                </a:solidFill>
              </a:rPr>
              <a:t>未填满</a:t>
            </a:r>
            <a:r>
              <a:rPr kumimoji="1" lang="zh-CN" altLang="en-US" sz="2000" dirty="0"/>
              <a:t>的行</a:t>
            </a:r>
            <a:endParaRPr kumimoji="1" lang="en-US" altLang="zh-CN" sz="2000" dirty="0"/>
          </a:p>
          <a:p>
            <a:pPr marL="914400" lvl="1" indent="-457200" algn="just">
              <a:spcBef>
                <a:spcPts val="0"/>
              </a:spcBef>
            </a:pPr>
            <a:r>
              <a:rPr kumimoji="1" lang="zh-CN" altLang="en-US" sz="2000" dirty="0"/>
              <a:t>容量缺失</a:t>
            </a:r>
            <a:r>
              <a:rPr kumimoji="1" lang="en-US" altLang="zh-CN" sz="2000" dirty="0"/>
              <a:t>: </a:t>
            </a:r>
            <a:r>
              <a:rPr kumimoji="1" lang="zh-CN" altLang="en-US" sz="2000" dirty="0">
                <a:solidFill>
                  <a:srgbClr val="FF0000"/>
                </a:solidFill>
              </a:rPr>
              <a:t>主导</a:t>
            </a:r>
            <a:endParaRPr kumimoji="1" lang="en-US" altLang="zh-CN" sz="2000" dirty="0">
              <a:solidFill>
                <a:srgbClr val="FF0000"/>
              </a:solidFill>
            </a:endParaRPr>
          </a:p>
          <a:p>
            <a:pPr marL="1314450" lvl="2" indent="-457200" algn="just">
              <a:spcBef>
                <a:spcPts val="0"/>
              </a:spcBef>
            </a:pPr>
            <a:r>
              <a:rPr kumimoji="1" lang="zh-CN" altLang="en-US" sz="2000" dirty="0"/>
              <a:t>当缓存中所有行都已被使用，不能包含更多需要的块时</a:t>
            </a:r>
            <a:endParaRPr kumimoji="1"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EA3CBCD-6697-4C73-9E64-623C7245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pPr marL="457200" lvl="1">
              <a:spcBef>
                <a:spcPts val="1000"/>
              </a:spcBef>
            </a:pPr>
            <a:r>
              <a:rPr lang="zh-CN" altLang="en-US" sz="4000" dirty="0">
                <a:ea typeface="SimHei" panose="02010609060101010101" pitchFamily="49" charset="-122"/>
              </a:rPr>
              <a:t>缓存缺失</a:t>
            </a:r>
            <a:r>
              <a:rPr lang="en-US" altLang="zh-CN" sz="4000" dirty="0">
                <a:ea typeface="SimHei" panose="02010609060101010101" pitchFamily="49" charset="-122"/>
              </a:rPr>
              <a:t>: 3C</a:t>
            </a:r>
            <a:r>
              <a:rPr lang="zh-CN" altLang="en-US" sz="4000" dirty="0">
                <a:ea typeface="SimHei" panose="02010609060101010101" pitchFamily="49" charset="-122"/>
              </a:rPr>
              <a:t>原则</a:t>
            </a:r>
            <a:endParaRPr lang="zh-CN" altLang="en-US" sz="2000" dirty="0">
              <a:ea typeface="SimHei" panose="02010609060101010101" pitchFamily="49" charset="-122"/>
            </a:endParaRPr>
          </a:p>
        </p:txBody>
      </p:sp>
      <p:graphicFrame>
        <p:nvGraphicFramePr>
          <p:cNvPr id="5" name="内容占位符 6">
            <a:extLst>
              <a:ext uri="{FF2B5EF4-FFF2-40B4-BE49-F238E27FC236}">
                <a16:creationId xmlns:a16="http://schemas.microsoft.com/office/drawing/2014/main" id="{C413B85B-9186-6E48-7073-F1324D918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959383"/>
              </p:ext>
            </p:extLst>
          </p:nvPr>
        </p:nvGraphicFramePr>
        <p:xfrm>
          <a:off x="3353947" y="4870510"/>
          <a:ext cx="5601183" cy="68256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924050">
                  <a:extLst>
                    <a:ext uri="{9D8B030D-6E8A-4147-A177-3AD203B41FA5}">
                      <a16:colId xmlns:a16="http://schemas.microsoft.com/office/drawing/2014/main" val="3499421799"/>
                    </a:ext>
                  </a:extLst>
                </a:gridCol>
                <a:gridCol w="1225711">
                  <a:extLst>
                    <a:ext uri="{9D8B030D-6E8A-4147-A177-3AD203B41FA5}">
                      <a16:colId xmlns:a16="http://schemas.microsoft.com/office/drawing/2014/main" val="103855347"/>
                    </a:ext>
                  </a:extLst>
                </a:gridCol>
                <a:gridCol w="1225711">
                  <a:extLst>
                    <a:ext uri="{9D8B030D-6E8A-4147-A177-3AD203B41FA5}">
                      <a16:colId xmlns:a16="http://schemas.microsoft.com/office/drawing/2014/main" val="1038976994"/>
                    </a:ext>
                  </a:extLst>
                </a:gridCol>
                <a:gridCol w="1225711">
                  <a:extLst>
                    <a:ext uri="{9D8B030D-6E8A-4147-A177-3AD203B41FA5}">
                      <a16:colId xmlns:a16="http://schemas.microsoft.com/office/drawing/2014/main" val="3196574265"/>
                    </a:ext>
                  </a:extLst>
                </a:gridCol>
              </a:tblGrid>
              <a:tr h="342320">
                <a:tc>
                  <a:txBody>
                    <a:bodyPr/>
                    <a:lstStyle/>
                    <a:p>
                      <a:pPr algn="ctr" fontAlgn="ctr"/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强制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容量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冲突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8655364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全相联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35543871"/>
                  </a:ext>
                </a:extLst>
              </a:tr>
            </a:tbl>
          </a:graphicData>
        </a:graphic>
      </p:graphicFrame>
      <p:pic>
        <p:nvPicPr>
          <p:cNvPr id="8" name="图片 9">
            <a:extLst>
              <a:ext uri="{FF2B5EF4-FFF2-40B4-BE49-F238E27FC236}">
                <a16:creationId xmlns:a16="http://schemas.microsoft.com/office/drawing/2014/main" id="{77F8704C-6410-3DA9-9064-DBE397FE8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1" y="4456252"/>
            <a:ext cx="2999857" cy="207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6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65814"/>
            <a:ext cx="8397433" cy="2978040"/>
          </a:xfrm>
        </p:spPr>
        <p:txBody>
          <a:bodyPr/>
          <a:lstStyle/>
          <a:p>
            <a:pPr marL="514350" indent="-457200" algn="just">
              <a:spcBef>
                <a:spcPts val="500"/>
              </a:spcBef>
            </a:pPr>
            <a:r>
              <a:rPr kumimoji="1" lang="zh-CN" altLang="en-US" dirty="0"/>
              <a:t>直接映射</a:t>
            </a:r>
            <a:r>
              <a:rPr kumimoji="1" lang="en-US" altLang="zh-CN" dirty="0"/>
              <a:t> Cache</a:t>
            </a:r>
          </a:p>
          <a:p>
            <a:pPr marL="914400" lvl="1" indent="-457200" algn="just">
              <a:spcBef>
                <a:spcPts val="500"/>
              </a:spcBef>
            </a:pPr>
            <a:r>
              <a:rPr kumimoji="1" lang="zh-CN" altLang="en-US" sz="2400" dirty="0"/>
              <a:t>强迫性缺失</a:t>
            </a:r>
            <a:r>
              <a:rPr kumimoji="1" lang="en-US" altLang="zh-CN" sz="2400" dirty="0"/>
              <a:t>: </a:t>
            </a:r>
            <a:r>
              <a:rPr kumimoji="1" lang="zh-CN" altLang="en-US" sz="2400" dirty="0"/>
              <a:t>存在</a:t>
            </a:r>
            <a:endParaRPr kumimoji="1" lang="en-US" altLang="zh-CN" sz="2400" dirty="0"/>
          </a:p>
          <a:p>
            <a:pPr marL="914400" lvl="1" indent="-457200" algn="just">
              <a:spcBef>
                <a:spcPts val="500"/>
              </a:spcBef>
            </a:pPr>
            <a:r>
              <a:rPr kumimoji="1" lang="zh-CN" altLang="en-US" sz="2400" dirty="0"/>
              <a:t>容量缺失</a:t>
            </a:r>
            <a:r>
              <a:rPr kumimoji="1" lang="en-US" altLang="zh-CN" sz="2400" dirty="0"/>
              <a:t>:</a:t>
            </a:r>
            <a:r>
              <a:rPr kumimoji="1" lang="zh-CN" altLang="en-US" sz="2400" dirty="0">
                <a:solidFill>
                  <a:srgbClr val="1A49EA"/>
                </a:solidFill>
              </a:rPr>
              <a:t>存在</a:t>
            </a:r>
          </a:p>
          <a:p>
            <a:pPr marL="1314450" lvl="2" indent="-457200" algn="just">
              <a:spcBef>
                <a:spcPts val="500"/>
              </a:spcBef>
            </a:pPr>
            <a:r>
              <a:rPr kumimoji="1" lang="zh-CN" altLang="en-US" dirty="0"/>
              <a:t>当缓存中的所有行都已被使用，不能包含更多需要的区块时引起的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EA3CBCD-6697-4C73-9E64-623C7245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pPr marL="457200" lvl="1">
              <a:spcBef>
                <a:spcPts val="1000"/>
              </a:spcBef>
            </a:pPr>
            <a:r>
              <a:rPr lang="zh-CN" altLang="en-US" sz="4000" dirty="0">
                <a:ea typeface="SimHei" panose="02010609060101010101" pitchFamily="49" charset="-122"/>
              </a:rPr>
              <a:t>缓存缺失</a:t>
            </a:r>
            <a:r>
              <a:rPr lang="en-US" altLang="zh-CN" sz="4000" dirty="0">
                <a:ea typeface="SimHei" panose="02010609060101010101" pitchFamily="49" charset="-122"/>
              </a:rPr>
              <a:t>: 3C</a:t>
            </a:r>
            <a:r>
              <a:rPr lang="zh-CN" altLang="en-US" sz="4000" dirty="0">
                <a:ea typeface="SimHei" panose="02010609060101010101" pitchFamily="49" charset="-122"/>
              </a:rPr>
              <a:t>原则</a:t>
            </a:r>
            <a:endParaRPr lang="zh-CN" altLang="en-US" sz="2000" dirty="0">
              <a:ea typeface="SimHei" panose="02010609060101010101" pitchFamily="49" charset="-122"/>
            </a:endParaRPr>
          </a:p>
        </p:txBody>
      </p:sp>
      <p:graphicFrame>
        <p:nvGraphicFramePr>
          <p:cNvPr id="5" name="内容占位符 6">
            <a:extLst>
              <a:ext uri="{FF2B5EF4-FFF2-40B4-BE49-F238E27FC236}">
                <a16:creationId xmlns:a16="http://schemas.microsoft.com/office/drawing/2014/main" id="{C413B85B-9186-6E48-7073-F1324D918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13571"/>
              </p:ext>
            </p:extLst>
          </p:nvPr>
        </p:nvGraphicFramePr>
        <p:xfrm>
          <a:off x="3308441" y="5168578"/>
          <a:ext cx="4832431" cy="102488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901398">
                  <a:extLst>
                    <a:ext uri="{9D8B030D-6E8A-4147-A177-3AD203B41FA5}">
                      <a16:colId xmlns:a16="http://schemas.microsoft.com/office/drawing/2014/main" val="3499421799"/>
                    </a:ext>
                  </a:extLst>
                </a:gridCol>
                <a:gridCol w="842251">
                  <a:extLst>
                    <a:ext uri="{9D8B030D-6E8A-4147-A177-3AD203B41FA5}">
                      <a16:colId xmlns:a16="http://schemas.microsoft.com/office/drawing/2014/main" val="103855347"/>
                    </a:ext>
                  </a:extLst>
                </a:gridCol>
                <a:gridCol w="1098295">
                  <a:extLst>
                    <a:ext uri="{9D8B030D-6E8A-4147-A177-3AD203B41FA5}">
                      <a16:colId xmlns:a16="http://schemas.microsoft.com/office/drawing/2014/main" val="1038976994"/>
                    </a:ext>
                  </a:extLst>
                </a:gridCol>
                <a:gridCol w="990487">
                  <a:extLst>
                    <a:ext uri="{9D8B030D-6E8A-4147-A177-3AD203B41FA5}">
                      <a16:colId xmlns:a16="http://schemas.microsoft.com/office/drawing/2014/main" val="3196574265"/>
                    </a:ext>
                  </a:extLst>
                </a:gridCol>
              </a:tblGrid>
              <a:tr h="342320">
                <a:tc>
                  <a:txBody>
                    <a:bodyPr/>
                    <a:lstStyle/>
                    <a:p>
                      <a:pPr algn="ctr" fontAlgn="ctr"/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强制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容量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冲突</a:t>
                      </a:r>
                      <a:endParaRPr lang="en-US" altLang="zh-CN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8655364"/>
                  </a:ext>
                </a:extLst>
              </a:tr>
              <a:tr h="3423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全相联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  <a:endParaRPr lang="en-US" altLang="zh-CN" sz="1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endParaRPr lang="zh-CN" alt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87053511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直接映射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3698381"/>
                  </a:ext>
                </a:extLst>
              </a:tr>
            </a:tbl>
          </a:graphicData>
        </a:graphic>
      </p:graphicFrame>
      <p:pic>
        <p:nvPicPr>
          <p:cNvPr id="6" name="图片 8">
            <a:extLst>
              <a:ext uri="{FF2B5EF4-FFF2-40B4-BE49-F238E27FC236}">
                <a16:creationId xmlns:a16="http://schemas.microsoft.com/office/drawing/2014/main" id="{D672742F-A46B-F002-2A32-EAE6EEC0D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68" y="4343854"/>
            <a:ext cx="2384384" cy="25141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04F11A-7256-0A44-9582-B9C881099386}"/>
              </a:ext>
            </a:extLst>
          </p:cNvPr>
          <p:cNvSpPr/>
          <p:nvPr/>
        </p:nvSpPr>
        <p:spPr>
          <a:xfrm>
            <a:off x="1858906" y="3596141"/>
            <a:ext cx="6487610" cy="1264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marR="0" lvl="1" indent="-457200" algn="just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冲突缺失</a:t>
            </a: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: </a:t>
            </a: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主导类型</a:t>
            </a:r>
            <a:endParaRPr kumimoji="1" lang="en-US" altLang="zh-CN" sz="2400" b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1314450" marR="0" lvl="2" indent="-457200" algn="just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当缓存中该组的所有行都已被使用，但是在其他组中实际上还有未用的行</a:t>
            </a:r>
            <a:endParaRPr kumimoji="1" lang="en-US" altLang="zh-CN" sz="24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65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65814"/>
            <a:ext cx="8397433" cy="2978040"/>
          </a:xfrm>
        </p:spPr>
        <p:txBody>
          <a:bodyPr/>
          <a:lstStyle/>
          <a:p>
            <a:pPr marL="514350" indent="-457200" algn="just">
              <a:spcBef>
                <a:spcPts val="0"/>
              </a:spcBef>
            </a:pPr>
            <a:r>
              <a:rPr kumimoji="1" lang="zh-CN" altLang="en-US" dirty="0"/>
              <a:t>组相联 </a:t>
            </a:r>
            <a:r>
              <a:rPr kumimoji="1" lang="en-US" altLang="zh-CN" dirty="0"/>
              <a:t>Cache</a:t>
            </a:r>
          </a:p>
          <a:p>
            <a:pPr marL="914400" lvl="1" indent="-457200" algn="just">
              <a:spcBef>
                <a:spcPts val="0"/>
              </a:spcBef>
            </a:pPr>
            <a:r>
              <a:rPr kumimoji="1" lang="zh-CN" altLang="en-US" sz="2400" dirty="0"/>
              <a:t>强迫性缺失</a:t>
            </a:r>
            <a:r>
              <a:rPr kumimoji="1" lang="en-US" altLang="zh-CN" sz="2400" dirty="0"/>
              <a:t>: </a:t>
            </a:r>
            <a:r>
              <a:rPr kumimoji="1" lang="zh-CN" altLang="en-US" sz="2400" dirty="0">
                <a:solidFill>
                  <a:srgbClr val="1A49EA"/>
                </a:solidFill>
              </a:rPr>
              <a:t>存在</a:t>
            </a:r>
            <a:endParaRPr kumimoji="1" lang="en-US" altLang="zh-CN" sz="2400" dirty="0"/>
          </a:p>
          <a:p>
            <a:pPr marL="914400" lvl="1" indent="-457200" algn="just">
              <a:spcBef>
                <a:spcPts val="0"/>
              </a:spcBef>
            </a:pPr>
            <a:r>
              <a:rPr kumimoji="1" lang="zh-CN" altLang="en-US" sz="2400" dirty="0"/>
              <a:t>冲突缺失</a:t>
            </a:r>
            <a:r>
              <a:rPr kumimoji="1" lang="en-US" altLang="zh-CN" sz="2400" dirty="0"/>
              <a:t>: </a:t>
            </a:r>
            <a:r>
              <a:rPr kumimoji="1" lang="zh-CN" altLang="en-US" sz="2400" dirty="0">
                <a:solidFill>
                  <a:srgbClr val="FF0000"/>
                </a:solidFill>
              </a:rPr>
              <a:t>主导</a:t>
            </a:r>
            <a:endParaRPr kumimoji="1" lang="en-US" altLang="zh-CN" sz="2400" dirty="0">
              <a:solidFill>
                <a:srgbClr val="FF0000"/>
              </a:solidFill>
            </a:endParaRPr>
          </a:p>
          <a:p>
            <a:pPr marL="1314450" lvl="2" indent="-457200" algn="just">
              <a:spcBef>
                <a:spcPts val="0"/>
              </a:spcBef>
            </a:pPr>
            <a:r>
              <a:rPr kumimoji="1" lang="zh-CN" altLang="en-US" dirty="0"/>
              <a:t>当块的数量多于同一组中路的数量，并且在其他组中实际上有</a:t>
            </a:r>
            <a:r>
              <a:rPr kumimoji="1" lang="zh-CN" altLang="en-US" dirty="0">
                <a:solidFill>
                  <a:srgbClr val="1A49EA"/>
                </a:solidFill>
              </a:rPr>
              <a:t>未填满</a:t>
            </a:r>
            <a:r>
              <a:rPr kumimoji="1" lang="zh-CN" altLang="en-US" dirty="0"/>
              <a:t>的行</a:t>
            </a:r>
            <a:endParaRPr kumimoji="1" lang="en-US" altLang="zh-CN" dirty="0"/>
          </a:p>
          <a:p>
            <a:pPr marL="914400" lvl="1" indent="-457200" algn="just">
              <a:spcBef>
                <a:spcPts val="0"/>
              </a:spcBef>
            </a:pPr>
            <a:r>
              <a:rPr kumimoji="1" lang="zh-CN" altLang="en-US" sz="2400" dirty="0"/>
              <a:t>容量缺失</a:t>
            </a:r>
            <a:r>
              <a:rPr kumimoji="1" lang="en-US" altLang="zh-CN" sz="2400" dirty="0"/>
              <a:t>: </a:t>
            </a:r>
            <a:r>
              <a:rPr kumimoji="1" lang="zh-CN" altLang="en-US" sz="2400" dirty="0">
                <a:solidFill>
                  <a:srgbClr val="1A49EA"/>
                </a:solidFill>
              </a:rPr>
              <a:t>存在</a:t>
            </a:r>
            <a:endParaRPr kumimoji="1" lang="en-US" altLang="zh-CN" sz="2400" dirty="0">
              <a:solidFill>
                <a:srgbClr val="1A49EA"/>
              </a:solidFill>
            </a:endParaRPr>
          </a:p>
          <a:p>
            <a:pPr marL="1314450" lvl="2" indent="-457200" algn="just">
              <a:spcBef>
                <a:spcPts val="0"/>
              </a:spcBef>
            </a:pPr>
            <a:r>
              <a:rPr kumimoji="1" lang="zh-CN" altLang="en-US" dirty="0"/>
              <a:t>当缓存中的</a:t>
            </a:r>
            <a:r>
              <a:rPr kumimoji="1" lang="zh-CN" altLang="en-US" dirty="0">
                <a:solidFill>
                  <a:srgbClr val="1A49EA"/>
                </a:solidFill>
              </a:rPr>
              <a:t>所有</a:t>
            </a:r>
            <a:r>
              <a:rPr kumimoji="1" lang="zh-CN" altLang="en-US" dirty="0"/>
              <a:t>行都已被使用，不能包含更多需要的区块时引起的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EA3CBCD-6697-4C73-9E64-623C7245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pPr marL="457200" lvl="1">
              <a:spcBef>
                <a:spcPts val="1000"/>
              </a:spcBef>
            </a:pPr>
            <a:r>
              <a:rPr lang="zh-CN" altLang="en-US" sz="4000" dirty="0">
                <a:ea typeface="SimHei" panose="02010609060101010101" pitchFamily="49" charset="-122"/>
              </a:rPr>
              <a:t>缓存缺失</a:t>
            </a:r>
            <a:r>
              <a:rPr lang="en-US" altLang="zh-CN" sz="4000" dirty="0">
                <a:ea typeface="SimHei" panose="02010609060101010101" pitchFamily="49" charset="-122"/>
              </a:rPr>
              <a:t>: 3C</a:t>
            </a:r>
            <a:r>
              <a:rPr lang="zh-CN" altLang="en-US" sz="4000" dirty="0">
                <a:ea typeface="SimHei" panose="02010609060101010101" pitchFamily="49" charset="-122"/>
              </a:rPr>
              <a:t>原则</a:t>
            </a:r>
            <a:endParaRPr lang="zh-CN" altLang="en-US" sz="2000" dirty="0">
              <a:ea typeface="SimHei" panose="02010609060101010101" pitchFamily="49" charset="-122"/>
            </a:endParaRPr>
          </a:p>
        </p:txBody>
      </p:sp>
      <p:graphicFrame>
        <p:nvGraphicFramePr>
          <p:cNvPr id="5" name="内容占位符 6">
            <a:extLst>
              <a:ext uri="{FF2B5EF4-FFF2-40B4-BE49-F238E27FC236}">
                <a16:creationId xmlns:a16="http://schemas.microsoft.com/office/drawing/2014/main" id="{C413B85B-9186-6E48-7073-F1324D9183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5928" y="4783134"/>
          <a:ext cx="4533900" cy="136305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3499421799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103855347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1038976994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3196574265"/>
                    </a:ext>
                  </a:extLst>
                </a:gridCol>
              </a:tblGrid>
              <a:tr h="342320">
                <a:tc>
                  <a:txBody>
                    <a:bodyPr/>
                    <a:lstStyle/>
                    <a:p>
                      <a:pPr algn="ctr" fontAlgn="ctr"/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强制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容量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冲突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8655364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直接映射</a:t>
                      </a:r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3698381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全相联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35543871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组相联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9123"/>
                  </a:ext>
                </a:extLst>
              </a:tr>
            </a:tbl>
          </a:graphicData>
        </a:graphic>
      </p:graphicFrame>
      <p:pic>
        <p:nvPicPr>
          <p:cNvPr id="9" name="图片 50">
            <a:extLst>
              <a:ext uri="{FF2B5EF4-FFF2-40B4-BE49-F238E27FC236}">
                <a16:creationId xmlns:a16="http://schemas.microsoft.com/office/drawing/2014/main" id="{EB1C0805-D62D-1D40-AB4A-254A83615A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387"/>
          <a:stretch/>
        </p:blipFill>
        <p:spPr>
          <a:xfrm>
            <a:off x="0" y="4492723"/>
            <a:ext cx="4386805" cy="199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46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1" y="1313605"/>
            <a:ext cx="8800426" cy="370980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en-US" altLang="zh-CN" sz="2800" dirty="0"/>
              <a:t>3C </a:t>
            </a:r>
            <a:r>
              <a:rPr kumimoji="1" lang="zh-CN" altLang="en-US" sz="2800" dirty="0"/>
              <a:t>原则</a:t>
            </a:r>
            <a:r>
              <a:rPr kumimoji="1" lang="en-US" altLang="zh-CN" sz="2800" dirty="0"/>
              <a:t> </a:t>
            </a:r>
            <a:r>
              <a:rPr kumimoji="1" lang="zh-CN" altLang="en-US" sz="2800" dirty="0"/>
              <a:t>和</a:t>
            </a:r>
            <a:r>
              <a:rPr kumimoji="1" lang="en-US" altLang="zh-CN" sz="2800" dirty="0"/>
              <a:t> Cache </a:t>
            </a:r>
            <a:r>
              <a:rPr kumimoji="1" lang="zh-CN" altLang="en-US" sz="2800" dirty="0"/>
              <a:t>映射</a:t>
            </a:r>
            <a:endParaRPr kumimoji="1" lang="en-US" altLang="zh-CN" sz="2800" dirty="0"/>
          </a:p>
          <a:p>
            <a:pPr marL="914400" lvl="1" indent="-457200">
              <a:spcBef>
                <a:spcPts val="500"/>
              </a:spcBef>
            </a:pPr>
            <a:r>
              <a:rPr kumimoji="1" lang="zh-CN" altLang="en-US" sz="2400" b="0" dirty="0"/>
              <a:t>强迫性缺失在所有</a:t>
            </a:r>
            <a:r>
              <a:rPr kumimoji="1" lang="en-US" altLang="zh-CN" sz="2400" b="0" dirty="0"/>
              <a:t>Cache</a:t>
            </a:r>
            <a:r>
              <a:rPr kumimoji="1" lang="zh-CN" altLang="en-US" sz="2400" b="0" dirty="0"/>
              <a:t>映射方式中都存在。</a:t>
            </a:r>
            <a:endParaRPr kumimoji="1" lang="en-US" altLang="zh-CN" sz="2400" b="0" dirty="0"/>
          </a:p>
          <a:p>
            <a:pPr marL="914400" lvl="1" indent="-457200">
              <a:spcBef>
                <a:spcPts val="500"/>
              </a:spcBef>
            </a:pPr>
            <a:r>
              <a:rPr kumimoji="1" lang="zh-CN" altLang="en-US" sz="2400" b="0" dirty="0"/>
              <a:t>冲突缺失在</a:t>
            </a:r>
            <a:r>
              <a:rPr kumimoji="1" lang="zh-CN" altLang="en-US" sz="2400" b="0" dirty="0">
                <a:solidFill>
                  <a:srgbClr val="1A49EA"/>
                </a:solidFill>
              </a:rPr>
              <a:t>全相联</a:t>
            </a:r>
            <a:r>
              <a:rPr kumimoji="1" lang="en-US" altLang="zh-CN" sz="2400" b="0" dirty="0"/>
              <a:t>Cache</a:t>
            </a:r>
            <a:r>
              <a:rPr kumimoji="1" lang="zh-CN" altLang="en-US" sz="2400" b="0" dirty="0"/>
              <a:t>中</a:t>
            </a:r>
            <a:r>
              <a:rPr kumimoji="1" lang="zh-CN" altLang="en-US" sz="2400" b="0" dirty="0">
                <a:solidFill>
                  <a:srgbClr val="FF0000"/>
                </a:solidFill>
              </a:rPr>
              <a:t>不存在</a:t>
            </a:r>
            <a:endParaRPr kumimoji="1" lang="en-US" altLang="zh-CN" sz="2400" b="0" dirty="0">
              <a:solidFill>
                <a:srgbClr val="FF0000"/>
              </a:solidFill>
            </a:endParaRPr>
          </a:p>
          <a:p>
            <a:pPr marL="1314450" lvl="2" indent="-457200">
              <a:spcBef>
                <a:spcPts val="500"/>
              </a:spcBef>
            </a:pPr>
            <a:r>
              <a:rPr kumimoji="1" lang="zh-CN" altLang="en-US" sz="2000" b="0" dirty="0"/>
              <a:t>如果所有行都满了，是容量不足。</a:t>
            </a:r>
            <a:endParaRPr lang="en-US" altLang="zh-CN" sz="2000" b="0" dirty="0"/>
          </a:p>
          <a:p>
            <a:pPr marL="914400" lvl="1" indent="-457200">
              <a:spcBef>
                <a:spcPts val="500"/>
              </a:spcBef>
            </a:pPr>
            <a:r>
              <a:rPr kumimoji="1" lang="zh-CN" altLang="en-US" sz="2400" b="0" dirty="0"/>
              <a:t>在直接映射和组相联</a:t>
            </a:r>
            <a:r>
              <a:rPr kumimoji="1" lang="en-US" altLang="zh-CN" sz="2400" b="0" dirty="0"/>
              <a:t>Cache</a:t>
            </a:r>
            <a:r>
              <a:rPr kumimoji="1" lang="zh-CN" altLang="en-US" sz="2400" b="0" dirty="0"/>
              <a:t>中，容量缺失比较少见（所有行都填满的可能性较小）</a:t>
            </a:r>
            <a:endParaRPr kumimoji="1" lang="en-US" altLang="zh-CN" sz="2400" b="0" dirty="0"/>
          </a:p>
          <a:p>
            <a:pPr marL="1314450" lvl="2" indent="-457200">
              <a:spcBef>
                <a:spcPts val="500"/>
              </a:spcBef>
              <a:buFont typeface="Wingdings" pitchFamily="2" charset="2"/>
              <a:buChar char="Ø"/>
            </a:pPr>
            <a:r>
              <a:rPr kumimoji="1" lang="zh-CN" altLang="en-US" sz="2000" b="0" dirty="0"/>
              <a:t>如果一个</a:t>
            </a:r>
            <a:r>
              <a:rPr kumimoji="1" lang="en-US" altLang="zh-CN" sz="2000" b="0" dirty="0"/>
              <a:t>Cache</a:t>
            </a:r>
            <a:r>
              <a:rPr kumimoji="1" lang="zh-CN" altLang="en-US" sz="2000" b="0" dirty="0"/>
              <a:t>行需要被替换</a:t>
            </a:r>
            <a:endParaRPr kumimoji="1" lang="en-US" altLang="zh-CN" sz="2000" b="0" dirty="0"/>
          </a:p>
          <a:p>
            <a:pPr marL="1771650" lvl="3" indent="-457200">
              <a:spcBef>
                <a:spcPts val="500"/>
              </a:spcBef>
              <a:buFont typeface="Wingdings" pitchFamily="2" charset="2"/>
              <a:buChar char="Ø"/>
            </a:pPr>
            <a:r>
              <a:rPr kumimoji="1" lang="zh-CN" altLang="en-US" b="0" dirty="0">
                <a:solidFill>
                  <a:srgbClr val="3333FF"/>
                </a:solidFill>
              </a:rPr>
              <a:t>所有其他行均被填满</a:t>
            </a:r>
            <a:r>
              <a:rPr kumimoji="1" lang="en-US" altLang="zh-CN" b="0" dirty="0">
                <a:solidFill>
                  <a:srgbClr val="3333FF"/>
                </a:solidFill>
              </a:rPr>
              <a:t>: </a:t>
            </a:r>
            <a:r>
              <a:rPr kumimoji="1" lang="zh-CN" altLang="en-US" b="0" dirty="0">
                <a:solidFill>
                  <a:srgbClr val="3333FF"/>
                </a:solidFill>
              </a:rPr>
              <a:t>容量缺失</a:t>
            </a:r>
            <a:endParaRPr kumimoji="1" lang="en-US" altLang="zh-CN" b="0" dirty="0">
              <a:solidFill>
                <a:srgbClr val="3333FF"/>
              </a:solidFill>
            </a:endParaRPr>
          </a:p>
          <a:p>
            <a:pPr marL="1771650" lvl="3" indent="-457200">
              <a:spcBef>
                <a:spcPts val="500"/>
              </a:spcBef>
              <a:buFont typeface="Wingdings" pitchFamily="2" charset="2"/>
              <a:buChar char="Ø"/>
            </a:pPr>
            <a:r>
              <a:rPr kumimoji="1" lang="zh-CN" altLang="en-US" b="0" dirty="0">
                <a:solidFill>
                  <a:srgbClr val="3333FF"/>
                </a:solidFill>
              </a:rPr>
              <a:t>有一些行没被填满</a:t>
            </a:r>
            <a:r>
              <a:rPr kumimoji="1" lang="en-US" altLang="zh-CN" b="0" dirty="0">
                <a:solidFill>
                  <a:srgbClr val="3333FF"/>
                </a:solidFill>
              </a:rPr>
              <a:t>: </a:t>
            </a:r>
            <a:r>
              <a:rPr kumimoji="1" lang="zh-CN" altLang="en-US" b="0" dirty="0">
                <a:solidFill>
                  <a:srgbClr val="3333FF"/>
                </a:solidFill>
              </a:rPr>
              <a:t>冲突缺失</a:t>
            </a:r>
            <a:endParaRPr kumimoji="1" lang="en-US" altLang="zh-CN" sz="2800" b="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7B8201E-B2C5-49B9-96A5-0EAC8879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pPr marL="457200" lvl="1">
              <a:spcBef>
                <a:spcPts val="1000"/>
              </a:spcBef>
            </a:pPr>
            <a:r>
              <a:rPr lang="zh-CN" altLang="en-US" sz="4000" dirty="0">
                <a:ea typeface="SimHei" panose="02010609060101010101" pitchFamily="49" charset="-122"/>
              </a:rPr>
              <a:t>缓存缺失</a:t>
            </a:r>
            <a:r>
              <a:rPr lang="en-US" altLang="zh-CN" sz="4000" dirty="0">
                <a:ea typeface="SimHei" panose="02010609060101010101" pitchFamily="49" charset="-122"/>
              </a:rPr>
              <a:t>: 3C</a:t>
            </a:r>
            <a:r>
              <a:rPr lang="zh-CN" altLang="en-US" sz="4000" dirty="0">
                <a:ea typeface="SimHei" panose="02010609060101010101" pitchFamily="49" charset="-122"/>
              </a:rPr>
              <a:t>原则</a:t>
            </a:r>
            <a:endParaRPr lang="zh-CN" altLang="en-US" sz="2000" dirty="0">
              <a:ea typeface="SimHei" panose="02010609060101010101" pitchFamily="49" charset="-122"/>
            </a:endParaRPr>
          </a:p>
        </p:txBody>
      </p:sp>
      <p:graphicFrame>
        <p:nvGraphicFramePr>
          <p:cNvPr id="6" name="内容占位符 6">
            <a:extLst>
              <a:ext uri="{FF2B5EF4-FFF2-40B4-BE49-F238E27FC236}">
                <a16:creationId xmlns:a16="http://schemas.microsoft.com/office/drawing/2014/main" id="{FFC7D91E-B9ED-A965-9C45-8CC8594779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8200" y="5002470"/>
          <a:ext cx="5624967" cy="136513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842996">
                  <a:extLst>
                    <a:ext uri="{9D8B030D-6E8A-4147-A177-3AD203B41FA5}">
                      <a16:colId xmlns:a16="http://schemas.microsoft.com/office/drawing/2014/main" val="3499421799"/>
                    </a:ext>
                  </a:extLst>
                </a:gridCol>
                <a:gridCol w="1260657">
                  <a:extLst>
                    <a:ext uri="{9D8B030D-6E8A-4147-A177-3AD203B41FA5}">
                      <a16:colId xmlns:a16="http://schemas.microsoft.com/office/drawing/2014/main" val="103855347"/>
                    </a:ext>
                  </a:extLst>
                </a:gridCol>
                <a:gridCol w="1260657">
                  <a:extLst>
                    <a:ext uri="{9D8B030D-6E8A-4147-A177-3AD203B41FA5}">
                      <a16:colId xmlns:a16="http://schemas.microsoft.com/office/drawing/2014/main" val="1038976994"/>
                    </a:ext>
                  </a:extLst>
                </a:gridCol>
                <a:gridCol w="1260657">
                  <a:extLst>
                    <a:ext uri="{9D8B030D-6E8A-4147-A177-3AD203B41FA5}">
                      <a16:colId xmlns:a16="http://schemas.microsoft.com/office/drawing/2014/main" val="3196574265"/>
                    </a:ext>
                  </a:extLst>
                </a:gridCol>
              </a:tblGrid>
              <a:tr h="342320">
                <a:tc>
                  <a:txBody>
                    <a:bodyPr/>
                    <a:lstStyle/>
                    <a:p>
                      <a:pPr algn="ctr" fontAlgn="ctr"/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强制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容量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冲突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8655364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直接映射</a:t>
                      </a:r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3698381"/>
                  </a:ext>
                </a:extLst>
              </a:tr>
              <a:tr h="3423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全相联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4842436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800" b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组相联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440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88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D3F80B9-7D06-D841-AC02-41F4BA34C924}"/>
              </a:ext>
            </a:extLst>
          </p:cNvPr>
          <p:cNvGrpSpPr/>
          <p:nvPr/>
        </p:nvGrpSpPr>
        <p:grpSpPr>
          <a:xfrm>
            <a:off x="861536" y="2517670"/>
            <a:ext cx="7740000" cy="1021709"/>
            <a:chOff x="861536" y="1694711"/>
            <a:chExt cx="7740000" cy="1021709"/>
          </a:xfrm>
        </p:grpSpPr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62C6A5AD-5F2D-934F-A175-95A060870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536" y="1694711"/>
              <a:ext cx="77400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Q.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 无限容量全相联</a:t>
              </a: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Cache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中只会发生哪一种缺失？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04C85B8F-5227-384E-855E-41391DDAA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536" y="2285533"/>
              <a:ext cx="77400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A.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 强迫性缺失。在首次访问主存块时必定发生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53DE8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77067B0-55E7-CD49-91F8-821AF8925ED5}"/>
              </a:ext>
            </a:extLst>
          </p:cNvPr>
          <p:cNvGrpSpPr/>
          <p:nvPr/>
        </p:nvGrpSpPr>
        <p:grpSpPr>
          <a:xfrm>
            <a:off x="861536" y="3747592"/>
            <a:ext cx="7740000" cy="1039986"/>
            <a:chOff x="861536" y="3115208"/>
            <a:chExt cx="7740000" cy="1039986"/>
          </a:xfrm>
        </p:grpSpPr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FC3CA11E-28F1-FF45-A829-5FA975F06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536" y="3115208"/>
              <a:ext cx="77400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Q.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 有限容量全相联</a:t>
              </a: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Cache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中哪一种缺失占主导？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D9DC3BF8-C602-F141-9CDA-6681E53AF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536" y="3708918"/>
              <a:ext cx="7740000" cy="446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A. 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容量缺失。</a:t>
              </a: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Cache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中没有的更多的行存储数据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53DE8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21563F4-5CF0-6D42-9A49-29403C227D84}"/>
              </a:ext>
            </a:extLst>
          </p:cNvPr>
          <p:cNvGrpSpPr/>
          <p:nvPr/>
        </p:nvGrpSpPr>
        <p:grpSpPr>
          <a:xfrm>
            <a:off x="861536" y="4995791"/>
            <a:ext cx="7740000" cy="1455484"/>
            <a:chOff x="861536" y="4538592"/>
            <a:chExt cx="7740000" cy="1455484"/>
          </a:xfrm>
        </p:grpSpPr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9B74D46D-AB8D-3242-A16A-3861EA788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536" y="4538592"/>
              <a:ext cx="77400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Q.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 组相联或直接映像</a:t>
              </a: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Cache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中哪一种缺失占主导？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B123FA96-8086-5B4C-A89E-DF64D61FB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536" y="5132302"/>
              <a:ext cx="7740000" cy="861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A. 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冲突缺失。冲突相当于组内</a:t>
              </a: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(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局部</a:t>
              </a:r>
              <a:r>
                <a:rPr kumimoji="0" lang="en-US" altLang="zh-CN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)</a:t>
              </a: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53DE8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容量缺失，其发生的概率大于全局的容量缺失。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53DE8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</p:grp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A59380C2-6805-6157-6976-FF4CD4FC1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3046007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以常见的循环操作为例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BD2DA5-9961-FB4C-480B-49A0A8F99612}"/>
                  </a:ext>
                </a:extLst>
              </p14:cNvPr>
              <p14:cNvContentPartPr/>
              <p14:nvPr/>
            </p14:nvContentPartPr>
            <p14:xfrm>
              <a:off x="6283080" y="265824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BD2DA5-9961-FB4C-480B-49A0A8F996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3720" y="26488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529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3AA05B3-24D6-5A4A-8256-CE5759892D9B}"/>
              </a:ext>
            </a:extLst>
          </p:cNvPr>
          <p:cNvGrpSpPr>
            <a:grpSpLocks noChangeAspect="1"/>
          </p:cNvGrpSpPr>
          <p:nvPr/>
        </p:nvGrpSpPr>
        <p:grpSpPr>
          <a:xfrm>
            <a:off x="1873878" y="3531248"/>
            <a:ext cx="5396243" cy="3526778"/>
            <a:chOff x="1763196" y="2841754"/>
            <a:chExt cx="5995583" cy="3944995"/>
          </a:xfrm>
        </p:grpSpPr>
        <p:pic>
          <p:nvPicPr>
            <p:cNvPr id="8" name="Picture 13">
              <a:extLst>
                <a:ext uri="{FF2B5EF4-FFF2-40B4-BE49-F238E27FC236}">
                  <a16:creationId xmlns:a16="http://schemas.microsoft.com/office/drawing/2014/main" id="{A0F70335-B69D-0E4C-A32E-BDDCE08600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196" y="2841754"/>
              <a:ext cx="5995583" cy="39449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" name="Text Box 14">
              <a:extLst>
                <a:ext uri="{FF2B5EF4-FFF2-40B4-BE49-F238E27FC236}">
                  <a16:creationId xmlns:a16="http://schemas.microsoft.com/office/drawing/2014/main" id="{6E4441CC-6A25-604A-B641-41521A36E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506157" y="4269642"/>
              <a:ext cx="1271462" cy="273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缺失率</a:t>
              </a:r>
              <a:r>
                <a:rPr kumimoji="0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(</a:t>
              </a:r>
              <a:r>
                <a:rPr kumimoji="0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绝对</a:t>
              </a:r>
              <a:r>
                <a:rPr kumimoji="0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)</a:t>
              </a: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C50F248A-90C3-AE41-841E-59F80839B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157" y="6261866"/>
              <a:ext cx="1694404" cy="287043"/>
            </a:xfrm>
            <a:custGeom>
              <a:avLst/>
              <a:gdLst>
                <a:gd name="T0" fmla="*/ 0 w 10000"/>
                <a:gd name="T1" fmla="*/ 0 h 10000"/>
                <a:gd name="T2" fmla="*/ 1 w 10000"/>
                <a:gd name="T3" fmla="*/ 0 h 10000"/>
                <a:gd name="T4" fmla="*/ 1 w 10000"/>
                <a:gd name="T5" fmla="*/ 0 h 10000"/>
                <a:gd name="T6" fmla="*/ 0 w 10000"/>
                <a:gd name="T7" fmla="*/ 0 h 10000"/>
                <a:gd name="T8" fmla="*/ 0 w 10000"/>
                <a:gd name="T9" fmla="*/ 0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chemeClr val="bg1"/>
            </a:solidFill>
            <a:ln w="9525">
              <a:solidFill>
                <a:srgbClr val="FFFF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" name="Text Box 16">
              <a:extLst>
                <a:ext uri="{FF2B5EF4-FFF2-40B4-BE49-F238E27FC236}">
                  <a16:creationId xmlns:a16="http://schemas.microsoft.com/office/drawing/2014/main" id="{2CD8BA90-2FE2-FE4C-BCE7-A071FE6B5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5702" y="6216344"/>
              <a:ext cx="1502729" cy="261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no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Cache</a:t>
              </a:r>
              <a:r>
                <a:rPr kumimoji="0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容量</a:t>
              </a:r>
              <a:r>
                <a:rPr kumimoji="0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(KB)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FA47FC06-3003-AD4D-A23E-F88DDB603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412" y="6266418"/>
              <a:ext cx="1199026" cy="2870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no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9966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强迫性缺失</a:t>
              </a:r>
              <a:endParaRPr kumimoji="0" lang="en-US" altLang="zh-CN" sz="1600" u="none" strike="noStrike" kern="1200" cap="none" spc="0" normalizeH="0" baseline="0" noProof="0" dirty="0">
                <a:ln>
                  <a:noFill/>
                </a:ln>
                <a:solidFill>
                  <a:srgbClr val="9966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1" name="Text Box 16">
              <a:extLst>
                <a:ext uri="{FF2B5EF4-FFF2-40B4-BE49-F238E27FC236}">
                  <a16:creationId xmlns:a16="http://schemas.microsoft.com/office/drawing/2014/main" id="{F6D3BD45-05CD-014C-9B1C-AC09D1218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9381" y="4699639"/>
              <a:ext cx="919538" cy="2612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no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容量缺失主导</a:t>
              </a:r>
              <a:endParaRPr kumimoji="0" lang="en-US" altLang="zh-CN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3C901B7-7DE2-1E43-82B1-B75C84FD58D4}"/>
                </a:ext>
              </a:extLst>
            </p:cNvPr>
            <p:cNvSpPr>
              <a:spLocks/>
            </p:cNvSpPr>
            <p:nvPr/>
          </p:nvSpPr>
          <p:spPr bwMode="auto">
            <a:xfrm rot="2250617">
              <a:off x="3155479" y="3573814"/>
              <a:ext cx="2420282" cy="706149"/>
            </a:xfrm>
            <a:custGeom>
              <a:avLst/>
              <a:gdLst>
                <a:gd name="T0" fmla="*/ 1 w 9111"/>
                <a:gd name="T1" fmla="*/ 0 h 9111"/>
                <a:gd name="T2" fmla="*/ 1 w 9111"/>
                <a:gd name="T3" fmla="*/ 0 h 9111"/>
                <a:gd name="T4" fmla="*/ 0 w 9111"/>
                <a:gd name="T5" fmla="*/ 0 h 9111"/>
                <a:gd name="T6" fmla="*/ 0 w 9111"/>
                <a:gd name="T7" fmla="*/ 0 h 9111"/>
                <a:gd name="T8" fmla="*/ 1 w 9111"/>
                <a:gd name="T9" fmla="*/ 0 h 9111"/>
                <a:gd name="T10" fmla="*/ 1 w 9111"/>
                <a:gd name="T11" fmla="*/ 0 h 91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29D4675D-A02E-CC4B-B1F9-1565078725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10539">
              <a:off x="4402845" y="3523093"/>
              <a:ext cx="919538" cy="2612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no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冲突缺失主导</a:t>
              </a:r>
              <a:endParaRPr kumimoji="0" lang="en-US" altLang="zh-CN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</p:grp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C17E11F6-A26F-6D4D-B9E7-4DBCE5777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2794936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en-US" altLang="zh-CN" dirty="0"/>
              <a:t>3C</a:t>
            </a:r>
            <a:r>
              <a:rPr kumimoji="1" lang="zh-CN" altLang="en-US" dirty="0"/>
              <a:t>原则的统计规律</a:t>
            </a:r>
            <a:r>
              <a:rPr kumimoji="1" lang="en-US" altLang="zh-CN" dirty="0"/>
              <a:t>(1)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强迫性缺失和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容量大小无关（和</a:t>
            </a:r>
            <a:r>
              <a:rPr kumimoji="1" lang="zh-CN" altLang="en-US" sz="2400" dirty="0">
                <a:solidFill>
                  <a:srgbClr val="0432FF"/>
                </a:solidFill>
              </a:rPr>
              <a:t>块的大小</a:t>
            </a:r>
            <a:r>
              <a:rPr kumimoji="1" lang="zh-CN" altLang="en-US" sz="2400" dirty="0"/>
              <a:t>有关）</a:t>
            </a:r>
            <a:endParaRPr kumimoji="1" lang="en-US" altLang="zh-CN" sz="2400" dirty="0"/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容量缺失随着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容量增大而减少</a:t>
            </a:r>
            <a:endParaRPr kumimoji="1" lang="en-US" altLang="zh-CN" sz="2400" dirty="0"/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冲突缺失随着相联度增大而减少</a:t>
            </a:r>
            <a:endParaRPr lang="en-US" altLang="zh-C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4B0A4-D807-7C4D-A08E-3141CAAAD1DA}"/>
              </a:ext>
            </a:extLst>
          </p:cNvPr>
          <p:cNvSpPr txBox="1"/>
          <p:nvPr/>
        </p:nvSpPr>
        <p:spPr>
          <a:xfrm>
            <a:off x="7011268" y="6519715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966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(</a:t>
            </a:r>
            <a:r>
              <a:rPr kumimoji="0" lang="en-CN" sz="1800" b="1" i="0" u="none" strike="noStrike" kern="1200" cap="none" spc="0" normalizeH="0" baseline="0" noProof="0" dirty="0">
                <a:ln>
                  <a:noFill/>
                </a:ln>
                <a:solidFill>
                  <a:srgbClr val="9966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橙色区域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966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)</a:t>
            </a:r>
            <a:endParaRPr kumimoji="0" lang="en-CN" sz="1800" b="1" i="0" u="none" strike="noStrike" kern="1200" cap="none" spc="0" normalizeH="0" baseline="0" noProof="0" dirty="0">
              <a:ln>
                <a:noFill/>
              </a:ln>
              <a:solidFill>
                <a:srgbClr val="9966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B8A605A6-D8CF-D899-5577-A904B30F4541}"/>
                  </a:ext>
                </a:extLst>
              </p14:cNvPr>
              <p14:cNvContentPartPr/>
              <p14:nvPr/>
            </p14:nvContentPartPr>
            <p14:xfrm>
              <a:off x="2726640" y="3889080"/>
              <a:ext cx="2081160" cy="22237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B8A605A6-D8CF-D899-5577-A904B30F45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7280" y="3879720"/>
                <a:ext cx="2099880" cy="224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428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6D8A15E-5279-B84B-B5AF-10BBDF98BC49}"/>
              </a:ext>
            </a:extLst>
          </p:cNvPr>
          <p:cNvGrpSpPr/>
          <p:nvPr/>
        </p:nvGrpSpPr>
        <p:grpSpPr>
          <a:xfrm>
            <a:off x="2528764" y="4211409"/>
            <a:ext cx="4132770" cy="2513543"/>
            <a:chOff x="2279979" y="4344246"/>
            <a:chExt cx="4132770" cy="251354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90818EB-33D6-9242-83D2-F6474D33ECE1}"/>
                </a:ext>
              </a:extLst>
            </p:cNvPr>
            <p:cNvGrpSpPr/>
            <p:nvPr/>
          </p:nvGrpSpPr>
          <p:grpSpPr>
            <a:xfrm>
              <a:off x="2294467" y="4344246"/>
              <a:ext cx="4118282" cy="2513543"/>
              <a:chOff x="2294467" y="4275666"/>
              <a:chExt cx="4118282" cy="2513543"/>
            </a:xfrm>
          </p:grpSpPr>
          <p:pic>
            <p:nvPicPr>
              <p:cNvPr id="14" name="Picture 4" descr="5-5">
                <a:extLst>
                  <a:ext uri="{FF2B5EF4-FFF2-40B4-BE49-F238E27FC236}">
                    <a16:creationId xmlns:a16="http://schemas.microsoft.com/office/drawing/2014/main" id="{05F475D6-BDB7-0E4F-9D99-25B9359886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8" t="18014" r="7179" b="4224"/>
              <a:stretch/>
            </p:blipFill>
            <p:spPr bwMode="auto">
              <a:xfrm>
                <a:off x="2294467" y="4275666"/>
                <a:ext cx="4080934" cy="25135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3D03E821-6866-5C41-ADD7-6C98A23A41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6685" y="4279492"/>
                <a:ext cx="436033" cy="240570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869FF880-DBB7-A64F-A057-6476283FB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10251" y="6412049"/>
                <a:ext cx="436033" cy="240570"/>
              </a:xfrm>
              <a:prstGeom prst="rect">
                <a:avLst/>
              </a:prstGeom>
            </p:spPr>
          </p:pic>
          <p:sp>
            <p:nvSpPr>
              <p:cNvPr id="19" name="Text Box 16">
                <a:extLst>
                  <a:ext uri="{FF2B5EF4-FFF2-40B4-BE49-F238E27FC236}">
                    <a16:creationId xmlns:a16="http://schemas.microsoft.com/office/drawing/2014/main" id="{C6BF01E2-47DF-0342-B61D-28B4EF8BE7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3784" y="6354899"/>
                <a:ext cx="768965" cy="320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>
                <a:noAutofit/>
              </a:bodyPr>
              <a:lstStyle>
                <a:lvl1pPr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defTabSz="10096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defTabSz="10096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defTabSz="10096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defTabSz="10096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ctr" defTabSz="10096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/>
                </a:pPr>
                <a:r>
                  <a:rPr kumimoji="0" lang="zh-CN" altLang="en-US" sz="14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行大小</a:t>
                </a:r>
                <a:endParaRPr kumimoji="0" lang="en-US" altLang="zh-CN" sz="14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20" name="Text Box 16">
                <a:extLst>
                  <a:ext uri="{FF2B5EF4-FFF2-40B4-BE49-F238E27FC236}">
                    <a16:creationId xmlns:a16="http://schemas.microsoft.com/office/drawing/2014/main" id="{DC0083A4-A96F-2642-AE37-199D1BBC20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3599" y="4343219"/>
                <a:ext cx="768965" cy="320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>
                <a:noAutofit/>
              </a:bodyPr>
              <a:lstStyle>
                <a:lvl1pPr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defTabSz="1009650" eaLnBrk="0" hangingPunct="0"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defTabSz="10096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defTabSz="10096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defTabSz="10096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defTabSz="10096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ctr" defTabSz="10096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392113" algn="l"/>
                    <a:tab pos="785813" algn="l"/>
                    <a:tab pos="1177925" algn="l"/>
                    <a:tab pos="1568450" algn="l"/>
                    <a:tab pos="1963738" algn="l"/>
                    <a:tab pos="2355850" algn="l"/>
                    <a:tab pos="2749550" algn="l"/>
                    <a:tab pos="3141663" algn="l"/>
                    <a:tab pos="3532188" algn="l"/>
                    <a:tab pos="3927475" algn="l"/>
                    <a:tab pos="4319588" algn="l"/>
                    <a:tab pos="4708525" algn="l"/>
                  </a:tabLst>
                  <a:defRPr/>
                </a:pPr>
                <a:r>
                  <a:rPr kumimoji="0" lang="zh-CN" altLang="en-US" sz="14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缺失率</a:t>
                </a:r>
                <a:endParaRPr kumimoji="0" lang="en-US" altLang="zh-CN" sz="14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5" name="Text Box 16">
              <a:extLst>
                <a:ext uri="{FF2B5EF4-FFF2-40B4-BE49-F238E27FC236}">
                  <a16:creationId xmlns:a16="http://schemas.microsoft.com/office/drawing/2014/main" id="{9B809D9D-72C2-4A4C-A5C8-812419970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9979" y="6507118"/>
              <a:ext cx="768965" cy="320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noAutofit/>
            </a:bodyPr>
            <a:lstStyle>
              <a:lvl1pPr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ctr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92113" algn="l"/>
                  <a:tab pos="785813" algn="l"/>
                  <a:tab pos="1177925" algn="l"/>
                  <a:tab pos="1568450" algn="l"/>
                  <a:tab pos="1963738" algn="l"/>
                  <a:tab pos="2355850" algn="l"/>
                  <a:tab pos="2749550" algn="l"/>
                  <a:tab pos="3141663" algn="l"/>
                  <a:tab pos="3532188" algn="l"/>
                  <a:tab pos="3927475" algn="l"/>
                  <a:tab pos="4319588" algn="l"/>
                  <a:tab pos="4708525" algn="l"/>
                </a:tabLst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A0099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Cache</a:t>
              </a:r>
              <a:r>
                <a: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A0099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容量</a:t>
              </a:r>
              <a:endPara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rgbClr val="0A0099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A88B467-563B-0EC7-8AC1-CCE2AFB6D055}"/>
              </a:ext>
            </a:extLst>
          </p:cNvPr>
          <p:cNvGrpSpPr/>
          <p:nvPr/>
        </p:nvGrpSpPr>
        <p:grpSpPr>
          <a:xfrm>
            <a:off x="3833870" y="5218356"/>
            <a:ext cx="1564395" cy="947451"/>
            <a:chOff x="3833870" y="5218356"/>
            <a:chExt cx="1564395" cy="947451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317D7CE-3A8D-594F-97A1-CCC879D454D6}"/>
                </a:ext>
              </a:extLst>
            </p:cNvPr>
            <p:cNvCxnSpPr>
              <a:cxnSpLocks/>
            </p:cNvCxnSpPr>
            <p:nvPr/>
          </p:nvCxnSpPr>
          <p:spPr>
            <a:xfrm>
              <a:off x="3833870" y="5218356"/>
              <a:ext cx="738130" cy="4186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FD19099-0986-D04F-A640-6D5BF695C27F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0" y="5734313"/>
              <a:ext cx="673865" cy="4314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BDA3BD4B-EE6B-484F-833D-A01275336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0988"/>
            <a:ext cx="8229600" cy="4525962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en-US" altLang="zh-CN" dirty="0"/>
              <a:t>3C</a:t>
            </a:r>
            <a:r>
              <a:rPr kumimoji="1" lang="zh-CN" altLang="en-US" dirty="0"/>
              <a:t>原则的统计规律</a:t>
            </a:r>
            <a:r>
              <a:rPr kumimoji="1" lang="en-US" altLang="zh-CN" dirty="0"/>
              <a:t>(2)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对于给定的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容量，随着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行大小的增加，缺失率会先下降后上升。因为强迫性缺失会下降，但是容量缺失和冲突缺失会增加。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en-US" altLang="zh-CN" sz="2400" dirty="0"/>
              <a:t>Cache</a:t>
            </a:r>
            <a:r>
              <a:rPr kumimoji="1" lang="zh-CN" altLang="en-US" sz="2400" dirty="0"/>
              <a:t>的容量越大，使得缺失率达到最低点的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行大小也越大</a:t>
            </a:r>
          </a:p>
        </p:txBody>
      </p:sp>
    </p:spTree>
    <p:extLst>
      <p:ext uri="{BB962C8B-B14F-4D97-AF65-F5344CB8AC3E}">
        <p14:creationId xmlns:p14="http://schemas.microsoft.com/office/powerpoint/2010/main" val="12701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779793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减少强迫性缺失</a:t>
            </a:r>
            <a:endParaRPr kumimoji="1" lang="en-US" altLang="zh-CN" dirty="0"/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400" dirty="0"/>
              <a:t>解决方案：</a:t>
            </a:r>
            <a:r>
              <a:rPr kumimoji="1" lang="zh-CN" altLang="en-US" sz="2400" dirty="0">
                <a:solidFill>
                  <a:srgbClr val="1A49EA"/>
                </a:solidFill>
              </a:rPr>
              <a:t>增大</a:t>
            </a:r>
            <a:r>
              <a:rPr kumimoji="1" lang="en-US" altLang="zh-CN" sz="2400" dirty="0">
                <a:solidFill>
                  <a:srgbClr val="1A49EA"/>
                </a:solidFill>
              </a:rPr>
              <a:t>cache</a:t>
            </a:r>
            <a:r>
              <a:rPr kumimoji="1" lang="zh-CN" altLang="en-US" sz="2400" dirty="0">
                <a:solidFill>
                  <a:srgbClr val="1A49EA"/>
                </a:solidFill>
              </a:rPr>
              <a:t>行的大小（即：块的大小）</a:t>
            </a:r>
            <a:endParaRPr kumimoji="1" lang="en-US" altLang="zh-CN" sz="2400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0"/>
              </a:spcBef>
            </a:pPr>
            <a:r>
              <a:rPr lang="zh-CN" altLang="en-US" sz="2400" dirty="0"/>
              <a:t>优点：</a:t>
            </a:r>
            <a:endParaRPr lang="en-US" altLang="zh-CN" sz="2400" dirty="0"/>
          </a:p>
          <a:p>
            <a:pPr marL="1314450" lvl="2" indent="-45720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000" dirty="0"/>
              <a:t>能够有效减少强迫性缺失，尤其对指令</a:t>
            </a:r>
            <a:r>
              <a:rPr lang="en-US" altLang="zh-CN" sz="2000" dirty="0"/>
              <a:t>cache</a:t>
            </a:r>
            <a:r>
              <a:rPr lang="zh-CN" altLang="en-US" sz="2000" dirty="0"/>
              <a:t>非常有效</a:t>
            </a:r>
            <a:endParaRPr lang="en-US" altLang="zh-CN" sz="2000" dirty="0"/>
          </a:p>
          <a:p>
            <a:pPr marL="914400" lvl="1" indent="-457200">
              <a:spcBef>
                <a:spcPts val="0"/>
              </a:spcBef>
            </a:pPr>
            <a:r>
              <a:rPr lang="zh-CN" altLang="en-US" sz="2400" dirty="0"/>
              <a:t>缺点：</a:t>
            </a:r>
            <a:endParaRPr lang="en-US" altLang="zh-CN" sz="2400" dirty="0"/>
          </a:p>
          <a:p>
            <a:pPr marL="1314450" lvl="2" indent="-45720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000" dirty="0"/>
              <a:t>会造成更多的冲突性缺失</a:t>
            </a:r>
            <a:endParaRPr lang="en-US" altLang="zh-CN" sz="2000" dirty="0"/>
          </a:p>
          <a:p>
            <a:pPr marL="1314450" lvl="2" indent="-45720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000" dirty="0"/>
              <a:t>可能会读入很多没有必要数据</a:t>
            </a:r>
          </a:p>
          <a:p>
            <a:pPr marL="914400" lvl="1" indent="-457200">
              <a:spcBef>
                <a:spcPts val="1000"/>
              </a:spcBef>
            </a:pPr>
            <a:endParaRPr lang="en-US" altLang="zh-CN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AB998A5-6702-4BA5-B1BE-0593380D6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867910"/>
              </p:ext>
            </p:extLst>
          </p:nvPr>
        </p:nvGraphicFramePr>
        <p:xfrm>
          <a:off x="2515577" y="4588284"/>
          <a:ext cx="4546704" cy="167011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029269">
                  <a:extLst>
                    <a:ext uri="{9D8B030D-6E8A-4147-A177-3AD203B41FA5}">
                      <a16:colId xmlns:a16="http://schemas.microsoft.com/office/drawing/2014/main" val="557422533"/>
                    </a:ext>
                  </a:extLst>
                </a:gridCol>
                <a:gridCol w="1517435">
                  <a:extLst>
                    <a:ext uri="{9D8B030D-6E8A-4147-A177-3AD203B41FA5}">
                      <a16:colId xmlns:a16="http://schemas.microsoft.com/office/drawing/2014/main" val="960072778"/>
                    </a:ext>
                  </a:extLst>
                </a:gridCol>
              </a:tblGrid>
              <a:tr h="472297">
                <a:tc>
                  <a:txBody>
                    <a:bodyPr/>
                    <a:lstStyle/>
                    <a:p>
                      <a:pPr algn="ctr" fontAlgn="ctr"/>
                      <a:endParaRPr lang="zh-CN" alt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200" b="1" u="none" strike="noStrike" dirty="0">
                          <a:effectLst/>
                        </a:rPr>
                        <a:t>强制缺失</a:t>
                      </a:r>
                      <a:endParaRPr lang="zh-CN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extLst>
                  <a:ext uri="{0D108BD9-81ED-4DB2-BD59-A6C34878D82A}">
                    <a16:rowId xmlns:a16="http://schemas.microsoft.com/office/drawing/2014/main" val="1769980678"/>
                  </a:ext>
                </a:extLst>
              </a:tr>
              <a:tr h="3960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2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200" b="0" u="none" strike="noStrike" dirty="0">
                          <a:effectLst/>
                        </a:rPr>
                        <a:t>容量↑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200" b="0" u="none" strike="noStrike" dirty="0">
                          <a:effectLst/>
                        </a:rPr>
                        <a:t>-</a:t>
                      </a:r>
                      <a:endParaRPr lang="en-US" altLang="zh-CN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extLst>
                  <a:ext uri="{0D108BD9-81ED-4DB2-BD59-A6C34878D82A}">
                    <a16:rowId xmlns:a16="http://schemas.microsoft.com/office/drawing/2014/main" val="889832058"/>
                  </a:ext>
                </a:extLst>
              </a:tr>
              <a:tr h="4057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2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200" b="0" u="none" strike="noStrike" dirty="0">
                          <a:effectLst/>
                        </a:rPr>
                        <a:t>行大小↑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200" b="0" u="none" strike="noStrike" dirty="0">
                          <a:effectLst/>
                        </a:rPr>
                        <a:t>↓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extLst>
                  <a:ext uri="{0D108BD9-81ED-4DB2-BD59-A6C34878D82A}">
                    <a16:rowId xmlns:a16="http://schemas.microsoft.com/office/drawing/2014/main" val="838485508"/>
                  </a:ext>
                </a:extLst>
              </a:tr>
              <a:tr h="3960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2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200" b="0" u="none" strike="noStrike" dirty="0">
                          <a:effectLst/>
                        </a:rPr>
                        <a:t>相联度↑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200" b="0" u="none" strike="noStrike" dirty="0">
                          <a:effectLst/>
                        </a:rPr>
                        <a:t>-</a:t>
                      </a:r>
                      <a:endParaRPr lang="en-US" altLang="zh-CN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extLst>
                  <a:ext uri="{0D108BD9-81ED-4DB2-BD59-A6C34878D82A}">
                    <a16:rowId xmlns:a16="http://schemas.microsoft.com/office/drawing/2014/main" val="626595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57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779793"/>
          </a:xfrm>
        </p:spPr>
        <p:txBody>
          <a:bodyPr/>
          <a:lstStyle/>
          <a:p>
            <a:pPr marL="514350" indent="-457200">
              <a:spcBef>
                <a:spcPts val="0"/>
              </a:spcBef>
            </a:pPr>
            <a:r>
              <a:rPr kumimoji="1" lang="zh-CN" altLang="en-US" dirty="0"/>
              <a:t>减少容量缺失</a:t>
            </a:r>
            <a:endParaRPr kumimoji="1" lang="en-US" altLang="zh-CN" dirty="0"/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400" dirty="0"/>
              <a:t>解决方案：</a:t>
            </a:r>
            <a:r>
              <a:rPr kumimoji="1" lang="zh-CN" altLang="en-US" sz="2400" dirty="0">
                <a:solidFill>
                  <a:srgbClr val="1A49EA"/>
                </a:solidFill>
              </a:rPr>
              <a:t>增大</a:t>
            </a:r>
            <a:r>
              <a:rPr kumimoji="1" lang="en-US" altLang="zh-CN" sz="2400" dirty="0">
                <a:solidFill>
                  <a:srgbClr val="1A49EA"/>
                </a:solidFill>
              </a:rPr>
              <a:t>cache</a:t>
            </a:r>
            <a:r>
              <a:rPr kumimoji="1" lang="zh-CN" altLang="en-US" sz="2400" dirty="0">
                <a:solidFill>
                  <a:srgbClr val="1A49EA"/>
                </a:solidFill>
              </a:rPr>
              <a:t>的容量</a:t>
            </a:r>
            <a:endParaRPr kumimoji="1" lang="en-US" altLang="zh-CN" sz="2400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0"/>
              </a:spcBef>
            </a:pPr>
            <a:r>
              <a:rPr lang="zh-CN" altLang="en-US" sz="2400" dirty="0"/>
              <a:t>优点：</a:t>
            </a:r>
            <a:endParaRPr lang="en-US" altLang="zh-CN" sz="2400" dirty="0"/>
          </a:p>
          <a:p>
            <a:pPr marL="1314450" lvl="2" indent="-45720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000" dirty="0"/>
              <a:t>能够有效减少容量缺失，同也会降低冲突性缺失，一举两得</a:t>
            </a:r>
            <a:endParaRPr lang="en-US" altLang="zh-CN" sz="2000" dirty="0"/>
          </a:p>
          <a:p>
            <a:pPr marL="914400" lvl="1" indent="-457200">
              <a:spcBef>
                <a:spcPts val="0"/>
              </a:spcBef>
            </a:pPr>
            <a:r>
              <a:rPr lang="zh-CN" altLang="en-US" sz="2400" dirty="0"/>
              <a:t>缺点：</a:t>
            </a:r>
            <a:endParaRPr lang="en-US" altLang="zh-CN" sz="2400" dirty="0"/>
          </a:p>
          <a:p>
            <a:pPr marL="1314450" lvl="2" indent="-45720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000" dirty="0"/>
              <a:t>容量增加会造成</a:t>
            </a:r>
            <a:r>
              <a:rPr lang="en-US" altLang="zh-CN" sz="2000" dirty="0"/>
              <a:t>cache</a:t>
            </a:r>
            <a:r>
              <a:rPr lang="zh-CN" altLang="en-US" sz="2000" dirty="0"/>
              <a:t>的控制电路变得更加复杂，增大物理连线的延时，进而导致</a:t>
            </a:r>
            <a:r>
              <a:rPr lang="en-US" altLang="zh-CN" sz="2000" dirty="0"/>
              <a:t>cache</a:t>
            </a:r>
            <a:r>
              <a:rPr lang="zh-CN" altLang="en-US" sz="2000" dirty="0"/>
              <a:t>的访问时间增加。</a:t>
            </a:r>
            <a:endParaRPr lang="en-US" altLang="zh-CN" sz="2000" dirty="0"/>
          </a:p>
        </p:txBody>
      </p:sp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EA63A82E-D523-7E60-797A-2CF84CC8A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037590"/>
              </p:ext>
            </p:extLst>
          </p:nvPr>
        </p:nvGraphicFramePr>
        <p:xfrm>
          <a:off x="2515577" y="4588284"/>
          <a:ext cx="4546704" cy="167011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029269">
                  <a:extLst>
                    <a:ext uri="{9D8B030D-6E8A-4147-A177-3AD203B41FA5}">
                      <a16:colId xmlns:a16="http://schemas.microsoft.com/office/drawing/2014/main" val="557422533"/>
                    </a:ext>
                  </a:extLst>
                </a:gridCol>
                <a:gridCol w="1517435">
                  <a:extLst>
                    <a:ext uri="{9D8B030D-6E8A-4147-A177-3AD203B41FA5}">
                      <a16:colId xmlns:a16="http://schemas.microsoft.com/office/drawing/2014/main" val="960072778"/>
                    </a:ext>
                  </a:extLst>
                </a:gridCol>
              </a:tblGrid>
              <a:tr h="472297">
                <a:tc>
                  <a:txBody>
                    <a:bodyPr/>
                    <a:lstStyle/>
                    <a:p>
                      <a:pPr algn="ctr" fontAlgn="ctr"/>
                      <a:endParaRPr lang="zh-CN" alt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200" b="1" u="none" strike="noStrike" dirty="0">
                          <a:effectLst/>
                        </a:rPr>
                        <a:t>强制缺失</a:t>
                      </a:r>
                      <a:endParaRPr lang="zh-CN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extLst>
                  <a:ext uri="{0D108BD9-81ED-4DB2-BD59-A6C34878D82A}">
                    <a16:rowId xmlns:a16="http://schemas.microsoft.com/office/drawing/2014/main" val="1769980678"/>
                  </a:ext>
                </a:extLst>
              </a:tr>
              <a:tr h="3960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2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200" b="0" u="none" strike="noStrike" dirty="0">
                          <a:effectLst/>
                        </a:rPr>
                        <a:t>容量↑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200" b="0" u="none" strike="noStrike" dirty="0">
                          <a:effectLst/>
                        </a:rPr>
                        <a:t>↓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extLst>
                  <a:ext uri="{0D108BD9-81ED-4DB2-BD59-A6C34878D82A}">
                    <a16:rowId xmlns:a16="http://schemas.microsoft.com/office/drawing/2014/main" val="889832058"/>
                  </a:ext>
                </a:extLst>
              </a:tr>
              <a:tr h="4057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2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200" b="0" u="none" strike="noStrike" dirty="0">
                          <a:effectLst/>
                        </a:rPr>
                        <a:t>行大小↑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u="none" strike="noStrike" dirty="0">
                          <a:effectLst/>
                        </a:rPr>
                        <a:t>↑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extLst>
                  <a:ext uri="{0D108BD9-81ED-4DB2-BD59-A6C34878D82A}">
                    <a16:rowId xmlns:a16="http://schemas.microsoft.com/office/drawing/2014/main" val="838485508"/>
                  </a:ext>
                </a:extLst>
              </a:tr>
              <a:tr h="3960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2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200" b="0" u="none" strike="noStrike" dirty="0">
                          <a:effectLst/>
                        </a:rPr>
                        <a:t>相联度↑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200" b="0" u="none" strike="noStrike" dirty="0">
                          <a:effectLst/>
                        </a:rPr>
                        <a:t>-</a:t>
                      </a:r>
                      <a:endParaRPr lang="en-US" altLang="zh-CN" sz="2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842" marR="11842" marT="11842" marB="0" anchor="ctr"/>
                </a:tc>
                <a:extLst>
                  <a:ext uri="{0D108BD9-81ED-4DB2-BD59-A6C34878D82A}">
                    <a16:rowId xmlns:a16="http://schemas.microsoft.com/office/drawing/2014/main" val="62659574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58C625D0-A22D-548F-090F-023DAF4F8973}"/>
                  </a:ext>
                </a:extLst>
              </p14:cNvPr>
              <p14:cNvContentPartPr/>
              <p14:nvPr/>
            </p14:nvContentPartPr>
            <p14:xfrm>
              <a:off x="5645160" y="4130640"/>
              <a:ext cx="667440" cy="8139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58C625D0-A22D-548F-090F-023DAF4F89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5800" y="4121280"/>
                <a:ext cx="686160" cy="83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979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32AA682F-4EF5-5E4E-8165-0DD17C901C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0"/>
          <a:stretch/>
        </p:blipFill>
        <p:spPr>
          <a:xfrm>
            <a:off x="196502" y="3631350"/>
            <a:ext cx="4552880" cy="285756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FABB8645-CB52-3B4B-AE03-14FBCD014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6451" y="2759818"/>
            <a:ext cx="0" cy="37800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DCCB3941-ED3F-214E-B556-38CEE82159BF}"/>
              </a:ext>
            </a:extLst>
          </p:cNvPr>
          <p:cNvSpPr txBox="1">
            <a:spLocks/>
          </p:cNvSpPr>
          <p:nvPr/>
        </p:nvSpPr>
        <p:spPr bwMode="auto">
          <a:xfrm>
            <a:off x="628650" y="2762170"/>
            <a:ext cx="3746808" cy="554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解决方案：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增加相联性</a:t>
            </a:r>
          </a:p>
        </p:txBody>
      </p:sp>
      <p:sp>
        <p:nvSpPr>
          <p:cNvPr id="28" name="Line 18">
            <a:extLst>
              <a:ext uri="{FF2B5EF4-FFF2-40B4-BE49-F238E27FC236}">
                <a16:creationId xmlns:a16="http://schemas.microsoft.com/office/drawing/2014/main" id="{DF9E9A45-B135-6646-854B-A4178B7E79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6833" y="3569760"/>
            <a:ext cx="606638" cy="317799"/>
          </a:xfrm>
          <a:prstGeom prst="line">
            <a:avLst/>
          </a:prstGeom>
          <a:noFill/>
          <a:ln w="25400">
            <a:solidFill>
              <a:srgbClr val="053DE8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6199" dir="3420002" algn="ctr" rotWithShape="0">
                    <a:srgbClr val="053DE8">
                      <a:alpha val="25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9" name="Text Box 19">
            <a:extLst>
              <a:ext uri="{FF2B5EF4-FFF2-40B4-BE49-F238E27FC236}">
                <a16:creationId xmlns:a16="http://schemas.microsoft.com/office/drawing/2014/main" id="{06BB4254-18D8-E144-983B-0BEBF290D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014" y="3281016"/>
            <a:ext cx="216114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defTabSz="1009650" eaLnBrk="0" fontAlgn="base" hangingPunct="0">
              <a:spcBef>
                <a:spcPct val="0"/>
              </a:spcBef>
              <a:spcAft>
                <a:spcPct val="0"/>
              </a:spcAft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defTabSz="1009650" eaLnBrk="0" fontAlgn="base" hangingPunct="0">
              <a:spcBef>
                <a:spcPct val="0"/>
              </a:spcBef>
              <a:spcAft>
                <a:spcPct val="0"/>
              </a:spcAft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defTabSz="1009650" eaLnBrk="0" fontAlgn="base" hangingPunct="0">
              <a:spcBef>
                <a:spcPct val="0"/>
              </a:spcBef>
              <a:spcAft>
                <a:spcPct val="0"/>
              </a:spcAft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defTabSz="1009650" eaLnBrk="0" fontAlgn="base" hangingPunct="0">
              <a:spcBef>
                <a:spcPct val="0"/>
              </a:spcBef>
              <a:spcAft>
                <a:spcPct val="0"/>
              </a:spcAft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marL="0" marR="0" lvl="0" indent="0" algn="l" defTabSz="1009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/>
            </a:pP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53DE8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增加相联性和增加容量都能减少冲突缺失</a:t>
            </a: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053DE8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953FD0D9-8467-1647-9AA7-B10AFF8F7560}"/>
              </a:ext>
            </a:extLst>
          </p:cNvPr>
          <p:cNvSpPr txBox="1">
            <a:spLocks/>
          </p:cNvSpPr>
          <p:nvPr/>
        </p:nvSpPr>
        <p:spPr bwMode="auto">
          <a:xfrm>
            <a:off x="4871562" y="2940796"/>
            <a:ext cx="4187404" cy="951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其他解决方案：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增加</a:t>
            </a: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cache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的行数</a:t>
            </a:r>
          </a:p>
        </p:txBody>
      </p:sp>
      <p:sp>
        <p:nvSpPr>
          <p:cNvPr id="31" name="Text Box 25">
            <a:extLst>
              <a:ext uri="{FF2B5EF4-FFF2-40B4-BE49-F238E27FC236}">
                <a16:creationId xmlns:a16="http://schemas.microsoft.com/office/drawing/2014/main" id="{25C3EEE2-8307-6D4E-8A97-661D76972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7498" y="3952504"/>
            <a:ext cx="3600000" cy="728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defTabSz="1009650" eaLnBrk="0" hangingPunct="0"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defTabSz="1009650" eaLnBrk="0" fontAlgn="base" hangingPunct="0">
              <a:spcBef>
                <a:spcPct val="0"/>
              </a:spcBef>
              <a:spcAft>
                <a:spcPct val="0"/>
              </a:spcAft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defTabSz="1009650" eaLnBrk="0" fontAlgn="base" hangingPunct="0">
              <a:spcBef>
                <a:spcPct val="0"/>
              </a:spcBef>
              <a:spcAft>
                <a:spcPct val="0"/>
              </a:spcAft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defTabSz="1009650" eaLnBrk="0" fontAlgn="base" hangingPunct="0">
              <a:spcBef>
                <a:spcPct val="0"/>
              </a:spcBef>
              <a:spcAft>
                <a:spcPct val="0"/>
              </a:spcAft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defTabSz="1009650" eaLnBrk="0" fontAlgn="base" hangingPunct="0">
              <a:spcBef>
                <a:spcPct val="0"/>
              </a:spcBef>
              <a:spcAft>
                <a:spcPct val="0"/>
              </a:spcAft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marL="0" marR="0" lvl="0" indent="0" algn="l" defTabSz="1009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92113" algn="l"/>
                <a:tab pos="785813" algn="l"/>
                <a:tab pos="1177925" algn="l"/>
                <a:tab pos="1568450" algn="l"/>
                <a:tab pos="1963738" algn="l"/>
                <a:tab pos="2355850" algn="l"/>
                <a:tab pos="2749550" algn="l"/>
                <a:tab pos="3141663" algn="l"/>
                <a:tab pos="3532188" algn="l"/>
                <a:tab pos="3927475" algn="l"/>
                <a:tab pos="4319588" algn="l"/>
                <a:tab pos="4708525" algn="l"/>
              </a:tabLst>
              <a:defRPr/>
            </a:pP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Q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：为什么增加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cache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的行数（每行大小减小，总容量不变）会有帮助？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ADEBD17C-4D11-6643-A441-B26D9BF3C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7498" y="4875403"/>
            <a:ext cx="360000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marL="0" marR="0" lvl="0" indent="0" algn="l" defTabSz="100965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A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：可以使得相联性划分得更细，原来的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cache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行映射关系将会更加分散，同组内的将分散至更多的组。</a:t>
            </a: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F8157A63-E388-554A-A371-330401937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64312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减少冲突缺失</a:t>
            </a:r>
            <a:endParaRPr kumimoji="1" lang="en-US" altLang="zh-CN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09D60595-95D9-4EF3-B656-DBEF7D08F1DA}"/>
              </a:ext>
            </a:extLst>
          </p:cNvPr>
          <p:cNvGraphicFramePr>
            <a:graphicFrameLocks noGrp="1"/>
          </p:cNvGraphicFramePr>
          <p:nvPr/>
        </p:nvGraphicFramePr>
        <p:xfrm>
          <a:off x="5164824" y="1341078"/>
          <a:ext cx="3637902" cy="148137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23774">
                  <a:extLst>
                    <a:ext uri="{9D8B030D-6E8A-4147-A177-3AD203B41FA5}">
                      <a16:colId xmlns:a16="http://schemas.microsoft.com/office/drawing/2014/main" val="3149395137"/>
                    </a:ext>
                  </a:extLst>
                </a:gridCol>
                <a:gridCol w="1214128">
                  <a:extLst>
                    <a:ext uri="{9D8B030D-6E8A-4147-A177-3AD203B41FA5}">
                      <a16:colId xmlns:a16="http://schemas.microsoft.com/office/drawing/2014/main" val="3500053747"/>
                    </a:ext>
                  </a:extLst>
                </a:gridCol>
              </a:tblGrid>
              <a:tr h="374862"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冲突缺失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2142983"/>
                  </a:ext>
                </a:extLst>
              </a:tr>
              <a:tr h="3658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1800" b="0" u="none" strike="noStrike" dirty="0">
                          <a:effectLst/>
                        </a:rPr>
                        <a:t>容量↑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dirty="0">
                          <a:effectLst/>
                        </a:rPr>
                        <a:t>↓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759393"/>
                  </a:ext>
                </a:extLst>
              </a:tr>
              <a:tr h="3748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1800" b="0" u="none" strike="noStrike" dirty="0">
                          <a:effectLst/>
                        </a:rPr>
                        <a:t>行大小↑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dirty="0">
                          <a:effectLst/>
                        </a:rPr>
                        <a:t>↑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2213440"/>
                  </a:ext>
                </a:extLst>
              </a:tr>
              <a:tr h="3658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1800" b="0" u="none" strike="noStrike" dirty="0">
                          <a:effectLst/>
                        </a:rPr>
                        <a:t>相联度↑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dirty="0">
                          <a:effectLst/>
                        </a:rPr>
                        <a:t>↓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50491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31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38F79D90-1C5C-E54B-80D4-4458FBE7FA3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405890" y="4023359"/>
          <a:ext cx="6604575" cy="238357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198815">
                  <a:extLst>
                    <a:ext uri="{9D8B030D-6E8A-4147-A177-3AD203B41FA5}">
                      <a16:colId xmlns:a16="http://schemas.microsoft.com/office/drawing/2014/main" val="3499421799"/>
                    </a:ext>
                  </a:extLst>
                </a:gridCol>
                <a:gridCol w="1101440">
                  <a:extLst>
                    <a:ext uri="{9D8B030D-6E8A-4147-A177-3AD203B41FA5}">
                      <a16:colId xmlns:a16="http://schemas.microsoft.com/office/drawing/2014/main" val="103855347"/>
                    </a:ext>
                  </a:extLst>
                </a:gridCol>
                <a:gridCol w="1101440">
                  <a:extLst>
                    <a:ext uri="{9D8B030D-6E8A-4147-A177-3AD203B41FA5}">
                      <a16:colId xmlns:a16="http://schemas.microsoft.com/office/drawing/2014/main" val="1038976994"/>
                    </a:ext>
                  </a:extLst>
                </a:gridCol>
                <a:gridCol w="1101440">
                  <a:extLst>
                    <a:ext uri="{9D8B030D-6E8A-4147-A177-3AD203B41FA5}">
                      <a16:colId xmlns:a16="http://schemas.microsoft.com/office/drawing/2014/main" val="3196574265"/>
                    </a:ext>
                  </a:extLst>
                </a:gridCol>
                <a:gridCol w="1101440">
                  <a:extLst>
                    <a:ext uri="{9D8B030D-6E8A-4147-A177-3AD203B41FA5}">
                      <a16:colId xmlns:a16="http://schemas.microsoft.com/office/drawing/2014/main" val="4228271962"/>
                    </a:ext>
                  </a:extLst>
                </a:gridCol>
              </a:tblGrid>
              <a:tr h="603165"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强制缺失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容量缺失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冲突缺失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命中时间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8655364"/>
                  </a:ext>
                </a:extLst>
              </a:tr>
              <a:tr h="5886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000" b="0" u="none" strike="noStrike" dirty="0">
                          <a:effectLst/>
                        </a:rPr>
                        <a:t>容量↑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-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↓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>
                          <a:effectLst/>
                        </a:rPr>
                        <a:t>↓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>
                          <a:effectLst/>
                        </a:rPr>
                        <a:t>↑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3698381"/>
                  </a:ext>
                </a:extLst>
              </a:tr>
              <a:tr h="603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000" b="0" u="none" strike="noStrike" dirty="0">
                          <a:effectLst/>
                        </a:rPr>
                        <a:t>行大小↑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↓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↓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4842436"/>
                  </a:ext>
                </a:extLst>
              </a:tr>
              <a:tr h="5886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000" b="0" u="none" strike="noStrike" dirty="0">
                          <a:effectLst/>
                        </a:rPr>
                        <a:t>相联度↑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-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-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↓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4407874"/>
                  </a:ext>
                </a:extLst>
              </a:tr>
            </a:tbl>
          </a:graphicData>
        </a:graphic>
      </p:graphicFrame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7048367-23CB-B44A-8793-3070A9C9591F}"/>
              </a:ext>
            </a:extLst>
          </p:cNvPr>
          <p:cNvSpPr txBox="1">
            <a:spLocks/>
          </p:cNvSpPr>
          <p:nvPr/>
        </p:nvSpPr>
        <p:spPr bwMode="auto">
          <a:xfrm>
            <a:off x="457200" y="1551433"/>
            <a:ext cx="8229600" cy="225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32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32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容量、行大小、相联度的影响</a:t>
            </a:r>
            <a:endParaRPr kumimoji="1" lang="en-US" altLang="zh-CN" sz="32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命中时间：主要与硬件实现的复杂度有关，复杂度越高，物理连线的延时就越大，从而命中时间会更长</a:t>
            </a:r>
            <a:endParaRPr kumimoji="1" lang="en-US" altLang="zh-CN" sz="24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采用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控制变量法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进行研究。如增大</a:t>
            </a: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cache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容量时，行大小、相联度不变，增加的是</a:t>
            </a: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cache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行数</a:t>
            </a:r>
            <a:endParaRPr kumimoji="0" lang="en-US" altLang="zh-CN" sz="24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61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zh-CN" altLang="en-US" dirty="0"/>
              <a:t>缓存性能评估：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38F79D90-1C5C-E54B-80D4-4458FBE7FA3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775685"/>
              </p:ext>
            </p:extLst>
          </p:nvPr>
        </p:nvGraphicFramePr>
        <p:xfrm>
          <a:off x="1582229" y="4272505"/>
          <a:ext cx="6604575" cy="197272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198815">
                  <a:extLst>
                    <a:ext uri="{9D8B030D-6E8A-4147-A177-3AD203B41FA5}">
                      <a16:colId xmlns:a16="http://schemas.microsoft.com/office/drawing/2014/main" val="3499421799"/>
                    </a:ext>
                  </a:extLst>
                </a:gridCol>
                <a:gridCol w="1101440">
                  <a:extLst>
                    <a:ext uri="{9D8B030D-6E8A-4147-A177-3AD203B41FA5}">
                      <a16:colId xmlns:a16="http://schemas.microsoft.com/office/drawing/2014/main" val="103855347"/>
                    </a:ext>
                  </a:extLst>
                </a:gridCol>
                <a:gridCol w="1101440">
                  <a:extLst>
                    <a:ext uri="{9D8B030D-6E8A-4147-A177-3AD203B41FA5}">
                      <a16:colId xmlns:a16="http://schemas.microsoft.com/office/drawing/2014/main" val="1038976994"/>
                    </a:ext>
                  </a:extLst>
                </a:gridCol>
                <a:gridCol w="1101440">
                  <a:extLst>
                    <a:ext uri="{9D8B030D-6E8A-4147-A177-3AD203B41FA5}">
                      <a16:colId xmlns:a16="http://schemas.microsoft.com/office/drawing/2014/main" val="3196574265"/>
                    </a:ext>
                  </a:extLst>
                </a:gridCol>
                <a:gridCol w="1101440">
                  <a:extLst>
                    <a:ext uri="{9D8B030D-6E8A-4147-A177-3AD203B41FA5}">
                      <a16:colId xmlns:a16="http://schemas.microsoft.com/office/drawing/2014/main" val="4228271962"/>
                    </a:ext>
                  </a:extLst>
                </a:gridCol>
              </a:tblGrid>
              <a:tr h="499198"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强制缺失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容量缺失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冲突缺失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命中时间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8655364"/>
                  </a:ext>
                </a:extLst>
              </a:tr>
              <a:tr h="4871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Cache</a:t>
                      </a:r>
                      <a:r>
                        <a:rPr lang="zh-CN" alt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容量↑</a:t>
                      </a:r>
                      <a:endParaRPr lang="zh-CN" alt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↓</a:t>
                      </a:r>
                      <a:endParaRPr lang="zh-CN" alt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↓</a:t>
                      </a:r>
                      <a:endParaRPr lang="zh-CN" alt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zh-CN" alt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698381"/>
                  </a:ext>
                </a:extLst>
              </a:tr>
              <a:tr h="4991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000" b="0" u="none" strike="noStrike" dirty="0">
                          <a:effectLst/>
                        </a:rPr>
                        <a:t>行大小↑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↓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↓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4842436"/>
                  </a:ext>
                </a:extLst>
              </a:tr>
              <a:tr h="4871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Cache</a:t>
                      </a:r>
                      <a:r>
                        <a:rPr lang="zh-CN" altLang="en-US" sz="2000" b="0" u="none" strike="noStrike" dirty="0">
                          <a:effectLst/>
                        </a:rPr>
                        <a:t>相联度↑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-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-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↓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u="none" strike="noStrike" dirty="0">
                          <a:effectLst/>
                        </a:rPr>
                        <a:t>↑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4407874"/>
                  </a:ext>
                </a:extLst>
              </a:tr>
            </a:tbl>
          </a:graphicData>
        </a:graphic>
      </p:graphicFrame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7048367-23CB-B44A-8793-3070A9C9591F}"/>
              </a:ext>
            </a:extLst>
          </p:cNvPr>
          <p:cNvSpPr txBox="1">
            <a:spLocks/>
          </p:cNvSpPr>
          <p:nvPr/>
        </p:nvSpPr>
        <p:spPr bwMode="auto">
          <a:xfrm>
            <a:off x="457200" y="1551432"/>
            <a:ext cx="8582628" cy="3020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例：行大小和相联度不变，增大</a:t>
            </a:r>
            <a:r>
              <a:rPr kumimoji="1" lang="en-US" altLang="zh-CN" sz="32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32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容量</a:t>
            </a:r>
            <a:endParaRPr kumimoji="1" lang="en-US" altLang="zh-CN" sz="32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强迫性缺失：</a:t>
            </a: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不变</a:t>
            </a: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。因为只和行大小有关</a:t>
            </a:r>
            <a:endParaRPr kumimoji="0" lang="en-US" altLang="zh-CN" sz="20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容量缺失：</a:t>
            </a: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减少</a:t>
            </a: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。缓解了容量小的问题</a:t>
            </a:r>
            <a:endParaRPr kumimoji="0" lang="en-US" altLang="zh-CN" sz="20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冲突缺失：</a:t>
            </a: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减少</a:t>
            </a: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。相当于增多了</a:t>
            </a:r>
            <a:r>
              <a:rPr kumimoji="0" lang="en-US" altLang="zh-CN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Cache</a:t>
            </a: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行的数量，数据有机会被映射到更多的组中。</a:t>
            </a:r>
            <a:endParaRPr kumimoji="0" lang="en-US" altLang="zh-CN" sz="20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命中时间：</a:t>
            </a: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增大</a:t>
            </a: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。容量增加使得电路面积增大，外围电路更多更复杂，导致延时增加</a:t>
            </a:r>
            <a:endParaRPr kumimoji="0" lang="en-US" altLang="zh-CN" sz="20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11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B5141-35D1-4138-9D3B-B9AE6EB5A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1CFC9C-6109-4FDD-9DA7-74174F5D9E47}" type="slidenum">
              <a:rPr kumimoji="0" lang="zh-CN" altLang="en-US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4F9394-84EF-4E29-A8A8-350C05E6A71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90208"/>
            <a:ext cx="7315200" cy="199819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14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关于</a:t>
            </a:r>
            <a:r>
              <a:rPr kumimoji="1" lang="en" altLang="zh-CN" sz="2814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2814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缺失，以下描述正确的是：</a:t>
            </a:r>
            <a:endParaRPr kumimoji="0" lang="zh-CN" altLang="en-US" sz="2814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43F785-CF71-4ECA-BFC9-8C73AA6B8DB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37509" y="2415986"/>
            <a:ext cx="6400799" cy="59946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增大</a:t>
            </a:r>
            <a:r>
              <a:rPr kumimoji="1" lang="en" altLang="zh-CN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容量，可以降低容量缺失和冲突缺失，但会造成更大的命中时间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DFCFFB-2C4A-4995-9935-A4AD2F52292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37509" y="3215266"/>
            <a:ext cx="6400799" cy="59946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无限容量的</a:t>
            </a:r>
            <a:r>
              <a:rPr kumimoji="1" lang="en" altLang="zh-CN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可以完全避免</a:t>
            </a:r>
            <a:r>
              <a:rPr kumimoji="1" lang="en" altLang="zh-CN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缺失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6BCADF-05B0-4510-AA85-0400B7D4AC4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37509" y="4014545"/>
            <a:ext cx="6400799" cy="59946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全相联的</a:t>
            </a:r>
            <a:r>
              <a:rPr kumimoji="1" lang="en" altLang="zh-CN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冲突缺失率最高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D855F1-C76E-41B5-9DAA-24041B6B950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37509" y="4813826"/>
            <a:ext cx="6400799" cy="59946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增加</a:t>
            </a:r>
            <a:r>
              <a:rPr kumimoji="1" lang="en-US" altLang="zh-CN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行的数量会提高冲突缺失率</a:t>
            </a:r>
            <a:endParaRPr kumimoji="1" lang="en-US" altLang="zh-CN" sz="2462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E071B05-1428-44F2-A3AC-DA1A7D1B7B5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240525" y="2475931"/>
            <a:ext cx="479569" cy="479569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7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407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E0C8356-07C5-410E-ACCD-6223E4E64BC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240525" y="3275211"/>
            <a:ext cx="479569" cy="479569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7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407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6115941-8C8C-4091-AB3F-E064D3F91C6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240525" y="4074491"/>
            <a:ext cx="479569" cy="479569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7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407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8492767-FEFD-4F42-BA60-4D0762B3434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240525" y="4873772"/>
            <a:ext cx="479569" cy="479568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7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407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6ACF6BB-95BB-49E1-9278-C35290113E8E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311327" y="6026660"/>
            <a:ext cx="1438704" cy="383654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7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A15B4B3-A843-4F04-90A3-8858E828356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558327"/>
            <a:chOff x="-1" y="-263723"/>
            <a:chExt cx="10399713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307B9C74-614F-47D3-976C-1FDC3EEA969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-1" y="-263723"/>
              <a:ext cx="10399713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80957" tIns="40479" rIns="80957" bIns="40479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403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83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A04622FE-5370-4910-A226-4AE38F24B12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-1" y="-263723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80957" tIns="40479" rIns="80957" bIns="40479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403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83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994AD8CD-E4F8-445D-BB89-A5CB38D4650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88880" y="-263723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86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CDDFCD8F-725A-439F-B803-E98155D73FB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652398" y="-139504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759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1759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C6F2CCF-ADD7-0DBE-B489-FAFC724B3CE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4594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1552BA-4327-A147-B565-E435AE2E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432"/>
            <a:ext cx="8419171" cy="4693793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lang="zh-CN" altLang="en-US" dirty="0"/>
              <a:t>习题解析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r>
              <a:rPr lang="zh-CN" altLang="en-US" sz="2400" dirty="0">
                <a:solidFill>
                  <a:srgbClr val="1A49EA"/>
                </a:solidFill>
              </a:rPr>
              <a:t>正确，显然可以降低容量缺失。增大容量相当于增加</a:t>
            </a:r>
            <a:r>
              <a:rPr lang="en-US" altLang="zh-CN" sz="2400" dirty="0">
                <a:solidFill>
                  <a:srgbClr val="1A49EA"/>
                </a:solidFill>
              </a:rPr>
              <a:t>cache</a:t>
            </a:r>
            <a:r>
              <a:rPr lang="zh-CN" altLang="en-US" sz="2400" dirty="0">
                <a:solidFill>
                  <a:srgbClr val="1A49EA"/>
                </a:solidFill>
              </a:rPr>
              <a:t>总行数，使得原本的对应关系变得更加分散，从而减少冲突缺失。但是</a:t>
            </a:r>
            <a:r>
              <a:rPr lang="en-US" altLang="zh-CN" sz="2400" dirty="0">
                <a:solidFill>
                  <a:srgbClr val="1A49EA"/>
                </a:solidFill>
              </a:rPr>
              <a:t>cache</a:t>
            </a:r>
            <a:r>
              <a:rPr lang="zh-CN" altLang="en-US" sz="2400" dirty="0">
                <a:solidFill>
                  <a:srgbClr val="1A49EA"/>
                </a:solidFill>
              </a:rPr>
              <a:t>容量增大将带来物理连线的延时增加，从而造成更大的命中时间。</a:t>
            </a:r>
            <a:endParaRPr lang="en-US" altLang="zh-CN" sz="2400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r>
              <a:rPr lang="zh-CN" altLang="en-US" sz="2400" dirty="0"/>
              <a:t>错误，无法避免强迫性缺失。</a:t>
            </a:r>
            <a:endParaRPr lang="en-US" altLang="zh-CN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r>
              <a:rPr lang="zh-CN" altLang="en-US" sz="2400" dirty="0"/>
              <a:t>错误，全相联映像中不会发生冲突缺失，冲突缺失只会出现在组相联映像和直接映像中。</a:t>
            </a:r>
            <a:endParaRPr lang="en-US" altLang="zh-CN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r>
              <a:rPr lang="zh-CN" altLang="en-US" sz="2400" dirty="0"/>
              <a:t>错误，实际上会降低冲突缺失率。因为可以将主存的块对应到更多的</a:t>
            </a:r>
            <a:r>
              <a:rPr lang="en-US" altLang="zh-CN" sz="2400" dirty="0"/>
              <a:t>cache</a:t>
            </a:r>
            <a:r>
              <a:rPr lang="zh-CN" altLang="en-US" sz="2400" dirty="0"/>
              <a:t>行中，使得原本的对应关系变得更加分散</a:t>
            </a:r>
            <a:r>
              <a:rPr kumimoji="1" lang="zh-CN" altLang="en-US" sz="2400" dirty="0">
                <a:latin typeface="+mn-ea"/>
              </a:rPr>
              <a:t>。</a:t>
            </a:r>
            <a:endParaRPr kumimoji="1" lang="en-US" altLang="zh-CN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endParaRPr lang="en-US" altLang="zh-CN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endParaRPr lang="en-US" altLang="zh-CN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endParaRPr lang="en-US" altLang="zh-CN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endParaRPr lang="zh-CN" altLang="en-US" sz="2400" dirty="0"/>
          </a:p>
        </p:txBody>
      </p:sp>
      <p:sp>
        <p:nvSpPr>
          <p:cNvPr id="5" name="TitleBackground">
            <a:extLst>
              <a:ext uri="{FF2B5EF4-FFF2-40B4-BE49-F238E27FC236}">
                <a16:creationId xmlns:a16="http://schemas.microsoft.com/office/drawing/2014/main" id="{3B8961D2-183A-4C8F-86D1-A53958E18C5C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0" y="0"/>
            <a:ext cx="9144000" cy="558327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83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6" name="ColorBlock">
            <a:extLst>
              <a:ext uri="{FF2B5EF4-FFF2-40B4-BE49-F238E27FC236}">
                <a16:creationId xmlns:a16="http://schemas.microsoft.com/office/drawing/2014/main" id="{A217D5B9-527F-4A20-A1A3-9A4D958D1360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67498" cy="558327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83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7" name="TypeText">
            <a:extLst>
              <a:ext uri="{FF2B5EF4-FFF2-40B4-BE49-F238E27FC236}">
                <a16:creationId xmlns:a16="http://schemas.microsoft.com/office/drawing/2014/main" id="{CC5108E9-C6BF-432C-A223-E4DEA623281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4000" y="0"/>
            <a:ext cx="1674981" cy="558327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86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习题解析 答案：</a:t>
            </a:r>
            <a:r>
              <a:rPr kumimoji="0" lang="en-US" altLang="zh-CN" sz="2286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2286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291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4AD668E-C9A5-DB48-A89D-D4F758492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779793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en-US" altLang="zh-CN" dirty="0">
                <a:solidFill>
                  <a:srgbClr val="1A49EA"/>
                </a:solidFill>
              </a:rPr>
              <a:t>Cache</a:t>
            </a:r>
            <a:r>
              <a:rPr kumimoji="1" lang="zh-CN" altLang="en-US" dirty="0">
                <a:solidFill>
                  <a:srgbClr val="1A49EA"/>
                </a:solidFill>
              </a:rPr>
              <a:t>性能评估</a:t>
            </a:r>
            <a:endParaRPr kumimoji="1" lang="en-US" altLang="zh-CN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rabicPeriod"/>
            </a:pPr>
            <a:r>
              <a:rPr lang="en-US" altLang="zh-CN" dirty="0"/>
              <a:t>Cache</a:t>
            </a:r>
            <a:r>
              <a:rPr lang="zh-CN" altLang="en-US" dirty="0"/>
              <a:t>缺失的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  <a:endParaRPr lang="zh-CN" altLang="en-US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rabicPeriod"/>
            </a:pPr>
            <a:r>
              <a:rPr lang="en-US" altLang="zh-CN" dirty="0">
                <a:solidFill>
                  <a:srgbClr val="1A49EA"/>
                </a:solidFill>
              </a:rPr>
              <a:t>Cache</a:t>
            </a:r>
            <a:r>
              <a:rPr lang="zh-CN" altLang="en-US" dirty="0">
                <a:solidFill>
                  <a:srgbClr val="1A49EA"/>
                </a:solidFill>
              </a:rPr>
              <a:t>评价指标</a:t>
            </a:r>
            <a:endParaRPr lang="zh-CN" altLang="en-US" sz="2400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rabicPeriod"/>
            </a:pPr>
            <a:r>
              <a:rPr lang="zh-CN" altLang="en-US" dirty="0"/>
              <a:t>如何提高</a:t>
            </a:r>
            <a:r>
              <a:rPr lang="en-US" altLang="zh-CN" dirty="0"/>
              <a:t>Cache</a:t>
            </a:r>
            <a:r>
              <a:rPr lang="zh-CN" altLang="en-US" dirty="0"/>
              <a:t>性能</a:t>
            </a:r>
          </a:p>
        </p:txBody>
      </p:sp>
    </p:spTree>
    <p:extLst>
      <p:ext uri="{BB962C8B-B14F-4D97-AF65-F5344CB8AC3E}">
        <p14:creationId xmlns:p14="http://schemas.microsoft.com/office/powerpoint/2010/main" val="306651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270052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en-US" altLang="zh-CN" dirty="0"/>
              <a:t>CPU</a:t>
            </a:r>
            <a:r>
              <a:rPr kumimoji="1" lang="zh-CN" altLang="en-US" dirty="0"/>
              <a:t>时间可以分成两部分：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en-US" altLang="zh-CN" sz="2400" dirty="0"/>
              <a:t>CPU</a:t>
            </a:r>
            <a:r>
              <a:rPr kumimoji="1" lang="zh-CN" altLang="en-US" sz="2400" dirty="0"/>
              <a:t>花在</a:t>
            </a:r>
            <a:r>
              <a:rPr kumimoji="1" lang="zh-CN" altLang="en-US" sz="2400" dirty="0">
                <a:solidFill>
                  <a:srgbClr val="1A49EA"/>
                </a:solidFill>
              </a:rPr>
              <a:t>执行程序上</a:t>
            </a:r>
            <a:r>
              <a:rPr kumimoji="1" lang="zh-CN" altLang="en-US" sz="2400" dirty="0"/>
              <a:t>的时钟周期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en-US" altLang="zh-CN" sz="2400" dirty="0"/>
              <a:t>CPU</a:t>
            </a:r>
            <a:r>
              <a:rPr kumimoji="1" lang="zh-CN" altLang="en-US" sz="2400" dirty="0"/>
              <a:t>花在</a:t>
            </a:r>
            <a:r>
              <a:rPr kumimoji="1" lang="zh-CN" altLang="en-US" sz="2400" dirty="0">
                <a:solidFill>
                  <a:srgbClr val="1A49EA"/>
                </a:solidFill>
              </a:rPr>
              <a:t>等待存储器系统上</a:t>
            </a:r>
            <a:r>
              <a:rPr kumimoji="1" lang="zh-CN" altLang="en-US" sz="2400" dirty="0"/>
              <a:t>的时钟周期</a:t>
            </a:r>
          </a:p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通常把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命中时的访问开销算作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正常执行周期的一部分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95EEBF8-4829-2A4E-B639-38928D890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95" y="4482346"/>
            <a:ext cx="7776000" cy="96444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1678" tIns="50840" rIns="101678" bIns="5084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CPU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时间 ＝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  <a:sym typeface="Symbol" pitchFamily="18" charset="2"/>
              </a:rPr>
              <a:t>时钟周期</a:t>
            </a:r>
            <a:r>
              <a:rPr kumimoji="1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×</a:t>
            </a:r>
            <a:endParaRPr kumimoji="0" lang="en-US" altLang="zh-CN" sz="280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(CPU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执行时钟周期数 </a:t>
            </a:r>
            <a:r>
              <a: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+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 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存储器停顿时钟周期数</a:t>
            </a:r>
            <a:r>
              <a: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8849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233476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存储器的停顿主要是</a:t>
            </a:r>
            <a:r>
              <a:rPr kumimoji="1" lang="en-US" altLang="zh-CN" dirty="0">
                <a:solidFill>
                  <a:srgbClr val="1A49EA"/>
                </a:solidFill>
              </a:rPr>
              <a:t>Cache</a:t>
            </a:r>
            <a:r>
              <a:rPr kumimoji="1" lang="zh-CN" altLang="en-US" dirty="0">
                <a:solidFill>
                  <a:srgbClr val="1A49EA"/>
                </a:solidFill>
              </a:rPr>
              <a:t>缺失</a:t>
            </a:r>
            <a:r>
              <a:rPr kumimoji="1" lang="zh-CN" altLang="en-US" dirty="0"/>
              <a:t>导致</a:t>
            </a:r>
          </a:p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存储器停顿时钟周期数可以分为两部分：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读操作引起的停顿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写操作引起的停顿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C6F7027-B150-BF49-8137-28EAE90FA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0" y="4499166"/>
            <a:ext cx="7776000" cy="96444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678" tIns="50840" rIns="101678" bIns="5084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存储器停顿时钟周期数 ＝ </a:t>
            </a:r>
            <a:endParaRPr kumimoji="0" lang="en-US" altLang="zh-CN" sz="280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              读停顿时钟周期数 </a:t>
            </a:r>
            <a:r>
              <a: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+ 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写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停顿时钟周期数 </a:t>
            </a:r>
            <a:endParaRPr kumimoji="0" lang="zh-CN" altLang="en-US" sz="280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6675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123748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读停顿时钟周期数由程序中</a:t>
            </a:r>
            <a:r>
              <a:rPr kumimoji="1" lang="zh-CN" altLang="en-US" dirty="0">
                <a:solidFill>
                  <a:srgbClr val="1A49EA"/>
                </a:solidFill>
              </a:rPr>
              <a:t>读访问的次数</a:t>
            </a:r>
            <a:r>
              <a:rPr kumimoji="1" lang="zh-CN" altLang="en-US" dirty="0"/>
              <a:t>、</a:t>
            </a:r>
            <a:r>
              <a:rPr kumimoji="1" lang="zh-CN" altLang="en-US" dirty="0">
                <a:solidFill>
                  <a:srgbClr val="1A49EA"/>
                </a:solidFill>
              </a:rPr>
              <a:t>读缺失率</a:t>
            </a:r>
            <a:r>
              <a:rPr kumimoji="1" lang="zh-CN" altLang="en-US" dirty="0"/>
              <a:t>、</a:t>
            </a:r>
            <a:r>
              <a:rPr kumimoji="1" lang="zh-CN" altLang="en-US" dirty="0">
                <a:solidFill>
                  <a:srgbClr val="1A49EA"/>
                </a:solidFill>
              </a:rPr>
              <a:t>读缺失损失</a:t>
            </a:r>
            <a:r>
              <a:rPr kumimoji="1" lang="zh-CN" altLang="en-US" dirty="0"/>
              <a:t>决定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2EBAC52-FE0C-6A41-9FBA-9D00E9062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149" y="3511693"/>
            <a:ext cx="7776000" cy="9802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1678" tIns="50840" rIns="101678" bIns="5084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读停顿时钟周期数 ＝ </a:t>
            </a:r>
            <a:endParaRPr kumimoji="0" lang="en-US" altLang="zh-CN" sz="280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     读次数 </a:t>
            </a:r>
            <a:r>
              <a:rPr kumimoji="1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×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读缺失率 </a:t>
            </a:r>
            <a:r>
              <a:rPr kumimoji="1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×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 读缺失损失</a:t>
            </a:r>
          </a:p>
        </p:txBody>
      </p:sp>
    </p:spTree>
    <p:extLst>
      <p:ext uri="{BB962C8B-B14F-4D97-AF65-F5344CB8AC3E}">
        <p14:creationId xmlns:p14="http://schemas.microsoft.com/office/powerpoint/2010/main" val="197264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271195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写缺失导致停顿的情况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对于写通过</a:t>
            </a:r>
            <a:r>
              <a:rPr kumimoji="1" lang="en-US" altLang="zh-CN" sz="2400" dirty="0"/>
              <a:t>(Write Through)</a:t>
            </a:r>
            <a:r>
              <a:rPr kumimoji="1" lang="zh-CN" altLang="en-US" sz="2400" dirty="0"/>
              <a:t>且</a:t>
            </a:r>
            <a:r>
              <a:rPr kumimoji="1" lang="zh-CN" altLang="en-US" sz="2400" dirty="0">
                <a:solidFill>
                  <a:srgbClr val="1A49EA"/>
                </a:solidFill>
              </a:rPr>
              <a:t>缺失时先加载</a:t>
            </a:r>
            <a:r>
              <a:rPr kumimoji="1" lang="en-US" altLang="zh-CN" sz="2400" dirty="0">
                <a:solidFill>
                  <a:srgbClr val="1A49EA"/>
                </a:solidFill>
              </a:rPr>
              <a:t>Cache</a:t>
            </a:r>
            <a:r>
              <a:rPr kumimoji="1" lang="zh-CN" altLang="en-US" sz="2400" dirty="0">
                <a:solidFill>
                  <a:srgbClr val="1A49EA"/>
                </a:solidFill>
              </a:rPr>
              <a:t>的方式</a:t>
            </a:r>
            <a:r>
              <a:rPr kumimoji="1" lang="zh-CN" altLang="en-US" sz="2400" dirty="0"/>
              <a:t>而言，写停顿主要包括</a:t>
            </a:r>
            <a:r>
              <a:rPr kumimoji="1" lang="zh-CN" altLang="en-US" dirty="0"/>
              <a:t>：</a:t>
            </a:r>
          </a:p>
          <a:p>
            <a:pPr marL="1314450" lvl="2" indent="-457200">
              <a:spcBef>
                <a:spcPts val="1000"/>
              </a:spcBef>
            </a:pPr>
            <a:r>
              <a:rPr kumimoji="1" lang="zh-CN" altLang="en-US" sz="2000" dirty="0">
                <a:solidFill>
                  <a:srgbClr val="1A49EA"/>
                </a:solidFill>
              </a:rPr>
              <a:t>写缺失停顿</a:t>
            </a:r>
            <a:r>
              <a:rPr kumimoji="1" lang="zh-CN" altLang="en-US" sz="2000" dirty="0"/>
              <a:t>：在进行写操作之前，首先要将缺失的主存储器块装入对应的</a:t>
            </a:r>
            <a:r>
              <a:rPr kumimoji="1" lang="en-US" altLang="zh-CN" sz="2000" dirty="0"/>
              <a:t>Cache</a:t>
            </a:r>
            <a:r>
              <a:rPr kumimoji="1" lang="zh-CN" altLang="en-US" sz="2000" dirty="0"/>
              <a:t>行中</a:t>
            </a:r>
          </a:p>
          <a:p>
            <a:pPr marL="1314450" lvl="2" indent="-457200">
              <a:spcBef>
                <a:spcPts val="1000"/>
              </a:spcBef>
            </a:pPr>
            <a:r>
              <a:rPr kumimoji="1" lang="zh-CN" altLang="en-US" sz="2000" dirty="0">
                <a:solidFill>
                  <a:srgbClr val="1A49EA"/>
                </a:solidFill>
              </a:rPr>
              <a:t>写缓冲区停顿</a:t>
            </a:r>
            <a:r>
              <a:rPr kumimoji="1" lang="zh-CN" altLang="en-US" sz="2000" dirty="0"/>
              <a:t>：写操作时缓冲区已满，需要检查写缓冲区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C86C409-F82E-E449-989A-987963445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0" y="4556640"/>
            <a:ext cx="7776000" cy="1395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1678" tIns="50840" rIns="101678" bIns="5084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写通过的停顿时钟周期数</a:t>
            </a:r>
            <a:endParaRPr kumimoji="0" lang="en-US" altLang="zh-CN" sz="280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         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＝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 写次数 </a:t>
            </a:r>
            <a:r>
              <a:rPr kumimoji="1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×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写缺失率 </a:t>
            </a:r>
            <a:r>
              <a:rPr kumimoji="1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×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 写缺失损失</a:t>
            </a:r>
            <a:endParaRPr kumimoji="0" lang="en-US" altLang="zh-CN" sz="280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                </a:t>
            </a:r>
            <a:r>
              <a: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+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 写缓冲区停顿周期数</a:t>
            </a:r>
          </a:p>
        </p:txBody>
      </p:sp>
    </p:spTree>
    <p:extLst>
      <p:ext uri="{BB962C8B-B14F-4D97-AF65-F5344CB8AC3E}">
        <p14:creationId xmlns:p14="http://schemas.microsoft.com/office/powerpoint/2010/main" val="3052213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271195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写缺失导致停顿的情况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对于写回</a:t>
            </a:r>
            <a:r>
              <a:rPr kumimoji="1" lang="en-US" altLang="zh-CN" sz="2400" dirty="0"/>
              <a:t>(Write Back)</a:t>
            </a:r>
            <a:r>
              <a:rPr kumimoji="1" lang="zh-CN" altLang="en-US" sz="2400" dirty="0"/>
              <a:t>且缺失时先加载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的方式而言，写停顿主要包括</a:t>
            </a:r>
            <a:r>
              <a:rPr kumimoji="1" lang="zh-CN" altLang="en-US" dirty="0"/>
              <a:t>：</a:t>
            </a:r>
          </a:p>
          <a:p>
            <a:pPr marL="1314450" lvl="2" indent="-457200">
              <a:spcBef>
                <a:spcPts val="1000"/>
              </a:spcBef>
            </a:pPr>
            <a:r>
              <a:rPr kumimoji="1" lang="zh-CN" altLang="en-US" sz="2000" dirty="0">
                <a:solidFill>
                  <a:srgbClr val="1A49EA"/>
                </a:solidFill>
              </a:rPr>
              <a:t>写缺失停顿</a:t>
            </a:r>
            <a:r>
              <a:rPr kumimoji="1" lang="zh-CN" altLang="en-US" sz="2000" dirty="0"/>
              <a:t>：在进行写操作之前，首先要将缺失的主存储器块装入对应的</a:t>
            </a:r>
            <a:r>
              <a:rPr kumimoji="1" lang="en-US" altLang="zh-CN" sz="2000" dirty="0"/>
              <a:t>Cache</a:t>
            </a:r>
            <a:r>
              <a:rPr kumimoji="1" lang="zh-CN" altLang="en-US" sz="2000" dirty="0"/>
              <a:t>行中</a:t>
            </a:r>
          </a:p>
          <a:p>
            <a:pPr marL="1314450" lvl="2" indent="-457200">
              <a:spcBef>
                <a:spcPts val="1000"/>
              </a:spcBef>
            </a:pPr>
            <a:r>
              <a:rPr kumimoji="1" lang="zh-CN" altLang="en-US" sz="2000" dirty="0">
                <a:solidFill>
                  <a:srgbClr val="1A49EA"/>
                </a:solidFill>
              </a:rPr>
              <a:t>替换操作产生额外停顿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C86C409-F82E-E449-989A-987963445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99" y="4556640"/>
            <a:ext cx="8130391" cy="1395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1678" tIns="50840" rIns="101678" bIns="5084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写回的停顿时钟周期数 </a:t>
            </a:r>
            <a:endParaRPr kumimoji="0" lang="en-US" altLang="zh-CN" sz="280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   ＝写次数 </a:t>
            </a:r>
            <a:r>
              <a:rPr kumimoji="1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×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写缺失率 </a:t>
            </a:r>
            <a:r>
              <a:rPr kumimoji="1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×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 写缺失损失       </a:t>
            </a:r>
            <a:endParaRPr kumimoji="0" lang="en-US" altLang="zh-CN" sz="280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       </a:t>
            </a:r>
            <a:r>
              <a: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+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 替换操作停顿周期数</a:t>
            </a:r>
          </a:p>
        </p:txBody>
      </p:sp>
    </p:spTree>
    <p:extLst>
      <p:ext uri="{BB962C8B-B14F-4D97-AF65-F5344CB8AC3E}">
        <p14:creationId xmlns:p14="http://schemas.microsoft.com/office/powerpoint/2010/main" val="373692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267766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对于缺失时先加载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行的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而言，读和写的缺失损失是相等的，都是将缺失的块装入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所花的时间</a:t>
            </a:r>
          </a:p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对于精心设计的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系统而言，写缓冲区停顿、替换停顿均可忽略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0F6C3A7-1292-1E48-BD2B-0425CD9A8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149" y="4574683"/>
            <a:ext cx="7776000" cy="9802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1678" tIns="50840" rIns="101678" bIns="5084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存储器停顿时钟周期数 ＝ </a:t>
            </a:r>
            <a:endParaRPr kumimoji="0" lang="en-US" altLang="zh-CN" sz="280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        访问次数 </a:t>
            </a:r>
            <a:r>
              <a:rPr kumimoji="1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×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缺失率 </a:t>
            </a:r>
            <a:r>
              <a:rPr kumimoji="1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×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  <a:sym typeface="Symbol" pitchFamily="18" charset="2"/>
              </a:rPr>
              <a:t> 缺失损失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67DD2B29-4ABF-C2DA-2734-6169DA2A2928}"/>
                  </a:ext>
                </a:extLst>
              </p14:cNvPr>
              <p14:cNvContentPartPr/>
              <p14:nvPr/>
            </p14:nvContentPartPr>
            <p14:xfrm>
              <a:off x="6878520" y="2202480"/>
              <a:ext cx="360" cy="3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67DD2B29-4ABF-C2DA-2734-6169DA2A29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9160" y="21931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762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433"/>
            <a:ext cx="8363415" cy="393496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例</a:t>
            </a:r>
            <a:r>
              <a:rPr kumimoji="1" lang="en-US" altLang="zh-CN" sz="2400" dirty="0">
                <a:solidFill>
                  <a:srgbClr val="1A49EA"/>
                </a:solidFill>
              </a:rPr>
              <a:t>1</a:t>
            </a:r>
            <a:r>
              <a:rPr kumimoji="1" lang="zh-CN" altLang="en-US" sz="2400" dirty="0"/>
              <a:t>：已知处理器基本</a:t>
            </a:r>
            <a:r>
              <a:rPr kumimoji="1" lang="en-US" altLang="zh-CN" sz="2400" dirty="0"/>
              <a:t>CPI = 2</a:t>
            </a:r>
            <a:r>
              <a:rPr kumimoji="1" lang="zh-CN" altLang="en-US" sz="2400" dirty="0"/>
              <a:t>，在如下条件下计算理想情况下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性能是实际情况下的多少倍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执行程序时指令</a:t>
            </a:r>
            <a:r>
              <a:rPr kumimoji="1" lang="en-US" altLang="zh-CN" sz="2000" dirty="0"/>
              <a:t>Cache</a:t>
            </a:r>
            <a:r>
              <a:rPr kumimoji="1" lang="zh-CN" altLang="en-US" sz="2000" dirty="0"/>
              <a:t>缺失率为</a:t>
            </a:r>
            <a:r>
              <a:rPr kumimoji="1" lang="en-US" altLang="zh-CN" sz="2000" dirty="0"/>
              <a:t>2%</a:t>
            </a:r>
            <a:r>
              <a:rPr kumimoji="1" lang="zh-CN" altLang="en-US" sz="2000" dirty="0"/>
              <a:t>，数据</a:t>
            </a:r>
            <a:r>
              <a:rPr kumimoji="1" lang="en-US" altLang="zh-CN" sz="2000" dirty="0"/>
              <a:t>Cache</a:t>
            </a:r>
            <a:r>
              <a:rPr kumimoji="1" lang="zh-CN" altLang="en-US" sz="2000" dirty="0"/>
              <a:t>缺失率为</a:t>
            </a:r>
            <a:r>
              <a:rPr kumimoji="1" lang="en-US" altLang="zh-CN" sz="2000" dirty="0"/>
              <a:t>4%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缺失损失为</a:t>
            </a:r>
            <a:r>
              <a:rPr kumimoji="1" lang="en-US" altLang="zh-CN" sz="2000" dirty="0"/>
              <a:t>100</a:t>
            </a:r>
            <a:r>
              <a:rPr kumimoji="1" lang="zh-CN" altLang="en-US" sz="2000" dirty="0"/>
              <a:t>个时钟周期，访问数据存储器指令的比例为</a:t>
            </a:r>
            <a:r>
              <a:rPr kumimoji="1" lang="en-US" altLang="zh-CN" sz="2000" dirty="0"/>
              <a:t>36%</a:t>
            </a:r>
          </a:p>
          <a:p>
            <a:pPr marL="514350" indent="-457200">
              <a:spcBef>
                <a:spcPts val="100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解答</a:t>
            </a:r>
            <a:r>
              <a:rPr kumimoji="1" lang="zh-CN" altLang="en-US" sz="2400" dirty="0"/>
              <a:t>：设程序的指令数为</a:t>
            </a:r>
            <a:r>
              <a:rPr kumimoji="1" lang="en-US" altLang="zh-CN" sz="2400" dirty="0"/>
              <a:t>I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指令缺失时钟周期数：</a:t>
            </a:r>
            <a:r>
              <a:rPr kumimoji="1" lang="en-US" altLang="zh-CN" sz="2000" dirty="0"/>
              <a:t>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2% ×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100 = 2I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数据缺失时钟周期数：</a:t>
            </a:r>
            <a:r>
              <a:rPr kumimoji="1" lang="en-US" altLang="zh-CN" sz="2000" dirty="0"/>
              <a:t>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36%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4%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100 = 1.44I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因此，实际</a:t>
            </a:r>
            <a:r>
              <a:rPr kumimoji="1" lang="en-US" altLang="zh-CN" sz="2000" dirty="0"/>
              <a:t>CPI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 2 + 2 + 1.44 = 5.44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理想机器的性能与实际机器的倍数关系：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B18A3C-8CFC-4942-A2B5-6B5D26E8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940" y="5506429"/>
            <a:ext cx="6875780" cy="65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1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393496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例</a:t>
            </a:r>
            <a:r>
              <a:rPr kumimoji="1" lang="en-US" altLang="zh-CN" sz="2400" dirty="0">
                <a:solidFill>
                  <a:srgbClr val="1A49EA"/>
                </a:solidFill>
              </a:rPr>
              <a:t>2</a:t>
            </a:r>
            <a:r>
              <a:rPr kumimoji="1" lang="zh-CN" altLang="en-US" sz="2400" dirty="0"/>
              <a:t>：例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的基本</a:t>
            </a:r>
            <a:r>
              <a:rPr kumimoji="1" lang="en-US" altLang="zh-CN" sz="2400" dirty="0"/>
              <a:t>CPI</a:t>
            </a:r>
            <a:r>
              <a:rPr kumimoji="1" lang="zh-CN" altLang="en-US" sz="2400" dirty="0"/>
              <a:t>由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减为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，其他条件不变。计算理想情况下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性能是实际情况下的多少倍</a:t>
            </a:r>
            <a:endParaRPr kumimoji="1" lang="en-US" altLang="zh-CN" sz="2000" dirty="0"/>
          </a:p>
          <a:p>
            <a:pPr marL="514350" indent="-457200">
              <a:spcBef>
                <a:spcPts val="100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解答</a:t>
            </a:r>
            <a:r>
              <a:rPr kumimoji="1" lang="zh-CN" altLang="en-US" sz="2400" dirty="0"/>
              <a:t>：设程序的指令数为</a:t>
            </a:r>
            <a:r>
              <a:rPr kumimoji="1" lang="en-US" altLang="zh-CN" sz="2400" dirty="0"/>
              <a:t>I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指令缺失时钟周期数：</a:t>
            </a:r>
            <a:r>
              <a:rPr kumimoji="1" lang="en-US" altLang="zh-CN" sz="2000" dirty="0"/>
              <a:t>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2% ×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100 = 2I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数据缺失时钟周期数：</a:t>
            </a:r>
            <a:r>
              <a:rPr kumimoji="1" lang="en-US" altLang="zh-CN" sz="2000" dirty="0"/>
              <a:t>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36%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4%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100 = 1.44I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因此，例</a:t>
            </a:r>
            <a:r>
              <a:rPr kumimoji="1" lang="en-US" altLang="zh-CN" sz="2000" dirty="0"/>
              <a:t>2</a:t>
            </a:r>
            <a:r>
              <a:rPr kumimoji="1" lang="zh-CN" altLang="en-US" sz="2000" dirty="0"/>
              <a:t>的实际</a:t>
            </a:r>
            <a:r>
              <a:rPr kumimoji="1" lang="en-US" altLang="zh-CN" sz="2000" dirty="0"/>
              <a:t>CPI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 1 + 2 + 1.44 = 4.44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理想机器的性能是例</a:t>
            </a:r>
            <a:r>
              <a:rPr kumimoji="1" lang="en-US" altLang="zh-CN" sz="2000" dirty="0"/>
              <a:t>2</a:t>
            </a:r>
            <a:r>
              <a:rPr kumimoji="1" lang="zh-CN" altLang="en-US" sz="2000" dirty="0"/>
              <a:t>机器的：</a:t>
            </a:r>
            <a:r>
              <a:rPr kumimoji="1" lang="en-US" altLang="zh-CN" sz="2000" dirty="0"/>
              <a:t>4.44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1 = </a:t>
            </a:r>
            <a:r>
              <a:rPr kumimoji="1" lang="en-US" altLang="zh-CN" sz="2000" dirty="0">
                <a:solidFill>
                  <a:srgbClr val="1A49EA"/>
                </a:solidFill>
              </a:rPr>
              <a:t>4.44</a:t>
            </a:r>
            <a:r>
              <a:rPr kumimoji="1" lang="zh-CN" altLang="en-US" sz="2000" dirty="0">
                <a:solidFill>
                  <a:srgbClr val="1A49EA"/>
                </a:solidFill>
              </a:rPr>
              <a:t>倍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例</a:t>
            </a:r>
            <a:r>
              <a:rPr kumimoji="1" lang="en-US" altLang="zh-CN" sz="2000" dirty="0"/>
              <a:t>2</a:t>
            </a:r>
            <a:r>
              <a:rPr kumimoji="1" lang="zh-CN" altLang="en-US" sz="2000" dirty="0"/>
              <a:t>机器的性能是例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机器的：</a:t>
            </a:r>
            <a:r>
              <a:rPr kumimoji="1" lang="en-US" altLang="zh-CN" sz="2000" dirty="0"/>
              <a:t>5.44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4.44 = </a:t>
            </a:r>
            <a:r>
              <a:rPr kumimoji="1" lang="en-US" altLang="zh-CN" sz="2000" dirty="0">
                <a:solidFill>
                  <a:srgbClr val="FF0000"/>
                </a:solidFill>
              </a:rPr>
              <a:t>1.23</a:t>
            </a:r>
            <a:r>
              <a:rPr kumimoji="1" lang="zh-CN" altLang="en-US" sz="2000" dirty="0">
                <a:solidFill>
                  <a:srgbClr val="FF0000"/>
                </a:solidFill>
              </a:rPr>
              <a:t>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FDAB1-2CED-D74E-88C2-A2F76ED7A602}"/>
              </a:ext>
            </a:extLst>
          </p:cNvPr>
          <p:cNvSpPr txBox="1"/>
          <p:nvPr/>
        </p:nvSpPr>
        <p:spPr>
          <a:xfrm>
            <a:off x="2106326" y="5486401"/>
            <a:ext cx="497764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CPI减半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，但是性能没有提升一倍！</a:t>
            </a:r>
            <a:endParaRPr kumimoji="0" lang="en-CN" sz="2400" b="1" i="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40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3100577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例</a:t>
            </a:r>
            <a:r>
              <a:rPr kumimoji="1" lang="en-US" altLang="zh-CN" sz="2400" dirty="0">
                <a:solidFill>
                  <a:srgbClr val="1A49EA"/>
                </a:solidFill>
              </a:rPr>
              <a:t>3</a:t>
            </a:r>
            <a:r>
              <a:rPr kumimoji="1" lang="zh-CN" altLang="en-US" sz="2400" dirty="0"/>
              <a:t>：例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的处理器时钟频率加倍，其他条件不变（访问存储器的</a:t>
            </a:r>
            <a:r>
              <a:rPr kumimoji="1" lang="zh-CN" altLang="en-CN" sz="2400" dirty="0"/>
              <a:t>绝对延时</a:t>
            </a:r>
            <a:r>
              <a:rPr kumimoji="1" lang="zh-CN" altLang="en-US" sz="2400" dirty="0"/>
              <a:t>不变）。计算例</a:t>
            </a:r>
            <a:r>
              <a:rPr kumimoji="1" lang="en-US" altLang="zh-CN" sz="2400" dirty="0"/>
              <a:t>3</a:t>
            </a:r>
            <a:r>
              <a:rPr kumimoji="1" lang="zh-CN" altLang="en-US" sz="2400" dirty="0"/>
              <a:t>中的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性能是例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的多少倍</a:t>
            </a:r>
            <a:endParaRPr kumimoji="1" lang="en-US" altLang="zh-CN" sz="2000" dirty="0"/>
          </a:p>
          <a:p>
            <a:pPr marL="514350" indent="-457200">
              <a:spcBef>
                <a:spcPts val="100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解答</a:t>
            </a:r>
            <a:r>
              <a:rPr kumimoji="1" lang="zh-CN" altLang="en-US" sz="2400" dirty="0"/>
              <a:t>：设程序的指令数为</a:t>
            </a:r>
            <a:r>
              <a:rPr kumimoji="1" lang="en-US" altLang="zh-CN" sz="2400" dirty="0"/>
              <a:t>I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指令缺失时钟周期数：</a:t>
            </a:r>
            <a:r>
              <a:rPr kumimoji="1" lang="en-US" altLang="zh-CN" sz="2000" dirty="0"/>
              <a:t>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2% ×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200 = 4I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数据缺失时钟周期数：</a:t>
            </a:r>
            <a:r>
              <a:rPr kumimoji="1" lang="en-US" altLang="zh-CN" sz="2000" dirty="0"/>
              <a:t>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36%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4%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× 200 = 2.88I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因此，例</a:t>
            </a:r>
            <a:r>
              <a:rPr kumimoji="1" lang="en-US" altLang="zh-CN" sz="2000" dirty="0"/>
              <a:t>3</a:t>
            </a:r>
            <a:r>
              <a:rPr kumimoji="1" lang="zh-CN" altLang="en-US" sz="2000" dirty="0"/>
              <a:t>的实际</a:t>
            </a:r>
            <a:r>
              <a:rPr kumimoji="1" lang="en-US" altLang="zh-CN" sz="2000" dirty="0"/>
              <a:t>CPI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 2 + 4 + 2.88 = 8.88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000" dirty="0"/>
              <a:t>例</a:t>
            </a:r>
            <a:r>
              <a:rPr kumimoji="1" lang="en-US" altLang="zh-CN" sz="2000" dirty="0"/>
              <a:t>3</a:t>
            </a:r>
            <a:r>
              <a:rPr kumimoji="1" lang="zh-CN" altLang="en-US" sz="2000" dirty="0"/>
              <a:t>机器的性能与例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机器的倍数关系：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EB61F1-B2B2-564F-A82B-3A98A0090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95" y="5133050"/>
            <a:ext cx="7420610" cy="631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5A0E90-3C5A-1946-8FF2-07CE8FB077AA}"/>
              </a:ext>
            </a:extLst>
          </p:cNvPr>
          <p:cNvSpPr txBox="1"/>
          <p:nvPr/>
        </p:nvSpPr>
        <p:spPr>
          <a:xfrm>
            <a:off x="2106326" y="5916059"/>
            <a:ext cx="510909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频率翻倍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，但是性能没有提升一倍！</a:t>
            </a:r>
            <a:endParaRPr kumimoji="0" lang="en-CN" sz="2400" b="1" i="0" u="none" strike="noStrike" kern="1200" cap="none" spc="0" normalizeH="0" baseline="0" noProof="0" dirty="0">
              <a:ln>
                <a:noFill/>
              </a:ln>
              <a:solidFill>
                <a:srgbClr val="1A49EA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1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4AD668E-C9A5-DB48-A89D-D4F758492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779793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en-US" altLang="zh-CN" dirty="0">
                <a:solidFill>
                  <a:srgbClr val="1A49EA"/>
                </a:solidFill>
              </a:rPr>
              <a:t>Cache</a:t>
            </a:r>
            <a:r>
              <a:rPr kumimoji="1" lang="zh-CN" altLang="en-US" dirty="0">
                <a:solidFill>
                  <a:srgbClr val="1A49EA"/>
                </a:solidFill>
              </a:rPr>
              <a:t>性能评估</a:t>
            </a:r>
            <a:endParaRPr kumimoji="1" lang="en-US" altLang="zh-CN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rabicPeriod"/>
            </a:pPr>
            <a:r>
              <a:rPr lang="en-US" altLang="zh-CN" dirty="0"/>
              <a:t>Cache</a:t>
            </a:r>
            <a:r>
              <a:rPr lang="zh-CN" altLang="en-US" dirty="0"/>
              <a:t>缺失的</a:t>
            </a:r>
            <a:r>
              <a:rPr lang="en-US" altLang="zh-CN" dirty="0"/>
              <a:t>3C</a:t>
            </a:r>
            <a:r>
              <a:rPr lang="zh-CN" altLang="en-US" dirty="0"/>
              <a:t>原则</a:t>
            </a:r>
            <a:endParaRPr lang="zh-CN" altLang="en-US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rabicPeriod"/>
            </a:pP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  <a:endParaRPr lang="zh-CN" altLang="en-US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1A49EA"/>
                </a:solidFill>
              </a:rPr>
              <a:t>如何提高</a:t>
            </a:r>
            <a:r>
              <a:rPr lang="en-US" altLang="zh-CN" dirty="0">
                <a:solidFill>
                  <a:srgbClr val="1A49EA"/>
                </a:solidFill>
              </a:rPr>
              <a:t>Cache</a:t>
            </a:r>
            <a:r>
              <a:rPr lang="zh-CN" altLang="en-US" dirty="0">
                <a:solidFill>
                  <a:srgbClr val="1A49EA"/>
                </a:solidFill>
              </a:rPr>
              <a:t>性能</a:t>
            </a:r>
          </a:p>
        </p:txBody>
      </p:sp>
    </p:spTree>
    <p:extLst>
      <p:ext uri="{BB962C8B-B14F-4D97-AF65-F5344CB8AC3E}">
        <p14:creationId xmlns:p14="http://schemas.microsoft.com/office/powerpoint/2010/main" val="426680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性能评估：如何提高</a:t>
            </a:r>
            <a:r>
              <a:rPr lang="en-US" altLang="zh-CN" dirty="0"/>
              <a:t>Cache</a:t>
            </a:r>
            <a:r>
              <a:rPr lang="zh-CN" altLang="en-US" dirty="0"/>
              <a:t>性能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2085847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en-US" altLang="zh-CN" dirty="0"/>
              <a:t>Cache</a:t>
            </a:r>
            <a:r>
              <a:rPr kumimoji="1" lang="zh-CN" altLang="en-US" dirty="0"/>
              <a:t>缺失率和相联度之间的关系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en-US" altLang="zh-CN" sz="2400" dirty="0"/>
              <a:t>2</a:t>
            </a:r>
            <a:r>
              <a:rPr kumimoji="1" lang="zh-CN" altLang="en-US" sz="2400" dirty="0"/>
              <a:t>路组相联相比于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路组相联</a:t>
            </a:r>
            <a:r>
              <a:rPr kumimoji="1" lang="en-US" altLang="zh-CN" sz="2400" dirty="0"/>
              <a:t>(</a:t>
            </a:r>
            <a:r>
              <a:rPr kumimoji="1" lang="zh-CN" altLang="en-US" sz="2400" dirty="0"/>
              <a:t>直接映像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的数据缺失率下降的比例约为</a:t>
            </a:r>
            <a:r>
              <a:rPr kumimoji="1" lang="en-US" altLang="zh-CN" sz="2400" dirty="0">
                <a:solidFill>
                  <a:srgbClr val="1A49EA"/>
                </a:solidFill>
              </a:rPr>
              <a:t>15%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更高的相联度对数据缺失率的改进有限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B76FD2FC-0114-9E4E-9D0E-E122953C18AA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98393"/>
          <a:ext cx="6096000" cy="19812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452480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61722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+mn-lt"/>
                        </a:rPr>
                        <a:t>相联度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+mn-lt"/>
                        </a:rPr>
                        <a:t>数据缺失率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7427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</a:rPr>
                        <a:t>10.3%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860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</a:rPr>
                        <a:t>8.6%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9983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</a:rPr>
                        <a:t>8.3%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32398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</a:rPr>
                        <a:t>8.1%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80070684"/>
                  </a:ext>
                </a:extLst>
              </a:tr>
            </a:tbl>
          </a:graphicData>
        </a:graphic>
      </p:graphicFrame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71628AB-EF12-214A-B1C6-0D868ABA081E}"/>
              </a:ext>
            </a:extLst>
          </p:cNvPr>
          <p:cNvSpPr txBox="1">
            <a:spLocks/>
          </p:cNvSpPr>
          <p:nvPr/>
        </p:nvSpPr>
        <p:spPr bwMode="auto">
          <a:xfrm>
            <a:off x="2303748" y="5879593"/>
            <a:ext cx="4536504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977" tIns="50489" rIns="100977" bIns="50489" numCol="1" anchor="t" anchorCtr="0" compatLnSpc="1">
            <a:prstTxWarp prst="textNoShape">
              <a:avLst/>
            </a:prstTxWarp>
          </a:bodyPr>
          <a:lstStyle>
            <a:lvl1pPr marL="379413" indent="-379413" algn="l" defTabSz="100965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0738" indent="-315913" algn="l" defTabSz="100965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3100">
                <a:solidFill>
                  <a:schemeClr val="tx1"/>
                </a:solidFill>
                <a:latin typeface="+mn-lt"/>
                <a:ea typeface="+mn-ea"/>
              </a:defRPr>
            </a:lvl2pPr>
            <a:lvl3pPr marL="1262063" indent="-252413" algn="l" defTabSz="100965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700">
                <a:solidFill>
                  <a:schemeClr val="tx1"/>
                </a:solidFill>
                <a:latin typeface="+mn-lt"/>
                <a:ea typeface="+mn-ea"/>
              </a:defRPr>
            </a:lvl3pPr>
            <a:lvl4pPr marL="1766888" indent="-252413" algn="l" defTabSz="100965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4pPr>
            <a:lvl5pPr marL="2271713" indent="-252413" algn="l" defTabSz="100965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5pPr>
            <a:lvl6pPr marL="2728913" indent="-252413" algn="l" defTabSz="1009650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6pPr>
            <a:lvl7pPr marL="3186113" indent="-252413" algn="l" defTabSz="1009650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7pPr>
            <a:lvl8pPr marL="3643313" indent="-252413" algn="l" defTabSz="1009650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8pPr>
            <a:lvl9pPr marL="4100513" indent="-252413" algn="l" defTabSz="1009650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100965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CC00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SPEC2000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基准测试的数据缺失率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675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性能评估：如何提高</a:t>
            </a:r>
            <a:r>
              <a:rPr lang="en-US" altLang="zh-CN" dirty="0"/>
              <a:t>Cache</a:t>
            </a:r>
            <a:r>
              <a:rPr lang="zh-CN" altLang="en-US" dirty="0"/>
              <a:t>性能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3050686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多级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策略</a:t>
            </a:r>
            <a:endParaRPr kumimoji="1" lang="en-US" altLang="zh-CN" dirty="0"/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为进一步缩小现代处理器高时钟频率与</a:t>
            </a:r>
            <a:r>
              <a:rPr kumimoji="1" lang="en-US" altLang="zh-CN" sz="2400" dirty="0"/>
              <a:t>DRAM</a:t>
            </a:r>
            <a:r>
              <a:rPr kumimoji="1" lang="zh-CN" altLang="en-US" sz="2400" dirty="0"/>
              <a:t>相对较慢之间的差距，处理器多采用多级</a:t>
            </a:r>
            <a:r>
              <a:rPr kumimoji="1" lang="en-US" altLang="zh-CN" sz="2400" dirty="0"/>
              <a:t>Cache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以两级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为例</a:t>
            </a:r>
          </a:p>
          <a:p>
            <a:pPr marL="1314450" lvl="2" indent="-457200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zh-CN" altLang="en-US" sz="2000" dirty="0"/>
              <a:t>如果访问</a:t>
            </a:r>
            <a:r>
              <a:rPr kumimoji="1" lang="en-US" altLang="zh-CN" sz="2000" dirty="0"/>
              <a:t>L1 Cache</a:t>
            </a:r>
            <a:r>
              <a:rPr kumimoji="1" lang="zh-CN" altLang="en-US" sz="2000" dirty="0"/>
              <a:t>时缺失，则访问</a:t>
            </a:r>
            <a:r>
              <a:rPr kumimoji="1" lang="en-US" altLang="zh-CN" sz="2000" dirty="0"/>
              <a:t>L2 Cache</a:t>
            </a:r>
            <a:endParaRPr kumimoji="1" lang="zh-CN" altLang="en-US" sz="2000" dirty="0"/>
          </a:p>
          <a:p>
            <a:pPr marL="1314450" lvl="2" indent="-457200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zh-CN" altLang="en-US" sz="2000" dirty="0"/>
              <a:t>如果</a:t>
            </a:r>
            <a:r>
              <a:rPr kumimoji="1" lang="en-US" altLang="zh-CN" sz="2000" dirty="0"/>
              <a:t>L2 Cache</a:t>
            </a:r>
            <a:r>
              <a:rPr kumimoji="1" lang="zh-CN" altLang="en-US" sz="2000" dirty="0"/>
              <a:t>包含所请求的数据，则缺失损失就是</a:t>
            </a:r>
            <a:r>
              <a:rPr kumimoji="1" lang="en-US" altLang="zh-CN" sz="2000" dirty="0"/>
              <a:t>L2 Cache</a:t>
            </a:r>
            <a:r>
              <a:rPr kumimoji="1" lang="zh-CN" altLang="en-US" sz="2000" dirty="0"/>
              <a:t>的访问时间，这要比主存的访问时间少得多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789DCEB-9F6E-D04D-A183-C206F499E756}"/>
              </a:ext>
            </a:extLst>
          </p:cNvPr>
          <p:cNvGrpSpPr/>
          <p:nvPr/>
        </p:nvGrpSpPr>
        <p:grpSpPr>
          <a:xfrm>
            <a:off x="1579685" y="4696296"/>
            <a:ext cx="6524185" cy="1611892"/>
            <a:chOff x="1111055" y="4616550"/>
            <a:chExt cx="6787660" cy="182879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F81AB19-A6B5-9F4F-8555-15ECD11F6EFA}"/>
                </a:ext>
              </a:extLst>
            </p:cNvPr>
            <p:cNvSpPr/>
            <p:nvPr/>
          </p:nvSpPr>
          <p:spPr>
            <a:xfrm>
              <a:off x="1111055" y="4663440"/>
              <a:ext cx="1617784" cy="178190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22786F7-FE4B-0444-A278-25F880A9A0AA}"/>
                </a:ext>
              </a:extLst>
            </p:cNvPr>
            <p:cNvSpPr txBox="1"/>
            <p:nvPr/>
          </p:nvSpPr>
          <p:spPr>
            <a:xfrm>
              <a:off x="1241393" y="4745700"/>
              <a:ext cx="832536" cy="384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处理器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320976-12CF-7845-B3F7-421BB1B09F77}"/>
                </a:ext>
              </a:extLst>
            </p:cNvPr>
            <p:cNvSpPr/>
            <p:nvPr/>
          </p:nvSpPr>
          <p:spPr>
            <a:xfrm>
              <a:off x="1598012" y="5340873"/>
              <a:ext cx="947897" cy="6887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E291BA2-AB77-1745-B9F2-312594ECE1D9}"/>
                </a:ext>
              </a:extLst>
            </p:cNvPr>
            <p:cNvSpPr txBox="1"/>
            <p:nvPr/>
          </p:nvSpPr>
          <p:spPr>
            <a:xfrm>
              <a:off x="1644168" y="5516718"/>
              <a:ext cx="832536" cy="384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寄存器</a:t>
              </a:r>
            </a:p>
          </p:txBody>
        </p: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7D8280A1-3B30-264F-837A-D02BF797CD7A}"/>
                </a:ext>
              </a:extLst>
            </p:cNvPr>
            <p:cNvCxnSpPr/>
            <p:nvPr/>
          </p:nvCxnSpPr>
          <p:spPr>
            <a:xfrm>
              <a:off x="2728839" y="5554394"/>
              <a:ext cx="65649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61516E8-3F80-074C-A947-40B890B4E73F}"/>
                </a:ext>
              </a:extLst>
            </p:cNvPr>
            <p:cNvSpPr/>
            <p:nvPr/>
          </p:nvSpPr>
          <p:spPr>
            <a:xfrm>
              <a:off x="3385332" y="5050302"/>
              <a:ext cx="996461" cy="10081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A82E51F-29BA-7C4E-A070-950213C459EF}"/>
                </a:ext>
              </a:extLst>
            </p:cNvPr>
            <p:cNvSpPr txBox="1"/>
            <p:nvPr/>
          </p:nvSpPr>
          <p:spPr>
            <a:xfrm>
              <a:off x="3366715" y="5369728"/>
              <a:ext cx="1057681" cy="384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L1</a:t>
              </a:r>
              <a:r>
                <a:rPr kumimoji="1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 </a:t>
              </a:r>
              <a:r>
                <a:rPr kumimoji="1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cache</a:t>
              </a:r>
              <a:endParaRPr kumimoji="1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CB444EFB-A1B5-B84C-A269-A56F74F3A02E}"/>
                </a:ext>
              </a:extLst>
            </p:cNvPr>
            <p:cNvCxnSpPr/>
            <p:nvPr/>
          </p:nvCxnSpPr>
          <p:spPr>
            <a:xfrm>
              <a:off x="6116807" y="5554394"/>
              <a:ext cx="65649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F410045-7FFE-1245-BD73-8D3032A5573C}"/>
                </a:ext>
              </a:extLst>
            </p:cNvPr>
            <p:cNvSpPr/>
            <p:nvPr/>
          </p:nvSpPr>
          <p:spPr>
            <a:xfrm>
              <a:off x="6773300" y="4616550"/>
              <a:ext cx="1125415" cy="182878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B36184A-549E-9142-B906-2E498799B40A}"/>
                </a:ext>
              </a:extLst>
            </p:cNvPr>
            <p:cNvSpPr txBox="1"/>
            <p:nvPr/>
          </p:nvSpPr>
          <p:spPr>
            <a:xfrm>
              <a:off x="6998342" y="5360908"/>
              <a:ext cx="619066" cy="384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主存</a:t>
              </a:r>
            </a:p>
          </p:txBody>
        </p: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E0DF70C1-A20C-3745-936C-260349F724E5}"/>
                </a:ext>
              </a:extLst>
            </p:cNvPr>
            <p:cNvCxnSpPr/>
            <p:nvPr/>
          </p:nvCxnSpPr>
          <p:spPr>
            <a:xfrm>
              <a:off x="4381793" y="5554394"/>
              <a:ext cx="65649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6E15B69-38F0-CC41-AA8B-D8152D890F64}"/>
                </a:ext>
              </a:extLst>
            </p:cNvPr>
            <p:cNvSpPr/>
            <p:nvPr/>
          </p:nvSpPr>
          <p:spPr>
            <a:xfrm>
              <a:off x="5038286" y="4851207"/>
              <a:ext cx="1078972" cy="142414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2C53B3D-398C-B949-B853-9C395AA0ED2D}"/>
                </a:ext>
              </a:extLst>
            </p:cNvPr>
            <p:cNvSpPr txBox="1"/>
            <p:nvPr/>
          </p:nvSpPr>
          <p:spPr>
            <a:xfrm>
              <a:off x="5019669" y="5369728"/>
              <a:ext cx="1057681" cy="384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L2</a:t>
              </a:r>
              <a:r>
                <a:rPr kumimoji="1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 </a:t>
              </a:r>
              <a:r>
                <a:rPr kumimoji="1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cache</a:t>
              </a:r>
              <a:endParaRPr kumimoji="1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</p:grpSp>
      <p:sp>
        <p:nvSpPr>
          <p:cNvPr id="19" name="Rectangle 22">
            <a:extLst>
              <a:ext uri="{FF2B5EF4-FFF2-40B4-BE49-F238E27FC236}">
                <a16:creationId xmlns:a16="http://schemas.microsoft.com/office/drawing/2014/main" id="{FC203119-AFC4-AE4B-BE88-D613229A9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67" y="6342469"/>
            <a:ext cx="1134981" cy="37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27" tIns="50814" rIns="101627" bIns="50814">
            <a:spAutoFit/>
          </a:bodyPr>
          <a:lstStyle/>
          <a:p>
            <a:pPr marL="0" marR="0" lvl="0" indent="0" algn="ctr" defTabSz="1009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访问时间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D58EDD73-E03F-9F4A-A687-FEDD29BEA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590" y="6348327"/>
            <a:ext cx="936208" cy="37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27" tIns="50814" rIns="101627" bIns="50814">
            <a:spAutoFit/>
          </a:bodyPr>
          <a:lstStyle/>
          <a:p>
            <a:pPr marL="0" marR="0" lvl="0" indent="0" algn="ctr" defTabSz="1009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</a:t>
            </a: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0.5 clk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DAE091B5-24E1-FF40-8F23-ABF00CB49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315" y="6352295"/>
            <a:ext cx="743848" cy="37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27" tIns="50814" rIns="101627" bIns="50814">
            <a:spAutoFit/>
          </a:bodyPr>
          <a:lstStyle/>
          <a:p>
            <a:pPr marL="0" marR="0" lvl="0" indent="0" algn="ctr" defTabSz="1009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 </a:t>
            </a: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1 clk</a:t>
            </a:r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3ACBE1D7-F2B0-D446-A918-A78B1688D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960" y="6348327"/>
            <a:ext cx="795144" cy="37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27" tIns="50814" rIns="101627" bIns="50814">
            <a:spAutoFit/>
          </a:bodyPr>
          <a:lstStyle/>
          <a:p>
            <a:pPr marL="0" marR="0" lvl="0" indent="0" algn="ctr" defTabSz="1009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5 clks</a:t>
            </a:r>
          </a:p>
        </p:txBody>
      </p:sp>
      <p:sp>
        <p:nvSpPr>
          <p:cNvPr id="23" name="Rectangle 26">
            <a:extLst>
              <a:ext uri="{FF2B5EF4-FFF2-40B4-BE49-F238E27FC236}">
                <a16:creationId xmlns:a16="http://schemas.microsoft.com/office/drawing/2014/main" id="{61E9E332-A2C3-B641-A188-0FA2F4982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877" y="6373692"/>
            <a:ext cx="1256809" cy="37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27" tIns="50814" rIns="101627" bIns="50814">
            <a:spAutoFit/>
          </a:bodyPr>
          <a:lstStyle/>
          <a:p>
            <a:pPr marL="0" marR="0" lvl="0" indent="0" algn="ctr" defTabSz="1009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10-50 clks</a:t>
            </a:r>
          </a:p>
        </p:txBody>
      </p:sp>
    </p:spTree>
    <p:extLst>
      <p:ext uri="{BB962C8B-B14F-4D97-AF65-F5344CB8AC3E}">
        <p14:creationId xmlns:p14="http://schemas.microsoft.com/office/powerpoint/2010/main" val="118038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35B6-A6A1-8A4F-BC4F-9F094837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缓存性能的分析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：二级缓存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A9010-9273-9745-ACA6-32B62DB9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ACFD1-D213-4B9C-817B-45486DBF105A}" type="slidenum">
              <a:rPr kumimoji="0" lang="en-US" sz="14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4F34A54-D2D4-8A43-B5CB-0C321F608DCD}"/>
              </a:ext>
            </a:extLst>
          </p:cNvPr>
          <p:cNvGrpSpPr/>
          <p:nvPr/>
        </p:nvGrpSpPr>
        <p:grpSpPr>
          <a:xfrm>
            <a:off x="199216" y="1852903"/>
            <a:ext cx="3938597" cy="3386323"/>
            <a:chOff x="265621" y="1327537"/>
            <a:chExt cx="5251462" cy="4515098"/>
          </a:xfrm>
        </p:grpSpPr>
        <p:sp>
          <p:nvSpPr>
            <p:cNvPr id="53" name="Rectangle 2">
              <a:extLst>
                <a:ext uri="{FF2B5EF4-FFF2-40B4-BE49-F238E27FC236}">
                  <a16:creationId xmlns:a16="http://schemas.microsoft.com/office/drawing/2014/main" id="{3A100899-E04F-1641-9B49-D61D6EDDE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321" y="1541097"/>
              <a:ext cx="1422338" cy="1326027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7030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40BD6185-E5E1-DE49-A458-9A21C135A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78" y="1969613"/>
              <a:ext cx="559877" cy="582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P </a:t>
              </a:r>
            </a:p>
          </p:txBody>
        </p:sp>
        <p:sp>
          <p:nvSpPr>
            <p:cNvPr id="55" name="Line 5">
              <a:extLst>
                <a:ext uri="{FF2B5EF4-FFF2-40B4-BE49-F238E27FC236}">
                  <a16:creationId xmlns:a16="http://schemas.microsoft.com/office/drawing/2014/main" id="{3424C03E-1725-0040-8543-C08298123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7961" y="2098028"/>
              <a:ext cx="685346" cy="0"/>
            </a:xfrm>
            <a:prstGeom prst="line">
              <a:avLst/>
            </a:prstGeom>
            <a:noFill/>
            <a:ln w="25400">
              <a:solidFill>
                <a:srgbClr val="E7030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6" name="Line 6">
              <a:extLst>
                <a:ext uri="{FF2B5EF4-FFF2-40B4-BE49-F238E27FC236}">
                  <a16:creationId xmlns:a16="http://schemas.microsoft.com/office/drawing/2014/main" id="{7528F896-5E4D-4E48-AD42-4AB87306F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7961" y="2240401"/>
              <a:ext cx="685346" cy="0"/>
            </a:xfrm>
            <a:prstGeom prst="line">
              <a:avLst/>
            </a:prstGeom>
            <a:noFill/>
            <a:ln w="25400">
              <a:solidFill>
                <a:srgbClr val="E7030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7" name="Line 7">
              <a:extLst>
                <a:ext uri="{FF2B5EF4-FFF2-40B4-BE49-F238E27FC236}">
                  <a16:creationId xmlns:a16="http://schemas.microsoft.com/office/drawing/2014/main" id="{0C559943-715D-6F42-9DA3-D3255A367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7961" y="2381379"/>
              <a:ext cx="685346" cy="0"/>
            </a:xfrm>
            <a:prstGeom prst="line">
              <a:avLst/>
            </a:prstGeom>
            <a:noFill/>
            <a:ln w="25400">
              <a:solidFill>
                <a:srgbClr val="E7030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58" name="Line 8">
              <a:extLst>
                <a:ext uri="{FF2B5EF4-FFF2-40B4-BE49-F238E27FC236}">
                  <a16:creationId xmlns:a16="http://schemas.microsoft.com/office/drawing/2014/main" id="{FB665F2D-4EF4-614C-8842-C5C891908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7961" y="2523752"/>
              <a:ext cx="685346" cy="0"/>
            </a:xfrm>
            <a:prstGeom prst="line">
              <a:avLst/>
            </a:prstGeom>
            <a:noFill/>
            <a:ln w="25400">
              <a:solidFill>
                <a:srgbClr val="E7030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59" name="Rectangle 9">
              <a:extLst>
                <a:ext uri="{FF2B5EF4-FFF2-40B4-BE49-F238E27FC236}">
                  <a16:creationId xmlns:a16="http://schemas.microsoft.com/office/drawing/2014/main" id="{0722EB9A-F63A-F940-8FD5-4DC7DBC94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068" y="1669512"/>
              <a:ext cx="1095237" cy="377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registers</a:t>
              </a:r>
            </a:p>
          </p:txBody>
        </p:sp>
        <p:sp>
          <p:nvSpPr>
            <p:cNvPr id="60" name="Line 10">
              <a:extLst>
                <a:ext uri="{FF2B5EF4-FFF2-40B4-BE49-F238E27FC236}">
                  <a16:creationId xmlns:a16="http://schemas.microsoft.com/office/drawing/2014/main" id="{F0E2F315-574E-1B45-B1C8-67E9699D33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3251" y="2227839"/>
              <a:ext cx="1447463" cy="12563"/>
            </a:xfrm>
            <a:prstGeom prst="line">
              <a:avLst/>
            </a:prstGeom>
            <a:noFill/>
            <a:ln w="38100" cmpd="dbl">
              <a:solidFill>
                <a:srgbClr val="E70303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1" name="Rectangle 11">
              <a:extLst>
                <a:ext uri="{FF2B5EF4-FFF2-40B4-BE49-F238E27FC236}">
                  <a16:creationId xmlns:a16="http://schemas.microsoft.com/office/drawing/2014/main" id="{E2A955BB-94DE-1444-9F25-C8B6FFEB0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925" y="2040800"/>
              <a:ext cx="659221" cy="582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L1</a:t>
              </a:r>
            </a:p>
          </p:txBody>
        </p:sp>
        <p:sp>
          <p:nvSpPr>
            <p:cNvPr id="62" name="Rectangle 12">
              <a:extLst>
                <a:ext uri="{FF2B5EF4-FFF2-40B4-BE49-F238E27FC236}">
                  <a16:creationId xmlns:a16="http://schemas.microsoft.com/office/drawing/2014/main" id="{FE223D58-CD22-3349-99F3-1F34B9508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593" y="1912384"/>
              <a:ext cx="1170045" cy="746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   </a:t>
              </a:r>
              <a:r>
                <a:rPr kumimoji="0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Main</a:t>
              </a:r>
            </a:p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Memory</a:t>
              </a:r>
            </a:p>
          </p:txBody>
        </p:sp>
        <p:sp>
          <p:nvSpPr>
            <p:cNvPr id="63" name="Line 13">
              <a:extLst>
                <a:ext uri="{FF2B5EF4-FFF2-40B4-BE49-F238E27FC236}">
                  <a16:creationId xmlns:a16="http://schemas.microsoft.com/office/drawing/2014/main" id="{43D49BA8-CB5C-924F-B71E-D3C34369E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2221" y="2240401"/>
              <a:ext cx="381059" cy="0"/>
            </a:xfrm>
            <a:prstGeom prst="line">
              <a:avLst/>
            </a:prstGeom>
            <a:noFill/>
            <a:ln w="38100" cmpd="dbl">
              <a:solidFill>
                <a:srgbClr val="E70303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4" name="Rectangle 14">
              <a:extLst>
                <a:ext uri="{FF2B5EF4-FFF2-40B4-BE49-F238E27FC236}">
                  <a16:creationId xmlns:a16="http://schemas.microsoft.com/office/drawing/2014/main" id="{5C0631CD-3BF6-6F49-A6B6-3ECFCE91D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89" y="3181746"/>
              <a:ext cx="1274773" cy="418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访问时间</a:t>
              </a:r>
            </a:p>
          </p:txBody>
        </p:sp>
        <p:sp>
          <p:nvSpPr>
            <p:cNvPr id="66" name="Rectangle 16">
              <a:extLst>
                <a:ext uri="{FF2B5EF4-FFF2-40B4-BE49-F238E27FC236}">
                  <a16:creationId xmlns:a16="http://schemas.microsoft.com/office/drawing/2014/main" id="{069DDFAE-7506-A846-8281-71CF7492A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155" y="3207702"/>
              <a:ext cx="778912" cy="418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1 clk</a:t>
              </a:r>
            </a:p>
          </p:txBody>
        </p:sp>
        <p:sp>
          <p:nvSpPr>
            <p:cNvPr id="67" name="Rectangle 17">
              <a:extLst>
                <a:ext uri="{FF2B5EF4-FFF2-40B4-BE49-F238E27FC236}">
                  <a16:creationId xmlns:a16="http://schemas.microsoft.com/office/drawing/2014/main" id="{BACC9710-DF19-0B45-A44A-F9297CD48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592" y="3207702"/>
              <a:ext cx="943486" cy="418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10 clks</a:t>
              </a:r>
            </a:p>
          </p:txBody>
        </p:sp>
        <p:sp>
          <p:nvSpPr>
            <p:cNvPr id="68" name="Rectangle 18">
              <a:extLst>
                <a:ext uri="{FF2B5EF4-FFF2-40B4-BE49-F238E27FC236}">
                  <a16:creationId xmlns:a16="http://schemas.microsoft.com/office/drawing/2014/main" id="{1CBE25EF-F5F5-344A-AD13-009BAAA94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508" y="1327537"/>
              <a:ext cx="1118049" cy="1753147"/>
            </a:xfrm>
            <a:prstGeom prst="rect">
              <a:avLst/>
            </a:prstGeom>
            <a:noFill/>
            <a:ln w="25400">
              <a:solidFill>
                <a:srgbClr val="E703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9" name="Rectangle 19">
              <a:extLst>
                <a:ext uri="{FF2B5EF4-FFF2-40B4-BE49-F238E27FC236}">
                  <a16:creationId xmlns:a16="http://schemas.microsoft.com/office/drawing/2014/main" id="{23C640A3-9D41-1F44-A075-0A01C2582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842" y="1825843"/>
              <a:ext cx="584848" cy="829116"/>
            </a:xfrm>
            <a:prstGeom prst="rect">
              <a:avLst/>
            </a:prstGeom>
            <a:noFill/>
            <a:ln w="25400">
              <a:solidFill>
                <a:srgbClr val="E703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0" name="Rectangle 20">
              <a:extLst>
                <a:ext uri="{FF2B5EF4-FFF2-40B4-BE49-F238E27FC236}">
                  <a16:creationId xmlns:a16="http://schemas.microsoft.com/office/drawing/2014/main" id="{46A75077-4562-ED4C-942E-6508B8FE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523" y="1968217"/>
              <a:ext cx="660222" cy="686742"/>
            </a:xfrm>
            <a:prstGeom prst="rect">
              <a:avLst/>
            </a:prstGeom>
            <a:noFill/>
            <a:ln w="25400">
              <a:solidFill>
                <a:srgbClr val="E703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225965C-8014-4B41-AE79-48DB37239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84" y="3965630"/>
              <a:ext cx="3545376" cy="455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平均访问时间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 =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72" name="Rectangle 22">
              <a:extLst>
                <a:ext uri="{FF2B5EF4-FFF2-40B4-BE49-F238E27FC236}">
                  <a16:creationId xmlns:a16="http://schemas.microsoft.com/office/drawing/2014/main" id="{506CB408-0C7A-5044-B3CD-9B92AA79B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798" y="3937837"/>
              <a:ext cx="1626193" cy="455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6556" tIns="33278" rIns="66556" bIns="33278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t</a:t>
              </a:r>
              <a:r>
                <a:rPr kumimoji="0" lang="en-US" altLang="zh-CN" sz="1800" b="1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h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 + (1-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h)t</a:t>
              </a:r>
              <a:r>
                <a:rPr kumimoji="0" lang="en-US" altLang="zh-CN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m</a:t>
              </a:r>
            </a:p>
          </p:txBody>
        </p:sp>
        <p:sp>
          <p:nvSpPr>
            <p:cNvPr id="73" name="Rectangle 23">
              <a:extLst>
                <a:ext uri="{FF2B5EF4-FFF2-40B4-BE49-F238E27FC236}">
                  <a16:creationId xmlns:a16="http://schemas.microsoft.com/office/drawing/2014/main" id="{4B2A3320-7A71-CF4C-B3F8-B5AA9B2E3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21" y="4998927"/>
              <a:ext cx="3650884" cy="455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平均访问时间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= </a:t>
              </a:r>
            </a:p>
          </p:txBody>
        </p:sp>
        <p:sp>
          <p:nvSpPr>
            <p:cNvPr id="74" name="Rectangle 24">
              <a:extLst>
                <a:ext uri="{FF2B5EF4-FFF2-40B4-BE49-F238E27FC236}">
                  <a16:creationId xmlns:a16="http://schemas.microsoft.com/office/drawing/2014/main" id="{0928719B-826F-1543-8488-FD6C2D841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466" y="4973327"/>
              <a:ext cx="2955617" cy="869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6556" tIns="33278" rIns="66556" bIns="33278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1 + 0.30*10 =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99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4 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99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clks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(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比没有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cache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时强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)</a:t>
              </a:r>
              <a:endPara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  <a:sym typeface="Symbol" pitchFamily="18" charset="2"/>
              </a:endParaRPr>
            </a:p>
          </p:txBody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7170A183-D0E1-7F43-9634-65ABF17D8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84" y="4462541"/>
              <a:ext cx="2406390" cy="455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99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假定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99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h</a:t>
              </a:r>
              <a:r>
                <a:rPr kumimoji="0" lang="en-US" altLang="zh-CN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99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L1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99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 = 70%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</p:grpSp>
      <p:sp>
        <p:nvSpPr>
          <p:cNvPr id="114" name="Rectangle 4">
            <a:extLst>
              <a:ext uri="{FF2B5EF4-FFF2-40B4-BE49-F238E27FC236}">
                <a16:creationId xmlns:a16="http://schemas.microsoft.com/office/drawing/2014/main" id="{0B9AF3D7-F4C4-B84F-BA6F-345C600C6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6239" y="4699701"/>
            <a:ext cx="1675488" cy="341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017" tIns="33509" rIns="67017" bIns="33509">
            <a:spAutoFit/>
          </a:bodyPr>
          <a:lstStyle/>
          <a:p>
            <a:pPr marL="0" marR="0" lvl="0" indent="0" algn="l" defTabSz="6658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81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平均访问时间</a:t>
            </a:r>
            <a:endParaRPr kumimoji="0" lang="en-US" altLang="zh-CN" sz="1781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</a:endParaRPr>
          </a:p>
        </p:txBody>
      </p:sp>
      <p:sp>
        <p:nvSpPr>
          <p:cNvPr id="115" name="Rectangle 5">
            <a:extLst>
              <a:ext uri="{FF2B5EF4-FFF2-40B4-BE49-F238E27FC236}">
                <a16:creationId xmlns:a16="http://schemas.microsoft.com/office/drawing/2014/main" id="{4A2762B5-CE2D-E146-A2AB-2F3246EEA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439" y="4720794"/>
            <a:ext cx="3019817" cy="959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6556" tIns="33278" rIns="66556" bIns="33278">
            <a:spAutoFit/>
          </a:bodyPr>
          <a:lstStyle/>
          <a:p>
            <a:pPr marL="0" marR="0" lvl="0" indent="0" algn="l" defTabSz="6658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1 + 0.30*(5+0.10*10)</a:t>
            </a:r>
          </a:p>
          <a:p>
            <a:pPr marL="0" marR="0" lvl="0" indent="0" algn="l" defTabSz="6658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= 1 + 0.3*6 =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2.8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clks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</a:endParaRPr>
          </a:p>
          <a:p>
            <a:pPr marL="0" marR="0" lvl="0" indent="0" algn="l" defTabSz="6658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(better than L1 only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–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clks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  <a:sym typeface="Symbol" pitchFamily="18" charset="2"/>
            </a:endParaRP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65F0A68-2352-064F-9C94-F74612A081B1}"/>
              </a:ext>
            </a:extLst>
          </p:cNvPr>
          <p:cNvGrpSpPr/>
          <p:nvPr/>
        </p:nvGrpSpPr>
        <p:grpSpPr>
          <a:xfrm>
            <a:off x="4870337" y="1798937"/>
            <a:ext cx="3741620" cy="1701064"/>
            <a:chOff x="6587563" y="1255582"/>
            <a:chExt cx="4988826" cy="2268085"/>
          </a:xfrm>
        </p:grpSpPr>
        <p:sp>
          <p:nvSpPr>
            <p:cNvPr id="118" name="Rectangle 8">
              <a:extLst>
                <a:ext uri="{FF2B5EF4-FFF2-40B4-BE49-F238E27FC236}">
                  <a16:creationId xmlns:a16="http://schemas.microsoft.com/office/drawing/2014/main" id="{94C922B5-9370-F045-ADA1-E16E5F75D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7563" y="1469142"/>
              <a:ext cx="1422338" cy="1326027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7030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19" name="Rectangle 9">
              <a:extLst>
                <a:ext uri="{FF2B5EF4-FFF2-40B4-BE49-F238E27FC236}">
                  <a16:creationId xmlns:a16="http://schemas.microsoft.com/office/drawing/2014/main" id="{A80E8C13-4859-F349-A3DE-4691C1564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5020" y="1897657"/>
              <a:ext cx="468999" cy="509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45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P </a:t>
              </a:r>
            </a:p>
          </p:txBody>
        </p:sp>
        <p:sp>
          <p:nvSpPr>
            <p:cNvPr id="120" name="Line 10">
              <a:extLst>
                <a:ext uri="{FF2B5EF4-FFF2-40B4-BE49-F238E27FC236}">
                  <a16:creationId xmlns:a16="http://schemas.microsoft.com/office/drawing/2014/main" id="{4F1071CD-1E38-574E-85D2-FD38BD1AC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8202" y="2026072"/>
              <a:ext cx="685346" cy="0"/>
            </a:xfrm>
            <a:prstGeom prst="line">
              <a:avLst/>
            </a:prstGeom>
            <a:noFill/>
            <a:ln w="25400">
              <a:solidFill>
                <a:srgbClr val="E7030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21" name="Line 11">
              <a:extLst>
                <a:ext uri="{FF2B5EF4-FFF2-40B4-BE49-F238E27FC236}">
                  <a16:creationId xmlns:a16="http://schemas.microsoft.com/office/drawing/2014/main" id="{CB2664CC-55DA-154F-9776-2B665B39E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8202" y="2168446"/>
              <a:ext cx="685346" cy="0"/>
            </a:xfrm>
            <a:prstGeom prst="line">
              <a:avLst/>
            </a:prstGeom>
            <a:noFill/>
            <a:ln w="25400">
              <a:solidFill>
                <a:srgbClr val="E7030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22" name="Line 12">
              <a:extLst>
                <a:ext uri="{FF2B5EF4-FFF2-40B4-BE49-F238E27FC236}">
                  <a16:creationId xmlns:a16="http://schemas.microsoft.com/office/drawing/2014/main" id="{0FEF6D4E-A1B5-1D44-9DAD-EE1AE5337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8202" y="2309424"/>
              <a:ext cx="685346" cy="0"/>
            </a:xfrm>
            <a:prstGeom prst="line">
              <a:avLst/>
            </a:prstGeom>
            <a:noFill/>
            <a:ln w="25400">
              <a:solidFill>
                <a:srgbClr val="E7030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23" name="Line 13">
              <a:extLst>
                <a:ext uri="{FF2B5EF4-FFF2-40B4-BE49-F238E27FC236}">
                  <a16:creationId xmlns:a16="http://schemas.microsoft.com/office/drawing/2014/main" id="{80FB74A6-F960-594C-B2FE-A35764EB6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8202" y="2451797"/>
              <a:ext cx="685346" cy="0"/>
            </a:xfrm>
            <a:prstGeom prst="line">
              <a:avLst/>
            </a:prstGeom>
            <a:noFill/>
            <a:ln w="25400">
              <a:solidFill>
                <a:srgbClr val="E7030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24" name="Rectangle 14">
              <a:extLst>
                <a:ext uri="{FF2B5EF4-FFF2-40B4-BE49-F238E27FC236}">
                  <a16:creationId xmlns:a16="http://schemas.microsoft.com/office/drawing/2014/main" id="{E60E53EC-AE6B-F240-A055-E0C6D1768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4140" y="1515498"/>
              <a:ext cx="1146533" cy="418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registers</a:t>
              </a:r>
            </a:p>
          </p:txBody>
        </p:sp>
        <p:sp>
          <p:nvSpPr>
            <p:cNvPr id="125" name="Line 15">
              <a:extLst>
                <a:ext uri="{FF2B5EF4-FFF2-40B4-BE49-F238E27FC236}">
                  <a16:creationId xmlns:a16="http://schemas.microsoft.com/office/drawing/2014/main" id="{414BC87D-EB7F-D74A-B9D4-9FCAAE771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13492" y="2168446"/>
              <a:ext cx="381059" cy="0"/>
            </a:xfrm>
            <a:prstGeom prst="line">
              <a:avLst/>
            </a:prstGeom>
            <a:noFill/>
            <a:ln w="38100" cmpd="dbl">
              <a:solidFill>
                <a:srgbClr val="E70303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26" name="Rectangle 16">
              <a:extLst>
                <a:ext uri="{FF2B5EF4-FFF2-40B4-BE49-F238E27FC236}">
                  <a16:creationId xmlns:a16="http://schemas.microsoft.com/office/drawing/2014/main" id="{791CD8CE-29B8-8845-8BBD-2BCD17B12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166" y="1968845"/>
              <a:ext cx="550217" cy="509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45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L1</a:t>
              </a:r>
            </a:p>
          </p:txBody>
        </p:sp>
        <p:sp>
          <p:nvSpPr>
            <p:cNvPr id="127" name="Rectangle 17">
              <a:extLst>
                <a:ext uri="{FF2B5EF4-FFF2-40B4-BE49-F238E27FC236}">
                  <a16:creationId xmlns:a16="http://schemas.microsoft.com/office/drawing/2014/main" id="{51D09996-9CA3-F144-B51D-967EDE58E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7802" y="1968845"/>
              <a:ext cx="550217" cy="509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45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L2</a:t>
              </a:r>
            </a:p>
          </p:txBody>
        </p:sp>
        <p:sp>
          <p:nvSpPr>
            <p:cNvPr id="128" name="Rectangle 18">
              <a:extLst>
                <a:ext uri="{FF2B5EF4-FFF2-40B4-BE49-F238E27FC236}">
                  <a16:creationId xmlns:a16="http://schemas.microsoft.com/office/drawing/2014/main" id="{D9803FDE-DD3C-C742-9B55-48439F48B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2790" y="1969498"/>
              <a:ext cx="1173599" cy="387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51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主存储器</a:t>
              </a:r>
            </a:p>
          </p:txBody>
        </p:sp>
        <p:sp>
          <p:nvSpPr>
            <p:cNvPr id="129" name="Line 19">
              <a:extLst>
                <a:ext uri="{FF2B5EF4-FFF2-40B4-BE49-F238E27FC236}">
                  <a16:creationId xmlns:a16="http://schemas.microsoft.com/office/drawing/2014/main" id="{0E00D6E2-12DD-DA4D-ABFC-7824B7BFE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2462" y="2168446"/>
              <a:ext cx="381059" cy="0"/>
            </a:xfrm>
            <a:prstGeom prst="line">
              <a:avLst/>
            </a:prstGeom>
            <a:noFill/>
            <a:ln w="38100" cmpd="dbl">
              <a:solidFill>
                <a:srgbClr val="E70303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30" name="Line 20">
              <a:extLst>
                <a:ext uri="{FF2B5EF4-FFF2-40B4-BE49-F238E27FC236}">
                  <a16:creationId xmlns:a16="http://schemas.microsoft.com/office/drawing/2014/main" id="{E06AA3DB-9016-3C4D-A295-8663F8EAF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3128" y="2168446"/>
              <a:ext cx="381058" cy="0"/>
            </a:xfrm>
            <a:prstGeom prst="line">
              <a:avLst/>
            </a:prstGeom>
            <a:noFill/>
            <a:ln w="38100" cmpd="dbl">
              <a:solidFill>
                <a:srgbClr val="E70303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31" name="Rectangle 21">
              <a:extLst>
                <a:ext uri="{FF2B5EF4-FFF2-40B4-BE49-F238E27FC236}">
                  <a16:creationId xmlns:a16="http://schemas.microsoft.com/office/drawing/2014/main" id="{55E99D22-1FC1-284E-B1CD-45B0B79BB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1171" y="3108692"/>
              <a:ext cx="1172181" cy="387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51" b="1" i="0" u="none" strike="noStrike" kern="1200" cap="none" spc="0" normalizeH="0" baseline="0" noProof="0" dirty="0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访问时间</a:t>
              </a:r>
            </a:p>
          </p:txBody>
        </p:sp>
        <p:sp>
          <p:nvSpPr>
            <p:cNvPr id="133" name="Rectangle 23">
              <a:extLst>
                <a:ext uri="{FF2B5EF4-FFF2-40B4-BE49-F238E27FC236}">
                  <a16:creationId xmlns:a16="http://schemas.microsoft.com/office/drawing/2014/main" id="{E9769246-8083-7D4E-8242-32DE0BA42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1397" y="3135748"/>
              <a:ext cx="723341" cy="387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51" b="1" i="0" u="none" strike="noStrike" kern="1200" cap="none" spc="0" normalizeH="0" baseline="0" noProof="0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 </a:t>
              </a:r>
              <a:r>
                <a:rPr kumimoji="0" lang="en-US" altLang="zh-CN" sz="1451" b="1" i="0" u="none" strike="noStrike" kern="1200" cap="none" spc="0" normalizeH="0" baseline="0" noProof="0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1 clk</a:t>
              </a:r>
            </a:p>
          </p:txBody>
        </p:sp>
        <p:sp>
          <p:nvSpPr>
            <p:cNvPr id="134" name="Rectangle 24">
              <a:extLst>
                <a:ext uri="{FF2B5EF4-FFF2-40B4-BE49-F238E27FC236}">
                  <a16:creationId xmlns:a16="http://schemas.microsoft.com/office/drawing/2014/main" id="{356ED818-ED33-124E-BBB1-2ACDDA941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427" y="3135748"/>
              <a:ext cx="757539" cy="387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51" b="1" i="0" u="none" strike="noStrike" kern="1200" cap="none" spc="0" normalizeH="0" baseline="0" noProof="0" dirty="0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5 </a:t>
              </a:r>
              <a:r>
                <a:rPr kumimoji="0" lang="en-US" altLang="zh-CN" sz="1451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clks</a:t>
              </a:r>
              <a:endParaRPr kumimoji="0" lang="en-US" altLang="zh-CN" sz="1451" b="1" i="0" u="none" strike="noStrike" kern="1200" cap="none" spc="0" normalizeH="0" baseline="0" noProof="0" dirty="0">
                <a:ln>
                  <a:noFill/>
                </a:ln>
                <a:solidFill>
                  <a:srgbClr val="1D6EF7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35" name="Rectangle 25">
              <a:extLst>
                <a:ext uri="{FF2B5EF4-FFF2-40B4-BE49-F238E27FC236}">
                  <a16:creationId xmlns:a16="http://schemas.microsoft.com/office/drawing/2014/main" id="{D338AD3E-2DC3-E542-AA5E-A0A4F7C81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8832" y="3135748"/>
              <a:ext cx="875092" cy="387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51" b="1" i="0" u="none" strike="noStrike" kern="1200" cap="none" spc="0" normalizeH="0" baseline="0" noProof="0">
                  <a:ln>
                    <a:noFill/>
                  </a:ln>
                  <a:solidFill>
                    <a:srgbClr val="1D6EF7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10 clks</a:t>
              </a:r>
            </a:p>
          </p:txBody>
        </p:sp>
        <p:sp>
          <p:nvSpPr>
            <p:cNvPr id="136" name="Rectangle 26">
              <a:extLst>
                <a:ext uri="{FF2B5EF4-FFF2-40B4-BE49-F238E27FC236}">
                  <a16:creationId xmlns:a16="http://schemas.microsoft.com/office/drawing/2014/main" id="{85740159-3B56-6844-91EA-21ED122FE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7113" y="1540328"/>
              <a:ext cx="583452" cy="1254840"/>
            </a:xfrm>
            <a:prstGeom prst="rect">
              <a:avLst/>
            </a:prstGeom>
            <a:noFill/>
            <a:ln w="25400">
              <a:solidFill>
                <a:srgbClr val="E703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37" name="Rectangle 27">
              <a:extLst>
                <a:ext uri="{FF2B5EF4-FFF2-40B4-BE49-F238E27FC236}">
                  <a16:creationId xmlns:a16="http://schemas.microsoft.com/office/drawing/2014/main" id="{BAEB7320-DF74-E44E-B8AA-04FDFBB09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6749" y="1255582"/>
              <a:ext cx="1118049" cy="1895520"/>
            </a:xfrm>
            <a:prstGeom prst="rect">
              <a:avLst/>
            </a:prstGeom>
            <a:noFill/>
            <a:ln w="25400">
              <a:solidFill>
                <a:srgbClr val="E703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38" name="Rectangle 28">
              <a:extLst>
                <a:ext uri="{FF2B5EF4-FFF2-40B4-BE49-F238E27FC236}">
                  <a16:creationId xmlns:a16="http://schemas.microsoft.com/office/drawing/2014/main" id="{E53E4176-B605-4C4A-AAFE-3A638DE9D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6083" y="1753889"/>
              <a:ext cx="584848" cy="829116"/>
            </a:xfrm>
            <a:prstGeom prst="rect">
              <a:avLst/>
            </a:prstGeom>
            <a:noFill/>
            <a:ln w="25400">
              <a:solidFill>
                <a:srgbClr val="E703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39" name="Rectangle 29">
              <a:extLst>
                <a:ext uri="{FF2B5EF4-FFF2-40B4-BE49-F238E27FC236}">
                  <a16:creationId xmlns:a16="http://schemas.microsoft.com/office/drawing/2014/main" id="{00E282EC-2ECD-5F48-B4FF-1609F8332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0764" y="1896262"/>
              <a:ext cx="660222" cy="686742"/>
            </a:xfrm>
            <a:prstGeom prst="rect">
              <a:avLst/>
            </a:prstGeom>
            <a:noFill/>
            <a:ln w="25400">
              <a:solidFill>
                <a:srgbClr val="E703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DD00429-B2E2-964B-BDB0-28228B7B40CB}"/>
              </a:ext>
            </a:extLst>
          </p:cNvPr>
          <p:cNvGrpSpPr/>
          <p:nvPr/>
        </p:nvGrpSpPr>
        <p:grpSpPr>
          <a:xfrm>
            <a:off x="4443578" y="3747213"/>
            <a:ext cx="4691042" cy="944903"/>
            <a:chOff x="6018552" y="3853282"/>
            <a:chExt cx="6254722" cy="1259870"/>
          </a:xfrm>
        </p:grpSpPr>
        <p:sp>
          <p:nvSpPr>
            <p:cNvPr id="113" name="Rectangle 3">
              <a:extLst>
                <a:ext uri="{FF2B5EF4-FFF2-40B4-BE49-F238E27FC236}">
                  <a16:creationId xmlns:a16="http://schemas.microsoft.com/office/drawing/2014/main" id="{AE9840CF-6584-3B4A-B650-72DD6EE93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5473" y="3857001"/>
              <a:ext cx="2576447" cy="455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平均访问时间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=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17" name="Rectangle 7">
              <a:extLst>
                <a:ext uri="{FF2B5EF4-FFF2-40B4-BE49-F238E27FC236}">
                  <a16:creationId xmlns:a16="http://schemas.microsoft.com/office/drawing/2014/main" id="{493E9797-63FD-FC42-BD62-AC94C134F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8552" y="4657523"/>
              <a:ext cx="1714610" cy="455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017" tIns="33509" rIns="67017" bIns="33509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99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h</a:t>
              </a:r>
              <a:r>
                <a:rPr kumimoji="0" lang="en-US" altLang="zh-CN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99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L2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99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 = 90%</a:t>
              </a:r>
            </a:p>
          </p:txBody>
        </p:sp>
        <p:sp>
          <p:nvSpPr>
            <p:cNvPr id="140" name="Text Box 30">
              <a:extLst>
                <a:ext uri="{FF2B5EF4-FFF2-40B4-BE49-F238E27FC236}">
                  <a16:creationId xmlns:a16="http://schemas.microsoft.com/office/drawing/2014/main" id="{8D0B8A8F-A742-8C44-9EB9-94AD773105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0386" y="4638238"/>
              <a:ext cx="2352888" cy="4589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hlink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6556" tIns="33278" rIns="66556" bIns="33278">
              <a:spAutoFit/>
            </a:bodyPr>
            <a:lstStyle>
              <a:lvl1pPr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E70303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L2</a:t>
              </a:r>
              <a:r>
                <a:rPr kumimoji="0" lang="zh-CN" alt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E70303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平均访问时间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E70303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41" name="Line 31">
              <a:extLst>
                <a:ext uri="{FF2B5EF4-FFF2-40B4-BE49-F238E27FC236}">
                  <a16:creationId xmlns:a16="http://schemas.microsoft.com/office/drawing/2014/main" id="{476B8C6F-8CD3-7A4D-8A01-7006EE07F9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23488" y="4311110"/>
              <a:ext cx="0" cy="396194"/>
            </a:xfrm>
            <a:prstGeom prst="line">
              <a:avLst/>
            </a:prstGeom>
            <a:noFill/>
            <a:ln w="12700">
              <a:solidFill>
                <a:srgbClr val="E70303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42" name="Text Box 32">
              <a:extLst>
                <a:ext uri="{FF2B5EF4-FFF2-40B4-BE49-F238E27FC236}">
                  <a16:creationId xmlns:a16="http://schemas.microsoft.com/office/drawing/2014/main" id="{9D160A31-C1CA-A841-B220-98249C932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2277" y="4620546"/>
              <a:ext cx="2352888" cy="4589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hlink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6556" tIns="33278" rIns="66556" bIns="33278">
              <a:spAutoFit/>
            </a:bodyPr>
            <a:lstStyle>
              <a:lvl1pPr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1009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E70303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L1</a:t>
              </a:r>
              <a:r>
                <a:rPr kumimoji="0" lang="zh-CN" alt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E70303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平均访问时间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E70303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43" name="Line 33">
              <a:extLst>
                <a:ext uri="{FF2B5EF4-FFF2-40B4-BE49-F238E27FC236}">
                  <a16:creationId xmlns:a16="http://schemas.microsoft.com/office/drawing/2014/main" id="{F90C4357-14D3-6445-A409-539613787A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21899" y="4390737"/>
              <a:ext cx="0" cy="213561"/>
            </a:xfrm>
            <a:prstGeom prst="line">
              <a:avLst/>
            </a:prstGeom>
            <a:noFill/>
            <a:ln w="12700">
              <a:solidFill>
                <a:srgbClr val="E70303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endParaRPr>
            </a:p>
          </p:txBody>
        </p:sp>
        <p:sp>
          <p:nvSpPr>
            <p:cNvPr id="144" name="Rectangle 34">
              <a:extLst>
                <a:ext uri="{FF2B5EF4-FFF2-40B4-BE49-F238E27FC236}">
                  <a16:creationId xmlns:a16="http://schemas.microsoft.com/office/drawing/2014/main" id="{A28050C6-6471-194C-B2D7-F7D6AAFE7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226" y="3853282"/>
              <a:ext cx="1656116" cy="455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6556" tIns="33278" rIns="66556" bIns="33278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t</a:t>
              </a:r>
              <a:r>
                <a:rPr kumimoji="0" lang="en-US" altLang="zh-CN" sz="1800" b="1" i="0" u="none" strike="noStrike" kern="120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h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 + (1-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)t</a:t>
              </a:r>
              <a:r>
                <a:rPr kumimoji="0" lang="en-US" altLang="zh-CN" sz="1800" b="1" i="0" u="none" strike="noStrike" kern="120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m</a:t>
              </a:r>
            </a:p>
          </p:txBody>
        </p:sp>
        <p:sp>
          <p:nvSpPr>
            <p:cNvPr id="145" name="Rectangle 35">
              <a:extLst>
                <a:ext uri="{FF2B5EF4-FFF2-40B4-BE49-F238E27FC236}">
                  <a16:creationId xmlns:a16="http://schemas.microsoft.com/office/drawing/2014/main" id="{1012E0E1-6AF1-4742-965A-2DD1EDE8C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8341" y="3883990"/>
              <a:ext cx="3690861" cy="4589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6556" tIns="33278" rIns="66556" bIns="33278">
              <a:spAutoFit/>
            </a:bodyPr>
            <a:lstStyle/>
            <a:p>
              <a:pPr marL="0" marR="0" lvl="0" indent="0" algn="l" defTabSz="66583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t</a:t>
              </a:r>
              <a:r>
                <a:rPr kumimoji="0" lang="en-US" altLang="zh-CN" sz="1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L1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 + (1-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h</a:t>
              </a:r>
              <a:r>
                <a:rPr kumimoji="0" lang="en-US" altLang="zh-CN" sz="1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L1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)(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t</a:t>
              </a:r>
              <a:r>
                <a:rPr kumimoji="0" lang="en-US" altLang="zh-CN" sz="1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L2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</a:rPr>
                <a:t> + (1-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h</a:t>
              </a:r>
              <a:r>
                <a:rPr kumimoji="0" lang="en-US" altLang="zh-CN" sz="1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L2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)t</a:t>
              </a:r>
              <a:r>
                <a:rPr kumimoji="0" lang="en-US" altLang="zh-CN" sz="1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m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Kaiti" panose="02010600040101010101" pitchFamily="2" charset="-122"/>
                  <a:ea typeface="STKaiti" panose="02010600040101010101" pitchFamily="2" charset="-122"/>
                  <a:cs typeface="+mn-cs"/>
                  <a:sym typeface="Symbol" pitchFamily="18" charset="2"/>
                </a:rPr>
                <a:t>)</a:t>
              </a:r>
              <a:endParaRPr kumimoji="0" lang="en-US" altLang="zh-CN" sz="1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  <a:sym typeface="Symbol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0590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性能评估：如何提高</a:t>
            </a:r>
            <a:r>
              <a:rPr lang="en-US" altLang="zh-CN" dirty="0"/>
              <a:t>Cache</a:t>
            </a:r>
            <a:r>
              <a:rPr lang="zh-CN" altLang="en-US" dirty="0"/>
              <a:t>性能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779793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多级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策略</a:t>
            </a:r>
            <a:endParaRPr kumimoji="1" lang="en-US" altLang="zh-CN" dirty="0"/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以两级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为例，</a:t>
            </a:r>
            <a:r>
              <a:rPr kumimoji="1" lang="en-US" altLang="zh-CN" sz="2400" dirty="0"/>
              <a:t>L1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L2 Cache</a:t>
            </a:r>
            <a:r>
              <a:rPr kumimoji="1" lang="zh-CN" altLang="en-US" sz="2400" dirty="0"/>
              <a:t>的设计思想不同：</a:t>
            </a:r>
          </a:p>
          <a:p>
            <a:pPr marL="1314450" lvl="2" indent="-457200">
              <a:spcBef>
                <a:spcPts val="1000"/>
              </a:spcBef>
            </a:pPr>
            <a:r>
              <a:rPr kumimoji="1" lang="en-US" altLang="zh-CN" sz="2000" dirty="0">
                <a:solidFill>
                  <a:srgbClr val="1A49EA"/>
                </a:solidFill>
              </a:rPr>
              <a:t>L1 Cache</a:t>
            </a:r>
            <a:r>
              <a:rPr kumimoji="1" lang="zh-CN" altLang="en-US" sz="2000" dirty="0">
                <a:solidFill>
                  <a:srgbClr val="1A49EA"/>
                </a:solidFill>
              </a:rPr>
              <a:t>致力于减少命中时间</a:t>
            </a:r>
            <a:r>
              <a:rPr kumimoji="1" lang="zh-CN" altLang="en-US" sz="2000" dirty="0"/>
              <a:t>，以获得较短的时钟周期</a:t>
            </a:r>
          </a:p>
          <a:p>
            <a:pPr marL="1314450" lvl="2" indent="-457200">
              <a:spcBef>
                <a:spcPts val="1000"/>
              </a:spcBef>
            </a:pPr>
            <a:r>
              <a:rPr kumimoji="1" lang="en-US" altLang="zh-CN" sz="2000" dirty="0">
                <a:solidFill>
                  <a:srgbClr val="1A49EA"/>
                </a:solidFill>
              </a:rPr>
              <a:t>L2 Cache</a:t>
            </a:r>
            <a:r>
              <a:rPr kumimoji="1" lang="zh-CN" altLang="en-US" sz="2000" dirty="0">
                <a:solidFill>
                  <a:srgbClr val="1A49EA"/>
                </a:solidFill>
              </a:rPr>
              <a:t>致力于降低缺失率</a:t>
            </a:r>
            <a:r>
              <a:rPr kumimoji="1" lang="zh-CN" altLang="en-US" sz="2000" dirty="0"/>
              <a:t>，以减少访问主存的缺失损失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由于</a:t>
            </a:r>
            <a:r>
              <a:rPr kumimoji="1" lang="en-US" altLang="zh-CN" sz="2400" dirty="0"/>
              <a:t>L2 Cache</a:t>
            </a:r>
            <a:r>
              <a:rPr kumimoji="1" lang="zh-CN" altLang="en-US" sz="2400" dirty="0"/>
              <a:t>的存在，</a:t>
            </a:r>
            <a:r>
              <a:rPr kumimoji="1" lang="en-US" altLang="zh-CN" sz="2400" dirty="0"/>
              <a:t>L1 Cache</a:t>
            </a:r>
            <a:r>
              <a:rPr kumimoji="1" lang="zh-CN" altLang="en-US" sz="2400" dirty="0"/>
              <a:t>缺失造成的损失大大减少，缺失率高一些也没关系。所以</a:t>
            </a:r>
            <a:r>
              <a:rPr kumimoji="1" lang="en-US" altLang="zh-CN" sz="2400" dirty="0"/>
              <a:t>L1 Cache</a:t>
            </a:r>
            <a:r>
              <a:rPr kumimoji="1" lang="zh-CN" altLang="en-US" sz="2400" dirty="0"/>
              <a:t>通常较小，以减少命中时间。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sz="2400" dirty="0"/>
              <a:t>由于</a:t>
            </a:r>
            <a:r>
              <a:rPr kumimoji="1" lang="en-US" altLang="zh-CN" sz="2400" dirty="0"/>
              <a:t>L1 Cache</a:t>
            </a:r>
            <a:r>
              <a:rPr kumimoji="1" lang="zh-CN" altLang="en-US" sz="2400" dirty="0"/>
              <a:t>的存在，</a:t>
            </a:r>
            <a:r>
              <a:rPr kumimoji="1" lang="en-US" altLang="zh-CN" sz="2400" dirty="0"/>
              <a:t>L2 Cache</a:t>
            </a:r>
            <a:r>
              <a:rPr kumimoji="1" lang="zh-CN" altLang="en-US" sz="2400" dirty="0"/>
              <a:t>的命中时间仅影响</a:t>
            </a:r>
            <a:r>
              <a:rPr kumimoji="1" lang="en-US" altLang="zh-CN" sz="2400" dirty="0"/>
              <a:t>L1 Cache</a:t>
            </a:r>
            <a:r>
              <a:rPr kumimoji="1" lang="zh-CN" altLang="en-US" sz="2400" dirty="0"/>
              <a:t>的缺失损失，不直接影响</a:t>
            </a:r>
            <a:r>
              <a:rPr kumimoji="1" lang="en-US" altLang="zh-CN" sz="2400" dirty="0"/>
              <a:t>L1 Cache</a:t>
            </a:r>
            <a:r>
              <a:rPr kumimoji="1" lang="zh-CN" altLang="en-US" sz="2400" dirty="0"/>
              <a:t>的命中时间和处理器时钟周期。所以</a:t>
            </a:r>
            <a:r>
              <a:rPr kumimoji="1" lang="en-US" altLang="zh-CN" sz="2400" dirty="0"/>
              <a:t>L2 Cache</a:t>
            </a:r>
            <a:r>
              <a:rPr kumimoji="1" lang="zh-CN" altLang="en-US" sz="2400" dirty="0"/>
              <a:t>通常较大，块容量也比</a:t>
            </a:r>
            <a:r>
              <a:rPr kumimoji="1" lang="en-US" altLang="zh-CN" sz="2400" dirty="0"/>
              <a:t>L1 Cache</a:t>
            </a:r>
            <a:r>
              <a:rPr kumimoji="1" lang="zh-CN" altLang="en-US" sz="2400" dirty="0"/>
              <a:t>大</a:t>
            </a:r>
          </a:p>
        </p:txBody>
      </p:sp>
    </p:spTree>
    <p:extLst>
      <p:ext uri="{BB962C8B-B14F-4D97-AF65-F5344CB8AC3E}">
        <p14:creationId xmlns:p14="http://schemas.microsoft.com/office/powerpoint/2010/main" val="372643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</a:t>
            </a:r>
            <a:r>
              <a:rPr lang="en-US" altLang="zh-CN" dirty="0"/>
              <a:t>Cache</a:t>
            </a:r>
            <a:r>
              <a:rPr lang="zh-CN" altLang="en-US" dirty="0"/>
              <a:t>评价指标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10" y="1168876"/>
            <a:ext cx="8345277" cy="5175940"/>
          </a:xfrm>
        </p:spPr>
        <p:txBody>
          <a:bodyPr/>
          <a:lstStyle/>
          <a:p>
            <a:pPr marL="514350" indent="-457200">
              <a:spcBef>
                <a:spcPts val="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例</a:t>
            </a:r>
            <a:r>
              <a:rPr kumimoji="1" lang="zh-CN" altLang="en-US" sz="2400" dirty="0"/>
              <a:t>：对于如下参数的存储系统，请计算用两级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的速度是一级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速度的多少倍。</a:t>
            </a:r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000" dirty="0"/>
              <a:t>已知处理器的基本</a:t>
            </a:r>
            <a:r>
              <a:rPr kumimoji="1" lang="en-US" altLang="zh-CN" sz="2000" dirty="0"/>
              <a:t>CPI=1</a:t>
            </a:r>
            <a:r>
              <a:rPr kumimoji="1" lang="zh-CN" altLang="en-US" sz="2000" dirty="0"/>
              <a:t>，时钟频率为</a:t>
            </a:r>
            <a:r>
              <a:rPr kumimoji="1" lang="en-US" altLang="zh-CN" sz="2000" dirty="0"/>
              <a:t>5GHz</a:t>
            </a:r>
            <a:endParaRPr kumimoji="1" lang="zh-CN" altLang="en-US" sz="2000" dirty="0"/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000" dirty="0"/>
              <a:t>访问一次主存的时间为</a:t>
            </a:r>
            <a:r>
              <a:rPr kumimoji="1" lang="en-US" altLang="zh-CN" sz="2000" dirty="0"/>
              <a:t>100ns</a:t>
            </a:r>
            <a:endParaRPr kumimoji="1" lang="zh-CN" altLang="en-US" sz="2000" dirty="0"/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000" dirty="0"/>
              <a:t>假设</a:t>
            </a:r>
            <a:r>
              <a:rPr kumimoji="1" lang="en-US" altLang="zh-CN" sz="2000" dirty="0"/>
              <a:t>L1 cache</a:t>
            </a:r>
            <a:r>
              <a:rPr kumimoji="1" lang="zh-CN" altLang="en-US" sz="2000" dirty="0"/>
              <a:t>缺失率为</a:t>
            </a:r>
            <a:r>
              <a:rPr kumimoji="1" lang="en-US" altLang="zh-CN" sz="2000" dirty="0"/>
              <a:t>2%</a:t>
            </a:r>
            <a:r>
              <a:rPr kumimoji="1" lang="zh-CN" altLang="en-US" sz="2000" dirty="0"/>
              <a:t>，对</a:t>
            </a:r>
            <a:r>
              <a:rPr kumimoji="1" lang="en-US" altLang="zh-CN" sz="2000" dirty="0"/>
              <a:t>L1 cache</a:t>
            </a:r>
            <a:r>
              <a:rPr kumimoji="1" lang="zh-CN" altLang="en-US" sz="2000" dirty="0"/>
              <a:t>访问仅需一个周期</a:t>
            </a:r>
          </a:p>
          <a:p>
            <a:pPr marL="914400" lvl="1" indent="-457200">
              <a:spcBef>
                <a:spcPts val="0"/>
              </a:spcBef>
            </a:pPr>
            <a:r>
              <a:rPr kumimoji="1" lang="en-US" altLang="zh-CN" sz="2000" dirty="0"/>
              <a:t>L2 cache</a:t>
            </a:r>
            <a:r>
              <a:rPr kumimoji="1" lang="zh-CN" altLang="en-US" sz="2000" dirty="0"/>
              <a:t>的命中和缺失访问时间都是</a:t>
            </a:r>
            <a:r>
              <a:rPr kumimoji="1" lang="en-US" altLang="zh-CN" sz="2000" dirty="0"/>
              <a:t>5ns</a:t>
            </a:r>
            <a:r>
              <a:rPr kumimoji="1" lang="zh-CN" altLang="en-US" sz="2000" dirty="0"/>
              <a:t>，其缺失率仅为</a:t>
            </a:r>
            <a:r>
              <a:rPr kumimoji="1" lang="en-US" altLang="zh-CN" sz="2000" dirty="0"/>
              <a:t>0.5%</a:t>
            </a:r>
            <a:r>
              <a:rPr kumimoji="1" lang="zh-CN" altLang="en-US" sz="2000" dirty="0"/>
              <a:t> </a:t>
            </a:r>
            <a:endParaRPr kumimoji="1" lang="en-US" altLang="zh-CN" sz="2000" dirty="0"/>
          </a:p>
          <a:p>
            <a:pPr marL="514350" indent="-457200">
              <a:spcBef>
                <a:spcPts val="0"/>
              </a:spcBef>
            </a:pPr>
            <a:r>
              <a:rPr kumimoji="1" lang="zh-CN" altLang="en-US" sz="2400" dirty="0">
                <a:solidFill>
                  <a:srgbClr val="1A49EA"/>
                </a:solidFill>
              </a:rPr>
              <a:t>解答</a:t>
            </a:r>
            <a:r>
              <a:rPr kumimoji="1" lang="zh-CN" altLang="en-US" sz="2400" dirty="0"/>
              <a:t>：</a:t>
            </a:r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000" dirty="0"/>
              <a:t>处理器时钟频率为</a:t>
            </a:r>
            <a:r>
              <a:rPr kumimoji="1" lang="en-US" altLang="zh-CN" sz="2000" dirty="0"/>
              <a:t>5GHz</a:t>
            </a:r>
            <a:r>
              <a:rPr kumimoji="1" lang="zh-CN" altLang="en-US" sz="2000" dirty="0"/>
              <a:t>，则时钟周期为</a:t>
            </a:r>
            <a:r>
              <a:rPr kumimoji="1" lang="en-US" altLang="zh-CN" sz="2000" dirty="0"/>
              <a:t>0.2ns</a:t>
            </a:r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000" dirty="0"/>
              <a:t>访问一次主存的周期损失为：</a:t>
            </a:r>
            <a:r>
              <a:rPr kumimoji="1" lang="en-US" altLang="zh-CN" sz="2000" dirty="0"/>
              <a:t>100ns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0.2ns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500</a:t>
            </a:r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000" dirty="0"/>
              <a:t>访问</a:t>
            </a:r>
            <a:r>
              <a:rPr kumimoji="1" lang="en-US" altLang="zh-CN" sz="2000" dirty="0"/>
              <a:t>L2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cache</a:t>
            </a:r>
            <a:r>
              <a:rPr kumimoji="1" lang="zh-CN" altLang="en-US" sz="2000" dirty="0"/>
              <a:t>的周期损失为：</a:t>
            </a:r>
            <a:r>
              <a:rPr kumimoji="1" lang="en-US" altLang="zh-CN" sz="2000" dirty="0"/>
              <a:t>5ns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0.2ns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25</a:t>
            </a:r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000" dirty="0"/>
              <a:t>情况一：只有一级</a:t>
            </a:r>
            <a:r>
              <a:rPr kumimoji="1" lang="en-US" altLang="zh-CN" sz="2000" dirty="0"/>
              <a:t>cache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kumimoji="1" lang="en-US" altLang="zh-CN" sz="2000" dirty="0"/>
              <a:t>CPI_1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2%×500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11</a:t>
            </a:r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000" dirty="0"/>
              <a:t>情况二：有两级</a:t>
            </a:r>
            <a:r>
              <a:rPr kumimoji="1" lang="en-US" altLang="zh-CN" sz="2000" dirty="0"/>
              <a:t>cache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kumimoji="1" lang="en-US" altLang="zh-CN" sz="2000" dirty="0"/>
              <a:t>CPI_2 = 1 + 2%×(25 + 0.5%×500) = 1.55</a:t>
            </a:r>
          </a:p>
          <a:p>
            <a:pPr marL="914400" lvl="1" indent="-457200">
              <a:spcBef>
                <a:spcPts val="0"/>
              </a:spcBef>
            </a:pPr>
            <a:r>
              <a:rPr kumimoji="1" lang="zh-CN" altLang="en-US" sz="2000" dirty="0"/>
              <a:t>因此采用两级</a:t>
            </a:r>
            <a:r>
              <a:rPr kumimoji="1" lang="en-US" altLang="zh-CN" sz="2000" dirty="0"/>
              <a:t>cache</a:t>
            </a:r>
            <a:r>
              <a:rPr kumimoji="1" lang="zh-CN" altLang="en-US" sz="2000" dirty="0"/>
              <a:t>相比于一级</a:t>
            </a:r>
            <a:r>
              <a:rPr kumimoji="1" lang="en-US" altLang="zh-CN" sz="2000" dirty="0"/>
              <a:t>cache</a:t>
            </a:r>
            <a:r>
              <a:rPr kumimoji="1" lang="zh-CN" altLang="en-US" sz="2000" dirty="0"/>
              <a:t>的处理器速度倍数为：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kumimoji="1" lang="en-US" altLang="zh-CN" sz="2000" dirty="0"/>
              <a:t>11 / 1.55 = </a:t>
            </a:r>
            <a:r>
              <a:rPr kumimoji="1" lang="en-US" altLang="zh-CN" sz="2000" dirty="0">
                <a:solidFill>
                  <a:srgbClr val="1A49EA"/>
                </a:solidFill>
              </a:rPr>
              <a:t>7.10</a:t>
            </a:r>
            <a:r>
              <a:rPr kumimoji="1" lang="zh-CN" altLang="en-US" sz="2000" dirty="0">
                <a:solidFill>
                  <a:srgbClr val="1A49EA"/>
                </a:solidFill>
              </a:rPr>
              <a:t>倍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9331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性能评估：如何提高</a:t>
            </a:r>
            <a:r>
              <a:rPr lang="en-US" altLang="zh-CN" dirty="0"/>
              <a:t>Cache</a:t>
            </a:r>
            <a:r>
              <a:rPr lang="zh-CN" altLang="en-US" dirty="0"/>
              <a:t>性能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5043678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kumimoji="1" lang="zh-CN" altLang="en-US" dirty="0"/>
              <a:t>关于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性能的三点总结：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en-US" altLang="zh-CN" dirty="0">
                <a:solidFill>
                  <a:srgbClr val="1A49EA"/>
                </a:solidFill>
              </a:rPr>
              <a:t>Cache</a:t>
            </a:r>
            <a:r>
              <a:rPr kumimoji="1" lang="zh-CN" altLang="en-US" dirty="0">
                <a:solidFill>
                  <a:srgbClr val="1A49EA"/>
                </a:solidFill>
              </a:rPr>
              <a:t>的性能</a:t>
            </a:r>
          </a:p>
          <a:p>
            <a:pPr marL="1314450" lvl="2" indent="-457200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zh-CN" altLang="en-US" dirty="0"/>
              <a:t>处理器速度加快</a:t>
            </a:r>
            <a:r>
              <a:rPr kumimoji="1" lang="en-US" altLang="zh-CN" dirty="0"/>
              <a:t>(</a:t>
            </a:r>
            <a:r>
              <a:rPr kumimoji="1" lang="zh-CN" altLang="en-US" dirty="0"/>
              <a:t>降低</a:t>
            </a:r>
            <a:r>
              <a:rPr kumimoji="1" lang="en-US" altLang="zh-CN" dirty="0"/>
              <a:t>CPI or </a:t>
            </a:r>
            <a:r>
              <a:rPr kumimoji="1" lang="zh-CN" altLang="en-US" dirty="0"/>
              <a:t>提高时钟频率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，存储器阻塞周期的影响也相对增加</a:t>
            </a:r>
          </a:p>
          <a:p>
            <a:pPr marL="1314450" lvl="2" indent="-457200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en-US" altLang="zh-CN" dirty="0"/>
              <a:t>Cache</a:t>
            </a:r>
            <a:r>
              <a:rPr kumimoji="1" lang="zh-CN" altLang="en-US" dirty="0"/>
              <a:t>的容量、行大小会影响其性能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dirty="0">
                <a:solidFill>
                  <a:srgbClr val="1A49EA"/>
                </a:solidFill>
              </a:rPr>
              <a:t>利用组相联降低缺失率</a:t>
            </a:r>
          </a:p>
          <a:p>
            <a:pPr marL="1314450" lvl="2" indent="-457200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zh-CN" altLang="en-US" dirty="0"/>
              <a:t>降低缺失率 </a:t>
            </a:r>
            <a:r>
              <a:rPr kumimoji="1" lang="en-US" altLang="zh-CN" dirty="0"/>
              <a:t>vs. </a:t>
            </a:r>
            <a:r>
              <a:rPr kumimoji="1" lang="zh-CN" altLang="en-US" dirty="0"/>
              <a:t>比较器成本</a:t>
            </a:r>
          </a:p>
          <a:p>
            <a:pPr marL="914400" lvl="1" indent="-457200">
              <a:spcBef>
                <a:spcPts val="1000"/>
              </a:spcBef>
            </a:pPr>
            <a:r>
              <a:rPr kumimoji="1" lang="zh-CN" altLang="en-US" dirty="0">
                <a:solidFill>
                  <a:srgbClr val="1A49EA"/>
                </a:solidFill>
              </a:rPr>
              <a:t>利用多级</a:t>
            </a:r>
            <a:r>
              <a:rPr kumimoji="1" lang="en-US" altLang="zh-CN" dirty="0">
                <a:solidFill>
                  <a:srgbClr val="1A49EA"/>
                </a:solidFill>
              </a:rPr>
              <a:t>Cache</a:t>
            </a:r>
            <a:r>
              <a:rPr kumimoji="1" lang="zh-CN" altLang="en-US" dirty="0">
                <a:solidFill>
                  <a:srgbClr val="1A49EA"/>
                </a:solidFill>
              </a:rPr>
              <a:t>策略降低缺失损失</a:t>
            </a:r>
          </a:p>
          <a:p>
            <a:pPr marL="1314450" lvl="2" indent="-457200">
              <a:spcBef>
                <a:spcPts val="1000"/>
              </a:spcBef>
              <a:buFont typeface="Wingdings" pitchFamily="2" charset="2"/>
              <a:buChar char="Ø"/>
            </a:pPr>
            <a:r>
              <a:rPr kumimoji="1" lang="zh-CN" altLang="en-US" dirty="0"/>
              <a:t>成本和工艺的限制以及时钟频率的极限使得一级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不能做的更大</a:t>
            </a:r>
          </a:p>
        </p:txBody>
      </p:sp>
    </p:spTree>
    <p:extLst>
      <p:ext uri="{BB962C8B-B14F-4D97-AF65-F5344CB8AC3E}">
        <p14:creationId xmlns:p14="http://schemas.microsoft.com/office/powerpoint/2010/main" val="215234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B5141-35D1-4138-9D3B-B9AE6EB5A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1CFC9C-6109-4FDD-9DA7-74174F5D9E47}" type="slidenum">
              <a:rPr kumimoji="0" lang="zh-CN" altLang="en-US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4F9394-84EF-4E29-A8A8-350C05E6A71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90208"/>
            <a:ext cx="7315200" cy="199819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14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以下说法正确的是：</a:t>
            </a:r>
            <a:endParaRPr kumimoji="0" lang="zh-CN" altLang="en-US" sz="2814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43F785-CF71-4ECA-BFC9-8C73AA6B8DB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37509" y="2415986"/>
            <a:ext cx="6400799" cy="59946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的相联度不影响总的命中率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DFCFFB-2C4A-4995-9935-A4AD2F52292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37509" y="3215266"/>
            <a:ext cx="6400799" cy="59946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全相联映像中不存在冲突缺失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6BCADF-05B0-4510-AA85-0400B7D4AC4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37509" y="4014545"/>
            <a:ext cx="6400799" cy="59946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增加写缓冲能够降低</a:t>
            </a:r>
            <a:r>
              <a:rPr kumimoji="1" lang="en-US" altLang="zh-CN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CPU</a:t>
            </a: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停顿时间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D855F1-C76E-41B5-9DAA-24041B6B950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37509" y="4813826"/>
            <a:ext cx="6400799" cy="59946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采用多级</a:t>
            </a:r>
            <a:r>
              <a:rPr kumimoji="1" lang="en" altLang="zh-CN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Cache</a:t>
            </a:r>
            <a:r>
              <a:rPr kumimoji="1" lang="zh-CN" altLang="en-US" sz="2462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可以降低平均访问时间</a:t>
            </a:r>
            <a:endParaRPr kumimoji="1" lang="en-US" altLang="zh-CN" sz="2462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071B05-1428-44F2-A3AC-DA1A7D1B7B5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240525" y="2475931"/>
            <a:ext cx="479569" cy="479569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7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407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0C8356-07C5-410E-ACCD-6223E4E64BC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240525" y="3275211"/>
            <a:ext cx="479569" cy="479569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7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407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115941-8C8C-4091-AB3F-E064D3F91C6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240525" y="4074491"/>
            <a:ext cx="479569" cy="479569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7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407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492767-FEFD-4F42-BA60-4D0762B3434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240525" y="4873772"/>
            <a:ext cx="479569" cy="479568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7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407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6ACF6BB-95BB-49E1-9278-C35290113E8E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311327" y="6026660"/>
            <a:ext cx="1438704" cy="383654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7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6D425A9-A461-4F0E-B541-34680134F75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558327"/>
            <a:chOff x="-1" y="-263723"/>
            <a:chExt cx="10399713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307B9C74-614F-47D3-976C-1FDC3EEA969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-1" y="-263723"/>
              <a:ext cx="10399713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80957" tIns="40479" rIns="80957" bIns="40479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403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83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A04622FE-5370-4910-A226-4AE38F24B12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-1" y="-263723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80957" tIns="40479" rIns="80957" bIns="40479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403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83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994AD8CD-E4F8-445D-BB89-A5CB38D4650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88880" y="-263723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86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" name="TipText">
              <a:extLst>
                <a:ext uri="{FF2B5EF4-FFF2-40B4-BE49-F238E27FC236}">
                  <a16:creationId xmlns:a16="http://schemas.microsoft.com/office/drawing/2014/main" id="{3D130873-40F6-4A36-AA51-EB511EA4896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652398" y="-139504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759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1759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167D798-6227-410B-B645-C2E1984863C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1481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1552BA-4327-A147-B565-E435AE2E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432"/>
            <a:ext cx="8419171" cy="4693793"/>
          </a:xfrm>
        </p:spPr>
        <p:txBody>
          <a:bodyPr/>
          <a:lstStyle/>
          <a:p>
            <a:pPr marL="514350" indent="-457200">
              <a:spcBef>
                <a:spcPts val="1000"/>
              </a:spcBef>
            </a:pPr>
            <a:r>
              <a:rPr lang="zh-CN" altLang="en-US" dirty="0"/>
              <a:t>习题解析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r>
              <a:rPr lang="zh-CN" altLang="en-US" sz="2400" dirty="0"/>
              <a:t>错误，提高相联度是有可能提高命中率的，但往往在相联度很高时再提升相联度，命中率提升不明显</a:t>
            </a:r>
            <a:endParaRPr lang="en-US" altLang="zh-CN" sz="2400" dirty="0"/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r>
              <a:rPr lang="zh-CN" altLang="en-US" sz="2400" dirty="0">
                <a:solidFill>
                  <a:srgbClr val="1A49EA"/>
                </a:solidFill>
              </a:rPr>
              <a:t>正确，冲突缺失在直接映像和组相联映像中存在</a:t>
            </a:r>
            <a:endParaRPr lang="en-US" altLang="zh-CN" sz="2400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r>
              <a:rPr lang="zh-CN" altLang="en-US" sz="2400" dirty="0">
                <a:solidFill>
                  <a:srgbClr val="1A49EA"/>
                </a:solidFill>
              </a:rPr>
              <a:t>正确，写缓冲可以使</a:t>
            </a:r>
            <a:r>
              <a:rPr lang="en-US" altLang="zh-CN" sz="2400" dirty="0">
                <a:solidFill>
                  <a:srgbClr val="1A49EA"/>
                </a:solidFill>
              </a:rPr>
              <a:t>CPU</a:t>
            </a:r>
            <a:r>
              <a:rPr lang="zh-CN" altLang="en-US" sz="2400" dirty="0">
                <a:solidFill>
                  <a:srgbClr val="1A49EA"/>
                </a:solidFill>
              </a:rPr>
              <a:t>不必等待写操作完成而去处理其他指令。需要对写缓冲容量进行权衡</a:t>
            </a:r>
            <a:endParaRPr lang="en-US" altLang="zh-CN" sz="2400" dirty="0">
              <a:solidFill>
                <a:srgbClr val="1A49EA"/>
              </a:solidFill>
            </a:endParaRPr>
          </a:p>
          <a:p>
            <a:pPr marL="914400" lvl="1" indent="-457200">
              <a:spcBef>
                <a:spcPts val="1000"/>
              </a:spcBef>
              <a:buFont typeface="+mj-lt"/>
              <a:buAutoNum type="alphaUcPeriod"/>
            </a:pPr>
            <a:r>
              <a:rPr lang="zh-CN" altLang="en-US" sz="2400" dirty="0">
                <a:solidFill>
                  <a:srgbClr val="1A49EA"/>
                </a:solidFill>
              </a:rPr>
              <a:t>正确，多级</a:t>
            </a:r>
            <a:r>
              <a:rPr lang="en-US" altLang="zh-CN" sz="2400" dirty="0">
                <a:solidFill>
                  <a:srgbClr val="1A49EA"/>
                </a:solidFill>
              </a:rPr>
              <a:t>cache</a:t>
            </a:r>
            <a:r>
              <a:rPr lang="zh-CN" altLang="en-US" sz="2400" dirty="0">
                <a:solidFill>
                  <a:srgbClr val="1A49EA"/>
                </a:solidFill>
              </a:rPr>
              <a:t>可以有效降低平均访问时间并提高命中率</a:t>
            </a:r>
            <a:r>
              <a:rPr kumimoji="1" lang="zh-CN" altLang="en-US" sz="2400" dirty="0">
                <a:solidFill>
                  <a:srgbClr val="1A49EA"/>
                </a:solidFill>
              </a:rPr>
              <a:t>。需要对</a:t>
            </a:r>
            <a:r>
              <a:rPr kumimoji="1" lang="en-US" altLang="zh-CN" sz="2400" dirty="0">
                <a:solidFill>
                  <a:srgbClr val="1A49EA"/>
                </a:solidFill>
              </a:rPr>
              <a:t>cache</a:t>
            </a:r>
            <a:r>
              <a:rPr kumimoji="1" lang="zh-CN" altLang="en-US" sz="2400" dirty="0">
                <a:solidFill>
                  <a:srgbClr val="1A49EA"/>
                </a:solidFill>
              </a:rPr>
              <a:t>的级数进行权衡</a:t>
            </a:r>
            <a:endParaRPr kumimoji="1" lang="en-US" altLang="zh-CN" sz="2400" dirty="0">
              <a:solidFill>
                <a:srgbClr val="1A49EA"/>
              </a:solidFill>
            </a:endParaRPr>
          </a:p>
        </p:txBody>
      </p:sp>
      <p:sp>
        <p:nvSpPr>
          <p:cNvPr id="8" name="ColorBlock">
            <a:extLst>
              <a:ext uri="{FF2B5EF4-FFF2-40B4-BE49-F238E27FC236}">
                <a16:creationId xmlns:a16="http://schemas.microsoft.com/office/drawing/2014/main" id="{23A19480-F7DB-4F9F-BA15-4EA068C7ED9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0" y="0"/>
            <a:ext cx="167498" cy="558327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957" tIns="40479" rIns="80957" bIns="40479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40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83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9" name="TypeText">
            <a:extLst>
              <a:ext uri="{FF2B5EF4-FFF2-40B4-BE49-F238E27FC236}">
                <a16:creationId xmlns:a16="http://schemas.microsoft.com/office/drawing/2014/main" id="{B555BA6E-7109-47A4-8363-2192D53AE2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0"/>
            <a:ext cx="1674981" cy="558327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86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Quiz3 </a:t>
            </a:r>
            <a:r>
              <a:rPr kumimoji="0" lang="zh-CN" altLang="en-US" sz="2286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rPr>
              <a:t>多选题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AE02CDD-DD64-4A35-A2F0-DA56EC150DB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558327"/>
            <a:chOff x="-1" y="-263723"/>
            <a:chExt cx="10399713" cy="635000"/>
          </a:xfrm>
        </p:grpSpPr>
        <p:sp>
          <p:nvSpPr>
            <p:cNvPr id="11" name="TitleBackground">
              <a:extLst>
                <a:ext uri="{FF2B5EF4-FFF2-40B4-BE49-F238E27FC236}">
                  <a16:creationId xmlns:a16="http://schemas.microsoft.com/office/drawing/2014/main" id="{E637EA90-30E7-4674-91BA-3E9B9B70DFD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-1" y="-263723"/>
              <a:ext cx="10399713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80957" tIns="40479" rIns="80957" bIns="40479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403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83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2" name="ColorBlock">
              <a:extLst>
                <a:ext uri="{FF2B5EF4-FFF2-40B4-BE49-F238E27FC236}">
                  <a16:creationId xmlns:a16="http://schemas.microsoft.com/office/drawing/2014/main" id="{25B1B6D3-5E28-4F06-9D5C-F9542DCFD7D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-1" y="-263723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80957" tIns="40479" rIns="80957" bIns="40479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403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83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3" name="TypeText">
              <a:extLst>
                <a:ext uri="{FF2B5EF4-FFF2-40B4-BE49-F238E27FC236}">
                  <a16:creationId xmlns:a16="http://schemas.microsoft.com/office/drawing/2014/main" id="{7F7914D4-7441-4C86-B618-7DC700F52AF1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88880" y="-263723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86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习题解析 答案：</a:t>
              </a:r>
              <a:r>
                <a:rPr kumimoji="0" lang="en-US" altLang="zh-CN" sz="2286" u="none" strike="noStrike" kern="1200" cap="none" spc="0" normalizeH="0" baseline="0" noProof="0" dirty="0">
                  <a:ln>
                    <a:noFill/>
                  </a:ln>
                  <a:solidFill>
                    <a:srgbClr val="1A49EA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BCD</a:t>
              </a:r>
              <a:endParaRPr kumimoji="0" lang="zh-CN" altLang="en-US" sz="2286" u="none" strike="noStrike" kern="1200" cap="none" spc="0" normalizeH="0" baseline="0" noProof="0" dirty="0">
                <a:ln>
                  <a:noFill/>
                </a:ln>
                <a:solidFill>
                  <a:srgbClr val="1A49EA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7567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59143-A02A-4166-9B46-6435F5E7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7F2CCD-FAF3-4270-B3C2-C4DB30E67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952885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</a:rPr>
              <a:t>存储系统基础：半导体存储器</a:t>
            </a:r>
            <a:endParaRPr lang="en-US" altLang="zh-CN" dirty="0">
              <a:solidFill>
                <a:srgbClr val="0432FF"/>
              </a:solidFill>
            </a:endParaRPr>
          </a:p>
          <a:p>
            <a:pPr lvl="1"/>
            <a:r>
              <a:rPr lang="en-US" altLang="zh-CN" sz="2400" dirty="0"/>
              <a:t>SRAM</a:t>
            </a:r>
            <a:r>
              <a:rPr lang="zh-CN" altLang="en-US" sz="2400" dirty="0"/>
              <a:t>、</a:t>
            </a:r>
            <a:r>
              <a:rPr lang="en-US" altLang="zh-CN" sz="2400" dirty="0"/>
              <a:t>DRAM</a:t>
            </a:r>
            <a:r>
              <a:rPr lang="zh-CN" altLang="en-US" sz="2400" dirty="0"/>
              <a:t>的基本电路、读写流程及各自特点</a:t>
            </a:r>
            <a:endParaRPr lang="en-US" altLang="zh-CN" sz="2400" dirty="0"/>
          </a:p>
          <a:p>
            <a:pPr lvl="1"/>
            <a:r>
              <a:rPr lang="zh-CN" altLang="en-US" sz="2400" dirty="0"/>
              <a:t>存储器的三个基本参数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r>
              <a:rPr lang="zh-CN" altLang="en-US" dirty="0">
                <a:solidFill>
                  <a:srgbClr val="0432FF"/>
                </a:solidFill>
              </a:rPr>
              <a:t>存储系统的设计理论</a:t>
            </a:r>
            <a:endParaRPr lang="en-US" altLang="zh-CN" dirty="0">
              <a:solidFill>
                <a:srgbClr val="0432FF"/>
              </a:solidFill>
            </a:endParaRPr>
          </a:p>
          <a:p>
            <a:pPr lvl="1"/>
            <a:r>
              <a:rPr lang="zh-CN" altLang="en-US" sz="2400" dirty="0"/>
              <a:t>局部性原理：时间局部性、空间局部性</a:t>
            </a:r>
            <a:endParaRPr lang="en-US" altLang="zh-CN" sz="2400" dirty="0"/>
          </a:p>
          <a:p>
            <a:pPr lvl="1"/>
            <a:r>
              <a:rPr lang="zh-CN" altLang="en-US" sz="2400" dirty="0"/>
              <a:t>存储器层次结构及其性能指标</a:t>
            </a:r>
            <a:endParaRPr lang="en-US" altLang="zh-C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75CA3-D753-C240-B995-BC67CCE6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694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59143-A02A-4166-9B46-6435F5E7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7F2CCD-FAF3-4270-B3C2-C4DB30E67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1A49EA"/>
                </a:solidFill>
              </a:rPr>
              <a:t>Cache</a:t>
            </a:r>
            <a:r>
              <a:rPr lang="zh-CN" altLang="en-US" dirty="0">
                <a:solidFill>
                  <a:srgbClr val="1A49EA"/>
                </a:solidFill>
              </a:rPr>
              <a:t>技术</a:t>
            </a:r>
            <a:endParaRPr lang="en-US" altLang="zh-CN" dirty="0">
              <a:solidFill>
                <a:srgbClr val="1A49EA"/>
              </a:solidFill>
            </a:endParaRPr>
          </a:p>
          <a:p>
            <a:pPr lvl="1"/>
            <a:r>
              <a:rPr lang="en-US" altLang="zh-CN" sz="2400" dirty="0"/>
              <a:t>Cache</a:t>
            </a:r>
            <a:r>
              <a:rPr lang="zh-CN" altLang="en-US" sz="2400" dirty="0"/>
              <a:t>基本结构、</a:t>
            </a:r>
            <a:r>
              <a:rPr lang="en-US" altLang="zh-CN" sz="2400" dirty="0"/>
              <a:t>Cache</a:t>
            </a:r>
            <a:r>
              <a:rPr lang="zh-CN" altLang="en-US" sz="2400" dirty="0"/>
              <a:t>存储体结构</a:t>
            </a:r>
            <a:endParaRPr lang="en-US" altLang="zh-CN" sz="2400" dirty="0"/>
          </a:p>
          <a:p>
            <a:pPr lvl="1"/>
            <a:r>
              <a:rPr lang="en-US" altLang="zh-CN" sz="2400" dirty="0"/>
              <a:t>Cache</a:t>
            </a:r>
            <a:r>
              <a:rPr lang="zh-CN" altLang="en-US" sz="2400" dirty="0"/>
              <a:t>的地址映像机构，三种地址映像方式：直接相联映像、全相联映像、组相联映像</a:t>
            </a:r>
            <a:endParaRPr lang="en-US" altLang="zh-CN" sz="2400" dirty="0"/>
          </a:p>
          <a:p>
            <a:pPr lvl="1"/>
            <a:r>
              <a:rPr lang="zh-CN" altLang="en-US" sz="2400" dirty="0"/>
              <a:t>读数据时的替换操作：随机法、</a:t>
            </a:r>
            <a:r>
              <a:rPr lang="en-US" altLang="zh-CN" sz="2400" dirty="0"/>
              <a:t>FIFO</a:t>
            </a:r>
            <a:r>
              <a:rPr lang="zh-CN" altLang="en-US" sz="2400" dirty="0"/>
              <a:t>、</a:t>
            </a:r>
            <a:r>
              <a:rPr lang="en-US" altLang="zh-CN" sz="2400" dirty="0"/>
              <a:t>LRU</a:t>
            </a:r>
          </a:p>
          <a:p>
            <a:pPr lvl="1"/>
            <a:r>
              <a:rPr lang="zh-CN" altLang="en-US" sz="2400" dirty="0"/>
              <a:t>写数据时的更新操作：写通过、写回</a:t>
            </a:r>
            <a:endParaRPr lang="en-US" altLang="zh-CN" sz="2400" dirty="0"/>
          </a:p>
          <a:p>
            <a:r>
              <a:rPr lang="en-US" altLang="zh-CN" dirty="0">
                <a:solidFill>
                  <a:srgbClr val="1A49EA"/>
                </a:solidFill>
              </a:rPr>
              <a:t>Cache</a:t>
            </a:r>
            <a:r>
              <a:rPr lang="zh-CN" altLang="en-US" dirty="0">
                <a:solidFill>
                  <a:srgbClr val="1A49EA"/>
                </a:solidFill>
              </a:rPr>
              <a:t>性能评估</a:t>
            </a:r>
            <a:endParaRPr lang="en-US" altLang="zh-CN" dirty="0">
              <a:solidFill>
                <a:srgbClr val="1A49EA"/>
              </a:solidFill>
            </a:endParaRPr>
          </a:p>
          <a:p>
            <a:pPr lvl="1"/>
            <a:r>
              <a:rPr lang="en-US" altLang="zh-CN" sz="2400" dirty="0"/>
              <a:t>3C</a:t>
            </a:r>
            <a:r>
              <a:rPr lang="zh-CN" altLang="en-US" sz="2400" dirty="0"/>
              <a:t>原则：强迫性缺失、容量缺失、冲突缺失</a:t>
            </a:r>
            <a:endParaRPr lang="en-US" altLang="zh-CN" sz="2400" dirty="0"/>
          </a:p>
          <a:p>
            <a:pPr lvl="1"/>
            <a:r>
              <a:rPr lang="en-US" altLang="zh-CN" sz="2400" dirty="0"/>
              <a:t>Cache</a:t>
            </a:r>
            <a:r>
              <a:rPr lang="zh-CN" altLang="en-US" sz="2400" dirty="0"/>
              <a:t>的评价指标</a:t>
            </a:r>
            <a:endParaRPr lang="en-US" altLang="zh-CN" sz="2400" dirty="0"/>
          </a:p>
          <a:p>
            <a:pPr lvl="1"/>
            <a:r>
              <a:rPr lang="zh-CN" altLang="en-US" sz="2400" dirty="0"/>
              <a:t>多级</a:t>
            </a:r>
            <a:r>
              <a:rPr lang="en-US" altLang="zh-CN" sz="2400" dirty="0"/>
              <a:t>cache</a:t>
            </a:r>
            <a:r>
              <a:rPr lang="zh-CN" altLang="en-US" sz="2400" dirty="0"/>
              <a:t>策略简介</a:t>
            </a:r>
            <a:endParaRPr lang="en-US" altLang="zh-CN" sz="2800" dirty="0"/>
          </a:p>
          <a:p>
            <a:pPr lvl="1"/>
            <a:endParaRPr lang="en-US" altLang="zh-C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75CA3-D753-C240-B995-BC67CCE6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4834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0" y="1781833"/>
            <a:ext cx="9144000" cy="211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第八讲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存储器与总线外设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3-2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部分</a:t>
            </a:r>
            <a:r>
              <a:rPr lang="zh-CN" altLang="en-US" sz="3600" b="1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  <a:r>
              <a:rPr lang="zh-CN" altLang="en-US" sz="3600" b="1" dirty="0">
                <a:solidFill>
                  <a:srgbClr val="000000"/>
                </a:solidFill>
                <a:latin typeface="+mj-lt"/>
                <a:ea typeface="SimHei" panose="02010609060101010101" pitchFamily="49" charset="-122"/>
              </a:rPr>
              <a:t>总线和外设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</a:endParaRPr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0" y="12357"/>
            <a:ext cx="9144000" cy="13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数字逻辑与处理器基础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Fundamentals of Digital Logic and Processor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12905A9-55FE-858D-BCE4-8A7F5E0DF7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3842795"/>
            <a:ext cx="9143999" cy="276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李学清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#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腾讯会议：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858-8541-2550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2024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年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itchFamily="2" charset="-122"/>
                <a:cs typeface="+mn-cs"/>
              </a:rPr>
              <a:t>日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983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D783A-F73E-4EC8-9D21-6A94B487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本节课内容和目标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3A1CB8-7F83-4444-9EFA-AF2B714BD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8685"/>
            <a:ext cx="8229600" cy="5439316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知识点：概念、原理和指标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基本总线拓扑结构、分类、数据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I/O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和外围连接的应用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能力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用总线连接多个设备的基本原则和方法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思想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时空：信息（数据、控制等）互连和权衡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不重点考察，可能会考察相关简单概念，但不会考察相关计算和具体实现细节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AE928-7AE7-41C6-9535-7914BCA6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06CE5-282B-4233-8654-09F35EA875E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283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>
                <a:solidFill>
                  <a:srgbClr val="1A49EA"/>
                </a:solidFill>
              </a:rPr>
              <a:t>引言</a:t>
            </a:r>
            <a:endParaRPr lang="en-US" altLang="zh-CN" dirty="0">
              <a:solidFill>
                <a:srgbClr val="1A49EA"/>
              </a:solidFill>
            </a:endParaRPr>
          </a:p>
          <a:p>
            <a:pPr marL="342900" lvl="1" indent="-342900">
              <a:buFontTx/>
              <a:buChar char="•"/>
            </a:pPr>
            <a:r>
              <a:rPr lang="zh-CN" altLang="en-US" sz="3200" dirty="0"/>
              <a:t>总线的拓扑结构及分类</a:t>
            </a:r>
            <a:endParaRPr lang="en-US" altLang="zh-CN" dirty="0"/>
          </a:p>
          <a:p>
            <a:r>
              <a:rPr lang="zh-CN" altLang="en-US" dirty="0"/>
              <a:t>总线通信原理</a:t>
            </a:r>
            <a:endParaRPr lang="en-US" altLang="zh-CN" dirty="0"/>
          </a:p>
          <a:p>
            <a:r>
              <a:rPr lang="zh-CN" altLang="en-US" dirty="0"/>
              <a:t>外设工作原理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45</a:t>
            </a:fld>
            <a:endParaRPr lang="en-US" altLang="zh-CN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D72F88C-7FA3-126E-511F-0BFFA4ADB7F9}"/>
                  </a:ext>
                </a:extLst>
              </p14:cNvPr>
              <p14:cNvContentPartPr/>
              <p14:nvPr/>
            </p14:nvContentPartPr>
            <p14:xfrm>
              <a:off x="6513120" y="2380680"/>
              <a:ext cx="360" cy="3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D72F88C-7FA3-126E-511F-0BFFA4ADB7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3760" y="23713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57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知识回顾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4865A5B-F969-E54D-9B34-6126A1E6E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3784"/>
            <a:ext cx="8229600" cy="1143001"/>
          </a:xfrm>
        </p:spPr>
        <p:txBody>
          <a:bodyPr/>
          <a:lstStyle/>
          <a:p>
            <a:r>
              <a:rPr lang="zh-CN" altLang="en-US" dirty="0"/>
              <a:t>典型的计算机体系架构</a:t>
            </a:r>
            <a:endParaRPr lang="en-US" altLang="zh-CN" dirty="0"/>
          </a:p>
          <a:p>
            <a:pPr lvl="1"/>
            <a:r>
              <a:rPr lang="zh-CN" altLang="en-US" dirty="0"/>
              <a:t>冯</a:t>
            </a:r>
            <a:r>
              <a:rPr lang="en-US" altLang="zh-CN" dirty="0"/>
              <a:t>·</a:t>
            </a:r>
            <a:r>
              <a:rPr lang="zh-CN" altLang="en-US" dirty="0"/>
              <a:t>诺伊曼架构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A6500DA-DFB7-EF1D-4B26-C517ED3485FA}"/>
              </a:ext>
            </a:extLst>
          </p:cNvPr>
          <p:cNvGrpSpPr/>
          <p:nvPr/>
        </p:nvGrpSpPr>
        <p:grpSpPr>
          <a:xfrm>
            <a:off x="928927" y="2579987"/>
            <a:ext cx="7286146" cy="4054008"/>
            <a:chOff x="928927" y="2579987"/>
            <a:chExt cx="7286146" cy="4054008"/>
          </a:xfrm>
        </p:grpSpPr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AEBD1E17-76AA-4444-A7C2-F7B9844DC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5112" y="6398370"/>
              <a:ext cx="781050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05683AAD-C42D-FB42-B927-85B411CA3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012" y="6401545"/>
              <a:ext cx="692150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" name="Rectangle 23">
              <a:extLst>
                <a:ext uri="{FF2B5EF4-FFF2-40B4-BE49-F238E27FC236}">
                  <a16:creationId xmlns:a16="http://schemas.microsoft.com/office/drawing/2014/main" id="{B7901AE3-BA94-894C-B909-6A69D7B41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982" y="4026365"/>
              <a:ext cx="2823656" cy="1888892"/>
            </a:xfrm>
            <a:prstGeom prst="rect">
              <a:avLst/>
            </a:prstGeom>
            <a:solidFill>
              <a:schemeClr val="accent2">
                <a:alpha val="23921"/>
              </a:schemeClr>
            </a:solidFill>
            <a:ln w="12700" algn="ctr">
              <a:solidFill>
                <a:schemeClr val="tx1"/>
              </a:solidFill>
              <a:prstDash val="lgDash"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178B68F-F43D-3F46-A78E-6A14EA303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8358" y="4494646"/>
              <a:ext cx="1009076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C172C3FF-41A4-6C46-A685-585BDF05C6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7079" y="3678699"/>
              <a:ext cx="0" cy="536358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E00D3415-6777-ED43-93B9-8316E14C2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5810" y="3381805"/>
              <a:ext cx="480373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B2408224-EAD1-0E46-94DD-F37193EE0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183" y="3358256"/>
              <a:ext cx="0" cy="1907665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A339AA54-015F-D94D-8F89-D69376D1F1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6723" y="5265921"/>
              <a:ext cx="559459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6D018F77-7B9B-AB43-9C86-043F3CFA10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5988" y="4818390"/>
              <a:ext cx="0" cy="35112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3A9F63B1-DAEF-1840-8AA4-2E057E1E0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7191" y="5476644"/>
              <a:ext cx="94024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291CE73C-4E65-EB43-9407-23F9B8BB39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5810" y="5476644"/>
              <a:ext cx="95928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2355A130-4C91-CF42-AB00-641007A85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7611" y="5336162"/>
              <a:ext cx="39982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5AEBE6A9-A20A-3A47-92F4-6CE3B821F8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7612" y="3374584"/>
              <a:ext cx="0" cy="196157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840847EC-8F16-C54B-BCBF-E3A1C9DE3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7359" y="3381805"/>
              <a:ext cx="399823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0D428069-39A1-7E44-A77C-9C3FCCC69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7079" y="4774312"/>
              <a:ext cx="0" cy="352503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EC4E6057-77A0-9840-9BF9-BC32D804F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5810" y="4494646"/>
              <a:ext cx="969533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EB69061E-D348-E843-AC46-1EB1E767C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927" y="4494646"/>
              <a:ext cx="719095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F0D90CD6-397B-5A4D-B4C7-18BBEFEE7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13" y="4494646"/>
              <a:ext cx="720560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B26DEDB6-6064-2C47-94D0-A8DFD8C83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4243" y="2617193"/>
              <a:ext cx="3056870" cy="3498435"/>
            </a:xfrm>
            <a:prstGeom prst="rect">
              <a:avLst/>
            </a:prstGeom>
            <a:noFill/>
            <a:ln w="25400" algn="ctr">
              <a:solidFill>
                <a:schemeClr val="hlink"/>
              </a:solidFill>
              <a:prstDash val="dash"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86D1C578-290D-084C-A73C-2CCD3864B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2148" y="2579987"/>
              <a:ext cx="1646087" cy="533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1678" tIns="50840" rIns="101678" bIns="50840">
              <a:spAutoFit/>
            </a:bodyPr>
            <a:lstStyle>
              <a:lvl1pPr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ctr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主机系统</a:t>
              </a: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3A45645-5BDB-7046-A8AB-8463095DD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331" y="3095847"/>
              <a:ext cx="65904" cy="608241"/>
            </a:xfrm>
            <a:custGeom>
              <a:avLst/>
              <a:gdLst>
                <a:gd name="T0" fmla="*/ 0 w 39"/>
                <a:gd name="T1" fmla="*/ 2147483647 h 415"/>
                <a:gd name="T2" fmla="*/ 0 w 39"/>
                <a:gd name="T3" fmla="*/ 2147483647 h 415"/>
                <a:gd name="T4" fmla="*/ 2147483647 w 39"/>
                <a:gd name="T5" fmla="*/ 0 h 415"/>
                <a:gd name="T6" fmla="*/ 2147483647 w 39"/>
                <a:gd name="T7" fmla="*/ 2147483647 h 415"/>
                <a:gd name="T8" fmla="*/ 0 w 39"/>
                <a:gd name="T9" fmla="*/ 2147483647 h 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15">
                  <a:moveTo>
                    <a:pt x="0" y="415"/>
                  </a:moveTo>
                  <a:lnTo>
                    <a:pt x="0" y="37"/>
                  </a:lnTo>
                  <a:lnTo>
                    <a:pt x="39" y="0"/>
                  </a:lnTo>
                  <a:lnTo>
                    <a:pt x="39" y="376"/>
                  </a:lnTo>
                  <a:lnTo>
                    <a:pt x="0" y="415"/>
                  </a:lnTo>
                  <a:close/>
                </a:path>
              </a:pathLst>
            </a:custGeom>
            <a:solidFill>
              <a:srgbClr val="E1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2EAC59B9-D257-7448-B25D-8E39E20767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3646028"/>
              <a:ext cx="65904" cy="58059"/>
            </a:xfrm>
            <a:prstGeom prst="line">
              <a:avLst/>
            </a:prstGeom>
            <a:noFill/>
            <a:ln w="3175">
              <a:solidFill>
                <a:srgbClr val="E1B4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3EF395E-FC33-4E47-AB2D-BEF62EB7A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355" y="3097887"/>
              <a:ext cx="1698880" cy="53912"/>
            </a:xfrm>
            <a:custGeom>
              <a:avLst/>
              <a:gdLst>
                <a:gd name="T0" fmla="*/ 2147483647 w 1020"/>
                <a:gd name="T1" fmla="*/ 2147483647 h 37"/>
                <a:gd name="T2" fmla="*/ 0 w 1020"/>
                <a:gd name="T3" fmla="*/ 2147483647 h 37"/>
                <a:gd name="T4" fmla="*/ 2147483647 w 1020"/>
                <a:gd name="T5" fmla="*/ 0 h 37"/>
                <a:gd name="T6" fmla="*/ 2147483647 w 1020"/>
                <a:gd name="T7" fmla="*/ 0 h 37"/>
                <a:gd name="T8" fmla="*/ 2147483647 w 1020"/>
                <a:gd name="T9" fmla="*/ 214748364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0" h="37">
                  <a:moveTo>
                    <a:pt x="981" y="37"/>
                  </a:moveTo>
                  <a:lnTo>
                    <a:pt x="0" y="37"/>
                  </a:lnTo>
                  <a:lnTo>
                    <a:pt x="37" y="0"/>
                  </a:lnTo>
                  <a:lnTo>
                    <a:pt x="1020" y="0"/>
                  </a:lnTo>
                  <a:lnTo>
                    <a:pt x="981" y="37"/>
                  </a:lnTo>
                  <a:close/>
                </a:path>
              </a:pathLst>
            </a:custGeom>
            <a:solidFill>
              <a:srgbClr val="987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D461B2A9-A794-0845-BC5A-A42AEC6CE4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3097887"/>
              <a:ext cx="65904" cy="53912"/>
            </a:xfrm>
            <a:prstGeom prst="line">
              <a:avLst/>
            </a:prstGeom>
            <a:noFill/>
            <a:ln w="3175">
              <a:solidFill>
                <a:srgbClr val="98795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BF9413E-B0A6-DD4B-BCB5-BBAB6FC98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355" y="3149759"/>
              <a:ext cx="1632976" cy="554329"/>
            </a:xfrm>
            <a:prstGeom prst="rect">
              <a:avLst/>
            </a:prstGeom>
            <a:solidFill>
              <a:srgbClr val="C49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9380C606-D618-324E-A8FF-8BA1A891B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3149759"/>
              <a:ext cx="1465" cy="554329"/>
            </a:xfrm>
            <a:prstGeom prst="line">
              <a:avLst/>
            </a:prstGeom>
            <a:noFill/>
            <a:ln w="26988">
              <a:solidFill>
                <a:srgbClr val="D6AB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0DEB6180-3712-FF4A-8033-453833694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3704083"/>
              <a:ext cx="1632976" cy="1382"/>
            </a:xfrm>
            <a:prstGeom prst="line">
              <a:avLst/>
            </a:prstGeom>
            <a:noFill/>
            <a:ln w="26988">
              <a:solidFill>
                <a:srgbClr val="B7926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92041B90-A47E-FF42-B900-06A91169D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3149759"/>
              <a:ext cx="1464" cy="554329"/>
            </a:xfrm>
            <a:prstGeom prst="line">
              <a:avLst/>
            </a:prstGeom>
            <a:noFill/>
            <a:ln w="26988">
              <a:solidFill>
                <a:srgbClr val="EABB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D206653E-CF55-8C42-8F10-5668C2CD8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9354" y="3151794"/>
              <a:ext cx="1632976" cy="1383"/>
            </a:xfrm>
            <a:prstGeom prst="line">
              <a:avLst/>
            </a:prstGeom>
            <a:noFill/>
            <a:ln w="26988">
              <a:solidFill>
                <a:srgbClr val="B7926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F8FEA1C-B0C9-CC42-8AC7-563CB0665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809" y="3231681"/>
              <a:ext cx="114967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存储器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15BB25E-710B-B245-924F-6F30F38A6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325" y="3358321"/>
              <a:ext cx="64440" cy="2264316"/>
            </a:xfrm>
            <a:custGeom>
              <a:avLst/>
              <a:gdLst>
                <a:gd name="T0" fmla="*/ 0 w 39"/>
                <a:gd name="T1" fmla="*/ 2147483647 h 1545"/>
                <a:gd name="T2" fmla="*/ 0 w 39"/>
                <a:gd name="T3" fmla="*/ 2147483647 h 1545"/>
                <a:gd name="T4" fmla="*/ 2147483647 w 39"/>
                <a:gd name="T5" fmla="*/ 0 h 1545"/>
                <a:gd name="T6" fmla="*/ 2147483647 w 39"/>
                <a:gd name="T7" fmla="*/ 2147483647 h 1545"/>
                <a:gd name="T8" fmla="*/ 0 w 39"/>
                <a:gd name="T9" fmla="*/ 2147483647 h 15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5">
                  <a:moveTo>
                    <a:pt x="0" y="1545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5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25BBBB86-2F80-B847-AABC-C44CC277F0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0325" y="5568724"/>
              <a:ext cx="64440" cy="53912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279A5C8-F030-C741-AFBD-26A1938D6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0698" y="3366446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74C805BB-9EC4-894F-BA2B-3ED69E411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0325" y="3366446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3A7D2D2-CDA6-664B-8E7B-09293B7A6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950" y="3414998"/>
              <a:ext cx="1088162" cy="2207639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2732CEAB-A69A-544E-B91E-7F7D2242D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0698" y="3414998"/>
              <a:ext cx="1465" cy="2207639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ED08C634-50D5-844C-BB24-14A287F178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0698" y="5622630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AB06C39A-AE04-A549-89FB-4FF6DABAC6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0325" y="3414997"/>
              <a:ext cx="1465" cy="2207639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82424AE9-214D-1F4E-A1CF-929CB900F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50698" y="3423118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62678D2-7492-6444-86F0-745B85A28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3463" y="4133632"/>
              <a:ext cx="715403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输出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设备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6" name="Rectangle 47">
              <a:extLst>
                <a:ext uri="{FF2B5EF4-FFF2-40B4-BE49-F238E27FC236}">
                  <a16:creationId xmlns:a16="http://schemas.microsoft.com/office/drawing/2014/main" id="{401F16E7-4601-1341-86C1-7F8F6D326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107" y="4511173"/>
              <a:ext cx="86562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 </a:t>
              </a:r>
              <a:endParaRPr kumimoji="0" lang="zh-CN" altLang="en-US" sz="15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0C83ADDF-93D5-164A-8401-504F0FF8D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003" y="3358309"/>
              <a:ext cx="64440" cy="2267081"/>
            </a:xfrm>
            <a:custGeom>
              <a:avLst/>
              <a:gdLst>
                <a:gd name="T0" fmla="*/ 0 w 39"/>
                <a:gd name="T1" fmla="*/ 2147483647 h 1547"/>
                <a:gd name="T2" fmla="*/ 0 w 39"/>
                <a:gd name="T3" fmla="*/ 2147483647 h 1547"/>
                <a:gd name="T4" fmla="*/ 2147483647 w 39"/>
                <a:gd name="T5" fmla="*/ 0 h 1547"/>
                <a:gd name="T6" fmla="*/ 2147483647 w 39"/>
                <a:gd name="T7" fmla="*/ 2147483647 h 1547"/>
                <a:gd name="T8" fmla="*/ 0 w 39"/>
                <a:gd name="T9" fmla="*/ 2147483647 h 15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7">
                  <a:moveTo>
                    <a:pt x="0" y="154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7456AD2B-68DE-8C4D-BC21-0DFB87189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3003" y="5568713"/>
              <a:ext cx="64440" cy="56676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9" name="Freeform 50">
              <a:extLst>
                <a:ext uri="{FF2B5EF4-FFF2-40B4-BE49-F238E27FC236}">
                  <a16:creationId xmlns:a16="http://schemas.microsoft.com/office/drawing/2014/main" id="{770ACF1E-34AE-9645-A26F-200ECF514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377" y="3366446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0" name="Line 51">
              <a:extLst>
                <a:ext uri="{FF2B5EF4-FFF2-40B4-BE49-F238E27FC236}">
                  <a16:creationId xmlns:a16="http://schemas.microsoft.com/office/drawing/2014/main" id="{B0C629A2-DBB6-C442-87EA-6EB00B558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3003" y="3366446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1" name="Rectangle 52">
              <a:extLst>
                <a:ext uri="{FF2B5EF4-FFF2-40B4-BE49-F238E27FC236}">
                  <a16:creationId xmlns:a16="http://schemas.microsoft.com/office/drawing/2014/main" id="{9DF696C7-AED8-084C-BB32-19E540CEA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377" y="3414987"/>
              <a:ext cx="1089627" cy="2210404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2" name="Line 53">
              <a:extLst>
                <a:ext uri="{FF2B5EF4-FFF2-40B4-BE49-F238E27FC236}">
                  <a16:creationId xmlns:a16="http://schemas.microsoft.com/office/drawing/2014/main" id="{91C5BF90-0054-4745-87F3-A324DD008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377" y="3414987"/>
              <a:ext cx="1464" cy="2210404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3" name="Line 54">
              <a:extLst>
                <a:ext uri="{FF2B5EF4-FFF2-40B4-BE49-F238E27FC236}">
                  <a16:creationId xmlns:a16="http://schemas.microsoft.com/office/drawing/2014/main" id="{40B258E9-8DD0-F74E-B336-8F5BF97FE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377" y="5625385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4" name="Line 55">
              <a:extLst>
                <a:ext uri="{FF2B5EF4-FFF2-40B4-BE49-F238E27FC236}">
                  <a16:creationId xmlns:a16="http://schemas.microsoft.com/office/drawing/2014/main" id="{E0E1ADE5-C6E1-364D-BF09-0CBF137DB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3003" y="3414987"/>
              <a:ext cx="1464" cy="2210404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5" name="Line 56">
              <a:extLst>
                <a:ext uri="{FF2B5EF4-FFF2-40B4-BE49-F238E27FC236}">
                  <a16:creationId xmlns:a16="http://schemas.microsoft.com/office/drawing/2014/main" id="{4D06CC98-3544-994E-85DD-FB1E04CB2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3377" y="3423118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6" name="Rectangle 57">
              <a:extLst>
                <a:ext uri="{FF2B5EF4-FFF2-40B4-BE49-F238E27FC236}">
                  <a16:creationId xmlns:a16="http://schemas.microsoft.com/office/drawing/2014/main" id="{8EDD2795-5848-4944-B5FA-309225707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9298" y="4079797"/>
              <a:ext cx="725478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输入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设备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7" name="Rectangle 58">
              <a:extLst>
                <a:ext uri="{FF2B5EF4-FFF2-40B4-BE49-F238E27FC236}">
                  <a16:creationId xmlns:a16="http://schemas.microsoft.com/office/drawing/2014/main" id="{5A95A0D9-92B2-0A45-ACC8-0EBD3F81C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785" y="4148948"/>
              <a:ext cx="86562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 </a:t>
              </a:r>
              <a:endParaRPr kumimoji="0" lang="zh-CN" altLang="en-US" sz="15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0410D4A5-B80A-C643-AE19-418108DB2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785" y="4511173"/>
              <a:ext cx="86562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 </a:t>
              </a:r>
              <a:endParaRPr kumimoji="0" lang="zh-CN" altLang="en-US" sz="15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9" name="Freeform 61">
              <a:extLst>
                <a:ext uri="{FF2B5EF4-FFF2-40B4-BE49-F238E27FC236}">
                  <a16:creationId xmlns:a16="http://schemas.microsoft.com/office/drawing/2014/main" id="{4E1A615E-0C9B-8C41-A0D2-F5B39FE9C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331" y="4189396"/>
              <a:ext cx="65904" cy="611006"/>
            </a:xfrm>
            <a:custGeom>
              <a:avLst/>
              <a:gdLst>
                <a:gd name="T0" fmla="*/ 0 w 39"/>
                <a:gd name="T1" fmla="*/ 2147483647 h 417"/>
                <a:gd name="T2" fmla="*/ 0 w 39"/>
                <a:gd name="T3" fmla="*/ 2147483647 h 417"/>
                <a:gd name="T4" fmla="*/ 2147483647 w 39"/>
                <a:gd name="T5" fmla="*/ 0 h 417"/>
                <a:gd name="T6" fmla="*/ 2147483647 w 39"/>
                <a:gd name="T7" fmla="*/ 2147483647 h 417"/>
                <a:gd name="T8" fmla="*/ 0 w 39"/>
                <a:gd name="T9" fmla="*/ 2147483647 h 4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17">
                  <a:moveTo>
                    <a:pt x="0" y="41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378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B4E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0" name="Line 62">
              <a:extLst>
                <a:ext uri="{FF2B5EF4-FFF2-40B4-BE49-F238E27FC236}">
                  <a16:creationId xmlns:a16="http://schemas.microsoft.com/office/drawing/2014/main" id="{9D3AA0EA-CFC9-934B-A26F-1DFAE2C33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4743724"/>
              <a:ext cx="65904" cy="56677"/>
            </a:xfrm>
            <a:prstGeom prst="line">
              <a:avLst/>
            </a:prstGeom>
            <a:noFill/>
            <a:ln w="3175">
              <a:solidFill>
                <a:srgbClr val="B4E1E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DDCE0680-D33E-454B-BEDE-7F9586AB6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355" y="4191436"/>
              <a:ext cx="1698880" cy="56676"/>
            </a:xfrm>
            <a:custGeom>
              <a:avLst/>
              <a:gdLst>
                <a:gd name="T0" fmla="*/ 2147483647 w 1020"/>
                <a:gd name="T1" fmla="*/ 2147483647 h 39"/>
                <a:gd name="T2" fmla="*/ 0 w 1020"/>
                <a:gd name="T3" fmla="*/ 2147483647 h 39"/>
                <a:gd name="T4" fmla="*/ 2147483647 w 1020"/>
                <a:gd name="T5" fmla="*/ 0 h 39"/>
                <a:gd name="T6" fmla="*/ 2147483647 w 1020"/>
                <a:gd name="T7" fmla="*/ 0 h 39"/>
                <a:gd name="T8" fmla="*/ 2147483647 w 1020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0" h="39">
                  <a:moveTo>
                    <a:pt x="981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1020" y="0"/>
                  </a:lnTo>
                  <a:lnTo>
                    <a:pt x="981" y="39"/>
                  </a:lnTo>
                  <a:close/>
                </a:path>
              </a:pathLst>
            </a:custGeom>
            <a:solidFill>
              <a:srgbClr val="79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2" name="Line 64">
              <a:extLst>
                <a:ext uri="{FF2B5EF4-FFF2-40B4-BE49-F238E27FC236}">
                  <a16:creationId xmlns:a16="http://schemas.microsoft.com/office/drawing/2014/main" id="{222A7506-3A6B-4349-B097-67C3B8C21D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4191435"/>
              <a:ext cx="65904" cy="56676"/>
            </a:xfrm>
            <a:prstGeom prst="line">
              <a:avLst/>
            </a:prstGeom>
            <a:noFill/>
            <a:ln w="3175">
              <a:solidFill>
                <a:srgbClr val="79989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3" name="Rectangle 65">
              <a:extLst>
                <a:ext uri="{FF2B5EF4-FFF2-40B4-BE49-F238E27FC236}">
                  <a16:creationId xmlns:a16="http://schemas.microsoft.com/office/drawing/2014/main" id="{8FC972D2-F3CB-904C-BDDF-9A5681DD9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355" y="4246072"/>
              <a:ext cx="1632976" cy="554329"/>
            </a:xfrm>
            <a:prstGeom prst="rect">
              <a:avLst/>
            </a:prstGeom>
            <a:solidFill>
              <a:srgbClr val="9C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4" name="Line 66">
              <a:extLst>
                <a:ext uri="{FF2B5EF4-FFF2-40B4-BE49-F238E27FC236}">
                  <a16:creationId xmlns:a16="http://schemas.microsoft.com/office/drawing/2014/main" id="{21790D68-44F1-A64C-BC76-E421CF3FC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4246072"/>
              <a:ext cx="1465" cy="554329"/>
            </a:xfrm>
            <a:prstGeom prst="line">
              <a:avLst/>
            </a:prstGeom>
            <a:noFill/>
            <a:ln w="26988">
              <a:solidFill>
                <a:srgbClr val="ABD6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5" name="Line 67">
              <a:extLst>
                <a:ext uri="{FF2B5EF4-FFF2-40B4-BE49-F238E27FC236}">
                  <a16:creationId xmlns:a16="http://schemas.microsoft.com/office/drawing/2014/main" id="{5069D05C-5293-3740-B1A7-D33BD00B7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4800396"/>
              <a:ext cx="1632976" cy="1382"/>
            </a:xfrm>
            <a:prstGeom prst="line">
              <a:avLst/>
            </a:prstGeom>
            <a:noFill/>
            <a:ln w="26988">
              <a:solidFill>
                <a:srgbClr val="92B7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6" name="Line 68">
              <a:extLst>
                <a:ext uri="{FF2B5EF4-FFF2-40B4-BE49-F238E27FC236}">
                  <a16:creationId xmlns:a16="http://schemas.microsoft.com/office/drawing/2014/main" id="{6E912AB5-8041-7347-AD0C-0CC3F4E98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4246072"/>
              <a:ext cx="1464" cy="554329"/>
            </a:xfrm>
            <a:prstGeom prst="line">
              <a:avLst/>
            </a:prstGeom>
            <a:noFill/>
            <a:ln w="26988">
              <a:solidFill>
                <a:srgbClr val="BBEAE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7" name="Line 69">
              <a:extLst>
                <a:ext uri="{FF2B5EF4-FFF2-40B4-BE49-F238E27FC236}">
                  <a16:creationId xmlns:a16="http://schemas.microsoft.com/office/drawing/2014/main" id="{810CF316-C4BD-1249-AB08-B2D9E0A6D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9354" y="4248107"/>
              <a:ext cx="1632976" cy="1383"/>
            </a:xfrm>
            <a:prstGeom prst="line">
              <a:avLst/>
            </a:prstGeom>
            <a:noFill/>
            <a:ln w="26988">
              <a:solidFill>
                <a:srgbClr val="92B7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8" name="Rectangle 70">
              <a:extLst>
                <a:ext uri="{FF2B5EF4-FFF2-40B4-BE49-F238E27FC236}">
                  <a16:creationId xmlns:a16="http://schemas.microsoft.com/office/drawing/2014/main" id="{DEAE5D4D-CBEF-F244-AA6E-8B394C614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809" y="4329372"/>
              <a:ext cx="1080839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运算器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9" name="Freeform 71">
              <a:extLst>
                <a:ext uri="{FF2B5EF4-FFF2-40B4-BE49-F238E27FC236}">
                  <a16:creationId xmlns:a16="http://schemas.microsoft.com/office/drawing/2014/main" id="{B4647B38-A748-D54B-A3C3-493E63B7D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331" y="5152112"/>
              <a:ext cx="65904" cy="611006"/>
            </a:xfrm>
            <a:custGeom>
              <a:avLst/>
              <a:gdLst>
                <a:gd name="T0" fmla="*/ 0 w 39"/>
                <a:gd name="T1" fmla="*/ 2147483647 h 417"/>
                <a:gd name="T2" fmla="*/ 0 w 39"/>
                <a:gd name="T3" fmla="*/ 2147483647 h 417"/>
                <a:gd name="T4" fmla="*/ 2147483647 w 39"/>
                <a:gd name="T5" fmla="*/ 0 h 417"/>
                <a:gd name="T6" fmla="*/ 2147483647 w 39"/>
                <a:gd name="T7" fmla="*/ 2147483647 h 417"/>
                <a:gd name="T8" fmla="*/ 0 w 39"/>
                <a:gd name="T9" fmla="*/ 2147483647 h 4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17">
                  <a:moveTo>
                    <a:pt x="0" y="41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378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B4E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0" name="Line 72">
              <a:extLst>
                <a:ext uri="{FF2B5EF4-FFF2-40B4-BE49-F238E27FC236}">
                  <a16:creationId xmlns:a16="http://schemas.microsoft.com/office/drawing/2014/main" id="{53445697-F5EB-1E4A-8BC6-65E1329DDA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5705058"/>
              <a:ext cx="65904" cy="58059"/>
            </a:xfrm>
            <a:prstGeom prst="line">
              <a:avLst/>
            </a:prstGeom>
            <a:noFill/>
            <a:ln w="3175">
              <a:solidFill>
                <a:srgbClr val="B4E1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1" name="Freeform 73">
              <a:extLst>
                <a:ext uri="{FF2B5EF4-FFF2-40B4-BE49-F238E27FC236}">
                  <a16:creationId xmlns:a16="http://schemas.microsoft.com/office/drawing/2014/main" id="{6CECD101-2C8A-2D4F-A908-5A5904BB8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355" y="5154153"/>
              <a:ext cx="1698880" cy="56677"/>
            </a:xfrm>
            <a:custGeom>
              <a:avLst/>
              <a:gdLst>
                <a:gd name="T0" fmla="*/ 2147483647 w 1020"/>
                <a:gd name="T1" fmla="*/ 2147483647 h 39"/>
                <a:gd name="T2" fmla="*/ 0 w 1020"/>
                <a:gd name="T3" fmla="*/ 2147483647 h 39"/>
                <a:gd name="T4" fmla="*/ 2147483647 w 1020"/>
                <a:gd name="T5" fmla="*/ 0 h 39"/>
                <a:gd name="T6" fmla="*/ 2147483647 w 1020"/>
                <a:gd name="T7" fmla="*/ 0 h 39"/>
                <a:gd name="T8" fmla="*/ 2147483647 w 1020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0" h="39">
                  <a:moveTo>
                    <a:pt x="981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1020" y="0"/>
                  </a:lnTo>
                  <a:lnTo>
                    <a:pt x="981" y="39"/>
                  </a:lnTo>
                  <a:close/>
                </a:path>
              </a:pathLst>
            </a:custGeom>
            <a:solidFill>
              <a:srgbClr val="799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2" name="Line 74">
              <a:extLst>
                <a:ext uri="{FF2B5EF4-FFF2-40B4-BE49-F238E27FC236}">
                  <a16:creationId xmlns:a16="http://schemas.microsoft.com/office/drawing/2014/main" id="{3E5E9E1B-86E8-8149-9798-971220805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5154153"/>
              <a:ext cx="65904" cy="56677"/>
            </a:xfrm>
            <a:prstGeom prst="line">
              <a:avLst/>
            </a:prstGeom>
            <a:noFill/>
            <a:ln w="3175">
              <a:solidFill>
                <a:srgbClr val="79987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3" name="Rectangle 75">
              <a:extLst>
                <a:ext uri="{FF2B5EF4-FFF2-40B4-BE49-F238E27FC236}">
                  <a16:creationId xmlns:a16="http://schemas.microsoft.com/office/drawing/2014/main" id="{1834F9A3-0349-F049-93CB-F312594BA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355" y="5208789"/>
              <a:ext cx="1632976" cy="554328"/>
            </a:xfrm>
            <a:prstGeom prst="rect">
              <a:avLst/>
            </a:prstGeom>
            <a:solidFill>
              <a:srgbClr val="9CC4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4" name="Line 76">
              <a:extLst>
                <a:ext uri="{FF2B5EF4-FFF2-40B4-BE49-F238E27FC236}">
                  <a16:creationId xmlns:a16="http://schemas.microsoft.com/office/drawing/2014/main" id="{30586644-C7C6-4149-8AF8-00E9EB405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5208789"/>
              <a:ext cx="1465" cy="554328"/>
            </a:xfrm>
            <a:prstGeom prst="line">
              <a:avLst/>
            </a:prstGeom>
            <a:noFill/>
            <a:ln w="26988">
              <a:solidFill>
                <a:srgbClr val="ABD6A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5" name="Line 77">
              <a:extLst>
                <a:ext uri="{FF2B5EF4-FFF2-40B4-BE49-F238E27FC236}">
                  <a16:creationId xmlns:a16="http://schemas.microsoft.com/office/drawing/2014/main" id="{D5663715-E891-BE4B-8C16-922EBCEA9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5763113"/>
              <a:ext cx="1632976" cy="1383"/>
            </a:xfrm>
            <a:prstGeom prst="line">
              <a:avLst/>
            </a:prstGeom>
            <a:noFill/>
            <a:ln w="26988">
              <a:solidFill>
                <a:srgbClr val="92B79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6" name="Line 78">
              <a:extLst>
                <a:ext uri="{FF2B5EF4-FFF2-40B4-BE49-F238E27FC236}">
                  <a16:creationId xmlns:a16="http://schemas.microsoft.com/office/drawing/2014/main" id="{4A7B1083-8F78-4F4B-A0A2-469823850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5252862"/>
              <a:ext cx="1464" cy="554328"/>
            </a:xfrm>
            <a:prstGeom prst="line">
              <a:avLst/>
            </a:prstGeom>
            <a:noFill/>
            <a:ln w="19050">
              <a:solidFill>
                <a:srgbClr val="BBEA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7" name="Line 79">
              <a:extLst>
                <a:ext uri="{FF2B5EF4-FFF2-40B4-BE49-F238E27FC236}">
                  <a16:creationId xmlns:a16="http://schemas.microsoft.com/office/drawing/2014/main" id="{5AF0AE9A-2D45-FA4F-BA83-D3682C3EBE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9354" y="5210825"/>
              <a:ext cx="1632976" cy="1382"/>
            </a:xfrm>
            <a:prstGeom prst="line">
              <a:avLst/>
            </a:prstGeom>
            <a:noFill/>
            <a:ln w="26988">
              <a:solidFill>
                <a:srgbClr val="92B79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8" name="Rectangle 80">
              <a:extLst>
                <a:ext uri="{FF2B5EF4-FFF2-40B4-BE49-F238E27FC236}">
                  <a16:creationId xmlns:a16="http://schemas.microsoft.com/office/drawing/2014/main" id="{E04EFD76-F6D5-094A-BFB7-4539701E1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809" y="5289334"/>
              <a:ext cx="112624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控制器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9" name="Rectangle 81">
              <a:extLst>
                <a:ext uri="{FF2B5EF4-FFF2-40B4-BE49-F238E27FC236}">
                  <a16:creationId xmlns:a16="http://schemas.microsoft.com/office/drawing/2014/main" id="{AB14A854-591C-C040-A0E3-D2C9FCC4F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249" y="6190408"/>
              <a:ext cx="148748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数据通路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1" name="Rectangle 85">
              <a:extLst>
                <a:ext uri="{FF2B5EF4-FFF2-40B4-BE49-F238E27FC236}">
                  <a16:creationId xmlns:a16="http://schemas.microsoft.com/office/drawing/2014/main" id="{B056FBD9-7CF4-B64A-BEF5-7AF819328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562" y="6203108"/>
              <a:ext cx="153987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9051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控制信号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9051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353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47</a:t>
            </a:fld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4865A5B-F969-E54D-9B34-6126A1E6E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75" y="1332910"/>
            <a:ext cx="8229600" cy="1143001"/>
          </a:xfrm>
        </p:spPr>
        <p:txBody>
          <a:bodyPr/>
          <a:lstStyle/>
          <a:p>
            <a:r>
              <a:rPr lang="zh-CN" altLang="en-US" dirty="0"/>
              <a:t>处理器的外部设备种类，数量繁多</a:t>
            </a:r>
            <a:endParaRPr lang="en-US" altLang="zh-CN" dirty="0"/>
          </a:p>
          <a:p>
            <a:pPr lvl="1"/>
            <a:r>
              <a:rPr lang="zh-CN" altLang="en-US" dirty="0"/>
              <a:t>处理器如何和这些组件进行高效通信？</a:t>
            </a:r>
            <a:endParaRPr lang="en-US" altLang="zh-CN" dirty="0"/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E7FCA016-BF80-D041-AD8F-BF39E422B846}"/>
              </a:ext>
            </a:extLst>
          </p:cNvPr>
          <p:cNvGrpSpPr/>
          <p:nvPr/>
        </p:nvGrpSpPr>
        <p:grpSpPr>
          <a:xfrm>
            <a:off x="519395" y="2808764"/>
            <a:ext cx="8167405" cy="3648495"/>
            <a:chOff x="519395" y="2808764"/>
            <a:chExt cx="8167405" cy="364849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F935D27-AA03-0245-B563-4321C4029123}"/>
                </a:ext>
              </a:extLst>
            </p:cNvPr>
            <p:cNvSpPr/>
            <p:nvPr/>
          </p:nvSpPr>
          <p:spPr>
            <a:xfrm>
              <a:off x="4047253" y="3790624"/>
              <a:ext cx="1066577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处理器</a:t>
              </a: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7E168044-D0B2-FB46-ADD9-36E1820B7A37}"/>
                </a:ext>
              </a:extLst>
            </p:cNvPr>
            <p:cNvSpPr/>
            <p:nvPr/>
          </p:nvSpPr>
          <p:spPr>
            <a:xfrm>
              <a:off x="2181768" y="2808764"/>
              <a:ext cx="1066577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键盘</a:t>
              </a: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408D03A9-E2BA-8046-870F-F84085CA6DFC}"/>
                </a:ext>
              </a:extLst>
            </p:cNvPr>
            <p:cNvSpPr/>
            <p:nvPr/>
          </p:nvSpPr>
          <p:spPr>
            <a:xfrm>
              <a:off x="2181768" y="3364588"/>
              <a:ext cx="1066577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鼠标</a:t>
              </a: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5B374B8B-BA64-E240-83C4-0607A96B8080}"/>
                </a:ext>
              </a:extLst>
            </p:cNvPr>
            <p:cNvSpPr/>
            <p:nvPr/>
          </p:nvSpPr>
          <p:spPr>
            <a:xfrm>
              <a:off x="1923693" y="3920412"/>
              <a:ext cx="1528418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网络适配器</a:t>
              </a: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B5EFD11B-D079-484C-9883-7BF75B640A71}"/>
                </a:ext>
              </a:extLst>
            </p:cNvPr>
            <p:cNvSpPr/>
            <p:nvPr/>
          </p:nvSpPr>
          <p:spPr>
            <a:xfrm>
              <a:off x="2160829" y="4476235"/>
              <a:ext cx="1108455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磁盘</a:t>
              </a:r>
            </a:p>
          </p:txBody>
        </p:sp>
        <p:cxnSp>
          <p:nvCxnSpPr>
            <p:cNvPr id="89" name="直线连接符 88">
              <a:extLst>
                <a:ext uri="{FF2B5EF4-FFF2-40B4-BE49-F238E27FC236}">
                  <a16:creationId xmlns:a16="http://schemas.microsoft.com/office/drawing/2014/main" id="{0932913C-727B-9349-97C6-87BE3C086563}"/>
                </a:ext>
              </a:extLst>
            </p:cNvPr>
            <p:cNvCxnSpPr>
              <a:cxnSpLocks/>
            </p:cNvCxnSpPr>
            <p:nvPr/>
          </p:nvCxnSpPr>
          <p:spPr>
            <a:xfrm>
              <a:off x="2734574" y="5037840"/>
              <a:ext cx="0" cy="370936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左大括号 91">
              <a:extLst>
                <a:ext uri="{FF2B5EF4-FFF2-40B4-BE49-F238E27FC236}">
                  <a16:creationId xmlns:a16="http://schemas.microsoft.com/office/drawing/2014/main" id="{B6CFEC45-E031-1943-84AB-37A4AC08DE48}"/>
                </a:ext>
              </a:extLst>
            </p:cNvPr>
            <p:cNvSpPr/>
            <p:nvPr/>
          </p:nvSpPr>
          <p:spPr>
            <a:xfrm>
              <a:off x="1742540" y="2808764"/>
              <a:ext cx="181152" cy="2600012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ABAEB13B-026B-B647-B84F-6F573A500300}"/>
                </a:ext>
              </a:extLst>
            </p:cNvPr>
            <p:cNvGrpSpPr/>
            <p:nvPr/>
          </p:nvGrpSpPr>
          <p:grpSpPr>
            <a:xfrm>
              <a:off x="519395" y="3071861"/>
              <a:ext cx="1154067" cy="2062235"/>
              <a:chOff x="511900" y="3174946"/>
              <a:chExt cx="1154067" cy="2268459"/>
            </a:xfrm>
          </p:grpSpPr>
          <p:sp>
            <p:nvSpPr>
              <p:cNvPr id="94" name="Freeform 48">
                <a:extLst>
                  <a:ext uri="{FF2B5EF4-FFF2-40B4-BE49-F238E27FC236}">
                    <a16:creationId xmlns:a16="http://schemas.microsoft.com/office/drawing/2014/main" id="{571F05E7-AD37-0345-8FC2-2FAB3BC3D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526" y="3174946"/>
                <a:ext cx="64440" cy="2267080"/>
              </a:xfrm>
              <a:custGeom>
                <a:avLst/>
                <a:gdLst>
                  <a:gd name="T0" fmla="*/ 0 w 39"/>
                  <a:gd name="T1" fmla="*/ 2147483647 h 1547"/>
                  <a:gd name="T2" fmla="*/ 0 w 39"/>
                  <a:gd name="T3" fmla="*/ 2147483647 h 1547"/>
                  <a:gd name="T4" fmla="*/ 2147483647 w 39"/>
                  <a:gd name="T5" fmla="*/ 0 h 1547"/>
                  <a:gd name="T6" fmla="*/ 2147483647 w 39"/>
                  <a:gd name="T7" fmla="*/ 2147483647 h 1547"/>
                  <a:gd name="T8" fmla="*/ 0 w 39"/>
                  <a:gd name="T9" fmla="*/ 2147483647 h 15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1547">
                    <a:moveTo>
                      <a:pt x="0" y="1547"/>
                    </a:moveTo>
                    <a:lnTo>
                      <a:pt x="0" y="39"/>
                    </a:lnTo>
                    <a:lnTo>
                      <a:pt x="39" y="0"/>
                    </a:lnTo>
                    <a:lnTo>
                      <a:pt x="39" y="1508"/>
                    </a:lnTo>
                    <a:lnTo>
                      <a:pt x="0" y="1547"/>
                    </a:lnTo>
                    <a:close/>
                  </a:path>
                </a:pathLst>
              </a:custGeom>
              <a:solidFill>
                <a:srgbClr val="E1E187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95" name="Line 49">
                <a:extLst>
                  <a:ext uri="{FF2B5EF4-FFF2-40B4-BE49-F238E27FC236}">
                    <a16:creationId xmlns:a16="http://schemas.microsoft.com/office/drawing/2014/main" id="{CFE3C524-20C2-7E46-96E7-91E176B589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1526" y="5385350"/>
                <a:ext cx="64440" cy="56676"/>
              </a:xfrm>
              <a:prstGeom prst="line">
                <a:avLst/>
              </a:prstGeom>
              <a:noFill/>
              <a:ln w="3175">
                <a:solidFill>
                  <a:srgbClr val="E1E18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96" name="Freeform 50">
                <a:extLst>
                  <a:ext uri="{FF2B5EF4-FFF2-40B4-BE49-F238E27FC236}">
                    <a16:creationId xmlns:a16="http://schemas.microsoft.com/office/drawing/2014/main" id="{1885C688-E8A8-CB4D-9390-EDB32B78E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00" y="3183083"/>
                <a:ext cx="1154067" cy="56677"/>
              </a:xfrm>
              <a:custGeom>
                <a:avLst/>
                <a:gdLst>
                  <a:gd name="T0" fmla="*/ 2147483647 w 693"/>
                  <a:gd name="T1" fmla="*/ 2147483647 h 39"/>
                  <a:gd name="T2" fmla="*/ 0 w 693"/>
                  <a:gd name="T3" fmla="*/ 2147483647 h 39"/>
                  <a:gd name="T4" fmla="*/ 2147483647 w 693"/>
                  <a:gd name="T5" fmla="*/ 0 h 39"/>
                  <a:gd name="T6" fmla="*/ 2147483647 w 693"/>
                  <a:gd name="T7" fmla="*/ 0 h 39"/>
                  <a:gd name="T8" fmla="*/ 2147483647 w 693"/>
                  <a:gd name="T9" fmla="*/ 214748364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93" h="39">
                    <a:moveTo>
                      <a:pt x="654" y="39"/>
                    </a:moveTo>
                    <a:lnTo>
                      <a:pt x="0" y="39"/>
                    </a:lnTo>
                    <a:lnTo>
                      <a:pt x="37" y="0"/>
                    </a:lnTo>
                    <a:lnTo>
                      <a:pt x="693" y="0"/>
                    </a:lnTo>
                    <a:lnTo>
                      <a:pt x="654" y="39"/>
                    </a:lnTo>
                    <a:close/>
                  </a:path>
                </a:pathLst>
              </a:custGeom>
              <a:solidFill>
                <a:srgbClr val="98985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97" name="Line 51">
                <a:extLst>
                  <a:ext uri="{FF2B5EF4-FFF2-40B4-BE49-F238E27FC236}">
                    <a16:creationId xmlns:a16="http://schemas.microsoft.com/office/drawing/2014/main" id="{6696B585-D03B-7F42-B869-ABD37C1A7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1526" y="3183083"/>
                <a:ext cx="64440" cy="56677"/>
              </a:xfrm>
              <a:prstGeom prst="line">
                <a:avLst/>
              </a:prstGeom>
              <a:noFill/>
              <a:ln w="3175">
                <a:solidFill>
                  <a:srgbClr val="98985B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98" name="Rectangle 52">
                <a:extLst>
                  <a:ext uri="{FF2B5EF4-FFF2-40B4-BE49-F238E27FC236}">
                    <a16:creationId xmlns:a16="http://schemas.microsoft.com/office/drawing/2014/main" id="{6F34AC46-BFAE-9249-9894-33E328B72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900" y="3231623"/>
                <a:ext cx="1089627" cy="2210403"/>
              </a:xfrm>
              <a:prstGeom prst="rect">
                <a:avLst/>
              </a:prstGeom>
              <a:solidFill>
                <a:srgbClr val="C4C47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99" name="Line 53">
                <a:extLst>
                  <a:ext uri="{FF2B5EF4-FFF2-40B4-BE49-F238E27FC236}">
                    <a16:creationId xmlns:a16="http://schemas.microsoft.com/office/drawing/2014/main" id="{A5C5BA06-413E-D142-9F56-272B0CB7A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1900" y="3231623"/>
                <a:ext cx="1464" cy="2210403"/>
              </a:xfrm>
              <a:prstGeom prst="line">
                <a:avLst/>
              </a:prstGeom>
              <a:noFill/>
              <a:ln w="26988">
                <a:solidFill>
                  <a:srgbClr val="D6D68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00" name="Line 54">
                <a:extLst>
                  <a:ext uri="{FF2B5EF4-FFF2-40B4-BE49-F238E27FC236}">
                    <a16:creationId xmlns:a16="http://schemas.microsoft.com/office/drawing/2014/main" id="{9C40C7CF-C77E-304C-9E55-FB1B835CC5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1900" y="5442022"/>
                <a:ext cx="1089627" cy="1383"/>
              </a:xfrm>
              <a:prstGeom prst="line">
                <a:avLst/>
              </a:prstGeom>
              <a:noFill/>
              <a:ln w="26988">
                <a:solidFill>
                  <a:srgbClr val="B7B76D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01" name="Line 55">
                <a:extLst>
                  <a:ext uri="{FF2B5EF4-FFF2-40B4-BE49-F238E27FC236}">
                    <a16:creationId xmlns:a16="http://schemas.microsoft.com/office/drawing/2014/main" id="{CB1ACEE2-8DB9-734B-B793-BD7F5BCB4D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1526" y="3231623"/>
                <a:ext cx="1464" cy="2210403"/>
              </a:xfrm>
              <a:prstGeom prst="line">
                <a:avLst/>
              </a:prstGeom>
              <a:noFill/>
              <a:ln w="26988">
                <a:solidFill>
                  <a:srgbClr val="EAEA8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02" name="Line 56">
                <a:extLst>
                  <a:ext uri="{FF2B5EF4-FFF2-40B4-BE49-F238E27FC236}">
                    <a16:creationId xmlns:a16="http://schemas.microsoft.com/office/drawing/2014/main" id="{7799ED7E-4220-8C45-B8F5-87703844AD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1900" y="3239755"/>
                <a:ext cx="1089627" cy="1382"/>
              </a:xfrm>
              <a:prstGeom prst="line">
                <a:avLst/>
              </a:prstGeom>
              <a:noFill/>
              <a:ln w="26988">
                <a:solidFill>
                  <a:srgbClr val="B7B76D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03" name="Rectangle 57">
                <a:extLst>
                  <a:ext uri="{FF2B5EF4-FFF2-40B4-BE49-F238E27FC236}">
                    <a16:creationId xmlns:a16="http://schemas.microsoft.com/office/drawing/2014/main" id="{A6C8BE83-B318-DD43-A6E1-0C0DFCFE6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821" y="3896434"/>
                <a:ext cx="725478" cy="9479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defTabSz="1009650"/>
                <a:r>
                  <a:rPr lang="zh-CN" altLang="en-US" sz="2800" dirty="0">
                    <a:solidFill>
                      <a:srgbClr val="000000"/>
                    </a:solidFill>
                    <a:latin typeface="SimHei" panose="02010609060101010101" pitchFamily="49" charset="-122"/>
                    <a:ea typeface="SimHei" panose="02010609060101010101" pitchFamily="49" charset="-122"/>
                  </a:rPr>
                  <a:t>输入</a:t>
                </a:r>
                <a:endParaRPr lang="en-US" altLang="zh-CN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  <a:p>
                <a:pPr defTabSz="1009650"/>
                <a:r>
                  <a:rPr lang="zh-CN" altLang="en-US" sz="2800" dirty="0">
                    <a:solidFill>
                      <a:srgbClr val="000000"/>
                    </a:solidFill>
                    <a:latin typeface="SimHei" panose="02010609060101010101" pitchFamily="49" charset="-122"/>
                    <a:ea typeface="SimHei" panose="02010609060101010101" pitchFamily="49" charset="-122"/>
                  </a:rPr>
                  <a:t>设备</a:t>
                </a:r>
                <a:endParaRPr lang="zh-CN" altLang="en-US" sz="2800" dirty="0">
                  <a:latin typeface="Arial" charset="0"/>
                  <a:ea typeface="SimHei" panose="02010609060101010101" pitchFamily="49" charset="-122"/>
                </a:endParaRPr>
              </a:p>
            </p:txBody>
          </p:sp>
          <p:sp>
            <p:nvSpPr>
              <p:cNvPr id="104" name="Rectangle 58">
                <a:extLst>
                  <a:ext uri="{FF2B5EF4-FFF2-40B4-BE49-F238E27FC236}">
                    <a16:creationId xmlns:a16="http://schemas.microsoft.com/office/drawing/2014/main" id="{D16AA6B4-0AC8-9C4D-ABC7-6FA174654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308" y="3965585"/>
                <a:ext cx="86562" cy="457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defTabSz="1009650"/>
                <a:r>
                  <a:rPr lang="zh-CN" altLang="en-US" sz="2700" dirty="0">
                    <a:solidFill>
                      <a:srgbClr val="000000"/>
                    </a:solidFill>
                    <a:latin typeface="Times New Roman" pitchFamily="18" charset="0"/>
                    <a:ea typeface="SimHei" panose="02010609060101010101" pitchFamily="49" charset="-122"/>
                  </a:rPr>
                  <a:t> </a:t>
                </a:r>
                <a:endParaRPr lang="zh-CN" altLang="en-US" sz="1500" dirty="0">
                  <a:latin typeface="Arial" charset="0"/>
                  <a:ea typeface="SimHei" panose="02010609060101010101" pitchFamily="49" charset="-122"/>
                </a:endParaRPr>
              </a:p>
            </p:txBody>
          </p:sp>
          <p:sp>
            <p:nvSpPr>
              <p:cNvPr id="105" name="Rectangle 60">
                <a:extLst>
                  <a:ext uri="{FF2B5EF4-FFF2-40B4-BE49-F238E27FC236}">
                    <a16:creationId xmlns:a16="http://schemas.microsoft.com/office/drawing/2014/main" id="{9305B73F-6997-1C46-83F2-0878C1108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308" y="4327810"/>
                <a:ext cx="86562" cy="457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defTabSz="1009650"/>
                <a:r>
                  <a:rPr lang="zh-CN" altLang="en-US" sz="2700" dirty="0">
                    <a:solidFill>
                      <a:srgbClr val="000000"/>
                    </a:solidFill>
                    <a:latin typeface="Times New Roman" pitchFamily="18" charset="0"/>
                    <a:ea typeface="SimHei" panose="02010609060101010101" pitchFamily="49" charset="-122"/>
                  </a:rPr>
                  <a:t> </a:t>
                </a:r>
                <a:endParaRPr lang="zh-CN" altLang="en-US" sz="1500" dirty="0">
                  <a:latin typeface="Arial" charset="0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23DC0EEB-4400-0C4C-98D0-6394A8430829}"/>
                </a:ext>
              </a:extLst>
            </p:cNvPr>
            <p:cNvSpPr/>
            <p:nvPr/>
          </p:nvSpPr>
          <p:spPr>
            <a:xfrm>
              <a:off x="5842328" y="2808764"/>
              <a:ext cx="1173235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显示器</a:t>
              </a:r>
              <a:r>
                <a:rPr kumimoji="1" lang="en-US" altLang="zh-CN" sz="2000" b="1" dirty="0">
                  <a:solidFill>
                    <a:schemeClr val="tx1"/>
                  </a:solidFill>
                  <a:latin typeface="+mn-ea"/>
                </a:rPr>
                <a:t>1</a:t>
              </a:r>
              <a:endParaRPr kumimoji="1" lang="zh-CN" altLang="en-US" sz="2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37008612-06BA-D64B-90F5-1263F24B7A1D}"/>
                </a:ext>
              </a:extLst>
            </p:cNvPr>
            <p:cNvSpPr/>
            <p:nvPr/>
          </p:nvSpPr>
          <p:spPr>
            <a:xfrm>
              <a:off x="5842328" y="3364588"/>
              <a:ext cx="1173235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显示器</a:t>
              </a:r>
              <a:r>
                <a:rPr kumimoji="1" lang="en-US" altLang="zh-CN" sz="2000" b="1" dirty="0">
                  <a:solidFill>
                    <a:schemeClr val="tx1"/>
                  </a:solidFill>
                  <a:latin typeface="+mn-ea"/>
                </a:rPr>
                <a:t>2</a:t>
              </a:r>
              <a:endParaRPr kumimoji="1" lang="zh-CN" altLang="en-US" sz="2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E0020779-923A-7049-A0B6-DAD3DEE7F6C2}"/>
                </a:ext>
              </a:extLst>
            </p:cNvPr>
            <p:cNvSpPr/>
            <p:nvPr/>
          </p:nvSpPr>
          <p:spPr>
            <a:xfrm>
              <a:off x="5604978" y="3920412"/>
              <a:ext cx="1561022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网络适配器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60EBF5F-B457-AF4B-BB7D-E57E2DC2121C}"/>
                </a:ext>
              </a:extLst>
            </p:cNvPr>
            <p:cNvSpPr/>
            <p:nvPr/>
          </p:nvSpPr>
          <p:spPr>
            <a:xfrm>
              <a:off x="5874718" y="4476235"/>
              <a:ext cx="1108455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tx1"/>
                  </a:solidFill>
                  <a:latin typeface="+mn-ea"/>
                </a:rPr>
                <a:t>VR/AR</a:t>
              </a:r>
              <a:endParaRPr kumimoji="1" lang="zh-CN" altLang="en-US" sz="20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11" name="直线连接符 110">
              <a:extLst>
                <a:ext uri="{FF2B5EF4-FFF2-40B4-BE49-F238E27FC236}">
                  <a16:creationId xmlns:a16="http://schemas.microsoft.com/office/drawing/2014/main" id="{C5F9294E-A65B-8C48-ADB0-AF8FC72E32CF}"/>
                </a:ext>
              </a:extLst>
            </p:cNvPr>
            <p:cNvCxnSpPr>
              <a:cxnSpLocks/>
            </p:cNvCxnSpPr>
            <p:nvPr/>
          </p:nvCxnSpPr>
          <p:spPr>
            <a:xfrm>
              <a:off x="6448463" y="5037840"/>
              <a:ext cx="0" cy="370936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F744528-D6D4-E144-9B88-F2D4AC80EF3A}"/>
                </a:ext>
              </a:extLst>
            </p:cNvPr>
            <p:cNvGrpSpPr/>
            <p:nvPr/>
          </p:nvGrpSpPr>
          <p:grpSpPr>
            <a:xfrm>
              <a:off x="7532733" y="2889294"/>
              <a:ext cx="1154067" cy="2062235"/>
              <a:chOff x="511900" y="3174946"/>
              <a:chExt cx="1154067" cy="2268459"/>
            </a:xfrm>
          </p:grpSpPr>
          <p:sp>
            <p:nvSpPr>
              <p:cNvPr id="113" name="Freeform 48">
                <a:extLst>
                  <a:ext uri="{FF2B5EF4-FFF2-40B4-BE49-F238E27FC236}">
                    <a16:creationId xmlns:a16="http://schemas.microsoft.com/office/drawing/2014/main" id="{56907B4D-1F2B-5642-ADE0-10CEEF1B9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526" y="3174946"/>
                <a:ext cx="64440" cy="2267080"/>
              </a:xfrm>
              <a:custGeom>
                <a:avLst/>
                <a:gdLst>
                  <a:gd name="T0" fmla="*/ 0 w 39"/>
                  <a:gd name="T1" fmla="*/ 2147483647 h 1547"/>
                  <a:gd name="T2" fmla="*/ 0 w 39"/>
                  <a:gd name="T3" fmla="*/ 2147483647 h 1547"/>
                  <a:gd name="T4" fmla="*/ 2147483647 w 39"/>
                  <a:gd name="T5" fmla="*/ 0 h 1547"/>
                  <a:gd name="T6" fmla="*/ 2147483647 w 39"/>
                  <a:gd name="T7" fmla="*/ 2147483647 h 1547"/>
                  <a:gd name="T8" fmla="*/ 0 w 39"/>
                  <a:gd name="T9" fmla="*/ 2147483647 h 15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1547">
                    <a:moveTo>
                      <a:pt x="0" y="1547"/>
                    </a:moveTo>
                    <a:lnTo>
                      <a:pt x="0" y="39"/>
                    </a:lnTo>
                    <a:lnTo>
                      <a:pt x="39" y="0"/>
                    </a:lnTo>
                    <a:lnTo>
                      <a:pt x="39" y="1508"/>
                    </a:lnTo>
                    <a:lnTo>
                      <a:pt x="0" y="1547"/>
                    </a:lnTo>
                    <a:close/>
                  </a:path>
                </a:pathLst>
              </a:custGeom>
              <a:solidFill>
                <a:srgbClr val="E1E187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14" name="Line 49">
                <a:extLst>
                  <a:ext uri="{FF2B5EF4-FFF2-40B4-BE49-F238E27FC236}">
                    <a16:creationId xmlns:a16="http://schemas.microsoft.com/office/drawing/2014/main" id="{2033CD70-356F-8947-9255-16D23B3396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1526" y="5385350"/>
                <a:ext cx="64440" cy="56676"/>
              </a:xfrm>
              <a:prstGeom prst="line">
                <a:avLst/>
              </a:prstGeom>
              <a:noFill/>
              <a:ln w="3175">
                <a:solidFill>
                  <a:srgbClr val="E1E18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15" name="Freeform 50">
                <a:extLst>
                  <a:ext uri="{FF2B5EF4-FFF2-40B4-BE49-F238E27FC236}">
                    <a16:creationId xmlns:a16="http://schemas.microsoft.com/office/drawing/2014/main" id="{905235D0-AD37-E74D-96C9-0CB70F091F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00" y="3183083"/>
                <a:ext cx="1154067" cy="56677"/>
              </a:xfrm>
              <a:custGeom>
                <a:avLst/>
                <a:gdLst>
                  <a:gd name="T0" fmla="*/ 2147483647 w 693"/>
                  <a:gd name="T1" fmla="*/ 2147483647 h 39"/>
                  <a:gd name="T2" fmla="*/ 0 w 693"/>
                  <a:gd name="T3" fmla="*/ 2147483647 h 39"/>
                  <a:gd name="T4" fmla="*/ 2147483647 w 693"/>
                  <a:gd name="T5" fmla="*/ 0 h 39"/>
                  <a:gd name="T6" fmla="*/ 2147483647 w 693"/>
                  <a:gd name="T7" fmla="*/ 0 h 39"/>
                  <a:gd name="T8" fmla="*/ 2147483647 w 693"/>
                  <a:gd name="T9" fmla="*/ 214748364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93" h="39">
                    <a:moveTo>
                      <a:pt x="654" y="39"/>
                    </a:moveTo>
                    <a:lnTo>
                      <a:pt x="0" y="39"/>
                    </a:lnTo>
                    <a:lnTo>
                      <a:pt x="37" y="0"/>
                    </a:lnTo>
                    <a:lnTo>
                      <a:pt x="693" y="0"/>
                    </a:lnTo>
                    <a:lnTo>
                      <a:pt x="654" y="39"/>
                    </a:lnTo>
                    <a:close/>
                  </a:path>
                </a:pathLst>
              </a:custGeom>
              <a:solidFill>
                <a:srgbClr val="98985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16" name="Line 51">
                <a:extLst>
                  <a:ext uri="{FF2B5EF4-FFF2-40B4-BE49-F238E27FC236}">
                    <a16:creationId xmlns:a16="http://schemas.microsoft.com/office/drawing/2014/main" id="{68AB49AE-E314-144A-ABF5-FD9AFC390A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1526" y="3183083"/>
                <a:ext cx="64440" cy="56677"/>
              </a:xfrm>
              <a:prstGeom prst="line">
                <a:avLst/>
              </a:prstGeom>
              <a:noFill/>
              <a:ln w="3175">
                <a:solidFill>
                  <a:srgbClr val="98985B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17" name="Rectangle 52">
                <a:extLst>
                  <a:ext uri="{FF2B5EF4-FFF2-40B4-BE49-F238E27FC236}">
                    <a16:creationId xmlns:a16="http://schemas.microsoft.com/office/drawing/2014/main" id="{513E8207-6FD5-784F-932C-F5B2514363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900" y="3231623"/>
                <a:ext cx="1089627" cy="2210403"/>
              </a:xfrm>
              <a:prstGeom prst="rect">
                <a:avLst/>
              </a:prstGeom>
              <a:solidFill>
                <a:srgbClr val="C4C47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18" name="Line 53">
                <a:extLst>
                  <a:ext uri="{FF2B5EF4-FFF2-40B4-BE49-F238E27FC236}">
                    <a16:creationId xmlns:a16="http://schemas.microsoft.com/office/drawing/2014/main" id="{C16DA9F2-797A-A640-B0C4-B97F04DBC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1900" y="3231623"/>
                <a:ext cx="1464" cy="2210403"/>
              </a:xfrm>
              <a:prstGeom prst="line">
                <a:avLst/>
              </a:prstGeom>
              <a:noFill/>
              <a:ln w="26988">
                <a:solidFill>
                  <a:srgbClr val="D6D68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19" name="Line 54">
                <a:extLst>
                  <a:ext uri="{FF2B5EF4-FFF2-40B4-BE49-F238E27FC236}">
                    <a16:creationId xmlns:a16="http://schemas.microsoft.com/office/drawing/2014/main" id="{FE4AF766-E27E-104A-9E49-E843F78A0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1900" y="5442022"/>
                <a:ext cx="1089627" cy="1383"/>
              </a:xfrm>
              <a:prstGeom prst="line">
                <a:avLst/>
              </a:prstGeom>
              <a:noFill/>
              <a:ln w="26988">
                <a:solidFill>
                  <a:srgbClr val="B7B76D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20" name="Line 55">
                <a:extLst>
                  <a:ext uri="{FF2B5EF4-FFF2-40B4-BE49-F238E27FC236}">
                    <a16:creationId xmlns:a16="http://schemas.microsoft.com/office/drawing/2014/main" id="{EACEB466-BB06-A14F-99AC-815B4E0CF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1526" y="3231623"/>
                <a:ext cx="1464" cy="2210403"/>
              </a:xfrm>
              <a:prstGeom prst="line">
                <a:avLst/>
              </a:prstGeom>
              <a:noFill/>
              <a:ln w="26988">
                <a:solidFill>
                  <a:srgbClr val="EAEA8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21" name="Line 56">
                <a:extLst>
                  <a:ext uri="{FF2B5EF4-FFF2-40B4-BE49-F238E27FC236}">
                    <a16:creationId xmlns:a16="http://schemas.microsoft.com/office/drawing/2014/main" id="{7AF5E1B4-87D2-154C-B7D0-68AA40D6CA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1900" y="3239755"/>
                <a:ext cx="1089627" cy="1382"/>
              </a:xfrm>
              <a:prstGeom prst="line">
                <a:avLst/>
              </a:prstGeom>
              <a:noFill/>
              <a:ln w="26988">
                <a:solidFill>
                  <a:srgbClr val="B7B76D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22" name="Rectangle 57">
                <a:extLst>
                  <a:ext uri="{FF2B5EF4-FFF2-40B4-BE49-F238E27FC236}">
                    <a16:creationId xmlns:a16="http://schemas.microsoft.com/office/drawing/2014/main" id="{B42E39BA-A888-854D-9ED7-DAA7E883D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821" y="3896434"/>
                <a:ext cx="725478" cy="9479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defTabSz="1009650"/>
                <a:r>
                  <a:rPr lang="zh-CN" altLang="en-US" sz="2800" dirty="0">
                    <a:solidFill>
                      <a:srgbClr val="000000"/>
                    </a:solidFill>
                    <a:latin typeface="SimHei" panose="02010609060101010101" pitchFamily="49" charset="-122"/>
                    <a:ea typeface="SimHei" panose="02010609060101010101" pitchFamily="49" charset="-122"/>
                  </a:rPr>
                  <a:t>输出</a:t>
                </a:r>
                <a:endParaRPr lang="en-US" altLang="zh-CN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  <a:p>
                <a:pPr defTabSz="1009650"/>
                <a:r>
                  <a:rPr lang="zh-CN" altLang="en-US" sz="2800" dirty="0">
                    <a:solidFill>
                      <a:srgbClr val="000000"/>
                    </a:solidFill>
                    <a:latin typeface="SimHei" panose="02010609060101010101" pitchFamily="49" charset="-122"/>
                    <a:ea typeface="SimHei" panose="02010609060101010101" pitchFamily="49" charset="-122"/>
                  </a:rPr>
                  <a:t>设备</a:t>
                </a:r>
                <a:endParaRPr lang="zh-CN" altLang="en-US" sz="2800" dirty="0">
                  <a:latin typeface="Arial" charset="0"/>
                  <a:ea typeface="SimHei" panose="02010609060101010101" pitchFamily="49" charset="-122"/>
                </a:endParaRPr>
              </a:p>
            </p:txBody>
          </p:sp>
          <p:sp>
            <p:nvSpPr>
              <p:cNvPr id="123" name="Rectangle 58">
                <a:extLst>
                  <a:ext uri="{FF2B5EF4-FFF2-40B4-BE49-F238E27FC236}">
                    <a16:creationId xmlns:a16="http://schemas.microsoft.com/office/drawing/2014/main" id="{2AB2AEA7-7798-5D40-982D-9221C9112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308" y="3965585"/>
                <a:ext cx="86562" cy="457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defTabSz="1009650"/>
                <a:r>
                  <a:rPr lang="zh-CN" altLang="en-US" sz="2700" dirty="0">
                    <a:solidFill>
                      <a:srgbClr val="000000"/>
                    </a:solidFill>
                    <a:latin typeface="Times New Roman" pitchFamily="18" charset="0"/>
                    <a:ea typeface="SimHei" panose="02010609060101010101" pitchFamily="49" charset="-122"/>
                  </a:rPr>
                  <a:t> </a:t>
                </a:r>
                <a:endParaRPr lang="zh-CN" altLang="en-US" sz="1500" dirty="0">
                  <a:latin typeface="Arial" charset="0"/>
                  <a:ea typeface="SimHei" panose="02010609060101010101" pitchFamily="49" charset="-122"/>
                </a:endParaRPr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962B18A2-C004-BB47-98B5-5EC2D2E97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308" y="4327810"/>
                <a:ext cx="86562" cy="457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defTabSz="1009650"/>
                <a:r>
                  <a:rPr lang="zh-CN" altLang="en-US" sz="2700" dirty="0">
                    <a:solidFill>
                      <a:srgbClr val="000000"/>
                    </a:solidFill>
                    <a:latin typeface="Times New Roman" pitchFamily="18" charset="0"/>
                    <a:ea typeface="SimHei" panose="02010609060101010101" pitchFamily="49" charset="-122"/>
                  </a:rPr>
                  <a:t> </a:t>
                </a:r>
                <a:endParaRPr lang="zh-CN" altLang="en-US" sz="1500" dirty="0">
                  <a:latin typeface="Arial" charset="0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25" name="右大括号 124">
              <a:extLst>
                <a:ext uri="{FF2B5EF4-FFF2-40B4-BE49-F238E27FC236}">
                  <a16:creationId xmlns:a16="http://schemas.microsoft.com/office/drawing/2014/main" id="{4C74C510-7F4D-F044-A48B-B55D76B152B6}"/>
                </a:ext>
              </a:extLst>
            </p:cNvPr>
            <p:cNvSpPr/>
            <p:nvPr/>
          </p:nvSpPr>
          <p:spPr>
            <a:xfrm>
              <a:off x="7098992" y="2808764"/>
              <a:ext cx="233461" cy="2600012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3569A834-FF5B-7F4C-A2D1-F4DE548C6F54}"/>
                </a:ext>
              </a:extLst>
            </p:cNvPr>
            <p:cNvSpPr/>
            <p:nvPr/>
          </p:nvSpPr>
          <p:spPr>
            <a:xfrm>
              <a:off x="3522953" y="5059725"/>
              <a:ext cx="921854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内存</a:t>
              </a:r>
              <a:r>
                <a:rPr kumimoji="1" lang="en-US" altLang="zh-CN" sz="2000" b="1" dirty="0">
                  <a:solidFill>
                    <a:schemeClr val="tx1"/>
                  </a:solidFill>
                  <a:latin typeface="+mn-ea"/>
                </a:rPr>
                <a:t>1</a:t>
              </a:r>
              <a:endParaRPr kumimoji="1" lang="zh-CN" altLang="en-US" sz="2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AEA2F3D7-ACAD-0A44-9F7A-EE58DBFCD027}"/>
                </a:ext>
              </a:extLst>
            </p:cNvPr>
            <p:cNvSpPr/>
            <p:nvPr/>
          </p:nvSpPr>
          <p:spPr>
            <a:xfrm>
              <a:off x="4884505" y="5059725"/>
              <a:ext cx="921854" cy="43088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tx1"/>
                  </a:solidFill>
                  <a:latin typeface="+mn-ea"/>
                </a:rPr>
                <a:t>内存</a:t>
              </a:r>
              <a:r>
                <a:rPr kumimoji="1" lang="en-US" altLang="zh-CN" sz="2000" b="1" dirty="0">
                  <a:solidFill>
                    <a:schemeClr val="tx1"/>
                  </a:solidFill>
                  <a:latin typeface="+mn-ea"/>
                </a:rPr>
                <a:t>2</a:t>
              </a:r>
              <a:endParaRPr kumimoji="1" lang="zh-CN" altLang="en-US" sz="20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28" name="直线连接符 127">
              <a:extLst>
                <a:ext uri="{FF2B5EF4-FFF2-40B4-BE49-F238E27FC236}">
                  <a16:creationId xmlns:a16="http://schemas.microsoft.com/office/drawing/2014/main" id="{F4A0BDD0-2E80-D54A-8759-A74AF3FBFA65}"/>
                </a:ext>
              </a:extLst>
            </p:cNvPr>
            <p:cNvCxnSpPr>
              <a:cxnSpLocks/>
            </p:cNvCxnSpPr>
            <p:nvPr/>
          </p:nvCxnSpPr>
          <p:spPr>
            <a:xfrm>
              <a:off x="4545678" y="5275168"/>
              <a:ext cx="235495" cy="0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右大括号 131">
              <a:extLst>
                <a:ext uri="{FF2B5EF4-FFF2-40B4-BE49-F238E27FC236}">
                  <a16:creationId xmlns:a16="http://schemas.microsoft.com/office/drawing/2014/main" id="{B8192446-715A-9E42-8CAA-FEBDDBE30C91}"/>
                </a:ext>
              </a:extLst>
            </p:cNvPr>
            <p:cNvSpPr/>
            <p:nvPr/>
          </p:nvSpPr>
          <p:spPr>
            <a:xfrm rot="5400000">
              <a:off x="4547925" y="4574136"/>
              <a:ext cx="233461" cy="2283406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52903191-E5D2-D343-B7C4-E4C322BDF376}"/>
                </a:ext>
              </a:extLst>
            </p:cNvPr>
            <p:cNvGrpSpPr/>
            <p:nvPr/>
          </p:nvGrpSpPr>
          <p:grpSpPr>
            <a:xfrm>
              <a:off x="3822667" y="5847641"/>
              <a:ext cx="1698881" cy="609618"/>
              <a:chOff x="3822667" y="6356583"/>
              <a:chExt cx="1698881" cy="609618"/>
            </a:xfrm>
          </p:grpSpPr>
          <p:sp>
            <p:nvSpPr>
              <p:cNvPr id="134" name="Freeform 25">
                <a:extLst>
                  <a:ext uri="{FF2B5EF4-FFF2-40B4-BE49-F238E27FC236}">
                    <a16:creationId xmlns:a16="http://schemas.microsoft.com/office/drawing/2014/main" id="{0E4407F7-4ADB-5B4C-BE5D-1C8E52AC1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644" y="6356583"/>
                <a:ext cx="65904" cy="608241"/>
              </a:xfrm>
              <a:custGeom>
                <a:avLst/>
                <a:gdLst>
                  <a:gd name="T0" fmla="*/ 0 w 39"/>
                  <a:gd name="T1" fmla="*/ 2147483647 h 415"/>
                  <a:gd name="T2" fmla="*/ 0 w 39"/>
                  <a:gd name="T3" fmla="*/ 2147483647 h 415"/>
                  <a:gd name="T4" fmla="*/ 2147483647 w 39"/>
                  <a:gd name="T5" fmla="*/ 0 h 415"/>
                  <a:gd name="T6" fmla="*/ 2147483647 w 39"/>
                  <a:gd name="T7" fmla="*/ 2147483647 h 415"/>
                  <a:gd name="T8" fmla="*/ 0 w 39"/>
                  <a:gd name="T9" fmla="*/ 2147483647 h 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415">
                    <a:moveTo>
                      <a:pt x="0" y="415"/>
                    </a:moveTo>
                    <a:lnTo>
                      <a:pt x="0" y="37"/>
                    </a:lnTo>
                    <a:lnTo>
                      <a:pt x="39" y="0"/>
                    </a:lnTo>
                    <a:lnTo>
                      <a:pt x="39" y="376"/>
                    </a:lnTo>
                    <a:lnTo>
                      <a:pt x="0" y="415"/>
                    </a:lnTo>
                    <a:close/>
                  </a:path>
                </a:pathLst>
              </a:custGeom>
              <a:solidFill>
                <a:srgbClr val="E1B487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35" name="Line 26">
                <a:extLst>
                  <a:ext uri="{FF2B5EF4-FFF2-40B4-BE49-F238E27FC236}">
                    <a16:creationId xmlns:a16="http://schemas.microsoft.com/office/drawing/2014/main" id="{F901174E-37EF-214F-B4D5-9F83A14A4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55644" y="6906764"/>
                <a:ext cx="65904" cy="58059"/>
              </a:xfrm>
              <a:prstGeom prst="line">
                <a:avLst/>
              </a:prstGeom>
              <a:noFill/>
              <a:ln w="3175">
                <a:solidFill>
                  <a:srgbClr val="E1B48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36" name="Freeform 27">
                <a:extLst>
                  <a:ext uri="{FF2B5EF4-FFF2-40B4-BE49-F238E27FC236}">
                    <a16:creationId xmlns:a16="http://schemas.microsoft.com/office/drawing/2014/main" id="{031C4F01-DCBE-5D45-B9E5-C6A8CDC1A2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668" y="6358623"/>
                <a:ext cx="1698880" cy="53912"/>
              </a:xfrm>
              <a:custGeom>
                <a:avLst/>
                <a:gdLst>
                  <a:gd name="T0" fmla="*/ 2147483647 w 1020"/>
                  <a:gd name="T1" fmla="*/ 2147483647 h 37"/>
                  <a:gd name="T2" fmla="*/ 0 w 1020"/>
                  <a:gd name="T3" fmla="*/ 2147483647 h 37"/>
                  <a:gd name="T4" fmla="*/ 2147483647 w 1020"/>
                  <a:gd name="T5" fmla="*/ 0 h 37"/>
                  <a:gd name="T6" fmla="*/ 2147483647 w 1020"/>
                  <a:gd name="T7" fmla="*/ 0 h 37"/>
                  <a:gd name="T8" fmla="*/ 2147483647 w 1020"/>
                  <a:gd name="T9" fmla="*/ 2147483647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20" h="37">
                    <a:moveTo>
                      <a:pt x="981" y="37"/>
                    </a:moveTo>
                    <a:lnTo>
                      <a:pt x="0" y="37"/>
                    </a:lnTo>
                    <a:lnTo>
                      <a:pt x="37" y="0"/>
                    </a:lnTo>
                    <a:lnTo>
                      <a:pt x="1020" y="0"/>
                    </a:lnTo>
                    <a:lnTo>
                      <a:pt x="981" y="37"/>
                    </a:lnTo>
                    <a:close/>
                  </a:path>
                </a:pathLst>
              </a:custGeom>
              <a:solidFill>
                <a:srgbClr val="98795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37" name="Line 28">
                <a:extLst>
                  <a:ext uri="{FF2B5EF4-FFF2-40B4-BE49-F238E27FC236}">
                    <a16:creationId xmlns:a16="http://schemas.microsoft.com/office/drawing/2014/main" id="{50FB4B18-EFA5-E949-98FE-271B18B0B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55644" y="6358623"/>
                <a:ext cx="65904" cy="53912"/>
              </a:xfrm>
              <a:prstGeom prst="line">
                <a:avLst/>
              </a:prstGeom>
              <a:noFill/>
              <a:ln w="3175">
                <a:solidFill>
                  <a:srgbClr val="98795B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38" name="Rectangle 29">
                <a:extLst>
                  <a:ext uri="{FF2B5EF4-FFF2-40B4-BE49-F238E27FC236}">
                    <a16:creationId xmlns:a16="http://schemas.microsoft.com/office/drawing/2014/main" id="{2CB5DCAC-9DCC-F447-B11A-145AF71D9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2668" y="6410495"/>
                <a:ext cx="1632976" cy="554329"/>
              </a:xfrm>
              <a:prstGeom prst="rect">
                <a:avLst/>
              </a:prstGeom>
              <a:solidFill>
                <a:srgbClr val="C49C7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39" name="Line 30">
                <a:extLst>
                  <a:ext uri="{FF2B5EF4-FFF2-40B4-BE49-F238E27FC236}">
                    <a16:creationId xmlns:a16="http://schemas.microsoft.com/office/drawing/2014/main" id="{4D145E77-E169-C94E-94EC-1AFC94FAE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2668" y="6410495"/>
                <a:ext cx="1465" cy="554329"/>
              </a:xfrm>
              <a:prstGeom prst="line">
                <a:avLst/>
              </a:prstGeom>
              <a:noFill/>
              <a:ln w="26988">
                <a:solidFill>
                  <a:srgbClr val="D6AB8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40" name="Line 31">
                <a:extLst>
                  <a:ext uri="{FF2B5EF4-FFF2-40B4-BE49-F238E27FC236}">
                    <a16:creationId xmlns:a16="http://schemas.microsoft.com/office/drawing/2014/main" id="{0C6008FA-A58D-1040-876B-7345E426AC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2668" y="6964819"/>
                <a:ext cx="1632976" cy="1382"/>
              </a:xfrm>
              <a:prstGeom prst="line">
                <a:avLst/>
              </a:prstGeom>
              <a:noFill/>
              <a:ln w="26988">
                <a:solidFill>
                  <a:srgbClr val="B7926D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41" name="Line 32">
                <a:extLst>
                  <a:ext uri="{FF2B5EF4-FFF2-40B4-BE49-F238E27FC236}">
                    <a16:creationId xmlns:a16="http://schemas.microsoft.com/office/drawing/2014/main" id="{19E2AE12-10C0-6D49-AE86-4C7B05203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55644" y="6410495"/>
                <a:ext cx="1464" cy="554329"/>
              </a:xfrm>
              <a:prstGeom prst="line">
                <a:avLst/>
              </a:prstGeom>
              <a:noFill/>
              <a:ln w="26988">
                <a:solidFill>
                  <a:srgbClr val="EABB8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42" name="Line 33">
                <a:extLst>
                  <a:ext uri="{FF2B5EF4-FFF2-40B4-BE49-F238E27FC236}">
                    <a16:creationId xmlns:a16="http://schemas.microsoft.com/office/drawing/2014/main" id="{7ED6B155-8C6A-C745-954A-B6F3627B7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22667" y="6412530"/>
                <a:ext cx="1632976" cy="1383"/>
              </a:xfrm>
              <a:prstGeom prst="line">
                <a:avLst/>
              </a:prstGeom>
              <a:noFill/>
              <a:ln w="26988">
                <a:solidFill>
                  <a:srgbClr val="B7926D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143" name="Rectangle 34">
                <a:extLst>
                  <a:ext uri="{FF2B5EF4-FFF2-40B4-BE49-F238E27FC236}">
                    <a16:creationId xmlns:a16="http://schemas.microsoft.com/office/drawing/2014/main" id="{B5C8329F-FD91-6245-8DEF-E098C6CD4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5122" y="6492417"/>
                <a:ext cx="114967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defTabSz="1009650"/>
                <a:r>
                  <a:rPr lang="zh-CN" altLang="en-US" sz="2800" dirty="0">
                    <a:solidFill>
                      <a:srgbClr val="000000"/>
                    </a:solidFill>
                    <a:latin typeface="SimHei" panose="02010609060101010101" pitchFamily="49" charset="-122"/>
                    <a:ea typeface="SimHei" panose="02010609060101010101" pitchFamily="49" charset="-122"/>
                  </a:rPr>
                  <a:t>存储器</a:t>
                </a:r>
                <a:endParaRPr lang="zh-CN" altLang="en-US" sz="2800" dirty="0">
                  <a:latin typeface="Arial" charset="0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45" name="Line 19">
              <a:extLst>
                <a:ext uri="{FF2B5EF4-FFF2-40B4-BE49-F238E27FC236}">
                  <a16:creationId xmlns:a16="http://schemas.microsoft.com/office/drawing/2014/main" id="{26E951CA-D7B5-EF42-B017-5534A706D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85384" y="4020272"/>
              <a:ext cx="444788" cy="1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6" name="Line 19">
              <a:extLst>
                <a:ext uri="{FF2B5EF4-FFF2-40B4-BE49-F238E27FC236}">
                  <a16:creationId xmlns:a16="http://schemas.microsoft.com/office/drawing/2014/main" id="{4F9E567A-A6FB-2442-9861-02536D6B0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0992" y="4020272"/>
              <a:ext cx="390556" cy="0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7" name="Line 19">
              <a:extLst>
                <a:ext uri="{FF2B5EF4-FFF2-40B4-BE49-F238E27FC236}">
                  <a16:creationId xmlns:a16="http://schemas.microsoft.com/office/drawing/2014/main" id="{484CA25E-41FF-0744-8163-B9EB6425C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4249299"/>
              <a:ext cx="0" cy="436725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934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48</a:t>
            </a:fld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4865A5B-F969-E54D-9B34-6126A1E6E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75" y="1332910"/>
            <a:ext cx="8229600" cy="1143001"/>
          </a:xfrm>
        </p:spPr>
        <p:txBody>
          <a:bodyPr/>
          <a:lstStyle/>
          <a:p>
            <a:r>
              <a:rPr lang="zh-CN" altLang="en-US" dirty="0"/>
              <a:t>分散连接</a:t>
            </a:r>
            <a:endParaRPr lang="en-US" altLang="zh-CN" dirty="0"/>
          </a:p>
          <a:p>
            <a:pPr lvl="1"/>
            <a:r>
              <a:rPr lang="zh-CN" altLang="en-US" sz="2400" dirty="0"/>
              <a:t>处理器和每个设备都有独立的通信通道</a:t>
            </a:r>
            <a:endParaRPr lang="en-US" altLang="zh-CN" sz="2400" dirty="0"/>
          </a:p>
          <a:p>
            <a:pPr lvl="1"/>
            <a:r>
              <a:rPr lang="zh-CN" altLang="en-US" sz="2400" dirty="0"/>
              <a:t>布局布线困难，可扩展性差</a:t>
            </a:r>
            <a:endParaRPr lang="en-US" altLang="zh-CN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935D27-AA03-0245-B563-4321C4029123}"/>
              </a:ext>
            </a:extLst>
          </p:cNvPr>
          <p:cNvSpPr/>
          <p:nvPr/>
        </p:nvSpPr>
        <p:spPr>
          <a:xfrm>
            <a:off x="4047253" y="3982018"/>
            <a:ext cx="1066577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处理器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7E168044-D0B2-FB46-ADD9-36E1820B7A37}"/>
              </a:ext>
            </a:extLst>
          </p:cNvPr>
          <p:cNvSpPr/>
          <p:nvPr/>
        </p:nvSpPr>
        <p:spPr>
          <a:xfrm>
            <a:off x="2181768" y="3000158"/>
            <a:ext cx="1066577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键盘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08D03A9-E2BA-8046-870F-F84085CA6DFC}"/>
              </a:ext>
            </a:extLst>
          </p:cNvPr>
          <p:cNvSpPr/>
          <p:nvPr/>
        </p:nvSpPr>
        <p:spPr>
          <a:xfrm>
            <a:off x="2181768" y="3555982"/>
            <a:ext cx="1066577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鼠标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B374B8B-BA64-E240-83C4-0607A96B8080}"/>
              </a:ext>
            </a:extLst>
          </p:cNvPr>
          <p:cNvSpPr/>
          <p:nvPr/>
        </p:nvSpPr>
        <p:spPr>
          <a:xfrm>
            <a:off x="1923693" y="4111806"/>
            <a:ext cx="1528418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网络适配器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5EFD11B-D079-484C-9883-7BF75B640A71}"/>
              </a:ext>
            </a:extLst>
          </p:cNvPr>
          <p:cNvSpPr/>
          <p:nvPr/>
        </p:nvSpPr>
        <p:spPr>
          <a:xfrm>
            <a:off x="2160829" y="4667629"/>
            <a:ext cx="110845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磁盘</a:t>
            </a:r>
          </a:p>
        </p:txBody>
      </p: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0932913C-727B-9349-97C6-87BE3C086563}"/>
              </a:ext>
            </a:extLst>
          </p:cNvPr>
          <p:cNvCxnSpPr>
            <a:cxnSpLocks/>
          </p:cNvCxnSpPr>
          <p:nvPr/>
        </p:nvCxnSpPr>
        <p:spPr>
          <a:xfrm>
            <a:off x="2734574" y="5229234"/>
            <a:ext cx="0" cy="370936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左大括号 91">
            <a:extLst>
              <a:ext uri="{FF2B5EF4-FFF2-40B4-BE49-F238E27FC236}">
                <a16:creationId xmlns:a16="http://schemas.microsoft.com/office/drawing/2014/main" id="{B6CFEC45-E031-1943-84AB-37A4AC08DE48}"/>
              </a:ext>
            </a:extLst>
          </p:cNvPr>
          <p:cNvSpPr/>
          <p:nvPr/>
        </p:nvSpPr>
        <p:spPr>
          <a:xfrm>
            <a:off x="1742540" y="3000158"/>
            <a:ext cx="181152" cy="260001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ABAEB13B-026B-B647-B84F-6F573A500300}"/>
              </a:ext>
            </a:extLst>
          </p:cNvPr>
          <p:cNvGrpSpPr/>
          <p:nvPr/>
        </p:nvGrpSpPr>
        <p:grpSpPr>
          <a:xfrm>
            <a:off x="519395" y="3263255"/>
            <a:ext cx="1154067" cy="2062235"/>
            <a:chOff x="511900" y="3174946"/>
            <a:chExt cx="1154067" cy="2268459"/>
          </a:xfrm>
        </p:grpSpPr>
        <p:sp>
          <p:nvSpPr>
            <p:cNvPr id="94" name="Freeform 48">
              <a:extLst>
                <a:ext uri="{FF2B5EF4-FFF2-40B4-BE49-F238E27FC236}">
                  <a16:creationId xmlns:a16="http://schemas.microsoft.com/office/drawing/2014/main" id="{571F05E7-AD37-0345-8FC2-2FAB3BC3D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526" y="3174946"/>
              <a:ext cx="64440" cy="2267080"/>
            </a:xfrm>
            <a:custGeom>
              <a:avLst/>
              <a:gdLst>
                <a:gd name="T0" fmla="*/ 0 w 39"/>
                <a:gd name="T1" fmla="*/ 2147483647 h 1547"/>
                <a:gd name="T2" fmla="*/ 0 w 39"/>
                <a:gd name="T3" fmla="*/ 2147483647 h 1547"/>
                <a:gd name="T4" fmla="*/ 2147483647 w 39"/>
                <a:gd name="T5" fmla="*/ 0 h 1547"/>
                <a:gd name="T6" fmla="*/ 2147483647 w 39"/>
                <a:gd name="T7" fmla="*/ 2147483647 h 1547"/>
                <a:gd name="T8" fmla="*/ 0 w 39"/>
                <a:gd name="T9" fmla="*/ 2147483647 h 15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7">
                  <a:moveTo>
                    <a:pt x="0" y="154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5" name="Line 49">
              <a:extLst>
                <a:ext uri="{FF2B5EF4-FFF2-40B4-BE49-F238E27FC236}">
                  <a16:creationId xmlns:a16="http://schemas.microsoft.com/office/drawing/2014/main" id="{CFE3C524-20C2-7E46-96E7-91E176B589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5385350"/>
              <a:ext cx="64440" cy="56676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6" name="Freeform 50">
              <a:extLst>
                <a:ext uri="{FF2B5EF4-FFF2-40B4-BE49-F238E27FC236}">
                  <a16:creationId xmlns:a16="http://schemas.microsoft.com/office/drawing/2014/main" id="{1885C688-E8A8-CB4D-9390-EDB32B78E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00" y="3183083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7" name="Line 51">
              <a:extLst>
                <a:ext uri="{FF2B5EF4-FFF2-40B4-BE49-F238E27FC236}">
                  <a16:creationId xmlns:a16="http://schemas.microsoft.com/office/drawing/2014/main" id="{6696B585-D03B-7F42-B869-ABD37C1A7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183083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8" name="Rectangle 52">
              <a:extLst>
                <a:ext uri="{FF2B5EF4-FFF2-40B4-BE49-F238E27FC236}">
                  <a16:creationId xmlns:a16="http://schemas.microsoft.com/office/drawing/2014/main" id="{6F34AC46-BFAE-9249-9894-33E328B72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00" y="3231623"/>
              <a:ext cx="1089627" cy="2210403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9" name="Line 53">
              <a:extLst>
                <a:ext uri="{FF2B5EF4-FFF2-40B4-BE49-F238E27FC236}">
                  <a16:creationId xmlns:a16="http://schemas.microsoft.com/office/drawing/2014/main" id="{A5C5BA06-413E-D142-9F56-272B0CB7A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0" name="Line 54">
              <a:extLst>
                <a:ext uri="{FF2B5EF4-FFF2-40B4-BE49-F238E27FC236}">
                  <a16:creationId xmlns:a16="http://schemas.microsoft.com/office/drawing/2014/main" id="{9C40C7CF-C77E-304C-9E55-FB1B835CC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5442022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1" name="Line 55">
              <a:extLst>
                <a:ext uri="{FF2B5EF4-FFF2-40B4-BE49-F238E27FC236}">
                  <a16:creationId xmlns:a16="http://schemas.microsoft.com/office/drawing/2014/main" id="{CB1ACEE2-8DB9-734B-B793-BD7F5BCB4D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2" name="Line 56">
              <a:extLst>
                <a:ext uri="{FF2B5EF4-FFF2-40B4-BE49-F238E27FC236}">
                  <a16:creationId xmlns:a16="http://schemas.microsoft.com/office/drawing/2014/main" id="{7799ED7E-4220-8C45-B8F5-87703844A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00" y="3239755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3" name="Rectangle 57">
              <a:extLst>
                <a:ext uri="{FF2B5EF4-FFF2-40B4-BE49-F238E27FC236}">
                  <a16:creationId xmlns:a16="http://schemas.microsoft.com/office/drawing/2014/main" id="{A6C8BE83-B318-DD43-A6E1-0C0DFCFE6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21" y="3896434"/>
              <a:ext cx="725478" cy="94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输入</a:t>
              </a:r>
              <a:endParaRPr lang="en-US" altLang="zh-CN" sz="28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设备</a:t>
              </a:r>
              <a:endParaRPr lang="zh-CN" altLang="en-US" sz="28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04" name="Rectangle 58">
              <a:extLst>
                <a:ext uri="{FF2B5EF4-FFF2-40B4-BE49-F238E27FC236}">
                  <a16:creationId xmlns:a16="http://schemas.microsoft.com/office/drawing/2014/main" id="{D16AA6B4-0AC8-9C4D-ABC7-6FA174654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3965585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05" name="Rectangle 60">
              <a:extLst>
                <a:ext uri="{FF2B5EF4-FFF2-40B4-BE49-F238E27FC236}">
                  <a16:creationId xmlns:a16="http://schemas.microsoft.com/office/drawing/2014/main" id="{9305B73F-6997-1C46-83F2-0878C1108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4327810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107" name="矩形 106">
            <a:extLst>
              <a:ext uri="{FF2B5EF4-FFF2-40B4-BE49-F238E27FC236}">
                <a16:creationId xmlns:a16="http://schemas.microsoft.com/office/drawing/2014/main" id="{23DC0EEB-4400-0C4C-98D0-6394A8430829}"/>
              </a:ext>
            </a:extLst>
          </p:cNvPr>
          <p:cNvSpPr/>
          <p:nvPr/>
        </p:nvSpPr>
        <p:spPr>
          <a:xfrm>
            <a:off x="5842328" y="3000158"/>
            <a:ext cx="117323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显示器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37008612-06BA-D64B-90F5-1263F24B7A1D}"/>
              </a:ext>
            </a:extLst>
          </p:cNvPr>
          <p:cNvSpPr/>
          <p:nvPr/>
        </p:nvSpPr>
        <p:spPr>
          <a:xfrm>
            <a:off x="5842328" y="3555982"/>
            <a:ext cx="117323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显示器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60EBF5F-B457-AF4B-BB7D-E57E2DC2121C}"/>
              </a:ext>
            </a:extLst>
          </p:cNvPr>
          <p:cNvSpPr/>
          <p:nvPr/>
        </p:nvSpPr>
        <p:spPr>
          <a:xfrm>
            <a:off x="5874718" y="4667629"/>
            <a:ext cx="110845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VR/AR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C5F9294E-A65B-8C48-ADB0-AF8FC72E32CF}"/>
              </a:ext>
            </a:extLst>
          </p:cNvPr>
          <p:cNvCxnSpPr>
            <a:cxnSpLocks/>
          </p:cNvCxnSpPr>
          <p:nvPr/>
        </p:nvCxnSpPr>
        <p:spPr>
          <a:xfrm>
            <a:off x="6448463" y="5229234"/>
            <a:ext cx="0" cy="370936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BF744528-D6D4-E144-9B88-F2D4AC80EF3A}"/>
              </a:ext>
            </a:extLst>
          </p:cNvPr>
          <p:cNvGrpSpPr/>
          <p:nvPr/>
        </p:nvGrpSpPr>
        <p:grpSpPr>
          <a:xfrm>
            <a:off x="7532733" y="3080688"/>
            <a:ext cx="1154067" cy="2062235"/>
            <a:chOff x="511900" y="3174946"/>
            <a:chExt cx="1154067" cy="2268459"/>
          </a:xfrm>
        </p:grpSpPr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56907B4D-1F2B-5642-ADE0-10CEEF1B9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526" y="3174946"/>
              <a:ext cx="64440" cy="2267080"/>
            </a:xfrm>
            <a:custGeom>
              <a:avLst/>
              <a:gdLst>
                <a:gd name="T0" fmla="*/ 0 w 39"/>
                <a:gd name="T1" fmla="*/ 2147483647 h 1547"/>
                <a:gd name="T2" fmla="*/ 0 w 39"/>
                <a:gd name="T3" fmla="*/ 2147483647 h 1547"/>
                <a:gd name="T4" fmla="*/ 2147483647 w 39"/>
                <a:gd name="T5" fmla="*/ 0 h 1547"/>
                <a:gd name="T6" fmla="*/ 2147483647 w 39"/>
                <a:gd name="T7" fmla="*/ 2147483647 h 1547"/>
                <a:gd name="T8" fmla="*/ 0 w 39"/>
                <a:gd name="T9" fmla="*/ 2147483647 h 15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7">
                  <a:moveTo>
                    <a:pt x="0" y="154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4" name="Line 49">
              <a:extLst>
                <a:ext uri="{FF2B5EF4-FFF2-40B4-BE49-F238E27FC236}">
                  <a16:creationId xmlns:a16="http://schemas.microsoft.com/office/drawing/2014/main" id="{2033CD70-356F-8947-9255-16D23B3396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5385350"/>
              <a:ext cx="64440" cy="56676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905235D0-AD37-E74D-96C9-0CB70F091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00" y="3183083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6" name="Line 51">
              <a:extLst>
                <a:ext uri="{FF2B5EF4-FFF2-40B4-BE49-F238E27FC236}">
                  <a16:creationId xmlns:a16="http://schemas.microsoft.com/office/drawing/2014/main" id="{68AB49AE-E314-144A-ABF5-FD9AFC390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183083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7" name="Rectangle 52">
              <a:extLst>
                <a:ext uri="{FF2B5EF4-FFF2-40B4-BE49-F238E27FC236}">
                  <a16:creationId xmlns:a16="http://schemas.microsoft.com/office/drawing/2014/main" id="{513E8207-6FD5-784F-932C-F5B251436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00" y="3231623"/>
              <a:ext cx="1089627" cy="2210403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8" name="Line 53">
              <a:extLst>
                <a:ext uri="{FF2B5EF4-FFF2-40B4-BE49-F238E27FC236}">
                  <a16:creationId xmlns:a16="http://schemas.microsoft.com/office/drawing/2014/main" id="{C16DA9F2-797A-A640-B0C4-B97F04DBC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9" name="Line 54">
              <a:extLst>
                <a:ext uri="{FF2B5EF4-FFF2-40B4-BE49-F238E27FC236}">
                  <a16:creationId xmlns:a16="http://schemas.microsoft.com/office/drawing/2014/main" id="{FE4AF766-E27E-104A-9E49-E843F78A0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5442022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0" name="Line 55">
              <a:extLst>
                <a:ext uri="{FF2B5EF4-FFF2-40B4-BE49-F238E27FC236}">
                  <a16:creationId xmlns:a16="http://schemas.microsoft.com/office/drawing/2014/main" id="{EACEB466-BB06-A14F-99AC-815B4E0CF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1" name="Line 56">
              <a:extLst>
                <a:ext uri="{FF2B5EF4-FFF2-40B4-BE49-F238E27FC236}">
                  <a16:creationId xmlns:a16="http://schemas.microsoft.com/office/drawing/2014/main" id="{7AF5E1B4-87D2-154C-B7D0-68AA40D6C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00" y="3239755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2" name="Rectangle 57">
              <a:extLst>
                <a:ext uri="{FF2B5EF4-FFF2-40B4-BE49-F238E27FC236}">
                  <a16:creationId xmlns:a16="http://schemas.microsoft.com/office/drawing/2014/main" id="{B42E39BA-A888-854D-9ED7-DAA7E883D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21" y="3896434"/>
              <a:ext cx="725478" cy="94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输出</a:t>
              </a:r>
              <a:endParaRPr lang="en-US" altLang="zh-CN" sz="28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设备</a:t>
              </a:r>
              <a:endParaRPr lang="zh-CN" altLang="en-US" sz="28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23" name="Rectangle 58">
              <a:extLst>
                <a:ext uri="{FF2B5EF4-FFF2-40B4-BE49-F238E27FC236}">
                  <a16:creationId xmlns:a16="http://schemas.microsoft.com/office/drawing/2014/main" id="{2AB2AEA7-7798-5D40-982D-9221C9112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3965585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24" name="Rectangle 60">
              <a:extLst>
                <a:ext uri="{FF2B5EF4-FFF2-40B4-BE49-F238E27FC236}">
                  <a16:creationId xmlns:a16="http://schemas.microsoft.com/office/drawing/2014/main" id="{962B18A2-C004-BB47-98B5-5EC2D2E97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4327810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126" name="矩形 125">
            <a:extLst>
              <a:ext uri="{FF2B5EF4-FFF2-40B4-BE49-F238E27FC236}">
                <a16:creationId xmlns:a16="http://schemas.microsoft.com/office/drawing/2014/main" id="{3569A834-FF5B-7F4C-A2D1-F4DE548C6F54}"/>
              </a:ext>
            </a:extLst>
          </p:cNvPr>
          <p:cNvSpPr/>
          <p:nvPr/>
        </p:nvSpPr>
        <p:spPr>
          <a:xfrm>
            <a:off x="3522953" y="5251119"/>
            <a:ext cx="921854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内存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EA2F3D7-ACAD-0A44-9F7A-EE58DBFCD027}"/>
              </a:ext>
            </a:extLst>
          </p:cNvPr>
          <p:cNvSpPr/>
          <p:nvPr/>
        </p:nvSpPr>
        <p:spPr>
          <a:xfrm>
            <a:off x="4884505" y="5251119"/>
            <a:ext cx="921854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内存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F4A0BDD0-2E80-D54A-8759-A74AF3FBFA65}"/>
              </a:ext>
            </a:extLst>
          </p:cNvPr>
          <p:cNvCxnSpPr>
            <a:cxnSpLocks/>
          </p:cNvCxnSpPr>
          <p:nvPr/>
        </p:nvCxnSpPr>
        <p:spPr>
          <a:xfrm>
            <a:off x="4545678" y="5466562"/>
            <a:ext cx="235495" cy="0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右大括号 131">
            <a:extLst>
              <a:ext uri="{FF2B5EF4-FFF2-40B4-BE49-F238E27FC236}">
                <a16:creationId xmlns:a16="http://schemas.microsoft.com/office/drawing/2014/main" id="{B8192446-715A-9E42-8CAA-FEBDDBE30C91}"/>
              </a:ext>
            </a:extLst>
          </p:cNvPr>
          <p:cNvSpPr/>
          <p:nvPr/>
        </p:nvSpPr>
        <p:spPr>
          <a:xfrm rot="5400000">
            <a:off x="4547925" y="4765530"/>
            <a:ext cx="233461" cy="2283406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52903191-E5D2-D343-B7C4-E4C322BDF376}"/>
              </a:ext>
            </a:extLst>
          </p:cNvPr>
          <p:cNvGrpSpPr/>
          <p:nvPr/>
        </p:nvGrpSpPr>
        <p:grpSpPr>
          <a:xfrm>
            <a:off x="3822667" y="6039035"/>
            <a:ext cx="1698881" cy="609618"/>
            <a:chOff x="3822667" y="6356583"/>
            <a:chExt cx="1698881" cy="609618"/>
          </a:xfrm>
        </p:grpSpPr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0E4407F7-4ADB-5B4C-BE5D-1C8E52AC1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5644" y="6356583"/>
              <a:ext cx="65904" cy="608241"/>
            </a:xfrm>
            <a:custGeom>
              <a:avLst/>
              <a:gdLst>
                <a:gd name="T0" fmla="*/ 0 w 39"/>
                <a:gd name="T1" fmla="*/ 2147483647 h 415"/>
                <a:gd name="T2" fmla="*/ 0 w 39"/>
                <a:gd name="T3" fmla="*/ 2147483647 h 415"/>
                <a:gd name="T4" fmla="*/ 2147483647 w 39"/>
                <a:gd name="T5" fmla="*/ 0 h 415"/>
                <a:gd name="T6" fmla="*/ 2147483647 w 39"/>
                <a:gd name="T7" fmla="*/ 2147483647 h 415"/>
                <a:gd name="T8" fmla="*/ 0 w 39"/>
                <a:gd name="T9" fmla="*/ 2147483647 h 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15">
                  <a:moveTo>
                    <a:pt x="0" y="415"/>
                  </a:moveTo>
                  <a:lnTo>
                    <a:pt x="0" y="37"/>
                  </a:lnTo>
                  <a:lnTo>
                    <a:pt x="39" y="0"/>
                  </a:lnTo>
                  <a:lnTo>
                    <a:pt x="39" y="376"/>
                  </a:lnTo>
                  <a:lnTo>
                    <a:pt x="0" y="415"/>
                  </a:lnTo>
                  <a:close/>
                </a:path>
              </a:pathLst>
            </a:custGeom>
            <a:solidFill>
              <a:srgbClr val="E1B4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5" name="Line 26">
              <a:extLst>
                <a:ext uri="{FF2B5EF4-FFF2-40B4-BE49-F238E27FC236}">
                  <a16:creationId xmlns:a16="http://schemas.microsoft.com/office/drawing/2014/main" id="{F901174E-37EF-214F-B4D5-9F83A14A43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5644" y="6906764"/>
              <a:ext cx="65904" cy="58059"/>
            </a:xfrm>
            <a:prstGeom prst="line">
              <a:avLst/>
            </a:prstGeom>
            <a:noFill/>
            <a:ln w="3175">
              <a:solidFill>
                <a:srgbClr val="E1B4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031C4F01-DCBE-5D45-B9E5-C6A8CDC1A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668" y="6358623"/>
              <a:ext cx="1698880" cy="53912"/>
            </a:xfrm>
            <a:custGeom>
              <a:avLst/>
              <a:gdLst>
                <a:gd name="T0" fmla="*/ 2147483647 w 1020"/>
                <a:gd name="T1" fmla="*/ 2147483647 h 37"/>
                <a:gd name="T2" fmla="*/ 0 w 1020"/>
                <a:gd name="T3" fmla="*/ 2147483647 h 37"/>
                <a:gd name="T4" fmla="*/ 2147483647 w 1020"/>
                <a:gd name="T5" fmla="*/ 0 h 37"/>
                <a:gd name="T6" fmla="*/ 2147483647 w 1020"/>
                <a:gd name="T7" fmla="*/ 0 h 37"/>
                <a:gd name="T8" fmla="*/ 2147483647 w 1020"/>
                <a:gd name="T9" fmla="*/ 214748364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0" h="37">
                  <a:moveTo>
                    <a:pt x="981" y="37"/>
                  </a:moveTo>
                  <a:lnTo>
                    <a:pt x="0" y="37"/>
                  </a:lnTo>
                  <a:lnTo>
                    <a:pt x="37" y="0"/>
                  </a:lnTo>
                  <a:lnTo>
                    <a:pt x="1020" y="0"/>
                  </a:lnTo>
                  <a:lnTo>
                    <a:pt x="981" y="37"/>
                  </a:lnTo>
                  <a:close/>
                </a:path>
              </a:pathLst>
            </a:custGeom>
            <a:solidFill>
              <a:srgbClr val="9879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7" name="Line 28">
              <a:extLst>
                <a:ext uri="{FF2B5EF4-FFF2-40B4-BE49-F238E27FC236}">
                  <a16:creationId xmlns:a16="http://schemas.microsoft.com/office/drawing/2014/main" id="{50FB4B18-EFA5-E949-98FE-271B18B0B0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5644" y="6358623"/>
              <a:ext cx="65904" cy="53912"/>
            </a:xfrm>
            <a:prstGeom prst="line">
              <a:avLst/>
            </a:prstGeom>
            <a:noFill/>
            <a:ln w="3175">
              <a:solidFill>
                <a:srgbClr val="9879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8" name="Rectangle 29">
              <a:extLst>
                <a:ext uri="{FF2B5EF4-FFF2-40B4-BE49-F238E27FC236}">
                  <a16:creationId xmlns:a16="http://schemas.microsoft.com/office/drawing/2014/main" id="{2CB5DCAC-9DCC-F447-B11A-145AF71D9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2668" y="6410495"/>
              <a:ext cx="1632976" cy="554329"/>
            </a:xfrm>
            <a:prstGeom prst="rect">
              <a:avLst/>
            </a:prstGeom>
            <a:solidFill>
              <a:srgbClr val="C49C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9" name="Line 30">
              <a:extLst>
                <a:ext uri="{FF2B5EF4-FFF2-40B4-BE49-F238E27FC236}">
                  <a16:creationId xmlns:a16="http://schemas.microsoft.com/office/drawing/2014/main" id="{4D145E77-E169-C94E-94EC-1AFC94FAE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668" y="6410495"/>
              <a:ext cx="1465" cy="554329"/>
            </a:xfrm>
            <a:prstGeom prst="line">
              <a:avLst/>
            </a:prstGeom>
            <a:noFill/>
            <a:ln w="26988">
              <a:solidFill>
                <a:srgbClr val="D6AB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0" name="Line 31">
              <a:extLst>
                <a:ext uri="{FF2B5EF4-FFF2-40B4-BE49-F238E27FC236}">
                  <a16:creationId xmlns:a16="http://schemas.microsoft.com/office/drawing/2014/main" id="{0C6008FA-A58D-1040-876B-7345E426A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668" y="6964819"/>
              <a:ext cx="1632976" cy="1382"/>
            </a:xfrm>
            <a:prstGeom prst="line">
              <a:avLst/>
            </a:prstGeom>
            <a:noFill/>
            <a:ln w="26988">
              <a:solidFill>
                <a:srgbClr val="B792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1" name="Line 32">
              <a:extLst>
                <a:ext uri="{FF2B5EF4-FFF2-40B4-BE49-F238E27FC236}">
                  <a16:creationId xmlns:a16="http://schemas.microsoft.com/office/drawing/2014/main" id="{19E2AE12-10C0-6D49-AE86-4C7B05203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5644" y="6410495"/>
              <a:ext cx="1464" cy="554329"/>
            </a:xfrm>
            <a:prstGeom prst="line">
              <a:avLst/>
            </a:prstGeom>
            <a:noFill/>
            <a:ln w="26988">
              <a:solidFill>
                <a:srgbClr val="EABB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2" name="Line 33">
              <a:extLst>
                <a:ext uri="{FF2B5EF4-FFF2-40B4-BE49-F238E27FC236}">
                  <a16:creationId xmlns:a16="http://schemas.microsoft.com/office/drawing/2014/main" id="{7ED6B155-8C6A-C745-954A-B6F3627B79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667" y="6412530"/>
              <a:ext cx="1632976" cy="1383"/>
            </a:xfrm>
            <a:prstGeom prst="line">
              <a:avLst/>
            </a:prstGeom>
            <a:noFill/>
            <a:ln w="26988">
              <a:solidFill>
                <a:srgbClr val="B792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3" name="Rectangle 34">
              <a:extLst>
                <a:ext uri="{FF2B5EF4-FFF2-40B4-BE49-F238E27FC236}">
                  <a16:creationId xmlns:a16="http://schemas.microsoft.com/office/drawing/2014/main" id="{B5C8329F-FD91-6245-8DEF-E098C6CD4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5122" y="6492417"/>
              <a:ext cx="114967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存储器</a:t>
              </a:r>
              <a:endParaRPr lang="zh-CN" altLang="en-US" sz="2800" dirty="0"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145" name="Line 19">
            <a:extLst>
              <a:ext uri="{FF2B5EF4-FFF2-40B4-BE49-F238E27FC236}">
                <a16:creationId xmlns:a16="http://schemas.microsoft.com/office/drawing/2014/main" id="{26E951CA-D7B5-EF42-B017-5534A706DA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345" y="3263255"/>
            <a:ext cx="781827" cy="948412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3" name="Line 19">
            <a:extLst>
              <a:ext uri="{FF2B5EF4-FFF2-40B4-BE49-F238E27FC236}">
                <a16:creationId xmlns:a16="http://schemas.microsoft.com/office/drawing/2014/main" id="{634F8E7A-BA75-6D4D-8DD3-9D99563BA2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31264" y="3754983"/>
            <a:ext cx="732560" cy="456684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4" name="Line 19">
            <a:extLst>
              <a:ext uri="{FF2B5EF4-FFF2-40B4-BE49-F238E27FC236}">
                <a16:creationId xmlns:a16="http://schemas.microsoft.com/office/drawing/2014/main" id="{7A879BB5-D087-4449-A5BB-8F9BD77D98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69190" y="4228778"/>
            <a:ext cx="560982" cy="91385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" name="Line 19">
            <a:extLst>
              <a:ext uri="{FF2B5EF4-FFF2-40B4-BE49-F238E27FC236}">
                <a16:creationId xmlns:a16="http://schemas.microsoft.com/office/drawing/2014/main" id="{76B15268-0DAA-7045-B597-C474F561E7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9282" y="4228778"/>
            <a:ext cx="760889" cy="663650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6" name="Line 19">
            <a:extLst>
              <a:ext uri="{FF2B5EF4-FFF2-40B4-BE49-F238E27FC236}">
                <a16:creationId xmlns:a16="http://schemas.microsoft.com/office/drawing/2014/main" id="{90B1B95B-48C3-8A47-B65A-F00630FEA1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8157" y="4410667"/>
            <a:ext cx="581031" cy="805699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7" name="Line 19">
            <a:extLst>
              <a:ext uri="{FF2B5EF4-FFF2-40B4-BE49-F238E27FC236}">
                <a16:creationId xmlns:a16="http://schemas.microsoft.com/office/drawing/2014/main" id="{997F6F24-0C0D-D348-8979-3ECF95D2F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6212" y="4414457"/>
            <a:ext cx="765233" cy="824705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8" name="Line 19">
            <a:extLst>
              <a:ext uri="{FF2B5EF4-FFF2-40B4-BE49-F238E27FC236}">
                <a16:creationId xmlns:a16="http://schemas.microsoft.com/office/drawing/2014/main" id="{9E77CE36-1A72-8745-99FF-27BB353A3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2461" y="4211667"/>
            <a:ext cx="760794" cy="694089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9" name="Line 19">
            <a:extLst>
              <a:ext uri="{FF2B5EF4-FFF2-40B4-BE49-F238E27FC236}">
                <a16:creationId xmlns:a16="http://schemas.microsoft.com/office/drawing/2014/main" id="{1F817D80-6A9D-474F-97F0-81807010A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8333" y="4228779"/>
            <a:ext cx="548770" cy="114660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70" name="Line 19">
            <a:extLst>
              <a:ext uri="{FF2B5EF4-FFF2-40B4-BE49-F238E27FC236}">
                <a16:creationId xmlns:a16="http://schemas.microsoft.com/office/drawing/2014/main" id="{0BC223BF-9BD2-474F-BC86-E30E0194AE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0911" y="3791150"/>
            <a:ext cx="709954" cy="436251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71" name="Line 19">
            <a:extLst>
              <a:ext uri="{FF2B5EF4-FFF2-40B4-BE49-F238E27FC236}">
                <a16:creationId xmlns:a16="http://schemas.microsoft.com/office/drawing/2014/main" id="{DBDE81E6-2589-8C42-982D-F40B2141A4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9798" y="3225898"/>
            <a:ext cx="709519" cy="990924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4ED5F2-2084-FF05-28F4-FC530B693100}"/>
              </a:ext>
            </a:extLst>
          </p:cNvPr>
          <p:cNvSpPr/>
          <p:nvPr/>
        </p:nvSpPr>
        <p:spPr>
          <a:xfrm>
            <a:off x="5691892" y="4111806"/>
            <a:ext cx="152841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网络适配器</a:t>
            </a: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DC6D9411-C63F-3009-DB4C-BC804C49D537}"/>
              </a:ext>
            </a:extLst>
          </p:cNvPr>
          <p:cNvSpPr/>
          <p:nvPr/>
        </p:nvSpPr>
        <p:spPr>
          <a:xfrm>
            <a:off x="7163951" y="3000158"/>
            <a:ext cx="233461" cy="2600012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729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49</a:t>
            </a:fld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4865A5B-F969-E54D-9B34-6126A1E6E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75" y="1332910"/>
            <a:ext cx="8229600" cy="1468277"/>
          </a:xfrm>
        </p:spPr>
        <p:txBody>
          <a:bodyPr/>
          <a:lstStyle/>
          <a:p>
            <a:r>
              <a:rPr lang="zh-CN" altLang="en-US" dirty="0"/>
              <a:t>所有外部设备接在统一的接口（总线）上</a:t>
            </a:r>
            <a:endParaRPr lang="en-US" altLang="zh-CN" dirty="0"/>
          </a:p>
          <a:p>
            <a:pPr lvl="1"/>
            <a:r>
              <a:rPr lang="zh-CN" altLang="en-US" sz="2400" dirty="0"/>
              <a:t>布局布线简单，可扩展性强</a:t>
            </a:r>
            <a:endParaRPr lang="en-US" altLang="zh-CN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935D27-AA03-0245-B563-4321C4029123}"/>
              </a:ext>
            </a:extLst>
          </p:cNvPr>
          <p:cNvSpPr/>
          <p:nvPr/>
        </p:nvSpPr>
        <p:spPr>
          <a:xfrm>
            <a:off x="4047253" y="3982018"/>
            <a:ext cx="1066577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处理器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7E168044-D0B2-FB46-ADD9-36E1820B7A37}"/>
              </a:ext>
            </a:extLst>
          </p:cNvPr>
          <p:cNvSpPr/>
          <p:nvPr/>
        </p:nvSpPr>
        <p:spPr>
          <a:xfrm>
            <a:off x="2181768" y="3000158"/>
            <a:ext cx="1066577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键盘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08D03A9-E2BA-8046-870F-F84085CA6DFC}"/>
              </a:ext>
            </a:extLst>
          </p:cNvPr>
          <p:cNvSpPr/>
          <p:nvPr/>
        </p:nvSpPr>
        <p:spPr>
          <a:xfrm>
            <a:off x="2181768" y="3555982"/>
            <a:ext cx="1066577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鼠标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B374B8B-BA64-E240-83C4-0607A96B8080}"/>
              </a:ext>
            </a:extLst>
          </p:cNvPr>
          <p:cNvSpPr/>
          <p:nvPr/>
        </p:nvSpPr>
        <p:spPr>
          <a:xfrm>
            <a:off x="1923693" y="4111806"/>
            <a:ext cx="1528418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网络适配器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5EFD11B-D079-484C-9883-7BF75B640A71}"/>
              </a:ext>
            </a:extLst>
          </p:cNvPr>
          <p:cNvSpPr/>
          <p:nvPr/>
        </p:nvSpPr>
        <p:spPr>
          <a:xfrm>
            <a:off x="2160829" y="4667629"/>
            <a:ext cx="110845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磁盘</a:t>
            </a:r>
          </a:p>
        </p:txBody>
      </p: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0932913C-727B-9349-97C6-87BE3C086563}"/>
              </a:ext>
            </a:extLst>
          </p:cNvPr>
          <p:cNvCxnSpPr>
            <a:cxnSpLocks/>
          </p:cNvCxnSpPr>
          <p:nvPr/>
        </p:nvCxnSpPr>
        <p:spPr>
          <a:xfrm>
            <a:off x="2734574" y="5229234"/>
            <a:ext cx="0" cy="370936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左大括号 91">
            <a:extLst>
              <a:ext uri="{FF2B5EF4-FFF2-40B4-BE49-F238E27FC236}">
                <a16:creationId xmlns:a16="http://schemas.microsoft.com/office/drawing/2014/main" id="{B6CFEC45-E031-1943-84AB-37A4AC08DE48}"/>
              </a:ext>
            </a:extLst>
          </p:cNvPr>
          <p:cNvSpPr/>
          <p:nvPr/>
        </p:nvSpPr>
        <p:spPr>
          <a:xfrm>
            <a:off x="1742540" y="3000158"/>
            <a:ext cx="181152" cy="260001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ABAEB13B-026B-B647-B84F-6F573A500300}"/>
              </a:ext>
            </a:extLst>
          </p:cNvPr>
          <p:cNvGrpSpPr/>
          <p:nvPr/>
        </p:nvGrpSpPr>
        <p:grpSpPr>
          <a:xfrm>
            <a:off x="519395" y="3263255"/>
            <a:ext cx="1154067" cy="2062235"/>
            <a:chOff x="511900" y="3174946"/>
            <a:chExt cx="1154067" cy="2268459"/>
          </a:xfrm>
        </p:grpSpPr>
        <p:sp>
          <p:nvSpPr>
            <p:cNvPr id="94" name="Freeform 48">
              <a:extLst>
                <a:ext uri="{FF2B5EF4-FFF2-40B4-BE49-F238E27FC236}">
                  <a16:creationId xmlns:a16="http://schemas.microsoft.com/office/drawing/2014/main" id="{571F05E7-AD37-0345-8FC2-2FAB3BC3D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526" y="3174946"/>
              <a:ext cx="64440" cy="2267080"/>
            </a:xfrm>
            <a:custGeom>
              <a:avLst/>
              <a:gdLst>
                <a:gd name="T0" fmla="*/ 0 w 39"/>
                <a:gd name="T1" fmla="*/ 2147483647 h 1547"/>
                <a:gd name="T2" fmla="*/ 0 w 39"/>
                <a:gd name="T3" fmla="*/ 2147483647 h 1547"/>
                <a:gd name="T4" fmla="*/ 2147483647 w 39"/>
                <a:gd name="T5" fmla="*/ 0 h 1547"/>
                <a:gd name="T6" fmla="*/ 2147483647 w 39"/>
                <a:gd name="T7" fmla="*/ 2147483647 h 1547"/>
                <a:gd name="T8" fmla="*/ 0 w 39"/>
                <a:gd name="T9" fmla="*/ 2147483647 h 15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7">
                  <a:moveTo>
                    <a:pt x="0" y="154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5" name="Line 49">
              <a:extLst>
                <a:ext uri="{FF2B5EF4-FFF2-40B4-BE49-F238E27FC236}">
                  <a16:creationId xmlns:a16="http://schemas.microsoft.com/office/drawing/2014/main" id="{CFE3C524-20C2-7E46-96E7-91E176B589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5385350"/>
              <a:ext cx="64440" cy="56676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6" name="Freeform 50">
              <a:extLst>
                <a:ext uri="{FF2B5EF4-FFF2-40B4-BE49-F238E27FC236}">
                  <a16:creationId xmlns:a16="http://schemas.microsoft.com/office/drawing/2014/main" id="{1885C688-E8A8-CB4D-9390-EDB32B78E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00" y="3183083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7" name="Line 51">
              <a:extLst>
                <a:ext uri="{FF2B5EF4-FFF2-40B4-BE49-F238E27FC236}">
                  <a16:creationId xmlns:a16="http://schemas.microsoft.com/office/drawing/2014/main" id="{6696B585-D03B-7F42-B869-ABD37C1A7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183083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8" name="Rectangle 52">
              <a:extLst>
                <a:ext uri="{FF2B5EF4-FFF2-40B4-BE49-F238E27FC236}">
                  <a16:creationId xmlns:a16="http://schemas.microsoft.com/office/drawing/2014/main" id="{6F34AC46-BFAE-9249-9894-33E328B72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00" y="3231623"/>
              <a:ext cx="1089627" cy="2210403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9" name="Line 53">
              <a:extLst>
                <a:ext uri="{FF2B5EF4-FFF2-40B4-BE49-F238E27FC236}">
                  <a16:creationId xmlns:a16="http://schemas.microsoft.com/office/drawing/2014/main" id="{A5C5BA06-413E-D142-9F56-272B0CB7A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0" name="Line 54">
              <a:extLst>
                <a:ext uri="{FF2B5EF4-FFF2-40B4-BE49-F238E27FC236}">
                  <a16:creationId xmlns:a16="http://schemas.microsoft.com/office/drawing/2014/main" id="{9C40C7CF-C77E-304C-9E55-FB1B835CC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5442022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1" name="Line 55">
              <a:extLst>
                <a:ext uri="{FF2B5EF4-FFF2-40B4-BE49-F238E27FC236}">
                  <a16:creationId xmlns:a16="http://schemas.microsoft.com/office/drawing/2014/main" id="{CB1ACEE2-8DB9-734B-B793-BD7F5BCB4D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2" name="Line 56">
              <a:extLst>
                <a:ext uri="{FF2B5EF4-FFF2-40B4-BE49-F238E27FC236}">
                  <a16:creationId xmlns:a16="http://schemas.microsoft.com/office/drawing/2014/main" id="{7799ED7E-4220-8C45-B8F5-87703844A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00" y="3239755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3" name="Rectangle 57">
              <a:extLst>
                <a:ext uri="{FF2B5EF4-FFF2-40B4-BE49-F238E27FC236}">
                  <a16:creationId xmlns:a16="http://schemas.microsoft.com/office/drawing/2014/main" id="{A6C8BE83-B318-DD43-A6E1-0C0DFCFE6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21" y="3896434"/>
              <a:ext cx="725478" cy="94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输入</a:t>
              </a:r>
              <a:endParaRPr lang="en-US" altLang="zh-CN" sz="28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设备</a:t>
              </a:r>
              <a:endParaRPr lang="zh-CN" altLang="en-US" sz="28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04" name="Rectangle 58">
              <a:extLst>
                <a:ext uri="{FF2B5EF4-FFF2-40B4-BE49-F238E27FC236}">
                  <a16:creationId xmlns:a16="http://schemas.microsoft.com/office/drawing/2014/main" id="{D16AA6B4-0AC8-9C4D-ABC7-6FA174654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3965585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05" name="Rectangle 60">
              <a:extLst>
                <a:ext uri="{FF2B5EF4-FFF2-40B4-BE49-F238E27FC236}">
                  <a16:creationId xmlns:a16="http://schemas.microsoft.com/office/drawing/2014/main" id="{9305B73F-6997-1C46-83F2-0878C1108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4327810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107" name="矩形 106">
            <a:extLst>
              <a:ext uri="{FF2B5EF4-FFF2-40B4-BE49-F238E27FC236}">
                <a16:creationId xmlns:a16="http://schemas.microsoft.com/office/drawing/2014/main" id="{23DC0EEB-4400-0C4C-98D0-6394A8430829}"/>
              </a:ext>
            </a:extLst>
          </p:cNvPr>
          <p:cNvSpPr/>
          <p:nvPr/>
        </p:nvSpPr>
        <p:spPr>
          <a:xfrm>
            <a:off x="5842328" y="3000158"/>
            <a:ext cx="117323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显示器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37008612-06BA-D64B-90F5-1263F24B7A1D}"/>
              </a:ext>
            </a:extLst>
          </p:cNvPr>
          <p:cNvSpPr/>
          <p:nvPr/>
        </p:nvSpPr>
        <p:spPr>
          <a:xfrm>
            <a:off x="5842328" y="3555982"/>
            <a:ext cx="117323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显示器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E0020779-923A-7049-A0B6-DAD3DEE7F6C2}"/>
              </a:ext>
            </a:extLst>
          </p:cNvPr>
          <p:cNvSpPr/>
          <p:nvPr/>
        </p:nvSpPr>
        <p:spPr>
          <a:xfrm>
            <a:off x="5691892" y="4111806"/>
            <a:ext cx="152841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网络适配器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60EBF5F-B457-AF4B-BB7D-E57E2DC2121C}"/>
              </a:ext>
            </a:extLst>
          </p:cNvPr>
          <p:cNvSpPr/>
          <p:nvPr/>
        </p:nvSpPr>
        <p:spPr>
          <a:xfrm>
            <a:off x="5874718" y="4667629"/>
            <a:ext cx="110845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VR/AR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C5F9294E-A65B-8C48-ADB0-AF8FC72E32CF}"/>
              </a:ext>
            </a:extLst>
          </p:cNvPr>
          <p:cNvCxnSpPr>
            <a:cxnSpLocks/>
          </p:cNvCxnSpPr>
          <p:nvPr/>
        </p:nvCxnSpPr>
        <p:spPr>
          <a:xfrm>
            <a:off x="6448463" y="5229234"/>
            <a:ext cx="0" cy="370936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BF744528-D6D4-E144-9B88-F2D4AC80EF3A}"/>
              </a:ext>
            </a:extLst>
          </p:cNvPr>
          <p:cNvGrpSpPr/>
          <p:nvPr/>
        </p:nvGrpSpPr>
        <p:grpSpPr>
          <a:xfrm>
            <a:off x="7532733" y="3080688"/>
            <a:ext cx="1154067" cy="2062235"/>
            <a:chOff x="511900" y="3174946"/>
            <a:chExt cx="1154067" cy="2268459"/>
          </a:xfrm>
        </p:grpSpPr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56907B4D-1F2B-5642-ADE0-10CEEF1B9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526" y="3174946"/>
              <a:ext cx="64440" cy="2267080"/>
            </a:xfrm>
            <a:custGeom>
              <a:avLst/>
              <a:gdLst>
                <a:gd name="T0" fmla="*/ 0 w 39"/>
                <a:gd name="T1" fmla="*/ 2147483647 h 1547"/>
                <a:gd name="T2" fmla="*/ 0 w 39"/>
                <a:gd name="T3" fmla="*/ 2147483647 h 1547"/>
                <a:gd name="T4" fmla="*/ 2147483647 w 39"/>
                <a:gd name="T5" fmla="*/ 0 h 1547"/>
                <a:gd name="T6" fmla="*/ 2147483647 w 39"/>
                <a:gd name="T7" fmla="*/ 2147483647 h 1547"/>
                <a:gd name="T8" fmla="*/ 0 w 39"/>
                <a:gd name="T9" fmla="*/ 2147483647 h 15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7">
                  <a:moveTo>
                    <a:pt x="0" y="154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4" name="Line 49">
              <a:extLst>
                <a:ext uri="{FF2B5EF4-FFF2-40B4-BE49-F238E27FC236}">
                  <a16:creationId xmlns:a16="http://schemas.microsoft.com/office/drawing/2014/main" id="{2033CD70-356F-8947-9255-16D23B3396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5385350"/>
              <a:ext cx="64440" cy="56676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905235D0-AD37-E74D-96C9-0CB70F091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00" y="3183083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6" name="Line 51">
              <a:extLst>
                <a:ext uri="{FF2B5EF4-FFF2-40B4-BE49-F238E27FC236}">
                  <a16:creationId xmlns:a16="http://schemas.microsoft.com/office/drawing/2014/main" id="{68AB49AE-E314-144A-ABF5-FD9AFC390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183083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7" name="Rectangle 52">
              <a:extLst>
                <a:ext uri="{FF2B5EF4-FFF2-40B4-BE49-F238E27FC236}">
                  <a16:creationId xmlns:a16="http://schemas.microsoft.com/office/drawing/2014/main" id="{513E8207-6FD5-784F-932C-F5B251436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00" y="3231623"/>
              <a:ext cx="1089627" cy="2210403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8" name="Line 53">
              <a:extLst>
                <a:ext uri="{FF2B5EF4-FFF2-40B4-BE49-F238E27FC236}">
                  <a16:creationId xmlns:a16="http://schemas.microsoft.com/office/drawing/2014/main" id="{C16DA9F2-797A-A640-B0C4-B97F04DBC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9" name="Line 54">
              <a:extLst>
                <a:ext uri="{FF2B5EF4-FFF2-40B4-BE49-F238E27FC236}">
                  <a16:creationId xmlns:a16="http://schemas.microsoft.com/office/drawing/2014/main" id="{FE4AF766-E27E-104A-9E49-E843F78A0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5442022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0" name="Line 55">
              <a:extLst>
                <a:ext uri="{FF2B5EF4-FFF2-40B4-BE49-F238E27FC236}">
                  <a16:creationId xmlns:a16="http://schemas.microsoft.com/office/drawing/2014/main" id="{EACEB466-BB06-A14F-99AC-815B4E0CF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1" name="Line 56">
              <a:extLst>
                <a:ext uri="{FF2B5EF4-FFF2-40B4-BE49-F238E27FC236}">
                  <a16:creationId xmlns:a16="http://schemas.microsoft.com/office/drawing/2014/main" id="{7AF5E1B4-87D2-154C-B7D0-68AA40D6C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00" y="3239755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2" name="Rectangle 57">
              <a:extLst>
                <a:ext uri="{FF2B5EF4-FFF2-40B4-BE49-F238E27FC236}">
                  <a16:creationId xmlns:a16="http://schemas.microsoft.com/office/drawing/2014/main" id="{B42E39BA-A888-854D-9ED7-DAA7E883D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21" y="3896434"/>
              <a:ext cx="725478" cy="94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输出</a:t>
              </a:r>
              <a:endParaRPr lang="en-US" altLang="zh-CN" sz="28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设备</a:t>
              </a:r>
              <a:endParaRPr lang="zh-CN" altLang="en-US" sz="28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23" name="Rectangle 58">
              <a:extLst>
                <a:ext uri="{FF2B5EF4-FFF2-40B4-BE49-F238E27FC236}">
                  <a16:creationId xmlns:a16="http://schemas.microsoft.com/office/drawing/2014/main" id="{2AB2AEA7-7798-5D40-982D-9221C9112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3965585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24" name="Rectangle 60">
              <a:extLst>
                <a:ext uri="{FF2B5EF4-FFF2-40B4-BE49-F238E27FC236}">
                  <a16:creationId xmlns:a16="http://schemas.microsoft.com/office/drawing/2014/main" id="{962B18A2-C004-BB47-98B5-5EC2D2E97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4327810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125" name="右大括号 124">
            <a:extLst>
              <a:ext uri="{FF2B5EF4-FFF2-40B4-BE49-F238E27FC236}">
                <a16:creationId xmlns:a16="http://schemas.microsoft.com/office/drawing/2014/main" id="{4C74C510-7F4D-F044-A48B-B55D76B152B6}"/>
              </a:ext>
            </a:extLst>
          </p:cNvPr>
          <p:cNvSpPr/>
          <p:nvPr/>
        </p:nvSpPr>
        <p:spPr>
          <a:xfrm>
            <a:off x="7163951" y="3000158"/>
            <a:ext cx="233461" cy="2600012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569A834-FF5B-7F4C-A2D1-F4DE548C6F54}"/>
              </a:ext>
            </a:extLst>
          </p:cNvPr>
          <p:cNvSpPr/>
          <p:nvPr/>
        </p:nvSpPr>
        <p:spPr>
          <a:xfrm>
            <a:off x="3522953" y="5251119"/>
            <a:ext cx="921854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内存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EA2F3D7-ACAD-0A44-9F7A-EE58DBFCD027}"/>
              </a:ext>
            </a:extLst>
          </p:cNvPr>
          <p:cNvSpPr/>
          <p:nvPr/>
        </p:nvSpPr>
        <p:spPr>
          <a:xfrm>
            <a:off x="4884505" y="5251119"/>
            <a:ext cx="921854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内存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F4A0BDD0-2E80-D54A-8759-A74AF3FBFA65}"/>
              </a:ext>
            </a:extLst>
          </p:cNvPr>
          <p:cNvCxnSpPr>
            <a:cxnSpLocks/>
          </p:cNvCxnSpPr>
          <p:nvPr/>
        </p:nvCxnSpPr>
        <p:spPr>
          <a:xfrm>
            <a:off x="4545678" y="5466562"/>
            <a:ext cx="235495" cy="0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右大括号 131">
            <a:extLst>
              <a:ext uri="{FF2B5EF4-FFF2-40B4-BE49-F238E27FC236}">
                <a16:creationId xmlns:a16="http://schemas.microsoft.com/office/drawing/2014/main" id="{B8192446-715A-9E42-8CAA-FEBDDBE30C91}"/>
              </a:ext>
            </a:extLst>
          </p:cNvPr>
          <p:cNvSpPr/>
          <p:nvPr/>
        </p:nvSpPr>
        <p:spPr>
          <a:xfrm rot="5400000">
            <a:off x="4547925" y="4765530"/>
            <a:ext cx="233461" cy="2283406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52903191-E5D2-D343-B7C4-E4C322BDF376}"/>
              </a:ext>
            </a:extLst>
          </p:cNvPr>
          <p:cNvGrpSpPr/>
          <p:nvPr/>
        </p:nvGrpSpPr>
        <p:grpSpPr>
          <a:xfrm>
            <a:off x="3822667" y="6039035"/>
            <a:ext cx="1698881" cy="609618"/>
            <a:chOff x="3822667" y="6356583"/>
            <a:chExt cx="1698881" cy="609618"/>
          </a:xfrm>
        </p:grpSpPr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0E4407F7-4ADB-5B4C-BE5D-1C8E52AC1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5644" y="6356583"/>
              <a:ext cx="65904" cy="608241"/>
            </a:xfrm>
            <a:custGeom>
              <a:avLst/>
              <a:gdLst>
                <a:gd name="T0" fmla="*/ 0 w 39"/>
                <a:gd name="T1" fmla="*/ 2147483647 h 415"/>
                <a:gd name="T2" fmla="*/ 0 w 39"/>
                <a:gd name="T3" fmla="*/ 2147483647 h 415"/>
                <a:gd name="T4" fmla="*/ 2147483647 w 39"/>
                <a:gd name="T5" fmla="*/ 0 h 415"/>
                <a:gd name="T6" fmla="*/ 2147483647 w 39"/>
                <a:gd name="T7" fmla="*/ 2147483647 h 415"/>
                <a:gd name="T8" fmla="*/ 0 w 39"/>
                <a:gd name="T9" fmla="*/ 2147483647 h 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15">
                  <a:moveTo>
                    <a:pt x="0" y="415"/>
                  </a:moveTo>
                  <a:lnTo>
                    <a:pt x="0" y="37"/>
                  </a:lnTo>
                  <a:lnTo>
                    <a:pt x="39" y="0"/>
                  </a:lnTo>
                  <a:lnTo>
                    <a:pt x="39" y="376"/>
                  </a:lnTo>
                  <a:lnTo>
                    <a:pt x="0" y="415"/>
                  </a:lnTo>
                  <a:close/>
                </a:path>
              </a:pathLst>
            </a:custGeom>
            <a:solidFill>
              <a:srgbClr val="E1B4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5" name="Line 26">
              <a:extLst>
                <a:ext uri="{FF2B5EF4-FFF2-40B4-BE49-F238E27FC236}">
                  <a16:creationId xmlns:a16="http://schemas.microsoft.com/office/drawing/2014/main" id="{F901174E-37EF-214F-B4D5-9F83A14A43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5644" y="6906764"/>
              <a:ext cx="65904" cy="58059"/>
            </a:xfrm>
            <a:prstGeom prst="line">
              <a:avLst/>
            </a:prstGeom>
            <a:noFill/>
            <a:ln w="3175">
              <a:solidFill>
                <a:srgbClr val="E1B4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031C4F01-DCBE-5D45-B9E5-C6A8CDC1A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668" y="6358623"/>
              <a:ext cx="1698880" cy="53912"/>
            </a:xfrm>
            <a:custGeom>
              <a:avLst/>
              <a:gdLst>
                <a:gd name="T0" fmla="*/ 2147483647 w 1020"/>
                <a:gd name="T1" fmla="*/ 2147483647 h 37"/>
                <a:gd name="T2" fmla="*/ 0 w 1020"/>
                <a:gd name="T3" fmla="*/ 2147483647 h 37"/>
                <a:gd name="T4" fmla="*/ 2147483647 w 1020"/>
                <a:gd name="T5" fmla="*/ 0 h 37"/>
                <a:gd name="T6" fmla="*/ 2147483647 w 1020"/>
                <a:gd name="T7" fmla="*/ 0 h 37"/>
                <a:gd name="T8" fmla="*/ 2147483647 w 1020"/>
                <a:gd name="T9" fmla="*/ 214748364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0" h="37">
                  <a:moveTo>
                    <a:pt x="981" y="37"/>
                  </a:moveTo>
                  <a:lnTo>
                    <a:pt x="0" y="37"/>
                  </a:lnTo>
                  <a:lnTo>
                    <a:pt x="37" y="0"/>
                  </a:lnTo>
                  <a:lnTo>
                    <a:pt x="1020" y="0"/>
                  </a:lnTo>
                  <a:lnTo>
                    <a:pt x="981" y="37"/>
                  </a:lnTo>
                  <a:close/>
                </a:path>
              </a:pathLst>
            </a:custGeom>
            <a:solidFill>
              <a:srgbClr val="9879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7" name="Line 28">
              <a:extLst>
                <a:ext uri="{FF2B5EF4-FFF2-40B4-BE49-F238E27FC236}">
                  <a16:creationId xmlns:a16="http://schemas.microsoft.com/office/drawing/2014/main" id="{50FB4B18-EFA5-E949-98FE-271B18B0B0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5644" y="6358623"/>
              <a:ext cx="65904" cy="53912"/>
            </a:xfrm>
            <a:prstGeom prst="line">
              <a:avLst/>
            </a:prstGeom>
            <a:noFill/>
            <a:ln w="3175">
              <a:solidFill>
                <a:srgbClr val="9879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8" name="Rectangle 29">
              <a:extLst>
                <a:ext uri="{FF2B5EF4-FFF2-40B4-BE49-F238E27FC236}">
                  <a16:creationId xmlns:a16="http://schemas.microsoft.com/office/drawing/2014/main" id="{2CB5DCAC-9DCC-F447-B11A-145AF71D9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2668" y="6410495"/>
              <a:ext cx="1632976" cy="554329"/>
            </a:xfrm>
            <a:prstGeom prst="rect">
              <a:avLst/>
            </a:prstGeom>
            <a:solidFill>
              <a:srgbClr val="C49C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9" name="Line 30">
              <a:extLst>
                <a:ext uri="{FF2B5EF4-FFF2-40B4-BE49-F238E27FC236}">
                  <a16:creationId xmlns:a16="http://schemas.microsoft.com/office/drawing/2014/main" id="{4D145E77-E169-C94E-94EC-1AFC94FAE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668" y="6410495"/>
              <a:ext cx="1465" cy="554329"/>
            </a:xfrm>
            <a:prstGeom prst="line">
              <a:avLst/>
            </a:prstGeom>
            <a:noFill/>
            <a:ln w="26988">
              <a:solidFill>
                <a:srgbClr val="D6AB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0" name="Line 31">
              <a:extLst>
                <a:ext uri="{FF2B5EF4-FFF2-40B4-BE49-F238E27FC236}">
                  <a16:creationId xmlns:a16="http://schemas.microsoft.com/office/drawing/2014/main" id="{0C6008FA-A58D-1040-876B-7345E426A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668" y="6964819"/>
              <a:ext cx="1632976" cy="1382"/>
            </a:xfrm>
            <a:prstGeom prst="line">
              <a:avLst/>
            </a:prstGeom>
            <a:noFill/>
            <a:ln w="26988">
              <a:solidFill>
                <a:srgbClr val="B792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1" name="Line 32">
              <a:extLst>
                <a:ext uri="{FF2B5EF4-FFF2-40B4-BE49-F238E27FC236}">
                  <a16:creationId xmlns:a16="http://schemas.microsoft.com/office/drawing/2014/main" id="{19E2AE12-10C0-6D49-AE86-4C7B05203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5644" y="6410495"/>
              <a:ext cx="1464" cy="554329"/>
            </a:xfrm>
            <a:prstGeom prst="line">
              <a:avLst/>
            </a:prstGeom>
            <a:noFill/>
            <a:ln w="26988">
              <a:solidFill>
                <a:srgbClr val="EABB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2" name="Line 33">
              <a:extLst>
                <a:ext uri="{FF2B5EF4-FFF2-40B4-BE49-F238E27FC236}">
                  <a16:creationId xmlns:a16="http://schemas.microsoft.com/office/drawing/2014/main" id="{7ED6B155-8C6A-C745-954A-B6F3627B79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667" y="6412530"/>
              <a:ext cx="1632976" cy="1383"/>
            </a:xfrm>
            <a:prstGeom prst="line">
              <a:avLst/>
            </a:prstGeom>
            <a:noFill/>
            <a:ln w="26988">
              <a:solidFill>
                <a:srgbClr val="B792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3" name="Rectangle 34">
              <a:extLst>
                <a:ext uri="{FF2B5EF4-FFF2-40B4-BE49-F238E27FC236}">
                  <a16:creationId xmlns:a16="http://schemas.microsoft.com/office/drawing/2014/main" id="{B5C8329F-FD91-6245-8DEF-E098C6CD4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5122" y="6492417"/>
              <a:ext cx="114967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存储器</a:t>
              </a:r>
              <a:endParaRPr lang="zh-CN" altLang="en-US" sz="2800" dirty="0"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72" name="Line 7">
            <a:extLst>
              <a:ext uri="{FF2B5EF4-FFF2-40B4-BE49-F238E27FC236}">
                <a16:creationId xmlns:a16="http://schemas.microsoft.com/office/drawing/2014/main" id="{0EBC70A1-8312-AD4E-AE2C-CC9BD764C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512" y="2790277"/>
            <a:ext cx="16340" cy="2124826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73" name="Line 7">
            <a:extLst>
              <a:ext uri="{FF2B5EF4-FFF2-40B4-BE49-F238E27FC236}">
                <a16:creationId xmlns:a16="http://schemas.microsoft.com/office/drawing/2014/main" id="{6ECB6E72-A4AB-D240-BF12-9BD386145C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2886" y="2779261"/>
            <a:ext cx="16340" cy="2124826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74" name="Line 7">
            <a:extLst>
              <a:ext uri="{FF2B5EF4-FFF2-40B4-BE49-F238E27FC236}">
                <a16:creationId xmlns:a16="http://schemas.microsoft.com/office/drawing/2014/main" id="{018053F0-77FE-F24C-B56D-4A283A556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9050" y="4904087"/>
            <a:ext cx="1860176" cy="0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40C38F14-DB52-5340-B165-3F305C8C141D}"/>
              </a:ext>
            </a:extLst>
          </p:cNvPr>
          <p:cNvCxnSpPr>
            <a:cxnSpLocks/>
            <a:endCxn id="84" idx="3"/>
          </p:cNvCxnSpPr>
          <p:nvPr/>
        </p:nvCxnSpPr>
        <p:spPr>
          <a:xfrm flipH="1">
            <a:off x="3248345" y="3215602"/>
            <a:ext cx="38905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255AE5F6-FDA7-624A-9889-5E658520D006}"/>
              </a:ext>
            </a:extLst>
          </p:cNvPr>
          <p:cNvCxnSpPr>
            <a:cxnSpLocks/>
            <a:endCxn id="85" idx="3"/>
          </p:cNvCxnSpPr>
          <p:nvPr/>
        </p:nvCxnSpPr>
        <p:spPr>
          <a:xfrm flipH="1">
            <a:off x="3248345" y="3771426"/>
            <a:ext cx="38905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200ACFAE-6385-6A49-8168-5C070722B748}"/>
              </a:ext>
            </a:extLst>
          </p:cNvPr>
          <p:cNvCxnSpPr>
            <a:cxnSpLocks/>
          </p:cNvCxnSpPr>
          <p:nvPr/>
        </p:nvCxnSpPr>
        <p:spPr>
          <a:xfrm flipH="1">
            <a:off x="3437678" y="4311313"/>
            <a:ext cx="22137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016BB963-F504-6148-AC8E-B9E6F4D72A06}"/>
              </a:ext>
            </a:extLst>
          </p:cNvPr>
          <p:cNvCxnSpPr>
            <a:cxnSpLocks/>
          </p:cNvCxnSpPr>
          <p:nvPr/>
        </p:nvCxnSpPr>
        <p:spPr>
          <a:xfrm flipH="1">
            <a:off x="3288334" y="4883073"/>
            <a:ext cx="33116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DC9B9C30-6C63-9744-B20D-4D1905712C8E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5527916" y="3215602"/>
            <a:ext cx="31441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8A154FCA-C96A-6947-91B8-444BD6917A0F}"/>
              </a:ext>
            </a:extLst>
          </p:cNvPr>
          <p:cNvCxnSpPr>
            <a:cxnSpLocks/>
            <a:endCxn id="108" idx="1"/>
          </p:cNvCxnSpPr>
          <p:nvPr/>
        </p:nvCxnSpPr>
        <p:spPr>
          <a:xfrm>
            <a:off x="5538360" y="3771426"/>
            <a:ext cx="303968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B310F4C2-8FAE-7047-8B9E-F43CA0DFEEEC}"/>
              </a:ext>
            </a:extLst>
          </p:cNvPr>
          <p:cNvCxnSpPr>
            <a:cxnSpLocks/>
            <a:endCxn id="109" idx="1"/>
          </p:cNvCxnSpPr>
          <p:nvPr/>
        </p:nvCxnSpPr>
        <p:spPr>
          <a:xfrm>
            <a:off x="5527916" y="4327250"/>
            <a:ext cx="16397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4C6746E6-A6A6-0E45-A9CD-2624BC24A4B9}"/>
              </a:ext>
            </a:extLst>
          </p:cNvPr>
          <p:cNvCxnSpPr>
            <a:cxnSpLocks/>
          </p:cNvCxnSpPr>
          <p:nvPr/>
        </p:nvCxnSpPr>
        <p:spPr>
          <a:xfrm flipV="1">
            <a:off x="5553520" y="4883072"/>
            <a:ext cx="333313" cy="665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4A2D8E9B-11FD-B44A-B0C0-ECC584949B5C}"/>
              </a:ext>
            </a:extLst>
          </p:cNvPr>
          <p:cNvCxnSpPr>
            <a:cxnSpLocks/>
            <a:stCxn id="127" idx="0"/>
          </p:cNvCxnSpPr>
          <p:nvPr/>
        </p:nvCxnSpPr>
        <p:spPr>
          <a:xfrm flipV="1">
            <a:off x="5345432" y="4931240"/>
            <a:ext cx="0" cy="31987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915855F-CEB5-CC47-A0D2-528907F5F9D2}"/>
              </a:ext>
            </a:extLst>
          </p:cNvPr>
          <p:cNvCxnSpPr>
            <a:cxnSpLocks/>
          </p:cNvCxnSpPr>
          <p:nvPr/>
        </p:nvCxnSpPr>
        <p:spPr>
          <a:xfrm flipV="1">
            <a:off x="3983880" y="4938576"/>
            <a:ext cx="0" cy="31987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线箭头连接符 132">
            <a:extLst>
              <a:ext uri="{FF2B5EF4-FFF2-40B4-BE49-F238E27FC236}">
                <a16:creationId xmlns:a16="http://schemas.microsoft.com/office/drawing/2014/main" id="{E3062C35-CBC9-B340-A508-033B19E4B48F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4580542" y="4412905"/>
            <a:ext cx="7366" cy="45669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3B02DCB-74B6-FE4E-93B7-58B57016183A}"/>
              </a:ext>
            </a:extLst>
          </p:cNvPr>
          <p:cNvGrpSpPr/>
          <p:nvPr/>
        </p:nvGrpSpPr>
        <p:grpSpPr>
          <a:xfrm>
            <a:off x="4996204" y="2457344"/>
            <a:ext cx="984783" cy="375034"/>
            <a:chOff x="4996204" y="2457344"/>
            <a:chExt cx="984783" cy="375034"/>
          </a:xfrm>
        </p:grpSpPr>
        <p:graphicFrame>
          <p:nvGraphicFramePr>
            <p:cNvPr id="146" name="Object 25">
              <a:extLst>
                <a:ext uri="{FF2B5EF4-FFF2-40B4-BE49-F238E27FC236}">
                  <a16:creationId xmlns:a16="http://schemas.microsoft.com/office/drawing/2014/main" id="{24CE51C0-D123-F548-923B-8925C03184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6981247"/>
                </p:ext>
              </p:extLst>
            </p:nvPr>
          </p:nvGraphicFramePr>
          <p:xfrm>
            <a:off x="4996204" y="2494913"/>
            <a:ext cx="984783" cy="337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7459663" imgH="2743200" progId="MS_ClipArt_Gallery.2">
                    <p:embed/>
                  </p:oleObj>
                </mc:Choice>
                <mc:Fallback>
                  <p:oleObj name="Clip" r:id="rId3" imgW="7459663" imgH="2743200" progId="MS_ClipArt_Gallery.2">
                    <p:embed/>
                    <p:pic>
                      <p:nvPicPr>
                        <p:cNvPr id="145" name="Object 25">
                          <a:extLst>
                            <a:ext uri="{FF2B5EF4-FFF2-40B4-BE49-F238E27FC236}">
                              <a16:creationId xmlns:a16="http://schemas.microsoft.com/office/drawing/2014/main" id="{B69E425C-B6DA-2D4D-A25F-82F0BDA554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204" y="2494913"/>
                          <a:ext cx="984783" cy="337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DCD0582-4755-0F40-84F3-D5AD87C13C49}"/>
                </a:ext>
              </a:extLst>
            </p:cNvPr>
            <p:cNvSpPr txBox="1"/>
            <p:nvPr/>
          </p:nvSpPr>
          <p:spPr>
            <a:xfrm>
              <a:off x="5194413" y="2457344"/>
              <a:ext cx="522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>
                  <a:solidFill>
                    <a:srgbClr val="C00000"/>
                  </a:solidFill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rPr>
                <a:t>DATA</a:t>
              </a:r>
              <a:endParaRPr kumimoji="1" lang="zh-CN" altLang="en-US" sz="12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397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069 L 0.00296 0.33055 L -0.19635 0.33287 L -0.20017 0.025 " pathEditMode="relative" ptsTypes="AAAA">
                                      <p:cBhvr>
                                        <p:cTn id="6" dur="3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/>
              <a:t>引言</a:t>
            </a:r>
            <a:endParaRPr lang="en-US" altLang="zh-CN" dirty="0"/>
          </a:p>
          <a:p>
            <a:pPr marL="342900" lvl="1" indent="-342900">
              <a:buFontTx/>
              <a:buChar char="•"/>
            </a:pPr>
            <a:r>
              <a:rPr lang="zh-CN" altLang="en-US" sz="3200" dirty="0">
                <a:solidFill>
                  <a:srgbClr val="1A49EA"/>
                </a:solidFill>
              </a:rPr>
              <a:t>总线的基本结构和分类</a:t>
            </a:r>
            <a:endParaRPr lang="en-US" altLang="zh-CN" dirty="0">
              <a:solidFill>
                <a:srgbClr val="1A49EA"/>
              </a:solidFill>
            </a:endParaRPr>
          </a:p>
          <a:p>
            <a:r>
              <a:rPr lang="zh-CN" altLang="en-US" dirty="0"/>
              <a:t>总线的工作原理</a:t>
            </a:r>
            <a:endParaRPr lang="en-US" altLang="zh-CN" dirty="0"/>
          </a:p>
          <a:p>
            <a:r>
              <a:rPr lang="zh-CN" altLang="en-US" dirty="0"/>
              <a:t>外设的工作原理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50</a:t>
            </a:fld>
            <a:endParaRPr lang="en-US" altLang="zh-CN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714320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总线的基本结构和分类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51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5"/>
            <a:ext cx="8229600" cy="2610304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总线是什么？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/>
              <a:t>总线（</a:t>
            </a:r>
            <a:r>
              <a:rPr lang="en-US" altLang="zh-CN" sz="2000" dirty="0"/>
              <a:t>Bus</a:t>
            </a:r>
            <a:r>
              <a:rPr lang="zh-CN" altLang="en-US" sz="2000" dirty="0"/>
              <a:t>）指在计算机系统内，各个部件传递信息（如交换数据、传送控制信号）使用的一组或多组公共连接线（通信干线）</a:t>
            </a:r>
            <a:endParaRPr lang="en-US" altLang="zh-CN" sz="2000" dirty="0"/>
          </a:p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总线做什么？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总线负责在设备间传输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数据</a:t>
            </a:r>
            <a:r>
              <a:rPr lang="zh-CN" altLang="en-US" sz="2000" dirty="0">
                <a:latin typeface="+mn-ea"/>
              </a:rPr>
              <a:t>，以及传输和数据相关的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地址信号</a:t>
            </a:r>
            <a:r>
              <a:rPr lang="zh-CN" altLang="en-US" sz="2000" dirty="0">
                <a:latin typeface="+mn-ea"/>
              </a:rPr>
              <a:t>和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控制信号</a:t>
            </a:r>
            <a:endParaRPr lang="en-US" altLang="zh-CN" sz="2400" dirty="0">
              <a:solidFill>
                <a:srgbClr val="1A49EA"/>
              </a:solidFill>
              <a:latin typeface="+mn-ea"/>
            </a:endParaRPr>
          </a:p>
        </p:txBody>
      </p:sp>
      <p:pic>
        <p:nvPicPr>
          <p:cNvPr id="19" name="図 1">
            <a:extLst>
              <a:ext uri="{FF2B5EF4-FFF2-40B4-BE49-F238E27FC236}">
                <a16:creationId xmlns:a16="http://schemas.microsoft.com/office/drawing/2014/main" id="{6E435248-559C-4C40-91F5-0768A54FB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725" y="4030133"/>
            <a:ext cx="6744415" cy="23828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52E850-06D1-734F-97FB-D8C3D36256A0}"/>
                  </a:ext>
                </a:extLst>
              </p14:cNvPr>
              <p14:cNvContentPartPr/>
              <p14:nvPr/>
            </p14:nvContentPartPr>
            <p14:xfrm>
              <a:off x="4382640" y="4613040"/>
              <a:ext cx="20880" cy="8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52E850-06D1-734F-97FB-D8C3D36256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6440" y="4596840"/>
                <a:ext cx="53280" cy="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048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总线的基本结构和分类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7AE31EA-CF73-4C4E-A2C3-205BACDB8B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79525"/>
                <a:ext cx="8229600" cy="5306567"/>
              </a:xfrm>
            </p:spPr>
            <p:txBody>
              <a:bodyPr/>
              <a:lstStyle/>
              <a:p>
                <a:pPr eaLnBrk="1" hangingPunct="1"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latin typeface="+mn-ea"/>
                  </a:rPr>
                  <a:t>总线的基本参数：</a:t>
                </a:r>
                <a:endParaRPr lang="en-US" altLang="zh-CN" sz="2800" dirty="0">
                  <a:latin typeface="+mn-ea"/>
                </a:endParaRPr>
              </a:p>
              <a:p>
                <a:pPr lvl="1"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1A49EA"/>
                    </a:solidFill>
                    <a:latin typeface="+mn-ea"/>
                  </a:rPr>
                  <a:t>总线宽度</a:t>
                </a:r>
                <a:r>
                  <a:rPr lang="zh-CN" altLang="en-US" sz="2400" dirty="0">
                    <a:latin typeface="+mn-ea"/>
                  </a:rPr>
                  <a:t>：也称为总线位宽，指总线中传输线的数量</a:t>
                </a:r>
                <a:endParaRPr lang="en-US" altLang="zh-CN" sz="2400" dirty="0">
                  <a:latin typeface="+mn-ea"/>
                </a:endParaRPr>
              </a:p>
              <a:p>
                <a:pPr lvl="1"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1A49EA"/>
                    </a:solidFill>
                    <a:latin typeface="+mn-ea"/>
                  </a:rPr>
                  <a:t>总线传输频率</a:t>
                </a:r>
                <a:r>
                  <a:rPr lang="zh-CN" altLang="en-US" sz="2400" dirty="0">
                    <a:latin typeface="+mn-ea"/>
                  </a:rPr>
                  <a:t>：总线上数据传输时的频率</a:t>
                </a:r>
                <a:endParaRPr lang="en-US" altLang="zh-CN" sz="2400" dirty="0">
                  <a:latin typeface="+mn-ea"/>
                </a:endParaRPr>
              </a:p>
              <a:p>
                <a:pPr lvl="1"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1A49EA"/>
                    </a:solidFill>
                    <a:latin typeface="+mn-ea"/>
                  </a:rPr>
                  <a:t>标准传输率</a:t>
                </a:r>
                <a:r>
                  <a:rPr lang="zh-CN" altLang="en-US" sz="2400" dirty="0">
                    <a:latin typeface="+mn-ea"/>
                  </a:rPr>
                  <a:t>：也称为总线带宽，指总线上单位时间能够传输的最大数据量。</a:t>
                </a:r>
                <a:endParaRPr lang="en-US" altLang="zh-CN" sz="2400" dirty="0">
                  <a:latin typeface="+mn-ea"/>
                </a:endParaRPr>
              </a:p>
              <a:p>
                <a:pPr lvl="1"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1A49EA"/>
                    </a:solidFill>
                    <a:latin typeface="+mn-ea"/>
                  </a:rPr>
                  <a:t>负载能力</a:t>
                </a:r>
                <a:r>
                  <a:rPr lang="zh-CN" altLang="en-US" sz="2400" dirty="0">
                    <a:latin typeface="+mn-ea"/>
                  </a:rPr>
                  <a:t>：在保证总线正常工作的前提下，总线能够挂载的设备数目</a:t>
                </a:r>
                <a:endParaRPr lang="en-US" altLang="zh-CN" sz="2400" dirty="0">
                  <a:latin typeface="+mn-ea"/>
                </a:endParaRPr>
              </a:p>
              <a:p>
                <a:pPr marL="0" indent="0">
                  <a:spcBef>
                    <a:spcPts val="1000"/>
                  </a:spcBef>
                  <a:buClr>
                    <a:schemeClr val="tx1"/>
                  </a:buClr>
                  <a:buNone/>
                </a:pPr>
                <a:endParaRPr lang="en-US" altLang="zh-CN" sz="2000" dirty="0">
                  <a:latin typeface="+mn-ea"/>
                </a:endParaRPr>
              </a:p>
              <a:p>
                <a:pPr marL="0" indent="0">
                  <a:spcBef>
                    <a:spcPts val="1000"/>
                  </a:spcBef>
                  <a:buClr>
                    <a:schemeClr val="tx1"/>
                  </a:buClr>
                  <a:buNone/>
                </a:pPr>
                <a:endParaRPr lang="en-US" altLang="zh-CN" sz="2800" dirty="0">
                  <a:latin typeface="+mn-ea"/>
                </a:endParaRPr>
              </a:p>
              <a:p>
                <a:pPr marL="0" indent="0">
                  <a:spcBef>
                    <a:spcPts val="1000"/>
                  </a:spcBef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400" i="1" dirty="0">
                          <a:latin typeface="Cambria Math" panose="02040503050406030204" pitchFamily="18" charset="0"/>
                        </a:rPr>
                        <m:t>总线带宽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 i="1" dirty="0">
                          <a:latin typeface="Cambria Math" panose="02040503050406030204" pitchFamily="18" charset="0"/>
                        </a:rPr>
                        <m:t>总线</m:t>
                      </m:r>
                      <m:r>
                        <a:rPr lang="zh-CN" altLang="en-US" sz="2400" i="1" dirty="0" smtClean="0">
                          <a:latin typeface="Cambria Math" panose="02040503050406030204" pitchFamily="18" charset="0"/>
                        </a:rPr>
                        <m:t>数据</m:t>
                      </m:r>
                      <m:r>
                        <a:rPr lang="zh-CN" altLang="en-US" sz="2400" i="1" dirty="0">
                          <a:latin typeface="Cambria Math" panose="02040503050406030204" pitchFamily="18" charset="0"/>
                        </a:rPr>
                        <m:t>传输</m:t>
                      </m:r>
                      <m:r>
                        <a:rPr lang="zh-CN" altLang="en-US" sz="2400" i="1" dirty="0" smtClean="0">
                          <a:latin typeface="Cambria Math" panose="02040503050406030204" pitchFamily="18" charset="0"/>
                        </a:rPr>
                        <m:t>频率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2400" i="1" dirty="0">
                          <a:latin typeface="Cambria Math" panose="02040503050406030204" pitchFamily="18" charset="0"/>
                        </a:rPr>
                        <m:t>总线位宽</m:t>
                      </m:r>
                    </m:oMath>
                  </m:oMathPara>
                </a14:m>
                <a:endParaRPr lang="en-US" altLang="zh-CN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7AE31EA-CF73-4C4E-A2C3-205BACDB8B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79525"/>
                <a:ext cx="8229600" cy="5306567"/>
              </a:xfrm>
              <a:blipFill>
                <a:blip r:embed="rId3"/>
                <a:stretch>
                  <a:fillRect l="-1389" t="-1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68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总线的基本结构和分类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53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0377"/>
            <a:ext cx="8229600" cy="5306567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总线可以按照总线数量划分为：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单总线结构</a:t>
            </a:r>
            <a:r>
              <a:rPr lang="zh-CN" altLang="en-US" sz="2400" dirty="0">
                <a:latin typeface="+mn-ea"/>
              </a:rPr>
              <a:t>：有且仅有一条总线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双总线结构</a:t>
            </a:r>
            <a:r>
              <a:rPr lang="zh-CN" altLang="en-US" sz="2400" dirty="0">
                <a:latin typeface="+mn-ea"/>
              </a:rPr>
              <a:t>：有且仅有两条总线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多总线结构</a:t>
            </a:r>
            <a:r>
              <a:rPr lang="zh-CN" altLang="en-US" sz="2400" dirty="0">
                <a:latin typeface="+mn-ea"/>
              </a:rPr>
              <a:t>：存在三条或三条以上总线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5" name="図 34">
            <a:extLst>
              <a:ext uri="{FF2B5EF4-FFF2-40B4-BE49-F238E27FC236}">
                <a16:creationId xmlns:a16="http://schemas.microsoft.com/office/drawing/2014/main" id="{F892F8E8-2313-F842-B4BE-328D2C240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42" y="3848635"/>
            <a:ext cx="3470483" cy="1718988"/>
          </a:xfrm>
          <a:prstGeom prst="rect">
            <a:avLst/>
          </a:prstGeom>
        </p:spPr>
      </p:pic>
      <p:pic>
        <p:nvPicPr>
          <p:cNvPr id="6" name="図 33">
            <a:extLst>
              <a:ext uri="{FF2B5EF4-FFF2-40B4-BE49-F238E27FC236}">
                <a16:creationId xmlns:a16="http://schemas.microsoft.com/office/drawing/2014/main" id="{E37391CC-3593-A64A-9FB4-20B7188CBC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821" b="12792"/>
          <a:stretch/>
        </p:blipFill>
        <p:spPr>
          <a:xfrm>
            <a:off x="5097243" y="3586168"/>
            <a:ext cx="3470481" cy="226432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9A2AE4F-93E9-A744-862C-AD689E662DAA}"/>
              </a:ext>
            </a:extLst>
          </p:cNvPr>
          <p:cNvSpPr txBox="1"/>
          <p:nvPr/>
        </p:nvSpPr>
        <p:spPr>
          <a:xfrm>
            <a:off x="1473200" y="5748867"/>
            <a:ext cx="187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ea typeface="SimHei" panose="02010609060101010101" pitchFamily="49" charset="-122"/>
              </a:rPr>
              <a:t>单总线结构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5B3D91-C530-B44D-84CD-116909DAB91E}"/>
              </a:ext>
            </a:extLst>
          </p:cNvPr>
          <p:cNvSpPr txBox="1"/>
          <p:nvPr/>
        </p:nvSpPr>
        <p:spPr>
          <a:xfrm>
            <a:off x="5926938" y="5751306"/>
            <a:ext cx="187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ea typeface="SimHei" panose="02010609060101010101" pitchFamily="49" charset="-122"/>
              </a:rPr>
              <a:t>双总线结构</a:t>
            </a: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BF3DBAA6-1391-5744-B504-A48065877CCB}"/>
              </a:ext>
            </a:extLst>
          </p:cNvPr>
          <p:cNvSpPr/>
          <p:nvPr/>
        </p:nvSpPr>
        <p:spPr>
          <a:xfrm>
            <a:off x="3124200" y="4055533"/>
            <a:ext cx="381000" cy="364067"/>
          </a:xfrm>
          <a:prstGeom prst="heptag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A6929554-B1A8-3D43-A33D-801E3A847289}"/>
              </a:ext>
            </a:extLst>
          </p:cNvPr>
          <p:cNvSpPr/>
          <p:nvPr/>
        </p:nvSpPr>
        <p:spPr>
          <a:xfrm>
            <a:off x="7493000" y="4055532"/>
            <a:ext cx="381000" cy="364067"/>
          </a:xfrm>
          <a:prstGeom prst="heptag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8F9B3E9E-43D4-144D-94D2-2D8CEB310D34}"/>
              </a:ext>
            </a:extLst>
          </p:cNvPr>
          <p:cNvSpPr/>
          <p:nvPr/>
        </p:nvSpPr>
        <p:spPr>
          <a:xfrm>
            <a:off x="6104467" y="5384800"/>
            <a:ext cx="381000" cy="364067"/>
          </a:xfrm>
          <a:prstGeom prst="heptag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</a:rPr>
              <a:t>2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88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总线的基本结构和分类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54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8232"/>
            <a:ext cx="8229600" cy="2131003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单总线结构：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所有计算机组件均连接在同一条总线上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优点：结构简单，易于扩展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缺点：不同速度设备间相互影响，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整体通信效率低</a:t>
            </a:r>
            <a:endParaRPr lang="en-US" altLang="zh-CN" sz="2400" dirty="0">
              <a:solidFill>
                <a:srgbClr val="1A49EA"/>
              </a:solidFill>
              <a:latin typeface="+mn-ea"/>
            </a:endParaRPr>
          </a:p>
        </p:txBody>
      </p:sp>
      <p:pic>
        <p:nvPicPr>
          <p:cNvPr id="5" name="図 34">
            <a:extLst>
              <a:ext uri="{FF2B5EF4-FFF2-40B4-BE49-F238E27FC236}">
                <a16:creationId xmlns:a16="http://schemas.microsoft.com/office/drawing/2014/main" id="{F892F8E8-2313-F842-B4BE-328D2C240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39" y="3765028"/>
            <a:ext cx="4448848" cy="2194404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536EA1A6-1C84-AD4E-BD25-3B0EE9FA0708}"/>
              </a:ext>
            </a:extLst>
          </p:cNvPr>
          <p:cNvGrpSpPr/>
          <p:nvPr/>
        </p:nvGrpSpPr>
        <p:grpSpPr>
          <a:xfrm>
            <a:off x="1438564" y="4366158"/>
            <a:ext cx="3133436" cy="772010"/>
            <a:chOff x="3343564" y="4627418"/>
            <a:chExt cx="2231674" cy="772010"/>
          </a:xfrm>
        </p:grpSpPr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C347B2A1-74FD-F844-821D-58ACF2D80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3564" y="4627418"/>
              <a:ext cx="1092" cy="772010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76483CD8-F96F-5940-8999-8476C844D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4146" y="4627418"/>
              <a:ext cx="1092" cy="772010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DA7132A1-A590-104A-A81A-36E15BE5B5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3564" y="4627418"/>
              <a:ext cx="2229490" cy="0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" name="乘 11">
              <a:extLst>
                <a:ext uri="{FF2B5EF4-FFF2-40B4-BE49-F238E27FC236}">
                  <a16:creationId xmlns:a16="http://schemas.microsoft.com/office/drawing/2014/main" id="{6B8C32FB-6236-4F47-A59F-3A020D0D2A16}"/>
                </a:ext>
              </a:extLst>
            </p:cNvPr>
            <p:cNvSpPr/>
            <p:nvPr/>
          </p:nvSpPr>
          <p:spPr>
            <a:xfrm>
              <a:off x="4291700" y="4859303"/>
              <a:ext cx="341746" cy="323273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0A8E2B4-E574-6C4A-91BF-9F0FE3055CED}"/>
              </a:ext>
            </a:extLst>
          </p:cNvPr>
          <p:cNvSpPr txBox="1"/>
          <p:nvPr/>
        </p:nvSpPr>
        <p:spPr>
          <a:xfrm>
            <a:off x="5604934" y="4329649"/>
            <a:ext cx="2971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+mn-ea"/>
                <a:ea typeface="+mn-ea"/>
              </a:rPr>
              <a:t>IO</a:t>
            </a:r>
            <a:r>
              <a:rPr kumimoji="1" lang="zh-CN" altLang="en-US" sz="2000" b="1" dirty="0">
                <a:latin typeface="+mn-ea"/>
                <a:ea typeface="+mn-ea"/>
              </a:rPr>
              <a:t>设备操作耗时，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r>
              <a:rPr kumimoji="1" lang="zh-CN" altLang="en-US" sz="2000" b="1" dirty="0">
                <a:latin typeface="+mn-ea"/>
                <a:ea typeface="+mn-ea"/>
              </a:rPr>
              <a:t>会长时间占据总线，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r>
              <a:rPr kumimoji="1" lang="zh-CN" altLang="en-US" sz="2000" b="1" dirty="0">
                <a:latin typeface="+mn-ea"/>
                <a:ea typeface="+mn-ea"/>
              </a:rPr>
              <a:t>其他设备无法使用总线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r>
              <a:rPr kumimoji="1" lang="zh-CN" altLang="en-US" sz="2000" b="1" dirty="0">
                <a:solidFill>
                  <a:srgbClr val="1A49EA"/>
                </a:solidFill>
                <a:latin typeface="+mn-ea"/>
                <a:ea typeface="+mn-ea"/>
              </a:rPr>
              <a:t>整体通信效率低</a:t>
            </a:r>
          </a:p>
        </p:txBody>
      </p:sp>
    </p:spTree>
    <p:extLst>
      <p:ext uri="{BB962C8B-B14F-4D97-AF65-F5344CB8AC3E}">
        <p14:creationId xmlns:p14="http://schemas.microsoft.com/office/powerpoint/2010/main" val="181091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总线的基本结构和分类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55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6945"/>
            <a:ext cx="8229600" cy="2362050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双总线结构：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除了系统总线外，分离出速度较快的存储器和处理器之间的总线，作为独立的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主存总线</a:t>
            </a:r>
            <a:endParaRPr lang="en-US" altLang="zh-CN" sz="2400" dirty="0">
              <a:solidFill>
                <a:srgbClr val="1A49EA"/>
              </a:solidFill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保证了存储器和处理器间的高效通信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14" name="図 33">
            <a:extLst>
              <a:ext uri="{FF2B5EF4-FFF2-40B4-BE49-F238E27FC236}">
                <a16:creationId xmlns:a16="http://schemas.microsoft.com/office/drawing/2014/main" id="{434B5BCB-1F1B-624A-951C-21A04ACACE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605" b="17473"/>
          <a:stretch/>
        </p:blipFill>
        <p:spPr>
          <a:xfrm>
            <a:off x="2483813" y="2906414"/>
            <a:ext cx="4382654" cy="304187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40631C5-D616-AD40-A1B8-691BCC3299B5}"/>
              </a:ext>
            </a:extLst>
          </p:cNvPr>
          <p:cNvSpPr txBox="1"/>
          <p:nvPr/>
        </p:nvSpPr>
        <p:spPr>
          <a:xfrm>
            <a:off x="3048000" y="6035213"/>
            <a:ext cx="2277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+mn-ea"/>
                <a:ea typeface="+mn-ea"/>
              </a:rPr>
              <a:t>和系统总线独立，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r>
              <a:rPr kumimoji="1" lang="zh-CN" altLang="en-US" sz="2000" b="1" dirty="0">
                <a:latin typeface="+mn-ea"/>
                <a:ea typeface="+mn-ea"/>
              </a:rPr>
              <a:t>且并行的主存总线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E118BD4D-6E51-724D-9090-80B7201FC03B}"/>
              </a:ext>
            </a:extLst>
          </p:cNvPr>
          <p:cNvSpPr/>
          <p:nvPr/>
        </p:nvSpPr>
        <p:spPr>
          <a:xfrm>
            <a:off x="3945465" y="5559522"/>
            <a:ext cx="186266" cy="4856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075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总线的基本结构和分类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56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8499"/>
            <a:ext cx="8229600" cy="2362050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多总线结构：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单总线和双总线往往不能满足当今计算机系统的高效通信需求，一般采用多总线结构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375861F-BC36-4C4A-965F-1BD547804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24200"/>
            <a:ext cx="46990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BEA4EC6-DBAE-7B45-AE74-ACC45EF25568}"/>
              </a:ext>
            </a:extLst>
          </p:cNvPr>
          <p:cNvSpPr txBox="1"/>
          <p:nvPr/>
        </p:nvSpPr>
        <p:spPr>
          <a:xfrm>
            <a:off x="5156200" y="3124200"/>
            <a:ext cx="3911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+mn-ea"/>
                <a:ea typeface="+mn-ea"/>
              </a:rPr>
              <a:t>ARM</a:t>
            </a:r>
            <a:r>
              <a:rPr kumimoji="1" lang="zh-CN" altLang="en-US" sz="2000" b="1" dirty="0">
                <a:latin typeface="+mn-ea"/>
                <a:ea typeface="+mn-ea"/>
              </a:rPr>
              <a:t> </a:t>
            </a:r>
            <a:r>
              <a:rPr kumimoji="1" lang="en-US" altLang="zh-CN" sz="2000" b="1" dirty="0">
                <a:latin typeface="+mn-ea"/>
                <a:ea typeface="+mn-ea"/>
              </a:rPr>
              <a:t>Cortex-M3</a:t>
            </a:r>
            <a:r>
              <a:rPr kumimoji="1" lang="zh-CN" altLang="en-US" sz="2000" b="1" dirty="0">
                <a:latin typeface="+mn-ea"/>
                <a:ea typeface="+mn-ea"/>
              </a:rPr>
              <a:t>处理器总线示意图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r>
              <a:rPr kumimoji="1" lang="en-US" altLang="zh-CN" sz="2000" b="1" dirty="0">
                <a:latin typeface="+mn-ea"/>
                <a:ea typeface="+mn-ea"/>
              </a:rPr>
              <a:t>AHB</a:t>
            </a:r>
            <a:r>
              <a:rPr kumimoji="1" lang="zh-CN" altLang="en-US" sz="2000" b="1" dirty="0">
                <a:latin typeface="+mn-ea"/>
                <a:ea typeface="+mn-ea"/>
              </a:rPr>
              <a:t>：高级高性能总线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r>
              <a:rPr kumimoji="1" lang="en-US" altLang="zh-CN" sz="2000" b="1" dirty="0">
                <a:latin typeface="+mn-ea"/>
                <a:ea typeface="+mn-ea"/>
              </a:rPr>
              <a:t>APB</a:t>
            </a:r>
            <a:r>
              <a:rPr kumimoji="1" lang="zh-CN" altLang="en-US" sz="2000" b="1" dirty="0">
                <a:latin typeface="+mn-ea"/>
                <a:ea typeface="+mn-ea"/>
              </a:rPr>
              <a:t>：高级外围总线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endParaRPr kumimoji="1"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kumimoji="1" lang="zh-CN" altLang="en-US" sz="2000" b="1" dirty="0">
                <a:latin typeface="+mn-ea"/>
                <a:ea typeface="+mn-ea"/>
              </a:rPr>
              <a:t>除此之外还有常用的</a:t>
            </a:r>
            <a:r>
              <a:rPr kumimoji="1" lang="en-US" altLang="zh-CN" sz="2000" b="1" dirty="0">
                <a:latin typeface="+mn-ea"/>
                <a:ea typeface="+mn-ea"/>
              </a:rPr>
              <a:t>AXI</a:t>
            </a:r>
            <a:r>
              <a:rPr kumimoji="1" lang="zh-CN" altLang="en-US" sz="2000" b="1" dirty="0">
                <a:latin typeface="+mn-ea"/>
                <a:ea typeface="+mn-ea"/>
              </a:rPr>
              <a:t>（高级可拓展接口）总线</a:t>
            </a:r>
          </a:p>
        </p:txBody>
      </p:sp>
    </p:spTree>
    <p:extLst>
      <p:ext uri="{BB962C8B-B14F-4D97-AF65-F5344CB8AC3E}">
        <p14:creationId xmlns:p14="http://schemas.microsoft.com/office/powerpoint/2010/main" val="242204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/>
              <a:t>引言</a:t>
            </a:r>
            <a:endParaRPr lang="en-US" altLang="zh-CN" dirty="0"/>
          </a:p>
          <a:p>
            <a:pPr marL="342900" lvl="1" indent="-342900">
              <a:buFontTx/>
              <a:buChar char="•"/>
            </a:pPr>
            <a:r>
              <a:rPr lang="zh-CN" altLang="en-US" sz="3200" dirty="0"/>
              <a:t>总线的基本结构和分类</a:t>
            </a:r>
            <a:endParaRPr lang="en-US" altLang="zh-CN" dirty="0"/>
          </a:p>
          <a:p>
            <a:r>
              <a:rPr lang="zh-CN" altLang="en-US" dirty="0">
                <a:solidFill>
                  <a:srgbClr val="1A49EA"/>
                </a:solidFill>
              </a:rPr>
              <a:t>总线的工作原理</a:t>
            </a:r>
            <a:endParaRPr lang="en-US" altLang="zh-CN" dirty="0">
              <a:solidFill>
                <a:srgbClr val="1A49EA"/>
              </a:solidFill>
            </a:endParaRPr>
          </a:p>
          <a:p>
            <a:r>
              <a:rPr lang="zh-CN" altLang="en-US" dirty="0"/>
              <a:t>外设的工作原理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57</a:t>
            </a:fld>
            <a:endParaRPr lang="en-US" altLang="zh-CN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83926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58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9153"/>
            <a:ext cx="8229600" cy="2763314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基于总线进行数据传输面临的挑战：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总线上任意两个设备上都可能发生数据传输</a:t>
            </a:r>
            <a:endParaRPr lang="en-US" altLang="zh-CN" sz="2400" dirty="0"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一般地，主动发起基于总线的数据传输成为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主设备</a:t>
            </a:r>
            <a:r>
              <a:rPr lang="zh-CN" altLang="en-US" sz="2000" dirty="0">
                <a:latin typeface="+mn-ea"/>
              </a:rPr>
              <a:t>，另外一个设备称为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从设备</a:t>
            </a:r>
            <a:endParaRPr lang="en-US" altLang="zh-CN" sz="2000" dirty="0">
              <a:solidFill>
                <a:srgbClr val="1A49EA"/>
              </a:solidFill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主线上的每个设备都有自己独一无二的设备地址</a:t>
            </a:r>
            <a:endParaRPr lang="en-US" altLang="zh-CN" sz="2000" dirty="0">
              <a:solidFill>
                <a:srgbClr val="1A49EA"/>
              </a:solidFill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总线可能正在被其他设备占用</a:t>
            </a:r>
            <a:endParaRPr lang="en-US" altLang="zh-CN" sz="2400" dirty="0"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总线一般采用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申请</a:t>
            </a:r>
            <a:r>
              <a:rPr lang="en-US" altLang="zh-CN" sz="2000" dirty="0">
                <a:solidFill>
                  <a:srgbClr val="1A49EA"/>
                </a:solidFill>
                <a:latin typeface="+mn-ea"/>
              </a:rPr>
              <a:t>-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使用</a:t>
            </a:r>
            <a:r>
              <a:rPr lang="zh-CN" altLang="en-US" sz="2000" dirty="0">
                <a:latin typeface="+mn-ea"/>
              </a:rPr>
              <a:t>流程，总线空闲时才能使用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6" name="図 34">
            <a:extLst>
              <a:ext uri="{FF2B5EF4-FFF2-40B4-BE49-F238E27FC236}">
                <a16:creationId xmlns:a16="http://schemas.microsoft.com/office/drawing/2014/main" id="{EFAF3342-2D6F-7541-BD81-F8E0295D95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478867" y="4467582"/>
            <a:ext cx="3377429" cy="169686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9BEA346-C6BE-5740-8AE6-7D6ED71F95B2}"/>
              </a:ext>
            </a:extLst>
          </p:cNvPr>
          <p:cNvGrpSpPr/>
          <p:nvPr/>
        </p:nvGrpSpPr>
        <p:grpSpPr>
          <a:xfrm>
            <a:off x="4983747" y="4886891"/>
            <a:ext cx="2382253" cy="772010"/>
            <a:chOff x="3343564" y="4627418"/>
            <a:chExt cx="2231674" cy="772010"/>
          </a:xfrm>
        </p:grpSpPr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70DBD60E-A3AC-C341-9ACC-0A9136B99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3564" y="4627418"/>
              <a:ext cx="1092" cy="772010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039069BD-EC42-2144-A9B3-5CA5A650F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4146" y="4627418"/>
              <a:ext cx="1092" cy="772010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076770ED-1A99-D94F-8D98-AC0F4DA09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3564" y="4627418"/>
              <a:ext cx="2229490" cy="0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8BDB74FA-68C7-BF47-8429-5CCCF23B8325}"/>
              </a:ext>
            </a:extLst>
          </p:cNvPr>
          <p:cNvSpPr txBox="1"/>
          <p:nvPr/>
        </p:nvSpPr>
        <p:spPr>
          <a:xfrm>
            <a:off x="4983747" y="6164448"/>
            <a:ext cx="2825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基于总线的通信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 algn="ctr"/>
            <a:r>
              <a:rPr kumimoji="1" lang="zh-CN" altLang="en-US" sz="2000" b="1" dirty="0">
                <a:solidFill>
                  <a:srgbClr val="1A49EA"/>
                </a:solidFill>
                <a:latin typeface="+mn-ea"/>
                <a:ea typeface="+mn-ea"/>
              </a:rPr>
              <a:t>先申请，后使用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3A610A-72D7-DD4B-9A98-DFBBA754DACA}"/>
              </a:ext>
            </a:extLst>
          </p:cNvPr>
          <p:cNvSpPr/>
          <p:nvPr/>
        </p:nvSpPr>
        <p:spPr>
          <a:xfrm>
            <a:off x="660400" y="5057426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处理器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0FAAC37-CF75-A34F-82DC-C2765D9ADDD5}"/>
              </a:ext>
            </a:extLst>
          </p:cNvPr>
          <p:cNvSpPr/>
          <p:nvPr/>
        </p:nvSpPr>
        <p:spPr>
          <a:xfrm>
            <a:off x="2278301" y="5057426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IO</a:t>
            </a:r>
            <a:r>
              <a:rPr kumimoji="1" lang="zh-CN" altLang="en-US" sz="2000" dirty="0">
                <a:solidFill>
                  <a:schemeClr val="tx1"/>
                </a:solidFill>
              </a:rPr>
              <a:t>设备</a:t>
            </a:r>
          </a:p>
        </p:txBody>
      </p:sp>
      <p:sp>
        <p:nvSpPr>
          <p:cNvPr id="24" name="左右箭头 23">
            <a:extLst>
              <a:ext uri="{FF2B5EF4-FFF2-40B4-BE49-F238E27FC236}">
                <a16:creationId xmlns:a16="http://schemas.microsoft.com/office/drawing/2014/main" id="{4C8E89F0-A340-D946-AEDD-24AFC0C51FC4}"/>
              </a:ext>
            </a:extLst>
          </p:cNvPr>
          <p:cNvSpPr/>
          <p:nvPr/>
        </p:nvSpPr>
        <p:spPr>
          <a:xfrm>
            <a:off x="1667551" y="5217927"/>
            <a:ext cx="567266" cy="266700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A395B63-D101-6749-B993-7F8BDE2CBF09}"/>
              </a:ext>
            </a:extLst>
          </p:cNvPr>
          <p:cNvSpPr txBox="1"/>
          <p:nvPr/>
        </p:nvSpPr>
        <p:spPr>
          <a:xfrm>
            <a:off x="538517" y="5714060"/>
            <a:ext cx="2825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点对点通信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 algn="ctr"/>
            <a:r>
              <a:rPr kumimoji="1" lang="zh-CN" altLang="en-US" sz="2000" b="1" dirty="0">
                <a:solidFill>
                  <a:srgbClr val="1A49EA"/>
                </a:solidFill>
                <a:latin typeface="+mn-ea"/>
                <a:ea typeface="+mn-ea"/>
              </a:rPr>
              <a:t>有需要即可使用</a:t>
            </a:r>
          </a:p>
        </p:txBody>
      </p:sp>
    </p:spTree>
    <p:extLst>
      <p:ext uri="{BB962C8B-B14F-4D97-AF65-F5344CB8AC3E}">
        <p14:creationId xmlns:p14="http://schemas.microsoft.com/office/powerpoint/2010/main" val="16667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59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1127"/>
            <a:ext cx="8229600" cy="4364606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总线信息传输的四个阶段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申请阶段</a:t>
            </a:r>
            <a:r>
              <a:rPr lang="zh-CN" altLang="en-US" sz="2400" dirty="0">
                <a:latin typeface="+mn-ea"/>
              </a:rPr>
              <a:t>：主设备请求占用总线，由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总线仲裁器</a:t>
            </a:r>
            <a:r>
              <a:rPr lang="zh-CN" altLang="en-US" sz="2400" dirty="0">
                <a:latin typeface="+mn-ea"/>
              </a:rPr>
              <a:t>决定哪个主设备可以占用总线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寻址阶段</a:t>
            </a:r>
            <a:r>
              <a:rPr lang="zh-CN" altLang="en-US" sz="2400" dirty="0">
                <a:latin typeface="+mn-ea"/>
              </a:rPr>
              <a:t>：主设备占用总线，发送从设备地址，启动从设备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传输阶段</a:t>
            </a:r>
            <a:r>
              <a:rPr lang="zh-CN" altLang="en-US" sz="2400" dirty="0">
                <a:latin typeface="+mn-ea"/>
              </a:rPr>
              <a:t>：主设备占用总线，和从设备进行数据传输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结束阶段</a:t>
            </a:r>
            <a:r>
              <a:rPr lang="zh-CN" altLang="en-US" sz="2400" dirty="0">
                <a:latin typeface="+mn-ea"/>
              </a:rPr>
              <a:t>：主设备停止占用总线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以上四个阶段构成一个完整的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总线传输周期</a:t>
            </a:r>
            <a:endParaRPr lang="en-US" altLang="zh-CN" sz="2400" dirty="0">
              <a:solidFill>
                <a:srgbClr val="1A49EA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232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60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1128"/>
            <a:ext cx="8229600" cy="703768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总线信息传输的四个阶段示例</a:t>
            </a:r>
            <a:endParaRPr lang="en-US" altLang="zh-CN" sz="2800" dirty="0">
              <a:latin typeface="+mn-ea"/>
            </a:endParaRPr>
          </a:p>
        </p:txBody>
      </p:sp>
      <p:pic>
        <p:nvPicPr>
          <p:cNvPr id="6" name="図 34">
            <a:extLst>
              <a:ext uri="{FF2B5EF4-FFF2-40B4-BE49-F238E27FC236}">
                <a16:creationId xmlns:a16="http://schemas.microsoft.com/office/drawing/2014/main" id="{EFAF3342-2D6F-7541-BD81-F8E0295D95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18366" y="1762405"/>
            <a:ext cx="2495678" cy="1483698"/>
          </a:xfrm>
          <a:prstGeom prst="rect">
            <a:avLst/>
          </a:prstGeom>
        </p:spPr>
      </p:pic>
      <p:sp>
        <p:nvSpPr>
          <p:cNvPr id="8" name="Line 7">
            <a:extLst>
              <a:ext uri="{FF2B5EF4-FFF2-40B4-BE49-F238E27FC236}">
                <a16:creationId xmlns:a16="http://schemas.microsoft.com/office/drawing/2014/main" id="{70DBD60E-A3AC-C341-9ACC-0A9136B992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91733" y="2090242"/>
            <a:ext cx="0" cy="703768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DB74FA-68C7-BF47-8429-5CCCF23B8325}"/>
              </a:ext>
            </a:extLst>
          </p:cNvPr>
          <p:cNvSpPr txBox="1"/>
          <p:nvPr/>
        </p:nvSpPr>
        <p:spPr>
          <a:xfrm>
            <a:off x="1886069" y="4446434"/>
            <a:ext cx="1468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申请阶段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5C0124-6C22-5047-A782-B7DF5722E250}"/>
              </a:ext>
            </a:extLst>
          </p:cNvPr>
          <p:cNvSpPr txBox="1"/>
          <p:nvPr/>
        </p:nvSpPr>
        <p:spPr>
          <a:xfrm>
            <a:off x="857752" y="3322055"/>
            <a:ext cx="3525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+mn-ea"/>
                <a:ea typeface="+mn-ea"/>
              </a:rPr>
              <a:t>处理器向总线仲裁器申请：</a:t>
            </a:r>
            <a:endParaRPr kumimoji="1" lang="en-US" altLang="zh-CN" b="1" dirty="0">
              <a:latin typeface="+mn-ea"/>
              <a:ea typeface="+mn-ea"/>
            </a:endParaRPr>
          </a:p>
          <a:p>
            <a:pPr algn="ctr"/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处理器申请使用主线</a:t>
            </a:r>
            <a:endParaRPr kumimoji="1" lang="en-US" altLang="zh-CN" b="1" dirty="0">
              <a:solidFill>
                <a:srgbClr val="1A49EA"/>
              </a:solidFill>
              <a:latin typeface="+mn-ea"/>
              <a:ea typeface="+mn-ea"/>
            </a:endParaRPr>
          </a:p>
          <a:p>
            <a:pPr algn="ctr"/>
            <a:r>
              <a:rPr kumimoji="1" lang="zh-CN" altLang="en-US" b="1" dirty="0">
                <a:latin typeface="+mn-ea"/>
                <a:ea typeface="+mn-ea"/>
              </a:rPr>
              <a:t>总线仲裁器发现总线空闲：</a:t>
            </a:r>
            <a:endParaRPr kumimoji="1" lang="en-US" altLang="zh-CN" b="1" dirty="0">
              <a:latin typeface="+mn-ea"/>
              <a:ea typeface="+mn-ea"/>
            </a:endParaRPr>
          </a:p>
          <a:p>
            <a:pPr algn="ctr"/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处理器可以使用总线</a:t>
            </a:r>
            <a:endParaRPr kumimoji="1" lang="en-US" altLang="zh-CN" b="1" dirty="0">
              <a:solidFill>
                <a:srgbClr val="1A49EA"/>
              </a:solidFill>
              <a:latin typeface="+mn-ea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143CC9-71A8-814B-A7D7-25D34EEECB7C}"/>
              </a:ext>
            </a:extLst>
          </p:cNvPr>
          <p:cNvSpPr txBox="1"/>
          <p:nvPr/>
        </p:nvSpPr>
        <p:spPr>
          <a:xfrm>
            <a:off x="4686939" y="3322929"/>
            <a:ext cx="4140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+mn-ea"/>
                <a:ea typeface="+mn-ea"/>
              </a:rPr>
              <a:t>处理器准备启动从设备</a:t>
            </a:r>
            <a:r>
              <a:rPr kumimoji="1" lang="en-US" altLang="zh-CN" b="1" dirty="0">
                <a:latin typeface="+mn-ea"/>
                <a:ea typeface="+mn-ea"/>
                <a:sym typeface="Wingdings" pitchFamily="2" charset="2"/>
              </a:rPr>
              <a:t>(</a:t>
            </a:r>
            <a:r>
              <a:rPr kumimoji="1" lang="en-US" altLang="zh-CN" b="1" dirty="0">
                <a:latin typeface="+mn-ea"/>
                <a:ea typeface="+mn-ea"/>
              </a:rPr>
              <a:t>IO</a:t>
            </a:r>
            <a:r>
              <a:rPr kumimoji="1" lang="zh-CN" altLang="en-US" b="1" dirty="0">
                <a:latin typeface="+mn-ea"/>
                <a:ea typeface="+mn-ea"/>
              </a:rPr>
              <a:t>设备</a:t>
            </a:r>
            <a:r>
              <a:rPr kumimoji="1" lang="en-US" altLang="zh-CN" b="1" dirty="0">
                <a:latin typeface="+mn-ea"/>
                <a:ea typeface="+mn-ea"/>
              </a:rPr>
              <a:t>)</a:t>
            </a:r>
            <a:r>
              <a:rPr kumimoji="1" lang="zh-CN" altLang="en-US" b="1" dirty="0">
                <a:latin typeface="+mn-ea"/>
                <a:ea typeface="+mn-ea"/>
              </a:rPr>
              <a:t>：</a:t>
            </a:r>
            <a:endParaRPr kumimoji="1" lang="en-US" altLang="zh-CN" b="1" dirty="0">
              <a:latin typeface="+mn-ea"/>
              <a:ea typeface="+mn-ea"/>
            </a:endParaRPr>
          </a:p>
          <a:p>
            <a:pPr algn="ctr"/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启动</a:t>
            </a:r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IO</a:t>
            </a:r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设备（</a:t>
            </a:r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0x01</a:t>
            </a:r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）</a:t>
            </a:r>
            <a:endParaRPr kumimoji="1" lang="en-US" altLang="zh-CN" b="1" dirty="0">
              <a:solidFill>
                <a:srgbClr val="1A49EA"/>
              </a:solidFill>
              <a:latin typeface="+mn-ea"/>
              <a:ea typeface="+mn-ea"/>
            </a:endParaRPr>
          </a:p>
          <a:p>
            <a:pPr algn="ctr"/>
            <a:r>
              <a:rPr kumimoji="1" lang="en-US" altLang="zh-CN" b="1" dirty="0">
                <a:latin typeface="+mn-ea"/>
                <a:ea typeface="+mn-ea"/>
              </a:rPr>
              <a:t>IO</a:t>
            </a:r>
            <a:r>
              <a:rPr kumimoji="1" lang="zh-CN" altLang="en-US" b="1" dirty="0">
                <a:latin typeface="+mn-ea"/>
                <a:ea typeface="+mn-ea"/>
              </a:rPr>
              <a:t>设备监听总线并回复：</a:t>
            </a:r>
            <a:endParaRPr kumimoji="1" lang="en-US" altLang="zh-CN" b="1" dirty="0">
              <a:latin typeface="+mn-ea"/>
              <a:ea typeface="+mn-ea"/>
            </a:endParaRPr>
          </a:p>
          <a:p>
            <a:pPr algn="ctr"/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IO</a:t>
            </a:r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设备（</a:t>
            </a:r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0x01</a:t>
            </a:r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）已经启动</a:t>
            </a:r>
            <a:endParaRPr kumimoji="1" lang="en-US" altLang="zh-CN" b="1" dirty="0">
              <a:solidFill>
                <a:srgbClr val="1A49EA"/>
              </a:solidFill>
              <a:latin typeface="+mn-ea"/>
              <a:ea typeface="+mn-ea"/>
            </a:endParaRPr>
          </a:p>
        </p:txBody>
      </p:sp>
      <p:pic>
        <p:nvPicPr>
          <p:cNvPr id="34" name="図 34">
            <a:extLst>
              <a:ext uri="{FF2B5EF4-FFF2-40B4-BE49-F238E27FC236}">
                <a16:creationId xmlns:a16="http://schemas.microsoft.com/office/drawing/2014/main" id="{D5259A64-F7ED-DA40-BFA4-89C121AD19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09170" y="1731300"/>
            <a:ext cx="2495678" cy="1483698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E253664-061B-B147-A602-40C71171E855}"/>
              </a:ext>
            </a:extLst>
          </p:cNvPr>
          <p:cNvGrpSpPr/>
          <p:nvPr/>
        </p:nvGrpSpPr>
        <p:grpSpPr>
          <a:xfrm>
            <a:off x="5892799" y="2096736"/>
            <a:ext cx="1727517" cy="532791"/>
            <a:chOff x="5560227" y="7246588"/>
            <a:chExt cx="1411686" cy="390293"/>
          </a:xfrm>
        </p:grpSpPr>
        <p:sp>
          <p:nvSpPr>
            <p:cNvPr id="35" name="Line 7">
              <a:extLst>
                <a:ext uri="{FF2B5EF4-FFF2-40B4-BE49-F238E27FC236}">
                  <a16:creationId xmlns:a16="http://schemas.microsoft.com/office/drawing/2014/main" id="{D42BC2F7-D546-7945-B509-3C807F5CC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0228" y="7248954"/>
              <a:ext cx="0" cy="387927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6" name="Line 7">
              <a:extLst>
                <a:ext uri="{FF2B5EF4-FFF2-40B4-BE49-F238E27FC236}">
                  <a16:creationId xmlns:a16="http://schemas.microsoft.com/office/drawing/2014/main" id="{AE92280B-BC51-AE4D-A78D-CE99D4F60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71913" y="7246588"/>
              <a:ext cx="0" cy="387927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7" name="Line 7">
              <a:extLst>
                <a:ext uri="{FF2B5EF4-FFF2-40B4-BE49-F238E27FC236}">
                  <a16:creationId xmlns:a16="http://schemas.microsoft.com/office/drawing/2014/main" id="{6C533A14-1A6C-C441-B4C8-ACCBA1F5B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0227" y="7246589"/>
              <a:ext cx="1411683" cy="0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9F20B3CA-F69D-DC47-8F5A-ED2D7834FF09}"/>
              </a:ext>
            </a:extLst>
          </p:cNvPr>
          <p:cNvSpPr txBox="1"/>
          <p:nvPr/>
        </p:nvSpPr>
        <p:spPr>
          <a:xfrm>
            <a:off x="6022264" y="4462995"/>
            <a:ext cx="1468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寻址阶段</a:t>
            </a:r>
          </a:p>
        </p:txBody>
      </p:sp>
      <p:pic>
        <p:nvPicPr>
          <p:cNvPr id="39" name="図 34">
            <a:extLst>
              <a:ext uri="{FF2B5EF4-FFF2-40B4-BE49-F238E27FC236}">
                <a16:creationId xmlns:a16="http://schemas.microsoft.com/office/drawing/2014/main" id="{242AF405-B35E-634C-9A2B-42B9A6C8E61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18366" y="4881209"/>
            <a:ext cx="2495678" cy="1483698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2ABB2F9F-F8C5-4447-A080-0BA2418BE2F5}"/>
              </a:ext>
            </a:extLst>
          </p:cNvPr>
          <p:cNvSpPr txBox="1"/>
          <p:nvPr/>
        </p:nvSpPr>
        <p:spPr>
          <a:xfrm>
            <a:off x="1731914" y="6346263"/>
            <a:ext cx="1468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传输阶段</a:t>
            </a:r>
          </a:p>
        </p:txBody>
      </p:sp>
      <p:pic>
        <p:nvPicPr>
          <p:cNvPr id="44" name="図 34">
            <a:extLst>
              <a:ext uri="{FF2B5EF4-FFF2-40B4-BE49-F238E27FC236}">
                <a16:creationId xmlns:a16="http://schemas.microsoft.com/office/drawing/2014/main" id="{7B722BF5-9C7B-B54B-9598-2AD660871A8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09170" y="4883971"/>
            <a:ext cx="2495678" cy="1483698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19284EA7-EA5F-5543-9EEA-A5FAECD32970}"/>
              </a:ext>
            </a:extLst>
          </p:cNvPr>
          <p:cNvSpPr txBox="1"/>
          <p:nvPr/>
        </p:nvSpPr>
        <p:spPr>
          <a:xfrm>
            <a:off x="5283200" y="6388535"/>
            <a:ext cx="30139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结束阶段：停止占用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DE6E2A5-3458-3845-AF7E-915A6E82C0DC}"/>
              </a:ext>
            </a:extLst>
          </p:cNvPr>
          <p:cNvGrpSpPr/>
          <p:nvPr/>
        </p:nvGrpSpPr>
        <p:grpSpPr>
          <a:xfrm>
            <a:off x="1603022" y="5260696"/>
            <a:ext cx="1727517" cy="532791"/>
            <a:chOff x="5560227" y="7246588"/>
            <a:chExt cx="1411686" cy="390293"/>
          </a:xfrm>
        </p:grpSpPr>
        <p:sp>
          <p:nvSpPr>
            <p:cNvPr id="51" name="Line 7">
              <a:extLst>
                <a:ext uri="{FF2B5EF4-FFF2-40B4-BE49-F238E27FC236}">
                  <a16:creationId xmlns:a16="http://schemas.microsoft.com/office/drawing/2014/main" id="{FFF037AF-34B9-6441-B491-F12B07D11D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0228" y="7248954"/>
              <a:ext cx="0" cy="387927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2" name="Line 7">
              <a:extLst>
                <a:ext uri="{FF2B5EF4-FFF2-40B4-BE49-F238E27FC236}">
                  <a16:creationId xmlns:a16="http://schemas.microsoft.com/office/drawing/2014/main" id="{8B7C168A-62A9-4D42-9A92-92AA0173D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71913" y="7246588"/>
              <a:ext cx="0" cy="387927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3" name="Line 7">
              <a:extLst>
                <a:ext uri="{FF2B5EF4-FFF2-40B4-BE49-F238E27FC236}">
                  <a16:creationId xmlns:a16="http://schemas.microsoft.com/office/drawing/2014/main" id="{DFB7D03F-CFA5-1A4A-8428-BD3329D27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0227" y="7246589"/>
              <a:ext cx="1411683" cy="0"/>
            </a:xfrm>
            <a:prstGeom prst="line">
              <a:avLst/>
            </a:prstGeom>
            <a:noFill/>
            <a:ln w="76200" cmpd="tri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54" name="七边形 53">
            <a:extLst>
              <a:ext uri="{FF2B5EF4-FFF2-40B4-BE49-F238E27FC236}">
                <a16:creationId xmlns:a16="http://schemas.microsoft.com/office/drawing/2014/main" id="{CA6C9D5C-5559-F44A-9164-31F78A370495}"/>
              </a:ext>
            </a:extLst>
          </p:cNvPr>
          <p:cNvSpPr/>
          <p:nvPr/>
        </p:nvSpPr>
        <p:spPr>
          <a:xfrm>
            <a:off x="3864520" y="2179482"/>
            <a:ext cx="381000" cy="364067"/>
          </a:xfrm>
          <a:prstGeom prst="heptag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55" name="七边形 54">
            <a:extLst>
              <a:ext uri="{FF2B5EF4-FFF2-40B4-BE49-F238E27FC236}">
                <a16:creationId xmlns:a16="http://schemas.microsoft.com/office/drawing/2014/main" id="{AE59B30A-302A-E840-B64D-12A70AF95623}"/>
              </a:ext>
            </a:extLst>
          </p:cNvPr>
          <p:cNvSpPr/>
          <p:nvPr/>
        </p:nvSpPr>
        <p:spPr>
          <a:xfrm>
            <a:off x="8297103" y="2179481"/>
            <a:ext cx="381000" cy="364067"/>
          </a:xfrm>
          <a:prstGeom prst="heptag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</a:rPr>
              <a:t>2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56" name="七边形 55">
            <a:extLst>
              <a:ext uri="{FF2B5EF4-FFF2-40B4-BE49-F238E27FC236}">
                <a16:creationId xmlns:a16="http://schemas.microsoft.com/office/drawing/2014/main" id="{D27B3FBE-DA61-CD40-B295-9443A0AB83A9}"/>
              </a:ext>
            </a:extLst>
          </p:cNvPr>
          <p:cNvSpPr/>
          <p:nvPr/>
        </p:nvSpPr>
        <p:spPr>
          <a:xfrm>
            <a:off x="3864520" y="5078662"/>
            <a:ext cx="381000" cy="364067"/>
          </a:xfrm>
          <a:prstGeom prst="heptag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</a:rPr>
              <a:t>3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57" name="七边形 56">
            <a:extLst>
              <a:ext uri="{FF2B5EF4-FFF2-40B4-BE49-F238E27FC236}">
                <a16:creationId xmlns:a16="http://schemas.microsoft.com/office/drawing/2014/main" id="{31D022A1-7F02-8347-BCC7-268C8E3988B5}"/>
              </a:ext>
            </a:extLst>
          </p:cNvPr>
          <p:cNvSpPr/>
          <p:nvPr/>
        </p:nvSpPr>
        <p:spPr>
          <a:xfrm>
            <a:off x="8297103" y="5078662"/>
            <a:ext cx="381000" cy="364067"/>
          </a:xfrm>
          <a:prstGeom prst="heptag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</a:rPr>
              <a:t>4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8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61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9522"/>
            <a:ext cx="8229600" cy="4431678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总线仲裁器是什么？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总线上可能同时有多个设备申请占用总线，总线仲裁器决定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下一个总线传输周期</a:t>
            </a:r>
            <a:r>
              <a:rPr lang="zh-CN" altLang="en-US" sz="2400" dirty="0">
                <a:latin typeface="+mn-ea"/>
              </a:rPr>
              <a:t>哪个设备占用总线</a:t>
            </a:r>
            <a:endParaRPr lang="en-US" altLang="zh-CN" sz="2400" dirty="0"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设备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和设备</a:t>
            </a:r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>
                <a:latin typeface="+mn-ea"/>
              </a:rPr>
              <a:t>同时申请占用总线，仲裁器决定设备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占用，于是设备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开始占用，设备</a:t>
            </a:r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>
                <a:latin typeface="+mn-ea"/>
              </a:rPr>
              <a:t>继续等待</a:t>
            </a:r>
            <a:endParaRPr lang="en-US" altLang="zh-CN" sz="20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根据仲裁器所在的位置可以分为：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集中式仲裁系统</a:t>
            </a:r>
            <a:r>
              <a:rPr lang="zh-CN" altLang="en-US" sz="2400" dirty="0">
                <a:latin typeface="+mn-ea"/>
              </a:rPr>
              <a:t>和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分布式仲裁系统</a:t>
            </a:r>
            <a:endParaRPr lang="en-US" altLang="zh-CN" sz="2400" dirty="0">
              <a:solidFill>
                <a:srgbClr val="1A49EA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2134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62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6621"/>
            <a:ext cx="8229600" cy="3039040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集中式仲裁系统：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总线判优的控制逻辑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集中</a:t>
            </a:r>
            <a:r>
              <a:rPr lang="zh-CN" altLang="en-US" sz="2400" dirty="0">
                <a:latin typeface="+mn-ea"/>
              </a:rPr>
              <a:t>在全局位置上的总线仲裁器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可以划分为三大类：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链式查询</a:t>
            </a:r>
            <a:r>
              <a:rPr lang="zh-CN" altLang="en-US" sz="2400" dirty="0">
                <a:latin typeface="+mn-ea"/>
              </a:rPr>
              <a:t>，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计数器查询</a:t>
            </a:r>
            <a:r>
              <a:rPr lang="zh-CN" altLang="en-US" sz="2400" dirty="0">
                <a:latin typeface="+mn-ea"/>
              </a:rPr>
              <a:t>以及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总线独立请求与准许</a:t>
            </a:r>
            <a:endParaRPr lang="en-US" altLang="zh-CN" sz="2400" dirty="0">
              <a:solidFill>
                <a:srgbClr val="1A49EA"/>
              </a:solidFill>
              <a:latin typeface="+mn-ea"/>
            </a:endParaRPr>
          </a:p>
        </p:txBody>
      </p:sp>
      <p:pic>
        <p:nvPicPr>
          <p:cNvPr id="9" name="図 34">
            <a:extLst>
              <a:ext uri="{FF2B5EF4-FFF2-40B4-BE49-F238E27FC236}">
                <a16:creationId xmlns:a16="http://schemas.microsoft.com/office/drawing/2014/main" id="{C0FD6D44-6F05-2C4F-A604-FFF209E354E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87700" y="3635022"/>
            <a:ext cx="3861634" cy="236864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CF33BE5-9DC8-EE43-A64C-E7A21A03994D}"/>
              </a:ext>
            </a:extLst>
          </p:cNvPr>
          <p:cNvSpPr/>
          <p:nvPr/>
        </p:nvSpPr>
        <p:spPr>
          <a:xfrm>
            <a:off x="5304945" y="3828067"/>
            <a:ext cx="1355499" cy="732643"/>
          </a:xfrm>
          <a:prstGeom prst="rect">
            <a:avLst/>
          </a:prstGeom>
          <a:noFill/>
          <a:ln w="19050">
            <a:solidFill>
              <a:srgbClr val="1A49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总线</a:t>
            </a:r>
            <a:endParaRPr kumimoji="1"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仲裁器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F14A14-AE1A-4D4D-8E9C-F7D8E7191E60}"/>
              </a:ext>
            </a:extLst>
          </p:cNvPr>
          <p:cNvSpPr txBox="1"/>
          <p:nvPr/>
        </p:nvSpPr>
        <p:spPr>
          <a:xfrm>
            <a:off x="5618784" y="4748854"/>
            <a:ext cx="3525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总线仲裁器统一处理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所有设备的总线请求</a:t>
            </a:r>
            <a:endParaRPr kumimoji="1"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36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63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6621"/>
            <a:ext cx="8229600" cy="3039040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集中式仲裁系统（链式查询）：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按照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硬件顺序</a:t>
            </a:r>
            <a:r>
              <a:rPr lang="zh-CN" altLang="en-US" sz="2400" dirty="0">
                <a:latin typeface="+mn-ea"/>
              </a:rPr>
              <a:t>依次查询是否有总线申请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设备使用总线的优先级由硬件结构确定</a:t>
            </a:r>
            <a:endParaRPr lang="en-US" altLang="zh-CN" sz="2400" dirty="0"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例子中，主设备</a:t>
            </a:r>
            <a:r>
              <a:rPr lang="en-US" altLang="zh-CN" sz="2000" dirty="0">
                <a:latin typeface="+mn-ea"/>
              </a:rPr>
              <a:t>0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优先级最高</a:t>
            </a:r>
            <a:r>
              <a:rPr lang="zh-CN" altLang="en-US" sz="2000" dirty="0">
                <a:latin typeface="+mn-ea"/>
              </a:rPr>
              <a:t>，主设备</a:t>
            </a:r>
            <a:r>
              <a:rPr lang="en-US" altLang="zh-CN" sz="2000" dirty="0">
                <a:latin typeface="+mn-ea"/>
              </a:rPr>
              <a:t>N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优先级最低</a:t>
            </a:r>
            <a:endParaRPr lang="en-US" altLang="zh-CN" sz="2000" dirty="0">
              <a:solidFill>
                <a:srgbClr val="1A49EA"/>
              </a:solidFill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信号线说明：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总线请求</a:t>
            </a:r>
            <a:r>
              <a:rPr lang="en-US" altLang="zh-CN" sz="2000" dirty="0">
                <a:latin typeface="+mn-ea"/>
              </a:rPr>
              <a:t>(</a:t>
            </a:r>
            <a:r>
              <a:rPr lang="en-US" altLang="zh-CN" sz="2000" dirty="0"/>
              <a:t>BR, bus request</a:t>
            </a:r>
            <a:r>
              <a:rPr lang="en-US" altLang="zh-CN" sz="2000" dirty="0">
                <a:latin typeface="+mn-ea"/>
              </a:rPr>
              <a:t>)</a:t>
            </a:r>
            <a:r>
              <a:rPr lang="zh-CN" altLang="en-US" sz="2000" dirty="0">
                <a:latin typeface="+mn-ea"/>
              </a:rPr>
              <a:t>、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总线占用</a:t>
            </a:r>
            <a:r>
              <a:rPr lang="en-US" altLang="zh-CN" sz="2000" dirty="0">
                <a:latin typeface="+mn-ea"/>
              </a:rPr>
              <a:t>(</a:t>
            </a:r>
            <a:r>
              <a:rPr lang="en-US" altLang="zh-CN" sz="2000" dirty="0"/>
              <a:t>BS, bus busy</a:t>
            </a:r>
            <a:r>
              <a:rPr lang="en-US" altLang="zh-CN" sz="2000" dirty="0">
                <a:latin typeface="+mn-ea"/>
              </a:rPr>
              <a:t>)</a:t>
            </a:r>
            <a:r>
              <a:rPr lang="zh-CN" altLang="en-US" sz="2000" dirty="0">
                <a:latin typeface="+mn-ea"/>
              </a:rPr>
              <a:t>以及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总线允许</a:t>
            </a:r>
            <a:r>
              <a:rPr lang="en-US" altLang="zh-CN" sz="2000" dirty="0">
                <a:latin typeface="+mn-ea"/>
              </a:rPr>
              <a:t>(</a:t>
            </a:r>
            <a:r>
              <a:rPr lang="en-US" altLang="zh-CN" sz="2000" dirty="0"/>
              <a:t>BG, bus grant</a:t>
            </a:r>
            <a:r>
              <a:rPr lang="en-US" altLang="zh-CN" sz="2000" dirty="0">
                <a:latin typeface="+mn-ea"/>
              </a:rPr>
              <a:t>) </a:t>
            </a: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5" name="図 72">
            <a:extLst>
              <a:ext uri="{FF2B5EF4-FFF2-40B4-BE49-F238E27FC236}">
                <a16:creationId xmlns:a16="http://schemas.microsoft.com/office/drawing/2014/main" id="{AC481E12-E062-A741-AD10-19FF33DE5B6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40345" y="4018715"/>
            <a:ext cx="5863309" cy="208473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C55C640-AB38-FC47-BE06-EAAB85CA8D56}"/>
              </a:ext>
            </a:extLst>
          </p:cNvPr>
          <p:cNvSpPr txBox="1"/>
          <p:nvPr/>
        </p:nvSpPr>
        <p:spPr>
          <a:xfrm>
            <a:off x="1959891" y="5939923"/>
            <a:ext cx="2962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+mn-ea"/>
                <a:ea typeface="+mn-ea"/>
              </a:rPr>
              <a:t>（</a:t>
            </a:r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BG</a:t>
            </a:r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信号为</a:t>
            </a:r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1</a:t>
            </a:r>
            <a:r>
              <a:rPr kumimoji="1" lang="zh-CN" altLang="en-US" b="1" dirty="0">
                <a:latin typeface="+mn-ea"/>
                <a:ea typeface="+mn-ea"/>
              </a:rPr>
              <a:t>）主设备</a:t>
            </a:r>
            <a:r>
              <a:rPr kumimoji="1" lang="en-US" altLang="zh-CN" b="1" dirty="0">
                <a:latin typeface="+mn-ea"/>
                <a:ea typeface="+mn-ea"/>
              </a:rPr>
              <a:t>0</a:t>
            </a:r>
            <a:r>
              <a:rPr kumimoji="1" lang="zh-CN" altLang="en-US" b="1" dirty="0">
                <a:latin typeface="+mn-ea"/>
                <a:ea typeface="+mn-ea"/>
              </a:rPr>
              <a:t>可以</a:t>
            </a:r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占用总线，</a:t>
            </a:r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BG</a:t>
            </a:r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信号置</a:t>
            </a:r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0</a:t>
            </a:r>
            <a:endParaRPr kumimoji="1" lang="zh-CN" altLang="en-US" b="1" dirty="0">
              <a:solidFill>
                <a:srgbClr val="1A49EA"/>
              </a:solidFill>
              <a:latin typeface="+mn-ea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DA9477-B9A4-FE4B-91D5-87A3209CA3EE}"/>
              </a:ext>
            </a:extLst>
          </p:cNvPr>
          <p:cNvSpPr txBox="1"/>
          <p:nvPr/>
        </p:nvSpPr>
        <p:spPr>
          <a:xfrm>
            <a:off x="5072478" y="5939923"/>
            <a:ext cx="228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+mn-ea"/>
                <a:ea typeface="+mn-ea"/>
              </a:rPr>
              <a:t>（</a:t>
            </a:r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BG</a:t>
            </a:r>
            <a:r>
              <a:rPr kumimoji="1" lang="zh-CN" altLang="en-US" b="1" dirty="0">
                <a:solidFill>
                  <a:srgbClr val="1A49EA"/>
                </a:solidFill>
                <a:latin typeface="+mn-ea"/>
                <a:ea typeface="+mn-ea"/>
              </a:rPr>
              <a:t>信号为</a:t>
            </a:r>
            <a:r>
              <a:rPr kumimoji="1" lang="en-US" altLang="zh-CN" b="1" dirty="0">
                <a:solidFill>
                  <a:srgbClr val="1A49EA"/>
                </a:solidFill>
                <a:latin typeface="+mn-ea"/>
                <a:ea typeface="+mn-ea"/>
              </a:rPr>
              <a:t>1</a:t>
            </a:r>
            <a:r>
              <a:rPr kumimoji="1" lang="zh-CN" altLang="en-US" b="1" dirty="0">
                <a:latin typeface="+mn-ea"/>
                <a:ea typeface="+mn-ea"/>
              </a:rPr>
              <a:t>）主设备</a:t>
            </a:r>
            <a:r>
              <a:rPr kumimoji="1" lang="en-US" altLang="zh-CN" b="1" dirty="0">
                <a:latin typeface="+mn-ea"/>
                <a:ea typeface="+mn-ea"/>
              </a:rPr>
              <a:t>N</a:t>
            </a:r>
            <a:r>
              <a:rPr kumimoji="1" lang="zh-CN" altLang="en-US" b="1" dirty="0">
                <a:latin typeface="+mn-ea"/>
                <a:ea typeface="+mn-ea"/>
              </a:rPr>
              <a:t>可以占用总线</a:t>
            </a:r>
          </a:p>
        </p:txBody>
      </p:sp>
    </p:spTree>
    <p:extLst>
      <p:ext uri="{BB962C8B-B14F-4D97-AF65-F5344CB8AC3E}">
        <p14:creationId xmlns:p14="http://schemas.microsoft.com/office/powerpoint/2010/main" val="278419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64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6621"/>
            <a:ext cx="8229600" cy="3039040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集中式仲裁系统（计数器查询）：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在有总线申请后，按照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计数器</a:t>
            </a:r>
            <a:r>
              <a:rPr lang="zh-CN" altLang="en-US" sz="2400" dirty="0">
                <a:latin typeface="+mn-ea"/>
              </a:rPr>
              <a:t>顺序逐步查询设备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设备使用总线的优先级由计数器顺序确定</a:t>
            </a:r>
            <a:endParaRPr lang="en-US" altLang="zh-CN" sz="2400" dirty="0"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例子中，主设备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优先级最高</a:t>
            </a:r>
            <a:r>
              <a:rPr lang="zh-CN" altLang="en-US" sz="2000" dirty="0">
                <a:latin typeface="+mn-ea"/>
              </a:rPr>
              <a:t>，主设备</a:t>
            </a:r>
            <a:r>
              <a:rPr lang="en-US" altLang="zh-CN" sz="2000" dirty="0">
                <a:latin typeface="+mn-ea"/>
              </a:rPr>
              <a:t>N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优先级最低</a:t>
            </a:r>
            <a:endParaRPr lang="en-US" altLang="zh-CN" sz="2000" dirty="0">
              <a:solidFill>
                <a:srgbClr val="1A49EA"/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DA9477-B9A4-FE4B-91D5-87A3209CA3EE}"/>
              </a:ext>
            </a:extLst>
          </p:cNvPr>
          <p:cNvSpPr txBox="1"/>
          <p:nvPr/>
        </p:nvSpPr>
        <p:spPr>
          <a:xfrm>
            <a:off x="603955" y="3668102"/>
            <a:ext cx="24738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计数器顺序：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 algn="ctr"/>
            <a:r>
              <a:rPr kumimoji="1" lang="en-US" altLang="zh-CN" sz="2000" b="1" dirty="0">
                <a:latin typeface="+mn-ea"/>
                <a:ea typeface="+mn-ea"/>
              </a:rPr>
              <a:t>1</a:t>
            </a:r>
            <a:r>
              <a:rPr kumimoji="1" lang="zh-CN" altLang="en-US" sz="2000" b="1" dirty="0">
                <a:latin typeface="+mn-ea"/>
                <a:ea typeface="+mn-ea"/>
              </a:rPr>
              <a:t>，主设备</a:t>
            </a:r>
            <a:r>
              <a:rPr kumimoji="1" lang="en-US" altLang="zh-CN" sz="2000" b="1" dirty="0">
                <a:latin typeface="+mn-ea"/>
                <a:ea typeface="+mn-ea"/>
              </a:rPr>
              <a:t>1</a:t>
            </a:r>
          </a:p>
          <a:p>
            <a:pPr algn="ctr"/>
            <a:r>
              <a:rPr kumimoji="1" lang="en-US" altLang="zh-CN" sz="2000" b="1" dirty="0">
                <a:latin typeface="+mn-ea"/>
                <a:ea typeface="+mn-ea"/>
              </a:rPr>
              <a:t>2</a:t>
            </a:r>
            <a:r>
              <a:rPr kumimoji="1" lang="zh-CN" altLang="en-US" sz="2000" b="1" dirty="0">
                <a:latin typeface="+mn-ea"/>
                <a:ea typeface="+mn-ea"/>
              </a:rPr>
              <a:t>，主设备</a:t>
            </a:r>
            <a:r>
              <a:rPr kumimoji="1" lang="en-US" altLang="zh-CN" sz="2000" b="1" dirty="0">
                <a:latin typeface="+mn-ea"/>
                <a:ea typeface="+mn-ea"/>
              </a:rPr>
              <a:t>0</a:t>
            </a:r>
          </a:p>
          <a:p>
            <a:pPr algn="ctr"/>
            <a:r>
              <a:rPr kumimoji="1" lang="en-US" altLang="zh-CN" sz="2000" b="1" dirty="0">
                <a:latin typeface="+mn-ea"/>
                <a:ea typeface="+mn-ea"/>
              </a:rPr>
              <a:t>3</a:t>
            </a:r>
            <a:r>
              <a:rPr kumimoji="1" lang="zh-CN" altLang="en-US" sz="2000" b="1" dirty="0">
                <a:latin typeface="+mn-ea"/>
                <a:ea typeface="+mn-ea"/>
              </a:rPr>
              <a:t>，主设备</a:t>
            </a:r>
            <a:r>
              <a:rPr kumimoji="1" lang="en-US" altLang="zh-CN" sz="2000" b="1" dirty="0">
                <a:latin typeface="+mn-ea"/>
                <a:ea typeface="+mn-ea"/>
              </a:rPr>
              <a:t>N</a:t>
            </a:r>
          </a:p>
          <a:p>
            <a:pPr algn="ctr"/>
            <a:endParaRPr kumimoji="1" lang="en-US" altLang="zh-CN" sz="2000" b="1" dirty="0">
              <a:latin typeface="+mn-ea"/>
              <a:ea typeface="+mn-ea"/>
            </a:endParaRPr>
          </a:p>
          <a:p>
            <a:r>
              <a:rPr kumimoji="1" lang="zh-CN" altLang="en-US" sz="2000" b="1" dirty="0">
                <a:latin typeface="+mn-ea"/>
                <a:ea typeface="+mn-ea"/>
              </a:rPr>
              <a:t>接受到总线请求后，按顺序依次查询这些设备</a:t>
            </a:r>
          </a:p>
        </p:txBody>
      </p:sp>
      <p:pic>
        <p:nvPicPr>
          <p:cNvPr id="8" name="図 73">
            <a:extLst>
              <a:ext uri="{FF2B5EF4-FFF2-40B4-BE49-F238E27FC236}">
                <a16:creationId xmlns:a16="http://schemas.microsoft.com/office/drawing/2014/main" id="{F068C8A1-6725-B147-8DA5-85AEFF308E7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09272" y="3580026"/>
            <a:ext cx="5823528" cy="222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65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6621"/>
            <a:ext cx="8229600" cy="3039040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集中式仲裁系统（总线独立请求与准许）：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每个设备和总线仲裁器均有独立的连接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设备使用总线的优先级由仲裁器内部设定决定</a:t>
            </a:r>
            <a:endParaRPr lang="en-US" altLang="zh-CN" sz="2400" dirty="0"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例子中，主设备</a:t>
            </a:r>
            <a:r>
              <a:rPr lang="en-US" altLang="zh-CN" sz="2000" dirty="0">
                <a:latin typeface="+mn-ea"/>
              </a:rPr>
              <a:t>N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优先级最高</a:t>
            </a:r>
            <a:r>
              <a:rPr lang="zh-CN" altLang="en-US" sz="2000" dirty="0">
                <a:latin typeface="+mn-ea"/>
              </a:rPr>
              <a:t>，主设备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优先级最低</a:t>
            </a:r>
            <a:endParaRPr lang="en-US" altLang="zh-CN" sz="2000" dirty="0">
              <a:solidFill>
                <a:srgbClr val="1A49EA"/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DA9477-B9A4-FE4B-91D5-87A3209CA3EE}"/>
              </a:ext>
            </a:extLst>
          </p:cNvPr>
          <p:cNvSpPr txBox="1"/>
          <p:nvPr/>
        </p:nvSpPr>
        <p:spPr>
          <a:xfrm>
            <a:off x="502354" y="3668102"/>
            <a:ext cx="24738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仲裁器内部顺序：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 algn="ctr"/>
            <a:r>
              <a:rPr kumimoji="1" lang="en-US" altLang="zh-CN" sz="2000" b="1" dirty="0">
                <a:latin typeface="+mn-ea"/>
                <a:ea typeface="+mn-ea"/>
              </a:rPr>
              <a:t>1</a:t>
            </a:r>
            <a:r>
              <a:rPr kumimoji="1" lang="zh-CN" altLang="en-US" sz="2000" b="1" dirty="0">
                <a:latin typeface="+mn-ea"/>
                <a:ea typeface="+mn-ea"/>
              </a:rPr>
              <a:t>，主设备</a:t>
            </a:r>
            <a:r>
              <a:rPr kumimoji="1" lang="en-US" altLang="zh-CN" sz="2000" b="1" dirty="0">
                <a:latin typeface="+mn-ea"/>
                <a:ea typeface="+mn-ea"/>
              </a:rPr>
              <a:t>N</a:t>
            </a:r>
          </a:p>
          <a:p>
            <a:pPr algn="ctr"/>
            <a:r>
              <a:rPr kumimoji="1" lang="en-US" altLang="zh-CN" sz="2000" b="1" dirty="0">
                <a:latin typeface="+mn-ea"/>
                <a:ea typeface="+mn-ea"/>
              </a:rPr>
              <a:t>2</a:t>
            </a:r>
            <a:r>
              <a:rPr kumimoji="1" lang="zh-CN" altLang="en-US" sz="2000" b="1" dirty="0">
                <a:latin typeface="+mn-ea"/>
                <a:ea typeface="+mn-ea"/>
              </a:rPr>
              <a:t>，主设备</a:t>
            </a:r>
            <a:r>
              <a:rPr kumimoji="1" lang="en-US" altLang="zh-CN" sz="2000" b="1" dirty="0">
                <a:latin typeface="+mn-ea"/>
                <a:ea typeface="+mn-ea"/>
              </a:rPr>
              <a:t>0</a:t>
            </a:r>
          </a:p>
          <a:p>
            <a:pPr algn="ctr"/>
            <a:r>
              <a:rPr kumimoji="1" lang="en-US" altLang="zh-CN" sz="2000" b="1" dirty="0">
                <a:latin typeface="+mn-ea"/>
                <a:ea typeface="+mn-ea"/>
              </a:rPr>
              <a:t>3</a:t>
            </a:r>
            <a:r>
              <a:rPr kumimoji="1" lang="zh-CN" altLang="en-US" sz="2000" b="1" dirty="0">
                <a:latin typeface="+mn-ea"/>
                <a:ea typeface="+mn-ea"/>
              </a:rPr>
              <a:t>，主设备</a:t>
            </a:r>
            <a:r>
              <a:rPr kumimoji="1" lang="en-US" altLang="zh-CN" sz="2000" b="1" dirty="0">
                <a:latin typeface="+mn-ea"/>
                <a:ea typeface="+mn-ea"/>
              </a:rPr>
              <a:t>1</a:t>
            </a:r>
          </a:p>
          <a:p>
            <a:pPr algn="ctr"/>
            <a:endParaRPr kumimoji="1" lang="en-US" altLang="zh-CN" sz="2000" b="1" dirty="0">
              <a:latin typeface="+mn-ea"/>
              <a:ea typeface="+mn-ea"/>
            </a:endParaRPr>
          </a:p>
          <a:p>
            <a:r>
              <a:rPr kumimoji="1" lang="zh-CN" altLang="en-US" sz="2000" b="1" dirty="0">
                <a:latin typeface="+mn-ea"/>
                <a:ea typeface="+mn-ea"/>
              </a:rPr>
              <a:t>接受到总线请求后，直接同意优先级最高的设备的申请</a:t>
            </a:r>
          </a:p>
        </p:txBody>
      </p:sp>
      <p:pic>
        <p:nvPicPr>
          <p:cNvPr id="7" name="図 74">
            <a:extLst>
              <a:ext uri="{FF2B5EF4-FFF2-40B4-BE49-F238E27FC236}">
                <a16:creationId xmlns:a16="http://schemas.microsoft.com/office/drawing/2014/main" id="{D1F3758E-CB90-3F4F-94C4-E03CE40894E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64489" y="3543557"/>
            <a:ext cx="5890952" cy="23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34">
            <a:extLst>
              <a:ext uri="{FF2B5EF4-FFF2-40B4-BE49-F238E27FC236}">
                <a16:creationId xmlns:a16="http://schemas.microsoft.com/office/drawing/2014/main" id="{654C3869-92B7-9647-B591-8BC28E9A9E1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57120" y="3229075"/>
            <a:ext cx="3861634" cy="23686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66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6621"/>
            <a:ext cx="8430322" cy="3039040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分布式仲裁系统：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总线判优的控制逻辑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分散</a:t>
            </a:r>
            <a:r>
              <a:rPr lang="zh-CN" altLang="en-US" sz="2400" dirty="0">
                <a:latin typeface="+mn-ea"/>
              </a:rPr>
              <a:t>在与总线相连的各个设备上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每个设备都有独立的仲裁器判断本身设备能否占用总线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1E4559-0021-FE4A-BB06-596CDEED899B}"/>
              </a:ext>
            </a:extLst>
          </p:cNvPr>
          <p:cNvSpPr txBox="1"/>
          <p:nvPr/>
        </p:nvSpPr>
        <p:spPr>
          <a:xfrm>
            <a:off x="4718754" y="4016445"/>
            <a:ext cx="44252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当处理器和存储器同时申请占用总线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 algn="ctr"/>
            <a:r>
              <a:rPr kumimoji="1" lang="zh-CN" altLang="en-US" sz="2000" b="1" dirty="0">
                <a:solidFill>
                  <a:srgbClr val="1A49EA"/>
                </a:solidFill>
                <a:latin typeface="+mn-ea"/>
                <a:ea typeface="+mn-ea"/>
              </a:rPr>
              <a:t>两个仲裁器比较自己的申请优先级</a:t>
            </a:r>
            <a:endParaRPr kumimoji="1" lang="en-US" altLang="zh-CN" sz="2000" b="1" dirty="0">
              <a:solidFill>
                <a:srgbClr val="1A49EA"/>
              </a:solidFill>
              <a:latin typeface="+mn-ea"/>
              <a:ea typeface="+mn-ea"/>
            </a:endParaRPr>
          </a:p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优先级高的占用，优先级低的退出</a:t>
            </a:r>
            <a:endParaRPr kumimoji="1" lang="en-US" altLang="zh-CN" sz="2000" b="1" dirty="0">
              <a:latin typeface="+mn-ea"/>
              <a:ea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98BECE-AB37-9F40-938C-D86E58180AE4}"/>
              </a:ext>
            </a:extLst>
          </p:cNvPr>
          <p:cNvSpPr/>
          <p:nvPr/>
        </p:nvSpPr>
        <p:spPr>
          <a:xfrm>
            <a:off x="1902174" y="4161536"/>
            <a:ext cx="954743" cy="362741"/>
          </a:xfrm>
          <a:prstGeom prst="rect">
            <a:avLst/>
          </a:prstGeom>
          <a:noFill/>
          <a:ln w="19050">
            <a:solidFill>
              <a:srgbClr val="1A49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仲裁器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6E846E-2FAA-044D-B318-9975A3A8929E}"/>
              </a:ext>
            </a:extLst>
          </p:cNvPr>
          <p:cNvSpPr/>
          <p:nvPr/>
        </p:nvSpPr>
        <p:spPr>
          <a:xfrm>
            <a:off x="3226367" y="4161536"/>
            <a:ext cx="954743" cy="362741"/>
          </a:xfrm>
          <a:prstGeom prst="rect">
            <a:avLst/>
          </a:prstGeom>
          <a:noFill/>
          <a:ln w="19050">
            <a:solidFill>
              <a:srgbClr val="1A49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仲裁器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08D279-55C1-6640-B8D4-E1F91AC0111F}"/>
              </a:ext>
            </a:extLst>
          </p:cNvPr>
          <p:cNvSpPr/>
          <p:nvPr/>
        </p:nvSpPr>
        <p:spPr>
          <a:xfrm>
            <a:off x="501520" y="4134866"/>
            <a:ext cx="954743" cy="362741"/>
          </a:xfrm>
          <a:prstGeom prst="rect">
            <a:avLst/>
          </a:prstGeom>
          <a:noFill/>
          <a:ln w="19050">
            <a:solidFill>
              <a:srgbClr val="1A49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仲裁器</a:t>
            </a:r>
          </a:p>
        </p:txBody>
      </p:sp>
    </p:spTree>
    <p:extLst>
      <p:ext uri="{BB962C8B-B14F-4D97-AF65-F5344CB8AC3E}">
        <p14:creationId xmlns:p14="http://schemas.microsoft.com/office/powerpoint/2010/main" val="34127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/>
              <a:t>引言</a:t>
            </a:r>
            <a:endParaRPr lang="en-US" altLang="zh-CN" dirty="0"/>
          </a:p>
          <a:p>
            <a:pPr marL="342900" lvl="1" indent="-342900">
              <a:buFontTx/>
              <a:buChar char="•"/>
            </a:pPr>
            <a:r>
              <a:rPr lang="zh-CN" altLang="en-US" sz="3200" dirty="0"/>
              <a:t>总线的基本结构和分类</a:t>
            </a:r>
            <a:endParaRPr lang="en-US" altLang="zh-CN" dirty="0"/>
          </a:p>
          <a:p>
            <a:r>
              <a:rPr lang="zh-CN" altLang="en-US" dirty="0"/>
              <a:t>总线的工作原理</a:t>
            </a:r>
            <a:endParaRPr lang="en-US" altLang="zh-CN" dirty="0"/>
          </a:p>
          <a:p>
            <a:r>
              <a:rPr lang="zh-CN" altLang="en-US" dirty="0">
                <a:solidFill>
                  <a:srgbClr val="1A49EA"/>
                </a:solidFill>
              </a:rPr>
              <a:t>外设的工作原理</a:t>
            </a:r>
            <a:endParaRPr lang="en-US" altLang="zh-CN" dirty="0">
              <a:solidFill>
                <a:srgbClr val="1A49EA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67</a:t>
            </a:fld>
            <a:endParaRPr lang="en-US" altLang="zh-CN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313934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68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5"/>
            <a:ext cx="8229600" cy="2378075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外设是什么？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外设是外部设备的简称，是指连接在计算机系统上，处理器以外的硬件设备</a:t>
            </a:r>
            <a:endParaRPr lang="en-US" altLang="zh-CN" sz="2000" dirty="0">
              <a:latin typeface="+mn-ea"/>
            </a:endParaRPr>
          </a:p>
          <a:p>
            <a:pPr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外设做什么？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外设用来</a:t>
            </a:r>
            <a:r>
              <a:rPr lang="zh-CN" altLang="en-US" sz="2000" dirty="0">
                <a:solidFill>
                  <a:srgbClr val="1A49EA"/>
                </a:solidFill>
                <a:latin typeface="+mn-ea"/>
              </a:rPr>
              <a:t>扩展或增强</a:t>
            </a:r>
            <a:r>
              <a:rPr lang="zh-CN" altLang="en-US" sz="2000" dirty="0">
                <a:latin typeface="+mn-ea"/>
              </a:rPr>
              <a:t>所连接的计算机系统的功能或性能</a:t>
            </a:r>
            <a:endParaRPr lang="en-US" altLang="zh-CN" sz="20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E70445-0555-D745-9B42-6CDECBAFAB83}"/>
              </a:ext>
            </a:extLst>
          </p:cNvPr>
          <p:cNvSpPr/>
          <p:nvPr/>
        </p:nvSpPr>
        <p:spPr>
          <a:xfrm>
            <a:off x="4137564" y="5021487"/>
            <a:ext cx="1066577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处理器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9EC9F3-56E0-944E-BA49-6E6A691592FE}"/>
              </a:ext>
            </a:extLst>
          </p:cNvPr>
          <p:cNvSpPr/>
          <p:nvPr/>
        </p:nvSpPr>
        <p:spPr>
          <a:xfrm>
            <a:off x="2272079" y="4039627"/>
            <a:ext cx="1066577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键盘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00CE2A-47DB-B24C-A630-E8FC65812498}"/>
              </a:ext>
            </a:extLst>
          </p:cNvPr>
          <p:cNvSpPr/>
          <p:nvPr/>
        </p:nvSpPr>
        <p:spPr>
          <a:xfrm>
            <a:off x="2272079" y="4595451"/>
            <a:ext cx="1066577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鼠标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919BB3-A2AC-0E45-BC54-E5D7D7D834DE}"/>
              </a:ext>
            </a:extLst>
          </p:cNvPr>
          <p:cNvSpPr/>
          <p:nvPr/>
        </p:nvSpPr>
        <p:spPr>
          <a:xfrm>
            <a:off x="2022694" y="5151275"/>
            <a:ext cx="1519728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网络适配器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908F00-E2B5-684F-A341-19910EAD11C6}"/>
              </a:ext>
            </a:extLst>
          </p:cNvPr>
          <p:cNvSpPr/>
          <p:nvPr/>
        </p:nvSpPr>
        <p:spPr>
          <a:xfrm>
            <a:off x="2251140" y="5707098"/>
            <a:ext cx="110845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磁盘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F379638F-4759-C348-8211-B83B4532FEF0}"/>
              </a:ext>
            </a:extLst>
          </p:cNvPr>
          <p:cNvCxnSpPr>
            <a:cxnSpLocks/>
          </p:cNvCxnSpPr>
          <p:nvPr/>
        </p:nvCxnSpPr>
        <p:spPr>
          <a:xfrm>
            <a:off x="2824885" y="6268703"/>
            <a:ext cx="0" cy="370936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B238F77C-B720-F94D-97CC-39E73D3E5A5B}"/>
              </a:ext>
            </a:extLst>
          </p:cNvPr>
          <p:cNvSpPr/>
          <p:nvPr/>
        </p:nvSpPr>
        <p:spPr>
          <a:xfrm>
            <a:off x="1832851" y="4039627"/>
            <a:ext cx="181152" cy="260001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BB3A14A-0333-F841-A8E8-6C04BC4DBAA2}"/>
              </a:ext>
            </a:extLst>
          </p:cNvPr>
          <p:cNvGrpSpPr/>
          <p:nvPr/>
        </p:nvGrpSpPr>
        <p:grpSpPr>
          <a:xfrm>
            <a:off x="609706" y="4302724"/>
            <a:ext cx="1154067" cy="2062235"/>
            <a:chOff x="511900" y="3174946"/>
            <a:chExt cx="1154067" cy="2268459"/>
          </a:xfrm>
        </p:grpSpPr>
        <p:sp>
          <p:nvSpPr>
            <p:cNvPr id="15" name="Freeform 48">
              <a:extLst>
                <a:ext uri="{FF2B5EF4-FFF2-40B4-BE49-F238E27FC236}">
                  <a16:creationId xmlns:a16="http://schemas.microsoft.com/office/drawing/2014/main" id="{516409DB-3533-B641-B66C-56D6AC3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526" y="3174946"/>
              <a:ext cx="64440" cy="2267080"/>
            </a:xfrm>
            <a:custGeom>
              <a:avLst/>
              <a:gdLst>
                <a:gd name="T0" fmla="*/ 0 w 39"/>
                <a:gd name="T1" fmla="*/ 2147483647 h 1547"/>
                <a:gd name="T2" fmla="*/ 0 w 39"/>
                <a:gd name="T3" fmla="*/ 2147483647 h 1547"/>
                <a:gd name="T4" fmla="*/ 2147483647 w 39"/>
                <a:gd name="T5" fmla="*/ 0 h 1547"/>
                <a:gd name="T6" fmla="*/ 2147483647 w 39"/>
                <a:gd name="T7" fmla="*/ 2147483647 h 1547"/>
                <a:gd name="T8" fmla="*/ 0 w 39"/>
                <a:gd name="T9" fmla="*/ 2147483647 h 15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7">
                  <a:moveTo>
                    <a:pt x="0" y="154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" name="Line 49">
              <a:extLst>
                <a:ext uri="{FF2B5EF4-FFF2-40B4-BE49-F238E27FC236}">
                  <a16:creationId xmlns:a16="http://schemas.microsoft.com/office/drawing/2014/main" id="{5F056E50-EBC0-5546-8273-4D50D2CC50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5385350"/>
              <a:ext cx="64440" cy="56676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DE5BCB36-7FAF-F647-9CD8-18DA748C5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00" y="3183083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8" name="Line 51">
              <a:extLst>
                <a:ext uri="{FF2B5EF4-FFF2-40B4-BE49-F238E27FC236}">
                  <a16:creationId xmlns:a16="http://schemas.microsoft.com/office/drawing/2014/main" id="{1893E2B3-2FCA-004C-B974-AC1030C20B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183083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0" name="Rectangle 52">
              <a:extLst>
                <a:ext uri="{FF2B5EF4-FFF2-40B4-BE49-F238E27FC236}">
                  <a16:creationId xmlns:a16="http://schemas.microsoft.com/office/drawing/2014/main" id="{806A267B-2143-6646-A74B-A97157A99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00" y="3231623"/>
              <a:ext cx="1089627" cy="2210403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1" name="Line 53">
              <a:extLst>
                <a:ext uri="{FF2B5EF4-FFF2-40B4-BE49-F238E27FC236}">
                  <a16:creationId xmlns:a16="http://schemas.microsoft.com/office/drawing/2014/main" id="{ED11CFB3-D969-0F43-A1B2-4ED4C2060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2" name="Line 54">
              <a:extLst>
                <a:ext uri="{FF2B5EF4-FFF2-40B4-BE49-F238E27FC236}">
                  <a16:creationId xmlns:a16="http://schemas.microsoft.com/office/drawing/2014/main" id="{DA99680C-5D1D-9D46-A2F4-701EB757A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5442022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" name="Line 55">
              <a:extLst>
                <a:ext uri="{FF2B5EF4-FFF2-40B4-BE49-F238E27FC236}">
                  <a16:creationId xmlns:a16="http://schemas.microsoft.com/office/drawing/2014/main" id="{B8AFB72C-3F34-A841-B45B-702DFD5CED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" name="Line 56">
              <a:extLst>
                <a:ext uri="{FF2B5EF4-FFF2-40B4-BE49-F238E27FC236}">
                  <a16:creationId xmlns:a16="http://schemas.microsoft.com/office/drawing/2014/main" id="{2371FFB5-1EE1-A147-886A-551DB24F4E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00" y="3239755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5" name="Rectangle 57">
              <a:extLst>
                <a:ext uri="{FF2B5EF4-FFF2-40B4-BE49-F238E27FC236}">
                  <a16:creationId xmlns:a16="http://schemas.microsoft.com/office/drawing/2014/main" id="{41F19173-F37C-C44F-BB78-095A59F5E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21" y="3896434"/>
              <a:ext cx="725478" cy="94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输入</a:t>
              </a:r>
              <a:endParaRPr lang="en-US" altLang="zh-CN" sz="28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设备</a:t>
              </a:r>
              <a:endParaRPr lang="zh-CN" altLang="en-US" sz="28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26" name="Rectangle 58">
              <a:extLst>
                <a:ext uri="{FF2B5EF4-FFF2-40B4-BE49-F238E27FC236}">
                  <a16:creationId xmlns:a16="http://schemas.microsoft.com/office/drawing/2014/main" id="{99EDB241-E31E-7A4F-A779-9EE364871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3965585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27" name="Rectangle 60">
              <a:extLst>
                <a:ext uri="{FF2B5EF4-FFF2-40B4-BE49-F238E27FC236}">
                  <a16:creationId xmlns:a16="http://schemas.microsoft.com/office/drawing/2014/main" id="{95B49B18-02F3-AA4C-9D76-460D18876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4327810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3B33C6B8-27A4-E041-8642-CEDEC6C2D929}"/>
              </a:ext>
            </a:extLst>
          </p:cNvPr>
          <p:cNvSpPr/>
          <p:nvPr/>
        </p:nvSpPr>
        <p:spPr>
          <a:xfrm>
            <a:off x="5932639" y="4039627"/>
            <a:ext cx="117323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显示器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5976AE1-3032-F548-A6AF-3CF62D92960B}"/>
              </a:ext>
            </a:extLst>
          </p:cNvPr>
          <p:cNvSpPr/>
          <p:nvPr/>
        </p:nvSpPr>
        <p:spPr>
          <a:xfrm>
            <a:off x="5932639" y="4595451"/>
            <a:ext cx="117323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显示器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128A5A-A1B6-8546-B5D4-00971B651B97}"/>
              </a:ext>
            </a:extLst>
          </p:cNvPr>
          <p:cNvSpPr/>
          <p:nvPr/>
        </p:nvSpPr>
        <p:spPr>
          <a:xfrm>
            <a:off x="5782203" y="5151275"/>
            <a:ext cx="1528946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网络适配器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048BF34-68D2-FE42-B3DA-74A15618651E}"/>
              </a:ext>
            </a:extLst>
          </p:cNvPr>
          <p:cNvSpPr/>
          <p:nvPr/>
        </p:nvSpPr>
        <p:spPr>
          <a:xfrm>
            <a:off x="5965029" y="5707098"/>
            <a:ext cx="110845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VR/AR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27EEBBB5-21E4-BD4A-AE66-734E23F43191}"/>
              </a:ext>
            </a:extLst>
          </p:cNvPr>
          <p:cNvCxnSpPr>
            <a:cxnSpLocks/>
          </p:cNvCxnSpPr>
          <p:nvPr/>
        </p:nvCxnSpPr>
        <p:spPr>
          <a:xfrm>
            <a:off x="6538774" y="6268703"/>
            <a:ext cx="0" cy="370936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DED837A-DA35-1C4F-A465-F797A45FBFF0}"/>
              </a:ext>
            </a:extLst>
          </p:cNvPr>
          <p:cNvGrpSpPr/>
          <p:nvPr/>
        </p:nvGrpSpPr>
        <p:grpSpPr>
          <a:xfrm>
            <a:off x="7623044" y="4120157"/>
            <a:ext cx="1154067" cy="2062235"/>
            <a:chOff x="511900" y="3174946"/>
            <a:chExt cx="1154067" cy="2268459"/>
          </a:xfrm>
        </p:grpSpPr>
        <p:sp>
          <p:nvSpPr>
            <p:cNvPr id="34" name="Freeform 48">
              <a:extLst>
                <a:ext uri="{FF2B5EF4-FFF2-40B4-BE49-F238E27FC236}">
                  <a16:creationId xmlns:a16="http://schemas.microsoft.com/office/drawing/2014/main" id="{B8C13913-FC83-0947-B416-26AFA1277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526" y="3174946"/>
              <a:ext cx="64440" cy="2267080"/>
            </a:xfrm>
            <a:custGeom>
              <a:avLst/>
              <a:gdLst>
                <a:gd name="T0" fmla="*/ 0 w 39"/>
                <a:gd name="T1" fmla="*/ 2147483647 h 1547"/>
                <a:gd name="T2" fmla="*/ 0 w 39"/>
                <a:gd name="T3" fmla="*/ 2147483647 h 1547"/>
                <a:gd name="T4" fmla="*/ 2147483647 w 39"/>
                <a:gd name="T5" fmla="*/ 0 h 1547"/>
                <a:gd name="T6" fmla="*/ 2147483647 w 39"/>
                <a:gd name="T7" fmla="*/ 2147483647 h 1547"/>
                <a:gd name="T8" fmla="*/ 0 w 39"/>
                <a:gd name="T9" fmla="*/ 2147483647 h 15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7">
                  <a:moveTo>
                    <a:pt x="0" y="154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" name="Line 49">
              <a:extLst>
                <a:ext uri="{FF2B5EF4-FFF2-40B4-BE49-F238E27FC236}">
                  <a16:creationId xmlns:a16="http://schemas.microsoft.com/office/drawing/2014/main" id="{91A27F1E-7A1B-424E-A8C3-15197DE058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5385350"/>
              <a:ext cx="64440" cy="56676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6" name="Freeform 50">
              <a:extLst>
                <a:ext uri="{FF2B5EF4-FFF2-40B4-BE49-F238E27FC236}">
                  <a16:creationId xmlns:a16="http://schemas.microsoft.com/office/drawing/2014/main" id="{39F5214E-CE0A-F34B-B0E7-3E4B2D8C2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00" y="3183083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7" name="Line 51">
              <a:extLst>
                <a:ext uri="{FF2B5EF4-FFF2-40B4-BE49-F238E27FC236}">
                  <a16:creationId xmlns:a16="http://schemas.microsoft.com/office/drawing/2014/main" id="{E101346C-7B42-2443-A137-52E861DA1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183083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8" name="Rectangle 52">
              <a:extLst>
                <a:ext uri="{FF2B5EF4-FFF2-40B4-BE49-F238E27FC236}">
                  <a16:creationId xmlns:a16="http://schemas.microsoft.com/office/drawing/2014/main" id="{5A04FC3F-BA15-0542-81EA-B1ED60E57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00" y="3231623"/>
              <a:ext cx="1089627" cy="2210403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9" name="Line 53">
              <a:extLst>
                <a:ext uri="{FF2B5EF4-FFF2-40B4-BE49-F238E27FC236}">
                  <a16:creationId xmlns:a16="http://schemas.microsoft.com/office/drawing/2014/main" id="{4A2548F5-8487-6E41-ACF5-FA95CD215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0" name="Line 54">
              <a:extLst>
                <a:ext uri="{FF2B5EF4-FFF2-40B4-BE49-F238E27FC236}">
                  <a16:creationId xmlns:a16="http://schemas.microsoft.com/office/drawing/2014/main" id="{8D05CDCC-DE68-4449-9BB6-B42ED1215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00" y="5442022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1" name="Line 55">
              <a:extLst>
                <a:ext uri="{FF2B5EF4-FFF2-40B4-BE49-F238E27FC236}">
                  <a16:creationId xmlns:a16="http://schemas.microsoft.com/office/drawing/2014/main" id="{C44E3976-76B1-6340-8D86-71F146BB89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526" y="3231623"/>
              <a:ext cx="1464" cy="2210403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2" name="Line 56">
              <a:extLst>
                <a:ext uri="{FF2B5EF4-FFF2-40B4-BE49-F238E27FC236}">
                  <a16:creationId xmlns:a16="http://schemas.microsoft.com/office/drawing/2014/main" id="{F28FE9F2-AE94-964F-AFD6-9D6FE6BB4A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00" y="3239755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3" name="Rectangle 57">
              <a:extLst>
                <a:ext uri="{FF2B5EF4-FFF2-40B4-BE49-F238E27FC236}">
                  <a16:creationId xmlns:a16="http://schemas.microsoft.com/office/drawing/2014/main" id="{DFB9C64E-2603-6645-9AF3-A8E384C0E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21" y="3896434"/>
              <a:ext cx="725478" cy="94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输出</a:t>
              </a:r>
              <a:endParaRPr lang="en-US" altLang="zh-CN" sz="28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defTabSz="1009650"/>
              <a:r>
                <a:rPr lang="zh-CN" altLang="en-US" sz="28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设备</a:t>
              </a:r>
              <a:endParaRPr lang="zh-CN" altLang="en-US" sz="28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44" name="Rectangle 58">
              <a:extLst>
                <a:ext uri="{FF2B5EF4-FFF2-40B4-BE49-F238E27FC236}">
                  <a16:creationId xmlns:a16="http://schemas.microsoft.com/office/drawing/2014/main" id="{E9EBCA89-76B0-B14D-B11D-E46342817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3965585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45" name="Rectangle 60">
              <a:extLst>
                <a:ext uri="{FF2B5EF4-FFF2-40B4-BE49-F238E27FC236}">
                  <a16:creationId xmlns:a16="http://schemas.microsoft.com/office/drawing/2014/main" id="{5B9AA860-13E9-AE4C-9A3D-8530EFFD5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308" y="4327810"/>
              <a:ext cx="86562" cy="45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09650"/>
              <a:r>
                <a:rPr lang="zh-CN" altLang="en-US" sz="2700" dirty="0">
                  <a:solidFill>
                    <a:srgbClr val="000000"/>
                  </a:solidFill>
                  <a:latin typeface="Times New Roman" pitchFamily="18" charset="0"/>
                  <a:ea typeface="SimHei" panose="02010609060101010101" pitchFamily="49" charset="-122"/>
                </a:rPr>
                <a:t> </a:t>
              </a:r>
              <a:endParaRPr lang="zh-CN" altLang="en-US" sz="1500" dirty="0"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46" name="右大括号 45">
            <a:extLst>
              <a:ext uri="{FF2B5EF4-FFF2-40B4-BE49-F238E27FC236}">
                <a16:creationId xmlns:a16="http://schemas.microsoft.com/office/drawing/2014/main" id="{8B713A31-54C6-D842-BA40-6BB3E44D6468}"/>
              </a:ext>
            </a:extLst>
          </p:cNvPr>
          <p:cNvSpPr/>
          <p:nvPr/>
        </p:nvSpPr>
        <p:spPr>
          <a:xfrm>
            <a:off x="7249540" y="4050776"/>
            <a:ext cx="233461" cy="2600012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5D28646-62CC-D943-805B-B5AC651A7DF4}"/>
              </a:ext>
            </a:extLst>
          </p:cNvPr>
          <p:cNvSpPr/>
          <p:nvPr/>
        </p:nvSpPr>
        <p:spPr>
          <a:xfrm>
            <a:off x="3613264" y="6290588"/>
            <a:ext cx="921854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内存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3FDDCB4-E56D-5748-9540-DDD7355E43F4}"/>
              </a:ext>
            </a:extLst>
          </p:cNvPr>
          <p:cNvSpPr/>
          <p:nvPr/>
        </p:nvSpPr>
        <p:spPr>
          <a:xfrm>
            <a:off x="4974816" y="6290588"/>
            <a:ext cx="921854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+mn-ea"/>
              </a:rPr>
              <a:t>内存</a:t>
            </a:r>
            <a:r>
              <a:rPr kumimoji="1" lang="en-US" altLang="zh-CN" sz="2000" b="1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AAED2041-DB99-A949-8C03-928CED08C4EF}"/>
              </a:ext>
            </a:extLst>
          </p:cNvPr>
          <p:cNvCxnSpPr>
            <a:cxnSpLocks/>
          </p:cNvCxnSpPr>
          <p:nvPr/>
        </p:nvCxnSpPr>
        <p:spPr>
          <a:xfrm>
            <a:off x="4635989" y="6506031"/>
            <a:ext cx="235495" cy="0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Line 7">
            <a:extLst>
              <a:ext uri="{FF2B5EF4-FFF2-40B4-BE49-F238E27FC236}">
                <a16:creationId xmlns:a16="http://schemas.microsoft.com/office/drawing/2014/main" id="{34839AD5-28E8-3E4F-9193-54D1E92BB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0823" y="3829746"/>
            <a:ext cx="16340" cy="2124826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3" name="Line 7">
            <a:extLst>
              <a:ext uri="{FF2B5EF4-FFF2-40B4-BE49-F238E27FC236}">
                <a16:creationId xmlns:a16="http://schemas.microsoft.com/office/drawing/2014/main" id="{2786A6C6-B5E3-5C46-BD6E-A778ECCC6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3197" y="3818730"/>
            <a:ext cx="16340" cy="2124826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4" name="Line 7">
            <a:extLst>
              <a:ext uri="{FF2B5EF4-FFF2-40B4-BE49-F238E27FC236}">
                <a16:creationId xmlns:a16="http://schemas.microsoft.com/office/drawing/2014/main" id="{FFB6C8A0-E7FF-9E46-8D51-042ACA815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9361" y="5943556"/>
            <a:ext cx="1860176" cy="0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2D0B7F52-1498-CA41-A9CD-67E021730A78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3338656" y="4255071"/>
            <a:ext cx="38905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D67D58D3-AA59-7943-97E4-530BFFE6C25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338656" y="4810895"/>
            <a:ext cx="38905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BFB1B85A-98A7-E740-AB0C-A0D24906182A}"/>
              </a:ext>
            </a:extLst>
          </p:cNvPr>
          <p:cNvCxnSpPr>
            <a:cxnSpLocks/>
          </p:cNvCxnSpPr>
          <p:nvPr/>
        </p:nvCxnSpPr>
        <p:spPr>
          <a:xfrm flipH="1">
            <a:off x="3527989" y="5350782"/>
            <a:ext cx="22137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8C4A5825-35BB-7F46-A5D6-E79B90114017}"/>
              </a:ext>
            </a:extLst>
          </p:cNvPr>
          <p:cNvCxnSpPr>
            <a:cxnSpLocks/>
          </p:cNvCxnSpPr>
          <p:nvPr/>
        </p:nvCxnSpPr>
        <p:spPr>
          <a:xfrm flipH="1">
            <a:off x="3378645" y="5922542"/>
            <a:ext cx="33116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A643EDE2-694D-C048-906C-17E8EF51566D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618227" y="4255071"/>
            <a:ext cx="31441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8C71637-819D-DB41-81EB-D21D03077DAB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5628671" y="4810895"/>
            <a:ext cx="303968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FDFAD26D-9C42-D04E-8DE3-FBB1BD3CB2C9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5618227" y="5366719"/>
            <a:ext cx="16397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16C148DC-D797-8445-84F5-9BC20C5DD8F3}"/>
              </a:ext>
            </a:extLst>
          </p:cNvPr>
          <p:cNvCxnSpPr>
            <a:cxnSpLocks/>
          </p:cNvCxnSpPr>
          <p:nvPr/>
        </p:nvCxnSpPr>
        <p:spPr>
          <a:xfrm flipV="1">
            <a:off x="5643831" y="5922541"/>
            <a:ext cx="333313" cy="665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58802218-F7ED-794C-93C6-7B397F163096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5435743" y="5970709"/>
            <a:ext cx="0" cy="31987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3E4FB4B8-42AD-3D45-8B10-C3F71032D066}"/>
              </a:ext>
            </a:extLst>
          </p:cNvPr>
          <p:cNvCxnSpPr>
            <a:cxnSpLocks/>
          </p:cNvCxnSpPr>
          <p:nvPr/>
        </p:nvCxnSpPr>
        <p:spPr>
          <a:xfrm flipV="1">
            <a:off x="4074191" y="5978045"/>
            <a:ext cx="0" cy="31987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C2C12B70-101D-4648-A586-D2896E0E8D1D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4670853" y="5452374"/>
            <a:ext cx="7366" cy="45669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1C5DFFC6-5600-FF45-930A-C569A6E7A8B5}"/>
              </a:ext>
            </a:extLst>
          </p:cNvPr>
          <p:cNvSpPr/>
          <p:nvPr/>
        </p:nvSpPr>
        <p:spPr>
          <a:xfrm>
            <a:off x="2007374" y="3818729"/>
            <a:ext cx="1540894" cy="2820899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5C5112A5-FF0A-9E40-AE73-8E180AD337F0}"/>
              </a:ext>
            </a:extLst>
          </p:cNvPr>
          <p:cNvSpPr/>
          <p:nvPr/>
        </p:nvSpPr>
        <p:spPr>
          <a:xfrm>
            <a:off x="5781629" y="3825382"/>
            <a:ext cx="1540891" cy="2814246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619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69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5"/>
            <a:ext cx="8229600" cy="1441097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常见的外设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键盘，鼠标，显示器，固态硬盘等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1B990CF-74C3-2143-A0E1-046DAF7B8A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71" y="4176892"/>
            <a:ext cx="2133600" cy="213360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1C4861CD-75FC-C74D-B44E-31A79EE62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088" y="2287678"/>
            <a:ext cx="2703987" cy="2141536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D865A097-E943-AD49-BFBA-48B0E626DE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459" y="3821997"/>
            <a:ext cx="2943578" cy="2943578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DC5B8F5C-A00B-E645-98C0-C620270CEEC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5" t="5419" r="8070"/>
          <a:stretch/>
        </p:blipFill>
        <p:spPr>
          <a:xfrm>
            <a:off x="6586035" y="2535415"/>
            <a:ext cx="2140983" cy="182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8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70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15" y="1279525"/>
            <a:ext cx="8229600" cy="4693793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外设可以按照功能划分为：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输入设备</a:t>
            </a:r>
            <a:r>
              <a:rPr lang="zh-CN" altLang="en-US" sz="2400" dirty="0">
                <a:latin typeface="+mn-ea"/>
              </a:rPr>
              <a:t>：键盘，鼠标等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输出设备</a:t>
            </a:r>
            <a:r>
              <a:rPr lang="zh-CN" altLang="en-US" sz="2400" dirty="0">
                <a:latin typeface="+mn-ea"/>
              </a:rPr>
              <a:t>：显示器等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存储器设备</a:t>
            </a:r>
            <a:endParaRPr lang="en-US" altLang="zh-CN" sz="2400" dirty="0">
              <a:solidFill>
                <a:srgbClr val="1A49EA"/>
              </a:solidFill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网络设备</a:t>
            </a:r>
            <a:endParaRPr lang="en-US" altLang="zh-CN" sz="2400" dirty="0">
              <a:solidFill>
                <a:srgbClr val="1A49EA"/>
              </a:solidFill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0C5BE3-FAF1-D44F-9E04-C50D62706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0" t="3588"/>
          <a:stretch/>
        </p:blipFill>
        <p:spPr>
          <a:xfrm>
            <a:off x="2760151" y="3753059"/>
            <a:ext cx="3612327" cy="273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6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71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6"/>
            <a:ext cx="8229600" cy="3100564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通过外设扩展处理器功能面临的挑战：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外设和外部环境的交互信息，外设和处理器的交互信息，两者往往是不同的</a:t>
            </a:r>
            <a:endParaRPr lang="en-US" altLang="zh-CN" sz="2400" dirty="0"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例如：对于键盘，我们和键盘交互采用的是物理信号（敲击按键），键盘和处理器交互是数字信号</a:t>
            </a:r>
            <a:endParaRPr lang="en-US" altLang="zh-CN" sz="20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因此需要程序来进行两种不同信息的转换， 这类应用程序也被称为</a:t>
            </a: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驱动程序</a:t>
            </a:r>
            <a:endParaRPr lang="en-US" altLang="zh-CN" sz="2400" dirty="0">
              <a:solidFill>
                <a:srgbClr val="1A49EA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C13052-E709-1341-A059-39CC0A620933}"/>
              </a:ext>
            </a:extLst>
          </p:cNvPr>
          <p:cNvSpPr/>
          <p:nvPr/>
        </p:nvSpPr>
        <p:spPr>
          <a:xfrm>
            <a:off x="1311690" y="5074466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DA6EBA-B4E2-734D-87D5-EB995104A841}"/>
              </a:ext>
            </a:extLst>
          </p:cNvPr>
          <p:cNvSpPr/>
          <p:nvPr/>
        </p:nvSpPr>
        <p:spPr>
          <a:xfrm>
            <a:off x="3136256" y="5065944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键盘</a:t>
            </a:r>
          </a:p>
        </p:txBody>
      </p:sp>
      <p:sp>
        <p:nvSpPr>
          <p:cNvPr id="9" name="左右箭头 8">
            <a:extLst>
              <a:ext uri="{FF2B5EF4-FFF2-40B4-BE49-F238E27FC236}">
                <a16:creationId xmlns:a16="http://schemas.microsoft.com/office/drawing/2014/main" id="{C52D46AC-C2AC-8341-BFD8-0EAAC321CF90}"/>
              </a:ext>
            </a:extLst>
          </p:cNvPr>
          <p:cNvSpPr/>
          <p:nvPr/>
        </p:nvSpPr>
        <p:spPr>
          <a:xfrm>
            <a:off x="2285357" y="5199294"/>
            <a:ext cx="850899" cy="264528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A0E027-CB0C-CA44-BC3C-C79C456C43F7}"/>
              </a:ext>
            </a:extLst>
          </p:cNvPr>
          <p:cNvSpPr txBox="1"/>
          <p:nvPr/>
        </p:nvSpPr>
        <p:spPr>
          <a:xfrm>
            <a:off x="5513709" y="5891282"/>
            <a:ext cx="2825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此图为示意图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实际结构更复杂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E25A5E-2C7B-D04D-BF59-744AC13E6147}"/>
              </a:ext>
            </a:extLst>
          </p:cNvPr>
          <p:cNvSpPr txBox="1"/>
          <p:nvPr/>
        </p:nvSpPr>
        <p:spPr>
          <a:xfrm>
            <a:off x="1307167" y="4845351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敲击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701561-56EC-8240-BDE0-451DD2B8A184}"/>
              </a:ext>
            </a:extLst>
          </p:cNvPr>
          <p:cNvSpPr/>
          <p:nvPr/>
        </p:nvSpPr>
        <p:spPr>
          <a:xfrm>
            <a:off x="4788669" y="5074466"/>
            <a:ext cx="1228311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驱动程序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A7F042-8CC5-4046-9638-41CECF05E643}"/>
              </a:ext>
            </a:extLst>
          </p:cNvPr>
          <p:cNvSpPr/>
          <p:nvPr/>
        </p:nvSpPr>
        <p:spPr>
          <a:xfrm>
            <a:off x="6504134" y="5074466"/>
            <a:ext cx="1228311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处理器</a:t>
            </a:r>
          </a:p>
        </p:txBody>
      </p:sp>
      <p:sp>
        <p:nvSpPr>
          <p:cNvPr id="14" name="左右箭头 13">
            <a:extLst>
              <a:ext uri="{FF2B5EF4-FFF2-40B4-BE49-F238E27FC236}">
                <a16:creationId xmlns:a16="http://schemas.microsoft.com/office/drawing/2014/main" id="{4C65DC7A-1689-FD4D-ABD5-9AB7A02D55DA}"/>
              </a:ext>
            </a:extLst>
          </p:cNvPr>
          <p:cNvSpPr/>
          <p:nvPr/>
        </p:nvSpPr>
        <p:spPr>
          <a:xfrm>
            <a:off x="4109923" y="5199349"/>
            <a:ext cx="656168" cy="274053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左右箭头 15">
            <a:extLst>
              <a:ext uri="{FF2B5EF4-FFF2-40B4-BE49-F238E27FC236}">
                <a16:creationId xmlns:a16="http://schemas.microsoft.com/office/drawing/2014/main" id="{5617FA56-4C92-5648-B8C6-800AC890C014}"/>
              </a:ext>
            </a:extLst>
          </p:cNvPr>
          <p:cNvSpPr/>
          <p:nvPr/>
        </p:nvSpPr>
        <p:spPr>
          <a:xfrm>
            <a:off x="6016980" y="5208929"/>
            <a:ext cx="486833" cy="264473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2E11C-38C8-4F4F-A2D1-9BCAB5E9921E}"/>
              </a:ext>
            </a:extLst>
          </p:cNvPr>
          <p:cNvSpPr txBox="1"/>
          <p:nvPr/>
        </p:nvSpPr>
        <p:spPr>
          <a:xfrm>
            <a:off x="3037093" y="4845351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电信号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08AFE3F-7CF8-F44F-B9A1-332BB372B199}"/>
              </a:ext>
            </a:extLst>
          </p:cNvPr>
          <p:cNvSpPr txBox="1"/>
          <p:nvPr/>
        </p:nvSpPr>
        <p:spPr>
          <a:xfrm>
            <a:off x="4847729" y="4553281"/>
            <a:ext cx="2825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数字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信号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888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外设的工作原理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  <a:ea typeface="+mn-ea"/>
              </a:rPr>
              <a:pPr/>
              <a:t>72</a:t>
            </a:fld>
            <a:endParaRPr lang="en-US" altLang="zh-CN">
              <a:latin typeface="+mn-lt"/>
              <a:ea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6"/>
            <a:ext cx="8229600" cy="3100564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/>
              <a:t>通过外设扩展处理器功能面临的挑战：</a:t>
            </a:r>
            <a:endParaRPr lang="en-US" altLang="zh-CN" sz="2800" dirty="0"/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/>
              <a:t>不同外设，交互信息多样</a:t>
            </a:r>
            <a:endParaRPr lang="en-US" altLang="zh-CN" sz="2400" dirty="0"/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/>
              <a:t>例如：</a:t>
            </a:r>
            <a:r>
              <a:rPr lang="en-US" altLang="zh-CN" sz="2000" dirty="0"/>
              <a:t>104</a:t>
            </a:r>
            <a:r>
              <a:rPr lang="zh-CN" altLang="en-US" sz="2000" dirty="0"/>
              <a:t>键键盘和</a:t>
            </a:r>
            <a:r>
              <a:rPr lang="en-US" altLang="zh-CN" sz="2000" dirty="0"/>
              <a:t>87</a:t>
            </a:r>
            <a:r>
              <a:rPr lang="zh-CN" altLang="en-US" sz="2000" dirty="0"/>
              <a:t>键键盘同样按‘</a:t>
            </a:r>
            <a:r>
              <a:rPr lang="en-US" altLang="zh-CN" sz="2000" dirty="0"/>
              <a:t>Q</a:t>
            </a:r>
            <a:r>
              <a:rPr lang="zh-CN" altLang="en-US" sz="2000" dirty="0"/>
              <a:t>’键产生的信息不同</a:t>
            </a:r>
            <a:endParaRPr lang="en-US" altLang="zh-CN" sz="2000" dirty="0"/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/>
              <a:t>因此，每一种外设都要有</a:t>
            </a:r>
            <a:r>
              <a:rPr lang="zh-CN" altLang="en-US" sz="2400" dirty="0">
                <a:solidFill>
                  <a:srgbClr val="1A49EA"/>
                </a:solidFill>
              </a:rPr>
              <a:t>对应的驱动程序</a:t>
            </a:r>
            <a:endParaRPr lang="en-US" altLang="zh-CN" sz="2400" dirty="0">
              <a:solidFill>
                <a:srgbClr val="1A49EA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C13052-E709-1341-A059-39CC0A620933}"/>
              </a:ext>
            </a:extLst>
          </p:cNvPr>
          <p:cNvSpPr/>
          <p:nvPr/>
        </p:nvSpPr>
        <p:spPr>
          <a:xfrm>
            <a:off x="1421857" y="4797970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DA6EBA-B4E2-734D-87D5-EB995104A841}"/>
              </a:ext>
            </a:extLst>
          </p:cNvPr>
          <p:cNvSpPr/>
          <p:nvPr/>
        </p:nvSpPr>
        <p:spPr>
          <a:xfrm>
            <a:off x="3246423" y="4789448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键盘</a:t>
            </a:r>
          </a:p>
        </p:txBody>
      </p:sp>
      <p:sp>
        <p:nvSpPr>
          <p:cNvPr id="9" name="左右箭头 8">
            <a:extLst>
              <a:ext uri="{FF2B5EF4-FFF2-40B4-BE49-F238E27FC236}">
                <a16:creationId xmlns:a16="http://schemas.microsoft.com/office/drawing/2014/main" id="{C52D46AC-C2AC-8341-BFD8-0EAAC321CF90}"/>
              </a:ext>
            </a:extLst>
          </p:cNvPr>
          <p:cNvSpPr/>
          <p:nvPr/>
        </p:nvSpPr>
        <p:spPr>
          <a:xfrm>
            <a:off x="2395524" y="4922798"/>
            <a:ext cx="850899" cy="264528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A0E027-CB0C-CA44-BC3C-C79C456C43F7}"/>
              </a:ext>
            </a:extLst>
          </p:cNvPr>
          <p:cNvSpPr txBox="1"/>
          <p:nvPr/>
        </p:nvSpPr>
        <p:spPr>
          <a:xfrm>
            <a:off x="5140533" y="5725814"/>
            <a:ext cx="2825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lt"/>
                <a:ea typeface="+mn-ea"/>
              </a:rPr>
              <a:t>此图为示意图</a:t>
            </a:r>
            <a:endParaRPr kumimoji="1" lang="en-US" altLang="zh-CN" sz="2000" b="1" dirty="0">
              <a:latin typeface="+mn-lt"/>
              <a:ea typeface="+mn-ea"/>
            </a:endParaRPr>
          </a:p>
          <a:p>
            <a:pPr algn="ctr"/>
            <a:r>
              <a:rPr kumimoji="1" lang="zh-CN" altLang="en-US" sz="2000" b="1" dirty="0">
                <a:latin typeface="+mn-lt"/>
                <a:ea typeface="+mn-ea"/>
              </a:rPr>
              <a:t>实际结构更复杂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E25A5E-2C7B-D04D-BF59-744AC13E6147}"/>
              </a:ext>
            </a:extLst>
          </p:cNvPr>
          <p:cNvSpPr txBox="1"/>
          <p:nvPr/>
        </p:nvSpPr>
        <p:spPr>
          <a:xfrm>
            <a:off x="1417334" y="4568855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lt"/>
                <a:ea typeface="+mn-ea"/>
              </a:rPr>
              <a:t>敲击</a:t>
            </a:r>
            <a:endParaRPr kumimoji="1" lang="zh-CN" altLang="en-US" sz="2000" b="1" dirty="0">
              <a:solidFill>
                <a:srgbClr val="C00000"/>
              </a:solidFill>
              <a:latin typeface="+mn-lt"/>
              <a:ea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701561-56EC-8240-BDE0-451DD2B8A184}"/>
              </a:ext>
            </a:extLst>
          </p:cNvPr>
          <p:cNvSpPr/>
          <p:nvPr/>
        </p:nvSpPr>
        <p:spPr>
          <a:xfrm>
            <a:off x="4887869" y="4797970"/>
            <a:ext cx="1318301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2000" dirty="0">
                <a:solidFill>
                  <a:srgbClr val="1A49EA"/>
                </a:solidFill>
              </a:rPr>
              <a:t>驱动程序</a:t>
            </a:r>
            <a:r>
              <a:rPr kumimoji="1" lang="en-US" altLang="zh-CN" sz="2000" dirty="0">
                <a:solidFill>
                  <a:srgbClr val="1A49EA"/>
                </a:solidFill>
              </a:rPr>
              <a:t>0</a:t>
            </a:r>
            <a:endParaRPr kumimoji="1" lang="zh-CN" altLang="en-US" sz="2000" dirty="0">
              <a:solidFill>
                <a:srgbClr val="1A49EA"/>
              </a:solidFill>
            </a:endParaRPr>
          </a:p>
        </p:txBody>
      </p:sp>
      <p:sp>
        <p:nvSpPr>
          <p:cNvPr id="14" name="左右箭头 13">
            <a:extLst>
              <a:ext uri="{FF2B5EF4-FFF2-40B4-BE49-F238E27FC236}">
                <a16:creationId xmlns:a16="http://schemas.microsoft.com/office/drawing/2014/main" id="{4C65DC7A-1689-FD4D-ABD5-9AB7A02D55DA}"/>
              </a:ext>
            </a:extLst>
          </p:cNvPr>
          <p:cNvSpPr/>
          <p:nvPr/>
        </p:nvSpPr>
        <p:spPr>
          <a:xfrm>
            <a:off x="4220090" y="4922853"/>
            <a:ext cx="656168" cy="274053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左右箭头 15">
            <a:extLst>
              <a:ext uri="{FF2B5EF4-FFF2-40B4-BE49-F238E27FC236}">
                <a16:creationId xmlns:a16="http://schemas.microsoft.com/office/drawing/2014/main" id="{5617FA56-4C92-5648-B8C6-800AC890C014}"/>
              </a:ext>
            </a:extLst>
          </p:cNvPr>
          <p:cNvSpPr/>
          <p:nvPr/>
        </p:nvSpPr>
        <p:spPr>
          <a:xfrm rot="20339666">
            <a:off x="6196980" y="4782997"/>
            <a:ext cx="621801" cy="291297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2E11C-38C8-4F4F-A2D1-9BCAB5E9921E}"/>
              </a:ext>
            </a:extLst>
          </p:cNvPr>
          <p:cNvSpPr txBox="1"/>
          <p:nvPr/>
        </p:nvSpPr>
        <p:spPr>
          <a:xfrm>
            <a:off x="3147260" y="4568855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lt"/>
                <a:ea typeface="+mn-ea"/>
              </a:rPr>
              <a:t>电信号</a:t>
            </a:r>
            <a:endParaRPr kumimoji="1" lang="zh-CN" altLang="en-US" sz="2000" b="1" dirty="0">
              <a:solidFill>
                <a:srgbClr val="C00000"/>
              </a:solidFill>
              <a:latin typeface="+mn-lt"/>
              <a:ea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93C530-4B06-8743-979F-FE7742DDDE31}"/>
              </a:ext>
            </a:extLst>
          </p:cNvPr>
          <p:cNvSpPr/>
          <p:nvPr/>
        </p:nvSpPr>
        <p:spPr>
          <a:xfrm>
            <a:off x="1388546" y="3846690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9092B9-2E0D-1F4C-B0F5-5203C0FD68BD}"/>
              </a:ext>
            </a:extLst>
          </p:cNvPr>
          <p:cNvSpPr/>
          <p:nvPr/>
        </p:nvSpPr>
        <p:spPr>
          <a:xfrm>
            <a:off x="3213112" y="3838168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鼠标</a:t>
            </a:r>
          </a:p>
        </p:txBody>
      </p:sp>
      <p:sp>
        <p:nvSpPr>
          <p:cNvPr id="21" name="左右箭头 20">
            <a:extLst>
              <a:ext uri="{FF2B5EF4-FFF2-40B4-BE49-F238E27FC236}">
                <a16:creationId xmlns:a16="http://schemas.microsoft.com/office/drawing/2014/main" id="{481E89F6-7472-5A4C-8DE4-E2AEB4DDD52C}"/>
              </a:ext>
            </a:extLst>
          </p:cNvPr>
          <p:cNvSpPr/>
          <p:nvPr/>
        </p:nvSpPr>
        <p:spPr>
          <a:xfrm>
            <a:off x="2362213" y="3971518"/>
            <a:ext cx="850899" cy="264528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C4191C-C2E4-7C4C-A20B-EC5BB02A7316}"/>
              </a:ext>
            </a:extLst>
          </p:cNvPr>
          <p:cNvSpPr txBox="1"/>
          <p:nvPr/>
        </p:nvSpPr>
        <p:spPr>
          <a:xfrm>
            <a:off x="1384023" y="3617575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lt"/>
                <a:ea typeface="+mn-ea"/>
              </a:rPr>
              <a:t>点击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CE0120-5499-5047-8F5F-9534BBF1AABB}"/>
              </a:ext>
            </a:extLst>
          </p:cNvPr>
          <p:cNvSpPr/>
          <p:nvPr/>
        </p:nvSpPr>
        <p:spPr>
          <a:xfrm>
            <a:off x="4854558" y="3846690"/>
            <a:ext cx="1318302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2000" dirty="0">
                <a:solidFill>
                  <a:srgbClr val="1A49EA"/>
                </a:solidFill>
              </a:rPr>
              <a:t>驱动程序</a:t>
            </a:r>
            <a:r>
              <a:rPr kumimoji="1" lang="en-US" altLang="zh-CN" sz="2000" dirty="0">
                <a:solidFill>
                  <a:srgbClr val="1A49EA"/>
                </a:solidFill>
              </a:rPr>
              <a:t>1</a:t>
            </a:r>
            <a:endParaRPr kumimoji="1" lang="zh-CN" altLang="en-US" sz="2000" dirty="0">
              <a:solidFill>
                <a:srgbClr val="1A49EA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C18EC4-3FA4-E94C-9D53-D6C39DC58233}"/>
              </a:ext>
            </a:extLst>
          </p:cNvPr>
          <p:cNvSpPr/>
          <p:nvPr/>
        </p:nvSpPr>
        <p:spPr>
          <a:xfrm>
            <a:off x="6829350" y="4328910"/>
            <a:ext cx="1228311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处理器</a:t>
            </a:r>
          </a:p>
        </p:txBody>
      </p:sp>
      <p:sp>
        <p:nvSpPr>
          <p:cNvPr id="25" name="左右箭头 24">
            <a:extLst>
              <a:ext uri="{FF2B5EF4-FFF2-40B4-BE49-F238E27FC236}">
                <a16:creationId xmlns:a16="http://schemas.microsoft.com/office/drawing/2014/main" id="{FF9C5094-DD30-1344-B58E-BC1B84B0ACD1}"/>
              </a:ext>
            </a:extLst>
          </p:cNvPr>
          <p:cNvSpPr/>
          <p:nvPr/>
        </p:nvSpPr>
        <p:spPr>
          <a:xfrm>
            <a:off x="4186779" y="3971573"/>
            <a:ext cx="656168" cy="274053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左右箭头 25">
            <a:extLst>
              <a:ext uri="{FF2B5EF4-FFF2-40B4-BE49-F238E27FC236}">
                <a16:creationId xmlns:a16="http://schemas.microsoft.com/office/drawing/2014/main" id="{7004AEF6-3F7C-9042-806A-8A7D5D0E8AA5}"/>
              </a:ext>
            </a:extLst>
          </p:cNvPr>
          <p:cNvSpPr/>
          <p:nvPr/>
        </p:nvSpPr>
        <p:spPr>
          <a:xfrm rot="1650817">
            <a:off x="6156188" y="4076132"/>
            <a:ext cx="671692" cy="298717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A67FC7-9AC2-474D-9FEA-B6D0417340CE}"/>
              </a:ext>
            </a:extLst>
          </p:cNvPr>
          <p:cNvSpPr txBox="1"/>
          <p:nvPr/>
        </p:nvSpPr>
        <p:spPr>
          <a:xfrm>
            <a:off x="3113949" y="3617575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lt"/>
                <a:ea typeface="+mn-ea"/>
              </a:rPr>
              <a:t>电信号</a:t>
            </a:r>
            <a:endParaRPr kumimoji="1" lang="zh-CN" altLang="en-US" sz="2000" b="1" dirty="0">
              <a:solidFill>
                <a:srgbClr val="C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593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73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6"/>
            <a:ext cx="8229600" cy="973068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外设和对应的驱动程序共同组成外设系统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对数据和信息起着传输、转送和存储的作用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是计算机系统中的重要组成部分 </a:t>
            </a:r>
            <a:endParaRPr lang="en-US" altLang="zh-CN" sz="24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C13052-E709-1341-A059-39CC0A620933}"/>
              </a:ext>
            </a:extLst>
          </p:cNvPr>
          <p:cNvSpPr/>
          <p:nvPr/>
        </p:nvSpPr>
        <p:spPr>
          <a:xfrm>
            <a:off x="1311690" y="4747085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DA6EBA-B4E2-734D-87D5-EB995104A841}"/>
              </a:ext>
            </a:extLst>
          </p:cNvPr>
          <p:cNvSpPr/>
          <p:nvPr/>
        </p:nvSpPr>
        <p:spPr>
          <a:xfrm>
            <a:off x="3136256" y="4738563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键盘</a:t>
            </a:r>
          </a:p>
        </p:txBody>
      </p:sp>
      <p:sp>
        <p:nvSpPr>
          <p:cNvPr id="9" name="左右箭头 8">
            <a:extLst>
              <a:ext uri="{FF2B5EF4-FFF2-40B4-BE49-F238E27FC236}">
                <a16:creationId xmlns:a16="http://schemas.microsoft.com/office/drawing/2014/main" id="{C52D46AC-C2AC-8341-BFD8-0EAAC321CF90}"/>
              </a:ext>
            </a:extLst>
          </p:cNvPr>
          <p:cNvSpPr/>
          <p:nvPr/>
        </p:nvSpPr>
        <p:spPr>
          <a:xfrm>
            <a:off x="2285357" y="4871913"/>
            <a:ext cx="850899" cy="264528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A0E027-CB0C-CA44-BC3C-C79C456C43F7}"/>
              </a:ext>
            </a:extLst>
          </p:cNvPr>
          <p:cNvSpPr txBox="1"/>
          <p:nvPr/>
        </p:nvSpPr>
        <p:spPr>
          <a:xfrm>
            <a:off x="5513709" y="5563901"/>
            <a:ext cx="2825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此图为示意图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实际结构更复杂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E25A5E-2C7B-D04D-BF59-744AC13E6147}"/>
              </a:ext>
            </a:extLst>
          </p:cNvPr>
          <p:cNvSpPr txBox="1"/>
          <p:nvPr/>
        </p:nvSpPr>
        <p:spPr>
          <a:xfrm>
            <a:off x="1307167" y="4517970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敲击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701561-56EC-8240-BDE0-451DD2B8A184}"/>
              </a:ext>
            </a:extLst>
          </p:cNvPr>
          <p:cNvSpPr/>
          <p:nvPr/>
        </p:nvSpPr>
        <p:spPr>
          <a:xfrm>
            <a:off x="4777702" y="4747085"/>
            <a:ext cx="1318301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2000" dirty="0">
                <a:solidFill>
                  <a:srgbClr val="1A49EA"/>
                </a:solidFill>
              </a:rPr>
              <a:t>驱动程序</a:t>
            </a:r>
            <a:r>
              <a:rPr kumimoji="1" lang="en-US" altLang="zh-CN" sz="2000" dirty="0">
                <a:solidFill>
                  <a:srgbClr val="1A49EA"/>
                </a:solidFill>
              </a:rPr>
              <a:t>0</a:t>
            </a:r>
            <a:endParaRPr kumimoji="1" lang="zh-CN" altLang="en-US" sz="2000" dirty="0">
              <a:solidFill>
                <a:srgbClr val="1A49EA"/>
              </a:solidFill>
            </a:endParaRPr>
          </a:p>
        </p:txBody>
      </p:sp>
      <p:sp>
        <p:nvSpPr>
          <p:cNvPr id="14" name="左右箭头 13">
            <a:extLst>
              <a:ext uri="{FF2B5EF4-FFF2-40B4-BE49-F238E27FC236}">
                <a16:creationId xmlns:a16="http://schemas.microsoft.com/office/drawing/2014/main" id="{4C65DC7A-1689-FD4D-ABD5-9AB7A02D55DA}"/>
              </a:ext>
            </a:extLst>
          </p:cNvPr>
          <p:cNvSpPr/>
          <p:nvPr/>
        </p:nvSpPr>
        <p:spPr>
          <a:xfrm>
            <a:off x="4109923" y="4871968"/>
            <a:ext cx="656168" cy="274053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左右箭头 15">
            <a:extLst>
              <a:ext uri="{FF2B5EF4-FFF2-40B4-BE49-F238E27FC236}">
                <a16:creationId xmlns:a16="http://schemas.microsoft.com/office/drawing/2014/main" id="{5617FA56-4C92-5648-B8C6-800AC890C014}"/>
              </a:ext>
            </a:extLst>
          </p:cNvPr>
          <p:cNvSpPr/>
          <p:nvPr/>
        </p:nvSpPr>
        <p:spPr>
          <a:xfrm rot="20339666">
            <a:off x="6086813" y="4732112"/>
            <a:ext cx="621801" cy="291297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2E11C-38C8-4F4F-A2D1-9BCAB5E9921E}"/>
              </a:ext>
            </a:extLst>
          </p:cNvPr>
          <p:cNvSpPr txBox="1"/>
          <p:nvPr/>
        </p:nvSpPr>
        <p:spPr>
          <a:xfrm>
            <a:off x="3037093" y="4517970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电信号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93C530-4B06-8743-979F-FE7742DDDE31}"/>
              </a:ext>
            </a:extLst>
          </p:cNvPr>
          <p:cNvSpPr/>
          <p:nvPr/>
        </p:nvSpPr>
        <p:spPr>
          <a:xfrm>
            <a:off x="1278379" y="3795805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9092B9-2E0D-1F4C-B0F5-5203C0FD68BD}"/>
              </a:ext>
            </a:extLst>
          </p:cNvPr>
          <p:cNvSpPr/>
          <p:nvPr/>
        </p:nvSpPr>
        <p:spPr>
          <a:xfrm>
            <a:off x="3102945" y="3787283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鼠标</a:t>
            </a:r>
          </a:p>
        </p:txBody>
      </p:sp>
      <p:sp>
        <p:nvSpPr>
          <p:cNvPr id="21" name="左右箭头 20">
            <a:extLst>
              <a:ext uri="{FF2B5EF4-FFF2-40B4-BE49-F238E27FC236}">
                <a16:creationId xmlns:a16="http://schemas.microsoft.com/office/drawing/2014/main" id="{481E89F6-7472-5A4C-8DE4-E2AEB4DDD52C}"/>
              </a:ext>
            </a:extLst>
          </p:cNvPr>
          <p:cNvSpPr/>
          <p:nvPr/>
        </p:nvSpPr>
        <p:spPr>
          <a:xfrm>
            <a:off x="2252046" y="3920633"/>
            <a:ext cx="850899" cy="264528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C4191C-C2E4-7C4C-A20B-EC5BB02A7316}"/>
              </a:ext>
            </a:extLst>
          </p:cNvPr>
          <p:cNvSpPr txBox="1"/>
          <p:nvPr/>
        </p:nvSpPr>
        <p:spPr>
          <a:xfrm>
            <a:off x="1273856" y="3566690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点击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CE0120-5499-5047-8F5F-9534BBF1AABB}"/>
              </a:ext>
            </a:extLst>
          </p:cNvPr>
          <p:cNvSpPr/>
          <p:nvPr/>
        </p:nvSpPr>
        <p:spPr>
          <a:xfrm>
            <a:off x="4744391" y="3795805"/>
            <a:ext cx="1318302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2000" dirty="0">
                <a:solidFill>
                  <a:srgbClr val="1A49EA"/>
                </a:solidFill>
              </a:rPr>
              <a:t>驱动程序</a:t>
            </a:r>
            <a:r>
              <a:rPr kumimoji="1" lang="en-US" altLang="zh-CN" sz="2000" dirty="0">
                <a:solidFill>
                  <a:srgbClr val="1A49EA"/>
                </a:solidFill>
              </a:rPr>
              <a:t>1</a:t>
            </a:r>
            <a:endParaRPr kumimoji="1" lang="zh-CN" altLang="en-US" sz="2000" dirty="0">
              <a:solidFill>
                <a:srgbClr val="1A49EA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C18EC4-3FA4-E94C-9D53-D6C39DC58233}"/>
              </a:ext>
            </a:extLst>
          </p:cNvPr>
          <p:cNvSpPr/>
          <p:nvPr/>
        </p:nvSpPr>
        <p:spPr>
          <a:xfrm>
            <a:off x="6719183" y="4278025"/>
            <a:ext cx="1228311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处理器</a:t>
            </a:r>
          </a:p>
        </p:txBody>
      </p:sp>
      <p:sp>
        <p:nvSpPr>
          <p:cNvPr id="25" name="左右箭头 24">
            <a:extLst>
              <a:ext uri="{FF2B5EF4-FFF2-40B4-BE49-F238E27FC236}">
                <a16:creationId xmlns:a16="http://schemas.microsoft.com/office/drawing/2014/main" id="{FF9C5094-DD30-1344-B58E-BC1B84B0ACD1}"/>
              </a:ext>
            </a:extLst>
          </p:cNvPr>
          <p:cNvSpPr/>
          <p:nvPr/>
        </p:nvSpPr>
        <p:spPr>
          <a:xfrm>
            <a:off x="4076612" y="3920688"/>
            <a:ext cx="656168" cy="274053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左右箭头 25">
            <a:extLst>
              <a:ext uri="{FF2B5EF4-FFF2-40B4-BE49-F238E27FC236}">
                <a16:creationId xmlns:a16="http://schemas.microsoft.com/office/drawing/2014/main" id="{7004AEF6-3F7C-9042-806A-8A7D5D0E8AA5}"/>
              </a:ext>
            </a:extLst>
          </p:cNvPr>
          <p:cNvSpPr/>
          <p:nvPr/>
        </p:nvSpPr>
        <p:spPr>
          <a:xfrm rot="1650817">
            <a:off x="6046021" y="4025247"/>
            <a:ext cx="671692" cy="298717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A67FC7-9AC2-474D-9FEA-B6D0417340CE}"/>
              </a:ext>
            </a:extLst>
          </p:cNvPr>
          <p:cNvSpPr txBox="1"/>
          <p:nvPr/>
        </p:nvSpPr>
        <p:spPr>
          <a:xfrm>
            <a:off x="3003782" y="3566690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电信号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61CBF3-A1E8-E749-9C0B-F35802040023}"/>
              </a:ext>
            </a:extLst>
          </p:cNvPr>
          <p:cNvSpPr/>
          <p:nvPr/>
        </p:nvSpPr>
        <p:spPr>
          <a:xfrm>
            <a:off x="2720622" y="3101620"/>
            <a:ext cx="3544711" cy="138248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05F1E0-52C8-1D40-B70F-96E4B1CEBCAA}"/>
              </a:ext>
            </a:extLst>
          </p:cNvPr>
          <p:cNvSpPr txBox="1"/>
          <p:nvPr/>
        </p:nvSpPr>
        <p:spPr>
          <a:xfrm>
            <a:off x="5044812" y="3101619"/>
            <a:ext cx="1231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1A49EA"/>
                </a:solidFill>
                <a:ea typeface="SimHei" panose="02010609060101010101" pitchFamily="49" charset="-122"/>
              </a:rPr>
              <a:t>外设系统</a:t>
            </a:r>
          </a:p>
        </p:txBody>
      </p:sp>
    </p:spTree>
    <p:extLst>
      <p:ext uri="{BB962C8B-B14F-4D97-AF65-F5344CB8AC3E}">
        <p14:creationId xmlns:p14="http://schemas.microsoft.com/office/powerpoint/2010/main" val="419889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74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6"/>
            <a:ext cx="8229600" cy="1559112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外设系统的一个重要功能就是</a:t>
            </a:r>
            <a:r>
              <a:rPr lang="zh-CN" altLang="en-US" sz="2800" dirty="0">
                <a:solidFill>
                  <a:srgbClr val="1A49EA"/>
                </a:solidFill>
                <a:latin typeface="+mn-ea"/>
              </a:rPr>
              <a:t>和处理器进行通信</a:t>
            </a:r>
            <a:endParaRPr lang="en-US" altLang="zh-CN" sz="2800" dirty="0">
              <a:solidFill>
                <a:srgbClr val="1A49EA"/>
              </a:solidFill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途径</a:t>
            </a:r>
            <a:r>
              <a:rPr lang="zh-CN" altLang="en-US" sz="2400" dirty="0">
                <a:latin typeface="+mn-ea"/>
              </a:rPr>
              <a:t>：通过什么和处理器进行通信？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方式</a:t>
            </a:r>
            <a:r>
              <a:rPr lang="zh-CN" altLang="en-US" sz="2400" dirty="0">
                <a:latin typeface="+mn-ea"/>
              </a:rPr>
              <a:t>：和处理器采用怎样的方式通信？</a:t>
            </a:r>
            <a:endParaRPr lang="en-US" altLang="zh-CN" sz="24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C13052-E709-1341-A059-39CC0A620933}"/>
              </a:ext>
            </a:extLst>
          </p:cNvPr>
          <p:cNvSpPr/>
          <p:nvPr/>
        </p:nvSpPr>
        <p:spPr>
          <a:xfrm>
            <a:off x="1390712" y="5223334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DA6EBA-B4E2-734D-87D5-EB995104A841}"/>
              </a:ext>
            </a:extLst>
          </p:cNvPr>
          <p:cNvSpPr/>
          <p:nvPr/>
        </p:nvSpPr>
        <p:spPr>
          <a:xfrm>
            <a:off x="3215278" y="5214812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键盘</a:t>
            </a:r>
          </a:p>
        </p:txBody>
      </p:sp>
      <p:sp>
        <p:nvSpPr>
          <p:cNvPr id="9" name="左右箭头 8">
            <a:extLst>
              <a:ext uri="{FF2B5EF4-FFF2-40B4-BE49-F238E27FC236}">
                <a16:creationId xmlns:a16="http://schemas.microsoft.com/office/drawing/2014/main" id="{C52D46AC-C2AC-8341-BFD8-0EAAC321CF90}"/>
              </a:ext>
            </a:extLst>
          </p:cNvPr>
          <p:cNvSpPr/>
          <p:nvPr/>
        </p:nvSpPr>
        <p:spPr>
          <a:xfrm>
            <a:off x="2364379" y="5348162"/>
            <a:ext cx="850899" cy="264528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E25A5E-2C7B-D04D-BF59-744AC13E6147}"/>
              </a:ext>
            </a:extLst>
          </p:cNvPr>
          <p:cNvSpPr txBox="1"/>
          <p:nvPr/>
        </p:nvSpPr>
        <p:spPr>
          <a:xfrm>
            <a:off x="1386189" y="4994219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敲击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701561-56EC-8240-BDE0-451DD2B8A184}"/>
              </a:ext>
            </a:extLst>
          </p:cNvPr>
          <p:cNvSpPr/>
          <p:nvPr/>
        </p:nvSpPr>
        <p:spPr>
          <a:xfrm>
            <a:off x="4856724" y="5223334"/>
            <a:ext cx="1318301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2000" dirty="0">
                <a:solidFill>
                  <a:srgbClr val="1A49EA"/>
                </a:solidFill>
              </a:rPr>
              <a:t>驱动程序</a:t>
            </a:r>
            <a:r>
              <a:rPr kumimoji="1" lang="en-US" altLang="zh-CN" sz="2000" dirty="0">
                <a:solidFill>
                  <a:srgbClr val="1A49EA"/>
                </a:solidFill>
              </a:rPr>
              <a:t>0</a:t>
            </a:r>
            <a:endParaRPr kumimoji="1" lang="zh-CN" altLang="en-US" sz="2000" dirty="0">
              <a:solidFill>
                <a:srgbClr val="1A49EA"/>
              </a:solidFill>
            </a:endParaRPr>
          </a:p>
        </p:txBody>
      </p:sp>
      <p:sp>
        <p:nvSpPr>
          <p:cNvPr id="14" name="左右箭头 13">
            <a:extLst>
              <a:ext uri="{FF2B5EF4-FFF2-40B4-BE49-F238E27FC236}">
                <a16:creationId xmlns:a16="http://schemas.microsoft.com/office/drawing/2014/main" id="{4C65DC7A-1689-FD4D-ABD5-9AB7A02D55DA}"/>
              </a:ext>
            </a:extLst>
          </p:cNvPr>
          <p:cNvSpPr/>
          <p:nvPr/>
        </p:nvSpPr>
        <p:spPr>
          <a:xfrm>
            <a:off x="4188945" y="5348217"/>
            <a:ext cx="656168" cy="274053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左右箭头 15">
            <a:extLst>
              <a:ext uri="{FF2B5EF4-FFF2-40B4-BE49-F238E27FC236}">
                <a16:creationId xmlns:a16="http://schemas.microsoft.com/office/drawing/2014/main" id="{5617FA56-4C92-5648-B8C6-800AC890C014}"/>
              </a:ext>
            </a:extLst>
          </p:cNvPr>
          <p:cNvSpPr/>
          <p:nvPr/>
        </p:nvSpPr>
        <p:spPr>
          <a:xfrm rot="20339666">
            <a:off x="6165835" y="5208361"/>
            <a:ext cx="621801" cy="291297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2E11C-38C8-4F4F-A2D1-9BCAB5E9921E}"/>
              </a:ext>
            </a:extLst>
          </p:cNvPr>
          <p:cNvSpPr txBox="1"/>
          <p:nvPr/>
        </p:nvSpPr>
        <p:spPr>
          <a:xfrm>
            <a:off x="3116115" y="4994219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电信号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93C530-4B06-8743-979F-FE7742DDDE31}"/>
              </a:ext>
            </a:extLst>
          </p:cNvPr>
          <p:cNvSpPr/>
          <p:nvPr/>
        </p:nvSpPr>
        <p:spPr>
          <a:xfrm>
            <a:off x="1357401" y="4272054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9092B9-2E0D-1F4C-B0F5-5203C0FD68BD}"/>
              </a:ext>
            </a:extLst>
          </p:cNvPr>
          <p:cNvSpPr/>
          <p:nvPr/>
        </p:nvSpPr>
        <p:spPr>
          <a:xfrm>
            <a:off x="3181967" y="4263532"/>
            <a:ext cx="973667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鼠标</a:t>
            </a:r>
          </a:p>
        </p:txBody>
      </p:sp>
      <p:sp>
        <p:nvSpPr>
          <p:cNvPr id="21" name="左右箭头 20">
            <a:extLst>
              <a:ext uri="{FF2B5EF4-FFF2-40B4-BE49-F238E27FC236}">
                <a16:creationId xmlns:a16="http://schemas.microsoft.com/office/drawing/2014/main" id="{481E89F6-7472-5A4C-8DE4-E2AEB4DDD52C}"/>
              </a:ext>
            </a:extLst>
          </p:cNvPr>
          <p:cNvSpPr/>
          <p:nvPr/>
        </p:nvSpPr>
        <p:spPr>
          <a:xfrm>
            <a:off x="2331068" y="4396882"/>
            <a:ext cx="850899" cy="264528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C4191C-C2E4-7C4C-A20B-EC5BB02A7316}"/>
              </a:ext>
            </a:extLst>
          </p:cNvPr>
          <p:cNvSpPr txBox="1"/>
          <p:nvPr/>
        </p:nvSpPr>
        <p:spPr>
          <a:xfrm>
            <a:off x="1352878" y="4042939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点击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CE0120-5499-5047-8F5F-9534BBF1AABB}"/>
              </a:ext>
            </a:extLst>
          </p:cNvPr>
          <p:cNvSpPr/>
          <p:nvPr/>
        </p:nvSpPr>
        <p:spPr>
          <a:xfrm>
            <a:off x="4823413" y="4272054"/>
            <a:ext cx="1318302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2000" dirty="0">
                <a:solidFill>
                  <a:srgbClr val="1A49EA"/>
                </a:solidFill>
              </a:rPr>
              <a:t>驱动程序</a:t>
            </a:r>
            <a:r>
              <a:rPr kumimoji="1" lang="en-US" altLang="zh-CN" sz="2000" dirty="0">
                <a:solidFill>
                  <a:srgbClr val="1A49EA"/>
                </a:solidFill>
              </a:rPr>
              <a:t>1</a:t>
            </a:r>
            <a:endParaRPr kumimoji="1" lang="zh-CN" altLang="en-US" sz="2000" dirty="0">
              <a:solidFill>
                <a:srgbClr val="1A49EA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C18EC4-3FA4-E94C-9D53-D6C39DC58233}"/>
              </a:ext>
            </a:extLst>
          </p:cNvPr>
          <p:cNvSpPr/>
          <p:nvPr/>
        </p:nvSpPr>
        <p:spPr>
          <a:xfrm>
            <a:off x="6798205" y="4754274"/>
            <a:ext cx="1228311" cy="533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处理器</a:t>
            </a:r>
          </a:p>
        </p:txBody>
      </p:sp>
      <p:sp>
        <p:nvSpPr>
          <p:cNvPr id="25" name="左右箭头 24">
            <a:extLst>
              <a:ext uri="{FF2B5EF4-FFF2-40B4-BE49-F238E27FC236}">
                <a16:creationId xmlns:a16="http://schemas.microsoft.com/office/drawing/2014/main" id="{FF9C5094-DD30-1344-B58E-BC1B84B0ACD1}"/>
              </a:ext>
            </a:extLst>
          </p:cNvPr>
          <p:cNvSpPr/>
          <p:nvPr/>
        </p:nvSpPr>
        <p:spPr>
          <a:xfrm>
            <a:off x="4155634" y="4396937"/>
            <a:ext cx="656168" cy="274053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左右箭头 25">
            <a:extLst>
              <a:ext uri="{FF2B5EF4-FFF2-40B4-BE49-F238E27FC236}">
                <a16:creationId xmlns:a16="http://schemas.microsoft.com/office/drawing/2014/main" id="{7004AEF6-3F7C-9042-806A-8A7D5D0E8AA5}"/>
              </a:ext>
            </a:extLst>
          </p:cNvPr>
          <p:cNvSpPr/>
          <p:nvPr/>
        </p:nvSpPr>
        <p:spPr>
          <a:xfrm rot="1650817">
            <a:off x="6125043" y="4501496"/>
            <a:ext cx="671692" cy="298717"/>
          </a:xfrm>
          <a:prstGeom prst="leftRightArrow">
            <a:avLst/>
          </a:prstGeom>
          <a:noFill/>
          <a:ln w="889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A67FC7-9AC2-474D-9FEA-B6D0417340CE}"/>
              </a:ext>
            </a:extLst>
          </p:cNvPr>
          <p:cNvSpPr txBox="1"/>
          <p:nvPr/>
        </p:nvSpPr>
        <p:spPr>
          <a:xfrm>
            <a:off x="3082804" y="4042939"/>
            <a:ext cx="282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电信号</a:t>
            </a:r>
            <a:endParaRPr kumimoji="1"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61CBF3-A1E8-E749-9C0B-F35802040023}"/>
              </a:ext>
            </a:extLst>
          </p:cNvPr>
          <p:cNvSpPr/>
          <p:nvPr/>
        </p:nvSpPr>
        <p:spPr>
          <a:xfrm>
            <a:off x="2799644" y="3577869"/>
            <a:ext cx="3544711" cy="138248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05F1E0-52C8-1D40-B70F-96E4B1CEBCAA}"/>
              </a:ext>
            </a:extLst>
          </p:cNvPr>
          <p:cNvSpPr txBox="1"/>
          <p:nvPr/>
        </p:nvSpPr>
        <p:spPr>
          <a:xfrm>
            <a:off x="5123834" y="3577868"/>
            <a:ext cx="1231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1A49EA"/>
                </a:solidFill>
                <a:ea typeface="SimHei" panose="02010609060101010101" pitchFamily="49" charset="-122"/>
              </a:rPr>
              <a:t>外设系统</a:t>
            </a:r>
          </a:p>
        </p:txBody>
      </p:sp>
      <p:sp>
        <p:nvSpPr>
          <p:cNvPr id="15" name="椭圆形标注 14">
            <a:extLst>
              <a:ext uri="{FF2B5EF4-FFF2-40B4-BE49-F238E27FC236}">
                <a16:creationId xmlns:a16="http://schemas.microsoft.com/office/drawing/2014/main" id="{4D819531-BFA6-004D-BA86-4737D82AE545}"/>
              </a:ext>
            </a:extLst>
          </p:cNvPr>
          <p:cNvSpPr/>
          <p:nvPr/>
        </p:nvSpPr>
        <p:spPr>
          <a:xfrm>
            <a:off x="6553200" y="3883378"/>
            <a:ext cx="1044222" cy="559671"/>
          </a:xfrm>
          <a:prstGeom prst="wedgeEllipseCallout">
            <a:avLst>
              <a:gd name="adj1" fmla="val -50022"/>
              <a:gd name="adj2" fmla="val 74602"/>
            </a:avLst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i="1" dirty="0">
                <a:solidFill>
                  <a:srgbClr val="1A49EA"/>
                </a:solidFill>
              </a:rPr>
              <a:t>通信</a:t>
            </a:r>
          </a:p>
        </p:txBody>
      </p:sp>
    </p:spTree>
    <p:extLst>
      <p:ext uri="{BB962C8B-B14F-4D97-AF65-F5344CB8AC3E}">
        <p14:creationId xmlns:p14="http://schemas.microsoft.com/office/powerpoint/2010/main" val="404578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75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3307"/>
            <a:ext cx="8229600" cy="2115693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通过什么和处理器进行通信：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特殊指令访问</a:t>
            </a:r>
            <a:r>
              <a:rPr lang="zh-CN" altLang="en-US" sz="2400" dirty="0">
                <a:latin typeface="+mn-ea"/>
              </a:rPr>
              <a:t>，例如</a:t>
            </a:r>
            <a:r>
              <a:rPr lang="en-US" altLang="zh-CN" sz="2400" dirty="0">
                <a:latin typeface="+mn-ea"/>
              </a:rPr>
              <a:t>x86</a:t>
            </a:r>
            <a:r>
              <a:rPr lang="zh-CN" altLang="en-US" sz="2400" dirty="0">
                <a:latin typeface="+mn-ea"/>
              </a:rPr>
              <a:t>指令集中的</a:t>
            </a:r>
            <a:r>
              <a:rPr lang="en-US" altLang="zh-CN" sz="2400" dirty="0">
                <a:latin typeface="+mn-ea"/>
              </a:rPr>
              <a:t>in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>
                <a:latin typeface="+mn-ea"/>
              </a:rPr>
              <a:t>out</a:t>
            </a:r>
            <a:r>
              <a:rPr lang="zh-CN" altLang="en-US" sz="2400" dirty="0">
                <a:latin typeface="+mn-ea"/>
              </a:rPr>
              <a:t>指令</a:t>
            </a:r>
            <a:endParaRPr lang="en-US" altLang="zh-CN" sz="20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内存映射地址访问</a:t>
            </a:r>
            <a:r>
              <a:rPr lang="zh-CN" altLang="en-US" sz="2400" dirty="0">
                <a:latin typeface="+mn-ea"/>
              </a:rPr>
              <a:t>，将某段内存映射为某一外设和处理器通信的专用内存（主流方案）</a:t>
            </a:r>
            <a:endParaRPr lang="en-US" altLang="zh-CN" sz="2400" dirty="0">
              <a:latin typeface="+mn-ea"/>
            </a:endParaRPr>
          </a:p>
          <a:p>
            <a:pPr lvl="2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例如</a:t>
            </a:r>
            <a:r>
              <a:rPr lang="en-US" altLang="zh-CN" sz="2000" dirty="0">
                <a:latin typeface="+mn-ea"/>
              </a:rPr>
              <a:t>0x40000000</a:t>
            </a:r>
            <a:r>
              <a:rPr lang="zh-CN" altLang="en-US" sz="2000" dirty="0">
                <a:latin typeface="+mn-ea"/>
              </a:rPr>
              <a:t>为</a:t>
            </a:r>
            <a:r>
              <a:rPr lang="en-US" altLang="zh-CN" sz="2000" dirty="0">
                <a:latin typeface="+mn-ea"/>
              </a:rPr>
              <a:t>IO</a:t>
            </a:r>
            <a:r>
              <a:rPr lang="zh-CN" altLang="en-US" sz="2000" dirty="0">
                <a:latin typeface="+mn-ea"/>
              </a:rPr>
              <a:t>设备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的专用内存，</a:t>
            </a:r>
            <a:r>
              <a:rPr lang="en-US" altLang="zh-CN" sz="2000" dirty="0">
                <a:latin typeface="+mn-ea"/>
              </a:rPr>
              <a:t>IO</a:t>
            </a:r>
            <a:r>
              <a:rPr lang="zh-CN" altLang="en-US" sz="2000" dirty="0">
                <a:latin typeface="+mn-ea"/>
              </a:rPr>
              <a:t>设备通过改写内存数据来告知处理器自身产生的信息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DE8C24-C6A8-F447-9ACC-CC46F0EC2D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23" y="4037358"/>
            <a:ext cx="2590801" cy="268411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B7329ED-0C20-3B46-BDFD-EAFABB4BDD70}"/>
              </a:ext>
            </a:extLst>
          </p:cNvPr>
          <p:cNvSpPr/>
          <p:nvPr/>
        </p:nvSpPr>
        <p:spPr>
          <a:xfrm>
            <a:off x="4189936" y="4755797"/>
            <a:ext cx="973667" cy="533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Cache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1C637B5F-38CA-9944-8CE8-CBEA88E36DA2}"/>
              </a:ext>
            </a:extLst>
          </p:cNvPr>
          <p:cNvSpPr/>
          <p:nvPr/>
        </p:nvSpPr>
        <p:spPr>
          <a:xfrm>
            <a:off x="3250224" y="4141964"/>
            <a:ext cx="372532" cy="1761067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5AA96D92-FF01-B746-9EA7-27399A027AB1}"/>
              </a:ext>
            </a:extLst>
          </p:cNvPr>
          <p:cNvSpPr/>
          <p:nvPr/>
        </p:nvSpPr>
        <p:spPr>
          <a:xfrm>
            <a:off x="3611467" y="4909608"/>
            <a:ext cx="567180" cy="22577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C057D4-881C-4448-89F5-FBDABBBD1A55}"/>
              </a:ext>
            </a:extLst>
          </p:cNvPr>
          <p:cNvSpPr/>
          <p:nvPr/>
        </p:nvSpPr>
        <p:spPr>
          <a:xfrm>
            <a:off x="5841025" y="4755797"/>
            <a:ext cx="973667" cy="533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</a:rPr>
              <a:t>处理器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A732CEA7-AE8E-8640-95DA-778FCA769A32}"/>
              </a:ext>
            </a:extLst>
          </p:cNvPr>
          <p:cNvSpPr/>
          <p:nvPr/>
        </p:nvSpPr>
        <p:spPr>
          <a:xfrm>
            <a:off x="5174891" y="4909608"/>
            <a:ext cx="666133" cy="22577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F0040AD5-203A-614F-83FD-C95D8C2D1BCB}"/>
              </a:ext>
            </a:extLst>
          </p:cNvPr>
          <p:cNvSpPr/>
          <p:nvPr/>
        </p:nvSpPr>
        <p:spPr>
          <a:xfrm rot="20370650">
            <a:off x="3143643" y="5662716"/>
            <a:ext cx="2838256" cy="19181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78ED96-9FCE-CB42-BB7D-C43B826E0827}"/>
              </a:ext>
            </a:extLst>
          </p:cNvPr>
          <p:cNvSpPr txBox="1"/>
          <p:nvPr/>
        </p:nvSpPr>
        <p:spPr>
          <a:xfrm>
            <a:off x="4964972" y="5673972"/>
            <a:ext cx="3551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+mn-ea"/>
                <a:ea typeface="+mn-ea"/>
              </a:rPr>
              <a:t>内存地址映射后会被外设修改，</a:t>
            </a:r>
            <a:r>
              <a:rPr kumimoji="1" lang="zh-CN" altLang="en-US" sz="2000" b="1" dirty="0">
                <a:solidFill>
                  <a:srgbClr val="1A49EA"/>
                </a:solidFill>
                <a:latin typeface="+mn-ea"/>
                <a:ea typeface="+mn-ea"/>
              </a:rPr>
              <a:t>不能使用</a:t>
            </a:r>
            <a:r>
              <a:rPr kumimoji="1" lang="en-US" altLang="zh-CN" sz="2000" b="1" dirty="0">
                <a:solidFill>
                  <a:srgbClr val="1A49EA"/>
                </a:solidFill>
                <a:latin typeface="+mn-ea"/>
                <a:ea typeface="+mn-ea"/>
              </a:rPr>
              <a:t>Cache</a:t>
            </a:r>
            <a:endParaRPr kumimoji="1" lang="zh-CN" altLang="en-US" sz="2000" b="1" dirty="0">
              <a:solidFill>
                <a:srgbClr val="1A49EA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191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外设的工作原理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76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5"/>
            <a:ext cx="8229600" cy="4693793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</a:rPr>
              <a:t>和</a:t>
            </a:r>
            <a:r>
              <a:rPr lang="en-US" altLang="zh-CN" sz="2800" dirty="0">
                <a:latin typeface="+mn-ea"/>
              </a:rPr>
              <a:t>CPU</a:t>
            </a:r>
            <a:r>
              <a:rPr lang="zh-CN" altLang="en-US" sz="2800" dirty="0">
                <a:latin typeface="+mn-ea"/>
              </a:rPr>
              <a:t>采用怎样的方式通信：</a:t>
            </a:r>
            <a:endParaRPr lang="en-US" altLang="zh-CN" sz="28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轮询式，设置状态信号，处理器周期性查看状态信号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+mn-ea"/>
            </a:endParaRPr>
          </a:p>
          <a:p>
            <a:pPr marL="457200" lvl="1" indent="0">
              <a:spcBef>
                <a:spcPts val="1000"/>
              </a:spcBef>
              <a:buClr>
                <a:schemeClr val="tx1"/>
              </a:buClr>
              <a:buNone/>
            </a:pPr>
            <a:endParaRPr lang="en-US" altLang="zh-CN" sz="2400" dirty="0">
              <a:latin typeface="+mn-ea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A49EA"/>
                </a:solidFill>
                <a:latin typeface="+mn-ea"/>
              </a:rPr>
              <a:t>中断式</a:t>
            </a:r>
            <a:r>
              <a:rPr lang="zh-CN" altLang="en-US" sz="2400" dirty="0">
                <a:latin typeface="+mn-ea"/>
              </a:rPr>
              <a:t>，设置中断信号，当中断信号到来时，中断处理器当前程序，执行中断程序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BCE2A5-1F30-704B-9DFE-71DD1BDE088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853" y="2187772"/>
            <a:ext cx="5603669" cy="89220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DAF1BEC-9CEE-4243-892C-46CF7D1798FA}"/>
              </a:ext>
            </a:extLst>
          </p:cNvPr>
          <p:cNvSpPr txBox="1"/>
          <p:nvPr/>
        </p:nvSpPr>
        <p:spPr>
          <a:xfrm>
            <a:off x="2020711" y="2905780"/>
            <a:ext cx="542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+mn-ea"/>
                <a:ea typeface="+mn-ea"/>
              </a:rPr>
              <a:t>ready</a:t>
            </a:r>
            <a:r>
              <a:rPr kumimoji="1" lang="zh-CN" altLang="en-US" b="1" dirty="0">
                <a:latin typeface="+mn-ea"/>
                <a:ea typeface="+mn-ea"/>
              </a:rPr>
              <a:t>为状态信号，为</a:t>
            </a:r>
            <a:r>
              <a:rPr kumimoji="1" lang="en-US" altLang="zh-CN" b="1" dirty="0">
                <a:latin typeface="+mn-ea"/>
                <a:ea typeface="+mn-ea"/>
              </a:rPr>
              <a:t>1</a:t>
            </a:r>
            <a:r>
              <a:rPr kumimoji="1" lang="zh-CN" altLang="en-US" b="1" dirty="0">
                <a:latin typeface="+mn-ea"/>
                <a:ea typeface="+mn-ea"/>
              </a:rPr>
              <a:t>时代表数据准备完成</a:t>
            </a:r>
            <a:endParaRPr kumimoji="1" lang="en-US" altLang="zh-CN" b="1" dirty="0">
              <a:latin typeface="+mn-ea"/>
              <a:ea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571A08B-FF13-5F44-A020-1770BCEF1AD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710" y="4547118"/>
            <a:ext cx="5516811" cy="89220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1CDA506-373B-134E-891F-8534035310B0}"/>
              </a:ext>
            </a:extLst>
          </p:cNvPr>
          <p:cNvSpPr txBox="1"/>
          <p:nvPr/>
        </p:nvSpPr>
        <p:spPr>
          <a:xfrm>
            <a:off x="2111022" y="5398542"/>
            <a:ext cx="514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+mn-ea"/>
                <a:ea typeface="+mn-ea"/>
              </a:rPr>
              <a:t>full</a:t>
            </a:r>
            <a:r>
              <a:rPr kumimoji="1" lang="zh-CN" altLang="en-US" b="1" dirty="0">
                <a:latin typeface="+mn-ea"/>
                <a:ea typeface="+mn-ea"/>
              </a:rPr>
              <a:t>为中断信号，为</a:t>
            </a:r>
            <a:r>
              <a:rPr kumimoji="1" lang="en-US" altLang="zh-CN" b="1" dirty="0">
                <a:latin typeface="+mn-ea"/>
                <a:ea typeface="+mn-ea"/>
              </a:rPr>
              <a:t>1</a:t>
            </a:r>
            <a:r>
              <a:rPr kumimoji="1" lang="zh-CN" altLang="en-US" b="1" dirty="0">
                <a:latin typeface="+mn-ea"/>
                <a:ea typeface="+mn-ea"/>
              </a:rPr>
              <a:t>时触发处理器中断</a:t>
            </a:r>
            <a:endParaRPr kumimoji="1" lang="en-US" altLang="zh-CN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1618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D783A-F73E-4EC8-9D21-6A94B487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总线和外设总结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3A1CB8-7F83-4444-9EFA-AF2B714BD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8685"/>
            <a:ext cx="8229600" cy="5439316"/>
          </a:xfrm>
        </p:spPr>
        <p:txBody>
          <a:bodyPr/>
          <a:lstStyle/>
          <a:p>
            <a:r>
              <a:rPr lang="zh-CN" altLang="en-US" dirty="0"/>
              <a:t>总线</a:t>
            </a:r>
            <a:endParaRPr lang="en-US" altLang="zh-CN" dirty="0"/>
          </a:p>
          <a:p>
            <a:pPr lvl="1"/>
            <a:r>
              <a:rPr lang="zh-CN" altLang="en-US" b="0" dirty="0">
                <a:solidFill>
                  <a:srgbClr val="1A49EA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是什么</a:t>
            </a:r>
            <a:r>
              <a:rPr lang="zh-CN" altLang="en-US" b="0" dirty="0">
                <a:latin typeface="SimHei" panose="02010609060101010101" pitchFamily="49" charset="-122"/>
                <a:ea typeface="SimHei" panose="02010609060101010101" pitchFamily="49" charset="-122"/>
              </a:rPr>
              <a:t>：总线是计算机系统内，各个部件传递消息使用的一组或多组公共连接线</a:t>
            </a:r>
            <a:endParaRPr lang="en-US" altLang="zh-CN" b="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b="0" dirty="0">
                <a:solidFill>
                  <a:srgbClr val="1A49EA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有哪些</a:t>
            </a:r>
            <a:r>
              <a:rPr lang="zh-CN" altLang="en-US" b="0" dirty="0">
                <a:latin typeface="SimHei" panose="02010609060101010101" pitchFamily="49" charset="-122"/>
                <a:ea typeface="SimHei" panose="02010609060101010101" pitchFamily="49" charset="-122"/>
              </a:rPr>
              <a:t>：总线可以按照数量划分为单总线结构，双总线结构以及多总线结构</a:t>
            </a:r>
            <a:endParaRPr lang="en-US" altLang="zh-CN" b="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b="0" dirty="0">
                <a:solidFill>
                  <a:srgbClr val="1A49EA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工作流程</a:t>
            </a:r>
            <a:r>
              <a:rPr lang="zh-CN" altLang="en-US" b="0" dirty="0">
                <a:latin typeface="SimHei" panose="02010609060101010101" pitchFamily="49" charset="-122"/>
                <a:ea typeface="SimHei" panose="02010609060101010101" pitchFamily="49" charset="-122"/>
              </a:rPr>
              <a:t>：总线传输的四个阶段，以及总线仲裁器的分类及原理</a:t>
            </a:r>
            <a:endParaRPr lang="en-US" altLang="zh-CN" b="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AE928-7AE7-41C6-9535-7914BCA6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06CE5-282B-4233-8654-09F35EA875E2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8949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D783A-F73E-4EC8-9D21-6A94B487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总线和外设总结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3A1CB8-7F83-4444-9EFA-AF2B714BD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8685"/>
            <a:ext cx="8229600" cy="5439316"/>
          </a:xfrm>
        </p:spPr>
        <p:txBody>
          <a:bodyPr/>
          <a:lstStyle/>
          <a:p>
            <a:r>
              <a:rPr lang="zh-CN" altLang="en-US" dirty="0"/>
              <a:t>外设</a:t>
            </a:r>
            <a:endParaRPr lang="en-US" altLang="zh-CN" dirty="0"/>
          </a:p>
          <a:p>
            <a:pPr lvl="1"/>
            <a:r>
              <a:rPr lang="zh-CN" altLang="en-US" b="0" dirty="0">
                <a:solidFill>
                  <a:srgbClr val="1A49EA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是什么</a:t>
            </a:r>
            <a:r>
              <a:rPr lang="zh-CN" altLang="en-US" b="0" dirty="0">
                <a:latin typeface="SimHei" panose="02010609060101010101" pitchFamily="49" charset="-122"/>
                <a:ea typeface="SimHei" panose="02010609060101010101" pitchFamily="49" charset="-122"/>
              </a:rPr>
              <a:t>：外设是指连接在计算机系统上，处理器以外的硬件设备</a:t>
            </a:r>
            <a:endParaRPr lang="en-US" altLang="zh-CN" b="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b="0" dirty="0">
                <a:solidFill>
                  <a:srgbClr val="1A49EA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有哪些</a:t>
            </a:r>
            <a:r>
              <a:rPr lang="zh-CN" altLang="en-US" b="0" dirty="0">
                <a:latin typeface="SimHei" panose="02010609060101010101" pitchFamily="49" charset="-122"/>
                <a:ea typeface="SimHei" panose="02010609060101010101" pitchFamily="49" charset="-122"/>
              </a:rPr>
              <a:t>：输入设备、输出设备、存储器设备以及网络设备</a:t>
            </a:r>
            <a:endParaRPr lang="en-US" altLang="zh-CN" b="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b="0" dirty="0">
                <a:solidFill>
                  <a:srgbClr val="1A49EA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工作流程</a:t>
            </a:r>
            <a:r>
              <a:rPr lang="zh-CN" altLang="en-US" b="0" dirty="0">
                <a:latin typeface="SimHei" panose="02010609060101010101" pitchFamily="49" charset="-122"/>
                <a:ea typeface="SimHei" panose="02010609060101010101" pitchFamily="49" charset="-122"/>
              </a:rPr>
              <a:t>：外设和对应驱动程序组成外设系统。外设系统和</a:t>
            </a:r>
            <a:r>
              <a:rPr lang="en-US" altLang="zh-CN" b="0" dirty="0">
                <a:latin typeface="SimHei" panose="02010609060101010101" pitchFamily="49" charset="-122"/>
                <a:ea typeface="SimHei" panose="02010609060101010101" pitchFamily="49" charset="-122"/>
              </a:rPr>
              <a:t>CPU</a:t>
            </a:r>
            <a:r>
              <a:rPr lang="zh-CN" altLang="en-US" b="0" dirty="0">
                <a:latin typeface="SimHei" panose="02010609060101010101" pitchFamily="49" charset="-122"/>
                <a:ea typeface="SimHei" panose="02010609060101010101" pitchFamily="49" charset="-122"/>
              </a:rPr>
              <a:t>交互通道一般采用内存映射地址访问，采用轮询式或中断式处理外设信息</a:t>
            </a:r>
            <a:endParaRPr lang="en-US" altLang="zh-CN" b="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AE928-7AE7-41C6-9535-7914BCA6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06CE5-282B-4233-8654-09F35EA875E2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2275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B991F02-09D0-4F83-2BAB-49DFC5D64E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附录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030214C3-95FF-BDD7-6E6F-CB58B6B54D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自学（不要求）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E23462-41DE-F308-CB1F-826DCB91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55105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0" y="1260028"/>
            <a:ext cx="8715737" cy="3271934"/>
          </a:xfrm>
        </p:spPr>
        <p:txBody>
          <a:bodyPr/>
          <a:lstStyle/>
          <a:p>
            <a:pPr marL="514350" indent="-457200">
              <a:spcBef>
                <a:spcPts val="500"/>
              </a:spcBef>
            </a:pPr>
            <a:r>
              <a:rPr kumimoji="1" lang="zh-CN" altLang="en-US" sz="2400" dirty="0"/>
              <a:t>例子</a:t>
            </a:r>
            <a:r>
              <a:rPr kumimoji="1" lang="en-US" altLang="zh-CN" sz="2400" dirty="0"/>
              <a:t>: </a:t>
            </a:r>
            <a:r>
              <a:rPr kumimoji="1" lang="zh-CN" altLang="en-US" sz="2400" dirty="0"/>
              <a:t>循环</a:t>
            </a:r>
            <a:endParaRPr kumimoji="1" lang="en-US" altLang="zh-CN" sz="2400" dirty="0"/>
          </a:p>
          <a:p>
            <a:pPr marL="914400" lvl="1" indent="-457200">
              <a:spcBef>
                <a:spcPts val="500"/>
              </a:spcBef>
            </a:pPr>
            <a:r>
              <a:rPr kumimoji="1" lang="zh-CN" altLang="en-US" sz="2000" b="0" dirty="0"/>
              <a:t>矩阵数据</a:t>
            </a:r>
            <a:r>
              <a:rPr kumimoji="1" lang="en-US" altLang="zh-CN" sz="2000" b="0" dirty="0"/>
              <a:t>: 32</a:t>
            </a:r>
            <a:r>
              <a:rPr kumimoji="1" lang="zh-CN" altLang="en-US" sz="2000" b="0" dirty="0">
                <a:sym typeface="Symbol" pitchFamily="18" charset="2"/>
              </a:rPr>
              <a:t>  </a:t>
            </a:r>
            <a:r>
              <a:rPr kumimoji="1" lang="en-US" altLang="zh-CN" sz="2000" b="0" dirty="0">
                <a:sym typeface="Symbol" pitchFamily="18" charset="2"/>
              </a:rPr>
              <a:t>32</a:t>
            </a:r>
            <a:r>
              <a:rPr kumimoji="1" lang="en-US" altLang="zh-CN" sz="2000" b="0" dirty="0"/>
              <a:t>, </a:t>
            </a:r>
            <a:r>
              <a:rPr kumimoji="1" lang="zh-CN" altLang="en-US" sz="2000" b="0" dirty="0"/>
              <a:t>主存块大小</a:t>
            </a:r>
            <a:r>
              <a:rPr kumimoji="1" lang="en-US" altLang="zh-CN" sz="2000" b="0" dirty="0"/>
              <a:t>: 8 data </a:t>
            </a:r>
            <a:r>
              <a:rPr kumimoji="1" lang="en-US" altLang="zh-CN" sz="2000" b="0" dirty="0">
                <a:sym typeface="Wingdings" pitchFamily="2" charset="2"/>
              </a:rPr>
              <a:t> </a:t>
            </a:r>
            <a:r>
              <a:rPr kumimoji="1" lang="en-US" altLang="zh-CN" sz="2000" b="0" dirty="0"/>
              <a:t>128 blocks</a:t>
            </a:r>
          </a:p>
          <a:p>
            <a:pPr marL="914400" lvl="1" indent="-457200">
              <a:spcBef>
                <a:spcPts val="500"/>
              </a:spcBef>
            </a:pPr>
            <a:r>
              <a:rPr kumimoji="1" lang="en-US" altLang="zh-CN" sz="2000" b="0" dirty="0"/>
              <a:t>Cache</a:t>
            </a:r>
            <a:r>
              <a:rPr kumimoji="1" lang="zh-CN" altLang="en-US" sz="2000" b="0" dirty="0"/>
              <a:t>容量</a:t>
            </a:r>
            <a:r>
              <a:rPr kumimoji="1" lang="en-US" altLang="zh-CN" sz="2000" b="0" dirty="0"/>
              <a:t>: 64 data, Cache</a:t>
            </a:r>
            <a:r>
              <a:rPr kumimoji="1" lang="zh-CN" altLang="en-US" sz="2000" b="0" dirty="0"/>
              <a:t>行大小</a:t>
            </a:r>
            <a:r>
              <a:rPr kumimoji="1" lang="en-US" altLang="zh-CN" sz="2000" b="0" dirty="0"/>
              <a:t>: 8 data </a:t>
            </a:r>
            <a:r>
              <a:rPr kumimoji="1" lang="en-US" altLang="zh-CN" sz="2000" b="0" dirty="0">
                <a:sym typeface="Wingdings" pitchFamily="2" charset="2"/>
              </a:rPr>
              <a:t> 8 lines</a:t>
            </a:r>
            <a:endParaRPr kumimoji="1" lang="en-US" altLang="zh-CN" sz="2000" b="0" dirty="0"/>
          </a:p>
          <a:p>
            <a:pPr marL="914400" lvl="1" indent="-457200">
              <a:spcBef>
                <a:spcPts val="500"/>
              </a:spcBef>
            </a:pPr>
            <a:r>
              <a:rPr kumimoji="1" lang="zh-CN" altLang="en-US" sz="2000" b="0" dirty="0"/>
              <a:t>数据被存储在矩阵行中</a:t>
            </a:r>
            <a:r>
              <a:rPr kumimoji="1" lang="en-US" altLang="zh-CN" sz="2000" b="0" dirty="0"/>
              <a:t>, </a:t>
            </a:r>
            <a:r>
              <a:rPr kumimoji="1" lang="zh-CN" altLang="en-US" sz="2000" b="0" dirty="0"/>
              <a:t>并且按矩阵列读取</a:t>
            </a:r>
            <a:endParaRPr kumimoji="1" lang="en-US" altLang="zh-CN" sz="2000" b="0" dirty="0"/>
          </a:p>
          <a:p>
            <a:pPr marL="514350" indent="-457200">
              <a:spcBef>
                <a:spcPts val="500"/>
              </a:spcBef>
            </a:pPr>
            <a:r>
              <a:rPr kumimoji="1" lang="zh-CN" altLang="en-US" sz="2400" dirty="0"/>
              <a:t>直接映射</a:t>
            </a:r>
            <a:r>
              <a:rPr kumimoji="1" lang="en-US" altLang="zh-CN" sz="2400" dirty="0"/>
              <a:t>Cache</a:t>
            </a:r>
          </a:p>
          <a:p>
            <a:pPr marL="914400" lvl="1" indent="-457200">
              <a:spcBef>
                <a:spcPts val="500"/>
              </a:spcBef>
            </a:pPr>
            <a:r>
              <a:rPr lang="zh-CN" altLang="en-US" sz="1800" b="0" dirty="0"/>
              <a:t>强制性缺失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每个主存块都有一次，总共</a:t>
            </a:r>
            <a:r>
              <a:rPr lang="en-US" altLang="zh-CN" sz="1800" b="0" dirty="0"/>
              <a:t>128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914400" lvl="1" indent="-457200">
              <a:spcBef>
                <a:spcPts val="500"/>
              </a:spcBef>
            </a:pPr>
            <a:r>
              <a:rPr lang="zh-CN" altLang="en-US" sz="1800" b="0" dirty="0">
                <a:solidFill>
                  <a:srgbClr val="00B050"/>
                </a:solidFill>
              </a:rPr>
              <a:t>容量不足缺失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只有行 </a:t>
            </a:r>
            <a:r>
              <a:rPr lang="en-US" altLang="zh-CN" sz="1800" b="0" dirty="0"/>
              <a:t>3</a:t>
            </a:r>
            <a:r>
              <a:rPr lang="zh-CN" altLang="en-US" sz="1800" b="0" dirty="0"/>
              <a:t>和行 </a:t>
            </a:r>
            <a:r>
              <a:rPr lang="en-US" altLang="zh-CN" sz="1800" b="0" dirty="0"/>
              <a:t>7, </a:t>
            </a:r>
            <a:r>
              <a:rPr lang="zh-CN" altLang="en-US" sz="1800" b="0" dirty="0"/>
              <a:t>总共</a:t>
            </a:r>
            <a:r>
              <a:rPr lang="en-US" altLang="zh-CN" sz="1800" b="0" dirty="0"/>
              <a:t>224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914400" lvl="1" indent="-457200">
              <a:spcBef>
                <a:spcPts val="500"/>
              </a:spcBef>
            </a:pPr>
            <a:r>
              <a:rPr lang="zh-CN" altLang="en-US" sz="1800" b="0" dirty="0">
                <a:solidFill>
                  <a:srgbClr val="3333FF"/>
                </a:solidFill>
              </a:rPr>
              <a:t>冲突缺失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发生在行 </a:t>
            </a:r>
            <a:r>
              <a:rPr lang="en-US" altLang="zh-CN" sz="1800" b="0" dirty="0"/>
              <a:t>0, 1, 2, 4, 5, 6, </a:t>
            </a:r>
            <a:r>
              <a:rPr lang="zh-CN" altLang="en-US" sz="1800" b="0" dirty="0"/>
              <a:t>总共</a:t>
            </a:r>
            <a:r>
              <a:rPr lang="en-US" altLang="zh-CN" sz="1800" b="0" dirty="0"/>
              <a:t>672</a:t>
            </a:r>
            <a:r>
              <a:rPr lang="zh-CN" altLang="en-US" sz="1800" b="0" dirty="0"/>
              <a:t>次</a:t>
            </a:r>
            <a:endParaRPr lang="en-US" altLang="zh-CN" sz="1800" b="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7B8201E-B2C5-49B9-96A5-0EAC8879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pPr marL="457200" lvl="1">
              <a:spcBef>
                <a:spcPts val="1000"/>
              </a:spcBef>
            </a:pPr>
            <a:r>
              <a:rPr lang="zh-CN" altLang="en-US" sz="4000" dirty="0">
                <a:ea typeface="SimHei" panose="02010609060101010101" pitchFamily="49" charset="-122"/>
              </a:rPr>
              <a:t>缓存缺失</a:t>
            </a:r>
            <a:r>
              <a:rPr lang="en-US" altLang="zh-CN" sz="4000" dirty="0">
                <a:ea typeface="SimHei" panose="02010609060101010101" pitchFamily="49" charset="-122"/>
              </a:rPr>
              <a:t>: 3C</a:t>
            </a:r>
            <a:r>
              <a:rPr lang="zh-CN" altLang="en-US" sz="4000" dirty="0">
                <a:ea typeface="SimHei" panose="02010609060101010101" pitchFamily="49" charset="-122"/>
              </a:rPr>
              <a:t>原则 </a:t>
            </a:r>
            <a:r>
              <a:rPr lang="en-US" altLang="zh-CN" sz="4000" dirty="0">
                <a:ea typeface="SimHei" panose="02010609060101010101" pitchFamily="49" charset="-122"/>
              </a:rPr>
              <a:t>–</a:t>
            </a:r>
            <a:r>
              <a:rPr lang="zh-CN" altLang="en-US" sz="4000" dirty="0">
                <a:ea typeface="SimHei" panose="02010609060101010101" pitchFamily="49" charset="-122"/>
              </a:rPr>
              <a:t> 自学样例</a:t>
            </a:r>
            <a:endParaRPr lang="zh-CN" altLang="en-US" sz="2000" dirty="0">
              <a:ea typeface="SimHei" panose="02010609060101010101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7D0F8DA-C715-491F-A66D-6830E91778B8}"/>
              </a:ext>
            </a:extLst>
          </p:cNvPr>
          <p:cNvSpPr/>
          <p:nvPr/>
        </p:nvSpPr>
        <p:spPr>
          <a:xfrm>
            <a:off x="4795581" y="5913669"/>
            <a:ext cx="2097639" cy="708100"/>
          </a:xfrm>
          <a:prstGeom prst="rect">
            <a:avLst/>
          </a:prstGeom>
          <a:solidFill>
            <a:srgbClr val="D1D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冲突缺失主导</a:t>
            </a:r>
          </a:p>
        </p:txBody>
      </p:sp>
      <p:pic>
        <p:nvPicPr>
          <p:cNvPr id="32" name="图片 8">
            <a:extLst>
              <a:ext uri="{FF2B5EF4-FFF2-40B4-BE49-F238E27FC236}">
                <a16:creationId xmlns:a16="http://schemas.microsoft.com/office/drawing/2014/main" id="{A140013B-F9B2-C240-1554-9B8253A71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09" y="4006657"/>
            <a:ext cx="2817792" cy="2971141"/>
          </a:xfrm>
          <a:prstGeom prst="rect">
            <a:avLst/>
          </a:prstGeom>
        </p:spPr>
      </p:pic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3A1019-30BE-52C2-D05C-85E888E1F426}"/>
              </a:ext>
            </a:extLst>
          </p:cNvPr>
          <p:cNvGrpSpPr/>
          <p:nvPr/>
        </p:nvGrpSpPr>
        <p:grpSpPr>
          <a:xfrm>
            <a:off x="480668" y="4369949"/>
            <a:ext cx="4116029" cy="2477413"/>
            <a:chOff x="348473" y="4430102"/>
            <a:chExt cx="4618755" cy="240357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553B3A7-C69D-465B-82C4-848FADFA6AE1}"/>
                </a:ext>
              </a:extLst>
            </p:cNvPr>
            <p:cNvSpPr/>
            <p:nvPr/>
          </p:nvSpPr>
          <p:spPr>
            <a:xfrm>
              <a:off x="889557" y="4726120"/>
              <a:ext cx="1018366" cy="361602"/>
            </a:xfrm>
            <a:prstGeom prst="rect">
              <a:avLst/>
            </a:prstGeom>
            <a:solidFill>
              <a:srgbClr val="FFFF9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0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0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8FC7047-E4C8-4DF8-B60A-5D497A054775}"/>
                </a:ext>
              </a:extLst>
            </p:cNvPr>
            <p:cNvSpPr/>
            <p:nvPr/>
          </p:nvSpPr>
          <p:spPr>
            <a:xfrm>
              <a:off x="1907922" y="4726120"/>
              <a:ext cx="1018366" cy="361602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1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737B1BA-48B4-4954-8358-1722EBBCD936}"/>
                </a:ext>
              </a:extLst>
            </p:cNvPr>
            <p:cNvSpPr/>
            <p:nvPr/>
          </p:nvSpPr>
          <p:spPr>
            <a:xfrm>
              <a:off x="2926290" y="4726120"/>
              <a:ext cx="1018366" cy="3616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2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651DD10-E40D-49F3-BFEE-AA60CF08E358}"/>
                </a:ext>
              </a:extLst>
            </p:cNvPr>
            <p:cNvSpPr/>
            <p:nvPr/>
          </p:nvSpPr>
          <p:spPr>
            <a:xfrm>
              <a:off x="3948861" y="4726120"/>
              <a:ext cx="1018366" cy="3616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3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3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D9731CC-0781-465B-AFC6-9EE505C0C8B8}"/>
                </a:ext>
              </a:extLst>
            </p:cNvPr>
            <p:cNvSpPr/>
            <p:nvPr/>
          </p:nvSpPr>
          <p:spPr>
            <a:xfrm>
              <a:off x="889557" y="5086600"/>
              <a:ext cx="1018366" cy="3616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4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4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9F7D601-8D06-4B0B-94F9-A45DEAF0436B}"/>
                </a:ext>
              </a:extLst>
            </p:cNvPr>
            <p:cNvSpPr/>
            <p:nvPr/>
          </p:nvSpPr>
          <p:spPr>
            <a:xfrm>
              <a:off x="1907922" y="5086600"/>
              <a:ext cx="1018366" cy="3616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5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5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3862327-D078-4752-8EE6-AD9584FB50B1}"/>
                </a:ext>
              </a:extLst>
            </p:cNvPr>
            <p:cNvSpPr/>
            <p:nvPr/>
          </p:nvSpPr>
          <p:spPr>
            <a:xfrm>
              <a:off x="2926290" y="5086600"/>
              <a:ext cx="1018366" cy="3616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6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6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2DE079F-E27E-44F5-86C0-03F36EAF20E1}"/>
                </a:ext>
              </a:extLst>
            </p:cNvPr>
            <p:cNvSpPr/>
            <p:nvPr/>
          </p:nvSpPr>
          <p:spPr>
            <a:xfrm>
              <a:off x="3948861" y="5086600"/>
              <a:ext cx="1018366" cy="361602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7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7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90FE3F9-B0A8-422C-ABCD-8A3354286086}"/>
                </a:ext>
              </a:extLst>
            </p:cNvPr>
            <p:cNvSpPr/>
            <p:nvPr/>
          </p:nvSpPr>
          <p:spPr>
            <a:xfrm rot="5400000">
              <a:off x="2664468" y="5799251"/>
              <a:ext cx="328463" cy="310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…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cxnSp>
          <p:nvCxnSpPr>
            <p:cNvPr id="25" name="直线连接符 44">
              <a:extLst>
                <a:ext uri="{FF2B5EF4-FFF2-40B4-BE49-F238E27FC236}">
                  <a16:creationId xmlns:a16="http://schemas.microsoft.com/office/drawing/2014/main" id="{50FFC4DD-D08C-44E6-B715-9699E0CF9199}"/>
                </a:ext>
              </a:extLst>
            </p:cNvPr>
            <p:cNvCxnSpPr>
              <a:cxnSpLocks/>
            </p:cNvCxnSpPr>
            <p:nvPr/>
          </p:nvCxnSpPr>
          <p:spPr>
            <a:xfrm>
              <a:off x="1907922" y="4589468"/>
              <a:ext cx="0" cy="19166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46">
              <a:extLst>
                <a:ext uri="{FF2B5EF4-FFF2-40B4-BE49-F238E27FC236}">
                  <a16:creationId xmlns:a16="http://schemas.microsoft.com/office/drawing/2014/main" id="{4684F750-B75F-44E7-AE62-18F9EC4D1DED}"/>
                </a:ext>
              </a:extLst>
            </p:cNvPr>
            <p:cNvCxnSpPr>
              <a:cxnSpLocks/>
            </p:cNvCxnSpPr>
            <p:nvPr/>
          </p:nvCxnSpPr>
          <p:spPr>
            <a:xfrm>
              <a:off x="2926290" y="4589468"/>
              <a:ext cx="0" cy="19166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47">
              <a:extLst>
                <a:ext uri="{FF2B5EF4-FFF2-40B4-BE49-F238E27FC236}">
                  <a16:creationId xmlns:a16="http://schemas.microsoft.com/office/drawing/2014/main" id="{03799DED-017A-4CB2-BE7B-70C4AF787D43}"/>
                </a:ext>
              </a:extLst>
            </p:cNvPr>
            <p:cNvCxnSpPr>
              <a:cxnSpLocks/>
            </p:cNvCxnSpPr>
            <p:nvPr/>
          </p:nvCxnSpPr>
          <p:spPr>
            <a:xfrm>
              <a:off x="3944654" y="4589468"/>
              <a:ext cx="0" cy="19166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86EA784-86E9-560B-837B-354F3C47A921}"/>
                </a:ext>
              </a:extLst>
            </p:cNvPr>
            <p:cNvSpPr/>
            <p:nvPr/>
          </p:nvSpPr>
          <p:spPr>
            <a:xfrm>
              <a:off x="934640" y="4430103"/>
              <a:ext cx="867378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Line</a:t>
              </a:r>
              <a:r>
                <a: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 </a:t>
              </a: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0, 4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9606553-4077-4C52-8BE0-404F97C228D1}"/>
                </a:ext>
              </a:extLst>
            </p:cNvPr>
            <p:cNvSpPr/>
            <p:nvPr/>
          </p:nvSpPr>
          <p:spPr>
            <a:xfrm>
              <a:off x="1975515" y="4430102"/>
              <a:ext cx="867378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Line</a:t>
              </a:r>
              <a:r>
                <a: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 </a:t>
              </a: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1, 5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89C3D5F-AB75-1658-8F90-2333BBB50094}"/>
                </a:ext>
              </a:extLst>
            </p:cNvPr>
            <p:cNvSpPr/>
            <p:nvPr/>
          </p:nvSpPr>
          <p:spPr>
            <a:xfrm>
              <a:off x="2993884" y="4430102"/>
              <a:ext cx="867378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Line</a:t>
              </a:r>
              <a:r>
                <a: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 </a:t>
              </a: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2, 6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74679FF-D140-4501-F345-17250E072FF6}"/>
                </a:ext>
              </a:extLst>
            </p:cNvPr>
            <p:cNvSpPr/>
            <p:nvPr/>
          </p:nvSpPr>
          <p:spPr>
            <a:xfrm>
              <a:off x="4034760" y="4430102"/>
              <a:ext cx="867378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Line</a:t>
              </a:r>
              <a:r>
                <a: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 </a:t>
              </a: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3, 7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7CFCA38-7B1D-6E13-1C41-BC85F1BD4D4F}"/>
                </a:ext>
              </a:extLst>
            </p:cNvPr>
            <p:cNvSpPr/>
            <p:nvPr/>
          </p:nvSpPr>
          <p:spPr>
            <a:xfrm>
              <a:off x="889557" y="6125414"/>
              <a:ext cx="1018366" cy="4388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124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4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0947CD0-8F4B-B8B8-1221-FB0770F39783}"/>
                </a:ext>
              </a:extLst>
            </p:cNvPr>
            <p:cNvSpPr/>
            <p:nvPr/>
          </p:nvSpPr>
          <p:spPr>
            <a:xfrm>
              <a:off x="1907922" y="6125414"/>
              <a:ext cx="1018366" cy="4388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125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5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9926E9B6-925A-4624-CE03-3B3521BC43AB}"/>
                </a:ext>
              </a:extLst>
            </p:cNvPr>
            <p:cNvSpPr/>
            <p:nvPr/>
          </p:nvSpPr>
          <p:spPr>
            <a:xfrm>
              <a:off x="2926290" y="6125414"/>
              <a:ext cx="1018366" cy="4388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126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6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BE797A45-7B1C-D5B5-D860-B7A071054B34}"/>
                </a:ext>
              </a:extLst>
            </p:cNvPr>
            <p:cNvSpPr/>
            <p:nvPr/>
          </p:nvSpPr>
          <p:spPr>
            <a:xfrm>
              <a:off x="3948861" y="6125414"/>
              <a:ext cx="1018366" cy="438817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127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7</a:t>
              </a:r>
            </a:p>
          </p:txBody>
        </p:sp>
        <p:cxnSp>
          <p:nvCxnSpPr>
            <p:cNvPr id="59" name="直线箭头连接符 58">
              <a:extLst>
                <a:ext uri="{FF2B5EF4-FFF2-40B4-BE49-F238E27FC236}">
                  <a16:creationId xmlns:a16="http://schemas.microsoft.com/office/drawing/2014/main" id="{481C794E-0640-5BF8-495D-2423CF0DBBC8}"/>
                </a:ext>
              </a:extLst>
            </p:cNvPr>
            <p:cNvCxnSpPr/>
            <p:nvPr/>
          </p:nvCxnSpPr>
          <p:spPr>
            <a:xfrm>
              <a:off x="889557" y="6712833"/>
              <a:ext cx="13723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80855862-8E72-585A-B963-EE5F92FF500F}"/>
                </a:ext>
              </a:extLst>
            </p:cNvPr>
            <p:cNvSpPr/>
            <p:nvPr/>
          </p:nvSpPr>
          <p:spPr>
            <a:xfrm>
              <a:off x="2280112" y="6564931"/>
              <a:ext cx="1752383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Matrix Column 0~31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01751F5F-A33B-B55F-7D63-37A7F8D72F9D}"/>
                </a:ext>
              </a:extLst>
            </p:cNvPr>
            <p:cNvCxnSpPr/>
            <p:nvPr/>
          </p:nvCxnSpPr>
          <p:spPr>
            <a:xfrm rot="5400000">
              <a:off x="52127" y="5524014"/>
              <a:ext cx="13723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E1628A7-2C3A-7FF1-FE40-1B8EC0F2361A}"/>
                </a:ext>
              </a:extLst>
            </p:cNvPr>
            <p:cNvSpPr/>
            <p:nvPr/>
          </p:nvSpPr>
          <p:spPr>
            <a:xfrm rot="16200000">
              <a:off x="-146351" y="5342975"/>
              <a:ext cx="1300480" cy="310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Matrix Row 0~31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1" name="矩形 12">
              <a:extLst>
                <a:ext uri="{FF2B5EF4-FFF2-40B4-BE49-F238E27FC236}">
                  <a16:creationId xmlns:a16="http://schemas.microsoft.com/office/drawing/2014/main" id="{7D1128FB-1FA9-32C5-C8FF-7C2A51ED0E69}"/>
                </a:ext>
              </a:extLst>
            </p:cNvPr>
            <p:cNvSpPr/>
            <p:nvPr/>
          </p:nvSpPr>
          <p:spPr>
            <a:xfrm>
              <a:off x="889557" y="5454126"/>
              <a:ext cx="1018366" cy="3616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8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5DC074C0-D8D5-8249-A0B7-5ACDA7C5BB9F}"/>
                </a:ext>
              </a:extLst>
            </p:cNvPr>
            <p:cNvSpPr/>
            <p:nvPr/>
          </p:nvSpPr>
          <p:spPr>
            <a:xfrm>
              <a:off x="1907922" y="5454126"/>
              <a:ext cx="1018366" cy="3616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9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1</a:t>
              </a:r>
            </a:p>
          </p:txBody>
        </p:sp>
        <p:sp>
          <p:nvSpPr>
            <p:cNvPr id="35" name="矩形 14">
              <a:extLst>
                <a:ext uri="{FF2B5EF4-FFF2-40B4-BE49-F238E27FC236}">
                  <a16:creationId xmlns:a16="http://schemas.microsoft.com/office/drawing/2014/main" id="{CC41749A-2721-F8FE-7327-BF23B9E1227F}"/>
                </a:ext>
              </a:extLst>
            </p:cNvPr>
            <p:cNvSpPr/>
            <p:nvPr/>
          </p:nvSpPr>
          <p:spPr>
            <a:xfrm>
              <a:off x="2926290" y="5454126"/>
              <a:ext cx="1018366" cy="3616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10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2</a:t>
              </a:r>
            </a:p>
          </p:txBody>
        </p:sp>
        <p:sp>
          <p:nvSpPr>
            <p:cNvPr id="36" name="矩形 15">
              <a:extLst>
                <a:ext uri="{FF2B5EF4-FFF2-40B4-BE49-F238E27FC236}">
                  <a16:creationId xmlns:a16="http://schemas.microsoft.com/office/drawing/2014/main" id="{8305A976-DD3E-95C0-067B-30529C9B9032}"/>
                </a:ext>
              </a:extLst>
            </p:cNvPr>
            <p:cNvSpPr/>
            <p:nvPr/>
          </p:nvSpPr>
          <p:spPr>
            <a:xfrm>
              <a:off x="3948862" y="5454126"/>
              <a:ext cx="1018366" cy="3616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11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878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0" y="1260028"/>
            <a:ext cx="8715737" cy="3271934"/>
          </a:xfrm>
        </p:spPr>
        <p:txBody>
          <a:bodyPr/>
          <a:lstStyle/>
          <a:p>
            <a:pPr marL="514350" indent="-457200">
              <a:spcBef>
                <a:spcPts val="500"/>
              </a:spcBef>
            </a:pPr>
            <a:r>
              <a:rPr kumimoji="1" lang="zh-CN" altLang="en-US" sz="2400" dirty="0"/>
              <a:t>例子</a:t>
            </a:r>
            <a:r>
              <a:rPr kumimoji="1" lang="en-US" altLang="zh-CN" sz="2400" dirty="0"/>
              <a:t>: </a:t>
            </a:r>
            <a:r>
              <a:rPr kumimoji="1" lang="zh-CN" altLang="en-US" sz="2400" dirty="0"/>
              <a:t>循环</a:t>
            </a:r>
            <a:endParaRPr kumimoji="1" lang="en-US" altLang="zh-CN" sz="2400" dirty="0"/>
          </a:p>
          <a:p>
            <a:pPr marL="914400" lvl="1" indent="-457200">
              <a:spcBef>
                <a:spcPts val="500"/>
              </a:spcBef>
            </a:pPr>
            <a:r>
              <a:rPr kumimoji="1" lang="zh-CN" altLang="en-US" sz="2000" b="0" dirty="0"/>
              <a:t>矩阵数据</a:t>
            </a:r>
            <a:r>
              <a:rPr kumimoji="1" lang="en-US" altLang="zh-CN" sz="2000" b="0" dirty="0"/>
              <a:t>: 32</a:t>
            </a:r>
            <a:r>
              <a:rPr kumimoji="1" lang="zh-CN" altLang="en-US" sz="2000" b="0" dirty="0">
                <a:sym typeface="Symbol" pitchFamily="18" charset="2"/>
              </a:rPr>
              <a:t>  </a:t>
            </a:r>
            <a:r>
              <a:rPr kumimoji="1" lang="en-US" altLang="zh-CN" sz="2000" b="0" dirty="0">
                <a:sym typeface="Symbol" pitchFamily="18" charset="2"/>
              </a:rPr>
              <a:t>32</a:t>
            </a:r>
            <a:r>
              <a:rPr kumimoji="1" lang="en-US" altLang="zh-CN" sz="2000" b="0" dirty="0"/>
              <a:t>, </a:t>
            </a:r>
            <a:r>
              <a:rPr kumimoji="1" lang="zh-CN" altLang="en-US" sz="2000" b="0" dirty="0"/>
              <a:t>主存块大小</a:t>
            </a:r>
            <a:r>
              <a:rPr kumimoji="1" lang="en-US" altLang="zh-CN" sz="2000" b="0" dirty="0"/>
              <a:t>: 8 data </a:t>
            </a:r>
            <a:r>
              <a:rPr kumimoji="1" lang="en-US" altLang="zh-CN" sz="2000" b="0" dirty="0">
                <a:sym typeface="Wingdings" pitchFamily="2" charset="2"/>
              </a:rPr>
              <a:t> </a:t>
            </a:r>
            <a:r>
              <a:rPr kumimoji="1" lang="en-US" altLang="zh-CN" sz="2000" b="0" dirty="0"/>
              <a:t>128 blocks</a:t>
            </a:r>
          </a:p>
          <a:p>
            <a:pPr marL="914400" lvl="1" indent="-457200">
              <a:spcBef>
                <a:spcPts val="500"/>
              </a:spcBef>
            </a:pPr>
            <a:r>
              <a:rPr kumimoji="1" lang="en-US" altLang="zh-CN" sz="2000" b="0" dirty="0"/>
              <a:t>Cache</a:t>
            </a:r>
            <a:r>
              <a:rPr kumimoji="1" lang="zh-CN" altLang="en-US" sz="2000" b="0" dirty="0"/>
              <a:t>容量</a:t>
            </a:r>
            <a:r>
              <a:rPr kumimoji="1" lang="en-US" altLang="zh-CN" sz="2000" b="0" dirty="0"/>
              <a:t>: 64 data, Cache</a:t>
            </a:r>
            <a:r>
              <a:rPr kumimoji="1" lang="zh-CN" altLang="en-US" sz="2000" b="0" dirty="0"/>
              <a:t>行大小</a:t>
            </a:r>
            <a:r>
              <a:rPr kumimoji="1" lang="en-US" altLang="zh-CN" sz="2000" b="0" dirty="0"/>
              <a:t>: 8 data </a:t>
            </a:r>
            <a:r>
              <a:rPr kumimoji="1" lang="en-US" altLang="zh-CN" sz="2000" b="0" dirty="0">
                <a:sym typeface="Wingdings" pitchFamily="2" charset="2"/>
              </a:rPr>
              <a:t> 8 lines</a:t>
            </a:r>
            <a:endParaRPr kumimoji="1" lang="en-US" altLang="zh-CN" sz="2000" b="0" dirty="0"/>
          </a:p>
          <a:p>
            <a:pPr marL="914400" lvl="1" indent="-457200">
              <a:spcBef>
                <a:spcPts val="500"/>
              </a:spcBef>
            </a:pPr>
            <a:r>
              <a:rPr kumimoji="1" lang="zh-CN" altLang="en-US" sz="2000" b="0" dirty="0"/>
              <a:t>数据被存储在矩阵行中</a:t>
            </a:r>
            <a:r>
              <a:rPr kumimoji="1" lang="en-US" altLang="zh-CN" sz="2000" b="0" dirty="0"/>
              <a:t>, </a:t>
            </a:r>
            <a:r>
              <a:rPr kumimoji="1" lang="zh-CN" altLang="en-US" sz="2000" b="0" dirty="0"/>
              <a:t>并且按矩阵列读取</a:t>
            </a:r>
            <a:endParaRPr kumimoji="1" lang="en-US" altLang="zh-CN" sz="2000" b="0" dirty="0"/>
          </a:p>
          <a:p>
            <a:pPr marL="514350" indent="-457200">
              <a:spcBef>
                <a:spcPts val="500"/>
              </a:spcBef>
            </a:pPr>
            <a:r>
              <a:rPr kumimoji="1" lang="zh-CN" altLang="en-US" sz="2400" dirty="0"/>
              <a:t>全相联</a:t>
            </a:r>
            <a:r>
              <a:rPr kumimoji="1" lang="en-US" altLang="zh-CN" sz="2400" dirty="0"/>
              <a:t>Cache</a:t>
            </a:r>
          </a:p>
          <a:p>
            <a:pPr marL="914400" lvl="1" indent="-457200">
              <a:spcBef>
                <a:spcPts val="500"/>
              </a:spcBef>
            </a:pPr>
            <a:r>
              <a:rPr lang="zh-CN" altLang="en-US" sz="1800" b="0" dirty="0"/>
              <a:t>强制性缺失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每个主存块都有一次，总共</a:t>
            </a:r>
            <a:r>
              <a:rPr lang="en-US" altLang="zh-CN" sz="1800" b="0" dirty="0"/>
              <a:t>128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914400" lvl="1" indent="-457200">
              <a:spcBef>
                <a:spcPts val="500"/>
              </a:spcBef>
            </a:pPr>
            <a:r>
              <a:rPr lang="zh-CN" altLang="en-US" sz="1800" b="0" dirty="0">
                <a:solidFill>
                  <a:srgbClr val="00B050"/>
                </a:solidFill>
              </a:rPr>
              <a:t>容量缺失</a:t>
            </a:r>
            <a:r>
              <a:rPr lang="en-US" altLang="zh-CN" sz="1800" b="0" dirty="0"/>
              <a:t>:</a:t>
            </a:r>
            <a:r>
              <a:rPr lang="zh-CN" altLang="en-US" sz="1800" b="0" dirty="0"/>
              <a:t>除了首次访问外还缺失了</a:t>
            </a:r>
            <a:r>
              <a:rPr lang="en-US" altLang="zh-CN" sz="1800" b="0" dirty="0"/>
              <a:t>, </a:t>
            </a:r>
            <a:r>
              <a:rPr lang="zh-CN" altLang="en-US" sz="1800" b="0" dirty="0"/>
              <a:t>总共</a:t>
            </a:r>
            <a:r>
              <a:rPr lang="en-US" altLang="zh-CN" sz="1800" b="0" dirty="0"/>
              <a:t>896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914400" lvl="1" indent="-457200">
              <a:spcBef>
                <a:spcPts val="500"/>
              </a:spcBef>
            </a:pPr>
            <a:r>
              <a:rPr lang="zh-CN" altLang="en-US" sz="1800" b="0" dirty="0">
                <a:solidFill>
                  <a:srgbClr val="3333FF"/>
                </a:solidFill>
              </a:rPr>
              <a:t>冲突缺失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不存在</a:t>
            </a:r>
            <a:endParaRPr lang="en-US" altLang="zh-CN" sz="1800" b="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7B8201E-B2C5-49B9-96A5-0EAC8879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pPr marL="457200" lvl="1">
              <a:spcBef>
                <a:spcPts val="1000"/>
              </a:spcBef>
            </a:pPr>
            <a:r>
              <a:rPr lang="zh-CN" altLang="en-US" sz="4000" dirty="0">
                <a:ea typeface="SimHei" panose="02010609060101010101" pitchFamily="49" charset="-122"/>
              </a:rPr>
              <a:t>缓存缺失</a:t>
            </a:r>
            <a:r>
              <a:rPr lang="en-US" altLang="zh-CN" sz="4000" dirty="0">
                <a:ea typeface="SimHei" panose="02010609060101010101" pitchFamily="49" charset="-122"/>
              </a:rPr>
              <a:t>: 3C</a:t>
            </a:r>
            <a:r>
              <a:rPr lang="zh-CN" altLang="en-US" sz="4000" dirty="0">
                <a:ea typeface="SimHei" panose="02010609060101010101" pitchFamily="49" charset="-122"/>
              </a:rPr>
              <a:t>原则 </a:t>
            </a:r>
            <a:r>
              <a:rPr kumimoji="0" lang="en-US" altLang="zh-CN" sz="4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j-cs"/>
              </a:rPr>
              <a:t>–</a:t>
            </a:r>
            <a:r>
              <a:rPr kumimoji="0" lang="zh-CN" altLang="en-US" sz="4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j-cs"/>
              </a:rPr>
              <a:t> 自学样例</a:t>
            </a:r>
            <a:endParaRPr lang="zh-CN" altLang="en-US" sz="4000" dirty="0">
              <a:ea typeface="SimHei" panose="02010609060101010101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7D0F8DA-C715-491F-A66D-6830E91778B8}"/>
              </a:ext>
            </a:extLst>
          </p:cNvPr>
          <p:cNvSpPr/>
          <p:nvPr/>
        </p:nvSpPr>
        <p:spPr>
          <a:xfrm>
            <a:off x="4795581" y="5913669"/>
            <a:ext cx="2097639" cy="708100"/>
          </a:xfrm>
          <a:prstGeom prst="rect">
            <a:avLst/>
          </a:prstGeom>
          <a:solidFill>
            <a:srgbClr val="D1D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容量缺失主导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B795EF9-3C51-1789-4570-87FC097A3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490" y="3954648"/>
            <a:ext cx="3510944" cy="242485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81BF1B0-6315-8F03-5571-47F3D5664DAA}"/>
              </a:ext>
            </a:extLst>
          </p:cNvPr>
          <p:cNvGrpSpPr/>
          <p:nvPr/>
        </p:nvGrpSpPr>
        <p:grpSpPr>
          <a:xfrm>
            <a:off x="380849" y="4361960"/>
            <a:ext cx="4355391" cy="2431599"/>
            <a:chOff x="380849" y="4422120"/>
            <a:chExt cx="4355391" cy="243159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553B3A7-C69D-465B-82C4-848FADFA6AE1}"/>
                </a:ext>
              </a:extLst>
            </p:cNvPr>
            <p:cNvSpPr/>
            <p:nvPr/>
          </p:nvSpPr>
          <p:spPr>
            <a:xfrm>
              <a:off x="962858" y="4735215"/>
              <a:ext cx="907522" cy="452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0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0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8FC7047-E4C8-4DF8-B60A-5D497A054775}"/>
                </a:ext>
              </a:extLst>
            </p:cNvPr>
            <p:cNvSpPr/>
            <p:nvPr/>
          </p:nvSpPr>
          <p:spPr>
            <a:xfrm>
              <a:off x="1870380" y="4735215"/>
              <a:ext cx="907522" cy="452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1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737B1BA-48B4-4954-8358-1722EBBCD936}"/>
                </a:ext>
              </a:extLst>
            </p:cNvPr>
            <p:cNvSpPr/>
            <p:nvPr/>
          </p:nvSpPr>
          <p:spPr>
            <a:xfrm>
              <a:off x="2777904" y="4735215"/>
              <a:ext cx="907522" cy="452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2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651DD10-E40D-49F3-BFEE-AA60CF08E358}"/>
                </a:ext>
              </a:extLst>
            </p:cNvPr>
            <p:cNvSpPr/>
            <p:nvPr/>
          </p:nvSpPr>
          <p:spPr>
            <a:xfrm>
              <a:off x="3689174" y="4735215"/>
              <a:ext cx="907522" cy="452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3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3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D9731CC-0781-465B-AFC6-9EE505C0C8B8}"/>
                </a:ext>
              </a:extLst>
            </p:cNvPr>
            <p:cNvSpPr/>
            <p:nvPr/>
          </p:nvSpPr>
          <p:spPr>
            <a:xfrm>
              <a:off x="962858" y="5192832"/>
              <a:ext cx="907522" cy="452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4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4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9F7D601-8D06-4B0B-94F9-A45DEAF0436B}"/>
                </a:ext>
              </a:extLst>
            </p:cNvPr>
            <p:cNvSpPr/>
            <p:nvPr/>
          </p:nvSpPr>
          <p:spPr>
            <a:xfrm>
              <a:off x="1870380" y="5192832"/>
              <a:ext cx="907522" cy="452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5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5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3862327-D078-4752-8EE6-AD9584FB50B1}"/>
                </a:ext>
              </a:extLst>
            </p:cNvPr>
            <p:cNvSpPr/>
            <p:nvPr/>
          </p:nvSpPr>
          <p:spPr>
            <a:xfrm>
              <a:off x="2777904" y="5192832"/>
              <a:ext cx="907522" cy="452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6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6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2DE079F-E27E-44F5-86C0-03F36EAF20E1}"/>
                </a:ext>
              </a:extLst>
            </p:cNvPr>
            <p:cNvSpPr/>
            <p:nvPr/>
          </p:nvSpPr>
          <p:spPr>
            <a:xfrm>
              <a:off x="3689174" y="5192832"/>
              <a:ext cx="907522" cy="452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7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7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90FE3F9-B0A8-422C-ABCD-8A3354286086}"/>
                </a:ext>
              </a:extLst>
            </p:cNvPr>
            <p:cNvSpPr/>
            <p:nvPr/>
          </p:nvSpPr>
          <p:spPr>
            <a:xfrm rot="5400000">
              <a:off x="2414108" y="5737500"/>
              <a:ext cx="5357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… …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7CFCA38-7B1D-6E13-1C41-BC85F1BD4D4F}"/>
                </a:ext>
              </a:extLst>
            </p:cNvPr>
            <p:cNvSpPr/>
            <p:nvPr/>
          </p:nvSpPr>
          <p:spPr>
            <a:xfrm>
              <a:off x="962858" y="6123705"/>
              <a:ext cx="907522" cy="4522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124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4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0947CD0-8F4B-B8B8-1221-FB0770F39783}"/>
                </a:ext>
              </a:extLst>
            </p:cNvPr>
            <p:cNvSpPr/>
            <p:nvPr/>
          </p:nvSpPr>
          <p:spPr>
            <a:xfrm>
              <a:off x="1870380" y="6123705"/>
              <a:ext cx="907522" cy="4522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125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5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9926E9B6-925A-4624-CE03-3B3521BC43AB}"/>
                </a:ext>
              </a:extLst>
            </p:cNvPr>
            <p:cNvSpPr/>
            <p:nvPr/>
          </p:nvSpPr>
          <p:spPr>
            <a:xfrm>
              <a:off x="2777904" y="6123705"/>
              <a:ext cx="907522" cy="4522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126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6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BE797A45-7B1C-D5B5-D860-B7A071054B34}"/>
                </a:ext>
              </a:extLst>
            </p:cNvPr>
            <p:cNvSpPr/>
            <p:nvPr/>
          </p:nvSpPr>
          <p:spPr>
            <a:xfrm>
              <a:off x="3689174" y="6123705"/>
              <a:ext cx="907522" cy="4522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127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Line 7</a:t>
              </a:r>
            </a:p>
          </p:txBody>
        </p:sp>
        <p:cxnSp>
          <p:nvCxnSpPr>
            <p:cNvPr id="59" name="直线箭头连接符 58">
              <a:extLst>
                <a:ext uri="{FF2B5EF4-FFF2-40B4-BE49-F238E27FC236}">
                  <a16:creationId xmlns:a16="http://schemas.microsoft.com/office/drawing/2014/main" id="{481C794E-0640-5BF8-495D-2423CF0DBBC8}"/>
                </a:ext>
              </a:extLst>
            </p:cNvPr>
            <p:cNvCxnSpPr/>
            <p:nvPr/>
          </p:nvCxnSpPr>
          <p:spPr>
            <a:xfrm>
              <a:off x="962858" y="6729176"/>
              <a:ext cx="122300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80855862-8E72-585A-B963-EE5F92FF500F}"/>
                </a:ext>
              </a:extLst>
            </p:cNvPr>
            <p:cNvSpPr/>
            <p:nvPr/>
          </p:nvSpPr>
          <p:spPr>
            <a:xfrm>
              <a:off x="2202059" y="6576720"/>
              <a:ext cx="15616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Matrix Column 0~31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01751F5F-A33B-B55F-7D63-37A7F8D72F9D}"/>
                </a:ext>
              </a:extLst>
            </p:cNvPr>
            <p:cNvCxnSpPr/>
            <p:nvPr/>
          </p:nvCxnSpPr>
          <p:spPr>
            <a:xfrm rot="5400000">
              <a:off x="120810" y="5557616"/>
              <a:ext cx="14145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E1628A7-2C3A-7FF1-FE40-1B8EC0F2361A}"/>
                </a:ext>
              </a:extLst>
            </p:cNvPr>
            <p:cNvSpPr/>
            <p:nvPr/>
          </p:nvSpPr>
          <p:spPr>
            <a:xfrm rot="16200000">
              <a:off x="-51048" y="5392704"/>
              <a:ext cx="13404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Matrix Row 0~31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CC274A2-25A4-0AE3-F01A-B16B92238654}"/>
                </a:ext>
              </a:extLst>
            </p:cNvPr>
            <p:cNvSpPr/>
            <p:nvPr/>
          </p:nvSpPr>
          <p:spPr>
            <a:xfrm>
              <a:off x="380849" y="4422120"/>
              <a:ext cx="435539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No fixed line mapping between cache and memory</a:t>
              </a:r>
              <a:endPara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841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0" y="1260028"/>
            <a:ext cx="8715737" cy="3271934"/>
          </a:xfrm>
        </p:spPr>
        <p:txBody>
          <a:bodyPr/>
          <a:lstStyle/>
          <a:p>
            <a:pPr marL="514350" indent="-457200">
              <a:spcBef>
                <a:spcPts val="500"/>
              </a:spcBef>
            </a:pPr>
            <a:r>
              <a:rPr kumimoji="1" lang="zh-CN" altLang="en-US" sz="2400" dirty="0"/>
              <a:t>例子</a:t>
            </a:r>
            <a:r>
              <a:rPr kumimoji="1" lang="en-US" altLang="zh-CN" sz="2400" dirty="0"/>
              <a:t>: </a:t>
            </a:r>
            <a:r>
              <a:rPr kumimoji="1" lang="zh-CN" altLang="en-US" sz="2400" dirty="0"/>
              <a:t>循环</a:t>
            </a:r>
            <a:endParaRPr kumimoji="1" lang="en-US" altLang="zh-CN" sz="2400" dirty="0"/>
          </a:p>
          <a:p>
            <a:pPr marL="914400" lvl="1" indent="-457200">
              <a:spcBef>
                <a:spcPts val="500"/>
              </a:spcBef>
            </a:pPr>
            <a:r>
              <a:rPr kumimoji="1" lang="zh-CN" altLang="en-US" sz="2000" b="0" dirty="0"/>
              <a:t>矩阵数据</a:t>
            </a:r>
            <a:r>
              <a:rPr kumimoji="1" lang="en-US" altLang="zh-CN" sz="2000" b="0" dirty="0"/>
              <a:t>: 32</a:t>
            </a:r>
            <a:r>
              <a:rPr kumimoji="1" lang="zh-CN" altLang="en-US" sz="2000" b="0" dirty="0">
                <a:sym typeface="Symbol" pitchFamily="18" charset="2"/>
              </a:rPr>
              <a:t>  </a:t>
            </a:r>
            <a:r>
              <a:rPr kumimoji="1" lang="en-US" altLang="zh-CN" sz="2000" b="0" dirty="0">
                <a:sym typeface="Symbol" pitchFamily="18" charset="2"/>
              </a:rPr>
              <a:t>32</a:t>
            </a:r>
            <a:r>
              <a:rPr kumimoji="1" lang="en-US" altLang="zh-CN" sz="2000" b="0" dirty="0"/>
              <a:t>, </a:t>
            </a:r>
            <a:r>
              <a:rPr kumimoji="1" lang="zh-CN" altLang="en-US" sz="2000" b="0" dirty="0"/>
              <a:t>主存块大小</a:t>
            </a:r>
            <a:r>
              <a:rPr kumimoji="1" lang="en-US" altLang="zh-CN" sz="2000" b="0" dirty="0"/>
              <a:t>: 8 data </a:t>
            </a:r>
            <a:r>
              <a:rPr kumimoji="1" lang="en-US" altLang="zh-CN" sz="2000" b="0" dirty="0">
                <a:sym typeface="Wingdings" pitchFamily="2" charset="2"/>
              </a:rPr>
              <a:t> </a:t>
            </a:r>
            <a:r>
              <a:rPr kumimoji="1" lang="en-US" altLang="zh-CN" sz="2000" b="0" dirty="0"/>
              <a:t>128 blocks</a:t>
            </a:r>
          </a:p>
          <a:p>
            <a:pPr marL="914400" lvl="1" indent="-457200">
              <a:spcBef>
                <a:spcPts val="500"/>
              </a:spcBef>
            </a:pPr>
            <a:r>
              <a:rPr kumimoji="1" lang="en-US" altLang="zh-CN" sz="2000" b="0" dirty="0"/>
              <a:t>Cache</a:t>
            </a:r>
            <a:r>
              <a:rPr kumimoji="1" lang="zh-CN" altLang="en-US" sz="2000" b="0" dirty="0"/>
              <a:t>容量</a:t>
            </a:r>
            <a:r>
              <a:rPr kumimoji="1" lang="en-US" altLang="zh-CN" sz="2000" b="0" dirty="0"/>
              <a:t>: 64 data, Cache</a:t>
            </a:r>
            <a:r>
              <a:rPr kumimoji="1" lang="zh-CN" altLang="en-US" sz="2000" b="0" dirty="0"/>
              <a:t>行大小</a:t>
            </a:r>
            <a:r>
              <a:rPr kumimoji="1" lang="en-US" altLang="zh-CN" sz="2000" b="0" dirty="0"/>
              <a:t>: 8 data </a:t>
            </a:r>
            <a:r>
              <a:rPr kumimoji="1" lang="en-US" altLang="zh-CN" sz="2000" b="0" dirty="0">
                <a:sym typeface="Wingdings" pitchFamily="2" charset="2"/>
              </a:rPr>
              <a:t> 8 lines</a:t>
            </a:r>
            <a:endParaRPr kumimoji="1" lang="en-US" altLang="zh-CN" sz="2000" b="0" dirty="0"/>
          </a:p>
          <a:p>
            <a:pPr marL="914400" lvl="1" indent="-457200">
              <a:spcBef>
                <a:spcPts val="500"/>
              </a:spcBef>
            </a:pPr>
            <a:r>
              <a:rPr kumimoji="1" lang="zh-CN" altLang="en-US" sz="2000" b="0" dirty="0"/>
              <a:t>数据被存储在矩阵行中</a:t>
            </a:r>
            <a:r>
              <a:rPr kumimoji="1" lang="en-US" altLang="zh-CN" sz="2000" b="0" dirty="0"/>
              <a:t>, </a:t>
            </a:r>
            <a:r>
              <a:rPr kumimoji="1" lang="zh-CN" altLang="en-US" sz="2000" b="0" dirty="0"/>
              <a:t>并且按矩阵列读取</a:t>
            </a:r>
            <a:endParaRPr kumimoji="1" lang="en-US" altLang="zh-CN" sz="2000" b="0" dirty="0"/>
          </a:p>
          <a:p>
            <a:pPr marL="514350" indent="-457200">
              <a:spcBef>
                <a:spcPts val="500"/>
              </a:spcBef>
            </a:pPr>
            <a:r>
              <a:rPr kumimoji="1" lang="en-US" altLang="zh-CN" sz="2400" dirty="0"/>
              <a:t>2-</a:t>
            </a:r>
            <a:r>
              <a:rPr kumimoji="1" lang="zh-CN" altLang="en-US" sz="2400" dirty="0"/>
              <a:t>路组相联</a:t>
            </a:r>
            <a:r>
              <a:rPr kumimoji="1" lang="en-US" altLang="zh-CN" sz="2400" dirty="0"/>
              <a:t>Cache</a:t>
            </a:r>
          </a:p>
          <a:p>
            <a:pPr marL="914400" lvl="1" indent="-457200">
              <a:spcBef>
                <a:spcPts val="500"/>
              </a:spcBef>
            </a:pPr>
            <a:r>
              <a:rPr lang="zh-CN" altLang="en-US" sz="1800" b="0" dirty="0"/>
              <a:t>强制性缺失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每个主存块都有一次，总共</a:t>
            </a:r>
            <a:r>
              <a:rPr lang="en-US" altLang="zh-CN" sz="1800" b="0" dirty="0"/>
              <a:t>128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914400" lvl="1" indent="-457200">
              <a:spcBef>
                <a:spcPts val="500"/>
              </a:spcBef>
            </a:pPr>
            <a:r>
              <a:rPr lang="zh-CN" altLang="en-US" sz="1800" b="0" dirty="0">
                <a:solidFill>
                  <a:srgbClr val="00B050"/>
                </a:solidFill>
              </a:rPr>
              <a:t>容量缺失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只有组</a:t>
            </a:r>
            <a:r>
              <a:rPr lang="en-US" altLang="zh-CN" sz="1800" b="0" dirty="0"/>
              <a:t>3</a:t>
            </a:r>
            <a:r>
              <a:rPr lang="zh-CN" altLang="en-US" sz="1800" b="0" dirty="0"/>
              <a:t>，总共</a:t>
            </a:r>
            <a:r>
              <a:rPr lang="en-US" altLang="zh-CN" sz="1800" b="0" dirty="0"/>
              <a:t>224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914400" lvl="1" indent="-457200">
              <a:spcBef>
                <a:spcPts val="500"/>
              </a:spcBef>
            </a:pPr>
            <a:r>
              <a:rPr lang="zh-CN" altLang="en-US" sz="1800" b="0" dirty="0">
                <a:solidFill>
                  <a:srgbClr val="3333FF"/>
                </a:solidFill>
              </a:rPr>
              <a:t>冲突缺失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组</a:t>
            </a:r>
            <a:r>
              <a:rPr lang="en-US" altLang="zh-CN" sz="1800" b="0" dirty="0"/>
              <a:t>0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1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2</a:t>
            </a:r>
            <a:r>
              <a:rPr lang="zh-CN" altLang="en-US" sz="1800" b="0" dirty="0"/>
              <a:t>中发生，总共</a:t>
            </a:r>
            <a:r>
              <a:rPr lang="en-US" altLang="zh-CN" sz="1800" b="0" dirty="0"/>
              <a:t>672</a:t>
            </a:r>
            <a:r>
              <a:rPr lang="zh-CN" altLang="en-US" sz="1800" b="0" dirty="0"/>
              <a:t>次</a:t>
            </a:r>
            <a:endParaRPr lang="en-US" altLang="zh-CN" sz="1800" b="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7B8201E-B2C5-49B9-96A5-0EAC8879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pPr marL="457200" lvl="1">
              <a:spcBef>
                <a:spcPts val="1000"/>
              </a:spcBef>
            </a:pPr>
            <a:r>
              <a:rPr lang="zh-CN" altLang="en-US" sz="4000" dirty="0">
                <a:ea typeface="SimHei" panose="02010609060101010101" pitchFamily="49" charset="-122"/>
              </a:rPr>
              <a:t>缓存缺失</a:t>
            </a:r>
            <a:r>
              <a:rPr lang="en-US" altLang="zh-CN" sz="4000" dirty="0">
                <a:ea typeface="SimHei" panose="02010609060101010101" pitchFamily="49" charset="-122"/>
              </a:rPr>
              <a:t>: 3C</a:t>
            </a:r>
            <a:r>
              <a:rPr lang="zh-CN" altLang="en-US" sz="4000" dirty="0">
                <a:ea typeface="SimHei" panose="02010609060101010101" pitchFamily="49" charset="-122"/>
              </a:rPr>
              <a:t>原则 </a:t>
            </a:r>
            <a:r>
              <a:rPr kumimoji="0" lang="en-US" altLang="zh-CN" sz="4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j-cs"/>
              </a:rPr>
              <a:t>–</a:t>
            </a:r>
            <a:r>
              <a:rPr kumimoji="0" lang="zh-CN" altLang="en-US" sz="4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j-cs"/>
              </a:rPr>
              <a:t> 自学样例</a:t>
            </a:r>
            <a:endParaRPr lang="zh-CN" altLang="en-US" sz="4000" dirty="0">
              <a:ea typeface="SimHei" panose="02010609060101010101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7D0F8DA-C715-491F-A66D-6830E91778B8}"/>
              </a:ext>
            </a:extLst>
          </p:cNvPr>
          <p:cNvSpPr/>
          <p:nvPr/>
        </p:nvSpPr>
        <p:spPr>
          <a:xfrm>
            <a:off x="4795581" y="5913669"/>
            <a:ext cx="2097639" cy="708100"/>
          </a:xfrm>
          <a:prstGeom prst="rect">
            <a:avLst/>
          </a:prstGeom>
          <a:solidFill>
            <a:srgbClr val="D1D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冲突缺失主导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3A1019-30BE-52C2-D05C-85E888E1F426}"/>
              </a:ext>
            </a:extLst>
          </p:cNvPr>
          <p:cNvGrpSpPr/>
          <p:nvPr/>
        </p:nvGrpSpPr>
        <p:grpSpPr>
          <a:xfrm>
            <a:off x="57118" y="4369944"/>
            <a:ext cx="4055867" cy="2423618"/>
            <a:chOff x="415984" y="4430102"/>
            <a:chExt cx="4551243" cy="235138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553B3A7-C69D-465B-82C4-848FADFA6AE1}"/>
                </a:ext>
              </a:extLst>
            </p:cNvPr>
            <p:cNvSpPr/>
            <p:nvPr/>
          </p:nvSpPr>
          <p:spPr>
            <a:xfrm>
              <a:off x="889557" y="4726120"/>
              <a:ext cx="1018365" cy="438817"/>
            </a:xfrm>
            <a:prstGeom prst="rect">
              <a:avLst/>
            </a:prstGeom>
            <a:solidFill>
              <a:srgbClr val="FFFF9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0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0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8FC7047-E4C8-4DF8-B60A-5D497A054775}"/>
                </a:ext>
              </a:extLst>
            </p:cNvPr>
            <p:cNvSpPr/>
            <p:nvPr/>
          </p:nvSpPr>
          <p:spPr>
            <a:xfrm>
              <a:off x="1907922" y="4726120"/>
              <a:ext cx="1018365" cy="438817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1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737B1BA-48B4-4954-8358-1722EBBCD936}"/>
                </a:ext>
              </a:extLst>
            </p:cNvPr>
            <p:cNvSpPr/>
            <p:nvPr/>
          </p:nvSpPr>
          <p:spPr>
            <a:xfrm>
              <a:off x="2926290" y="4726120"/>
              <a:ext cx="1018365" cy="4388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2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651DD10-E40D-49F3-BFEE-AA60CF08E358}"/>
                </a:ext>
              </a:extLst>
            </p:cNvPr>
            <p:cNvSpPr/>
            <p:nvPr/>
          </p:nvSpPr>
          <p:spPr>
            <a:xfrm>
              <a:off x="3948862" y="4726120"/>
              <a:ext cx="1018365" cy="438817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3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3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D9731CC-0781-465B-AFC6-9EE505C0C8B8}"/>
                </a:ext>
              </a:extLst>
            </p:cNvPr>
            <p:cNvSpPr/>
            <p:nvPr/>
          </p:nvSpPr>
          <p:spPr>
            <a:xfrm>
              <a:off x="889557" y="5170098"/>
              <a:ext cx="1018365" cy="438817"/>
            </a:xfrm>
            <a:prstGeom prst="rect">
              <a:avLst/>
            </a:prstGeom>
            <a:solidFill>
              <a:srgbClr val="FFFF9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4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0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9F7D601-8D06-4B0B-94F9-A45DEAF0436B}"/>
                </a:ext>
              </a:extLst>
            </p:cNvPr>
            <p:cNvSpPr/>
            <p:nvPr/>
          </p:nvSpPr>
          <p:spPr>
            <a:xfrm>
              <a:off x="1907922" y="5170098"/>
              <a:ext cx="1018365" cy="438817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5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1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3862327-D078-4752-8EE6-AD9584FB50B1}"/>
                </a:ext>
              </a:extLst>
            </p:cNvPr>
            <p:cNvSpPr/>
            <p:nvPr/>
          </p:nvSpPr>
          <p:spPr>
            <a:xfrm>
              <a:off x="2926290" y="5170098"/>
              <a:ext cx="1018365" cy="4388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6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2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2DE079F-E27E-44F5-86C0-03F36EAF20E1}"/>
                </a:ext>
              </a:extLst>
            </p:cNvPr>
            <p:cNvSpPr/>
            <p:nvPr/>
          </p:nvSpPr>
          <p:spPr>
            <a:xfrm>
              <a:off x="3948862" y="5170098"/>
              <a:ext cx="1018365" cy="438817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7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3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90FE3F9-B0A8-422C-ABCD-8A3354286086}"/>
                </a:ext>
              </a:extLst>
            </p:cNvPr>
            <p:cNvSpPr/>
            <p:nvPr/>
          </p:nvSpPr>
          <p:spPr>
            <a:xfrm rot="5400000">
              <a:off x="2558761" y="5677488"/>
              <a:ext cx="519757" cy="310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… …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cxnSp>
          <p:nvCxnSpPr>
            <p:cNvPr id="25" name="直线连接符 44">
              <a:extLst>
                <a:ext uri="{FF2B5EF4-FFF2-40B4-BE49-F238E27FC236}">
                  <a16:creationId xmlns:a16="http://schemas.microsoft.com/office/drawing/2014/main" id="{50FFC4DD-D08C-44E6-B715-9699E0CF9199}"/>
                </a:ext>
              </a:extLst>
            </p:cNvPr>
            <p:cNvCxnSpPr>
              <a:cxnSpLocks/>
            </p:cNvCxnSpPr>
            <p:nvPr/>
          </p:nvCxnSpPr>
          <p:spPr>
            <a:xfrm>
              <a:off x="1907922" y="4589468"/>
              <a:ext cx="0" cy="19166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46">
              <a:extLst>
                <a:ext uri="{FF2B5EF4-FFF2-40B4-BE49-F238E27FC236}">
                  <a16:creationId xmlns:a16="http://schemas.microsoft.com/office/drawing/2014/main" id="{4684F750-B75F-44E7-AE62-18F9EC4D1DED}"/>
                </a:ext>
              </a:extLst>
            </p:cNvPr>
            <p:cNvCxnSpPr>
              <a:cxnSpLocks/>
            </p:cNvCxnSpPr>
            <p:nvPr/>
          </p:nvCxnSpPr>
          <p:spPr>
            <a:xfrm>
              <a:off x="2926290" y="4589468"/>
              <a:ext cx="0" cy="19166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47">
              <a:extLst>
                <a:ext uri="{FF2B5EF4-FFF2-40B4-BE49-F238E27FC236}">
                  <a16:creationId xmlns:a16="http://schemas.microsoft.com/office/drawing/2014/main" id="{03799DED-017A-4CB2-BE7B-70C4AF787D43}"/>
                </a:ext>
              </a:extLst>
            </p:cNvPr>
            <p:cNvCxnSpPr>
              <a:cxnSpLocks/>
            </p:cNvCxnSpPr>
            <p:nvPr/>
          </p:nvCxnSpPr>
          <p:spPr>
            <a:xfrm>
              <a:off x="3944654" y="4589468"/>
              <a:ext cx="0" cy="19166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86EA784-86E9-560B-837B-354F3C47A921}"/>
                </a:ext>
              </a:extLst>
            </p:cNvPr>
            <p:cNvSpPr/>
            <p:nvPr/>
          </p:nvSpPr>
          <p:spPr>
            <a:xfrm>
              <a:off x="1063252" y="4430103"/>
              <a:ext cx="610151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Set 0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9606553-4077-4C52-8BE0-404F97C228D1}"/>
                </a:ext>
              </a:extLst>
            </p:cNvPr>
            <p:cNvSpPr/>
            <p:nvPr/>
          </p:nvSpPr>
          <p:spPr>
            <a:xfrm>
              <a:off x="2104129" y="4430102"/>
              <a:ext cx="610151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Set 1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89C3D5F-AB75-1658-8F90-2333BBB50094}"/>
                </a:ext>
              </a:extLst>
            </p:cNvPr>
            <p:cNvSpPr/>
            <p:nvPr/>
          </p:nvSpPr>
          <p:spPr>
            <a:xfrm>
              <a:off x="3122498" y="4430102"/>
              <a:ext cx="610150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Set 2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74679FF-D140-4501-F345-17250E072FF6}"/>
                </a:ext>
              </a:extLst>
            </p:cNvPr>
            <p:cNvSpPr/>
            <p:nvPr/>
          </p:nvSpPr>
          <p:spPr>
            <a:xfrm>
              <a:off x="4163373" y="4430102"/>
              <a:ext cx="610151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Set 3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7CFCA38-7B1D-6E13-1C41-BC85F1BD4D4F}"/>
                </a:ext>
              </a:extLst>
            </p:cNvPr>
            <p:cNvSpPr/>
            <p:nvPr/>
          </p:nvSpPr>
          <p:spPr>
            <a:xfrm>
              <a:off x="889557" y="6073227"/>
              <a:ext cx="1018365" cy="438817"/>
            </a:xfrm>
            <a:prstGeom prst="rect">
              <a:avLst/>
            </a:prstGeom>
            <a:solidFill>
              <a:srgbClr val="FFFF9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124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0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0947CD0-8F4B-B8B8-1221-FB0770F39783}"/>
                </a:ext>
              </a:extLst>
            </p:cNvPr>
            <p:cNvSpPr/>
            <p:nvPr/>
          </p:nvSpPr>
          <p:spPr>
            <a:xfrm>
              <a:off x="1907922" y="6073227"/>
              <a:ext cx="1018365" cy="438817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125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1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9926E9B6-925A-4624-CE03-3B3521BC43AB}"/>
                </a:ext>
              </a:extLst>
            </p:cNvPr>
            <p:cNvSpPr/>
            <p:nvPr/>
          </p:nvSpPr>
          <p:spPr>
            <a:xfrm>
              <a:off x="2926290" y="6073227"/>
              <a:ext cx="1018365" cy="4388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126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2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BE797A45-7B1C-D5B5-D860-B7A071054B34}"/>
                </a:ext>
              </a:extLst>
            </p:cNvPr>
            <p:cNvSpPr/>
            <p:nvPr/>
          </p:nvSpPr>
          <p:spPr>
            <a:xfrm>
              <a:off x="3948862" y="6073227"/>
              <a:ext cx="1018365" cy="438817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Block 127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rPr>
                <a:t>Set 3</a:t>
              </a:r>
            </a:p>
          </p:txBody>
        </p:sp>
        <p:cxnSp>
          <p:nvCxnSpPr>
            <p:cNvPr id="59" name="直线箭头连接符 58">
              <a:extLst>
                <a:ext uri="{FF2B5EF4-FFF2-40B4-BE49-F238E27FC236}">
                  <a16:creationId xmlns:a16="http://schemas.microsoft.com/office/drawing/2014/main" id="{481C794E-0640-5BF8-495D-2423CF0DBBC8}"/>
                </a:ext>
              </a:extLst>
            </p:cNvPr>
            <p:cNvCxnSpPr/>
            <p:nvPr/>
          </p:nvCxnSpPr>
          <p:spPr>
            <a:xfrm>
              <a:off x="889557" y="6660652"/>
              <a:ext cx="13723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80855862-8E72-585A-B963-EE5F92FF500F}"/>
                </a:ext>
              </a:extLst>
            </p:cNvPr>
            <p:cNvSpPr/>
            <p:nvPr/>
          </p:nvSpPr>
          <p:spPr>
            <a:xfrm>
              <a:off x="2280111" y="6512741"/>
              <a:ext cx="1752383" cy="268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Matrix Column 0~31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01751F5F-A33B-B55F-7D63-37A7F8D72F9D}"/>
                </a:ext>
              </a:extLst>
            </p:cNvPr>
            <p:cNvCxnSpPr/>
            <p:nvPr/>
          </p:nvCxnSpPr>
          <p:spPr>
            <a:xfrm rot="5400000">
              <a:off x="52127" y="5524014"/>
              <a:ext cx="13723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E1628A7-2C3A-7FF1-FE40-1B8EC0F2361A}"/>
                </a:ext>
              </a:extLst>
            </p:cNvPr>
            <p:cNvSpPr/>
            <p:nvPr/>
          </p:nvSpPr>
          <p:spPr>
            <a:xfrm rot="16200000">
              <a:off x="-78840" y="5342974"/>
              <a:ext cx="1300480" cy="310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Matrix Row 0~31</a:t>
              </a: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13C0287F-1E10-1759-45CD-070B22CD00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387"/>
          <a:stretch/>
        </p:blipFill>
        <p:spPr>
          <a:xfrm>
            <a:off x="4081744" y="4278303"/>
            <a:ext cx="4960609" cy="222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1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E02D7A-4922-804D-B66B-910F9081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1" y="1410499"/>
            <a:ext cx="8889356" cy="3209450"/>
          </a:xfrm>
        </p:spPr>
        <p:txBody>
          <a:bodyPr/>
          <a:lstStyle/>
          <a:p>
            <a:pPr marL="514350" indent="-457200">
              <a:lnSpc>
                <a:spcPts val="2000"/>
              </a:lnSpc>
              <a:spcBef>
                <a:spcPts val="1000"/>
              </a:spcBef>
            </a:pPr>
            <a:r>
              <a:rPr kumimoji="1" lang="zh-CN" altLang="en-US" sz="2000" dirty="0"/>
              <a:t>强制缺失</a:t>
            </a:r>
            <a:r>
              <a:rPr kumimoji="1" lang="en-US" altLang="zh-CN" sz="2000" dirty="0"/>
              <a:t>: </a:t>
            </a:r>
            <a:r>
              <a:rPr kumimoji="1" lang="zh-CN" altLang="en-US" sz="2000" dirty="0"/>
              <a:t>每个主存块一次</a:t>
            </a:r>
            <a:r>
              <a:rPr kumimoji="1" lang="en-US" altLang="zh-CN" sz="2000" dirty="0"/>
              <a:t>, </a:t>
            </a:r>
            <a:r>
              <a:rPr kumimoji="1" lang="zh-CN" altLang="en-US" sz="2000" dirty="0"/>
              <a:t>总共</a:t>
            </a:r>
            <a:r>
              <a:rPr kumimoji="1" lang="en-US" altLang="zh-CN" sz="2000" dirty="0"/>
              <a:t>128</a:t>
            </a:r>
            <a:r>
              <a:rPr kumimoji="1" lang="zh-CN" altLang="en-US" sz="2000" dirty="0"/>
              <a:t>次</a:t>
            </a:r>
            <a:endParaRPr kumimoji="1" lang="en-US" altLang="zh-CN" sz="2000" dirty="0"/>
          </a:p>
          <a:p>
            <a:pPr marL="514350" indent="-457200">
              <a:lnSpc>
                <a:spcPts val="2000"/>
              </a:lnSpc>
              <a:spcBef>
                <a:spcPts val="1000"/>
              </a:spcBef>
            </a:pPr>
            <a:r>
              <a:rPr kumimoji="1" lang="zh-CN" altLang="en-US" sz="2000" dirty="0"/>
              <a:t>直接映射</a:t>
            </a:r>
            <a:endParaRPr kumimoji="1" lang="en-US" altLang="zh-CN" sz="2000" dirty="0"/>
          </a:p>
          <a:p>
            <a:pPr marL="914400" lvl="1" indent="-457200">
              <a:lnSpc>
                <a:spcPts val="2000"/>
              </a:lnSpc>
              <a:spcBef>
                <a:spcPts val="500"/>
              </a:spcBef>
            </a:pPr>
            <a:r>
              <a:rPr lang="zh-CN" altLang="en-US" sz="1800" b="0" dirty="0">
                <a:solidFill>
                  <a:srgbClr val="00B050"/>
                </a:solidFill>
              </a:rPr>
              <a:t>容量缺失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只有行</a:t>
            </a:r>
            <a:r>
              <a:rPr lang="en-US" altLang="zh-CN" sz="1800" b="0" dirty="0"/>
              <a:t>3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7</a:t>
            </a:r>
            <a:r>
              <a:rPr lang="zh-CN" altLang="en-US" sz="1800" b="0" dirty="0"/>
              <a:t>，总共</a:t>
            </a:r>
            <a:r>
              <a:rPr lang="en-US" altLang="zh-CN" sz="1800" b="0" dirty="0"/>
              <a:t>224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914400" lvl="1" indent="-457200">
              <a:lnSpc>
                <a:spcPts val="2000"/>
              </a:lnSpc>
              <a:spcBef>
                <a:spcPts val="500"/>
              </a:spcBef>
            </a:pPr>
            <a:r>
              <a:rPr lang="zh-CN" altLang="en-US" sz="1800" b="0" dirty="0">
                <a:solidFill>
                  <a:srgbClr val="3333FF"/>
                </a:solidFill>
              </a:rPr>
              <a:t>冲突缺失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行</a:t>
            </a:r>
            <a:r>
              <a:rPr lang="en-US" altLang="zh-CN" sz="1800" b="0" dirty="0"/>
              <a:t>0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1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2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4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5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6</a:t>
            </a:r>
            <a:r>
              <a:rPr lang="zh-CN" altLang="en-US" sz="1800" b="0" dirty="0"/>
              <a:t>中发生</a:t>
            </a:r>
            <a:r>
              <a:rPr lang="en-US" altLang="zh-CN" sz="1800" b="0" dirty="0"/>
              <a:t>, </a:t>
            </a:r>
            <a:r>
              <a:rPr lang="zh-CN" altLang="en-US" sz="1800" b="0" dirty="0"/>
              <a:t>总共</a:t>
            </a:r>
            <a:r>
              <a:rPr lang="en-US" altLang="zh-CN" sz="1800" b="0" dirty="0"/>
              <a:t>672</a:t>
            </a:r>
            <a:r>
              <a:rPr lang="zh-CN" altLang="en-US" sz="1800" b="0" dirty="0"/>
              <a:t>次</a:t>
            </a:r>
            <a:endParaRPr kumimoji="1" lang="en-US" altLang="zh-CN" sz="1800" dirty="0"/>
          </a:p>
          <a:p>
            <a:pPr marL="514350" indent="-457200">
              <a:lnSpc>
                <a:spcPts val="2000"/>
              </a:lnSpc>
              <a:spcBef>
                <a:spcPts val="1000"/>
              </a:spcBef>
            </a:pPr>
            <a:r>
              <a:rPr kumimoji="1" lang="zh-CN" altLang="en-US" sz="2000" dirty="0"/>
              <a:t>全相联</a:t>
            </a:r>
            <a:endParaRPr kumimoji="1" lang="en-US" altLang="zh-CN" sz="2000" dirty="0"/>
          </a:p>
          <a:p>
            <a:pPr marL="914400" lvl="1" indent="-457200">
              <a:lnSpc>
                <a:spcPts val="2000"/>
              </a:lnSpc>
              <a:spcBef>
                <a:spcPts val="1000"/>
              </a:spcBef>
            </a:pPr>
            <a:r>
              <a:rPr lang="zh-CN" altLang="en-US" sz="1800" b="0" dirty="0">
                <a:solidFill>
                  <a:srgbClr val="00B050"/>
                </a:solidFill>
              </a:rPr>
              <a:t>容量缺失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除了首次访问外还缺失了</a:t>
            </a:r>
            <a:r>
              <a:rPr lang="en-US" altLang="zh-CN" sz="1800" b="0" dirty="0"/>
              <a:t>, </a:t>
            </a:r>
            <a:r>
              <a:rPr lang="zh-CN" altLang="en-US" sz="1800" b="0" dirty="0"/>
              <a:t>总共</a:t>
            </a:r>
            <a:r>
              <a:rPr lang="en-US" altLang="zh-CN" sz="1800" b="0" dirty="0"/>
              <a:t>896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914400" lvl="1" indent="-457200">
              <a:lnSpc>
                <a:spcPts val="2000"/>
              </a:lnSpc>
              <a:spcBef>
                <a:spcPts val="1000"/>
              </a:spcBef>
            </a:pPr>
            <a:r>
              <a:rPr lang="zh-CN" altLang="en-US" sz="1800" b="0" dirty="0">
                <a:solidFill>
                  <a:srgbClr val="3333FF"/>
                </a:solidFill>
              </a:rPr>
              <a:t>冲突缺失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不存在</a:t>
            </a:r>
            <a:endParaRPr lang="en-US" altLang="zh-CN" sz="1800" b="0" dirty="0"/>
          </a:p>
          <a:p>
            <a:pPr marL="514350" indent="-457200">
              <a:lnSpc>
                <a:spcPts val="2000"/>
              </a:lnSpc>
              <a:spcBef>
                <a:spcPts val="1000"/>
              </a:spcBef>
            </a:pPr>
            <a:r>
              <a:rPr kumimoji="1" lang="en-US" altLang="zh-CN" sz="2000" dirty="0"/>
              <a:t>2-</a:t>
            </a:r>
            <a:r>
              <a:rPr kumimoji="1" lang="zh-CN" altLang="en-US" sz="2000" dirty="0"/>
              <a:t>路组相联</a:t>
            </a:r>
            <a:endParaRPr kumimoji="1" lang="en-US" altLang="zh-CN" sz="2000" dirty="0"/>
          </a:p>
          <a:p>
            <a:pPr marL="914400" lvl="1" indent="-457200">
              <a:lnSpc>
                <a:spcPts val="2000"/>
              </a:lnSpc>
              <a:spcBef>
                <a:spcPts val="1000"/>
              </a:spcBef>
            </a:pPr>
            <a:r>
              <a:rPr lang="zh-CN" altLang="en-US" sz="1800" b="0" dirty="0">
                <a:solidFill>
                  <a:srgbClr val="00B050"/>
                </a:solidFill>
              </a:rPr>
              <a:t>容量缺失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只有组</a:t>
            </a:r>
            <a:r>
              <a:rPr lang="en-US" altLang="zh-CN" sz="1800" b="0" dirty="0"/>
              <a:t> 3</a:t>
            </a:r>
            <a:r>
              <a:rPr lang="zh-CN" altLang="en-US" sz="1800" b="0" dirty="0"/>
              <a:t>，总共</a:t>
            </a:r>
            <a:r>
              <a:rPr lang="en-US" altLang="zh-CN" sz="1800" b="0" dirty="0"/>
              <a:t>224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914400" lvl="1" indent="-457200">
              <a:lnSpc>
                <a:spcPts val="2000"/>
              </a:lnSpc>
              <a:spcBef>
                <a:spcPts val="1000"/>
              </a:spcBef>
            </a:pPr>
            <a:r>
              <a:rPr lang="zh-CN" altLang="en-US" sz="1800" b="0" dirty="0">
                <a:solidFill>
                  <a:srgbClr val="1A49EA"/>
                </a:solidFill>
              </a:rPr>
              <a:t>冲突缺失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发生在组</a:t>
            </a:r>
            <a:r>
              <a:rPr lang="en-US" altLang="zh-CN" sz="1800" b="0" dirty="0"/>
              <a:t> 0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1</a:t>
            </a:r>
            <a:r>
              <a:rPr lang="zh-CN" altLang="en-US" sz="1800" b="0" dirty="0"/>
              <a:t>，</a:t>
            </a:r>
            <a:r>
              <a:rPr lang="en-US" altLang="zh-CN" sz="1800" b="0" dirty="0"/>
              <a:t>2</a:t>
            </a:r>
            <a:r>
              <a:rPr lang="zh-CN" altLang="en-US" sz="1800" b="0" dirty="0"/>
              <a:t>，总共</a:t>
            </a:r>
            <a:r>
              <a:rPr lang="en-US" altLang="zh-CN" sz="1800" b="0" dirty="0"/>
              <a:t>672</a:t>
            </a:r>
            <a:r>
              <a:rPr lang="zh-CN" altLang="en-US" sz="1800" b="0" dirty="0"/>
              <a:t>次</a:t>
            </a:r>
            <a:endParaRPr lang="en-US" altLang="zh-CN" sz="1800" b="0" dirty="0"/>
          </a:p>
          <a:p>
            <a:pPr marL="514350" indent="-457200">
              <a:lnSpc>
                <a:spcPts val="2000"/>
              </a:lnSpc>
              <a:spcBef>
                <a:spcPts val="1000"/>
              </a:spcBef>
            </a:pPr>
            <a:endParaRPr lang="en-US" altLang="zh-CN" sz="2000" b="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7B8201E-B2C5-49B9-96A5-0EAC8879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136525"/>
            <a:ext cx="8889357" cy="1143000"/>
          </a:xfrm>
        </p:spPr>
        <p:txBody>
          <a:bodyPr/>
          <a:lstStyle/>
          <a:p>
            <a:pPr marL="457200" lvl="1">
              <a:spcBef>
                <a:spcPts val="1000"/>
              </a:spcBef>
            </a:pPr>
            <a:r>
              <a:rPr lang="zh-CN" altLang="en-US" sz="4000" dirty="0">
                <a:ea typeface="SimHei" panose="02010609060101010101" pitchFamily="49" charset="-122"/>
              </a:rPr>
              <a:t>缓存缺失</a:t>
            </a:r>
            <a:r>
              <a:rPr lang="en-US" altLang="zh-CN" sz="4000" dirty="0">
                <a:ea typeface="SimHei" panose="02010609060101010101" pitchFamily="49" charset="-122"/>
              </a:rPr>
              <a:t>: 3C</a:t>
            </a:r>
            <a:r>
              <a:rPr lang="zh-CN" altLang="en-US" sz="4000" dirty="0">
                <a:ea typeface="SimHei" panose="02010609060101010101" pitchFamily="49" charset="-122"/>
              </a:rPr>
              <a:t>原则 </a:t>
            </a:r>
            <a:r>
              <a:rPr kumimoji="0" lang="en-US" altLang="zh-CN" sz="4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j-cs"/>
              </a:rPr>
              <a:t>–</a:t>
            </a:r>
            <a:r>
              <a:rPr kumimoji="0" lang="zh-CN" altLang="en-US" sz="4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j-cs"/>
              </a:rPr>
              <a:t> 自学样例</a:t>
            </a:r>
            <a:endParaRPr lang="zh-CN" altLang="en-US" sz="4000" dirty="0">
              <a:ea typeface="SimHei" panose="02010609060101010101" pitchFamily="49" charset="-122"/>
            </a:endParaRPr>
          </a:p>
        </p:txBody>
      </p:sp>
      <p:graphicFrame>
        <p:nvGraphicFramePr>
          <p:cNvPr id="52" name="内容占位符 6">
            <a:extLst>
              <a:ext uri="{FF2B5EF4-FFF2-40B4-BE49-F238E27FC236}">
                <a16:creationId xmlns:a16="http://schemas.microsoft.com/office/drawing/2014/main" id="{7EA075B2-362C-B8CF-5149-3C4C77457C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9516" y="5188535"/>
          <a:ext cx="5624967" cy="136513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842996">
                  <a:extLst>
                    <a:ext uri="{9D8B030D-6E8A-4147-A177-3AD203B41FA5}">
                      <a16:colId xmlns:a16="http://schemas.microsoft.com/office/drawing/2014/main" val="3499421799"/>
                    </a:ext>
                  </a:extLst>
                </a:gridCol>
                <a:gridCol w="1260657">
                  <a:extLst>
                    <a:ext uri="{9D8B030D-6E8A-4147-A177-3AD203B41FA5}">
                      <a16:colId xmlns:a16="http://schemas.microsoft.com/office/drawing/2014/main" val="103855347"/>
                    </a:ext>
                  </a:extLst>
                </a:gridCol>
                <a:gridCol w="1260657">
                  <a:extLst>
                    <a:ext uri="{9D8B030D-6E8A-4147-A177-3AD203B41FA5}">
                      <a16:colId xmlns:a16="http://schemas.microsoft.com/office/drawing/2014/main" val="1038976994"/>
                    </a:ext>
                  </a:extLst>
                </a:gridCol>
                <a:gridCol w="1260657">
                  <a:extLst>
                    <a:ext uri="{9D8B030D-6E8A-4147-A177-3AD203B41FA5}">
                      <a16:colId xmlns:a16="http://schemas.microsoft.com/office/drawing/2014/main" val="3196574265"/>
                    </a:ext>
                  </a:extLst>
                </a:gridCol>
              </a:tblGrid>
              <a:tr h="342320">
                <a:tc>
                  <a:txBody>
                    <a:bodyPr/>
                    <a:lstStyle/>
                    <a:p>
                      <a:pPr algn="ctr" fontAlgn="ctr"/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强制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容量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冲突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8655364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直接映射</a:t>
                      </a:r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3698381"/>
                  </a:ext>
                </a:extLst>
              </a:tr>
              <a:tr h="3423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全相联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endParaRPr lang="zh-CN" alt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4842436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800" b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组相联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存在</a:t>
                      </a:r>
                      <a:endParaRPr lang="en-US" altLang="zh-CN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主导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4407874"/>
                  </a:ext>
                </a:extLst>
              </a:tr>
            </a:tbl>
          </a:graphicData>
        </a:graphic>
      </p:graphicFrame>
      <p:sp>
        <p:nvSpPr>
          <p:cNvPr id="87" name="矩形 86">
            <a:extLst>
              <a:ext uri="{FF2B5EF4-FFF2-40B4-BE49-F238E27FC236}">
                <a16:creationId xmlns:a16="http://schemas.microsoft.com/office/drawing/2014/main" id="{27604807-E580-2FBB-B40A-0449FA192653}"/>
              </a:ext>
            </a:extLst>
          </p:cNvPr>
          <p:cNvSpPr/>
          <p:nvPr/>
        </p:nvSpPr>
        <p:spPr>
          <a:xfrm>
            <a:off x="6659555" y="1730076"/>
            <a:ext cx="2027245" cy="708100"/>
          </a:xfrm>
          <a:prstGeom prst="rect">
            <a:avLst/>
          </a:prstGeom>
          <a:solidFill>
            <a:srgbClr val="D1D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冲突缺失主导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DA97432-C1BE-007C-6C69-9123C5E967DF}"/>
              </a:ext>
            </a:extLst>
          </p:cNvPr>
          <p:cNvSpPr/>
          <p:nvPr/>
        </p:nvSpPr>
        <p:spPr>
          <a:xfrm>
            <a:off x="6659555" y="2786766"/>
            <a:ext cx="2027245" cy="708100"/>
          </a:xfrm>
          <a:prstGeom prst="rect">
            <a:avLst/>
          </a:prstGeom>
          <a:solidFill>
            <a:srgbClr val="D1D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容量缺失主导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699251A-1CE7-CE97-0934-D885C483E10B}"/>
              </a:ext>
            </a:extLst>
          </p:cNvPr>
          <p:cNvSpPr/>
          <p:nvPr/>
        </p:nvSpPr>
        <p:spPr>
          <a:xfrm>
            <a:off x="6659555" y="3911849"/>
            <a:ext cx="2027245" cy="708100"/>
          </a:xfrm>
          <a:prstGeom prst="rect">
            <a:avLst/>
          </a:prstGeom>
          <a:solidFill>
            <a:srgbClr val="D1D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冲突缺失主导</a:t>
            </a:r>
          </a:p>
        </p:txBody>
      </p:sp>
    </p:spTree>
    <p:extLst>
      <p:ext uri="{BB962C8B-B14F-4D97-AF65-F5344CB8AC3E}">
        <p14:creationId xmlns:p14="http://schemas.microsoft.com/office/powerpoint/2010/main" val="162695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主题1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855A03B-2F79-449A-B90F-94B44FA45948}" vid="{538C748A-327B-453F-972D-CABE279DD53F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24583</TotalTime>
  <Words>7199</Words>
  <Application>Microsoft Office PowerPoint</Application>
  <PresentationFormat>全屏显示(4:3)</PresentationFormat>
  <Paragraphs>1243</Paragraphs>
  <Slides>83</Slides>
  <Notes>76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5" baseType="lpstr">
      <vt:lpstr>SimHei</vt:lpstr>
      <vt:lpstr>STKaiti</vt:lpstr>
      <vt:lpstr>Arial</vt:lpstr>
      <vt:lpstr>Calibri</vt:lpstr>
      <vt:lpstr>Cambria Math</vt:lpstr>
      <vt:lpstr>Symbol</vt:lpstr>
      <vt:lpstr>Tahoma</vt:lpstr>
      <vt:lpstr>Times New Roman</vt:lpstr>
      <vt:lpstr>Wingdings</vt:lpstr>
      <vt:lpstr>默认设计模板</vt:lpstr>
      <vt:lpstr>主题1</vt:lpstr>
      <vt:lpstr>Clip</vt:lpstr>
      <vt:lpstr>PowerPoint 演示文稿</vt:lpstr>
      <vt:lpstr>微体系结构</vt:lpstr>
      <vt:lpstr>目录</vt:lpstr>
      <vt:lpstr>缓存性能评估</vt:lpstr>
      <vt:lpstr>缓存性能评估：3C原则</vt:lpstr>
      <vt:lpstr>缓存性能评估：3C原则</vt:lpstr>
      <vt:lpstr>缓存性能评估：3C原则</vt:lpstr>
      <vt:lpstr>缓存缺失: 3C原则</vt:lpstr>
      <vt:lpstr>缓存缺失: 3C原则</vt:lpstr>
      <vt:lpstr>缓存缺失: 3C原则</vt:lpstr>
      <vt:lpstr>缓存缺失: 3C原则</vt:lpstr>
      <vt:lpstr>缓存性能评估：3C原则</vt:lpstr>
      <vt:lpstr>缓存性能评估：3C原则</vt:lpstr>
      <vt:lpstr>缓存性能评估：3C原则</vt:lpstr>
      <vt:lpstr>缓存性能评估：3C原则</vt:lpstr>
      <vt:lpstr>缓存性能评估：3C原则</vt:lpstr>
      <vt:lpstr>缓存性能评估：3C原则</vt:lpstr>
      <vt:lpstr>缓存性能评估：3C原则</vt:lpstr>
      <vt:lpstr>缓存性能评估：3C原则</vt:lpstr>
      <vt:lpstr>PowerPoint 演示文稿</vt:lpstr>
      <vt:lpstr>PowerPoint 演示文稿</vt:lpstr>
      <vt:lpstr>Cache性能评估</vt:lpstr>
      <vt:lpstr>Cache性能评估：Cache评价指标</vt:lpstr>
      <vt:lpstr>Cache性能评估：Cache评价指标</vt:lpstr>
      <vt:lpstr>Cache性能评估：Cache评价指标</vt:lpstr>
      <vt:lpstr>Cache性能评估：Cache评价指标</vt:lpstr>
      <vt:lpstr>Cache性能评估：Cache评价指标</vt:lpstr>
      <vt:lpstr>Cache性能评估：Cache评价指标</vt:lpstr>
      <vt:lpstr>Cache性能评估：Cache评价指标</vt:lpstr>
      <vt:lpstr>Cache性能评估：Cache评价指标</vt:lpstr>
      <vt:lpstr>Cache性能评估：Cache评价指标</vt:lpstr>
      <vt:lpstr>Cache性能评估</vt:lpstr>
      <vt:lpstr>Cache性能评估：如何提高Cache性能</vt:lpstr>
      <vt:lpstr>Cache性能评估：如何提高Cache性能</vt:lpstr>
      <vt:lpstr>缓存性能的分析：二级缓存</vt:lpstr>
      <vt:lpstr>Cache性能评估：如何提高Cache性能</vt:lpstr>
      <vt:lpstr>Cache性能评估：Cache评价指标</vt:lpstr>
      <vt:lpstr>Cache性能评估：如何提高Cache性能</vt:lpstr>
      <vt:lpstr>PowerPoint 演示文稿</vt:lpstr>
      <vt:lpstr>PowerPoint 演示文稿</vt:lpstr>
      <vt:lpstr>小结</vt:lpstr>
      <vt:lpstr>小结</vt:lpstr>
      <vt:lpstr>PowerPoint 演示文稿</vt:lpstr>
      <vt:lpstr>本节课内容和目标</vt:lpstr>
      <vt:lpstr>目录</vt:lpstr>
      <vt:lpstr>知识回顾</vt:lpstr>
      <vt:lpstr>引言</vt:lpstr>
      <vt:lpstr>引言</vt:lpstr>
      <vt:lpstr>引言</vt:lpstr>
      <vt:lpstr>目录</vt:lpstr>
      <vt:lpstr>总线的基本结构和分类</vt:lpstr>
      <vt:lpstr>总线的基本结构和分类</vt:lpstr>
      <vt:lpstr>总线的基本结构和分类</vt:lpstr>
      <vt:lpstr>总线的基本结构和分类</vt:lpstr>
      <vt:lpstr>总线的基本结构和分类</vt:lpstr>
      <vt:lpstr>总线的基本结构和分类</vt:lpstr>
      <vt:lpstr>目录</vt:lpstr>
      <vt:lpstr>总线的工作原理</vt:lpstr>
      <vt:lpstr>总线的工作原理</vt:lpstr>
      <vt:lpstr>总线的工作原理</vt:lpstr>
      <vt:lpstr>总线的工作原理</vt:lpstr>
      <vt:lpstr>总线的工作原理</vt:lpstr>
      <vt:lpstr>总线的工作原理</vt:lpstr>
      <vt:lpstr>总线的工作原理</vt:lpstr>
      <vt:lpstr>总线的工作原理</vt:lpstr>
      <vt:lpstr>总线的工作原理</vt:lpstr>
      <vt:lpstr>目录</vt:lpstr>
      <vt:lpstr>外设的工作原理</vt:lpstr>
      <vt:lpstr>外设的工作原理</vt:lpstr>
      <vt:lpstr>外设的工作原理</vt:lpstr>
      <vt:lpstr>外设的工作原理</vt:lpstr>
      <vt:lpstr>外设的工作原理</vt:lpstr>
      <vt:lpstr>外设的工作原理</vt:lpstr>
      <vt:lpstr>外设的工作原理</vt:lpstr>
      <vt:lpstr>外设的工作原理</vt:lpstr>
      <vt:lpstr>外设的工作原理</vt:lpstr>
      <vt:lpstr>总线和外设总结</vt:lpstr>
      <vt:lpstr>总线和外设总结</vt:lpstr>
      <vt:lpstr>附录</vt:lpstr>
      <vt:lpstr>缓存缺失: 3C原则 – 自学样例</vt:lpstr>
      <vt:lpstr>缓存缺失: 3C原则 – 自学样例</vt:lpstr>
      <vt:lpstr>缓存缺失: 3C原则 – 自学样例</vt:lpstr>
      <vt:lpstr>缓存缺失: 3C原则 – 自学样例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xing</dc:creator>
  <cp:lastModifiedBy>学清 李</cp:lastModifiedBy>
  <cp:revision>2310</cp:revision>
  <dcterms:created xsi:type="dcterms:W3CDTF">2009-12-11T02:45:36Z</dcterms:created>
  <dcterms:modified xsi:type="dcterms:W3CDTF">2024-06-11T12:56:44Z</dcterms:modified>
</cp:coreProperties>
</file>