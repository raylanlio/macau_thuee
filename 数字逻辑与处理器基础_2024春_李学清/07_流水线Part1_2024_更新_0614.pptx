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6.xml" ContentType="application/inkml+xml"/>
  <Override PartName="/ppt/notesSlides/notesSlide22.xml" ContentType="application/vnd.openxmlformats-officedocument.presentationml.notesSlide+xml"/>
  <Override PartName="/ppt/ink/ink7.xml" ContentType="application/inkml+xml"/>
  <Override PartName="/ppt/notesSlides/notesSlide23.xml" ContentType="application/vnd.openxmlformats-officedocument.presentationml.notesSlide+xml"/>
  <Override PartName="/ppt/ink/ink8.xml" ContentType="application/inkml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9.xml" ContentType="application/inkml+xml"/>
  <Override PartName="/ppt/notesSlides/notesSlide31.xml" ContentType="application/vnd.openxmlformats-officedocument.presentationml.notesSlide+xml"/>
  <Override PartName="/ppt/ink/ink10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ink/ink11.xml" ContentType="application/inkml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12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8" r:id="rId3"/>
  </p:sldMasterIdLst>
  <p:notesMasterIdLst>
    <p:notesMasterId r:id="rId116"/>
  </p:notesMasterIdLst>
  <p:sldIdLst>
    <p:sldId id="1960" r:id="rId4"/>
    <p:sldId id="1962" r:id="rId5"/>
    <p:sldId id="1572" r:id="rId6"/>
    <p:sldId id="1566" r:id="rId7"/>
    <p:sldId id="1578" r:id="rId8"/>
    <p:sldId id="555" r:id="rId9"/>
    <p:sldId id="557" r:id="rId10"/>
    <p:sldId id="642" r:id="rId11"/>
    <p:sldId id="655" r:id="rId12"/>
    <p:sldId id="1580" r:id="rId13"/>
    <p:sldId id="559" r:id="rId14"/>
    <p:sldId id="560" r:id="rId15"/>
    <p:sldId id="1956" r:id="rId16"/>
    <p:sldId id="1833" r:id="rId17"/>
    <p:sldId id="563" r:id="rId18"/>
    <p:sldId id="565" r:id="rId19"/>
    <p:sldId id="558" r:id="rId20"/>
    <p:sldId id="1953" r:id="rId21"/>
    <p:sldId id="1954" r:id="rId22"/>
    <p:sldId id="564" r:id="rId23"/>
    <p:sldId id="566" r:id="rId24"/>
    <p:sldId id="653" r:id="rId25"/>
    <p:sldId id="654" r:id="rId26"/>
    <p:sldId id="643" r:id="rId27"/>
    <p:sldId id="567" r:id="rId28"/>
    <p:sldId id="1834" r:id="rId29"/>
    <p:sldId id="1835" r:id="rId30"/>
    <p:sldId id="570" r:id="rId31"/>
    <p:sldId id="571" r:id="rId32"/>
    <p:sldId id="572" r:id="rId33"/>
    <p:sldId id="573" r:id="rId34"/>
    <p:sldId id="575" r:id="rId35"/>
    <p:sldId id="576" r:id="rId36"/>
    <p:sldId id="1957" r:id="rId37"/>
    <p:sldId id="577" r:id="rId38"/>
    <p:sldId id="578" r:id="rId39"/>
    <p:sldId id="579" r:id="rId40"/>
    <p:sldId id="580" r:id="rId41"/>
    <p:sldId id="1575" r:id="rId42"/>
    <p:sldId id="644" r:id="rId43"/>
    <p:sldId id="1958" r:id="rId44"/>
    <p:sldId id="581" r:id="rId45"/>
    <p:sldId id="617" r:id="rId46"/>
    <p:sldId id="584" r:id="rId47"/>
    <p:sldId id="586" r:id="rId48"/>
    <p:sldId id="587" r:id="rId49"/>
    <p:sldId id="662" r:id="rId50"/>
    <p:sldId id="663" r:id="rId51"/>
    <p:sldId id="1553" r:id="rId52"/>
    <p:sldId id="1786" r:id="rId53"/>
    <p:sldId id="1794" r:id="rId54"/>
    <p:sldId id="1795" r:id="rId55"/>
    <p:sldId id="1796" r:id="rId56"/>
    <p:sldId id="1797" r:id="rId57"/>
    <p:sldId id="1798" r:id="rId58"/>
    <p:sldId id="1836" r:id="rId59"/>
    <p:sldId id="1787" r:id="rId60"/>
    <p:sldId id="1789" r:id="rId61"/>
    <p:sldId id="1788" r:id="rId62"/>
    <p:sldId id="1790" r:id="rId63"/>
    <p:sldId id="1791" r:id="rId64"/>
    <p:sldId id="1843" r:id="rId65"/>
    <p:sldId id="1799" r:id="rId66"/>
    <p:sldId id="1800" r:id="rId67"/>
    <p:sldId id="1801" r:id="rId68"/>
    <p:sldId id="1802" r:id="rId69"/>
    <p:sldId id="1803" r:id="rId70"/>
    <p:sldId id="1823" r:id="rId71"/>
    <p:sldId id="1837" r:id="rId72"/>
    <p:sldId id="1810" r:id="rId73"/>
    <p:sldId id="1819" r:id="rId74"/>
    <p:sldId id="605" r:id="rId75"/>
    <p:sldId id="660" r:id="rId76"/>
    <p:sldId id="607" r:id="rId77"/>
    <p:sldId id="1556" r:id="rId78"/>
    <p:sldId id="1557" r:id="rId79"/>
    <p:sldId id="1811" r:id="rId80"/>
    <p:sldId id="611" r:id="rId81"/>
    <p:sldId id="1804" r:id="rId82"/>
    <p:sldId id="1805" r:id="rId83"/>
    <p:sldId id="1806" r:id="rId84"/>
    <p:sldId id="1807" r:id="rId85"/>
    <p:sldId id="1808" r:id="rId86"/>
    <p:sldId id="1838" r:id="rId87"/>
    <p:sldId id="1839" r:id="rId88"/>
    <p:sldId id="1821" r:id="rId89"/>
    <p:sldId id="1822" r:id="rId90"/>
    <p:sldId id="1959" r:id="rId91"/>
    <p:sldId id="1845" r:id="rId92"/>
    <p:sldId id="1846" r:id="rId93"/>
    <p:sldId id="1847" r:id="rId94"/>
    <p:sldId id="612" r:id="rId95"/>
    <p:sldId id="613" r:id="rId96"/>
    <p:sldId id="1858" r:id="rId97"/>
    <p:sldId id="1864" r:id="rId98"/>
    <p:sldId id="615" r:id="rId99"/>
    <p:sldId id="1859" r:id="rId100"/>
    <p:sldId id="618" r:id="rId101"/>
    <p:sldId id="1558" r:id="rId102"/>
    <p:sldId id="619" r:id="rId103"/>
    <p:sldId id="1862" r:id="rId104"/>
    <p:sldId id="1559" r:id="rId105"/>
    <p:sldId id="1863" r:id="rId106"/>
    <p:sldId id="1861" r:id="rId107"/>
    <p:sldId id="649" r:id="rId108"/>
    <p:sldId id="639" r:id="rId109"/>
    <p:sldId id="1809" r:id="rId110"/>
    <p:sldId id="1961" r:id="rId111"/>
    <p:sldId id="1598" r:id="rId112"/>
    <p:sldId id="1574" r:id="rId113"/>
    <p:sldId id="646" r:id="rId114"/>
    <p:sldId id="1955" r:id="rId1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A6A6A6"/>
    <a:srgbClr val="DE2506"/>
    <a:srgbClr val="C00000"/>
    <a:srgbClr val="00B0F0"/>
    <a:srgbClr val="3366FF"/>
    <a:srgbClr val="70AD47"/>
    <a:srgbClr val="7F7F7F"/>
    <a:srgbClr val="ED7D31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653" autoAdjust="0"/>
  </p:normalViewPr>
  <p:slideViewPr>
    <p:cSldViewPr snapToGrid="0">
      <p:cViewPr varScale="1">
        <p:scale>
          <a:sx n="89" d="100"/>
          <a:sy n="89" d="100"/>
        </p:scale>
        <p:origin x="13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8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presProps" Target="presProps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viewProps" Target="viewProp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14T11:21:00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1858 14815 0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1:23:45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7299 14914 1030 0,'0'0'0'0,"0"0"0"16,0 4 0-16,0-4 20 0,0 2 1 0,0-2-1 16,-9-2 2-16,9 2 17 0,-20-4 1 0,20 4 1 0,-35-9-1 15,4 2-7-15,-7-2-1 0,3 2 1 0,-7 1 0 16,2 1 0-16,-4-3 0 0,0 3-1 15,0 3 1-15,-7-3-18 0,-2 1 2 0,-2 2-1 0,-6 0 1 16,-6 2-5-16,-3 2 0 0,-3 2 1 0,-9 3-1 16,1-7 4-16,-5 2 0 0,-7 5-1 0,1 2 2 0,-5 2 2 15,2 2 1-15,-9 3-1 0,3-8 2 0,-3 4-2 16,5-1 1-16,-1 0-1 0,-1 2 1 0,-7 3-5 16,7-1-1-16,-5 1 1 0,-7-1 1 0,-4 3-1 15,-2 0 1-15,0-3 0 0,4 3 0 0,-1 2 0 16,-1 2 2-16,2 3-1 0,3-5 1 0,10 2-1 0,-8 0 1 15,6 0 0-15,7 3 0 0,5-7-3 0,6 2 2 16,0-1 0-16,2 4 0 0,2-1-4 0,7 2 2 16,2-6-1-16,3 7 0 0,8 1 1 0,-6-1 0 15,8 1 0-15,1 1 1 0,6 0-4 0,2-1 2 16,7 1-1-16,6-1 0 0,3-6-2 0,9 3-1 16,1-1 0-16,8 2 1 0,14 3-4 0,6 2 1 0,10 0-1 15,-2 0 1-15,18 2-2 0,1 2-1 0,6 0 1 16,6-6 0-16,8-3-4 0,8 1 1 0,8-5 0 15,4-2 0-15,12-3-2 0,0-4 1 0,6-2 1 16,7 0-1-16,6-2-2 0,7-3 0 0,5 0 0 16,4 1 0-16,6 2 0 0,5 1 0 0,-2-1 0 15,8-5 0-15,-1-2 0 0,3-4 0 0,-1-3 0 16,6 1 0-16,13-3 0 0,-2-2 0 0,-2-3 0 16,3-1 0-16,1-5 0 0,-4-2 0 0,4-3 0 15,1-2 1-15,-3-1 0 0,0-4 0 0,2 4 0 16,-8-6 2-16,-5 1 0 0,2 0 0 0,-6-1 1 15,-5-1-1-15,-8-3 0 0,-1-2 2 0,-8 2-1 0,-2 5 1 16,-14 2-1-16,0 0 1 0,-11 0-1 0,-11 0 1 16,-6 0-1-16,-9 0 1 0,-11-3-1 0,-10 3 1 15,-5 2 0-15,-10 3 2 0,-8-3 0 0,-7-2 0 0,-5-3-2 16,-12 1 2-16,-5-2-2 0,-2-3 2 0,-12 2-1 16,-6-1-1-16,-6 1 1 0,-3 0 1 0,-10-1 0 15,-3-1-1-15,-11 5 1 0,2 4 0 0,-9 2-2 16,-1 3 2-16,-6 6-1 0,-3 7 0 0,-5 9 0 0,-5 2 0 15,3 6-1-15,-4 3 2 0,-10 13-4 0,-2 1 2 16</inkml:trace>
  <inkml:trace contextRef="#ctx0" brushRef="#br0" timeOffset="853.58">6977 16826 1733 0,'-20'-7'0'0,"0"5"0"0,4 4 0 0,1 2 24 16,2 1 1-16,-9-5-1 0,-5-7 1 0,-12-6 14 15,-8-5 0-15,-8 2 1 0,2-1-1 0,-11-1-18 16,-2 2 1-16,-2-4-1 0,-3 3 0 0,-6-1-16 0,-2 0-1 16,-5 0 1-16,-2 3-1 0,-2 1 1 0,-7 1-1 15,-2 2 1-15,-3 2 0 0,-12 2-1 0,2 1 0 16,-7-1 1-16,-4 5-1 0,-1 4 0 0,1 5-1 16,-3 2 0-16,3 0 2 0,-7 2-3 0,-2 2 1 15,9 3 1-15,0-1-1 0,-3 1 2 0,-2 1-1 16,3 3 1-16,6 3-1 0,-7-1 2 0,3 0-1 0,2 2 1 15,-2 3 0-15,-3 4 0 0,3 2 2 0,-2 1 0 16,6 1 0-16,0-1 2 0,-2 3 0 0,6 1 0 16,12-5 1-16,6 1-1 0,0-3 2 0,16-2-2 15,1 2 1-15,12-2-2 0,5-3 0 0,8-1 0 16,15-1 1-16,12 1-6 0,6-3 2 0,9 2 0 16,6 5-1-16,14 2-2 0,2-2-1 0,9 2 0 15,4 2 1-15,18 7-1 0,5 0-1 0,8-2 0 16,11-2 0-16,11-3-1 0,5-2 0 0,10-2 0 15,5 0 1-15,5-9-1 0,10 2 0 0,12-2 0 0,8-2 0 16,7-3-1-16,4-1 1 0,14-1-1 0,-3-2 1 16,7-2-5-16,2-5 2 0,1 1-2 0,-1-1 2 15,4 3-4-15,10 0 1 0,-5-1-1 0,7 1 0 0,-5 0-3 16,2 1 1-16,9 1-1 0,-10-4 1 0,14-1-1 16,1-2 0-16,-3-4 0 0,8-2 0 0,-1-5 2 15,0-2 0-15,0-3 0 0,0-1 1 0,-7-3 4 16,1-4 0-16,-5 0-1 0,-7-3 1 0,-2-1 2 15,-6-3 0-15,-14 9-1 0,-6-7 1 0,-16 3 2 16,-6-3 1-16,-11 0-1 0,-14-1 0 0,-8-4 8 16,-18 1 0-16,-2-4 0 0,-14-3 1 0,-12-4 9 0,-10 0 0 15,-13-5 0-15,-4 0 1 0,-18 3 7 0,-11-5 0 16,-8 3 0-16,-14-3 0 0,-18 0 2 0,-10 2 1 16,-14 1 0-16,-11 3 0 0,-17 6-3 0,-16 1 0 15,-13 5 0-15,-13 4 0 0,-14 7-5 0,-13 3 2 16,-8 3-1-16,-3 5 1 0,-5 5-11 0,-3 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14T11:29:59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12266 6132 0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1:47:09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7054 11496 12 0,'0'5'0'0,"0"-5"0"0,0 2 0 15,0-2 57-15,0 4 1 0,0-4 1 0,0 5-1 16,0-5 44-16,0 0 0 0,0 0 0 0,0 0 2 0,0 0-1 16,0 0 0-16,0 0 0 0,0 0 1 0,0 0-53 15,0 0 1-15,0 0 0 0,0 0 0 0,0 0-18 16,0 0 0-16,0 0-1 0,0 0 2 0,0 0-12 16,-20 0-1-16,20 0 0 0,-46 0 2 0,15 0-9 15,-9-3-1-15,3 1 1 0,-5 0 0 0,9 2-3 16,-7 0 0-16,2-2 0 0,-8 2 1 0,-2 0-3 0,1-2 1 15,-3 2-1-15,1 0 1 0,-2 0 3 0,1-5-1 16,-10 5 1-16,3 5 0 0,-1-3 7 0,3 4-1 16,-9 1 0-16,0-5 0 0,-6-2-2 0,-1-2 0 15,1 2 0-15,-5 0 1 0,-7 0-7 0,7 2 2 0,-7 3-2 16,-4-3 2-16,3 0-4 0,-12-2 0 0,7 5 0 16,-5-1 0-16,9 5-3 0,0 4 0 0,-4-4-1 15,2 0 2-15,-4 2-3 0,2 2 0 0,1 3 1 16,-3-5-1-16,11-2 0 0,-3 0-1 0,0 4 1 15,5 3 1-15,7 2-2 0,-1 2 1 0,5-5-1 16,4 5 1-16,1 2 0 0,-1-4 2 0,7 6-2 16,4-1 2-16,5 3 2 0,-3 1 0 0,12 2 0 15,1 0 0-15,5 0 1 0,3-1 1 0,15 8 0 16,-10-5 0-16,15 0-3 0,3-2 1 0,5 2-2 16,5 0 2-16,3-2-3 0,10 2 0 0,-2 0-1 15,10-2 1-15,14-2-3 0,4-1 1 0,9 1-1 0,-3 0 0 16,10-1-2-16,6 1 2 0,7 0-1 0,4-5 0 15,5 0-2-15,4 0 1 0,2-2-1 0,7-2 1 16,2 0-1-16,6-3 0 0,6-1 0 0,1-3 2 16,4-5-2-16,3-3 0 0,5-1 0 0,-3-2 1 0,6-2-1 15,-1-5 0-15,2 0 0 0,4-4 1 0,-2 0-1 16,2 2 0-16,-7-9 0 0,5 1 1 0,-4-6 2 16,1-1 1-16,-6-3-1 0,3-2 0 0,-10-2 5 15,5 0 0-15,-9-2 0 0,-6 2 0 0,-3 0 6 16,-2-7 1-16,-7 0 0 0,-4 3 0 0,-4 1 5 0,-5 1 2 15,-6 0-2-15,-3-5 1 0,-4 3 0 0,-7-1-1 16,-6 3 0-16,-9-1 1 0,-7 3-2 0,-10-4 2 16,-10 2-1-16,0 1 0 0,-10 6-3 0,1-3 1 15,-12 4-1-15,1 1 1 0,-10-3-5 0,0 5 2 16,-1 0-1-16,-4 2 1 0,-11-4-3 0,0 1 0 0,-8 3 1 16,-5 5 0-16,-5 2-6 0,3-1 0 0,-9 3-1 15,0 7 1-15,-5 1-6 0,5 3 0 0</inkml:trace>
  <inkml:trace contextRef="#ctx0" brushRef="#br0" timeOffset="699.77">6244 12697 1470 0,'-13'-6'0'0,"13"6"0"0,-31-9 0 0,31 9 28 0,-13 0 1 16,13 0 0-16,-35-11 0 0,8 6-21 0,-6-6 0 16,-4-2 0-16,-1 0 1 0,-1-1-9 0,-3 1 0 0,-2 0 0 15,2-1 0-15,-9 3-15 0,-4 5 1 0,2-1-1 16,-2 0 0-16,-5 3-8 0,7 4 0 0,-4 2 0 15,-9 2 0-15,0 1 17 0,-12-1 0 0,-1 5-1 16,2 5 2-16,-9 6 5 0,-2-3 0 0,2 8 0 16,-7 4 0-16,0 2 2 0,-1 4 0 0,1 5 0 15,0 5 1-15,3 8 3 0,-1 2 2 0,8 1 0 16,5-3 0-16,8 0-1 0,8 3 1 0,5-3-1 16,6-6 1-16,11-3-4 0,10-6 0 0,7-2-1 15,8 4 2-15,8 0-4 0,7-3 0 0,11 1 0 16,7-2 0-16,6-1-1 0,3 1 0 0,13-3 0 0,-3-2 0 15,14 0-1-15,10-2 1 0,6 2 0 0,3-2 0 16,16 0-1-16,11 0 1 0,-2-5 0 0,11 1 0 16,2-10-1-16,13-2 1 0,7 1-1 0,-2-10 1 0,17-4 0 15,-4-4 0-15,5-5 0 0,3-2 0 0,-3-9 0 16,3-2 0-16,-5-5 0 0,1-2 1 0,0-2-1 16,-4-2 1-16,-7-3 0 0,1 1 0 0,-5-5 2 15,-5-3 0-15,-10 1-1 0,-3 0 2 0,-13-2-1 16,-4-3 1-16,-12 3 1 0,-10-1-1 0,-5 3 4 15,-4-2 1-15,-16-3 0 0,-11-2 0 0,-8 2 8 0,-16-6 1 16,-7 0-1-16,-8 2 1 0,-7-2 4 0,-9-1 1 16,-11 1-1-16,-9 0 1 0,-8 2-3 0,-7-3 0 15,-16 3 0-15,-2 2 0 0,-13 0-4 0,-6-2 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1:50:31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2972 11525 326 0,'0'0'0'0,"0"0"0"0,0 0 0 0,0 0 6 16,0 0 0-16,0 0 0 0,0-2 1 0,0 2 32 0,-7-7 0 15,7 7 1-15,-22-9 0 0,22 9 39 0,-13-6 0 16,13 6 0-16,-35-16 0 0,12 7-37 0,-5 2 1 15,-5 3-1-15,4 2 1 0,-6 0-13 0,-3-1 0 16,3 3 1-16,-9 3 0 0,2 1-5 0,-4 0 1 16,-1 3 0-16,8 6 0 0,1-1-7 0,3 3 0 0,0 1 0 15,4-1 1-15,6 3-5 0,10 2 1 16,-3 0 0-16,5 4 1 0,2 1-4 0,-2 1 0 0,13 8 1 16,0 6-1-16,13 9-1 0,-2 4-1 0,9 5 0 15,0-1 1-15,2-1-4 0,7 2 1 0,-3-1 0 16,9-1 0-16,1-1-3 0,6-1-1 0,-3-6 1 15,-1 1 1-15,-3-4-2 0,0-1 0 0,-8-2 0 16,-10-2 1-16,5-2-4 0,-11-7 0 0,-2-2 1 16,-2 2-1-16,-3 0-1 0,1 0 1 0,-5-2-1 15,-5 0 1-15,1 0-2 0,-9 0 2 0,2 0-1 16,-3-1 0-16,-5 4-1 0,-6 1 0 0,-1-6 0 0,-9-1 1 16,-3 1-2-16,-2-3 1 0,1-2 0 0,-3-2 0 15,6-6-1-15,1-3 0 0,4 2 0 0,5 5 0 16,6 6-1-16,5-1 1 0,4 3 0 0,6 1 0 15,5 2-1-15,5 0 1 0,1 11-1 0,-1 4 1 0,10 9-3 16,0 5 2-16,-4 4-1 0,0 7 1 0,3 4 0 16,1 7 1-16,-4 5-1 0,5 3 1 0,3 1 0 15,-3 9 0-15,8-5 0 0,-2-8 0 0,-2-14 3 16,7-5 1-16,-3-12 0 0,7-12 0 0,-5-16 13 0,1-12 0 16</inkml:trace>
  <inkml:trace contextRef="#ctx0" brushRef="#br0" timeOffset="907.58">802 12009 979 0,'0'-2'0'0,"0"2"0"0,8 4 0 0,-8-4 30 16,23 0 1-16,-23 0-1 0,19-2 0 0,-19 2 20 15,16-11-1-15,-16 11 0 0,26-22 2 0,-26 22-30 16,42-34 2-16,-42 34-1 0,38-35 1 0,-38 35-22 0,31-27 1 15,-31 27-1-15,26-17 1 0,-26 17-4 0,9 2 1 16,-9-2 0-16,4 6 0 0,-4-6-13 0,0 5 2 16,0-5-2-16,7 26 2 0,-3 3-10 0,-4 7-1 15,0 4 1-15,-4 2-1 0,-5 2-1 0,-2 5-1 16,0 5 0-16,-4 3 2 0,-1 8 0 0,1-3 1 0,-1 7-1 16,-6 2 2-16,0 2 8 0,-4 3 0 0,-1-3 0 15,-1-2 0-15,-1-4 7 0,0-5-1 0,-2-5 0 16,11-5 1-16,1-8 3 0,-1-6 1 0</inkml:trace>
  <inkml:trace contextRef="#ctx0" brushRef="#br0" timeOffset="1101.9">943 12733 552 0,'2'7'0'0,"-2"-7"0"0,9 26 0 15,-9-26 10-15,15 36 0 0,1-14 0 0,-5 5 1 16,-2-1 22-16,2 1 0 0,4-3 1 0,-6-4 0 0,2-2-3 16,-5-2 2-16,3-3-1 0,2-2 1 0,-6-6-19 15,1-1 2-15</inkml:trace>
  <inkml:trace contextRef="#ctx0" brushRef="#br0" timeOffset="1234.179">1274 12387 590 0,'6'2'0'16,"-6"-2"0"-16,16 13 0 0,-16-13 3 0,20 16 2 15,-20-16-1-15,30 33 1 0,-19-11 1 0,0 3 2 16</inkml:trace>
  <inkml:trace contextRef="#ctx0" brushRef="#br0" timeOffset="1525.889">537 13335 464 0,'9'-7'0'0,"-9"7"0"16,11-2 0-16,-11 2 3 0,4 11 2 0,-4-11-2 15,9 11 2-15,-9-11-2 0,16-2 2 0,-16 2-2 16,37-18 2-16,-6 5-5 0,9-9 1 0,2 4-1 0,-9 4 1 16,0 3-1-16,-2 2 0 0,-3 1 0 0,-1-1 0 0,-5 0 0 15,2 0 0-15,-4-4 0 0,6-3 1 0,-1-2 1 16,-3-2 0-16,-5 0 1 0,8-2-1 0,3-2 2 16,-4-1 2-16,-4 3 0 0,2 7-1 15,-8 1 0-15,8 5 0 0,-11 0 1 0,-3 7-1 0,-1 2-2 16,-7 5-1-16</inkml:trace>
  <inkml:trace contextRef="#ctx0" brushRef="#br0" timeOffset="1800.92">822 13686 12 0,'-12'13'0'16,"12"-13"0"-16,-24 35 0 0,24-35 0 0,-6 23 1 16,6-23 0-16,-5 29 0 0,5-29-1 0,-6 35 1 15,6-35 0-15,-5 22 1 0,5-22-2 0,2 7 1 0,-2-7-1 16,9 4 1-16,-9-4-1 0,5 5 1 0,-5-5-1 15,17-9 1-15,-17 9 2 0,40-18 1 0,-16 3-1 16,3-3 1-16,-5-4 2 0,4-5 1 0,3-2 0 16,-3 0-1-16,3-4 3 0,-5-3 2 0,5 3-2 15,6 2 1-15,-2 2 6 0,3 0 1 0,1 3 0 16,-2 3 0-16,-4 6-2 0,5 1 0 0,-6 7 0 16,-3 3 1-16,-3 3-3 0,-6 3 0 0,-3 5 1 15,-4 1-1-15,2 3 2 0,-2 0 0 0,-6 5-1 16,-5 6 2-16,0 11 0 0,0 0-1 0,-5 4 1 0,-1 3 0 15,-12 2-3-15,1 2 1 0</inkml:trace>
  <inkml:trace contextRef="#ctx0" brushRef="#br0" timeOffset="2042.72">791 13415 313 0,'0'4'0'0,"0"-4"0"0,6 29 0 0,-1-5 3 0,3 8 0 16,-1 3 1-16,2 5 0 0,-7 7 0 0,3 1 0 15,-1-5-1-15,0-3 2 0,3-7-3 0,2-4 2 16,-5-7-1-16,7-9 0 0,-6-8-3 0,6-5 0 16,0-11 0-16,4 0 1 0,-4-7-2 0,0-2 1 15,7-7 0-15,-7-6 0 0,4-9-13 0,5-9 0 0,-4 0 1 16,-1-1 0-16,-4 6-2 0,2 1 2 15,-2 5-2-15,0 5 2 0,-11 35-179 0</inkml:trace>
  <inkml:trace contextRef="#ctx0" brushRef="#br0" timeOffset="2096.9">1174 13286 12 0,'0'4'0'0,"0"5"0"15,0 2 0-15,0-11-10 0</inkml:trace>
  <inkml:trace contextRef="#ctx0" brushRef="#br0" timeOffset="2432.98">1113 13566 12 0,'-5'15'0'0,"-1"3"0"16,6-2 0-16,0-3 0 0,0 0 0 0,0 3 0 15,0 6 0-15,-5-2 0 0,1 4 0 0,-3 1 0 16,3-10 0-16,-1-6 0 0,5-2 0 0,-4-3 0 15,0-1 0-15,4 1 2 0,-3-4 1 0,3-4 1 0,0 1-1 16,0 1 11-16,0 0 0 0,3 0 1 0,-3-1-1 16,4 1 0-16,0-2 0 0,1-1 0 0,6-6 1 15,-2 0-6-15,6-2-1 0,-4 2 1 0,2 0 0 0,-2 2-4 16,3 0-1-16,-3 2 1 0,2 0-1 0,-4 1-1 16,-3 1-1-16,3 5 0 0,2 0 1 0,-2 0-3 15,-2 0 0-15,1 3 0 0,-1 3 2 0,-3 8 0 16,1-3 0-16,-10 9 0 0,1 11 1 0,-3 2 0 0,-1 9 1 15,-8 3 0-15,1-1 0 0,-10-2 2 16,3-2 1-16,0 5-1 0,5 1 1 0,1 1-1 16,-4 4-1-16,5 0 1 0,4-2 1 0,0 0-3 0,0 0 1 15,4-7-1-15,5 0 2 0,4-13 0 0,5-5 2 16,4-1-1-16,4-3 1 0,5-3 1 0,-2-1 0 16,10-5 0-16,3 2 0 0,5-8 0 0,10-1 0 15,-6-4 0-15,6-2 1 0,-4-3 4 0,-2-1 1 16,-7-1 0-16,-3 0-1 0,-1-1 2 0,-2-1 1 15,-10 2-2-15,5-6 2 0,-11 2-11 0,-2 0 1 0</inkml:trace>
  <inkml:trace contextRef="#ctx0" brushRef="#br0" timeOffset="2636.22">1357 14223 300 0,'0'11'0'0,"0"-11"0"16,-4 36 0-16,4-36 0 0,9 40 1 0,-9-12 0 0,-5 8 1 15,1 6-2-15,-7 7 1 0,0 0-1 0,-2-5 1 16,2-4-1-16,-5-2 0 0,-1-2 0 0,3-3 0 16,-1-7-9-16,-5 3 0 0,0-6 0 0,5-6 0 15,-5-1-1-15,2-3 0 0,3-11 0 0,-1-4 0 16,-1-7 1-16,1-4 0 0,1-7 0 0,-1-7 0 0,-1-4 2 16,-3-6 0-16,5-6 0 0,-1 1 1 15,16 42-120-15</inkml:trace>
  <inkml:trace contextRef="#ctx0" brushRef="#br0" timeOffset="2704.22">1022 14239 12 0,'22'-20'0'0,"0"2"0"0,-6 4 0 0,-5 8 0 15,0-1 0-15,9 3 0 0,4 4 0 0,5-5 0 16,12 1 0-16,-3 4 0 0,-3 2 0 0,5 5 0 16,-3-3 0-16</inkml:trace>
  <inkml:trace contextRef="#ctx0" brushRef="#br0" timeOffset="2916.56">1353 14936 426 0,'0'0'0'0,"0"0"0"15,29-11 0-15,-5 0 11 0,11-5 0 0,5-2 1 16,-7 3 0-16,0 1 27 0,2-1 0 0,-4-1 1 16,-4 3-1-16,1 4 5 0,-6 2 0 0,-2 3-1 15,-4 4 2-15,-7 0-23 0,2 2-1 0,-7 3 0 16,-4-1 2-16,0-2-11 0,0 1 0 0</inkml:trace>
  <inkml:trace contextRef="#ctx0" brushRef="#br0" timeOffset="3100.89">1393 14865 12 0,'0'13'0'0,"4"3"0"0,-2-3 0 16,3-2 0-16,4-2 0 0,-5 4 0 0,3 5 0 0,-3 6 0 16,-2 5 0-16,3 5 0 0,1-1 1 0,7 7 0 15,3 2 0-15,-1 7 0 0,1 2 0 0,-3 9 8 16,5 7 0-16,-3-5 0 0,5 0 1 0,-5-4 19 15,-4-3 0-15,3-2 0 0,1-4 0 0,0-4 38 16,1-3 1-16,-1-2-1 0,-4 2 0 0,5-4-2 0,-7 0 2 16,-3-5-2-16,3 0 1 0,-2-11-12 0,-3-2 0 15,-4-6 0-15,-4-1-1 0,-3-11-16 16,3 0 1-16</inkml:trace>
  <inkml:trace contextRef="#ctx0" brushRef="#br0" timeOffset="3467.43">1256 15413 300 0,'0'-15'0'0,"0"15"0"0,-7-36 0 0,7 36 29 0,7-20 1 16,-7 20-1-16,0-20 0 0,0 20 29 0,11-33 2 16,-11 33-2-16,13-22 2 0,-13 22-35 0,5-3 1 0,-5 3 0 15,11 0 1-15,-11 0-15 0,6 0 1 0,-6 0-1 16,16 29 1-16,-3 2-7 0,-2 9 0 0,-7 0-1 16,-1-2 2-16,-6 4-5 0,-1 0 2 0,4-4-2 15,-4-7 1-15,4-6 0 0,4-8-1 0,-4-5 0 16,4-4 1-16,-4-8-2 0,3 0 1 0,5-8-1 15,-1-4 1-15,6-3-1 0,3-3 0 0,4-6 0 16,2-10 0-16,4-10-1 0,3-7 0 0,2 0 0 16,-3 0 2-16,5 2-2 0,-2 0 0 0,-4 2 0 0,4 3 0 15,2 4-2-15,0 2 2 0,-5 9-1 0,-3 1 1 16,-3 5-1-16,-7 6 0 0,-4 6 0 0,-2 6 0 16,-13 10-3-16,-1 3 2 0,-1 10 0 0,-12 7 0 15,5 8 0-15,-12 5-1 0,10 4 1 0,-5 4 1 0,5 6-1 16,-1-4 1-16,5 3-2 0,0-4 2 0,2-2 1 15,5-1 1-15,4-9-1 0,4-8 1 0,5-11 5 16,-2-10 0-16,8-8-1 0,1-7 1 0,4-4 7 16,4-9 1-16,-4-5-1 0,4-8 1 0,9-12-2 0,-2-9 2 15</inkml:trace>
  <inkml:trace contextRef="#ctx0" brushRef="#br0" timeOffset="3574.29">1735 14558 916 0,'2'7'0'16,"-2"-7"0"-16,4 27 0 0,-4-27 13 0,11 33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1:59:36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12391 5165 12 0,'0'0'0'0,"0"0"0"0,0 0 0 16,0 0 2-16,0 0 1 0,0 0 0 0,0 9 0 15,0-9 11-15,0 5 0 0,0-5 1 0,0 11-1 0,0-11 27 16,0 6-1-16,0-6 0 0,0 20 1 0,0-20-11 15,0 27 0-15,0-27 1 0,0 31-1 0,0-31 2 16,0 31 0-16,0-31 1 0,9 29-1 0,-9-29-7 16,13 20 1-16,-13-20-1 0,13 18 1 0,-13-18-6 15,11 24 1-15,-11-24-1 0,7 22 0 0,-7-22-10 16,11 20 1-16</inkml:trace>
  <inkml:trace contextRef="#ctx0" brushRef="#br0" timeOffset="167.12">12466 5698 12 0,'-5'11'0'0,"5"-11"0"0,-6 20 0 0,6-20 0 0,-9 16 0 15,9-16 0-15,-9 26 0 0,9-26 0 0,-2 43 0 16,2-43 0-16,-5 35 0 0,5-35 0 0,-4 29 0 0,4-29 0 16,-4 27 0-16,4-27 0 0,-3 29 0 15,3-29 0-15,0 22 0 0,0-22 0 0,0 22 0 0,0-22 0 16,0 24 0-16,0-24 0 0,0 23 0 0,0-23 0 16,0 26 0-16,0-26 0 0,0 38 0 0,0-38 0 15,-8 40 0-15,8-18 0 0,2 0 0 0,-2 3 0 16,-2-5 0-16,2-20-10 0</inkml:trace>
  <inkml:trace contextRef="#ctx0" brushRef="#br0" timeOffset="203.49">12384 6351 12 0,'0'0'0'0,"0"4"0"16,0 3 0-16,0-7-10 0</inkml:trace>
  <inkml:trace contextRef="#ctx0" brushRef="#br0" timeOffset="505.6">12373 6446 12 0,'0'5'0'0,"0"-1"0"15,-4 7 0-15,-5 1 0 0,2-1 0 0,-4 4 0 16,7-4 0-16,4 5 0 0,-5 4 0 0,5-5 0 0,5 1 0 16,-1-3 4-16,1-2 1 0,1 3-1 0,-1 1 1 15,-3 7 16-15,-2-2 2 0,2 3-1 0,0-8 0 16,3-4 7-16,-1 5-1 0,-4-7 0 0,2 2 0 15,0 0-3-15,-2 0 1 0,7 0 0 0,-7 0 1 0,4 0-9 16,-4-2 0-16,3 0 0 0,-1 0 0 0,0 0-8 16,3-2 0-16,-5 6 0 0,2-2 1 0,-2 4-3 15,0-3 0-15,0-1 0 0,0 0 1 0,0 0-1 16,0 2 1-16,0-2 0 0,0-4 0 0,0 2 1 0,0 2 1 16,0-4 0-16,0 2 0 0,0 2 18 0,0-2-1 15,0 4 0-15,0-2 1 0,0-2 9 0,0-3 0 16,0 3 0-16,0-2 0 0,0 4 1 0,0 2-1 15,0-1 0-15,0-4 1 0,0 4-6 0,0-1 0 16,0 4 1-16,0-1 0 0,0 1-8 0,-2 3 0 16,-5 0 0-16,7-7 1 0,0 0-4 0,0 0-1 15,0-2 1-15,0-3 0 0,0 3-6 0,2-4 0 0,-2-5 0 16,5 2 1-16,-5 0-8 0,0 0 0 0</inkml:trace>
  <inkml:trace contextRef="#ctx0" brushRef="#br0" timeOffset="2717.06">12470 4173 665 0,'0'0'0'0,"0"0"0"0,5 4 0 16,-5-4 17-16,6 11 0 0,-6-11-1 0,0 5 2 15,0-5-14-15,0 2 0 0,0-2 0 0,0 4 0 16,0-4-5-16,0 5 1 0,0-5-1 0,0 4 1 15,0-4-19-15,-9 7 1 0,9-7-1 0,-6 4 1 0,6-4-29 16,4 16 1-16,-4-16 0 0,5 26 0 0,-5-26 12 16,11 45 1-16,-11-16 1 0,0 0-1 0,4-1 18 15,-2 6 0-15,3-3-1 0,-5 7 2 16,0-3 8-16,0 7 2 0,0-4-1 0,4 0 1 0,-4 0 4 0,-4 2 0 16,4 2 0-16,-5-11 0 0,5 2 4 0,0-2 2 15,0 0-2-15,5 0 2 0,-5 3 2 0,4 1 1 16,-4 3 0-16,2-7 0 0,-2 7 1 0,0-7 0 15,0 2 0-15,0 3 1 0,0-3-5 0,-2 3 1 16,-2-3-2-16,4 2 2 0,-5-3-4 0,3 1 1 16,-2 2-1-16,-1-4 1 0,1-4-1 0,-1 4 0 0,3 2-1 15,-2-1 2-15,4-1-1 0,-5-2 2 16,3 2-2-16,0-3 1 0,0-3 2 0,2-1 0 16,2-1-1-16,-2 1 2 0,0-8 13 0,0 1 0 0,0 3 1 15,0-4-1-15,0 2 10 0,0 2 1 0,0 2 0 16,0 2 0-16,0-6 2 0,0 2 0 0,0 2 0 15,0 3 1-15,0 1-6 0,0 3 1 0,0 0 0 16,0-7 0-16,-2 0-6 0,-3 3-1 0,1 1 1 16,-1-3-1-16,-1 1-5 0,-7-2 0 0,4 0-1 15,2 3 2-15,3-3-5 0,2-2-1 0,2-2 0 16,0 2 2-16,0-5-5 0,0 1 1 0,0-1 0 0,0 3 0 16,0 2-3-16,-7-4 0 0,5 2-1 0,-1 6 2 15,3-4-3-15,-4 2 0 0,4 0 0 0,-7 3 0 16,7 1-2-16,-2 1-1 0,2 0 0 0,2-7 2 15,5 2 2-15,-3-2 2 0,-4 2-1 0,0-4 1 0,0-3 3 16,-4 1 0-16,4 4 0 0,-7-2 2 0,7 6-1 16,0-4 2-16,0 2-1 0,0-4 0 0,0 0 0 15,0-5-1-15,0 1 1 0,0-1 0 0,0 0-2 16,0-2 2-16,0 5-2 0,0-3 1 0,0 5-3 16,0-3 1-16,0 3-1 0,0-2 1 0,-2-1-2 15,0 3 0-15,-2 6 0 0,4-4 0 0,-5 3-3 0,5 3 1 16,0-6 0-16,0 3 0 0,0-4 0 0,0-1 1 15,0-2-2-15,0-1 2 0,0 1-1 0,0-1-1 16,-2 3 1-16,0 2 1 0,0 0-1 0,2 2 2 16,0-2 0-16,0-6 0 0,0 1-4 0,0 1 2 15,0-1-2-15,0-1 2 0,0-1-3 0,0-2 1 16,0 2-1-16,0-2 0 0,0-2-1 0,0 2 0 16,0 1 0-16,2-1 0 0,-2 0-1 0,0-2 1 0,2 2-1 15,0-5 1-15,-2 6-1 0,0 1 0 0,0 5 0 16,0 2 0-16,0 6 1 0,0 5-1 0,5-4 0 15,-5 0 0-15,0-10-1 0,0 3 1 0,0 0 0 16,-5-9 0-16,3-2-1 0,2-2 1 0,0 4 1 16,0 5-1-16,0-1-1 0,0 5 1 0,0 2 0 15,0-4 0-15,0 2 0 0,0 0 0 0,0 0 0 16,0-2 1-16,0-3-1 0,0 1 1 0,-2 0-1 0,0-10 1 16,-3 5-1-16,5-2 2 0,0-2-1 15,0 2 0-15,0 2 0 0,0-5 1 0,0 3-1 0,0 2 0 16,0-4-1-16,0 6 0 0,0 1 0 0,0 4 1 15,0 4-2-15,0 0 1 0,0-2 0 0,-6-2 0 16,1-5-1-16,5-2 1 0,0 0-1 0,0-4 1 0,0 2-1 16,0 0 0-16,0 0 0 0,0 4 0 0,0-2 0 15,0 5 0-15,0-5 0 0,2 0 0 0,-2 2-1 16,0 0 1-16,0 1-1 0,3-3 1 0,-3 0-5 16,0 0 2-16,0 0-1 0,0 0 0 0,0-2-7 15,0 2 1-15,0-4 0 0,0 2 0 0,0 0-8 0,0 2 1 16,0 2 0-16,2 0 0 0,-2-6-5 0,0 2-1 15,0-2 1-15,0-1-1 0,0 3-6 0,0-4 0 16,0 1 0-16,0 1 1 0,0 2 1 0,0-5 1 16,0 3-1-16,0 0 1 0,0-1-1 0,0 1 1 15,0 0-1-15,0 1 0 0,-2-3 3 0,-3 1 1 16,5-3-1-16,0-1 2 0,0 0-2 0,0 0 2 16,0 5-1-16,-4-5 1 0,4 3 3 0,-5-1-1 0,5 5 1 15,0-2 0-15,0 2-1 0,0 2 0 0,0 0 0 16,0-5 1-16,0 3 1 0,0 2 0 0,0-6 0 15,0 2 1-15,0-3 2 0,0 0 1 0,0 3-1 16,0 0 1-16,0 2 7 0,0-5 1 0,0 3 1 16,0 2-1-16,0-1 4 0,0 1 0 0,0 0-1 15,0 2 1-15,0-4 1 0,0 2 1 0,0-2-1 16,0-1 1-16,-4 3 0 0,4-4 0 0,0 1 0 16,0 1 0-16,0 0 0 0,0-1 0 0,0 5 0 15,0-6 0-15,0 1 0 0,0 3 0 0,0 2 0 0,0-4 1 16,0 2-1-16,0 2 1 0,-2-4-1 0,2 2 1 15,-2 2-1-15,2-5 0 0,-3 3 0 0,3-2 1 16,0 2-1-16,0 2 0 0,-4-4 0 0,4 1 0 0,0-3-1 16,0 2 0-16,0-1 0 0,0 3 0 0,0-5-4 15,0 3 2-15,-4 0-2 0,4 2 2 0,-3-3-6 16,1 3 0-16,-2-4 0 0,4 1 0 0,0 1-4 16,0 2 0-16,0-2 1 0,0 1 0 0,0-1-3 15,0 2 2-15,0-2-1 0,0 2 1 0,0-5-3 16,0 3 0-16,-3-3 1 0,3 3-1 0,-4-1 4 0,4 3-1 15,0-2 1-15,0 2-1 0,0-5 3 0,0 3 0 16,0-3 0-16,0 1 1 0,0 1 1 0,0-1 2 16,0-3-2-16,0 3 1 0,0 1 5 0,0-1 1 15,0 4 0-15,0-7-1 0,0 7 2 0,0-5 0 16,0 1 0-16,0 1 0 0,0 1 0 0,0 2 2 16,0-7-2-16,0 2 1 0,0 1-1 0,0-1 0 15,0-1 0-15,0 1 1 0,0 0-1 0,0 1 0 0,0-1 0 16,0 3 0-16,0-5 0 0,0 3 0 0,0-1 0 15,0 0 0-15,0-1-1 0,0 1 1 0,0 1 0 16,0-1 0-16,0 0-1 0,0 3 1 0,0-5 0 16,0 3 0-16,0-1-2 0,0 1 2 0,0-3 0 15,0 2 0-15,0 1-1 0,0-1 1 0,0 1 0 16,0 1 0-16,0-3-1 0,0 1 1 0,0 5 0 16,0-5 0-16,0 3-1 0,0 0 1 0,-4 6-1 15,4 0 1-15,-3 1-1 0,3-1 1 0,-4 0 0 0,4-2 0 16,-4-2 0-16,1 2 0 0,1 0 0 0,2 1 0 15,-2-1 0-15,2 0 0 0,0-7 0 0,0 1 0 16,0-1 0-16,0 3 0 0,0-3 0 0,0 3 0 16,0-1 0-16,0 3 0 0,0-4 0 0,0-1 0 15,0 3-1-15,0 0 0 0,0-3-1 0,0 0 2 0,0 1-7 16,0 2-1-16,0-3 0 0,0-2 0 0,0 7-3 16,0-4 0-16,0 1-1 0,0 1 1 0,0 2 1 15,0-5 1-15,0 3-1 0,0 0 1 0,0-1 1 16,0 1 0-16,0-3 0 0,0 3 2 0,0-3 0 0,0-1 0 15,0 1 1-15,0 0 0 0,0 1 1 0,0-1 1 16,0 3-2-16,0-5 2 0,0 3-1 0,0-1 1 16,0 1 0-16,0-1 0 0,0-4-92 0</inkml:trace>
  <inkml:trace contextRef="#ctx0" brushRef="#br0" timeOffset="3020.17">12245 10466 12 0,'0'0'0'0,"0"0"0"16,0 6 0-16,0-6 0 0,0 16 0 0,0-16 0 16,0 16 0-16,0-16 0 0,0 11 0 0,0-11 0 15,0 8 0-15,0-8 0 0,0 5 0 0,0-5 0 16,0 7 0-16,0-7 0 0,0 6 0 0,0-6 0 15,0 9 0-15,0-9 0 0,0 11 0 0,0-11 0 0,0 16 0 16,0-16 0-16,0 11 0 0,0-11 0 0,0 7 0 16,0-7 0-16,0 8 0 0,0-8 0 0,0 9 0 15,0-9 0-15,0 7 0 0,0-7 0 0,0 11 0 0,0-11 0 16,0 7 0-16,0-7 0 0,0 9 0 16,0-9 0-16,0 6 0 0,0-6 0 0,0 5 0 0,0-5-10 15</inkml:trace>
  <inkml:trace contextRef="#ctx0" brushRef="#br0" timeOffset="4936.54">13222 8594 138 0,'0'0'0'0,"0"0"0"16,9 0 0-16,-9 0 23 0,31 6 1 0,-31-6-1 15,20 9 2-15,-20-9 2 0,4 5 1 0,-4-5 0 0,0 6 0 16,0-6 23-16,0 9-1 0,0-9 1 0,0 7 0 16,0-7-19-16,0 4-1 0,0-4 0 0,0 3 2 15,0-3-12-15,0 4 1 0,0-4-1 0,0 5 1 0,0-5-12 16,0 4 1-16,0-4-1 0,0 4 0 0,0-4-8 15,0 7 1-15</inkml:trace>
  <inkml:trace contextRef="#ctx0" brushRef="#br0" timeOffset="5100.5">13231 8789 124 0,'0'5'0'16,"0"-5"0"-16,15 11 0 0,-15-11 1 0,31 15 0 16,-31-15 0-16,27 16 2 0,-27-16-4 0,9 11-1 0</inkml:trace>
  <inkml:trace contextRef="#ctx0" brushRef="#br0" timeOffset="8101.06">13273 8345 12 0,'4'2'0'0,"-4"-2"0"0,11 5 0 15,-11-5 53-15,25 9-1 0,-25-9 1 0,15 11 0 0,-15-11 39 16,0 15 0-16,0-15 0 0,2 27 1 0,-2-27 1 16,0 33 2-16,0-33-1 0,0 42 0 0,0-17-36 15,-2 2 0-15,-2-1 0 0,-1-4 0 0,1 3-15 16,2-7 1-16,-3 2-1 0,1 0 0 0,4-3-11 15,4 3 1-15,-4-4-2 0,5 2 2 0,-5 2-5 0,2 2 0 16,2-2 0-16,1-5 2 0,-1 1-10 0,0-5 1 16,1-4 1-16,1 1-1 0,-1-3-7 0,-3 2 1 15</inkml:trace>
  <inkml:trace contextRef="#ctx0" brushRef="#br0" timeOffset="8535.859">13277 9173 979 0,'0'16'0'0,"5"-3"0"15,1 1 0-15,5-3 19 0,5 0 0 0,-3 0 0 16,-11 4 2-16,-4 5 2 0,-2 3 1 0,-1-3-1 16,1-3 1-16,4-1-8 0,-2-3-1 0,2 1 1 15,-5-1 0-15,5 0-11 0,-4 1 1 0,2-3 0 16,-1 0-1-16,1 0-3 0,2-2 2 0,-7 2-1 16,7-2 0-16,0 8 1 0,0-1 0 0,0 0 1 15,0-1-1-15,0-4 2 0,0 5 0 0,0-5-1 0,0 9 2 16,0 6 0-16,0 1-1 0,0 2 1 15,0 0 1-15,0-2-2 0,0-1-1 0,0 5 1 0,0-4 1 16,-2 0-4-16,-2-1 1 0,2-1 0 0,2-3 0 16,2-4-2-16,0-3 2 0,0 1-1 0,0-5 1 15,-2 0-2-15,0 2 1 0,0-2 1 0,7 5-1 16,-5 2-1-16,3-1 2 0,-1 1-1 0,-4-2 0 0,5 1 1 16,-5 1-1-16,2 0 0 0,2 2 1 0,1 7 0 15,-1-5 2-15,-4 2-2 0,2-2 2 0,0 5 1 16,1 4-1-16,-1-4 1 0,0-1 1 0,2-3 0 15,-4 1 0-15,5-2 0 0,-5 1-1 0,2-3 1 0,-2-5 1 16,4 1 0-16,1-5 0 0,-5 4-1 0,4-4 1 16,-4 5 0-16,5 2 0 0,-3-1 3 0,2 6 1 15,-4-8-1-15,5 1 1 0,-5-3 7 0,0 0-1 16,0-6 0-16,0 2 0 0,0-5-4 0,2 3 2 16,-2-3-1-16,2-1 1 0,-2-1-4 0,0 0 2 15,0-2 0-15,0-2-1 0,0 0-3 0,0 2 1 0</inkml:trace>
  <inkml:trace contextRef="#ctx0" brushRef="#br0" timeOffset="9017.83">11341 8905 1054 0,'0'0'0'0,"0"0"0"0,13 4 0 0,-13-4 19 0,31 11 2 16,-31-11-2-16,24 2 1 0,-24-2 2 15,0 3 2-15,0-3-1 0,-4 0 1 0,4 0-6 0,4 0 1 16,-4 0 0-16,5 11 0 0,-5-11-12 0,20 15 0 16,-20-15-1-16,37 23 1 0,-10-8-6 0,6 1 2 15,-7-1-1-15,5-4 0 0,-2 0 3 0,-1-2-1 0,1-2 0 16,-5 0 2-16,3 1 1 0,-1-3 1 0,1 2 0 15,1-3-1-15,-1-2 2 0,4 0 0 0,-5 1 0 16,5 1 0-16,2-4 1 0,0 5 2 0,-2-5-2 16,-2 2 1-16,-5 2 0 0,2 1 2 0,-10-1-2 15,4 1 1-15,-9 1-2 0,-2-4 1 0,-3 3 1 16,-4-1-1-16,3 3-3 0,-1 2 0 0,-2-7-1 16,-2 2 2-16,7-1-3 0,-7-1 1 0</inkml:trace>
  <inkml:trace contextRef="#ctx0" brushRef="#br0" timeOffset="9351.53">11824 8825 967 0,'0'0'0'0,"0"0"0"0,4 6 0 0,-4-6 18 15,9 16 1-15,-9-16 0 0,5 4 0 0,-5-4 9 16,6 5 1-16,-6-5 0 0,5 6 1 0,-5-6 11 0,4 3 2 15,-4-3-2-15,26 6 2 0,1 1-11 0,8 4 1 16,-4-6 0-16,4-1 0 0,-4-2-1 0,-9 3-1 16,11 1 0-16,-6 3 1 0,2 2-6 0,-1 5 0 15,1-5-1-15,-7 5 1 0,-2-1-7 0,-3 3 0 16,5 2 0-16,-8 0 0 0,-1 2-4 0,-2 2 1 16,2 3-2-16,-2 0 2 0,-4-1-7 0,2 1 0 15,-9 0 0-15,0-5 0 0,-5-2-1 0,-1 0 0 0,-3 2 0 16,2-6 1-16,-6-1 2 0,-2 1 0 0,-5-5 0 15,2 4 2-15,-2-4-1 0,-6-2 0 0,1 0 1 16,1 0-1-16,-2-4-2 0,-1-5 0 0,-1 0 0 16,6 0 1-16,-3-5-8 0,5-2 0 0</inkml:trace>
  <inkml:trace contextRef="#ctx0" brushRef="#br0" timeOffset="9918.01">13421 9120 1143 0,'0'0'0'0,"0"0"0"16,-5 0 0-16,5 0 13 0,-4 0 2 0,4 0 0 16,0 0-1-16,0 0 17 0,0 0 0 0,0 0 0 15,2 0 1-15,-2 0-10 0,7-2 2 0,-7 2-1 16,2 0 1-16,-2 0-18 0,6-2 0 0,-6 2 1 15,31-5 0-15,-9 5 2 0,7 0 0 0,2 0 0 16,-5 0 1-16,1 5 4 0,1-3 2 0,3 2-1 16,0 1 0-16,5-1 3 0,-3 1 1 0,-3-3-1 0,-1 2 1 15,-2-4 6-15,-3-4 0 0,-4 4 0 0,0 0-1 16,-3 0 0-16,-4 0 0 0,-2 4 1 0,-6-4 0 16,1 5-5-16,-6-5 0 0,5 2 0 0,-3 0 1 0,3 0-5 15,-1 3 2-15,0-5 0 0,1 2 0 0,-1 0-9 16,3 0 0-16</inkml:trace>
  <inkml:trace contextRef="#ctx0" brushRef="#br0" timeOffset="10368.04">13599 8798 1344 0,'0'2'0'0,"0"-2"0"16,0 14 0-16,0-14 19 0,0 11 1 0,0-11-1 16,0 18 1-16,0-18 11 0,-11 13 0 0,11-13 1 15,-4 13-1-15,4-13-15 0,-9 13-1 0,9-13 1 16,-11 16 0-16,11-16-13 0,-22 22 1 0,22-22-1 15,-24 34 0-15,24-34-2 0,-22 42 2 0,22-42-1 16,-16 35 0-16,16-35 2 0,-9 27 0 0,9-27 1 16,-11 20-1-16,11-20 9 0,-9 22 2 0,9-22 0 0,-4 18-1 15,4-18 5-15,-2 29 0 0,2-29 0 0,0 26 2 16,0-26-1-16,0 23 1 0,0-23-1 0,2 15 2 16,-2-15-1-16,4 11 1 0,-4-11 0 0,5 9 0 15,-5-9 0-15,9 13 0 0,-9-13-1 0,11 25 2 0,-11-25-5 16,26 20 1-16,-26-20 0 0,35 22 0 0,-35-22-2 15,38 22 0-15,-18-11-1 0,0-2 1 0,0 0-3 16,-5-2 0-16,-2 4 0 0,5-4 0 0,-3 1 1 16,-8-3 0-16,-1 2-1 0,1-1 2 0,0-1-3 0,2-1 2 15,-5-4 0-15,-4 5-1 0,4-5-4 0,-1 2 0 16</inkml:trace>
  <inkml:trace contextRef="#ctx0" brushRef="#br0" timeOffset="20919.7">20709 7532 12 0,'0'0'0'0,"0"0"0"16,2 14 0-16,-2-14 41 0,14 20 2 0,-14-20 0 16,11 20-1-16,-11-20 17 0,6 11-1 0,-6-11 0 15,3 9 2-15,-3-9-40 0,0 11 0 0</inkml:trace>
  <inkml:trace contextRef="#ctx0" brushRef="#br0" timeOffset="21136.309">20674 8092 12 0,'0'11'0'0,"0"-11"0"0,-4 22 0 0,4-22 0 16,8 11 0-16,-8-11 0 0,5 9 0 0,-5-9 0 15,0 18 0-15,0-18 0 0,0 16 0 0,0-16 0 16,0 8 0-16,0-8 0 0,0 9 0 0,0-9 1 0,0 18 0 16,0-18 0-16,0 25 0 0,0-25 5 0,-7 26 0 15,7-26-1-15,-6 29 2 0,6-29 36 0,0 36 0 16,0-36 0-16,0 31 1 0,0-31 10 0,-3 29-1 16</inkml:trace>
  <inkml:trace contextRef="#ctx0" brushRef="#br0" timeOffset="21436.76">20643 8660 225 0,'0'7'0'0,"0"-7"0"16,0 18 0-16,0-18 20 0,7 18 2 0,-7-18-1 15,8 24 0-15,-8-24-7 0,5 27 0 0,-5-27 0 16,4 24 0-16,-4-24-10 0,7 22 0 0,-7-22 1 16,4 29-1-16,-4-29-4 0,5 36 0 0,-5-36 0 15,0 33 0-15,0-33-1 0,6 33 1 0,-6-33 0 16,0 36 0-16,0-36 0 0,0 42 0 0,0-20 0 15,0 5 0-15,0-3 0 0,0 5 0 0,0 2 0 16,0-6 0-16,-4-1 1 0,0 1 1 0,1-3 1 16,3-2-1-16,0-5 5 0,0-4 0 0,0 1 1 0,0-6 0 15,3 3 0-15,-1-2 1 0,0 2 0 0,2 6 0 16,-4 1-7-16,3-1 2 0,-1 3-1 0,-2-2 0 16,0-1-4-16,0 3 1 0,0 2-1 0,0 0 1 0,4 2-21 15,-2 0-1-15,-2 3 1 0,0-5 0 0,0 2 1 16,0-2-1-16,0 2 1 0,0-4 1 0,0-18-206 15</inkml:trace>
  <inkml:trace contextRef="#ctx0" brushRef="#br0" timeOffset="21506.53">20658 10033 12 0,'-6'31'0'0,"4"-5"0"0,2-8 0 0,0-18-10 0</inkml:trace>
  <inkml:trace contextRef="#ctx0" brushRef="#br0" timeOffset="21617.01">20678 10215 12 0,'0'9'0'0,"0"-3"0"0,0 3 0 0,0-7 0 0,0 3 0 16,0-1 0-16,0 3 0 0,3 4 2 0,1 2 1 15,0 3 1-15,-4-3-1 0,0 1 47 0,0-3 0 16,0-2 1-16,0 2-1 0,0 0 24 0,0 0 0 0,3-2 0 16,-1-3 1-16,-2 1-11 0,4-2 0 0,-4-1 0 15,2-4 1-15,-2 2-25 0,0-2-1 0</inkml:trace>
  <inkml:trace contextRef="#ctx0" brushRef="#br0" timeOffset="22069.649">19781 9264 803 0,'0'5'0'0,"0"-5"0"0,4 11 0 0,-4-11 11 15,16 16 2-15,-16-16-1 0,8 8 0 0,-8-8 7 0,0 3 2 16,0-3-1-16,0 0 0 0,0 0 10 16,0 0 1-16,0 0-1 0,7 0 1 0,-7 0-3 0,9 0 1 15,-9 0 0-15,37 4 0 0,-1 0 16 0,1 3-1 16,1-2 1-16,-3-3 0 0,-2 2 16 0,-2 1 1 15,-5-1-1-15,3-4 1 0,2 2-8 0,-7 1 0 16,3-1 0-16,-1-2 1 0,-2-2-6 0,-4-1 1 16,7 3 0-16,6 0 0 0,2 0-6 0,5 0 1 0,-1 3 0 15,3 3 0-15,-2-6-10 0,2 5 0 0,-9-5 0 16,0 0 1-16,-11 0-8 0,-2 0 1 0,-5 0 1 16,-1 0-1-16,-10 0-8 0,3 0 2 0,-7 0-1 15,2 0 0-15,0 2-5 0,-2 2 0 0,4 1 0 16,-1-5 0-16,-3 0-6 0,0 0 0 0,0 0 0 15,0 0 1-15,0 0-6 0,0 0 2 0</inkml:trace>
  <inkml:trace contextRef="#ctx0" brushRef="#br0" timeOffset="22396.62">20469 9053 1721 0,'4'0'0'0,"-4"0"0"0,9 5 0 0,-9-5 38 0,16 4 0 16,-16-4 0-16,19 0 1 0,-19 0 19 0,29 7 1 15,-29-7 1-15,33 20-1 0,-11-9-22 0,-2 0 2 16,2 5-2-16,-4-1 1 0,-5 1-26 0,-2-1 2 15,-2 1-2-15,2-1 1 0,-7 1-6 0,3 0 1 16,2-5 0-16,-5 2 0 0,0 0-3 0,-1 1 1 16,1 1-1-16,-4 3 2 0,-4 4-2 0,-3-4-1 15,3 2 1-15,-7 0-1 0,-3 2-2 0,-1-4 2 0,-5 2-2 16,0 0 1-16,-4 0-1 0,0 2 0 0,-1-4-1 16,6-5 1-16,-1-6-2 0,0-3 1 0</inkml:trace>
  <inkml:trace contextRef="#ctx0" brushRef="#br0" timeOffset="23136.58">21210 8330 992 0,'0'0'0'16,"0"0"0"-16,9 4 0 0,-9-4 22 0,11 7 2 0,-11-7-2 15,13 4 2-15,-13-4 13 0,2 0 0 16,-2 0 0-16,2 0 0 0,-2 0-16 0,5 0 0 0,-5 0 1 16,4 0 0-16,-4 0-14 0,2 7 0 0,-2-7 0 15,0 9 1-15,0-9-6 0,0 11 0 0,0-11 1 16,7 15-1-16,-7-15-3 0,4 16 1 0,-4-16-1 15,7 18 1-15,-7-18-2 0,7 26 1 0,-7-26 0 16,4 27 0-16,-4-27-10 0,4 27 1 0,-4-27 0 16,7 28 0-16,-7-28-29 0,9 27 1 0,-9-27-1 15,4 33 1-15,-4-33-29 0,0 38 1 0,0-13-1 16,0 1 1-16,0-4-13 0,0 3 0 0,-4 1 1 0,4-3-1 16,-5 1 28-16,3-2-1 0,0 1 1 0,2-1 1 15,-4 2 22-15,4-2 0 0,-3 3 0 0,3-5 1 16,0 2 28-16,0-4 2 0,3 6-2 0,-3-2 1 0,4 5 38 15,-4 4-1-15,2-4 0 0,0-1 1 0,3-1 23 16,-5-1 0-16,0 1 0 0,4-5 0 0,-2 2-10 16,1 0-1-16,-3 2 1 0,0-6 1 0,0 2-14 15,0-4 0-15,0-1 1 0,0 3-1 0,0-2-9 16,0-1-1-16,0 5 0 0,0 2 1 0,0 3-5 16,0 1 0-16,0 1 0 0,0 0 0 0,0-9-5 15,0 1 1-15,0 1-1 0,0 0 2 0,-3 3-3 0,-3-6 1 16,6 8 1-16,0-3-1 0,0 2-4 0,0 3 1 15,0 0 0-15,0-5 0 0,0-6-3 0,0-1 1 16,0-8 0-16,0 2 0 0,0-5-4 0,4 3 2 16,-4-7-2-16,2 2 2 0,-2 0-5 0,0 0 1 0,0 1 0 15,0-1 0-15,0 2-4 0,0-4 0 16,0 2 0-16,0-2-1 0,0-2-2 0,0 2-1 0</inkml:trace>
  <inkml:trace contextRef="#ctx0" brushRef="#br0" timeOffset="23469.96">21391 9342 1155 0,'0'-4'0'0,"0"4"0"0,6 4 0 16,-6-4 15-16,11 0 0 0,-11 0-1 0,16 0 1 15,-16 0 14-15,2-4 0 0,-2 4 0 0,13-7 2 0,-13 7 9 16,31-9 1-16,-9 5 1 0,5 1 0 0,6-5-13 16,6 1 0-16,-1 3 0 0,-3-3 1 0,-2 7 4 15,0 0 0-15,-6 0-1 0,-1 0 2 0,-4 2-2 16,-4 3-1-16,2-1 1 0,-3-2 0 0,3 3-5 16,0-1 1-16,0 0-1 0,2 1 1 0,0 2 0 0,5-5 1 15,-5 0-1-15,2-2 2 0,-2-4-5 0,-2-1 0 16,0 1 0-16,2-3 1 0,0 0-4 0,0 3-1 15,-7-5 1-15,5 2 0 0,-5 1-12 0,1 1 2 16,-5 1-2-16,-2-1 1 0,-5 3-7 0,7 0-1 16</inkml:trace>
  <inkml:trace contextRef="#ctx0" brushRef="#br0" timeOffset="23970.87">21823 8871 1470 0,'0'0'0'0,"0"0"0"0,-4 7 0 15,4-7 30-15,0 0 1 0,0 0 1 0,0 0-1 16,0 0 4-16,0 0 0 0,0 0-1 0,0 4 2 16,0-4-13-16,0 7-1 0,0-7 1 0,-3 5-1 0,3-5-14 15,-11 11 0-15,11-11 0 0,-13 26 0 0,13-26 5 16,-20 43 2-16,9-23-1 0,-4 2 1 0,-1-5 8 16,1 1 1-16,-5-2 0 0,5 2 0 0,-10 2 7 15,1-5-1-15,0 1 0 0,0-1 2 0,4 1-4 16,0 1 0-16,0-1 0 0,7-5 1 15,0-2-6-15,2-2 2 0,-1-3 0 0,8 1 0 0,-3 1-8 0,1 1 1 16,-1 2 0-16,3 2 0 0,-3-4-3 0,7 4 0 16,-4 2-1-16,-1-2 1 0,1 0-3 0,4 0 0 15,0-2 1-15,4 2-1 0,1-6-2 0,-1 1 1 16,1 3 1-16,8 2-1 0,4 5 0 0,3-3 0 0,5 3 0 16,1-5 2-16,5-2-3 0,0-3 1 0,4 3-1 15,-4 2 1-15,-5 3 2 0,-1-1-1 16,-3 0 1-16,-7 1 0 0,-2-1-2 0,5 0 2 0,-11-2-1 15,6 3 0-15,-11-8-2 0,0-1 2 0,3 4-1 16,1 0 0-16,-1-3-3 0,1 1 0 0</inkml:trace>
  <inkml:trace contextRef="#ctx0" brushRef="#br0" timeOffset="65726.08">21444 13786 1030 0,'-5'0'0'15,"5"0"0"-15,-15 4 0 0,15-4 23 0,-29 9 2 16,29-9-2-16,-37 11 2 0,12-11 16 0,-1-2 0 15,2 2-1-15,-3 0 2 0,-2 0 13 0,-4-2 0 0,3 2 0 16,-8-5 0-16,3 1-27 0,-3-1 1 0,1-1-1 16,-5-3 1-16,-2 0-13 0,-3-2 1 0,-3 2 0 15,3-5 0-15,-10 1-3 0,2-2 2 0,-5 3-1 16,1 1 0-16,-1 2-1 0,-6 1-1 0,-2-3 1 16,4-1 0-16,2 6-3 0,-4-5 2 0,0 2-1 15,0 0 0-15,-3 0 0 0,1 5-1 0,0-5 0 16,1 2 0-16,1 0-2 0,0 3 0 0,-2 2 0 15,-5-1 1-15,5-1 3 0,-10 0-1 0,3 1 0 16,5-3 1-16,1 1 0 0,-3 1 2 0,-1-1-1 16,0 1 1-16,3-3 2 0,-3 1 1 0,0 1-1 0,-2-6 1 15,2 2 3-15,0-2 0 0,-2 2 1 0,-2 0-1 16,-2 3-2-16,4 3 0 0,0-1 0 0,-4 2 0 0,-1 0-1 16,-1 2 1-16,-1 2-1 0,3 0 1 0,-3 2-4 15,-2-4 1-15,-2 3-1 0,-4-1 1 0,6 0-3 16,-2 0 2-16,0 5 0 0,0-5-1 0,2 0-1 15,-4 1-1-15,4 1 0 0,0 3 2 0,3 2-4 16,-1 0 0-16,0-1 0 0,-1 4 0 0,3 1-2 16,1 2 1-16,2-4-1 0,-3 5 1 0,-1 6-1 0,-3 3-1 15,0 4 1-15,-2-1 1 0,0 1-2 0,0 7 1 16,2-1-1-16,-2 1 0 0,-2-1-1 0,6 1 1 16,1 2 0-16,-1-1-1 0,-4 1 1 0,5-2 0 15,-1 1-1-15,7 1 2 0,7 2-2 0,6-4 1 16,2 1-2-16,1 1 2 0,-1 0-1 0,5-3-1 0,2 1 1 15,3-3 1-15,3 1-2 0,8-1 1 0,-1 0-1 16,0 1 1-16,7 1-1 0,-2-4 0 0,6 0 1 16,5-2-1-16,6-2 4 0,1-3 0 0,12-6 0 15,5 6 0-15,2-4 1 0,12 3 2 0,3-6-2 16,12-3 1-16,6-3-1 0,11 0 1 0,5-7-1 16,11 1 2-16,15-3-3 0,11 2 0 0,7-8-1 15,7-3 3-15,6-2-7 0,13-4 2 0,2 4-2 16,5-2 2-16,0 7-4 0,-4 4 0 0,8-7 1 15,5 0 0-15,-5 1-3 0,7-1 1 0,7-4 0 16,4 2 0-16,-3 2-1 0,8 3 0 0,6-3 0 16,0-2 0-16,6-2-2 0,5 0 0 0,0 0 0 0,9 2-1 15,-2 3-7-15,-5 1 1 0,5-2-1 0,-5-1 1 0,2-4-5 16,-1-1-1-16,-1 4 0 0,-11-2 2 0,2 2 1 16,-6 0 0-16,-4-2 1 0,-5-2 0 0,-9 0 3 15,-2-1 0-15,-9 5 0 0,-2-2 2 0,-9 0 1 16,4 0 1-16,-15 2-1 0,3-6 1 0,-3 1 0 15,-7 1 2-15,-4 0 0 0,0-1 0 0,0-1 0 16,-4-1 1-16,-7 1 0 0,-2 4 0 0,2-5 0 16,-7-2 1-16,-4 1-1 0,2-1 1 0,-6-2-1 0,-5 0 0 15,-7 2-1-15,-3-6 2 0,-12-1-1 0,-7 1 1 16,-8-3-1-16,-5 1 1 0,-13-6-1 0,-4 1 1 16,-7 0 0-16,-2-2 0 0,-12-7 0 0,-6 2 0 15,-8 0 0-15,-3 1 0 0,-18-5 0 0,1-5 1 16,-12 0 0-16,3 1 0 0,-9-5 1 0,-5-1 0 15,-2 4 0-15,-8 3 0 0,-1 7 2 0,-6 1-1 0,-7 6 0 16,-6 8 1-16,-14 8-1 0,0-1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2:02:08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15666 3129 1130 0,'-9'4'0'0,"9"-4"0"15,-16 11 0-15,16-11 18 0,-11 20 1 0,11-20-1 16,-31 12 1-16,7-12 20 0,-2 4 1 0,-5-4 0 15,-4-4 0-15,-3-1-7 0,-2-2 0 0,-4-1 0 16,5 1 0-16,-3-4-12 0,0-5 0 0,-7 5 0 16,1 0 1-16,-5-2-9 0,-2 2 2 0,-5-5-2 15,-2 5 2-15,-8 0-5 0,1 0 0 0,-10 2 0 16,2-2 1-16,-7 4 6 0,-4-2 1 0,2 3 0 16,-5-3 0-16,-1 2-6 0,1-4 1 0,-1 7-1 0,-5-1 0 15,-7 1-2-15,0 1 0 0,5-5 1 0,-2 1 0 16,-3-2-3-16,3-2 1 0,-1 4 0 0,-4-4 0 15,3 2-2-15,-5 3 1 0,2 1 0 0,-9-6 1 16,5 2 0-16,-3 2 0 0,-1-4 0 0,6 2 1 0,4 3 4 16,3 1 0-16,-3 1 1 0,2-3-1 0,-6 3 9 15,7-3-1-15,-1 3 1 0,-6-1 0 0,0-1 3 16,-2 1 0-16,-2 1 0 0,-1-1 0 0,1 3-2 0,-1-2 1 16,1 4 0-16,1 0 0 0,1 0-4 15,0 0 0-15,-3 0-1 0,1 4 1 0,4-2-1 0,-9 7-1 16,0-4 0-16,0 1 1 0,3-1-3 0,1-1 0 15,-4-2-1-15,5 3 1 0,-5-5-3 0,-2 4 0 16,0-4 0-16,-3 5 0 0,1 1-1 0,2-1-1 16,0 1 0-16,-2-6 1 0,6 5-4 0,-2-1 1 15,0-1 0-15,-2 5 0 0,2-3-2 0,-6 2 0 16,1-3 0-16,1 7 0 0,-2-4-1 0,-5 2 0 0,6 2 0 16,-8-5 1-16,9 3-4 0,-7 2 2 0,5-2-1 15,4 5 1-15,-3-1-2 0,8-2 2 0,-3 0-2 16,0 0 2-16,2-2-3 0,3-2 2 0,1 2-2 15,3-3 2-15,0 1-2 0,-4 2 2 0,2-5-2 16,1 3 1-16,1 2 0 0,-4 2-1 0,6-4 1 16,-2-3-1-16,0 3 0 0,2 2 1 0,5-5-1 15,-1 3 0-15,5-3-1 0,5-4 0 0,-5 7-1 16,-1-3 1-16,6 1-2 0,-3-3 1 0,7 2 0 16,0 1 1-16,-1-3-2 0,6 0 1 0,1 0 0 0,0 3 0 15,10-5-1-15,1-5 1 0,-2 5 0 0,-2 5 0 16,0-1 0-16,-2-1 1 0,4 1-1 0,1 0 0 15,5 8 0-15,1-4 1 0,0 6-1 0,0-1 1 16,-11 0 0-16,4 3-1 0,5 4 0 0,-1 2 1 0,5 3-1 16,0 1 1-16,5 1 1 0,-7 0-1 0,4-1 0 15,-2-1 0-15,7 3 1 0,4-1-1 0,2 0 0 16,5-3 0-16,-1 3 1 0,8-1 0 0,-1 1-1 16,7-5 1-16,2 3-1 0,2-3 1 0,3 0-1 0,2-2 2 15,2 0-2-15,2-2 1 0,4 6 0 0,1-1-1 16,4 1 0-16,2-2 0 0,0 5-1 0,7-1 2 15,2 1-1-15,7-5 0 0,-3 3-1 0,0 1 2 16,7-3-2-16,5 1 1 0,-1 3-1 0,1-10 0 16,4 8 0-16,-3 2 2 0,7-8-2 0,1 4 1 15,-1-1-1-15,9 0 1 0,2-2-1 0,5 0 2 0,2-4-2 16,4-1 1-16,-2-2-1 0,9 1 1 0,2 1 1 16,1 1-1-16,5-1 0 0,3 3 0 0,7-7 1 15,-1 3-1-15,3-1 0 0,2-4 0 0,7 2 1 16,-1 0 0-16,1 5 1 0,0-5 1 0,-1 2-1 15,3 0 1-15,6 3 0 0,-4 4 1 0,3-5 0 16,1-3-1-16,3-1 1 0,-7 0 0 0,4 0-1 16,7-2 1-16,2 2-1 0,3 0 2 0,-3-2 0 15,9-3 0-15,0 3-3 0,7-2 2 0,-5-3-1 16,3 3 1-16,1 2-2 0,3-5 2 0,-7 3-2 16,-2 0 2-16,0 2-3 0,1-5 2 0,1 3-2 0,-2-1 2 15,-7 3-2-15,3-4 2 0,2 1-2 0,2-1 2 16,0 1-2-16,2-1 1 0,-2 2 0 0,5 1 0 15,-5-1 0-15,0 4-1 0,7 3 0 0,-3-8 1 16,1 3-2-16,-1 2 1 0,5-4 0 0,-2 2 0 0,1 2-1 16,1-4 2-16,5 1-1 0,1-3 0 0,1 2 0 15,6-1 0-15,-2 3 0 0,0-5 1 0,-1 3-2 16,6 0 1-16,-5 2-1 0,4-5 2 0,-4 7-2 16,4-4 0-16,7 2 1 0,-2-3-1 0,2 3-1 0,-2 2 1 15,1-4 0-15,1 2 1 0,3-5-2 16,-4 3 1-16,-1 0-1 0,2 2 1 0,2-5 0 0,3 3-1 15,-1-3 0-15,0-4 1 0,1 0-1 0,-3-4 1 16,4 4-1-16,3-5 2 0,4 3-2 0,-2-2 1 16,7-3 0-16,-9 3 1 0,-1-1-2 0,1 1 1 15,4-3 0-15,-2 3 0 0,-2-3 0 0,4-2 0 16,-4 2-1-16,0 3 1 0,-1-7-1 0,8 2 2 0,-7 2-1 16,-5-2 0-16,5 7-1 0,-5 2 1 0,-6-4 0 15,-1-3 0-15,-3 3-1 0,4-1 0 0,-5 1 0 16,5 1 1-16,-5-1-1 0,0 4 1 0,-4-4-1 15,0-1 1-15,-4 3-2 0,-1-2 1 0,-2-1 0 16,-4 3 0-16,-2 0-1 0,2-1 1 0,-7 3-1 16,-6 0 2-16,2 0-2 0,-5 0 1 0,-4 0-1 15,-4-4 1-15,-3 4-1 0,-2-4 1 0,-2 1-1 16,0 3 1-16,-2-4-1 0,-2 4 1 0,-7-5-1 16,-3 3 1-16,-10-2-1 0,-4-1 0 0,-8 1 0 15,-3-3 1-15,-8 3-1 0,-3-7 0 0,-6 2 0 0,-5 2 2 16,-5-4-2-16,-7 2 0 0,-4-2 0 0,-3 0 1 15,-4 0-1-15,-2 0 0 0,-4-5 0 0,0-8 1 0,-10-5-1 16,1-7 0-16,-2-1 0 0,-1-6 1 0,-4-3-1 16,-4-1 1-16,0 5-1 0,-3 0 1 0,-1-3-1 15,-1-1 1-15,-8 4-1 0,-1-5 1 0,-4-2-1 16,0 2 2-16,-11-1-1 0,5 1 0 0,-7-4-1 16,-3 2 1-16,-3-2 0 0,-10 7 0 0,-2 1-1 15,-2 6 1-15,-2-3-1 0,-9 2 1 0,0-4-1 0,-9 4 2 16,-2 2-2-16,0 3 1 0,-2-2-1 0,-2-1 0 15,-8 7 0-15,-5 5 1 0,-3 2-1 0,0-1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2:04:45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12342 17469 150 0,'0'0'0'0,"0"0"0"16,0 7 0-16,0-7 98 0,0 7 0 0,0-7 1 15,0 4 0-15,0-4-4 0,0 0 1 0,0 0-1 16,0 0 1-16,0 0 10 0,0 0-1 0,0 0 1 0,0 0-1 15,0 0-60-15,0 7 1 0,0-7 0 0,0 7 0 16,0-7-15-16,-9 4 0 0,9-4 0 0,-6 4 1 0,6-4 0 16,-5 5 1-16,5-5-1 0,0 4 2 15,0-4-4-15,0 5 1 0,0-5-1 0,0 4 1 0,0-4-4 16,0 5 0-16,0-5 0 0,0 11 0 0,0-11-2 16,0 15 1-16,0-15-2 0,0 14 2 0,0-14-4 15,0 22 0-15,0-22 0 0,0 24 1 0,0-24-3 0,0 25 0 16,0-25 0-16,0 31 1 0,0-31-5 0,0 22 2 15,0-22-1-15,0 20 1 0,0-20-2 0,0 13 0 16,0-13-1-16,0 16 2 0,0-16-3 0,0 22-1 16,0-22 1-16,0 22-1 0,0-22-3 0,0 22 1 15,0-22-1-15,5 32 2 0,-5-32-4 0,2 31 1 16,-2-31 0-16,0 31-1 0,0-31-1 0,0 31 1 16,0-31-1-16,0 31 1 0,0-31-3 0,0 31 2 0,0-31 0 15,0 29-1-15,0-29 1 0,0 24 0 0,0-24 0 16,0 22 1-16,0-22 1 0,0 20 1 0,0-20-1 15,0 18 1-15,0-18-1 0,0 20 1 0,0-20-1 16,-4 25 1-16,4-25-1 0,-7 29 1 0,7-29 0 16,0 33 0-16,0-33-1 0,0 26 1 0,0-26-1 15,0 27 1-15,0-27-1 0,-4 22 0 0,4-22 0 16,-9 20 1-16,9-20-1 0,0 18 0 0,0-18 0 16,0 18 1-16,0-18 0 0,-3 20 1 0,3-20-1 15,-8 24 1-15,8-24 0 0,-7 18 0 0,7-18 1 16,-9 13-1-16,9-13-1 0,-9 14 1 0,9-14 0 15,-4 11 1-15,4-11-2 0,-4 6 0 0,4-6 0 0,0 5 1 16,0-5-3-16,0 0 1 0,0 0 0 0,0 0 0 0,0 0-4 16,4 0 2-16</inkml:trace>
  <inkml:trace contextRef="#ctx0" brushRef="#br0" timeOffset="1983.28">3124 17658 12 0,'-5'-2'0'0,"5"2"0"0,-15 0 0 0,15 0 7 0,-15-2-1 16,15 2 1-16,-16 0 1 0,16 0 67 0,-9 0 1 16,9 0 0-16,-2 0 0 0,2 0 43 0,-4 0 0 15,4 0 0-15,-7 0 0 0,7 0-63 0,0 0 0 16,0 0 0-16,7-2 0 0,-7 2-5 0,4-5-1 15,-4 5 1-15,27-18-1 0,-3 3-8 0,2-3 0 0,1 5 0 16,1 2 0-16,-5 2-18 0,-4 2 0 0,1 3-1 16,2-1 1-16,3 1-9 0,-1-1 1 0,-2 1 0 15,2-1 1-15,3 3-2 0,-3 0 1 0,-2 0 0 16,4 2 0-16,3 2-1 0,-3 0 1 0,3 0 0 16,2 1 0-16,2-3-1 0,0-3 0 0,2 3-1 15,7 0 2-15,-4-4 0 0,2 0-1 0,-3 1 1 16,7 3 1-16,-4 0 3 0,2 0 0 0,0 0 1 15,0 3-1-15,2 1-1 0,-5 0 0 0,3 1 0 16,0-1 1-16,-2 1 8 0,0-1 0 0,-3 5 0 16,3 2 0-16,-3 3-4 0,-2-1 1 0,1 0-1 0,3 0 1 15,-1 3 0-15,-1-5 1 0,3 2-1 0,4-1 1 0,-2-1-7 16,2-2 0-16,3 2 0 0,-6 2 0 0,6 3-2 16,4-1 0-16,-5 1 0 0,-2-5 0 0,4 0-3 15,1-2 2-15,-3 2 0 0,7-2-1 0,-2 0-4 16,2-1-1-16,0 1 0 0,-2 0 1 0,-5 0-3 15,5-2 1-15,-3-1 0 0,3 1 0 0,-3 0-1 0,5-1 0 16,-2 1-1-16,0 0 2 0,-1-1-2 0,1 1 1 16,0 0-1-16,-3-1 1 0,3-3-3 0,-2 1 2 15,-1-2 0-15,3 0-1 0,4 1 0 0,-4-3 0 16,-1 0-1-16,8 0 2 0,-8 0-3 0,6 0 1 16,-3 0-1-16,2-3 2 0,-2 1-2 0,6-2 2 15,-4 2 0-15,3-1-1 0,-8-1 0 0,3 2 0 0,7 2 0 16,-12 0 1-16,5 0-2 0,-2 0 2 0,0 2-2 15,-1 2 2-15,-1-1-2 0,-3-1 1 0,-2 0-1 16,7 0 2-16,-5 0-2 0,5 1 1 0,-5-1-1 16,1 0 2-16,-1 0-3 0,0 1 2 0,-2-3-2 15,3-3 2-15,-5-1-2 0,-3-1 1 0,3 1 0 16,5 0 0-16,1 1 0 0,5-3 0 0,-2 1 0 16,-1 1 0-16,1-1-1 0,0 1 1 0,2 2-1 15,-7-1 0-15,5-1 0 0,0 0 0 0,-5 1-1 16,5 1 2-16,-5 2-2 0,2 0 1 0,1 0 1 15,-3 2-1-15,-2 1-1 0,3-1 2 0,-8 0-1 16,6 0 0-16,-1 0 0 0,-9 1 0 0,11-1-1 0,-6 0 2 16,2-2-2-16,4-2 0 0,-6 2 0 0,0 0 1 0,8 0-2 15,-6 2 1-15,0 0 0 0,2-2 0 0,-4-2 1 16,2 0-1-16,-3 0 0 0,3-1 0 0,0 3 0 16,2 0 0-16,-4 0 0 0,2 0 0 0,-3 0-1 15,3 3 2-15,-2 1-2 0,-2-2 1 0,1-2-1 16,3 0 0-16,-2 0 0 0,-5 0 2 0,3 3-2 15,-3 1 0-15,5 3 0 0,2-1 0 0,-5 1 0 16,5 0 0-16,-2-1 0 0,-1 1 1 0,-3 0-1 16,-1 2 0-16,0-5 0 0,0 5 0 0,-1 2 0 0,-6 0 0 15,3-2 0-15,0-2 1 0,-2 2-2 0,4 2 1 16,-2 2 0-16,2-6 0 0,2-1 0 0,0 3 0 16,-2 0 0-16,-4-2 0 0,0-1-1 0,2 1 2 15,-1 0-1-15,-1-3 0 0,2 1 0 0,-5-3 0 16,5 2 0-16,-6 1 0 0,1-3 0 0,-4 2 1 0,2 1-1 15,1-3 0-15,-6 2 0 0,6 1 1 0,-1 2 0 16,0 1 1-16,0-1-1 0,3 0 0 0,-7-3 0 16,0 1 2-16,-3-1-2 0,3-2 0 0,2 0 0 15,0 1 1-15,5-1-1 0,-5 0 1 0,2 0 0 16,-2 1 0-16,-2-3-1 0,0-3 2 0,0 1-1 16,-1 0 0-16,-5 0-1 0,3-1 2 0,-6 1-1 15,-4 2 1-15,6 0-1 0,-2-2 0 0,0 0 1 16,2 0-1-16,3 2-1 0,-7 0 2 0,4 0-1 15,-4-3 0-15,-3 1 1 0,-1 0-1 0,-3 2 1 16,2 0-1-16,1 0-1 0,-1 0 1 0,1 0 0 0,-5 0 0 16,2 0-1-16,0 0 1 0,-2 0-1 0,0 0 0 15,0 0-1-15,0 0 0 0,2 0 0 0,3 0 1 16,-5 0-2-16,4 0 1 0,0 2-1 0,-4-2 1 16,7 2-1-16,-2 1 0 0,1-1 0 0,3 0 0 0,-5 0-1 15,1 0 1-15,6 1-1 0,-5-1 1 0,1 0-3 16,0 0 2-16,-1 1 0 0,-1-1 0 0,1 0-6 15,3 0 2-15,-7 3-2 0,7-1 1 0,0 1-7 16,-7-1 0-16</inkml:trace>
  <inkml:trace contextRef="#ctx0" brushRef="#br0" timeOffset="2667.35">11747 17829 1695 0,'0'0'0'0,"0"0"0"0,0 0 0 0,0 0 28 16,0 7 1-16,0-7-1 0,0 4 2 0,0-4 9 16,0 7 1-16,0-7 0 0,0 2 0 0,0-2-15 0,0 2-1 15,0-2 1-15,0 0 1 0,0 0-18 0,0 0 1 16,0 0-1-16,0 0 0 0,0 0-2 0,0 0 1 16,0 0 0-16,0 0-1 0,0 0 3 0,0 0 1 15,0 0-1-15,4 3 1 0,-4-3 3 0,11 15-1 16,-11-15 0-16,20 16 1 0,-20-16-2 0,26 17 1 15,-26-17 1-15,34 14-1 0,-34-14 2 0,30 15 0 16,-30-15 0-16,42 11 0 0,-20-4-4 0,7 0 0 0,-7 2 0 16,2 2 1-16,-6 2-5 0,4-2 2 0,0 0-1 15,-2-2 1-15,0-2 1 0,-5 0 1 0,1 1-1 16,-1 3 1-16,-2 3 1 0,1-1 1 0,-3 0 0 16,2-1 0-16,-2-1 0 0,4 0 1 0,-6-2-1 15,-4-3 2-15,1 1-3 0,1-3 1 0,-1 3-1 16,1-2 2-16,-7-1-1 0,2 0 0 0,3 3 1 15,-1 2-1-15,0 0-1 0,-4-3 1 0,0 3-1 16,0 2 0-16,-4 3-1 0,-5-1 1 0,-4 5-1 16,-7 4 2-16,-4 5-2 0,-7 2 0 0,0 2 0 0,0-2 0 15,-11-1-2-15,3 1 1 0,-3-2 0 0,2 2 0 16,0 0-4-16,3 0 2 0,-3-3 0 0,5-1 0 16,0-1-4-16,2-2 0 0</inkml:trace>
  <inkml:trace contextRef="#ctx0" brushRef="#br0" timeOffset="3748.94">7554 17008 829 0,'0'0'0'0,"0"0"0"15,0 0 0-15,0 0 66 0,5 2 1 0,-5-2 0 16,0 4 0-16,0-4-2 0,0 5 1 0,0-5-1 16,0 0 1-16,0 0 3 0,0 0 1 0,0 0-2 15,6 0 2-15,-6 0-53 0,5 6 3 0,-5-6-1 16,4 36 0-16,-2-7-6 0,3 6 2 0,-5 3-1 0,-5-5 1 16,3 1-3-16,-7-1 2 0,3 0-2 15,-3 1 2-15,2 1 1 0,3 1 2 0,-5-5-1 0,3 0 1 16,1-7 2-16,-4 1 0 0,7-3 0 0,-7-2 0 0,3-2 0 15,-1-3 0-15,5-2 0 0,2-1 0 0,-5-4-3 16,1-3 0-16,4-1-1 0,0-1 2 0,0 1-2 16,0-4-1-16,0 2 1 0,0 0 1 0,0 1-6 15,0-3 0-15,0-3 0 0,0-1 1 0,0-9-5 16,4-3 1-16,3-10-2 0,6-8 2 0,-2-10-6 16,7-5 1-16,4 0 1 0,-2 7-1 0,0 6-1 0,2 5 0 15,-2 7 0-15,-1-5 0 0,-3 7-1 0,-1 4 1 16,1 2-1-16,-1 3 2 0,-2 4-2 0,1 3 0 15,-3-1 0-15,2 0 1 0,-6 7-1 0,1 0 1 16,-3 0-1-16,1 0 1 0,3 0-1 0,-4 0 1 16,1 0-1-16,1 0 1 0,-3 0-1 0,-2 7 1 15,-2 2-1-15,11 2 1 0,-4 4 0 0,2-1 1 0,0 6-1 16,0 2 0-16,-1 2 1 0,-3 3 1 0,-5 4 0 16,2 2 0-16,7 3 4 0,-9 2 0 0,4-1-1 15,-2 6 1-15,3-1 3 0,-1-2 0 0,3-2 0 16,2-3 2-16,0-4-2 0,-3-2 1 0,3-2 0 15,6-5 0-15,1-4 3 0,-3-5-1 0,5-6 1 16,-1-1-1-16,8-3 1 0,-1-3-1 0,7-7 1 16,0-2 0-16,8-9-4 0,8-4 1 0</inkml:trace>
  <inkml:trace contextRef="#ctx0" brushRef="#br0" timeOffset="17452">13002 18240 12 0,'0'0'0'0,"0"0"0"0,4-2 0 16,-4 2 0-16,9-5 0 0,-9 5 0 0,6-4 0 0,-6 4 7 15,0 0-1-15,0 0 1 0,0 0 1 0,0 0 41 16,0 0 2-16,0 0-2 0,3 0 2 0,-3 0 72 0,2 0 2 15,-2 0-2-15,13-5 2 0,-13 5-94 16,33-4 2-16,-33 4-1 0,42-9 1 0,-18 5 12 0,3-1-1 16,4 3 1-16,-5 0 0 0,3 2 5 0,2 0 0 15,0-5 0-15,-1 1 0 0,1 0-11 0,0-3 2 16,-2 2-1-16,2 3 0 0,0 0-1 0,4-2 0 16,2 1-1-16,-1 3 1 0,-1 0-11 0,-2 0 2 15,4 0-1-15,1 0 0 0,-1 3 9 0,-1 1 0 16,3 0 0-16,1-1 1 0,-5 1-8 0,3 1 2 0,2-1-1 15,-5 0 1-15,2 3-4 0,-1 0 1 0,3-3 0 16,3-2 1-16,0 1-1 0,2-1 1 0,3 0 0 16,3-2 0-16,-3 0-6 0,3-2-1 0,-1 2 1 15,-3 0 1-15,3 0-2 0,4 0-1 0,0 0 1 16,4 0-1-16,-4 0-4 0,6 0 2 0,3 2-2 16,-2 2 1-16,-1 3-2 0,1 4 1 0,-5 0-1 15,2-2 1-15,1 0-3 0,-3 2 0 0,0 3 1 16,2-1 0-16,3 0-3 0,1 1 0 0,-5 1 0 0,3 1 0 15,1-3-4-15,1 2 2 0,1-1-1 0,0-1 0 16,9-2-3-16,-1-2 0 0,-2 0 0 0,-1 0-1 16,1 0 2-16,-4 0 1 0,6 0 1 0,1-3-1 15,-7 1 1-15,0-1 1 0,-2 1 1 0,-3 0-1 0,3-1 0 16,0 1 1-16,-5 2-1 0,3 2 1 0,1 2 1 16,1 1-1-16,-5-1 1 0,-1 0-1 0,-1 1-2 15,-5-1 2-15,3-6-1 0,3 2 1 0,1-1-3 16,0-1 0-16,-2 0 0 0,0-1 0 0,-8 1-2 15,4 0 1-15,-1-3-1 0,-3 1 1 0,-6-3-4 16,-1 0 2-16,0 3-1 0,-3-1 0 0,-1 0 0 0,-1 3 0 16,-4 0-1-16,4-3 1 0,-2-2-3 0,-4 1 0 15,-3 1 1-15,1 3 0 0,1 2-1 0,-8-5-1 16,2 3 0-16,-6-1 0 0,1 1-1 0,-3-5 1 16,-1 1-1-16,-7-1 0 0,-1 0-1 0,-1 0 0 15,-4-2 0-15,5 0 1 0,1-2-2 0,-1 0 1 16</inkml:trace>
  <inkml:trace contextRef="#ctx0" brushRef="#br0" timeOffset="17818.74">18138 18233 1847 0,'-5'3'0'0,"5"-3"0"0,-6 6 0 16,6-6 18-16,-5 5 1 0,5-5 0 0,-4 4 0 16,4-4 7-16,2 11 1 0,-2-11-2 0,7 16 2 0,-7-16-13 15,4 9-1-15,-4-9 1 0,20 13-1 0,-20-13-12 16,42 24 2-16,-18-12-2 0,5-4 1 0,2-1-1 15,2 0 1-15,0 2-1 0,-2-1 2 0,2-1 0 16,-2 0 1-16,-7 2 0 0,2 0 0 0,1-1 4 0,-3 1 1 16,-4 2-1-16,0 3 1 0,-2 1 3 0,-1 1 1 15,-4-1-1-15,-4 5 0 0,-7 3 1 0,3-1-1 16,-10 0 0-16,-1 2 1 0,-12 3-2 0,1 2 1 16,-6 0 0-16,-1-3 0 0,-7 1-3 0,-6 0 1 15,-1-3-1-15,-4 1 1 0,-4-5-5 0,-2 0-1 16</inkml:trace>
  <inkml:trace contextRef="#ctx0" brushRef="#br0" timeOffset="18392.5">15273 17443 1332 0,'-7'6'0'15,"7"-6"0"-15,-4 12 0 0,4-12 20 0,4 4 1 16,-4-4-1-16,0 0 2 0,0 0 24 0,0-4 0 16,0 4 0-16,0 0 0 0,0 0-13 0,0 0 1 0,0 0 0 15,0 0 0-15,0 0-18 0,0 0 0 0,0 0 0 16,0 2 0-16,0-2-7 0,-6 13 1 0,6-13-1 16,-7 38 2-16,3-5-6 0,4 5 2 0,0 2 0 15,0-2-1-15,0-5 0 0,0-2 0 0,0 5-1 16,0-5 1-16,0-2 1 0,-5 2-1 0,3 0 1 15,-2 2 1-15,-1 3 2 0,1-1 1 0,2-2-1 0,2-2 1 16,-5-2 5-16,5-2 1 0,0 0-1 16,0-3 1-16,0 1-4 0,5-3 1 0,-5 0-1 0,0-2 0 15,-5 0-4-15,5-2 0 0</inkml:trace>
  <inkml:trace contextRef="#ctx0" brushRef="#br0" timeOffset="19158.82">15794 17685 967 0,'0'0'0'0,"0"0"0"15,0 0 0-15,0 0 20 0,0 0 0 0,0 0 0 16,0 0 2-16,0 0 4 0,0 0 0 0,0 0 0 16,0 0 1-16,0 0-11 0,0 0 0 0,0 0-1 15,0 0 1-15,0 0-13 0,0 0 2 0,0 0-2 16,-5 0 2-16,5 0 2 0,-11 0 0 0,11 0 0 15,-9 2 1-15,9-2 8 0,-17 9-1 0,17-9 1 16,-33 9 1-16,33-9 8 0,-27 9 0 0,27-9 0 16,-37 9 1-16,37-9 8 0,-25 15 0 0,25-15 0 0,-35 16 1 15,35-16 1-15,-33 13 0 0,33-13 0 0,-29 11-1 16,29-11-3-16,-24 9 0 0,24-9 0 0,-22 13 0 0,22-13-6 16,-15 9 0-16,15-9 0 0,-18 11 0 15,18-11-10-15,-18 16 2 0,18-16-1 0,-13 11 1 0,13-11-7 16,-7 7 1-16,7-7-1 0,-6 4 0 0,6-4-3 15,-5 5 0-15,5-5 0 0,0 4 0 0,0-4-2 16,0 4 2-16,0-4-1 0,0 5 1 0,0-5-2 16,0 4 2-16,0-4 0 0,0 9 0 0,0-9-1 15,0 13 1-15,0-13-1 0,0 16 1 0,0-16-3 0,-4 16 0 16,4-16 1-16,-15 17 0 0,15-17-3 0,-25 25 1 16,25-25 1-16,-15 20-1 0,15-20-1 0,-7 11-1 15,7-11 0-15,-4 4 2 0,4-4-4 0,-7 5 1 16,7-5-1-16,-6 0 1 0,6 0 0 0,-3 0 0 15,3 0 0-15,0 0 1 0,0 0 2 0,0 0 0 16,0 0 1-16,0 0-1 0,0 0 4 0,0 0 0 0,0 0 0 16,0 0 0-16,0 0 0 0,0 0-1 0,0 0 1 15,3 0 1-15,-3 0 0 0,4 0 0 0,-4 0 0 16,4 0 0-16,-4 0 0 0,9 0 0 0,-9 0 0 16,16 0 0-16,-16 0-1 0,26 0 1 0,-2 0 0 15,-2-5 0-15,5 3 0 0,2 0 0 0,-3 0 0 16,1 2 0-16,-3 4-1 0,0 3-1 0,-2-5 1 15,2 2 0-15,-2 1-1 0,3-1 0 0,-3 3-1 16,-2 0 2-16,-1-1-2 0,1 1 1 0,0 2-2 16,-9 0 2-16,0-3-4 0,0 1 1 0,2 0-1 15,-2-1 0-15,3 1-3 0,-1-3 1 0,0 1 1 0,-4 2-1 16,4 1-2-16,0-1-1 0</inkml:trace>
  <inkml:trace contextRef="#ctx0" brushRef="#br0" timeOffset="19471.04">16120 17976 1457 0,'2'-2'0'15,"-2"2"0"-15,0 2 0 0,0-2 9 0,5 2 1 16,-5-2-1-16,4 0 1 0,-4 0 2 0,4-4 0 16,-4 4 0-16,5-5 1 0,-5 5-7 0,6-4 2 15,-6 4 0-15,11-5 0 0,-11 5-7 0,16-4 0 0,-16 4 0 16,26-9 2-16,-26 9-3 0,44-11 0 0,-44 11 0 16,38-18 0-16,-38 18 1 0,37-13 1 0,-37 13 0 15,31-7 0-15,-31 7 4 0,36 2 0 0,-36-2-1 16,37 5 1-16,-37-5 5 0,35 4 0 0,-35-4 1 15,36 5-1-15,-36-5-1 0,42 4 1 0</inkml:trace>
  <inkml:trace contextRef="#ctx0" brushRef="#br0" timeOffset="19802.77">16980 17627 1318 0,'4'0'0'16,"-4"0"0"-16,0 0 0 0,0 0 23 0,0 0-1 15,0 0 0-15,0 0 1 0,0 0 21 0,0 0 1 16,0 0-1-16,-6 9 1 0,6-9-10 0,-5 18 1 16,5-18 0-16,-6 42 0 0,1-9-16 0,-1 7 1 0,4 2 1 15,-1 5-1-15,-3 4-6 0,4 2 0 0,-3 5 1 16,-2 2 0-16,3 7 1 0,-5 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14T12:26:24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9119 15046 0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14T12:28:41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2028 10037 0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14T13:06:19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18867 3099 0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4T13:20:34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14894 6615 12 0,'-5'-11'0'15,"5"11"0"-15,5-4 0 0,-5 4 0 0,20 20 0 16,-20-20 0-16,17 11 0 0,-17-11 9 0,0-5 0 15,0 5 0-15,-6-4 1 0,6 4 41 0,-5-7 1 0,5 7 0 16,-11-9-1-16,11 9 13 0,-9-13 1 0,9 13 0 16,-26-15 1-16,26 15-25 0,-33-14 2 0,33 14-2 15,-35-11 2-15,35 11-7 0,-29-2 0 0,29 2 0 16,-40-11 0-16,16 6-2 0,2 1 1 0,-5-3 0 16,8 3 1-16,-6-5-3 0,5 2 2 0,-4 3 0 15,0-1 0-15,0 3-5 0,-7 2 2 0,2-4-2 16,5 4 1-16,-3 4 0 0,1-2 0 0,-1 3 0 15,-1-1 1-15,4-4-7 0,-1 0 0 0,-3 0 1 16,1 0 0-16,-2 0-6 0,5 0 0 0,4 0 1 0,1-4 0 16,-1 2-9-16,4-3 2 0,5 1-1 0,0 4 1 15,5 0-6-15,-1 0-1 0,-2 0 1 16,7-5 0-16,-2 5-1 0,-3 0 1 0,2 0-2 0,5 0 2 0,-6 0-3 16,1 0 0-16,1 5 1 0,0-1 0 15,-1 1-1-15,-1 1 1 0,6-1-1 0,-9 1 2 0,-2 3-1 16,0 2-1-16,0 7 1 0,2 2 0 0,4 7-3 15,-3-3 0-15,-1 1 1 0,4-1 0 0,-1-2-2 16,4 3 2-16,-5 1-1 0,3 1 1 0,-1 2-2 16,-1 2 0-16,3-2 0 0,1 4 0 0,-7-2 0 15,-2 2 0-15,7 3 0 0,-3-5 0 0,7 7-1 0,0-3 1 16,0 8-1-16,0-1 0 0,-2 2 0 0,0 7 0 16,-3 3 0-16,5-1 0 0,0-4 0 0,5 2 1 15,-5-2-1-15,-5 2 0 0,1-2 0 0,0 2 1 16,1-3 0-16,3 4 1 0,-4 1 1 0,4-4 1 15,-4 6-1-15,1-2 1 0,3-4 1 0,0 0 1 16,0 2 0-16,0-4 1 0,0 0-2 0,0 1 2 16,0 6-1-16,0-5 1 0,0 2-3 0,0 2 1 15,-2 5 0-15,-4-7 0 0,-3 2-1 0,2 0 1 0,-4 5-1 16,4 2 1-16,1 7-3 0,-1-5 2 0,-4 4-1 16,7 1 1-16,-7-7-3 0,2 2 1 0,-2-4-1 15,7 0 2-15,-5-1-3 0,2 1 1 0,3 0-1 16,-1 0 2-16,1-1-1 0,2 3 0 0,2 0 0 15,-5-2 1-15,5 0-2 0,-4-1 1 0,-1 6 0 16,5-1 0-16,-2 7-1 0,2-1 2 0,0-3-2 16,0-3 1-16,0 2-1 0,0-1 1 0,0-1 1 0,0 2-1 15,0-4 0-15,0 2 0 0,0-2 1 0,0 2-1 16,-4 1 1-16,-3-1 1 0,3-5-1 0,-3 3 0 16,5 0 2-16,-2-2-1 0,1 0 1 0,-1-3-1 15,-3-1 1-15,3 3-1 0,4-3 1 0,-4-1 0 16,4 0-1-16,0 1 0 0,0-1 1 0,4 7-1 0,-4 4 0 15,0-2-1-15,4 3 0 0,-1-5 1 0,1 0-1 16,-4 0 2-16,0 2-1 0,0 2 1 0,0-4 0 16,0 2 1-16,0 1-1 0,-4 5 2 0,1-3 1 0,-1-1 0 15,4 1 0-15,-4-3 0 0,-3 2-1 0,2 1 2 16,-3-1 0-16,3-6 0 0,-1-1 4 0,6-3-1 16,-5 3 0-16,5-3 2 0,5-1 0 0,-5-2 1 15,6 2 0-15,-1-6-1 0,-1 6 0 0,0-6-1 16,1 4 1-16,2 0-1 0,-3 0-5 0,3 0 1 15,1 0 0-15,-3 5 0 0,-1 4-1 0,-4-7 0 16,7 3-1-16,-5-1 2 0,0 1-4 0,-2 1 0 0,0 3 0 16,2-2 1-16,-2 0-6 0,0 2 0 0,0-2 0 15,0 4 1-15,0 2-2 0,0 0 1 0,0-4-2 16,0-4 2-16,0-1-2 0,5-1 0 0,-5-1 0 16,-5 5-1-16,1-3-2 0,2 1 0 0,2-3 0 15,-7-2 0-15,7 0 0 0,-2 0-1 0,-2 0 0 16,1 3 1-16,-1-1-1 0,4 5 2 0,-7-1-1 15,3-1 1-15,-9 2 0 0,2-1 1 0,4-3 0 16,3 1-1-16,-5 3 1 0,4 0 1 0,3-1-1 16,-2 3 1-16,-7 0 1 0,2 3 0 0,0-4 0 15,7-3 1-15,-7-5-1 0,7-2 1 0,-3-2 0 0,-1-1 0 16,4 1 0-16,-1 2 0 0,1 0 0 0,0-3 0 16,-2-1 0-16,-1-1 0 0,-1 23 0 0,1-19 0 15,-4-5 0-15,7-6 0 0,-2-3 0 0,-3-1 0 0,3 5 0 16,4 2 0-16,-5 0 0 0,5 0 0 0,0 0-1 15,0 2 1-15,0-16 0 0,0 6 0 0,5-1-2 16,-5 0 2-16,2-9 0 0,0 0 0 0,5 0-1 16,-3-2 1-16,-2-4 0 0,1-1 0 0,3-1 0 0,-1-1 0 15,3-2 0-15,1 0 0 0,4 0 0 0,-6 1 0 16,9 1 0-16,-1 0 0 0,-2 0 0 0,3-1 0 16,6 1 0-16,2 0 1 0,-4-2 3 0,2 0-1 15,2 3 1-15,0-1-1 0,3 0 3 0,-5 1 0 16,7-1 0-16,-3 3 1 0,-2-5-1 0,3 2 1 15,-3 0 0-15,2-6 1 0,-1 2-3 0,1 0 1 16,1 2 0-16,4 0 0 0,-3 2-2 0,1 1 0 16,4-3-1-16,0 0 2 0,-2-2-2 0,2 0 2 15,2-1-1-15,1 1 1 0,1-4-2 0,-2 1 2 0,-10-1-1 16,3 2 1-16,1-1 1 0,-3 3 1 0,5-2 0 16,-2-1 0-16,2 1 0 0,-3 0 1 0,1-1 0 15,2-1 0-15,0 4-2 0,4-5 0 0,-11-2 1 16,3 1 0-16,-1-3-3 0,1 0 2 0,-3 0-2 15,-2-3 2-15,0 1-2 0,0 0 1 0,-6 0-1 16,-1 2 2-16,-4-7-4 0,5 3 2 0,1-3-1 16,-1 0 0-16,-1-2 0 0,1 1-1 0,3-12 0 15,3 2 1-15,-6 2 0 0,4-2-1 0,-16 7 0 0,7 0 2 16,-4 0-1-16,2 0 0 0,-5 0 1 0,7-2-1 16,-9-1-1-16,3 1 2 0,1-16-1 0,1-2 0 15,-7-2 1-15,2-1-1 0,0 3 1 0,-2 0-1 0,0 0-1 16,0 0 1-16,0 0 0 0,0 0 0 15,-2 2-1-15,0-4 2 0,-5-5-1 0,7 0 0 0,-2 0 0 16,2-1-1-16,-2-1 0 0,0 2 2 0,-3 0-2 16,3-2 1-16,-2-2-1 0,1-3 2 0,3 1-2 15,0 0 1-15,0 6 1 0,0-2-1 0,3 2-2 16,1 0 1-16,-4 3 1 0,2-1-1 0,0-1-1 0,1 1 1 16,-1 1-1-16,0-1 2 0,-2 0-2 0,0 1 0 15,-2-12 0-15,0 3 1 0,-3-5-1 0,3-2 1 16,-5-18-1-16,3 11 0 0,0 5 0 0,-5 2 0 15,7 24 0-15,-1-4 0 0,3-2-1 0,0-3 1 16,0-8-1-16,0 2 2 0,-2 0-2 0,2-1 0 0,-4 6 0 16,4 1 1-16,0-2-1 0,0 3 0 15,0-7 0-15,0 2 0 0,0 0 0 0,0 0 0 0,0 0 0 16,4 4 0-16,-4-6-1 0,0 0 1 0,0-36 0 16,-4 18 0-16,-3 3-2 0,3-1 2 0,4 18 0 15,-5-5 0-15,5-8-1 0,-4 0 1 0,-1-29 0 16,3 17 0-16,-7 5 0 0,3 3 0 0,1 23 0 15,1-6 0-15,0-4 0 0,-1-1 0 0,-1-34 0 16,-1 14 0-16,3 7 0 0,-3 3 0 0,7 17 0 16,-2-8 0-16,2-3 0 0,0-7 0 0,2-35 0 15,-2 16 0-15,7 10 0 0,-7 3 0 0,0 26 0 16,2-10 0-16,-2-3 0 0,0-6 1 0,0-28-1 16,0 12 2-16,0 16-1 0,2-7 0 0,-2 35 0 0,0-6 0 15,0-3 0-15,2-2 0 0,3-35 0 0,-1 9 1 16,-2 6-1-16,7 0 0 0,-5 27 0 0,1-7 1 0,-5-2-1 15,2-2 0-15,2-33 0 0,1 8 2 0,-1 9-2 16,1 1 0-16,-3 23 0 0,2-3 1 0,1-6-1 16,-5-3 1-16,11-25-1 0,-7 11 0 0,3 6 0 15,2 6 0-15,-5 21 0 0,0-9 1 0,-1 3 0 0,1-7-1 16,-4-9 0-16,2 0 1 0,-4 3-1 0,2-3 1 16,-7-29 0-16,1 14 0 0,-3 4-1 0,2 2 0 15,1 23 0-15,-1-5 1 0,3-5 0 0,-1-1 0 16,-1 1 0-16,1 1 0 0,5-3 0 0,-4 5 1 15,4 4-1-15,-5-2 0 0,3 0 0 0,0 0 1 16,0 0-1-16,2-4 1 0,0-1 0 0,2 1 0 16,0-34 0-16,0 16 1 0,3 0-1 0,-5 4 0 0,4 21 1 15,-4-6-1-15,0-8 1 0,2 0-1 0,-2-38 0 16,3 21 1-16,-3 5-1 0,2 1 0 0,-2 29 1 16,4-7 0-16,-4-5 0 0,5 3-1 0,-5-9 0 15,0 2 1-15,0 7-1 0,4-4 2 0,-2-1-2 16,3 2 1-16,-5-1 0 0,0-3 0 0,0-22 1 15,0 11-1-15,-5 7 0 0,3-3-1 0,2-4 0 16,0 2 2-16,0-6-1 0,0-5 1 0,0 29-1 16,0-6 1-16,-4-3-1 0,4-2 1 0,0-20-1 15,-5 6 1-15,5 10-1 0,0 1 2 0,0 28-1 16,0-8 1-16,0 3-1 0,0-9 0 0,-4 0 1 0,2 0-1 16,-3 3 1-16,1-3 1 0,-3-5-2 0,-2 3 2 15,-4-4-1-15,4-1-1 0,1-2 1 0,-3 2 1 16,2 1-2-16,2-3 1 0,3 7-1 0,-7-3 1 15,8 5-1-15,1-4 0 0,-2 8 1 0,4-1-1 0,0 1 0 16,4 1 0-16,-4-5 1 0,0 4 0 16,0-2-2-16,-4-2 2 0,4 7-2 0,-5-5 2 0,1 3-3 15,2-1 2-15,-3 3-2 0,-1-3 2 0,1 3-2 16,1 0 0-16,0 4 1 0,-1-2-1 0,1 2 0 16,2-2 1-16,-3 4-1 0,-1 1 1 0,-1-3-2 0,0 0 1 15,1 2-1-15,1-4 2 0,-1 0-2 0,3-2 0 16,1 13 0-16,2-7 1 0,-6 3-2 0,1 1 1 15,3 12 0-15,0 0 1 0,-3-4-1 0,5 4 0 16,0-3 0-16,-4 3 1 0,-3 0-2 0,5 4 0 16,-4-8 0-16,-6-1 1 0,1 1-1 0,3-1 2 0,-8 5-2 15,-1-4 1-15,3 4-1 0,-1-1 0 0,-1 4 0 16,1 1 2-16,0-4-2 0,1 2 0 0,8 4 0 16,-7-1 1-16,6 1-2 0,-2 1 1 0,-11-3 0 15,3-4 0-15,-8 2-1 0,5 3 2 0,9 1-2 16,0-2 1-16,-4 7-1 0,4-4 1 0,-2 4-1 15,4-4 1-15,0 1-1 0,0 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2T13:01:26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25112 4303 0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4498AAAE-C00F-4DA1-AA91-0592920902A6}" type="datetimeFigureOut">
              <a:rPr lang="zh-CN" altLang="en-US" smtClean="0"/>
              <a:pPr/>
              <a:t>2024/6/14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8B46F709-C76F-40B1-9739-9B95F5471B0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094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31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08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图片不是重点，重点是下一页的学习目标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029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将三个加法器整合成一个，按周期调度，分别使用。这样每个周期内加法器都在工作。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T2 </a:t>
            </a:r>
            <a:r>
              <a:rPr lang="zh-CN" altLang="en-US" dirty="0"/>
              <a:t>只有一个周期使能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35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将三个加法器整合成一个，按周期调度，分别使用。这样每个周期内加法器都在工作。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T2 </a:t>
            </a:r>
            <a:r>
              <a:rPr lang="zh-CN" altLang="en-US" dirty="0"/>
              <a:t>只有一个周期使能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0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0" fontAlgn="base" hangingPunct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这里通过改变算法的描述，进一步将寄存器的数量降低。</a:t>
            </a:r>
            <a:endParaRPr lang="zh-CN" altLang="zh-CN" dirty="0">
              <a:effectLst/>
            </a:endParaRPr>
          </a:p>
          <a:p>
            <a:pPr rtl="0" eaLnBrk="0" fontAlgn="base" hangingPunct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但是性能呢？</a:t>
            </a:r>
            <a:endParaRPr lang="zh-CN" altLang="zh-CN" dirty="0">
              <a:effectLst/>
            </a:endParaRPr>
          </a:p>
          <a:p>
            <a:pPr rtl="0" eaLnBrk="0" fontAlgn="base" latinLnBrk="0" hangingPunct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这里采用三个周期来完成工作</a:t>
            </a:r>
            <a:endParaRPr lang="zh-CN" altLang="zh-CN" dirty="0">
              <a:effectLst/>
            </a:endParaRPr>
          </a:p>
          <a:p>
            <a:pPr rtl="0" eaLnBrk="0" fontAlgn="base" latinLnBrk="0" hangingPunct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关键路径：多路选择、加法、寄存器的建立时间。</a:t>
            </a:r>
            <a:endParaRPr lang="zh-CN" altLang="zh-CN" dirty="0">
              <a:effectLst/>
            </a:endParaRPr>
          </a:p>
          <a:p>
            <a:pPr rtl="0" eaLnBrk="0" fontAlgn="base" latinLnBrk="0" hangingPunct="0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实际上吞吐率反而降低了，因为每个加法都需要一次多路选择和寄存器写入。对比单周期有资源优势但没有速度优势。</a:t>
            </a:r>
            <a:endParaRPr lang="zh-CN" altLang="zh-CN" dirty="0">
              <a:effectLst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020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实际上当代的</a:t>
            </a:r>
            <a:r>
              <a:rPr lang="en-US" altLang="zh-CN" dirty="0"/>
              <a:t>CPU</a:t>
            </a:r>
            <a:r>
              <a:rPr lang="zh-CN" altLang="en-US" dirty="0"/>
              <a:t>已经没有采用多周期了，而是用流水线提高资源利用率，保证效率。洗衣店就是一个例子。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52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为什么可以加速呢？因为几个步骤之间占用不同的资源，互相不干扰。一个任务占用一个资源的时候，其他的任务可以占用其他的资源。</a:t>
            </a:r>
            <a:endParaRPr lang="en-US" altLang="zh-CN" dirty="0"/>
          </a:p>
          <a:p>
            <a:r>
              <a:rPr lang="zh-CN" altLang="en-US" dirty="0"/>
              <a:t>横向来看，单个任务的延时没有降低。</a:t>
            </a:r>
            <a:endParaRPr lang="en-US" altLang="zh-CN" dirty="0"/>
          </a:p>
          <a:p>
            <a:r>
              <a:rPr lang="zh-CN" altLang="en-US" dirty="0"/>
              <a:t>纵向来看，同时最多有</a:t>
            </a:r>
            <a:r>
              <a:rPr lang="en-US" altLang="zh-CN" dirty="0"/>
              <a:t>4</a:t>
            </a:r>
            <a:r>
              <a:rPr lang="zh-CN" altLang="en-US" dirty="0"/>
              <a:t>个任务在同时执行，吞吐率提高了。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686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为什么可以加速呢？因为几个步骤之间占用不同的资源，互相不干扰。一个任务占用一个资源的时候，其他的任务可以占用其他的资源。</a:t>
            </a:r>
            <a:endParaRPr lang="en-US" altLang="zh-CN" dirty="0"/>
          </a:p>
          <a:p>
            <a:r>
              <a:rPr lang="zh-CN" altLang="en-US" dirty="0"/>
              <a:t>横向来看，单个任务的延时没有降低。</a:t>
            </a:r>
            <a:endParaRPr lang="en-US" altLang="zh-CN" dirty="0"/>
          </a:p>
          <a:p>
            <a:r>
              <a:rPr lang="zh-CN" altLang="en-US" dirty="0"/>
              <a:t>纵向来看，同时最多有</a:t>
            </a:r>
            <a:r>
              <a:rPr lang="en-US" altLang="zh-CN" dirty="0"/>
              <a:t>4</a:t>
            </a:r>
            <a:r>
              <a:rPr lang="zh-CN" altLang="en-US" dirty="0"/>
              <a:t>个任务在同时执行，吞吐率提高了。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66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为什么可以加速呢？因为几个步骤之间占用不同的资源，互相不干扰。一个任务占用一个资源的时候，其他的任务可以占用其他的资源。</a:t>
            </a:r>
            <a:endParaRPr lang="en-US" altLang="zh-CN" dirty="0"/>
          </a:p>
          <a:p>
            <a:r>
              <a:rPr lang="zh-CN" altLang="en-US" dirty="0"/>
              <a:t>横向来看，单个任务的延时没有降低。</a:t>
            </a:r>
            <a:endParaRPr lang="en-US" altLang="zh-CN" dirty="0"/>
          </a:p>
          <a:p>
            <a:r>
              <a:rPr lang="zh-CN" altLang="en-US" dirty="0"/>
              <a:t>纵向来看，同时最多有</a:t>
            </a:r>
            <a:r>
              <a:rPr lang="en-US" altLang="zh-CN" dirty="0"/>
              <a:t>4</a:t>
            </a:r>
            <a:r>
              <a:rPr lang="zh-CN" altLang="en-US" dirty="0"/>
              <a:t>个任务在同时执行，吞吐率提高了。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07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为什么可以加速呢？因为几个步骤之间占用不同的资源，互相不干扰。一个任务占用一个资源的时候，其他的任务可以占用其他的资源。</a:t>
            </a:r>
            <a:endParaRPr lang="en-US" altLang="zh-CN" dirty="0"/>
          </a:p>
          <a:p>
            <a:r>
              <a:rPr lang="zh-CN" altLang="en-US" dirty="0"/>
              <a:t>横向来看，单个任务的延时没有降低。</a:t>
            </a:r>
            <a:endParaRPr lang="en-US" altLang="zh-CN" dirty="0"/>
          </a:p>
          <a:p>
            <a:r>
              <a:rPr lang="zh-CN" altLang="en-US" dirty="0"/>
              <a:t>纵向来看，同时最多有</a:t>
            </a:r>
            <a:r>
              <a:rPr lang="en-US" altLang="zh-CN" dirty="0"/>
              <a:t>4</a:t>
            </a:r>
            <a:r>
              <a:rPr lang="zh-CN" altLang="en-US" dirty="0"/>
              <a:t>个任务在同时执行，吞吐率提高了。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88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04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几个步骤之间必须占用不同的资源，互相不干扰。这样一个任务占用一个资源的时候，其他的任务可以占用其他的资源。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18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回顾一下</a:t>
            </a:r>
            <a:r>
              <a:rPr lang="en-US" altLang="zh-CN" dirty="0"/>
              <a:t>CPU</a:t>
            </a:r>
            <a:r>
              <a:rPr lang="zh-CN" altLang="en-US" dirty="0"/>
              <a:t>执行时间的公式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这里我们采用流水线的设计，减小的是</a:t>
            </a:r>
            <a:r>
              <a:rPr lang="en-US" altLang="zh-CN" dirty="0"/>
              <a:t>CPI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多周期任务拆分，减小时钟周期，但增加了</a:t>
            </a:r>
            <a:r>
              <a:rPr lang="en-US" altLang="zh-CN" dirty="0"/>
              <a:t>CPI</a:t>
            </a:r>
            <a:r>
              <a:rPr lang="zh-CN" altLang="en-US" dirty="0"/>
              <a:t>，流水线可以减小</a:t>
            </a:r>
            <a:r>
              <a:rPr lang="en-US" altLang="zh-CN" dirty="0"/>
              <a:t>CPI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58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回顾一下</a:t>
            </a:r>
            <a:r>
              <a:rPr lang="en-US" altLang="zh-CN" dirty="0"/>
              <a:t>CPU</a:t>
            </a:r>
            <a:r>
              <a:rPr lang="zh-CN" altLang="en-US" dirty="0"/>
              <a:t>执行时间的公式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这里我们采用流水线的设计，减小的是</a:t>
            </a:r>
            <a:r>
              <a:rPr lang="en-US" altLang="zh-CN" dirty="0"/>
              <a:t>CPI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多周期任务拆分，减小时钟周期，但增加了</a:t>
            </a:r>
            <a:r>
              <a:rPr lang="en-US" altLang="zh-CN" dirty="0"/>
              <a:t>CPI</a:t>
            </a:r>
            <a:r>
              <a:rPr lang="zh-CN" altLang="en-US" dirty="0"/>
              <a:t>，流水线可以减小</a:t>
            </a:r>
            <a:r>
              <a:rPr lang="en-US" altLang="zh-CN" dirty="0"/>
              <a:t>CPI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634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本课程主要讲解流水线形式的设计，关于超标量和超长指令字形式的设计将在后续的课程中讲授。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895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23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itchFamily="34" charset="0"/>
              </a:rPr>
              <a:t>这里用</a:t>
            </a:r>
            <a:r>
              <a:rPr lang="en-US" altLang="zh-CN" dirty="0" err="1">
                <a:latin typeface="Arial" pitchFamily="34" charset="0"/>
              </a:rPr>
              <a:t>lw</a:t>
            </a:r>
            <a:r>
              <a:rPr lang="zh-CN" altLang="en-US" dirty="0">
                <a:latin typeface="Arial" pitchFamily="34" charset="0"/>
              </a:rPr>
              <a:t>和</a:t>
            </a:r>
            <a:r>
              <a:rPr lang="en-US" altLang="zh-CN" dirty="0" err="1">
                <a:latin typeface="Arial" pitchFamily="34" charset="0"/>
              </a:rPr>
              <a:t>sw</a:t>
            </a:r>
            <a:r>
              <a:rPr lang="zh-CN" altLang="en-US" dirty="0">
                <a:latin typeface="Arial" pitchFamily="34" charset="0"/>
              </a:rPr>
              <a:t>两条指令来举例</a:t>
            </a:r>
            <a:endParaRPr lang="en-US" altLang="zh-CN" dirty="0">
              <a:latin typeface="Arial" pitchFamily="34" charset="0"/>
            </a:endParaRPr>
          </a:p>
          <a:p>
            <a:pPr eaLnBrk="1" hangingPunct="1"/>
            <a:r>
              <a:rPr lang="en-US" altLang="zh-CN" dirty="0" err="1">
                <a:latin typeface="Arial" pitchFamily="34" charset="0"/>
              </a:rPr>
              <a:t>lw</a:t>
            </a:r>
            <a:r>
              <a:rPr lang="zh-CN" altLang="en-US" dirty="0">
                <a:latin typeface="Arial" pitchFamily="34" charset="0"/>
              </a:rPr>
              <a:t>需要完整的</a:t>
            </a:r>
            <a:r>
              <a:rPr lang="en-US" altLang="zh-CN" dirty="0">
                <a:latin typeface="Arial" pitchFamily="34" charset="0"/>
              </a:rPr>
              <a:t>5</a:t>
            </a:r>
            <a:r>
              <a:rPr lang="zh-CN" altLang="en-US" dirty="0">
                <a:latin typeface="Arial" pitchFamily="34" charset="0"/>
              </a:rPr>
              <a:t>个步骤</a:t>
            </a:r>
            <a:r>
              <a:rPr lang="en-US" altLang="zh-CN" dirty="0">
                <a:latin typeface="Arial" pitchFamily="34" charset="0"/>
              </a:rPr>
              <a:t>, </a:t>
            </a:r>
            <a:r>
              <a:rPr lang="zh-CN" altLang="en-US" dirty="0">
                <a:latin typeface="Arial" pitchFamily="34" charset="0"/>
              </a:rPr>
              <a:t>但是</a:t>
            </a:r>
            <a:r>
              <a:rPr lang="en-US" altLang="zh-CN" dirty="0" err="1">
                <a:latin typeface="Arial" pitchFamily="34" charset="0"/>
              </a:rPr>
              <a:t>sw</a:t>
            </a:r>
            <a:r>
              <a:rPr lang="zh-CN" altLang="en-US" dirty="0">
                <a:latin typeface="Arial" pitchFamily="34" charset="0"/>
              </a:rPr>
              <a:t>其实不需要写寄存器的步骤</a:t>
            </a:r>
            <a:r>
              <a:rPr lang="en-US" altLang="zh-CN" dirty="0">
                <a:latin typeface="Arial" pitchFamily="34" charset="0"/>
              </a:rPr>
              <a:t>, </a:t>
            </a:r>
            <a:r>
              <a:rPr lang="zh-CN" altLang="en-US" dirty="0">
                <a:latin typeface="Arial" pitchFamily="34" charset="0"/>
              </a:rPr>
              <a:t>因此多周期比单周期省去一个步骤。</a:t>
            </a:r>
            <a:endParaRPr lang="en-US" altLang="zh-CN" dirty="0">
              <a:latin typeface="Arial" pitchFamily="34" charset="0"/>
            </a:endParaRPr>
          </a:p>
          <a:p>
            <a:pPr eaLnBrk="1" hangingPunct="1"/>
            <a:r>
              <a:rPr lang="zh-CN" altLang="en-US" dirty="0">
                <a:latin typeface="Arial" pitchFamily="34" charset="0"/>
              </a:rPr>
              <a:t>而流水线则进一步将相邻两条指令的的工作重叠起来</a:t>
            </a:r>
            <a:r>
              <a:rPr lang="en-US" altLang="zh-CN" dirty="0">
                <a:latin typeface="Arial" pitchFamily="34" charset="0"/>
              </a:rPr>
              <a:t>, </a:t>
            </a:r>
            <a:r>
              <a:rPr lang="zh-CN" altLang="en-US" dirty="0">
                <a:latin typeface="Arial" pitchFamily="34" charset="0"/>
              </a:rPr>
              <a:t>可以再省一段时间。</a:t>
            </a:r>
            <a:endParaRPr lang="en-US" altLang="zh-CN" dirty="0">
              <a:latin typeface="Arial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19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否则将引起流水线各子功能段的负载不均衡，执行时间长的一段将成为流水线的</a:t>
            </a:r>
            <a:r>
              <a:rPr lang="zh-CN" altLang="en-US" dirty="0">
                <a:solidFill>
                  <a:schemeClr val="accent2"/>
                </a:solidFill>
              </a:rPr>
              <a:t>瓶颈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614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n: </a:t>
            </a:r>
            <a:r>
              <a:rPr lang="zh-CN" altLang="en-CN" dirty="0"/>
              <a:t>指令数</a:t>
            </a:r>
            <a:endParaRPr lang="en-US" altLang="zh-CN" dirty="0"/>
          </a:p>
          <a:p>
            <a:r>
              <a:rPr lang="en-CN" dirty="0"/>
              <a:t>(𝒌+𝒏−𝟏)𝚫𝐭</a:t>
            </a:r>
            <a:r>
              <a:rPr lang="zh-CN" altLang="en-US" dirty="0"/>
              <a:t>：周期数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0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n: </a:t>
            </a:r>
            <a:r>
              <a:rPr lang="zh-CN" altLang="en-CN" dirty="0"/>
              <a:t>指令数</a:t>
            </a:r>
            <a:endParaRPr lang="en-US" altLang="zh-CN" dirty="0"/>
          </a:p>
          <a:p>
            <a:r>
              <a:rPr lang="en-CN" dirty="0"/>
              <a:t>(𝒌+𝒏−𝟏)𝚫𝐭</a:t>
            </a:r>
            <a:r>
              <a:rPr lang="zh-CN" altLang="en-US" dirty="0"/>
              <a:t>：周期数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3735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901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这里分析的时候假设各个步骤所需要的逻辑路径的延时如表中所示，下面对比一下单周期，多周期和流水线的性能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106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为何流水线的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上限是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？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6577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为何下方图中的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贴向右边与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相邻？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429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为何下方图中的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贴向右边与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相邻？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698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dirty="0"/>
              <a:t>问题</a:t>
            </a:r>
            <a:r>
              <a:rPr lang="zh-CN" altLang="en-US" dirty="0"/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为何下方图中的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贴向右边与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相邻？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数据冒险，后续会介绍。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3016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8374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 err="1"/>
              <a:t>lw</a:t>
            </a:r>
            <a:r>
              <a:rPr lang="zh-CN" altLang="en-US" dirty="0"/>
              <a:t>的区别是不需要</a:t>
            </a:r>
            <a:r>
              <a:rPr lang="en-US" altLang="zh-CN" dirty="0"/>
              <a:t>sign extend</a:t>
            </a:r>
            <a:r>
              <a:rPr lang="zh-CN" altLang="en-US" dirty="0"/>
              <a:t>单元的结果，同时需要同时读取两个</a:t>
            </a:r>
            <a:r>
              <a:rPr lang="en-US" altLang="zh-CN" dirty="0"/>
              <a:t>reg</a:t>
            </a:r>
            <a:r>
              <a:rPr lang="zh-CN" altLang="en-US" dirty="0"/>
              <a:t>的值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6142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 err="1"/>
              <a:t>lw</a:t>
            </a:r>
            <a:r>
              <a:rPr lang="zh-CN" altLang="en-US" dirty="0"/>
              <a:t>的区别是无需</a:t>
            </a:r>
            <a:r>
              <a:rPr lang="en-US" altLang="zh-CN" dirty="0"/>
              <a:t>memory access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9570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型指令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ALUConf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段根据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ALUOp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解析的，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只解析除了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ALUOp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，因此没有体现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的具体操作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opcode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funct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，依次生成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控制码。当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00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01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控制码由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确定；当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ALUOp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控制码由</a:t>
            </a:r>
            <a:r>
              <a:rPr lang="en-US" altLang="zh-CN" sz="180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funct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进一步确定。 </a:t>
            </a:r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注意，之前有同学说</a:t>
            </a:r>
            <a:r>
              <a:rPr lang="en-US" altLang="zh-CN" dirty="0" err="1"/>
              <a:t>RegDst</a:t>
            </a:r>
            <a:r>
              <a:rPr lang="zh-CN" altLang="en-US" dirty="0"/>
              <a:t>应该传到</a:t>
            </a:r>
            <a:r>
              <a:rPr lang="en-US" altLang="zh-CN" dirty="0"/>
              <a:t>WB</a:t>
            </a:r>
            <a:r>
              <a:rPr lang="zh-CN" altLang="en-US" dirty="0"/>
              <a:t>阶段，其实不用，因为这里的</a:t>
            </a:r>
            <a:r>
              <a:rPr lang="en-US" altLang="zh-CN" dirty="0" err="1"/>
              <a:t>RegDst</a:t>
            </a:r>
            <a:r>
              <a:rPr lang="zh-CN" altLang="en-US" dirty="0"/>
              <a:t>指的是流水线的</a:t>
            </a:r>
            <a:r>
              <a:rPr lang="en-US" altLang="zh-CN" dirty="0"/>
              <a:t>EX</a:t>
            </a:r>
            <a:r>
              <a:rPr lang="zh-CN" altLang="en-US" dirty="0"/>
              <a:t>阶段选择写哪个寄存器的</a:t>
            </a:r>
            <a:r>
              <a:rPr lang="en-US" altLang="zh-CN" dirty="0"/>
              <a:t>MUX</a:t>
            </a:r>
            <a:r>
              <a:rPr lang="zh-CN" altLang="en-US" dirty="0"/>
              <a:t>的控制信号，而不是真正的存的寄存器的序号，因此不用传到最后，这个序号一直在级间寄存器里保存。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836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605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最后给一个带有控制信号的</a:t>
            </a:r>
            <a:r>
              <a:rPr lang="en-US" altLang="zh-CN" dirty="0" err="1"/>
              <a:t>sw</a:t>
            </a:r>
            <a:r>
              <a:rPr lang="zh-CN" altLang="en-US" dirty="0"/>
              <a:t>指令的流水线执行过程的例子</a:t>
            </a:r>
            <a:endParaRPr lang="en-US" altLang="zh-CN" dirty="0"/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ExtOp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ALUSrc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ALUConf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=ADD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RegDst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MemToReg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5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 err="1"/>
              <a:t>lw</a:t>
            </a:r>
            <a:r>
              <a:rPr lang="zh-CN" altLang="en-US" dirty="0"/>
              <a:t>的区别是需要读取两个寄存器的数据</a:t>
            </a:r>
            <a:endParaRPr lang="en-US" altLang="zh-CN" dirty="0"/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ExtOp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ALUSrc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ALUConf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=ADD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RegDst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MemToReg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228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注意，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sw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不需要写寄存器，因此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RegDst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是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x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，注意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ALUConf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是在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EX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阶段根据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再次解析出来的</a:t>
            </a: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根据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opcode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和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funct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，依次生成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和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ALU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控制码。当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为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00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或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01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时，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ALU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控制码由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确定；当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为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10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时，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ALU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控制码由</a:t>
            </a: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funct</a:t>
            </a:r>
            <a:r>
              <a:rPr lang="zh-CN" altLang="en-US" sz="1200" b="0" dirty="0">
                <a:solidFill>
                  <a:srgbClr val="00B0F0"/>
                </a:solidFill>
                <a:latin typeface="+mj-lt"/>
              </a:rPr>
              <a:t>进一步确定。</a:t>
            </a: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ALUSrc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ALUOp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ALUConf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=ADD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RegDst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MemToReg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462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 err="1"/>
              <a:t>lw</a:t>
            </a:r>
            <a:r>
              <a:rPr lang="zh-CN" altLang="en-US" dirty="0"/>
              <a:t>不同的点是</a:t>
            </a:r>
            <a:r>
              <a:rPr lang="en-US" altLang="zh-CN" dirty="0" err="1"/>
              <a:t>lw</a:t>
            </a:r>
            <a:r>
              <a:rPr lang="zh-CN" altLang="en-US" dirty="0"/>
              <a:t>读取</a:t>
            </a:r>
            <a:r>
              <a:rPr lang="en-US" altLang="zh-CN" dirty="0"/>
              <a:t>memory</a:t>
            </a:r>
            <a:r>
              <a:rPr lang="zh-CN" altLang="en-US" dirty="0"/>
              <a:t>而</a:t>
            </a:r>
            <a:r>
              <a:rPr lang="en-US" altLang="zh-CN" dirty="0" err="1"/>
              <a:t>sw</a:t>
            </a:r>
            <a:r>
              <a:rPr lang="zh-CN" altLang="en-US" dirty="0"/>
              <a:t>写入</a:t>
            </a:r>
            <a:r>
              <a:rPr lang="en-US" altLang="zh-CN" dirty="0"/>
              <a:t>memory</a:t>
            </a:r>
            <a:r>
              <a:rPr lang="zh-CN" altLang="en-US" dirty="0"/>
              <a:t>，与</a:t>
            </a:r>
            <a:r>
              <a:rPr lang="en-US" altLang="zh-CN" dirty="0"/>
              <a:t>add</a:t>
            </a:r>
            <a:r>
              <a:rPr lang="zh-CN" altLang="en-US" dirty="0"/>
              <a:t>不同的点是</a:t>
            </a:r>
            <a:r>
              <a:rPr lang="en-US" altLang="zh-CN" dirty="0"/>
              <a:t>add</a:t>
            </a:r>
            <a:r>
              <a:rPr lang="zh-CN" altLang="en-US" dirty="0"/>
              <a:t>无需访问</a:t>
            </a:r>
            <a:r>
              <a:rPr lang="en-US" altLang="zh-CN" dirty="0"/>
              <a:t>memory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200" b="0" dirty="0">
              <a:solidFill>
                <a:srgbClr val="00B0F0"/>
              </a:solidFill>
              <a:latin typeface="+mj-lt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MemToReg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217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 err="1"/>
              <a:t>lw</a:t>
            </a:r>
            <a:r>
              <a:rPr lang="zh-CN" altLang="en-US" dirty="0"/>
              <a:t>和</a:t>
            </a:r>
            <a:r>
              <a:rPr lang="en-US" altLang="zh-CN" dirty="0"/>
              <a:t>add</a:t>
            </a:r>
            <a:r>
              <a:rPr lang="zh-CN" altLang="en-US" dirty="0"/>
              <a:t>的区别是</a:t>
            </a:r>
            <a:r>
              <a:rPr lang="en-US" altLang="zh-CN" dirty="0"/>
              <a:t>WB</a:t>
            </a:r>
            <a:r>
              <a:rPr lang="zh-CN" altLang="en-US" dirty="0"/>
              <a:t>阶段不需要写入</a:t>
            </a:r>
            <a:r>
              <a:rPr lang="en-US" altLang="zh-CN" dirty="0"/>
              <a:t>reg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MemToReg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=/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200" b="0" dirty="0" err="1">
                <a:solidFill>
                  <a:srgbClr val="00B0F0"/>
                </a:solidFill>
                <a:latin typeface="+mj-lt"/>
              </a:rPr>
              <a:t>RegWr</a:t>
            </a:r>
            <a:r>
              <a:rPr lang="en-US" altLang="zh-CN" sz="1200" b="0" dirty="0">
                <a:solidFill>
                  <a:srgbClr val="00B0F0"/>
                </a:solidFill>
                <a:latin typeface="+mj-lt"/>
              </a:rPr>
              <a:t>=0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2333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P94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4115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8049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P83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708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因为缺乏</a:t>
            </a:r>
            <a:r>
              <a:rPr lang="zh-CN" altLang="en-US" dirty="0"/>
              <a:t>硬件支持而导致</a:t>
            </a:r>
            <a:r>
              <a:rPr lang="zh-CN" altLang="en-US" b="1" dirty="0"/>
              <a:t>指令不能在预定的时钟周期内执行的情况；</a:t>
            </a:r>
            <a:endParaRPr lang="en-US" altLang="zh-CN" b="1" dirty="0"/>
          </a:p>
          <a:p>
            <a:r>
              <a:rPr lang="zh-CN" altLang="en-US" dirty="0"/>
              <a:t>因为无法提供指令执行所需要的数据而导致；</a:t>
            </a:r>
            <a:endParaRPr lang="en-US" altLang="zh-CN" dirty="0"/>
          </a:p>
          <a:p>
            <a:r>
              <a:rPr lang="zh-CN" altLang="en-CN" dirty="0"/>
              <a:t>因为取到的指令并不是</a:t>
            </a:r>
            <a:r>
              <a:rPr lang="zh-CN" altLang="en-US" dirty="0"/>
              <a:t>所需要的而导致。。。（</a:t>
            </a:r>
            <a:r>
              <a:rPr lang="zh-CN" altLang="en-CN" dirty="0"/>
              <a:t>指令地址的</a:t>
            </a:r>
            <a:r>
              <a:rPr lang="zh-CN" altLang="en-US" dirty="0"/>
              <a:t>变化并不是流水线所预期的）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0942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因为缺乏</a:t>
            </a:r>
            <a:r>
              <a:rPr lang="zh-CN" altLang="en-US" dirty="0"/>
              <a:t>硬件支持而导致</a:t>
            </a:r>
            <a:r>
              <a:rPr lang="zh-CN" altLang="en-US" b="1" dirty="0"/>
              <a:t>指令不能在预定的时钟周期内执行的情况；</a:t>
            </a:r>
            <a:endParaRPr lang="en-US" altLang="zh-CN" b="1" dirty="0"/>
          </a:p>
          <a:p>
            <a:r>
              <a:rPr lang="zh-CN" altLang="en-US" dirty="0"/>
              <a:t>因为无法提供指令执行所需要的数据而导致；</a:t>
            </a:r>
            <a:endParaRPr lang="en-US" altLang="zh-CN" dirty="0"/>
          </a:p>
          <a:p>
            <a:r>
              <a:rPr lang="zh-CN" altLang="en-CN" dirty="0"/>
              <a:t>因为取到的指令并不是</a:t>
            </a:r>
            <a:r>
              <a:rPr lang="zh-CN" altLang="en-US" dirty="0"/>
              <a:t>所需要的而导致。。。（</a:t>
            </a:r>
            <a:r>
              <a:rPr lang="zh-CN" altLang="en-CN" dirty="0"/>
              <a:t>指令地址的</a:t>
            </a:r>
            <a:r>
              <a:rPr lang="zh-CN" altLang="en-US" dirty="0"/>
              <a:t>变化并不是流水线所预期的）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7562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1773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0736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2198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在流水线设计中，我们一直会用到下面这个表格，它表示了不同的指令在不同的流水线级上完成的工作。不同的行表示不同的流水级，不同的列表示不同的指令。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这个表格中，不在一行但使用相同资源的操作就可能引起结构冒险。这里的资源指的不是单纯的寄存器或指令存储器，而是寄存器的读写口和指令存储器的读口。如果寄存器的设计中有两个写口，那么这里的写冲突问题就不存在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这里我们按照上一页讲的进行修改，是不是就没有资源冒险了呢？</a:t>
            </a:r>
            <a:endParaRPr lang="en-US" altLang="zh-CN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注意到</a:t>
            </a:r>
            <a:r>
              <a:rPr lang="en-US" altLang="zh-CN" dirty="0"/>
              <a:t>PC</a:t>
            </a:r>
            <a:r>
              <a:rPr lang="zh-CN" altLang="en-US" dirty="0"/>
              <a:t>也有冲突，事实上这是后面我们会提到的控制冒险。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9582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在流水线设计中，我们一直会用到下面这个表格，它表示了不同的指令在不同的流水线级上完成的工作。不同的行表示不同的流水级，不同的列表示不同的指令。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这个表格中，不在一行但使用相同资源的操作就可能引起结构冒险。这里的资源指的不是单纯的寄存器或指令存储器，而是寄存器的读写口和指令存储器的读口。如果寄存器的设计中有两个写口，那么这里的写冲突问题就不存在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蓝色字的部分，</a:t>
            </a:r>
            <a:r>
              <a:rPr lang="en-US" altLang="zh-CN" dirty="0"/>
              <a:t>ID</a:t>
            </a:r>
            <a:r>
              <a:rPr lang="zh-CN" altLang="en-US" dirty="0"/>
              <a:t>阶段有寄存器读取，</a:t>
            </a:r>
            <a:r>
              <a:rPr lang="en-US" altLang="zh-CN" dirty="0"/>
              <a:t>WB</a:t>
            </a:r>
            <a:r>
              <a:rPr lang="zh-CN" altLang="en-US" dirty="0"/>
              <a:t>阶段有寄存器写入，若在同一周期内同时出现了寄存器读取和写入，会有什么问题。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950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在流水线设计中，我们一直会用到下面这个表格，它表示了不同的指令在不同的流水线级上完成的工作。不同的行表示不同的流水级，不同的列表示不同的指令。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aseline="0" dirty="0"/>
              <a:t>在这个表格中，不在一行但使用相同资源的操作就可能引起结构冒险。这里的资源指的不是单纯的寄存器或指令存储器，而是寄存器的读写口和指令存储器的读口。如果寄存器的设计中有两个写口，那么这里的写冲突问题就不存在。</a:t>
            </a: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aseline="0" dirty="0"/>
          </a:p>
          <a:p>
            <a:pPr marL="0" marR="0" indent="0" algn="just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蓝色字的部分，</a:t>
            </a:r>
            <a:r>
              <a:rPr lang="en-US" altLang="zh-CN" dirty="0"/>
              <a:t>ID</a:t>
            </a:r>
            <a:r>
              <a:rPr lang="zh-CN" altLang="en-US" dirty="0"/>
              <a:t>阶段有寄存器读取，</a:t>
            </a:r>
            <a:r>
              <a:rPr lang="en-US" altLang="zh-CN" dirty="0"/>
              <a:t>WB</a:t>
            </a:r>
            <a:r>
              <a:rPr lang="zh-CN" altLang="en-US" dirty="0"/>
              <a:t>阶段有寄存器写入，若在同一周期内同时出现了寄存器读取和写入，会有什么问题。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3241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PC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寄存器指示的是当前运行地址，再添加个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PC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寄存器程序就不知道应该从哪个寄存器取指令了。</a:t>
            </a:r>
            <a:endParaRPr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endParaRPr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具体分支的时候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PC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如何跳转，在后续控制冒险讨论。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630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8714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44363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讲座p</a:t>
            </a:r>
            <a:r>
              <a:rPr lang="en-US" altLang="zh-CN" dirty="0"/>
              <a:t>93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3313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lphaUcPeriod"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单周期的思路是减少资源复用，将计算流程铺平，在一个周期内完成所有计算，因此关键路径更长。</a:t>
            </a:r>
            <a:endParaRPr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AutoNum type="alphaUcPeriod"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多周期每个时钟周期也只会用到部分硬件单元，存在空闲的硬件单元</a:t>
            </a:r>
            <a:endParaRPr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AutoNum type="alphaUcPeriod"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单周期的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CPI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，多周期大于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</a:p>
          <a:p>
            <a:pPr marL="457200" indent="-457200">
              <a:buAutoNum type="alphaUcPeriod"/>
            </a:pP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上述例子中，多周期只需要一个加法器。但是时钟周期更多。</a:t>
            </a:r>
            <a:endParaRPr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AutoNum type="alphaUcPeriod"/>
            </a:pPr>
            <a:endParaRPr lang="zh-CN" altLang="en-US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6F709-C76F-40B1-9739-9B95F5471B01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5482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10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E93C9A-8C30-4BD8-898D-BBC09724C654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037A4E-89CE-7835-D8A0-FA95C97BD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159"/>
          <a:stretch/>
        </p:blipFill>
        <p:spPr>
          <a:xfrm>
            <a:off x="0" y="0"/>
            <a:ext cx="1340427" cy="1357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3CAA22-125D-67CC-F12A-F95E5A658E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445" r="66386"/>
          <a:stretch/>
        </p:blipFill>
        <p:spPr>
          <a:xfrm>
            <a:off x="7775848" y="0"/>
            <a:ext cx="1368152" cy="13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2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F05315-AAF9-48F3-8CAA-22A6D6E961F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72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565C28-EDA7-42A1-B012-94DC43EE6AEA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5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0193A1-F809-41ED-9EAB-A709E66E2511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6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5E113D-ED33-40D3-A419-3E0DBEB09315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81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EE8A2D-828A-431A-B2CD-801870642865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89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851674-37EA-41BB-B27D-561840415789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67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DDB924-5EFD-4C11-96A2-B2E1F47B9DD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00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20872A-1756-474E-8D45-92ED7653ABD3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74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87A0AE-894F-465A-AB60-2B2D24BF991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B832EC-0D50-44D6-857F-1CD7D59D5719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863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7208F54-42C8-22EF-69A4-AE45819566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5E99BBB1-8EEB-46FB-201E-508C9D0759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/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99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266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2776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482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78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270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794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468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787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0600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657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6843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1E184-7EFF-4B48-9C82-609CF6442F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948104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8B9D4-5D11-464B-BDF0-A23355FE45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8328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62F62-C03C-45EC-8E1C-78F85E4B84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80482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E93C9A-8C30-4BD8-898D-BBC09724C654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037A4E-89CE-7835-D8A0-FA95C97BD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159"/>
          <a:stretch/>
        </p:blipFill>
        <p:spPr>
          <a:xfrm>
            <a:off x="0" y="0"/>
            <a:ext cx="1340427" cy="1357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3CAA22-125D-67CC-F12A-F95E5A658E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445" r="66386"/>
          <a:stretch/>
        </p:blipFill>
        <p:spPr>
          <a:xfrm>
            <a:off x="7775848" y="0"/>
            <a:ext cx="1368152" cy="13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29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F05315-AAF9-48F3-8CAA-22A6D6E961F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06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565C28-EDA7-42A1-B012-94DC43EE6AEA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33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0193A1-F809-41ED-9EAB-A709E66E2511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860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5E113D-ED33-40D3-A419-3E0DBEB09315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233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EE8A2D-828A-431A-B2CD-801870642865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5411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851674-37EA-41BB-B27D-561840415789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1682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DDB924-5EFD-4C11-96A2-B2E1F47B9DD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2888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20872A-1756-474E-8D45-92ED7653ABD3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605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87A0AE-894F-465A-AB60-2B2D24BF9916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546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B832EC-0D50-44D6-857F-1CD7D59D5719}" type="datetime1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6FCE3-5FF9-430D-BA0B-DE80AAE716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0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8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2966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0" i="0">
                <a:ea typeface="SimHei" panose="02010609060101010101" pitchFamily="49" charset="-122"/>
              </a:defRPr>
            </a:lvl1pPr>
          </a:lstStyle>
          <a:p>
            <a:fld id="{614C813D-192B-464B-81E1-4458C376AB8E}" type="datetime1">
              <a:rPr lang="zh-CN" altLang="en-US" smtClean="0"/>
              <a:pPr/>
              <a:t>2024/6/14</a:t>
            </a:fld>
            <a:endParaRPr lang="zh-CN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 i="0">
                <a:latin typeface="+mn-lt"/>
                <a:ea typeface="SimHei" panose="02010609060101010101" pitchFamily="49" charset="-122"/>
              </a:defRPr>
            </a:lvl1pPr>
          </a:lstStyle>
          <a:p>
            <a:fld id="{0626FCE3-5FF9-430D-BA0B-DE80AAE7167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3" y="956460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0" i="0" dirty="0">
                <a:ea typeface="SimHei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1800" b="0" i="0" dirty="0">
                <a:solidFill>
                  <a:schemeClr val="accent2"/>
                </a:solidFill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485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90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8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2966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0" i="0">
                <a:ea typeface="SimHei" panose="02010609060101010101" pitchFamily="49" charset="-122"/>
              </a:defRPr>
            </a:lvl1pPr>
          </a:lstStyle>
          <a:p>
            <a:fld id="{614C813D-192B-464B-81E1-4458C376AB8E}" type="datetime1">
              <a:rPr lang="zh-CN" altLang="en-US" smtClean="0"/>
              <a:pPr/>
              <a:t>2024/6/14</a:t>
            </a:fld>
            <a:endParaRPr lang="zh-CN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>
                <a:ea typeface="SimHei" panose="02010609060101010101" pitchFamily="49" charset="-122"/>
              </a:defRPr>
            </a:lvl1pPr>
          </a:lstStyle>
          <a:p>
            <a:fld id="{0626FCE3-5FF9-430D-BA0B-DE80AAE7167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3" y="956460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 b="0" i="0" dirty="0">
                <a:ea typeface="SimHei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1800" b="0" i="0" dirty="0">
                <a:solidFill>
                  <a:schemeClr val="accent2"/>
                </a:solidFill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523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8.xml"/><Relationship Id="rId4" Type="http://schemas.openxmlformats.org/officeDocument/2006/relationships/image" Target="../media/image29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image" Target="../media/image28.tmp"/><Relationship Id="rId3" Type="http://schemas.openxmlformats.org/officeDocument/2006/relationships/tags" Target="../tags/tag20.xml"/><Relationship Id="rId21" Type="http://schemas.openxmlformats.org/officeDocument/2006/relationships/tags" Target="../tags/tag38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image" Target="../media/image28.tmp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19" Type="http://schemas.openxmlformats.org/officeDocument/2006/relationships/image" Target="../media/image28.tmp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12" Type="http://schemas.openxmlformats.org/officeDocument/2006/relationships/image" Target="../media/image29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11" Type="http://schemas.openxmlformats.org/officeDocument/2006/relationships/customXml" Target="../ink/ink13.xml"/><Relationship Id="rId5" Type="http://schemas.openxmlformats.org/officeDocument/2006/relationships/image" Target="../media/image36.png"/><Relationship Id="rId10" Type="http://schemas.openxmlformats.org/officeDocument/2006/relationships/image" Target="../media/image20.svg"/><Relationship Id="rId4" Type="http://schemas.openxmlformats.org/officeDocument/2006/relationships/image" Target="../media/image34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1581417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第七讲 流水线技术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SimHei" panose="02010609060101010101" pitchFamily="49" charset="-122"/>
                <a:cs typeface="+mn-cs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部分 基本概念、数据通路、冒险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0" y="-170523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数字逻辑与处理器基础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EB27D604-9BE7-828C-8A79-BC5D907436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4332513"/>
            <a:ext cx="9143999" cy="227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  <a:endParaRPr lang="en-US" altLang="zh-CN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  <a:endParaRPr lang="zh-CN" alt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2800" dirty="0">
                <a:latin typeface="+mn-lt"/>
                <a:ea typeface="黑体" pitchFamily="2" charset="-122"/>
              </a:rPr>
              <a:t>5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2800" dirty="0">
                <a:latin typeface="+mn-lt"/>
                <a:ea typeface="黑体" pitchFamily="2" charset="-122"/>
              </a:rPr>
              <a:t>14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30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微体系结构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604ACD-5754-9F4F-AC2A-F5A8E2D5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A072-E7F7-460A-8CDA-1F33B6B9FE37}"/>
              </a:ext>
            </a:extLst>
          </p:cNvPr>
          <p:cNvCxnSpPr>
            <a:cxnSpLocks/>
          </p:cNvCxnSpPr>
          <p:nvPr/>
        </p:nvCxnSpPr>
        <p:spPr>
          <a:xfrm flipV="1">
            <a:off x="525583" y="3810457"/>
            <a:ext cx="0" cy="639149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C1EAB-A398-495E-B820-5463D7961843}"/>
              </a:ext>
            </a:extLst>
          </p:cNvPr>
          <p:cNvCxnSpPr>
            <a:cxnSpLocks/>
          </p:cNvCxnSpPr>
          <p:nvPr/>
        </p:nvCxnSpPr>
        <p:spPr>
          <a:xfrm>
            <a:off x="532184" y="5017479"/>
            <a:ext cx="0" cy="98104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1B781-19FA-4DB6-8601-5232956DD816}"/>
              </a:ext>
            </a:extLst>
          </p:cNvPr>
          <p:cNvCxnSpPr>
            <a:cxnSpLocks/>
          </p:cNvCxnSpPr>
          <p:nvPr/>
        </p:nvCxnSpPr>
        <p:spPr>
          <a:xfrm flipH="1" flipV="1">
            <a:off x="529916" y="1482390"/>
            <a:ext cx="6843" cy="97182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EA88E30F-39ED-47A2-B237-ACC2C6B2048C}"/>
              </a:ext>
            </a:extLst>
          </p:cNvPr>
          <p:cNvCxnSpPr>
            <a:cxnSpLocks/>
          </p:cNvCxnSpPr>
          <p:nvPr/>
        </p:nvCxnSpPr>
        <p:spPr>
          <a:xfrm>
            <a:off x="83118" y="3810457"/>
            <a:ext cx="122792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52807708-A919-4E61-A0DD-DF1CB0390A36}"/>
              </a:ext>
            </a:extLst>
          </p:cNvPr>
          <p:cNvGraphicFramePr>
            <a:graphicFrameLocks/>
          </p:cNvGraphicFramePr>
          <p:nvPr/>
        </p:nvGraphicFramePr>
        <p:xfrm>
          <a:off x="1229032" y="1482388"/>
          <a:ext cx="2870863" cy="4660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0863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操作系统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7615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计算机指令系统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CPU/DSP/…</a:t>
                      </a:r>
                      <a:endParaRPr lang="zh-CN" altLang="en-US" sz="2000" b="0" i="0" kern="1200" dirty="0">
                        <a:solidFill>
                          <a:srgbClr val="0432FF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1" name="TextBox 25">
            <a:extLst>
              <a:ext uri="{FF2B5EF4-FFF2-40B4-BE49-F238E27FC236}">
                <a16:creationId xmlns:a16="http://schemas.microsoft.com/office/drawing/2014/main" id="{CE921038-380C-462D-8759-1D8F7FD316C6}"/>
              </a:ext>
            </a:extLst>
          </p:cNvPr>
          <p:cNvSpPr txBox="1"/>
          <p:nvPr/>
        </p:nvSpPr>
        <p:spPr>
          <a:xfrm>
            <a:off x="1804122" y="613164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计算机系统</a:t>
            </a:r>
          </a:p>
        </p:txBody>
      </p: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D9648051-9A30-43AB-B9F8-96D81F2207CB}"/>
              </a:ext>
            </a:extLst>
          </p:cNvPr>
          <p:cNvCxnSpPr>
            <a:cxnSpLocks/>
          </p:cNvCxnSpPr>
          <p:nvPr/>
        </p:nvCxnSpPr>
        <p:spPr>
          <a:xfrm>
            <a:off x="525583" y="3038525"/>
            <a:ext cx="0" cy="771932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BE731097-E7F9-4EBE-9269-4CD4F0A4BCD3}"/>
              </a:ext>
            </a:extLst>
          </p:cNvPr>
          <p:cNvSpPr txBox="1"/>
          <p:nvPr/>
        </p:nvSpPr>
        <p:spPr>
          <a:xfrm>
            <a:off x="187945" y="2568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4E8CDB25-D623-4634-8167-87F91560DAB2}"/>
              </a:ext>
            </a:extLst>
          </p:cNvPr>
          <p:cNvSpPr txBox="1"/>
          <p:nvPr/>
        </p:nvSpPr>
        <p:spPr>
          <a:xfrm>
            <a:off x="183375" y="45027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硬件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7D53080-D1C1-156A-8DF5-9DB7A5617915}"/>
              </a:ext>
            </a:extLst>
          </p:cNvPr>
          <p:cNvGraphicFramePr>
            <a:graphicFrameLocks noGrp="1"/>
          </p:cNvGraphicFramePr>
          <p:nvPr/>
        </p:nvGraphicFramePr>
        <p:xfrm>
          <a:off x="4336573" y="1482388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2/27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3/19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3/26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4/16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4/21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  <a:endParaRPr lang="en-US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US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21</a:t>
                      </a:r>
                      <a:endParaRPr lang="en-US" sz="180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28</a:t>
                      </a:r>
                      <a:endParaRPr lang="en-US" sz="180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r>
                        <a:rPr lang="en-US" altLang="zh-CN" sz="18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zh-CN" sz="180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C372BE0-DB1D-76F6-002A-064D1504491E}"/>
                  </a:ext>
                </a:extLst>
              </p14:cNvPr>
              <p14:cNvContentPartPr/>
              <p14:nvPr/>
            </p14:nvContentPartPr>
            <p14:xfrm>
              <a:off x="668880" y="533340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C372BE0-DB1D-76F6-002A-064D150449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520" y="5324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176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F0739-DD16-405F-8CC8-C602B936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本讲学习目标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51659-AD29-4623-BF52-BCA9496DF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555457"/>
          </a:xfrm>
        </p:spPr>
        <p:txBody>
          <a:bodyPr/>
          <a:lstStyle/>
          <a:p>
            <a:pPr marL="342900" indent="-342900"/>
            <a:r>
              <a:rPr lang="zh-CN" altLang="en-US" sz="3200" dirty="0">
                <a:cs typeface="Arial" panose="020B0604020202020204" pitchFamily="34" charset="0"/>
              </a:rPr>
              <a:t>知识点：概念、原理和指标</a:t>
            </a:r>
            <a:endParaRPr lang="en-US" altLang="zh-CN" sz="320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单周期、多周期、流水线处理器的区别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流水线的基本概念、数据通路（执行过程）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流水线中的冒险起因与分类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342900" indent="-342900"/>
            <a:r>
              <a:rPr lang="zh-CN" altLang="en-US" sz="3200" dirty="0">
                <a:cs typeface="Arial" panose="020B0604020202020204" pitchFamily="34" charset="0"/>
              </a:rPr>
              <a:t>能力</a:t>
            </a:r>
            <a:endParaRPr lang="en-US" altLang="zh-CN" sz="320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掌握设计和分析流水线处理器的方法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掌握分析和解决流水线中冒险的方法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342900" indent="-342900"/>
            <a:r>
              <a:rPr lang="zh-CN" altLang="en-US" sz="3200" dirty="0">
                <a:cs typeface="Arial" panose="020B0604020202020204" pitchFamily="34" charset="0"/>
              </a:rPr>
              <a:t>思想</a:t>
            </a:r>
            <a:endParaRPr lang="en-US" altLang="zh-CN" sz="320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时空复用</a:t>
            </a:r>
            <a:endParaRPr lang="en-US" altLang="zh-CN" sz="2800" b="0" dirty="0">
              <a:cs typeface="Arial" panose="020B0604020202020204" pitchFamily="34" charset="0"/>
            </a:endParaRPr>
          </a:p>
          <a:p>
            <a:pPr marL="742950" lvl="1" indent="-285750"/>
            <a:r>
              <a:rPr lang="zh-CN" altLang="en-US" sz="2800" b="0" dirty="0">
                <a:cs typeface="Arial" panose="020B0604020202020204" pitchFamily="34" charset="0"/>
              </a:rPr>
              <a:t>并行加速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174FDCF9-AA0E-228B-D02D-7617E125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A30A2DD-E704-88C7-ADE7-C2E8FCACB930}"/>
                  </a:ext>
                </a:extLst>
              </p14:cNvPr>
              <p14:cNvContentPartPr/>
              <p14:nvPr/>
            </p14:nvContentPartPr>
            <p14:xfrm>
              <a:off x="608400" y="5300280"/>
              <a:ext cx="2721960" cy="11880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A30A2DD-E704-88C7-ADE7-C2E8FCACB9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040" y="5290920"/>
                <a:ext cx="2740680" cy="12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04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sz="3200" dirty="0">
                <a:solidFill>
                  <a:srgbClr val="3333FF"/>
                </a:solidFill>
              </a:rPr>
              <a:t>复习回顾与流水线基本概念 </a:t>
            </a:r>
            <a:r>
              <a:rPr lang="en-US" altLang="zh-CN" sz="3200" dirty="0">
                <a:solidFill>
                  <a:srgbClr val="3333FF"/>
                </a:solidFill>
              </a:rPr>
              <a:t>P4</a:t>
            </a:r>
          </a:p>
          <a:p>
            <a:r>
              <a:rPr lang="zh-CN" altLang="en-US" sz="3200" b="0" dirty="0">
                <a:cs typeface="+mn-cs"/>
              </a:rPr>
              <a:t>流水线数据通路</a:t>
            </a:r>
            <a:r>
              <a:rPr lang="en-US" altLang="zh-CN" sz="3200" b="0" dirty="0">
                <a:cs typeface="+mn-cs"/>
              </a:rPr>
              <a:t> P41</a:t>
            </a:r>
            <a:endParaRPr lang="en-US" altLang="zh-CN" sz="3200" b="0" dirty="0"/>
          </a:p>
          <a:p>
            <a:r>
              <a:rPr lang="zh-CN" altLang="en-US" sz="3200" b="0" dirty="0">
                <a:cs typeface="+mn-cs"/>
              </a:rPr>
              <a:t>流水线的冒险</a:t>
            </a:r>
            <a:r>
              <a:rPr lang="en-US" altLang="zh-CN" sz="3200" b="0" dirty="0">
                <a:cs typeface="+mn-cs"/>
              </a:rPr>
              <a:t> P88</a:t>
            </a:r>
          </a:p>
          <a:p>
            <a:pPr lvl="1"/>
            <a:r>
              <a:rPr lang="zh-CN" altLang="en-US" sz="2800" b="0" dirty="0">
                <a:cs typeface="+mn-cs"/>
              </a:rPr>
              <a:t>结构冒险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数据冒险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控制冒险</a:t>
            </a:r>
            <a:endParaRPr lang="en-US" altLang="zh-CN" sz="2800" b="0" dirty="0">
              <a:cs typeface="+mn-cs"/>
            </a:endParaRPr>
          </a:p>
          <a:p>
            <a:r>
              <a:rPr lang="zh-CN" altLang="en-US" sz="3200" b="0" dirty="0"/>
              <a:t>数据通路的实现（考虑冒险）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</p:spTree>
    <p:extLst>
      <p:ext uri="{BB962C8B-B14F-4D97-AF65-F5344CB8AC3E}">
        <p14:creationId xmlns:p14="http://schemas.microsoft.com/office/powerpoint/2010/main" val="163817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BAB32-F0FB-4AC1-A3FC-59E539F7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回顾：单周期处理器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81722-EE68-42B9-8018-288CB736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079207"/>
          </a:xfrm>
        </p:spPr>
        <p:txBody>
          <a:bodyPr/>
          <a:lstStyle/>
          <a:p>
            <a:r>
              <a:rPr lang="zh-CN" altLang="en-US" dirty="0"/>
              <a:t>单周期处理器的设计过程：</a:t>
            </a:r>
            <a:endParaRPr lang="en-US" altLang="zh-CN" dirty="0"/>
          </a:p>
          <a:p>
            <a:pPr lvl="1"/>
            <a:r>
              <a:rPr lang="zh-CN" altLang="en-US" dirty="0"/>
              <a:t>分析指令集需求</a:t>
            </a:r>
            <a:endParaRPr lang="en-US" altLang="zh-CN" dirty="0"/>
          </a:p>
          <a:p>
            <a:pPr lvl="1"/>
            <a:r>
              <a:rPr lang="zh-CN" altLang="en-US" dirty="0"/>
              <a:t>确定数据通路的组成模块：寄存器堆、存储器、</a:t>
            </a:r>
            <a:r>
              <a:rPr lang="en-US" altLang="zh-CN" dirty="0"/>
              <a:t>ALU…</a:t>
            </a:r>
          </a:p>
          <a:p>
            <a:pPr lvl="1"/>
            <a:r>
              <a:rPr lang="zh-CN" altLang="en-US" dirty="0"/>
              <a:t>根据指令组装数据通路：关键路径</a:t>
            </a:r>
            <a:r>
              <a:rPr lang="en-US" altLang="zh-CN" dirty="0"/>
              <a:t>&amp;</a:t>
            </a:r>
            <a:r>
              <a:rPr lang="zh-CN" altLang="en-US" dirty="0"/>
              <a:t>资源分配</a:t>
            </a:r>
            <a:endParaRPr lang="en-US" altLang="zh-CN" dirty="0"/>
          </a:p>
          <a:p>
            <a:pPr lvl="1"/>
            <a:r>
              <a:rPr lang="zh-CN" altLang="en-US" dirty="0"/>
              <a:t>控制信号：不同指令复用相同资源（</a:t>
            </a:r>
            <a:r>
              <a:rPr lang="en-US" altLang="zh-CN" dirty="0"/>
              <a:t>ALU</a:t>
            </a:r>
            <a:r>
              <a:rPr lang="zh-CN" altLang="en-US" dirty="0"/>
              <a:t>、寄存器堆、存储器</a:t>
            </a:r>
            <a:r>
              <a:rPr lang="en-US" altLang="zh-CN" dirty="0"/>
              <a:t>…</a:t>
            </a:r>
            <a:r>
              <a:rPr lang="zh-CN" altLang="en-US" dirty="0"/>
              <a:t>），通过</a:t>
            </a:r>
            <a:r>
              <a:rPr lang="en-US" altLang="zh-CN" dirty="0"/>
              <a:t>MUX</a:t>
            </a:r>
            <a:r>
              <a:rPr lang="zh-CN" altLang="en-US" dirty="0"/>
              <a:t>进行复用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40CA7-0E28-4065-863B-61D15FC4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BB9C75-9D5B-4273-91A3-B6CF202C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98" y="3889397"/>
            <a:ext cx="2982535" cy="10425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3CAE74-3F57-4398-B954-C8235111E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976" y="3837901"/>
            <a:ext cx="2439255" cy="11668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C4F10E7-C2BE-4BF3-ABE0-D6D5F8A10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397" y="3389854"/>
            <a:ext cx="2733458" cy="16149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7B1E3D-56B9-4D49-84A6-48F30D7DF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45" y="5096580"/>
            <a:ext cx="2439255" cy="14444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178EB4F-0CFA-41E0-BB4B-1B885D08C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557" y="5044651"/>
            <a:ext cx="2657475" cy="16768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E0644F-0172-457E-8162-F23D9FE34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700" y="5096580"/>
            <a:ext cx="2733458" cy="1705491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5C9C8791-2039-4005-A008-311155957B89}"/>
              </a:ext>
            </a:extLst>
          </p:cNvPr>
          <p:cNvSpPr/>
          <p:nvPr/>
        </p:nvSpPr>
        <p:spPr>
          <a:xfrm>
            <a:off x="5531699" y="4481944"/>
            <a:ext cx="409575" cy="26685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67FE6A7F-E536-4AAF-85C9-E04A5F5285CA}"/>
              </a:ext>
            </a:extLst>
          </p:cNvPr>
          <p:cNvSpPr/>
          <p:nvPr/>
        </p:nvSpPr>
        <p:spPr>
          <a:xfrm>
            <a:off x="2984669" y="4490594"/>
            <a:ext cx="280813" cy="26685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7A604519-8B33-4A87-B469-F81387AB6663}"/>
              </a:ext>
            </a:extLst>
          </p:cNvPr>
          <p:cNvSpPr/>
          <p:nvPr/>
        </p:nvSpPr>
        <p:spPr>
          <a:xfrm>
            <a:off x="113146" y="5818828"/>
            <a:ext cx="235999" cy="26685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77435A5-3440-40BC-AA69-40DF69B9C845}"/>
              </a:ext>
            </a:extLst>
          </p:cNvPr>
          <p:cNvSpPr/>
          <p:nvPr/>
        </p:nvSpPr>
        <p:spPr>
          <a:xfrm>
            <a:off x="2740034" y="5865661"/>
            <a:ext cx="235999" cy="26685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FD28DAD-D954-4D90-A607-23873938883A}"/>
              </a:ext>
            </a:extLst>
          </p:cNvPr>
          <p:cNvSpPr/>
          <p:nvPr/>
        </p:nvSpPr>
        <p:spPr>
          <a:xfrm>
            <a:off x="5642048" y="5939008"/>
            <a:ext cx="235999" cy="26685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58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3175A-0EE2-492A-A5D3-18C7538A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回顾：单周期数据通路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A918DA1-E24B-4375-BBD0-978B489E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202" name="图片 201">
            <a:extLst>
              <a:ext uri="{FF2B5EF4-FFF2-40B4-BE49-F238E27FC236}">
                <a16:creationId xmlns:a16="http://schemas.microsoft.com/office/drawing/2014/main" id="{B91E099D-AEDF-45F9-8CCC-50D431FA7F11}"/>
              </a:ext>
            </a:extLst>
          </p:cNvPr>
          <p:cNvPicPr/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33" y="1215107"/>
            <a:ext cx="8814852" cy="55063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6596CBE-9BC1-4F41-2AB5-613A76E072A1}"/>
              </a:ext>
            </a:extLst>
          </p:cNvPr>
          <p:cNvSpPr txBox="1"/>
          <p:nvPr/>
        </p:nvSpPr>
        <p:spPr>
          <a:xfrm>
            <a:off x="6924136" y="2431916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ea typeface="SimHei" panose="02010609060101010101" pitchFamily="49" charset="-122"/>
              </a:rPr>
              <a:t>CPI = 1</a:t>
            </a:r>
            <a:endParaRPr lang="zh-CN" altLang="en-US" sz="2800" dirty="0">
              <a:solidFill>
                <a:srgbClr val="C00000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48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797E09B-5C5F-4F85-AE96-4B626A67A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38725"/>
              </p:ext>
            </p:extLst>
          </p:nvPr>
        </p:nvGraphicFramePr>
        <p:xfrm>
          <a:off x="242161" y="3575559"/>
          <a:ext cx="8740957" cy="2935440"/>
        </p:xfrm>
        <a:graphic>
          <a:graphicData uri="http://schemas.openxmlformats.org/drawingml/2006/table">
            <a:tbl>
              <a:tblPr firstRow="1" firstCol="1" bandRow="1"/>
              <a:tblGrid>
                <a:gridCol w="14095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757037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887413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35361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51589">
                  <a:extLst>
                    <a:ext uri="{9D8B030D-6E8A-4147-A177-3AD203B41FA5}">
                      <a16:colId xmlns:a16="http://schemas.microsoft.com/office/drawing/2014/main" val="782606917"/>
                    </a:ext>
                  </a:extLst>
                </a:gridCol>
              </a:tblGrid>
              <a:tr h="225531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\</a:t>
                      </a:r>
                      <a:r>
                        <a:rPr lang="zh-CN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指令类型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型指令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分支指令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跳转指令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65598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取指令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IR &lt;= MemInst[PC]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PC &lt;= PC+4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89039" marR="89039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sz="17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9039" marR="89039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65598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 </a:t>
                      </a:r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A &lt;= Reg[IR[25:21]]; B &lt;= Reg[IR[20:16]]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 &lt;= PC + 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signext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(IR[15:0]) &lt;&lt; 2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89039" marR="89039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sz="1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9039" marR="89039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02121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跳转完成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 &lt;= A op B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&lt;= 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 + 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signext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(IR[15:0])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if (A==B) PC&lt;=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PC &lt;= {PC[31:28], IR[25:0], 2’b00}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51061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 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Reg[IR[15:11]] &lt;= 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Load: MDR&lt;=MemData[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]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Store: MemData[</a:t>
                      </a:r>
                      <a:r>
                        <a:rPr lang="en-US" sz="14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] &lt;= B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25531">
                <a:tc>
                  <a:txBody>
                    <a:bodyPr/>
                    <a:lstStyle/>
                    <a:p>
                      <a:pPr algn="ctr"/>
                      <a:r>
                        <a:rPr lang="zh-CN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Load: Reg[IR[20:16]]&lt;=MDR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6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92263" marR="9226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DF9A723-31E1-4137-90E9-818D6F18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回顾：多周期实现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72B7C-61F0-4BF6-9CA9-691ABF61E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各种指令的执行步骤和控制信号</a:t>
            </a:r>
            <a:endParaRPr lang="en-US" altLang="zh-CN" dirty="0"/>
          </a:p>
          <a:p>
            <a:pPr lvl="1"/>
            <a:r>
              <a:rPr lang="en-US" altLang="zh-CN" sz="2000" dirty="0"/>
              <a:t>ALU</a:t>
            </a:r>
            <a:r>
              <a:rPr lang="zh-CN" altLang="en-US" sz="2000" dirty="0"/>
              <a:t>指令：</a:t>
            </a:r>
            <a:r>
              <a:rPr lang="en-US" altLang="zh-CN" sz="2000" dirty="0"/>
              <a:t>4 cycles</a:t>
            </a:r>
          </a:p>
          <a:p>
            <a:pPr lvl="1"/>
            <a:r>
              <a:rPr lang="en-US" altLang="zh-CN" sz="2000" dirty="0" err="1"/>
              <a:t>lw</a:t>
            </a:r>
            <a:r>
              <a:rPr lang="zh-CN" altLang="en-US" sz="2000" dirty="0"/>
              <a:t>指令：</a:t>
            </a:r>
            <a:r>
              <a:rPr lang="en-US" altLang="zh-CN" sz="2000" dirty="0"/>
              <a:t>5 cycles</a:t>
            </a:r>
          </a:p>
          <a:p>
            <a:pPr lvl="1"/>
            <a:r>
              <a:rPr lang="en-US" altLang="zh-CN" sz="2000" dirty="0" err="1"/>
              <a:t>sw</a:t>
            </a:r>
            <a:r>
              <a:rPr lang="zh-CN" altLang="en-US" sz="2000" dirty="0"/>
              <a:t>指令：</a:t>
            </a:r>
            <a:r>
              <a:rPr lang="en-US" altLang="zh-CN" sz="2000" dirty="0"/>
              <a:t>4 cycles</a:t>
            </a:r>
          </a:p>
          <a:p>
            <a:pPr lvl="1"/>
            <a:r>
              <a:rPr lang="zh-CN" altLang="en-US" sz="2000" dirty="0"/>
              <a:t>分支指令：</a:t>
            </a:r>
            <a:r>
              <a:rPr lang="en-US" altLang="zh-CN" sz="2000" dirty="0"/>
              <a:t>3 cycles</a:t>
            </a:r>
          </a:p>
          <a:p>
            <a:pPr lvl="1"/>
            <a:r>
              <a:rPr lang="zh-CN" altLang="en-US" sz="2000" dirty="0"/>
              <a:t>跳转指令：</a:t>
            </a:r>
            <a:r>
              <a:rPr lang="en-US" altLang="zh-CN" sz="2000" dirty="0"/>
              <a:t>3 cycles</a:t>
            </a:r>
            <a:endParaRPr lang="zh-CN" altLang="en-US" sz="2000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A4124D-2F1A-404E-91BC-6FB8E20D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10999"/>
            <a:ext cx="2133600" cy="210476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7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5B2B279-3142-26F3-2D95-4077E9C419DF}"/>
                  </a:ext>
                </a:extLst>
              </p14:cNvPr>
              <p14:cNvContentPartPr/>
              <p14:nvPr/>
            </p14:nvContentPartPr>
            <p14:xfrm>
              <a:off x="4415760" y="220752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5B2B279-3142-26F3-2D95-4077E9C419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6400" y="2198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834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225D-1DCE-E844-8B8B-8366767B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回顾：多周期数据通路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FD841-6C9A-E94D-89D5-5A03D9D4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DF1F1D-E0F3-496A-B57B-153443F23C1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81" y="1204253"/>
            <a:ext cx="8914638" cy="5497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89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225D-1DCE-E844-8B8B-8366767B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回顾：多周期状态转移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FD841-6C9A-E94D-89D5-5A03D9D4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14B6610-7CC0-4291-94D7-B3D104A26C4D}"/>
              </a:ext>
            </a:extLst>
          </p:cNvPr>
          <p:cNvGrpSpPr/>
          <p:nvPr/>
        </p:nvGrpSpPr>
        <p:grpSpPr>
          <a:xfrm>
            <a:off x="1572247" y="1279525"/>
            <a:ext cx="6657353" cy="5374435"/>
            <a:chOff x="2486647" y="1279525"/>
            <a:chExt cx="6657353" cy="5374435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3A7B56F-58E4-4318-9113-14B764689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6647" y="1279525"/>
              <a:ext cx="6657353" cy="537443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A4CD928-DD42-4CA8-A2D0-ECAFED41B00E}"/>
                </a:ext>
              </a:extLst>
            </p:cNvPr>
            <p:cNvSpPr/>
            <p:nvPr/>
          </p:nvSpPr>
          <p:spPr>
            <a:xfrm>
              <a:off x="3757966" y="3620448"/>
              <a:ext cx="123013" cy="110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3DED9A3-831B-4FF2-8772-365C9B8F27C3}"/>
                </a:ext>
              </a:extLst>
            </p:cNvPr>
            <p:cNvSpPr txBox="1"/>
            <p:nvPr/>
          </p:nvSpPr>
          <p:spPr>
            <a:xfrm>
              <a:off x="3663019" y="356038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900" b="1" dirty="0"/>
                <a:t>10</a:t>
              </a:r>
              <a:endParaRPr kumimoji="1" lang="zh-CN" altLang="en-US" sz="9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6193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BAB32-F0FB-4AC1-A3FC-59E539F7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回顾：多周期处理器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81722-EE68-42B9-8018-288CB736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079207"/>
          </a:xfrm>
        </p:spPr>
        <p:txBody>
          <a:bodyPr/>
          <a:lstStyle/>
          <a:p>
            <a:r>
              <a:rPr lang="zh-CN" altLang="en-US" dirty="0"/>
              <a:t>单周期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多周期：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单周期：</a:t>
            </a:r>
            <a:r>
              <a:rPr lang="en-US" altLang="zh-CN" dirty="0">
                <a:sym typeface="Wingdings" panose="05000000000000000000" pitchFamily="2" charset="2"/>
              </a:rPr>
              <a:t>CPI = 1</a:t>
            </a:r>
            <a:r>
              <a:rPr lang="zh-CN" altLang="en-US" dirty="0">
                <a:sym typeface="Wingdings" panose="05000000000000000000" pitchFamily="2" charset="2"/>
              </a:rPr>
              <a:t>；各指令关键路径不均衡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多周期：</a:t>
            </a:r>
            <a:r>
              <a:rPr lang="en-US" altLang="zh-CN" dirty="0">
                <a:sym typeface="Wingdings" panose="05000000000000000000" pitchFamily="2" charset="2"/>
              </a:rPr>
              <a:t>CPI &gt; 1</a:t>
            </a:r>
            <a:r>
              <a:rPr lang="zh-CN" altLang="en-US" dirty="0">
                <a:sym typeface="Wingdings" panose="05000000000000000000" pitchFamily="2" charset="2"/>
              </a:rPr>
              <a:t>；指令分步骤执行，由状态机控制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多周期有限状态机：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现态：当前的执行阶段</a:t>
            </a:r>
            <a:r>
              <a:rPr lang="en-US" altLang="zh-CN" dirty="0">
                <a:sym typeface="Wingdings" panose="05000000000000000000" pitchFamily="2" charset="2"/>
              </a:rPr>
              <a:t>/</a:t>
            </a:r>
            <a:r>
              <a:rPr lang="zh-CN" altLang="en-US" dirty="0">
                <a:sym typeface="Wingdings" panose="05000000000000000000" pitchFamily="2" charset="2"/>
              </a:rPr>
              <a:t>步骤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次态方程：根据现态（以及</a:t>
            </a:r>
            <a:r>
              <a:rPr lang="en-US" altLang="zh-CN" dirty="0">
                <a:sym typeface="Wingdings" panose="05000000000000000000" pitchFamily="2" charset="2"/>
              </a:rPr>
              <a:t>opcode</a:t>
            </a:r>
            <a:r>
              <a:rPr lang="zh-CN" altLang="en-US" dirty="0">
                <a:sym typeface="Wingdings" panose="05000000000000000000" pitchFamily="2" charset="2"/>
              </a:rPr>
              <a:t>）决定次态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输出方程：根据现态给出控制信号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40CA7-0E28-4065-863B-61D15FC4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0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8219D-B22E-4DF6-A8EC-3B7C63CB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/>
              <a:t>CPU</a:t>
            </a:r>
            <a:r>
              <a:rPr lang="zh-CN" altLang="en-US" dirty="0"/>
              <a:t>的性能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9049E9-C294-4944-B9F7-9E7DB9C93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CPU</a:t>
                </a:r>
                <a:r>
                  <a:rPr lang="zh-CN" altLang="en-US" dirty="0"/>
                  <a:t>的性能：</a:t>
                </a:r>
                <a:endParaRPr lang="en-US" altLang="zh-CN" dirty="0"/>
              </a:p>
              <a:p>
                <a:pPr marL="342900" lvl="1" indent="0" algn="ctr">
                  <a:buNone/>
                </a:pPr>
                <a:endParaRPr lang="en-US" altLang="zh-CN" sz="2000" dirty="0">
                  <a:solidFill>
                    <a:schemeClr val="accent2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𝑪𝑷𝑼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执行时间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指令数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时钟周期</m:t>
                      </m:r>
                    </m:oMath>
                  </m:oMathPara>
                </a14:m>
                <a:endParaRPr lang="en-US" altLang="zh-CN" dirty="0">
                  <a:solidFill>
                    <a:srgbClr val="3333FF"/>
                  </a:solidFill>
                  <a:sym typeface="Symbol" pitchFamily="18" charset="2"/>
                </a:endParaRPr>
              </a:p>
              <a:p>
                <a:pPr marL="342900" lvl="1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主要手段：</a:t>
                </a:r>
                <a:endParaRPr lang="en-US" altLang="zh-CN" dirty="0"/>
              </a:p>
              <a:p>
                <a:pPr marL="995363" lvl="1" indent="-533400">
                  <a:defRPr/>
                </a:pPr>
                <a:r>
                  <a:rPr lang="zh-CN" altLang="en-US" sz="2400" dirty="0"/>
                  <a:t>减小指令数 </a:t>
                </a:r>
                <a:endParaRPr lang="en-US" altLang="zh-CN" sz="2400" dirty="0"/>
              </a:p>
              <a:p>
                <a:pPr marL="995363" lvl="1" indent="-533400">
                  <a:defRPr/>
                </a:pPr>
                <a:r>
                  <a:rPr lang="zh-CN" altLang="en-US" sz="2400" dirty="0"/>
                  <a:t>减小</a:t>
                </a:r>
                <a:r>
                  <a:rPr lang="en-US" altLang="zh-CN" sz="2400" dirty="0"/>
                  <a:t>CPI x </a:t>
                </a:r>
                <a:r>
                  <a:rPr lang="zh-CN" altLang="en-US" sz="2400" dirty="0"/>
                  <a:t>时钟周期</a:t>
                </a:r>
                <a:endParaRPr lang="en-US" altLang="zh-CN" sz="2400" dirty="0"/>
              </a:p>
              <a:p>
                <a:pPr marL="461963" lvl="1" indent="0">
                  <a:buNone/>
                  <a:defRPr/>
                </a:pPr>
                <a:endParaRPr lang="en-US" altLang="zh-CN" sz="2400" dirty="0"/>
              </a:p>
              <a:p>
                <a:pPr marL="461963" lvl="1" indent="0">
                  <a:buNone/>
                  <a:defRPr/>
                </a:pPr>
                <a:r>
                  <a:rPr lang="zh-CN" altLang="en-US" sz="2400" dirty="0"/>
                  <a:t>工作时间</a:t>
                </a:r>
                <a:r>
                  <a:rPr lang="en-US" altLang="zh-CN" sz="2400" dirty="0"/>
                  <a:t>/</a:t>
                </a:r>
                <a:r>
                  <a:rPr lang="zh-CN" altLang="en-US" sz="2400" dirty="0"/>
                  <a:t>空闲</a:t>
                </a:r>
                <a:r>
                  <a:rPr lang="zh-CN" altLang="en-US" dirty="0"/>
                  <a:t>时间：处理电路的“忙碌”程度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9049E9-C294-4944-B9F7-9E7DB9C93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2">
            <a:extLst>
              <a:ext uri="{FF2B5EF4-FFF2-40B4-BE49-F238E27FC236}">
                <a16:creationId xmlns:a16="http://schemas.microsoft.com/office/drawing/2014/main" id="{738598F3-B649-4BFB-B035-8895DBE77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1671892"/>
            <a:ext cx="6762750" cy="46672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endParaRPr lang="zh-CN" altLang="en-US" sz="2400" dirty="0">
              <a:solidFill>
                <a:schemeClr val="accent2"/>
              </a:solidFill>
              <a:ea typeface="SimHei" panose="02010609060101010101" pitchFamily="49" charset="-122"/>
              <a:sym typeface="Symbol" pitchFamily="18" charset="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E035AA-BD57-4E3A-877C-A33C3215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6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举例：单周期到多周期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算法：</a:t>
            </a:r>
            <a:r>
              <a:rPr lang="en-US" altLang="zh-CN" dirty="0"/>
              <a:t>Y=A+B+C+D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位无符号数的相加</a:t>
            </a:r>
            <a:endParaRPr lang="en-US" altLang="zh-CN" dirty="0"/>
          </a:p>
          <a:p>
            <a:r>
              <a:rPr lang="zh-CN" altLang="en-US" dirty="0"/>
              <a:t>单周期的做法：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0CCBE5-61F5-411A-944C-CC2A39E3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392C36-75DA-18C3-1A97-D355AB7216F5}"/>
              </a:ext>
            </a:extLst>
          </p:cNvPr>
          <p:cNvGrpSpPr/>
          <p:nvPr/>
        </p:nvGrpSpPr>
        <p:grpSpPr>
          <a:xfrm>
            <a:off x="1878339" y="2469981"/>
            <a:ext cx="5402994" cy="3560172"/>
            <a:chOff x="619914" y="2284787"/>
            <a:chExt cx="4674861" cy="3080386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C58EFF5-3AAA-1C54-765E-4461226BDCB0}"/>
                </a:ext>
              </a:extLst>
            </p:cNvPr>
            <p:cNvSpPr txBox="1"/>
            <p:nvPr/>
          </p:nvSpPr>
          <p:spPr>
            <a:xfrm>
              <a:off x="4571500" y="415823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寄存器</a:t>
              </a: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54FDFBA-D958-5DEB-8146-E325FD150090}"/>
                </a:ext>
              </a:extLst>
            </p:cNvPr>
            <p:cNvGrpSpPr/>
            <p:nvPr/>
          </p:nvGrpSpPr>
          <p:grpSpPr>
            <a:xfrm>
              <a:off x="619914" y="2284787"/>
              <a:ext cx="4506229" cy="3080386"/>
              <a:chOff x="2373305" y="2274068"/>
              <a:chExt cx="3352240" cy="1998041"/>
            </a:xfrm>
          </p:grpSpPr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08F4AC64-937F-5384-D044-3A861D5D0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7984" y="3604977"/>
                <a:ext cx="484602" cy="0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 dirty="0">
                  <a:latin typeface="+mn-lt"/>
                </a:endParaRPr>
              </a:p>
            </p:txBody>
          </p:sp>
          <p:sp>
            <p:nvSpPr>
              <p:cNvPr id="30" name="Line 23">
                <a:extLst>
                  <a:ext uri="{FF2B5EF4-FFF2-40B4-BE49-F238E27FC236}">
                    <a16:creationId xmlns:a16="http://schemas.microsoft.com/office/drawing/2014/main" id="{A222BBE0-DA80-0A07-2AD3-E2B055C33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7984" y="4104612"/>
                <a:ext cx="484602" cy="0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 dirty="0">
                  <a:latin typeface="+mn-lt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E6F7773-EF5D-6FD6-9D46-83DD2B36D94B}"/>
                  </a:ext>
                </a:extLst>
              </p:cNvPr>
              <p:cNvGrpSpPr/>
              <p:nvPr/>
            </p:nvGrpSpPr>
            <p:grpSpPr>
              <a:xfrm>
                <a:off x="2373305" y="2274068"/>
                <a:ext cx="3352240" cy="1998041"/>
                <a:chOff x="2373305" y="2274068"/>
                <a:chExt cx="3352240" cy="1998041"/>
              </a:xfrm>
            </p:grpSpPr>
            <p:grpSp>
              <p:nvGrpSpPr>
                <p:cNvPr id="32" name="组合 31">
                  <a:extLst>
                    <a:ext uri="{FF2B5EF4-FFF2-40B4-BE49-F238E27FC236}">
                      <a16:creationId xmlns:a16="http://schemas.microsoft.com/office/drawing/2014/main" id="{60E7E33F-90E9-47FD-ABF3-79D6C100AB79}"/>
                    </a:ext>
                  </a:extLst>
                </p:cNvPr>
                <p:cNvGrpSpPr/>
                <p:nvPr/>
              </p:nvGrpSpPr>
              <p:grpSpPr>
                <a:xfrm>
                  <a:off x="3177727" y="2284787"/>
                  <a:ext cx="2547818" cy="1940543"/>
                  <a:chOff x="3177727" y="2284787"/>
                  <a:chExt cx="2547818" cy="1940543"/>
                </a:xfrm>
              </p:grpSpPr>
              <p:grpSp>
                <p:nvGrpSpPr>
                  <p:cNvPr id="73" name="组合 72">
                    <a:extLst>
                      <a:ext uri="{FF2B5EF4-FFF2-40B4-BE49-F238E27FC236}">
                        <a16:creationId xmlns:a16="http://schemas.microsoft.com/office/drawing/2014/main" id="{98442053-4979-9EA6-B38D-23B5B4D47B1A}"/>
                      </a:ext>
                    </a:extLst>
                  </p:cNvPr>
                  <p:cNvGrpSpPr/>
                  <p:nvPr/>
                </p:nvGrpSpPr>
                <p:grpSpPr>
                  <a:xfrm>
                    <a:off x="3177727" y="2284787"/>
                    <a:ext cx="2184899" cy="1940543"/>
                    <a:chOff x="4011105" y="2366471"/>
                    <a:chExt cx="2184899" cy="1940543"/>
                  </a:xfrm>
                </p:grpSpPr>
                <p:grpSp>
                  <p:nvGrpSpPr>
                    <p:cNvPr id="82" name="Group 4">
                      <a:extLst>
                        <a:ext uri="{FF2B5EF4-FFF2-40B4-BE49-F238E27FC236}">
                          <a16:creationId xmlns:a16="http://schemas.microsoft.com/office/drawing/2014/main" id="{2E2729C4-F4A3-19C0-4311-1C405319F01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4011105" y="2366471"/>
                      <a:ext cx="1961891" cy="1940543"/>
                      <a:chOff x="1180" y="1309"/>
                      <a:chExt cx="1838" cy="1818"/>
                    </a:xfrm>
                  </p:grpSpPr>
                  <p:sp>
                    <p:nvSpPr>
                      <p:cNvPr id="84" name="Freeform 5">
                        <a:extLst>
                          <a:ext uri="{FF2B5EF4-FFF2-40B4-BE49-F238E27FC236}">
                            <a16:creationId xmlns:a16="http://schemas.microsoft.com/office/drawing/2014/main" id="{AA9C2B21-D6B7-972C-7C09-8C0C8F3EF9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3" y="1650"/>
                        <a:ext cx="455" cy="909"/>
                      </a:xfrm>
                      <a:custGeom>
                        <a:avLst/>
                        <a:gdLst>
                          <a:gd name="T0" fmla="*/ 0 w 455"/>
                          <a:gd name="T1" fmla="*/ 0 h 909"/>
                          <a:gd name="T2" fmla="*/ 455 w 455"/>
                          <a:gd name="T3" fmla="*/ 228 h 909"/>
                          <a:gd name="T4" fmla="*/ 455 w 455"/>
                          <a:gd name="T5" fmla="*/ 682 h 909"/>
                          <a:gd name="T6" fmla="*/ 0 w 455"/>
                          <a:gd name="T7" fmla="*/ 909 h 909"/>
                          <a:gd name="T8" fmla="*/ 0 w 455"/>
                          <a:gd name="T9" fmla="*/ 568 h 909"/>
                          <a:gd name="T10" fmla="*/ 228 w 455"/>
                          <a:gd name="T11" fmla="*/ 455 h 909"/>
                          <a:gd name="T12" fmla="*/ 0 w 455"/>
                          <a:gd name="T13" fmla="*/ 341 h 909"/>
                          <a:gd name="T14" fmla="*/ 0 w 455"/>
                          <a:gd name="T15" fmla="*/ 0 h 90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455" h="909">
                            <a:moveTo>
                              <a:pt x="0" y="0"/>
                            </a:moveTo>
                            <a:lnTo>
                              <a:pt x="455" y="228"/>
                            </a:lnTo>
                            <a:lnTo>
                              <a:pt x="455" y="682"/>
                            </a:lnTo>
                            <a:lnTo>
                              <a:pt x="0" y="909"/>
                            </a:lnTo>
                            <a:lnTo>
                              <a:pt x="0" y="568"/>
                            </a:lnTo>
                            <a:lnTo>
                              <a:pt x="228" y="455"/>
                            </a:lnTo>
                            <a:lnTo>
                              <a:pt x="0" y="34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85" name="Freeform 6">
                        <a:extLst>
                          <a:ext uri="{FF2B5EF4-FFF2-40B4-BE49-F238E27FC236}">
                            <a16:creationId xmlns:a16="http://schemas.microsoft.com/office/drawing/2014/main" id="{4F009AE5-C9F7-0224-CF29-FA16AAAE2C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3" y="1650"/>
                        <a:ext cx="455" cy="909"/>
                      </a:xfrm>
                      <a:custGeom>
                        <a:avLst/>
                        <a:gdLst>
                          <a:gd name="T0" fmla="*/ 0 w 455"/>
                          <a:gd name="T1" fmla="*/ 0 h 909"/>
                          <a:gd name="T2" fmla="*/ 455 w 455"/>
                          <a:gd name="T3" fmla="*/ 228 h 909"/>
                          <a:gd name="T4" fmla="*/ 455 w 455"/>
                          <a:gd name="T5" fmla="*/ 682 h 909"/>
                          <a:gd name="T6" fmla="*/ 0 w 455"/>
                          <a:gd name="T7" fmla="*/ 909 h 909"/>
                          <a:gd name="T8" fmla="*/ 0 w 455"/>
                          <a:gd name="T9" fmla="*/ 568 h 909"/>
                          <a:gd name="T10" fmla="*/ 228 w 455"/>
                          <a:gd name="T11" fmla="*/ 455 h 909"/>
                          <a:gd name="T12" fmla="*/ 0 w 455"/>
                          <a:gd name="T13" fmla="*/ 341 h 909"/>
                          <a:gd name="T14" fmla="*/ 0 w 455"/>
                          <a:gd name="T15" fmla="*/ 0 h 90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455" h="909">
                            <a:moveTo>
                              <a:pt x="0" y="0"/>
                            </a:moveTo>
                            <a:lnTo>
                              <a:pt x="455" y="228"/>
                            </a:lnTo>
                            <a:lnTo>
                              <a:pt x="455" y="682"/>
                            </a:lnTo>
                            <a:lnTo>
                              <a:pt x="0" y="909"/>
                            </a:lnTo>
                            <a:lnTo>
                              <a:pt x="0" y="568"/>
                            </a:lnTo>
                            <a:lnTo>
                              <a:pt x="228" y="455"/>
                            </a:lnTo>
                            <a:lnTo>
                              <a:pt x="0" y="34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86" name="Rectangle 8">
                        <a:extLst>
                          <a:ext uri="{FF2B5EF4-FFF2-40B4-BE49-F238E27FC236}">
                            <a16:creationId xmlns:a16="http://schemas.microsoft.com/office/drawing/2014/main" id="{5E490056-6579-5012-3E67-A5861D474CA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2689" y="2054"/>
                        <a:ext cx="356" cy="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ADD</a:t>
                        </a:r>
                        <a:endPara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87" name="Freeform 15">
                        <a:extLst>
                          <a:ext uri="{FF2B5EF4-FFF2-40B4-BE49-F238E27FC236}">
                            <a16:creationId xmlns:a16="http://schemas.microsoft.com/office/drawing/2014/main" id="{82FB0071-A43B-9DA1-E4A0-533CE7D879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5" y="1309"/>
                        <a:ext cx="341" cy="682"/>
                      </a:xfrm>
                      <a:custGeom>
                        <a:avLst/>
                        <a:gdLst>
                          <a:gd name="T0" fmla="*/ 0 w 341"/>
                          <a:gd name="T1" fmla="*/ 0 h 682"/>
                          <a:gd name="T2" fmla="*/ 341 w 341"/>
                          <a:gd name="T3" fmla="*/ 171 h 682"/>
                          <a:gd name="T4" fmla="*/ 341 w 341"/>
                          <a:gd name="T5" fmla="*/ 512 h 682"/>
                          <a:gd name="T6" fmla="*/ 0 w 341"/>
                          <a:gd name="T7" fmla="*/ 682 h 682"/>
                          <a:gd name="T8" fmla="*/ 0 w 341"/>
                          <a:gd name="T9" fmla="*/ 0 h 6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41" h="682">
                            <a:moveTo>
                              <a:pt x="0" y="0"/>
                            </a:moveTo>
                            <a:lnTo>
                              <a:pt x="341" y="171"/>
                            </a:lnTo>
                            <a:lnTo>
                              <a:pt x="341" y="512"/>
                            </a:lnTo>
                            <a:lnTo>
                              <a:pt x="0" y="68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88" name="Freeform 16">
                        <a:extLst>
                          <a:ext uri="{FF2B5EF4-FFF2-40B4-BE49-F238E27FC236}">
                            <a16:creationId xmlns:a16="http://schemas.microsoft.com/office/drawing/2014/main" id="{CF09C7A8-1FCE-19F3-DA5E-549A84F1A1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5" y="1309"/>
                        <a:ext cx="341" cy="682"/>
                      </a:xfrm>
                      <a:custGeom>
                        <a:avLst/>
                        <a:gdLst>
                          <a:gd name="T0" fmla="*/ 0 w 341"/>
                          <a:gd name="T1" fmla="*/ 0 h 682"/>
                          <a:gd name="T2" fmla="*/ 341 w 341"/>
                          <a:gd name="T3" fmla="*/ 171 h 682"/>
                          <a:gd name="T4" fmla="*/ 341 w 341"/>
                          <a:gd name="T5" fmla="*/ 512 h 682"/>
                          <a:gd name="T6" fmla="*/ 0 w 341"/>
                          <a:gd name="T7" fmla="*/ 682 h 682"/>
                          <a:gd name="T8" fmla="*/ 0 w 341"/>
                          <a:gd name="T9" fmla="*/ 0 h 6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41" h="682">
                            <a:moveTo>
                              <a:pt x="0" y="0"/>
                            </a:moveTo>
                            <a:lnTo>
                              <a:pt x="341" y="171"/>
                            </a:lnTo>
                            <a:lnTo>
                              <a:pt x="341" y="512"/>
                            </a:lnTo>
                            <a:lnTo>
                              <a:pt x="0" y="68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89" name="Rectangle 18">
                        <a:extLst>
                          <a:ext uri="{FF2B5EF4-FFF2-40B4-BE49-F238E27FC236}">
                            <a16:creationId xmlns:a16="http://schemas.microsoft.com/office/drawing/2014/main" id="{2669972F-AB1D-C432-F4AF-18FB0CE771D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1606" y="1612"/>
                        <a:ext cx="356" cy="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altLang="zh-CN" sz="1400" dirty="0">
                            <a:solidFill>
                              <a:srgbClr val="000000"/>
                            </a:solidFill>
                            <a:latin typeface="+mn-lt"/>
                            <a:ea typeface="宋体" panose="02010600030101010101" pitchFamily="2" charset="-122"/>
                          </a:rPr>
                          <a:t>ADD</a:t>
                        </a:r>
                        <a:endPara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90" name="Freeform 19">
                        <a:extLst>
                          <a:ext uri="{FF2B5EF4-FFF2-40B4-BE49-F238E27FC236}">
                            <a16:creationId xmlns:a16="http://schemas.microsoft.com/office/drawing/2014/main" id="{BE9A540E-945E-B006-F95C-129700A1B6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5" y="2445"/>
                        <a:ext cx="341" cy="682"/>
                      </a:xfrm>
                      <a:custGeom>
                        <a:avLst/>
                        <a:gdLst>
                          <a:gd name="T0" fmla="*/ 0 w 341"/>
                          <a:gd name="T1" fmla="*/ 0 h 682"/>
                          <a:gd name="T2" fmla="*/ 341 w 341"/>
                          <a:gd name="T3" fmla="*/ 171 h 682"/>
                          <a:gd name="T4" fmla="*/ 341 w 341"/>
                          <a:gd name="T5" fmla="*/ 512 h 682"/>
                          <a:gd name="T6" fmla="*/ 0 w 341"/>
                          <a:gd name="T7" fmla="*/ 682 h 682"/>
                          <a:gd name="T8" fmla="*/ 0 w 341"/>
                          <a:gd name="T9" fmla="*/ 0 h 6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41" h="682">
                            <a:moveTo>
                              <a:pt x="0" y="0"/>
                            </a:moveTo>
                            <a:lnTo>
                              <a:pt x="341" y="171"/>
                            </a:lnTo>
                            <a:lnTo>
                              <a:pt x="341" y="512"/>
                            </a:lnTo>
                            <a:lnTo>
                              <a:pt x="0" y="68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91" name="Freeform 20">
                        <a:extLst>
                          <a:ext uri="{FF2B5EF4-FFF2-40B4-BE49-F238E27FC236}">
                            <a16:creationId xmlns:a16="http://schemas.microsoft.com/office/drawing/2014/main" id="{5C228BD2-6648-6201-5853-5691A3935E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5" y="2445"/>
                        <a:ext cx="341" cy="682"/>
                      </a:xfrm>
                      <a:custGeom>
                        <a:avLst/>
                        <a:gdLst>
                          <a:gd name="T0" fmla="*/ 0 w 341"/>
                          <a:gd name="T1" fmla="*/ 0 h 682"/>
                          <a:gd name="T2" fmla="*/ 341 w 341"/>
                          <a:gd name="T3" fmla="*/ 171 h 682"/>
                          <a:gd name="T4" fmla="*/ 341 w 341"/>
                          <a:gd name="T5" fmla="*/ 512 h 682"/>
                          <a:gd name="T6" fmla="*/ 0 w 341"/>
                          <a:gd name="T7" fmla="*/ 682 h 682"/>
                          <a:gd name="T8" fmla="*/ 0 w 341"/>
                          <a:gd name="T9" fmla="*/ 0 h 6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41" h="682">
                            <a:moveTo>
                              <a:pt x="0" y="0"/>
                            </a:moveTo>
                            <a:lnTo>
                              <a:pt x="341" y="171"/>
                            </a:lnTo>
                            <a:lnTo>
                              <a:pt x="341" y="512"/>
                            </a:lnTo>
                            <a:lnTo>
                              <a:pt x="0" y="68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92" name="Rectangle 22">
                        <a:extLst>
                          <a:ext uri="{FF2B5EF4-FFF2-40B4-BE49-F238E27FC236}">
                            <a16:creationId xmlns:a16="http://schemas.microsoft.com/office/drawing/2014/main" id="{388962A0-F72A-D5CD-02A0-EBA9753E071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5400000">
                        <a:off x="1606" y="2747"/>
                        <a:ext cx="356" cy="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ADD</a:t>
                        </a:r>
                        <a:endPara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93" name="Line 23">
                        <a:extLst>
                          <a:ext uri="{FF2B5EF4-FFF2-40B4-BE49-F238E27FC236}">
                            <a16:creationId xmlns:a16="http://schemas.microsoft.com/office/drawing/2014/main" id="{F2C1E16D-EC3C-2C8F-3877-0811E4524B2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180" y="1445"/>
                        <a:ext cx="475" cy="0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94" name="Line 24">
                        <a:extLst>
                          <a:ext uri="{FF2B5EF4-FFF2-40B4-BE49-F238E27FC236}">
                            <a16:creationId xmlns:a16="http://schemas.microsoft.com/office/drawing/2014/main" id="{12889593-9031-BC95-817B-61B1A5A6D1E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180" y="1883"/>
                        <a:ext cx="475" cy="0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95" name="Freeform 29">
                        <a:extLst>
                          <a:ext uri="{FF2B5EF4-FFF2-40B4-BE49-F238E27FC236}">
                            <a16:creationId xmlns:a16="http://schemas.microsoft.com/office/drawing/2014/main" id="{66D50D15-B7C6-9ED4-B707-FC8B17967B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96" y="1650"/>
                        <a:ext cx="567" cy="114"/>
                      </a:xfrm>
                      <a:custGeom>
                        <a:avLst/>
                        <a:gdLst>
                          <a:gd name="T0" fmla="*/ 0 w 567"/>
                          <a:gd name="T1" fmla="*/ 0 h 114"/>
                          <a:gd name="T2" fmla="*/ 85 w 567"/>
                          <a:gd name="T3" fmla="*/ 0 h 114"/>
                          <a:gd name="T4" fmla="*/ 85 w 567"/>
                          <a:gd name="T5" fmla="*/ 114 h 114"/>
                          <a:gd name="T6" fmla="*/ 567 w 567"/>
                          <a:gd name="T7" fmla="*/ 114 h 1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</a:cxnLst>
                        <a:rect l="0" t="0" r="r" b="b"/>
                        <a:pathLst>
                          <a:path w="567" h="114">
                            <a:moveTo>
                              <a:pt x="0" y="0"/>
                            </a:moveTo>
                            <a:lnTo>
                              <a:pt x="85" y="0"/>
                            </a:lnTo>
                            <a:lnTo>
                              <a:pt x="85" y="114"/>
                            </a:lnTo>
                            <a:lnTo>
                              <a:pt x="567" y="114"/>
                            </a:lnTo>
                          </a:path>
                        </a:pathLst>
                      </a:cu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96" name="Freeform 30">
                        <a:extLst>
                          <a:ext uri="{FF2B5EF4-FFF2-40B4-BE49-F238E27FC236}">
                            <a16:creationId xmlns:a16="http://schemas.microsoft.com/office/drawing/2014/main" id="{31FAD668-C89F-C9BD-3C53-B5C787B5EB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96" y="2445"/>
                        <a:ext cx="567" cy="341"/>
                      </a:xfrm>
                      <a:custGeom>
                        <a:avLst/>
                        <a:gdLst>
                          <a:gd name="T0" fmla="*/ 0 w 567"/>
                          <a:gd name="T1" fmla="*/ 341 h 341"/>
                          <a:gd name="T2" fmla="*/ 85 w 567"/>
                          <a:gd name="T3" fmla="*/ 341 h 341"/>
                          <a:gd name="T4" fmla="*/ 85 w 567"/>
                          <a:gd name="T5" fmla="*/ 0 h 341"/>
                          <a:gd name="T6" fmla="*/ 567 w 567"/>
                          <a:gd name="T7" fmla="*/ 0 h 3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</a:cxnLst>
                        <a:rect l="0" t="0" r="r" b="b"/>
                        <a:pathLst>
                          <a:path w="567" h="341">
                            <a:moveTo>
                              <a:pt x="0" y="341"/>
                            </a:moveTo>
                            <a:lnTo>
                              <a:pt x="85" y="341"/>
                            </a:lnTo>
                            <a:lnTo>
                              <a:pt x="85" y="0"/>
                            </a:lnTo>
                            <a:lnTo>
                              <a:pt x="567" y="0"/>
                            </a:lnTo>
                          </a:path>
                        </a:pathLst>
                      </a:cu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97" name="Rectangle 33">
                        <a:extLst>
                          <a:ext uri="{FF2B5EF4-FFF2-40B4-BE49-F238E27FC236}">
                            <a16:creationId xmlns:a16="http://schemas.microsoft.com/office/drawing/2014/main" id="{9B3CE9A6-4553-E40C-83E8-2DC601B0294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6" y="1461"/>
                        <a:ext cx="128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zh-CN" altLang="zh-CN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A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98" name="Rectangle 34">
                        <a:extLst>
                          <a:ext uri="{FF2B5EF4-FFF2-40B4-BE49-F238E27FC236}">
                            <a16:creationId xmlns:a16="http://schemas.microsoft.com/office/drawing/2014/main" id="{5971D0D4-CF17-83C4-096E-9C2BA8BC02C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25" y="2567"/>
                        <a:ext cx="89" cy="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altLang="zh-CN" sz="1600" dirty="0">
                            <a:solidFill>
                              <a:srgbClr val="000000"/>
                            </a:solidFill>
                            <a:latin typeface="+mn-lt"/>
                            <a:ea typeface="宋体" panose="02010600030101010101" pitchFamily="2" charset="-122"/>
                          </a:rPr>
                          <a:t>C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99" name="Rectangle 35">
                        <a:extLst>
                          <a:ext uri="{FF2B5EF4-FFF2-40B4-BE49-F238E27FC236}">
                            <a16:creationId xmlns:a16="http://schemas.microsoft.com/office/drawing/2014/main" id="{B888F9BD-230F-4A4D-22F1-A683D5D46F7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32" y="1721"/>
                        <a:ext cx="82" cy="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altLang="zh-CN" sz="1600" dirty="0">
                            <a:solidFill>
                              <a:srgbClr val="000000"/>
                            </a:solidFill>
                            <a:latin typeface="+mn-lt"/>
                            <a:ea typeface="宋体" panose="02010600030101010101" pitchFamily="2" charset="-122"/>
                          </a:rPr>
                          <a:t>B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  <p:sp>
                    <p:nvSpPr>
                      <p:cNvPr id="100" name="Rectangle 36">
                        <a:extLst>
                          <a:ext uri="{FF2B5EF4-FFF2-40B4-BE49-F238E27FC236}">
                            <a16:creationId xmlns:a16="http://schemas.microsoft.com/office/drawing/2014/main" id="{BBF93940-4713-2E5B-EEC4-0B616E396BD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28" y="2863"/>
                        <a:ext cx="138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zh-CN" altLang="zh-CN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D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</p:grpSp>
                <p:sp>
                  <p:nvSpPr>
                    <p:cNvPr id="83" name="Line 24">
                      <a:extLst>
                        <a:ext uri="{FF2B5EF4-FFF2-40B4-BE49-F238E27FC236}">
                          <a16:creationId xmlns:a16="http://schemas.microsoft.com/office/drawing/2014/main" id="{09976E86-0A5B-2474-AAEC-27D975D019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5972993" y="3215590"/>
                      <a:ext cx="223011" cy="0"/>
                    </a:xfrm>
                    <a:prstGeom prst="line">
                      <a:avLst/>
                    </a:pr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 sz="1200">
                        <a:latin typeface="+mn-lt"/>
                      </a:endParaRPr>
                    </a:p>
                  </p:txBody>
                </p:sp>
              </p:grpSp>
              <p:grpSp>
                <p:nvGrpSpPr>
                  <p:cNvPr id="74" name="组合 73">
                    <a:extLst>
                      <a:ext uri="{FF2B5EF4-FFF2-40B4-BE49-F238E27FC236}">
                        <a16:creationId xmlns:a16="http://schemas.microsoft.com/office/drawing/2014/main" id="{4C9EEA17-2387-99E7-5367-5E72EEA2F7A7}"/>
                      </a:ext>
                    </a:extLst>
                  </p:cNvPr>
                  <p:cNvGrpSpPr/>
                  <p:nvPr/>
                </p:nvGrpSpPr>
                <p:grpSpPr>
                  <a:xfrm>
                    <a:off x="5362627" y="2783884"/>
                    <a:ext cx="362918" cy="727971"/>
                    <a:chOff x="5362627" y="2783884"/>
                    <a:chExt cx="362918" cy="727971"/>
                  </a:xfrm>
                </p:grpSpPr>
                <p:grpSp>
                  <p:nvGrpSpPr>
                    <p:cNvPr id="75" name="组合 74">
                      <a:extLst>
                        <a:ext uri="{FF2B5EF4-FFF2-40B4-BE49-F238E27FC236}">
                          <a16:creationId xmlns:a16="http://schemas.microsoft.com/office/drawing/2014/main" id="{FEFEF087-B7D7-DC96-6571-D1F25B770C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62627" y="2783884"/>
                      <a:ext cx="362918" cy="727971"/>
                      <a:chOff x="6852297" y="2398254"/>
                      <a:chExt cx="362918" cy="727971"/>
                    </a:xfrm>
                  </p:grpSpPr>
                  <p:sp>
                    <p:nvSpPr>
                      <p:cNvPr id="79" name="Rectangle 9">
                        <a:extLst>
                          <a:ext uri="{FF2B5EF4-FFF2-40B4-BE49-F238E27FC236}">
                            <a16:creationId xmlns:a16="http://schemas.microsoft.com/office/drawing/2014/main" id="{DBE07264-06E8-DB02-B759-810CAFA0AA9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852297" y="2398254"/>
                        <a:ext cx="362918" cy="727971"/>
                      </a:xfrm>
                      <a:prstGeom prst="rect">
                        <a:avLst/>
                      </a:prstGeom>
                      <a:solidFill>
                        <a:srgbClr val="E8EEF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80" name="Rectangle 10">
                        <a:extLst>
                          <a:ext uri="{FF2B5EF4-FFF2-40B4-BE49-F238E27FC236}">
                            <a16:creationId xmlns:a16="http://schemas.microsoft.com/office/drawing/2014/main" id="{9E255DDA-AE5F-8BFD-9E6C-4FE788A85B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852297" y="2398254"/>
                        <a:ext cx="362918" cy="727971"/>
                      </a:xfrm>
                      <a:prstGeom prst="rect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81" name="Rectangle 11">
                        <a:extLst>
                          <a:ext uri="{FF2B5EF4-FFF2-40B4-BE49-F238E27FC236}">
                            <a16:creationId xmlns:a16="http://schemas.microsoft.com/office/drawing/2014/main" id="{C928F87F-0D41-AB04-6AC2-CCB70D79E0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965628" y="2639128"/>
                        <a:ext cx="136256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altLang="zh-CN" sz="1600" dirty="0">
                            <a:solidFill>
                              <a:srgbClr val="000000"/>
                            </a:solidFill>
                            <a:latin typeface="+mn-lt"/>
                            <a:ea typeface="宋体" panose="02010600030101010101" pitchFamily="2" charset="-122"/>
                          </a:rPr>
                          <a:t>Y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</p:grpSp>
                <p:grpSp>
                  <p:nvGrpSpPr>
                    <p:cNvPr id="76" name="组合 75">
                      <a:extLst>
                        <a:ext uri="{FF2B5EF4-FFF2-40B4-BE49-F238E27FC236}">
                          <a16:creationId xmlns:a16="http://schemas.microsoft.com/office/drawing/2014/main" id="{3862E8BA-F22B-4C7A-8B13-3E56AA7AA7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78490" y="3333677"/>
                      <a:ext cx="70189" cy="105731"/>
                      <a:chOff x="6203289" y="3406124"/>
                      <a:chExt cx="92188" cy="152230"/>
                    </a:xfrm>
                  </p:grpSpPr>
                  <p:sp>
                    <p:nvSpPr>
                      <p:cNvPr id="77" name="Line 24">
                        <a:extLst>
                          <a:ext uri="{FF2B5EF4-FFF2-40B4-BE49-F238E27FC236}">
                            <a16:creationId xmlns:a16="http://schemas.microsoft.com/office/drawing/2014/main" id="{BDC2734B-4024-E7A2-2E15-A636CE1EDD0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6203290" y="3406124"/>
                        <a:ext cx="92186" cy="76115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  <p:sp>
                    <p:nvSpPr>
                      <p:cNvPr id="78" name="Line 24">
                        <a:extLst>
                          <a:ext uri="{FF2B5EF4-FFF2-40B4-BE49-F238E27FC236}">
                            <a16:creationId xmlns:a16="http://schemas.microsoft.com/office/drawing/2014/main" id="{E9CDADEA-0D43-EF9D-64C7-BE9FEA5B3D1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03289" y="3482239"/>
                        <a:ext cx="92188" cy="76115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E4C7CB22-D0F0-E043-4E4A-3B5CEA4C8210}"/>
                    </a:ext>
                  </a:extLst>
                </p:cNvPr>
                <p:cNvGrpSpPr/>
                <p:nvPr/>
              </p:nvGrpSpPr>
              <p:grpSpPr>
                <a:xfrm>
                  <a:off x="2373305" y="2274068"/>
                  <a:ext cx="814388" cy="1998041"/>
                  <a:chOff x="2373305" y="2274068"/>
                  <a:chExt cx="814388" cy="1998041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C87B3896-38BD-BF77-5234-073B2A4A31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79556" y="2360457"/>
                    <a:ext cx="136628" cy="24657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panose="02010600030101010101" pitchFamily="2" charset="-122"/>
                      </a:rPr>
                      <a:t>A</a:t>
                    </a:r>
                    <a:endParaRPr kumimoji="0" lang="zh-CN" altLang="zh-CN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+mn-lt"/>
                    </a:endParaRPr>
                  </a:p>
                </p:txBody>
              </p:sp>
              <p:grpSp>
                <p:nvGrpSpPr>
                  <p:cNvPr id="35" name="组合 34">
                    <a:extLst>
                      <a:ext uri="{FF2B5EF4-FFF2-40B4-BE49-F238E27FC236}">
                        <a16:creationId xmlns:a16="http://schemas.microsoft.com/office/drawing/2014/main" id="{CE0B9DCD-F8AB-F839-32A2-458C89D336D8}"/>
                      </a:ext>
                    </a:extLst>
                  </p:cNvPr>
                  <p:cNvGrpSpPr/>
                  <p:nvPr/>
                </p:nvGrpSpPr>
                <p:grpSpPr>
                  <a:xfrm>
                    <a:off x="2373305" y="2274068"/>
                    <a:ext cx="814388" cy="1998041"/>
                    <a:chOff x="2373305" y="2274068"/>
                    <a:chExt cx="814388" cy="1998041"/>
                  </a:xfrm>
                </p:grpSpPr>
                <p:grpSp>
                  <p:nvGrpSpPr>
                    <p:cNvPr id="36" name="组合 35">
                      <a:extLst>
                        <a:ext uri="{FF2B5EF4-FFF2-40B4-BE49-F238E27FC236}">
                          <a16:creationId xmlns:a16="http://schemas.microsoft.com/office/drawing/2014/main" id="{B71734AD-B4BD-60CB-4538-E57E29C0BE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73305" y="2274068"/>
                      <a:ext cx="814388" cy="1998041"/>
                      <a:chOff x="2373305" y="2274068"/>
                      <a:chExt cx="814388" cy="1998041"/>
                    </a:xfrm>
                  </p:grpSpPr>
                  <p:grpSp>
                    <p:nvGrpSpPr>
                      <p:cNvPr id="38" name="组合 37">
                        <a:extLst>
                          <a:ext uri="{FF2B5EF4-FFF2-40B4-BE49-F238E27FC236}">
                            <a16:creationId xmlns:a16="http://schemas.microsoft.com/office/drawing/2014/main" id="{4D6C9C2A-E95C-F90F-53C7-0A9903E091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393716" y="2274068"/>
                        <a:ext cx="793977" cy="1998041"/>
                        <a:chOff x="2393716" y="2274068"/>
                        <a:chExt cx="793977" cy="1998041"/>
                      </a:xfrm>
                    </p:grpSpPr>
                    <p:grpSp>
                      <p:nvGrpSpPr>
                        <p:cNvPr id="40" name="组合 39">
                          <a:extLst>
                            <a:ext uri="{FF2B5EF4-FFF2-40B4-BE49-F238E27FC236}">
                              <a16:creationId xmlns:a16="http://schemas.microsoft.com/office/drawing/2014/main" id="{7F4DD791-1EBC-F7FF-E90E-63C7BFDF6E9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06463" y="2274068"/>
                          <a:ext cx="281230" cy="362906"/>
                          <a:chOff x="5362627" y="2783884"/>
                          <a:chExt cx="362918" cy="727971"/>
                        </a:xfrm>
                      </p:grpSpPr>
                      <p:grpSp>
                        <p:nvGrpSpPr>
                          <p:cNvPr id="67" name="组合 66">
                            <a:extLst>
                              <a:ext uri="{FF2B5EF4-FFF2-40B4-BE49-F238E27FC236}">
                                <a16:creationId xmlns:a16="http://schemas.microsoft.com/office/drawing/2014/main" id="{8C45B83F-9BFC-E3DB-6EFF-5AA2974B978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62627" y="2783884"/>
                            <a:ext cx="362918" cy="727971"/>
                            <a:chOff x="6852297" y="2398254"/>
                            <a:chExt cx="362918" cy="727971"/>
                          </a:xfrm>
                        </p:grpSpPr>
                        <p:sp>
                          <p:nvSpPr>
                            <p:cNvPr id="71" name="Rectangle 9">
                              <a:extLst>
                                <a:ext uri="{FF2B5EF4-FFF2-40B4-BE49-F238E27FC236}">
                                  <a16:creationId xmlns:a16="http://schemas.microsoft.com/office/drawing/2014/main" id="{7EC3B19C-AE37-8DD2-B76F-B07A8813F28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72" name="Rectangle 10">
                              <a:extLst>
                                <a:ext uri="{FF2B5EF4-FFF2-40B4-BE49-F238E27FC236}">
                                  <a16:creationId xmlns:a16="http://schemas.microsoft.com/office/drawing/2014/main" id="{5573C858-218F-FE6B-817A-96B433FBDD92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8" name="组合 67">
                            <a:extLst>
                              <a:ext uri="{FF2B5EF4-FFF2-40B4-BE49-F238E27FC236}">
                                <a16:creationId xmlns:a16="http://schemas.microsoft.com/office/drawing/2014/main" id="{F37A62DB-486D-E2DD-241B-E021358816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78490" y="3333677"/>
                            <a:ext cx="70189" cy="105731"/>
                            <a:chOff x="6203289" y="3406124"/>
                            <a:chExt cx="92188" cy="152230"/>
                          </a:xfrm>
                        </p:grpSpPr>
                        <p:sp>
                          <p:nvSpPr>
                            <p:cNvPr id="69" name="Line 24">
                              <a:extLst>
                                <a:ext uri="{FF2B5EF4-FFF2-40B4-BE49-F238E27FC236}">
                                  <a16:creationId xmlns:a16="http://schemas.microsoft.com/office/drawing/2014/main" id="{476364BF-F964-BEC9-AA42-B12D3E5B52E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6203290" y="3406124"/>
                              <a:ext cx="92186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70" name="Line 24">
                              <a:extLst>
                                <a:ext uri="{FF2B5EF4-FFF2-40B4-BE49-F238E27FC236}">
                                  <a16:creationId xmlns:a16="http://schemas.microsoft.com/office/drawing/2014/main" id="{C5F15200-0740-475A-DEAE-03964A41D6A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6203289" y="3482239"/>
                              <a:ext cx="92188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41" name="组合 40">
                          <a:extLst>
                            <a:ext uri="{FF2B5EF4-FFF2-40B4-BE49-F238E27FC236}">
                              <a16:creationId xmlns:a16="http://schemas.microsoft.com/office/drawing/2014/main" id="{A8D643CE-6C91-11B0-5303-D3C2827EEC0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96754" y="2724574"/>
                          <a:ext cx="281230" cy="362906"/>
                          <a:chOff x="5362627" y="2783884"/>
                          <a:chExt cx="362918" cy="727971"/>
                        </a:xfrm>
                      </p:grpSpPr>
                      <p:grpSp>
                        <p:nvGrpSpPr>
                          <p:cNvPr id="61" name="组合 60">
                            <a:extLst>
                              <a:ext uri="{FF2B5EF4-FFF2-40B4-BE49-F238E27FC236}">
                                <a16:creationId xmlns:a16="http://schemas.microsoft.com/office/drawing/2014/main" id="{1A4D517B-8146-C295-02B9-7DC6B9E8142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62627" y="2783884"/>
                            <a:ext cx="362918" cy="727971"/>
                            <a:chOff x="6852297" y="2398254"/>
                            <a:chExt cx="362918" cy="727971"/>
                          </a:xfrm>
                        </p:grpSpPr>
                        <p:sp>
                          <p:nvSpPr>
                            <p:cNvPr id="65" name="Rectangle 9">
                              <a:extLst>
                                <a:ext uri="{FF2B5EF4-FFF2-40B4-BE49-F238E27FC236}">
                                  <a16:creationId xmlns:a16="http://schemas.microsoft.com/office/drawing/2014/main" id="{FCF9FCD6-17EA-1743-205E-AFAD1A3EEBAE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66" name="Rectangle 10">
                              <a:extLst>
                                <a:ext uri="{FF2B5EF4-FFF2-40B4-BE49-F238E27FC236}">
                                  <a16:creationId xmlns:a16="http://schemas.microsoft.com/office/drawing/2014/main" id="{269DF635-7413-BD09-647B-5C0C9765A3E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2" name="组合 61">
                            <a:extLst>
                              <a:ext uri="{FF2B5EF4-FFF2-40B4-BE49-F238E27FC236}">
                                <a16:creationId xmlns:a16="http://schemas.microsoft.com/office/drawing/2014/main" id="{68C69CBF-55E5-BA82-9612-0DB19B534C8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78490" y="3333677"/>
                            <a:ext cx="70189" cy="105731"/>
                            <a:chOff x="6203289" y="3406124"/>
                            <a:chExt cx="92188" cy="152230"/>
                          </a:xfrm>
                        </p:grpSpPr>
                        <p:sp>
                          <p:nvSpPr>
                            <p:cNvPr id="63" name="Line 24">
                              <a:extLst>
                                <a:ext uri="{FF2B5EF4-FFF2-40B4-BE49-F238E27FC236}">
                                  <a16:creationId xmlns:a16="http://schemas.microsoft.com/office/drawing/2014/main" id="{F8A8F20C-4B3D-4F3F-0B6E-F7D6896E6CAF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6203290" y="3406124"/>
                              <a:ext cx="92186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64" name="Line 24">
                              <a:extLst>
                                <a:ext uri="{FF2B5EF4-FFF2-40B4-BE49-F238E27FC236}">
                                  <a16:creationId xmlns:a16="http://schemas.microsoft.com/office/drawing/2014/main" id="{35B30D3F-B928-E39B-1324-FC76DD28E93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6203289" y="3482239"/>
                              <a:ext cx="92188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42" name="组合 41">
                          <a:extLst>
                            <a:ext uri="{FF2B5EF4-FFF2-40B4-BE49-F238E27FC236}">
                              <a16:creationId xmlns:a16="http://schemas.microsoft.com/office/drawing/2014/main" id="{FF04C198-0FF6-2391-3C5C-D47E455573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86593" y="3407615"/>
                          <a:ext cx="281230" cy="362906"/>
                          <a:chOff x="5362627" y="2783884"/>
                          <a:chExt cx="362918" cy="727971"/>
                        </a:xfrm>
                      </p:grpSpPr>
                      <p:grpSp>
                        <p:nvGrpSpPr>
                          <p:cNvPr id="55" name="组合 54">
                            <a:extLst>
                              <a:ext uri="{FF2B5EF4-FFF2-40B4-BE49-F238E27FC236}">
                                <a16:creationId xmlns:a16="http://schemas.microsoft.com/office/drawing/2014/main" id="{90CDB3FD-FE95-2C68-BF98-62F6850791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62627" y="2783884"/>
                            <a:ext cx="362918" cy="727971"/>
                            <a:chOff x="6852297" y="2398254"/>
                            <a:chExt cx="362918" cy="727971"/>
                          </a:xfrm>
                        </p:grpSpPr>
                        <p:sp>
                          <p:nvSpPr>
                            <p:cNvPr id="59" name="Rectangle 9">
                              <a:extLst>
                                <a:ext uri="{FF2B5EF4-FFF2-40B4-BE49-F238E27FC236}">
                                  <a16:creationId xmlns:a16="http://schemas.microsoft.com/office/drawing/2014/main" id="{887FCFA7-5E94-D6B4-870A-91F3A685777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60" name="Rectangle 10">
                              <a:extLst>
                                <a:ext uri="{FF2B5EF4-FFF2-40B4-BE49-F238E27FC236}">
                                  <a16:creationId xmlns:a16="http://schemas.microsoft.com/office/drawing/2014/main" id="{82D3F1F7-1CD3-7462-B1BD-993EC0D0533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6" name="组合 55">
                            <a:extLst>
                              <a:ext uri="{FF2B5EF4-FFF2-40B4-BE49-F238E27FC236}">
                                <a16:creationId xmlns:a16="http://schemas.microsoft.com/office/drawing/2014/main" id="{34397D71-54EE-37D7-73F5-91748938A8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78490" y="3333677"/>
                            <a:ext cx="70189" cy="105731"/>
                            <a:chOff x="6203289" y="3406124"/>
                            <a:chExt cx="92188" cy="152230"/>
                          </a:xfrm>
                        </p:grpSpPr>
                        <p:sp>
                          <p:nvSpPr>
                            <p:cNvPr id="57" name="Line 24">
                              <a:extLst>
                                <a:ext uri="{FF2B5EF4-FFF2-40B4-BE49-F238E27FC236}">
                                  <a16:creationId xmlns:a16="http://schemas.microsoft.com/office/drawing/2014/main" id="{7EC17F9D-3DDF-8934-8B65-50A819DD1731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6203290" y="3406124"/>
                              <a:ext cx="92186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8" name="Line 24">
                              <a:extLst>
                                <a:ext uri="{FF2B5EF4-FFF2-40B4-BE49-F238E27FC236}">
                                  <a16:creationId xmlns:a16="http://schemas.microsoft.com/office/drawing/2014/main" id="{AA7E1E9C-3392-8C86-AFE3-D2397503F0C5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6203289" y="3482239"/>
                              <a:ext cx="92188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43" name="组合 42">
                          <a:extLst>
                            <a:ext uri="{FF2B5EF4-FFF2-40B4-BE49-F238E27FC236}">
                              <a16:creationId xmlns:a16="http://schemas.microsoft.com/office/drawing/2014/main" id="{0D402D18-26CF-A5A6-059C-84ADB68A1D8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86593" y="3909203"/>
                          <a:ext cx="281230" cy="362906"/>
                          <a:chOff x="5362627" y="2783884"/>
                          <a:chExt cx="362918" cy="727971"/>
                        </a:xfrm>
                      </p:grpSpPr>
                      <p:grpSp>
                        <p:nvGrpSpPr>
                          <p:cNvPr id="49" name="组合 48">
                            <a:extLst>
                              <a:ext uri="{FF2B5EF4-FFF2-40B4-BE49-F238E27FC236}">
                                <a16:creationId xmlns:a16="http://schemas.microsoft.com/office/drawing/2014/main" id="{0283CD56-B8A2-C454-9AF7-3D133C4F47B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62627" y="2783884"/>
                            <a:ext cx="362918" cy="727971"/>
                            <a:chOff x="6852297" y="2398254"/>
                            <a:chExt cx="362918" cy="727971"/>
                          </a:xfrm>
                        </p:grpSpPr>
                        <p:sp>
                          <p:nvSpPr>
                            <p:cNvPr id="53" name="Rectangle 9">
                              <a:extLst>
                                <a:ext uri="{FF2B5EF4-FFF2-40B4-BE49-F238E27FC236}">
                                  <a16:creationId xmlns:a16="http://schemas.microsoft.com/office/drawing/2014/main" id="{DE6EE769-BE2C-3ED9-2566-19DB000EE4E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4" name="Rectangle 10">
                              <a:extLst>
                                <a:ext uri="{FF2B5EF4-FFF2-40B4-BE49-F238E27FC236}">
                                  <a16:creationId xmlns:a16="http://schemas.microsoft.com/office/drawing/2014/main" id="{3D8777A5-2B0C-BF3E-9AE2-39B0299E913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852297" y="2398254"/>
                              <a:ext cx="362918" cy="727971"/>
                            </a:xfrm>
                            <a:prstGeom prst="rect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0" name="组合 49">
                            <a:extLst>
                              <a:ext uri="{FF2B5EF4-FFF2-40B4-BE49-F238E27FC236}">
                                <a16:creationId xmlns:a16="http://schemas.microsoft.com/office/drawing/2014/main" id="{90A3F87C-EA4C-FC5A-7A27-61C681779CD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78490" y="3333677"/>
                            <a:ext cx="70189" cy="105731"/>
                            <a:chOff x="6203289" y="3406124"/>
                            <a:chExt cx="92188" cy="152230"/>
                          </a:xfrm>
                        </p:grpSpPr>
                        <p:sp>
                          <p:nvSpPr>
                            <p:cNvPr id="51" name="Line 24">
                              <a:extLst>
                                <a:ext uri="{FF2B5EF4-FFF2-40B4-BE49-F238E27FC236}">
                                  <a16:creationId xmlns:a16="http://schemas.microsoft.com/office/drawing/2014/main" id="{DA311FA5-9B7B-B7CF-2808-6D9F59BEFCD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6203290" y="3406124"/>
                              <a:ext cx="92186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2" name="Line 24">
                              <a:extLst>
                                <a:ext uri="{FF2B5EF4-FFF2-40B4-BE49-F238E27FC236}">
                                  <a16:creationId xmlns:a16="http://schemas.microsoft.com/office/drawing/2014/main" id="{0C503C46-1E9E-4E3E-DD19-51A645385A55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6203289" y="3482239"/>
                              <a:ext cx="92188" cy="76115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44" name="Line 24">
                          <a:extLst>
                            <a:ext uri="{FF2B5EF4-FFF2-40B4-BE49-F238E27FC236}">
                              <a16:creationId xmlns:a16="http://schemas.microsoft.com/office/drawing/2014/main" id="{AC8F013A-BAEF-5C0B-7F4A-702AAE3F2C4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40131" y="2447766"/>
                          <a:ext cx="356621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45" name="Line 24">
                          <a:extLst>
                            <a:ext uri="{FF2B5EF4-FFF2-40B4-BE49-F238E27FC236}">
                              <a16:creationId xmlns:a16="http://schemas.microsoft.com/office/drawing/2014/main" id="{A6AEA2A9-B939-7B0A-84C9-AB8419A449D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29972" y="2899744"/>
                          <a:ext cx="356621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46" name="Line 24">
                          <a:extLst>
                            <a:ext uri="{FF2B5EF4-FFF2-40B4-BE49-F238E27FC236}">
                              <a16:creationId xmlns:a16="http://schemas.microsoft.com/office/drawing/2014/main" id="{32A92DDD-9A25-65F5-7C1F-5DD25BA080E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17925" y="3589068"/>
                          <a:ext cx="356621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47" name="Line 24">
                          <a:extLst>
                            <a:ext uri="{FF2B5EF4-FFF2-40B4-BE49-F238E27FC236}">
                              <a16:creationId xmlns:a16="http://schemas.microsoft.com/office/drawing/2014/main" id="{9BCDFFFC-8661-5C38-D4EA-C350F734A5F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17925" y="4090656"/>
                          <a:ext cx="356621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48" name="Rectangle 33">
                          <a:extLst>
                            <a:ext uri="{FF2B5EF4-FFF2-40B4-BE49-F238E27FC236}">
                              <a16:creationId xmlns:a16="http://schemas.microsoft.com/office/drawing/2014/main" id="{C06766E1-43E8-925B-A7D7-600AA7F7819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93716" y="2829720"/>
                          <a:ext cx="136256" cy="246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60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  <a:endParaRPr kumimoji="0" lang="zh-CN" altLang="zh-CN" sz="120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</p:grpSp>
                  <p:sp>
                    <p:nvSpPr>
                      <p:cNvPr id="39" name="Rectangle 33">
                        <a:extLst>
                          <a:ext uri="{FF2B5EF4-FFF2-40B4-BE49-F238E27FC236}">
                            <a16:creationId xmlns:a16="http://schemas.microsoft.com/office/drawing/2014/main" id="{BCBA7B90-492D-0071-B720-32A3A01522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73305" y="3511509"/>
                        <a:ext cx="147476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altLang="zh-CN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C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</p:grpSp>
                <p:sp>
                  <p:nvSpPr>
                    <p:cNvPr id="37" name="Rectangle 33">
                      <a:extLst>
                        <a:ext uri="{FF2B5EF4-FFF2-40B4-BE49-F238E27FC236}">
                          <a16:creationId xmlns:a16="http://schemas.microsoft.com/office/drawing/2014/main" id="{BEDBC28C-57DD-1328-93D5-D980DD5D32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73305" y="3997798"/>
                      <a:ext cx="147476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D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p:txBody>
                </p:sp>
              </p:grpSp>
            </p:grpSp>
          </p:grp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AC73A59-653E-D754-4051-B89E9440ECCA}"/>
                </a:ext>
              </a:extLst>
            </p:cNvPr>
            <p:cNvSpPr txBox="1"/>
            <p:nvPr/>
          </p:nvSpPr>
          <p:spPr>
            <a:xfrm>
              <a:off x="3114007" y="2726756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T1</a:t>
              </a:r>
              <a:endPara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DCC44FE-DECA-B738-A2A7-294E259B41C5}"/>
                </a:ext>
              </a:extLst>
            </p:cNvPr>
            <p:cNvSpPr txBox="1"/>
            <p:nvPr/>
          </p:nvSpPr>
          <p:spPr>
            <a:xfrm>
              <a:off x="3118555" y="385385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T2</a:t>
              </a:r>
              <a:endPara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08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举例：单周期到多周期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算法：</a:t>
            </a:r>
            <a:r>
              <a:rPr lang="en-US" altLang="zh-CN" dirty="0"/>
              <a:t>Y=A+B+C+D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位无符号数的相加</a:t>
            </a:r>
            <a:endParaRPr lang="en-US" altLang="zh-CN" dirty="0"/>
          </a:p>
          <a:p>
            <a:r>
              <a:rPr lang="zh-CN" altLang="en-US" dirty="0"/>
              <a:t>一种多周期的做法：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DCD07F5-64A6-AB7D-B1DA-1803299C120C}"/>
              </a:ext>
            </a:extLst>
          </p:cNvPr>
          <p:cNvGrpSpPr/>
          <p:nvPr/>
        </p:nvGrpSpPr>
        <p:grpSpPr>
          <a:xfrm>
            <a:off x="2234569" y="2403940"/>
            <a:ext cx="4674861" cy="3080386"/>
            <a:chOff x="2234569" y="3040547"/>
            <a:chExt cx="4674861" cy="308038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79BE609-3DD3-F01C-9FAD-EB37D5A3C047}"/>
                </a:ext>
              </a:extLst>
            </p:cNvPr>
            <p:cNvGrpSpPr/>
            <p:nvPr/>
          </p:nvGrpSpPr>
          <p:grpSpPr>
            <a:xfrm>
              <a:off x="2234569" y="3040547"/>
              <a:ext cx="4674861" cy="3080386"/>
              <a:chOff x="619914" y="2284787"/>
              <a:chExt cx="4674861" cy="3080386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4B6E55-A3FF-7060-1B80-0403B99A995E}"/>
                  </a:ext>
                </a:extLst>
              </p:cNvPr>
              <p:cNvSpPr txBox="1"/>
              <p:nvPr/>
            </p:nvSpPr>
            <p:spPr>
              <a:xfrm>
                <a:off x="4571500" y="4158237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寄存器</a:t>
                </a: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392C7A-BD2A-7D05-6304-124536D8DACE}"/>
                  </a:ext>
                </a:extLst>
              </p:cNvPr>
              <p:cNvGrpSpPr/>
              <p:nvPr/>
            </p:nvGrpSpPr>
            <p:grpSpPr>
              <a:xfrm>
                <a:off x="619914" y="2284787"/>
                <a:ext cx="4506229" cy="3080386"/>
                <a:chOff x="2373305" y="2274068"/>
                <a:chExt cx="3352240" cy="1998041"/>
              </a:xfrm>
            </p:grpSpPr>
            <p:sp>
              <p:nvSpPr>
                <p:cNvPr id="11" name="Line 23">
                  <a:extLst>
                    <a:ext uri="{FF2B5EF4-FFF2-40B4-BE49-F238E27FC236}">
                      <a16:creationId xmlns:a16="http://schemas.microsoft.com/office/drawing/2014/main" id="{5B607030-FE54-6560-8F4A-A2088EAB21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7984" y="3604977"/>
                  <a:ext cx="484602" cy="0"/>
                </a:xfrm>
                <a:prstGeom prst="line">
                  <a:avLst/>
                </a:pr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 dirty="0">
                    <a:latin typeface="+mn-lt"/>
                  </a:endParaRPr>
                </a:p>
              </p:txBody>
            </p:sp>
            <p:sp>
              <p:nvSpPr>
                <p:cNvPr id="12" name="Line 23">
                  <a:extLst>
                    <a:ext uri="{FF2B5EF4-FFF2-40B4-BE49-F238E27FC236}">
                      <a16:creationId xmlns:a16="http://schemas.microsoft.com/office/drawing/2014/main" id="{7548CA83-9429-DE57-06D7-911ABC219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7984" y="4104612"/>
                  <a:ext cx="484602" cy="0"/>
                </a:xfrm>
                <a:prstGeom prst="line">
                  <a:avLst/>
                </a:pr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 dirty="0">
                    <a:latin typeface="+mn-lt"/>
                  </a:endParaRPr>
                </a:p>
              </p:txBody>
            </p:sp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95D0D09C-12DE-A0D3-A124-ABEB5E0480BA}"/>
                    </a:ext>
                  </a:extLst>
                </p:cNvPr>
                <p:cNvGrpSpPr/>
                <p:nvPr/>
              </p:nvGrpSpPr>
              <p:grpSpPr>
                <a:xfrm>
                  <a:off x="2373305" y="2274068"/>
                  <a:ext cx="3352240" cy="1998041"/>
                  <a:chOff x="2373305" y="2274068"/>
                  <a:chExt cx="3352240" cy="1998041"/>
                </a:xfrm>
              </p:grpSpPr>
              <p:grpSp>
                <p:nvGrpSpPr>
                  <p:cNvPr id="14" name="组合 13">
                    <a:extLst>
                      <a:ext uri="{FF2B5EF4-FFF2-40B4-BE49-F238E27FC236}">
                        <a16:creationId xmlns:a16="http://schemas.microsoft.com/office/drawing/2014/main" id="{9218F721-0B45-8552-382D-B180F7214732}"/>
                      </a:ext>
                    </a:extLst>
                  </p:cNvPr>
                  <p:cNvGrpSpPr/>
                  <p:nvPr/>
                </p:nvGrpSpPr>
                <p:grpSpPr>
                  <a:xfrm>
                    <a:off x="3177727" y="2284787"/>
                    <a:ext cx="2547818" cy="1940543"/>
                    <a:chOff x="3177727" y="2284787"/>
                    <a:chExt cx="2547818" cy="1940543"/>
                  </a:xfrm>
                </p:grpSpPr>
                <p:grpSp>
                  <p:nvGrpSpPr>
                    <p:cNvPr id="82" name="组合 81">
                      <a:extLst>
                        <a:ext uri="{FF2B5EF4-FFF2-40B4-BE49-F238E27FC236}">
                          <a16:creationId xmlns:a16="http://schemas.microsoft.com/office/drawing/2014/main" id="{726BA8E2-1923-2194-1AE2-10714C8982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7727" y="2284787"/>
                      <a:ext cx="2163756" cy="1940543"/>
                      <a:chOff x="4011105" y="2366471"/>
                      <a:chExt cx="2163756" cy="1940543"/>
                    </a:xfrm>
                  </p:grpSpPr>
                  <p:grpSp>
                    <p:nvGrpSpPr>
                      <p:cNvPr id="91" name="Group 4">
                        <a:extLst>
                          <a:ext uri="{FF2B5EF4-FFF2-40B4-BE49-F238E27FC236}">
                            <a16:creationId xmlns:a16="http://schemas.microsoft.com/office/drawing/2014/main" id="{1668BFB7-7B58-548D-F6D9-1D2B809ED9BA}"/>
                          </a:ext>
                        </a:extLst>
                      </p:cNvPr>
                      <p:cNvGrpSpPr>
                        <a:grpSpLocks noChangeAspect="1"/>
                      </p:cNvGrpSpPr>
                      <p:nvPr/>
                    </p:nvGrpSpPr>
                    <p:grpSpPr bwMode="auto">
                      <a:xfrm>
                        <a:off x="4011105" y="2366471"/>
                        <a:ext cx="1961891" cy="1940543"/>
                        <a:chOff x="1180" y="1309"/>
                        <a:chExt cx="1838" cy="1818"/>
                      </a:xfrm>
                    </p:grpSpPr>
                    <p:sp>
                      <p:nvSpPr>
                        <p:cNvPr id="93" name="Freeform 5">
                          <a:extLst>
                            <a:ext uri="{FF2B5EF4-FFF2-40B4-BE49-F238E27FC236}">
                              <a16:creationId xmlns:a16="http://schemas.microsoft.com/office/drawing/2014/main" id="{D49F4CDA-659C-B9BD-EE96-FB0B9AE6A8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63" y="1650"/>
                          <a:ext cx="455" cy="909"/>
                        </a:xfrm>
                        <a:custGeom>
                          <a:avLst/>
                          <a:gdLst>
                            <a:gd name="T0" fmla="*/ 0 w 455"/>
                            <a:gd name="T1" fmla="*/ 0 h 909"/>
                            <a:gd name="T2" fmla="*/ 455 w 455"/>
                            <a:gd name="T3" fmla="*/ 228 h 909"/>
                            <a:gd name="T4" fmla="*/ 455 w 455"/>
                            <a:gd name="T5" fmla="*/ 682 h 909"/>
                            <a:gd name="T6" fmla="*/ 0 w 455"/>
                            <a:gd name="T7" fmla="*/ 909 h 909"/>
                            <a:gd name="T8" fmla="*/ 0 w 455"/>
                            <a:gd name="T9" fmla="*/ 568 h 909"/>
                            <a:gd name="T10" fmla="*/ 228 w 455"/>
                            <a:gd name="T11" fmla="*/ 455 h 909"/>
                            <a:gd name="T12" fmla="*/ 0 w 455"/>
                            <a:gd name="T13" fmla="*/ 341 h 909"/>
                            <a:gd name="T14" fmla="*/ 0 w 455"/>
                            <a:gd name="T15" fmla="*/ 0 h 90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</a:cxnLst>
                          <a:rect l="0" t="0" r="r" b="b"/>
                          <a:pathLst>
                            <a:path w="455" h="909">
                              <a:moveTo>
                                <a:pt x="0" y="0"/>
                              </a:moveTo>
                              <a:lnTo>
                                <a:pt x="455" y="228"/>
                              </a:lnTo>
                              <a:lnTo>
                                <a:pt x="455" y="682"/>
                              </a:lnTo>
                              <a:lnTo>
                                <a:pt x="0" y="909"/>
                              </a:lnTo>
                              <a:lnTo>
                                <a:pt x="0" y="568"/>
                              </a:lnTo>
                              <a:lnTo>
                                <a:pt x="228" y="455"/>
                              </a:lnTo>
                              <a:lnTo>
                                <a:pt x="0" y="341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4" name="Freeform 6">
                          <a:extLst>
                            <a:ext uri="{FF2B5EF4-FFF2-40B4-BE49-F238E27FC236}">
                              <a16:creationId xmlns:a16="http://schemas.microsoft.com/office/drawing/2014/main" id="{26EF8218-93AC-FC3B-7D52-1349FF5BCE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63" y="1650"/>
                          <a:ext cx="455" cy="909"/>
                        </a:xfrm>
                        <a:custGeom>
                          <a:avLst/>
                          <a:gdLst>
                            <a:gd name="T0" fmla="*/ 0 w 455"/>
                            <a:gd name="T1" fmla="*/ 0 h 909"/>
                            <a:gd name="T2" fmla="*/ 455 w 455"/>
                            <a:gd name="T3" fmla="*/ 228 h 909"/>
                            <a:gd name="T4" fmla="*/ 455 w 455"/>
                            <a:gd name="T5" fmla="*/ 682 h 909"/>
                            <a:gd name="T6" fmla="*/ 0 w 455"/>
                            <a:gd name="T7" fmla="*/ 909 h 909"/>
                            <a:gd name="T8" fmla="*/ 0 w 455"/>
                            <a:gd name="T9" fmla="*/ 568 h 909"/>
                            <a:gd name="T10" fmla="*/ 228 w 455"/>
                            <a:gd name="T11" fmla="*/ 455 h 909"/>
                            <a:gd name="T12" fmla="*/ 0 w 455"/>
                            <a:gd name="T13" fmla="*/ 341 h 909"/>
                            <a:gd name="T14" fmla="*/ 0 w 455"/>
                            <a:gd name="T15" fmla="*/ 0 h 90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</a:cxnLst>
                          <a:rect l="0" t="0" r="r" b="b"/>
                          <a:pathLst>
                            <a:path w="455" h="909">
                              <a:moveTo>
                                <a:pt x="0" y="0"/>
                              </a:moveTo>
                              <a:lnTo>
                                <a:pt x="455" y="228"/>
                              </a:lnTo>
                              <a:lnTo>
                                <a:pt x="455" y="682"/>
                              </a:lnTo>
                              <a:lnTo>
                                <a:pt x="0" y="909"/>
                              </a:lnTo>
                              <a:lnTo>
                                <a:pt x="0" y="568"/>
                              </a:lnTo>
                              <a:lnTo>
                                <a:pt x="228" y="455"/>
                              </a:lnTo>
                              <a:lnTo>
                                <a:pt x="0" y="341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5" name="Rectangle 8">
                          <a:extLst>
                            <a:ext uri="{FF2B5EF4-FFF2-40B4-BE49-F238E27FC236}">
                              <a16:creationId xmlns:a16="http://schemas.microsoft.com/office/drawing/2014/main" id="{BCD978AE-7A7E-49C8-CD3F-1DA3F960FB6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2689" y="2054"/>
                          <a:ext cx="356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zh-CN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ADD</a:t>
                          </a:r>
                          <a:endParaRPr kumimoji="0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6" name="Freeform 15">
                          <a:extLst>
                            <a:ext uri="{FF2B5EF4-FFF2-40B4-BE49-F238E27FC236}">
                              <a16:creationId xmlns:a16="http://schemas.microsoft.com/office/drawing/2014/main" id="{8D257ABC-4E02-3946-3401-884BE2767D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55" y="1309"/>
                          <a:ext cx="341" cy="682"/>
                        </a:xfrm>
                        <a:custGeom>
                          <a:avLst/>
                          <a:gdLst>
                            <a:gd name="T0" fmla="*/ 0 w 341"/>
                            <a:gd name="T1" fmla="*/ 0 h 682"/>
                            <a:gd name="T2" fmla="*/ 341 w 341"/>
                            <a:gd name="T3" fmla="*/ 171 h 682"/>
                            <a:gd name="T4" fmla="*/ 341 w 341"/>
                            <a:gd name="T5" fmla="*/ 512 h 682"/>
                            <a:gd name="T6" fmla="*/ 0 w 341"/>
                            <a:gd name="T7" fmla="*/ 682 h 682"/>
                            <a:gd name="T8" fmla="*/ 0 w 341"/>
                            <a:gd name="T9" fmla="*/ 0 h 6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341" h="682">
                              <a:moveTo>
                                <a:pt x="0" y="0"/>
                              </a:moveTo>
                              <a:lnTo>
                                <a:pt x="341" y="171"/>
                              </a:lnTo>
                              <a:lnTo>
                                <a:pt x="341" y="512"/>
                              </a:lnTo>
                              <a:lnTo>
                                <a:pt x="0" y="682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7" name="Freeform 16">
                          <a:extLst>
                            <a:ext uri="{FF2B5EF4-FFF2-40B4-BE49-F238E27FC236}">
                              <a16:creationId xmlns:a16="http://schemas.microsoft.com/office/drawing/2014/main" id="{44DDAD29-11B4-9418-ECCE-CE0D1D80A0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55" y="1309"/>
                          <a:ext cx="341" cy="682"/>
                        </a:xfrm>
                        <a:custGeom>
                          <a:avLst/>
                          <a:gdLst>
                            <a:gd name="T0" fmla="*/ 0 w 341"/>
                            <a:gd name="T1" fmla="*/ 0 h 682"/>
                            <a:gd name="T2" fmla="*/ 341 w 341"/>
                            <a:gd name="T3" fmla="*/ 171 h 682"/>
                            <a:gd name="T4" fmla="*/ 341 w 341"/>
                            <a:gd name="T5" fmla="*/ 512 h 682"/>
                            <a:gd name="T6" fmla="*/ 0 w 341"/>
                            <a:gd name="T7" fmla="*/ 682 h 682"/>
                            <a:gd name="T8" fmla="*/ 0 w 341"/>
                            <a:gd name="T9" fmla="*/ 0 h 6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341" h="682">
                              <a:moveTo>
                                <a:pt x="0" y="0"/>
                              </a:moveTo>
                              <a:lnTo>
                                <a:pt x="341" y="171"/>
                              </a:lnTo>
                              <a:lnTo>
                                <a:pt x="341" y="512"/>
                              </a:lnTo>
                              <a:lnTo>
                                <a:pt x="0" y="682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8" name="Rectangle 18">
                          <a:extLst>
                            <a:ext uri="{FF2B5EF4-FFF2-40B4-BE49-F238E27FC236}">
                              <a16:creationId xmlns:a16="http://schemas.microsoft.com/office/drawing/2014/main" id="{A8311648-9FDB-0EDD-A3E9-07FB6C088B4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606" y="1612"/>
                          <a:ext cx="356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1400" dirty="0">
                              <a:solidFill>
                                <a:srgbClr val="000000"/>
                              </a:solidFill>
                              <a:latin typeface="+mn-lt"/>
                              <a:ea typeface="宋体" panose="02010600030101010101" pitchFamily="2" charset="-122"/>
                            </a:rPr>
                            <a:t>ADD</a:t>
                          </a:r>
                          <a:endParaRPr kumimoji="0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9" name="Freeform 19">
                          <a:extLst>
                            <a:ext uri="{FF2B5EF4-FFF2-40B4-BE49-F238E27FC236}">
                              <a16:creationId xmlns:a16="http://schemas.microsoft.com/office/drawing/2014/main" id="{9E4415DF-8953-B93E-EF37-CC256CE402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55" y="2445"/>
                          <a:ext cx="341" cy="682"/>
                        </a:xfrm>
                        <a:custGeom>
                          <a:avLst/>
                          <a:gdLst>
                            <a:gd name="T0" fmla="*/ 0 w 341"/>
                            <a:gd name="T1" fmla="*/ 0 h 682"/>
                            <a:gd name="T2" fmla="*/ 341 w 341"/>
                            <a:gd name="T3" fmla="*/ 171 h 682"/>
                            <a:gd name="T4" fmla="*/ 341 w 341"/>
                            <a:gd name="T5" fmla="*/ 512 h 682"/>
                            <a:gd name="T6" fmla="*/ 0 w 341"/>
                            <a:gd name="T7" fmla="*/ 682 h 682"/>
                            <a:gd name="T8" fmla="*/ 0 w 341"/>
                            <a:gd name="T9" fmla="*/ 0 h 6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341" h="682">
                              <a:moveTo>
                                <a:pt x="0" y="0"/>
                              </a:moveTo>
                              <a:lnTo>
                                <a:pt x="341" y="171"/>
                              </a:lnTo>
                              <a:lnTo>
                                <a:pt x="341" y="512"/>
                              </a:lnTo>
                              <a:lnTo>
                                <a:pt x="0" y="682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0" name="Freeform 20">
                          <a:extLst>
                            <a:ext uri="{FF2B5EF4-FFF2-40B4-BE49-F238E27FC236}">
                              <a16:creationId xmlns:a16="http://schemas.microsoft.com/office/drawing/2014/main" id="{579DE4E8-D6EB-9796-18D3-6A867DA9FE3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55" y="2445"/>
                          <a:ext cx="341" cy="682"/>
                        </a:xfrm>
                        <a:custGeom>
                          <a:avLst/>
                          <a:gdLst>
                            <a:gd name="T0" fmla="*/ 0 w 341"/>
                            <a:gd name="T1" fmla="*/ 0 h 682"/>
                            <a:gd name="T2" fmla="*/ 341 w 341"/>
                            <a:gd name="T3" fmla="*/ 171 h 682"/>
                            <a:gd name="T4" fmla="*/ 341 w 341"/>
                            <a:gd name="T5" fmla="*/ 512 h 682"/>
                            <a:gd name="T6" fmla="*/ 0 w 341"/>
                            <a:gd name="T7" fmla="*/ 682 h 682"/>
                            <a:gd name="T8" fmla="*/ 0 w 341"/>
                            <a:gd name="T9" fmla="*/ 0 h 6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341" h="682">
                              <a:moveTo>
                                <a:pt x="0" y="0"/>
                              </a:moveTo>
                              <a:lnTo>
                                <a:pt x="341" y="171"/>
                              </a:lnTo>
                              <a:lnTo>
                                <a:pt x="341" y="512"/>
                              </a:lnTo>
                              <a:lnTo>
                                <a:pt x="0" y="682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1" name="Rectangle 22">
                          <a:extLst>
                            <a:ext uri="{FF2B5EF4-FFF2-40B4-BE49-F238E27FC236}">
                              <a16:creationId xmlns:a16="http://schemas.microsoft.com/office/drawing/2014/main" id="{66471630-166A-34A3-94C5-D2E2271C8B2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>
                          <a:off x="1606" y="2747"/>
                          <a:ext cx="356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ADD</a:t>
                          </a:r>
                          <a:endParaRPr kumimoji="0" lang="zh-CN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2" name="Line 23">
                          <a:extLst>
                            <a:ext uri="{FF2B5EF4-FFF2-40B4-BE49-F238E27FC236}">
                              <a16:creationId xmlns:a16="http://schemas.microsoft.com/office/drawing/2014/main" id="{646D63D9-22DF-9EB1-A3D1-7D7DFED0D28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180" y="1445"/>
                          <a:ext cx="454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 dirty="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3" name="Line 24">
                          <a:extLst>
                            <a:ext uri="{FF2B5EF4-FFF2-40B4-BE49-F238E27FC236}">
                              <a16:creationId xmlns:a16="http://schemas.microsoft.com/office/drawing/2014/main" id="{4C977F2B-A4D6-AC01-4718-EF908C3E202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201" y="1883"/>
                          <a:ext cx="454" cy="0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4" name="Freeform 29">
                          <a:extLst>
                            <a:ext uri="{FF2B5EF4-FFF2-40B4-BE49-F238E27FC236}">
                              <a16:creationId xmlns:a16="http://schemas.microsoft.com/office/drawing/2014/main" id="{827A32E9-ED6E-DB9D-EABC-DD1EDBCD35E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96" y="1650"/>
                          <a:ext cx="567" cy="114"/>
                        </a:xfrm>
                        <a:custGeom>
                          <a:avLst/>
                          <a:gdLst>
                            <a:gd name="T0" fmla="*/ 0 w 567"/>
                            <a:gd name="T1" fmla="*/ 0 h 114"/>
                            <a:gd name="T2" fmla="*/ 85 w 567"/>
                            <a:gd name="T3" fmla="*/ 0 h 114"/>
                            <a:gd name="T4" fmla="*/ 85 w 567"/>
                            <a:gd name="T5" fmla="*/ 114 h 114"/>
                            <a:gd name="T6" fmla="*/ 567 w 567"/>
                            <a:gd name="T7" fmla="*/ 114 h 11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567" h="114">
                              <a:moveTo>
                                <a:pt x="0" y="0"/>
                              </a:moveTo>
                              <a:lnTo>
                                <a:pt x="85" y="0"/>
                              </a:lnTo>
                              <a:lnTo>
                                <a:pt x="85" y="114"/>
                              </a:lnTo>
                              <a:lnTo>
                                <a:pt x="567" y="114"/>
                              </a:lnTo>
                            </a:path>
                          </a:pathLst>
                        </a:cu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5" name="Freeform 30">
                          <a:extLst>
                            <a:ext uri="{FF2B5EF4-FFF2-40B4-BE49-F238E27FC236}">
                              <a16:creationId xmlns:a16="http://schemas.microsoft.com/office/drawing/2014/main" id="{162B77B2-44A6-B15E-6DBC-52C8517BC4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96" y="2445"/>
                          <a:ext cx="567" cy="341"/>
                        </a:xfrm>
                        <a:custGeom>
                          <a:avLst/>
                          <a:gdLst>
                            <a:gd name="T0" fmla="*/ 0 w 567"/>
                            <a:gd name="T1" fmla="*/ 341 h 341"/>
                            <a:gd name="T2" fmla="*/ 85 w 567"/>
                            <a:gd name="T3" fmla="*/ 341 h 341"/>
                            <a:gd name="T4" fmla="*/ 85 w 567"/>
                            <a:gd name="T5" fmla="*/ 0 h 341"/>
                            <a:gd name="T6" fmla="*/ 567 w 567"/>
                            <a:gd name="T7" fmla="*/ 0 h 34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0" t="0" r="r" b="b"/>
                          <a:pathLst>
                            <a:path w="567" h="341">
                              <a:moveTo>
                                <a:pt x="0" y="341"/>
                              </a:moveTo>
                              <a:lnTo>
                                <a:pt x="85" y="341"/>
                              </a:lnTo>
                              <a:lnTo>
                                <a:pt x="85" y="0"/>
                              </a:lnTo>
                              <a:lnTo>
                                <a:pt x="567" y="0"/>
                              </a:lnTo>
                            </a:path>
                          </a:pathLst>
                        </a:cu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6" name="Rectangle 33">
                          <a:extLst>
                            <a:ext uri="{FF2B5EF4-FFF2-40B4-BE49-F238E27FC236}">
                              <a16:creationId xmlns:a16="http://schemas.microsoft.com/office/drawing/2014/main" id="{0C20F6A9-FDAE-6B78-D03C-4C6B938854C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36" y="1461"/>
                          <a:ext cx="12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zh-CN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7" name="Rectangle 34">
                          <a:extLst>
                            <a:ext uri="{FF2B5EF4-FFF2-40B4-BE49-F238E27FC236}">
                              <a16:creationId xmlns:a16="http://schemas.microsoft.com/office/drawing/2014/main" id="{A3837DF1-9F32-E1B6-3520-0841C6B7F7C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25" y="2567"/>
                          <a:ext cx="103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1600" dirty="0">
                              <a:solidFill>
                                <a:srgbClr val="000000"/>
                              </a:solidFill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8" name="Rectangle 35">
                          <a:extLst>
                            <a:ext uri="{FF2B5EF4-FFF2-40B4-BE49-F238E27FC236}">
                              <a16:creationId xmlns:a16="http://schemas.microsoft.com/office/drawing/2014/main" id="{35A5FEC6-A8BC-69EB-A0E0-AAC71CFC0EB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32" y="1721"/>
                          <a:ext cx="95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1600" dirty="0">
                              <a:solidFill>
                                <a:srgbClr val="000000"/>
                              </a:solidFill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109" name="Rectangle 36">
                          <a:extLst>
                            <a:ext uri="{FF2B5EF4-FFF2-40B4-BE49-F238E27FC236}">
                              <a16:creationId xmlns:a16="http://schemas.microsoft.com/office/drawing/2014/main" id="{F66F2C68-A0AF-12CC-0AE8-A85BDD8C14C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28" y="2863"/>
                          <a:ext cx="13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zh-CN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</p:grpSp>
                  <p:sp>
                    <p:nvSpPr>
                      <p:cNvPr id="92" name="Line 24">
                        <a:extLst>
                          <a:ext uri="{FF2B5EF4-FFF2-40B4-BE49-F238E27FC236}">
                            <a16:creationId xmlns:a16="http://schemas.microsoft.com/office/drawing/2014/main" id="{69D71309-E4AF-E629-464B-F9D0809633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5972994" y="3215590"/>
                        <a:ext cx="201867" cy="0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>
                          <a:latin typeface="+mn-lt"/>
                        </a:endParaRPr>
                      </a:p>
                    </p:txBody>
                  </p:sp>
                </p:grpSp>
                <p:grpSp>
                  <p:nvGrpSpPr>
                    <p:cNvPr id="83" name="组合 82">
                      <a:extLst>
                        <a:ext uri="{FF2B5EF4-FFF2-40B4-BE49-F238E27FC236}">
                          <a16:creationId xmlns:a16="http://schemas.microsoft.com/office/drawing/2014/main" id="{ACC18CF4-C76C-CC93-DDBB-4FF49155AC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62627" y="2783884"/>
                      <a:ext cx="362918" cy="727971"/>
                      <a:chOff x="5362627" y="2783884"/>
                      <a:chExt cx="362918" cy="727971"/>
                    </a:xfrm>
                  </p:grpSpPr>
                  <p:grpSp>
                    <p:nvGrpSpPr>
                      <p:cNvPr id="84" name="组合 83">
                        <a:extLst>
                          <a:ext uri="{FF2B5EF4-FFF2-40B4-BE49-F238E27FC236}">
                            <a16:creationId xmlns:a16="http://schemas.microsoft.com/office/drawing/2014/main" id="{EF42542D-03FB-692C-58EB-F073DF906C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62627" y="2783884"/>
                        <a:ext cx="362918" cy="727971"/>
                        <a:chOff x="6852297" y="2398254"/>
                        <a:chExt cx="362918" cy="727971"/>
                      </a:xfrm>
                    </p:grpSpPr>
                    <p:sp>
                      <p:nvSpPr>
                        <p:cNvPr id="88" name="Rectangle 9">
                          <a:extLst>
                            <a:ext uri="{FF2B5EF4-FFF2-40B4-BE49-F238E27FC236}">
                              <a16:creationId xmlns:a16="http://schemas.microsoft.com/office/drawing/2014/main" id="{50C0F6F2-7A75-AD16-6D30-B55AA1FEDD2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852297" y="2398254"/>
                          <a:ext cx="362918" cy="727971"/>
                        </a:xfrm>
                        <a:prstGeom prst="rect">
                          <a:avLst/>
                        </a:prstGeom>
                        <a:solidFill>
                          <a:srgbClr val="E8EEF7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 dirty="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89" name="Rectangle 10">
                          <a:extLst>
                            <a:ext uri="{FF2B5EF4-FFF2-40B4-BE49-F238E27FC236}">
                              <a16:creationId xmlns:a16="http://schemas.microsoft.com/office/drawing/2014/main" id="{FB6F1B30-DC73-F84D-C757-636EBC44AA6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852297" y="2398254"/>
                          <a:ext cx="362918" cy="727971"/>
                        </a:xfrm>
                        <a:prstGeom prst="rect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 dirty="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90" name="Rectangle 11">
                          <a:extLst>
                            <a:ext uri="{FF2B5EF4-FFF2-40B4-BE49-F238E27FC236}">
                              <a16:creationId xmlns:a16="http://schemas.microsoft.com/office/drawing/2014/main" id="{51D33281-71B2-DAFA-8E6F-0F1F737AD4D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965628" y="2639128"/>
                          <a:ext cx="136256" cy="246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1600" dirty="0">
                              <a:solidFill>
                                <a:srgbClr val="000000"/>
                              </a:solidFill>
                              <a:latin typeface="+mn-lt"/>
                              <a:ea typeface="宋体" panose="02010600030101010101" pitchFamily="2" charset="-122"/>
                            </a:rPr>
                            <a:t>Y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</p:grpSp>
                  <p:grpSp>
                    <p:nvGrpSpPr>
                      <p:cNvPr id="85" name="组合 84">
                        <a:extLst>
                          <a:ext uri="{FF2B5EF4-FFF2-40B4-BE49-F238E27FC236}">
                            <a16:creationId xmlns:a16="http://schemas.microsoft.com/office/drawing/2014/main" id="{E3F7B1BC-ABBD-426C-9710-CB998BF897C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78490" y="3333677"/>
                        <a:ext cx="70189" cy="105731"/>
                        <a:chOff x="6203289" y="3406124"/>
                        <a:chExt cx="92188" cy="152230"/>
                      </a:xfrm>
                    </p:grpSpPr>
                    <p:sp>
                      <p:nvSpPr>
                        <p:cNvPr id="86" name="Line 24">
                          <a:extLst>
                            <a:ext uri="{FF2B5EF4-FFF2-40B4-BE49-F238E27FC236}">
                              <a16:creationId xmlns:a16="http://schemas.microsoft.com/office/drawing/2014/main" id="{A0BB72D6-86BD-E65E-58C2-097221FC51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 flipV="1">
                          <a:off x="6203290" y="3406124"/>
                          <a:ext cx="92186" cy="76115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  <p:sp>
                      <p:nvSpPr>
                        <p:cNvPr id="87" name="Line 24">
                          <a:extLst>
                            <a:ext uri="{FF2B5EF4-FFF2-40B4-BE49-F238E27FC236}">
                              <a16:creationId xmlns:a16="http://schemas.microsoft.com/office/drawing/2014/main" id="{D19B1893-E1F4-BD69-2EE0-5DC8B72EA6F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6203289" y="3482239"/>
                          <a:ext cx="92188" cy="76115"/>
                        </a:xfrm>
                        <a:prstGeom prst="line">
                          <a:avLst/>
                        </a:prstGeom>
                        <a:noFill/>
                        <a:ln w="28575" cap="rnd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200">
                            <a:latin typeface="+mn-lt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71026B66-6B07-A045-ED11-E20FFE4374D2}"/>
                      </a:ext>
                    </a:extLst>
                  </p:cNvPr>
                  <p:cNvGrpSpPr/>
                  <p:nvPr/>
                </p:nvGrpSpPr>
                <p:grpSpPr>
                  <a:xfrm>
                    <a:off x="2373305" y="2274068"/>
                    <a:ext cx="814388" cy="1998041"/>
                    <a:chOff x="2373305" y="2274068"/>
                    <a:chExt cx="814388" cy="1998041"/>
                  </a:xfrm>
                </p:grpSpPr>
                <p:sp>
                  <p:nvSpPr>
                    <p:cNvPr id="16" name="Rectangle 33">
                      <a:extLst>
                        <a:ext uri="{FF2B5EF4-FFF2-40B4-BE49-F238E27FC236}">
                          <a16:creationId xmlns:a16="http://schemas.microsoft.com/office/drawing/2014/main" id="{2B9F6A99-3993-CA1E-8E9E-B29CB5D68A6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79556" y="2360457"/>
                      <a:ext cx="136628" cy="2465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p:txBody>
                </p:sp>
                <p:grpSp>
                  <p:nvGrpSpPr>
                    <p:cNvPr id="17" name="组合 16">
                      <a:extLst>
                        <a:ext uri="{FF2B5EF4-FFF2-40B4-BE49-F238E27FC236}">
                          <a16:creationId xmlns:a16="http://schemas.microsoft.com/office/drawing/2014/main" id="{1FF83280-8C48-DACB-88F5-64E337477A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73305" y="2274068"/>
                      <a:ext cx="814388" cy="1998041"/>
                      <a:chOff x="2373305" y="2274068"/>
                      <a:chExt cx="814388" cy="1998041"/>
                    </a:xfrm>
                  </p:grpSpPr>
                  <p:grpSp>
                    <p:nvGrpSpPr>
                      <p:cNvPr id="18" name="组合 17">
                        <a:extLst>
                          <a:ext uri="{FF2B5EF4-FFF2-40B4-BE49-F238E27FC236}">
                            <a16:creationId xmlns:a16="http://schemas.microsoft.com/office/drawing/2014/main" id="{DD223943-E9A0-DCA1-AFE8-7DD405AE9A4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373305" y="2274068"/>
                        <a:ext cx="814388" cy="1998041"/>
                        <a:chOff x="2373305" y="2274068"/>
                        <a:chExt cx="814388" cy="1998041"/>
                      </a:xfrm>
                    </p:grpSpPr>
                    <p:grpSp>
                      <p:nvGrpSpPr>
                        <p:cNvPr id="20" name="组合 19">
                          <a:extLst>
                            <a:ext uri="{FF2B5EF4-FFF2-40B4-BE49-F238E27FC236}">
                              <a16:creationId xmlns:a16="http://schemas.microsoft.com/office/drawing/2014/main" id="{29DD47A1-8B4B-11DB-0C9E-6619F90767E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393716" y="2274068"/>
                          <a:ext cx="793977" cy="1998041"/>
                          <a:chOff x="2393716" y="2274068"/>
                          <a:chExt cx="793977" cy="1998041"/>
                        </a:xfrm>
                      </p:grpSpPr>
                      <p:grpSp>
                        <p:nvGrpSpPr>
                          <p:cNvPr id="22" name="组合 21">
                            <a:extLst>
                              <a:ext uri="{FF2B5EF4-FFF2-40B4-BE49-F238E27FC236}">
                                <a16:creationId xmlns:a16="http://schemas.microsoft.com/office/drawing/2014/main" id="{C35EA977-4783-FF6F-3465-4B08E08C1E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906463" y="2274068"/>
                            <a:ext cx="281230" cy="362906"/>
                            <a:chOff x="5362627" y="2783884"/>
                            <a:chExt cx="362918" cy="727971"/>
                          </a:xfrm>
                        </p:grpSpPr>
                        <p:grpSp>
                          <p:nvGrpSpPr>
                            <p:cNvPr id="76" name="组合 75">
                              <a:extLst>
                                <a:ext uri="{FF2B5EF4-FFF2-40B4-BE49-F238E27FC236}">
                                  <a16:creationId xmlns:a16="http://schemas.microsoft.com/office/drawing/2014/main" id="{D463E114-3808-EEC3-A7D7-2DFA36F6261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62627" y="2783884"/>
                              <a:ext cx="362918" cy="727971"/>
                              <a:chOff x="6852297" y="2398254"/>
                              <a:chExt cx="362918" cy="727971"/>
                            </a:xfrm>
                          </p:grpSpPr>
                          <p:sp>
                            <p:nvSpPr>
                              <p:cNvPr id="80" name="Rectangle 9">
                                <a:extLst>
                                  <a:ext uri="{FF2B5EF4-FFF2-40B4-BE49-F238E27FC236}">
                                    <a16:creationId xmlns:a16="http://schemas.microsoft.com/office/drawing/2014/main" id="{50436CDC-6D5D-2EAE-C6C1-F816359CF43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81" name="Rectangle 10">
                                <a:extLst>
                                  <a:ext uri="{FF2B5EF4-FFF2-40B4-BE49-F238E27FC236}">
                                    <a16:creationId xmlns:a16="http://schemas.microsoft.com/office/drawing/2014/main" id="{8425C3C7-0D19-8CF4-A8DF-8DF741BC1A1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7" name="组合 76">
                              <a:extLst>
                                <a:ext uri="{FF2B5EF4-FFF2-40B4-BE49-F238E27FC236}">
                                  <a16:creationId xmlns:a16="http://schemas.microsoft.com/office/drawing/2014/main" id="{B55BD0D9-4C77-E168-FD3E-299101370D7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78490" y="3333677"/>
                              <a:ext cx="70189" cy="105731"/>
                              <a:chOff x="6203289" y="3406124"/>
                              <a:chExt cx="92188" cy="152230"/>
                            </a:xfrm>
                          </p:grpSpPr>
                          <p:sp>
                            <p:nvSpPr>
                              <p:cNvPr id="78" name="Line 24">
                                <a:extLst>
                                  <a:ext uri="{FF2B5EF4-FFF2-40B4-BE49-F238E27FC236}">
                                    <a16:creationId xmlns:a16="http://schemas.microsoft.com/office/drawing/2014/main" id="{8ACDC36E-FF6C-3935-C6B1-B3819D45C1E1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6203290" y="3406124"/>
                                <a:ext cx="92186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79" name="Line 24">
                                <a:extLst>
                                  <a:ext uri="{FF2B5EF4-FFF2-40B4-BE49-F238E27FC236}">
                                    <a16:creationId xmlns:a16="http://schemas.microsoft.com/office/drawing/2014/main" id="{87BA5F9F-5AC6-57D2-D89D-F392824BB860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6203289" y="3482239"/>
                                <a:ext cx="92188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3" name="组合 22">
                            <a:extLst>
                              <a:ext uri="{FF2B5EF4-FFF2-40B4-BE49-F238E27FC236}">
                                <a16:creationId xmlns:a16="http://schemas.microsoft.com/office/drawing/2014/main" id="{F03E82AC-8F87-D635-F5D1-4B816409EDD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896754" y="2724574"/>
                            <a:ext cx="281230" cy="362906"/>
                            <a:chOff x="5362627" y="2783884"/>
                            <a:chExt cx="362918" cy="727971"/>
                          </a:xfrm>
                        </p:grpSpPr>
                        <p:grpSp>
                          <p:nvGrpSpPr>
                            <p:cNvPr id="70" name="组合 69">
                              <a:extLst>
                                <a:ext uri="{FF2B5EF4-FFF2-40B4-BE49-F238E27FC236}">
                                  <a16:creationId xmlns:a16="http://schemas.microsoft.com/office/drawing/2014/main" id="{45F3713D-F170-72A5-AD0B-1DA91F9539D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62627" y="2783884"/>
                              <a:ext cx="362918" cy="727971"/>
                              <a:chOff x="6852297" y="2398254"/>
                              <a:chExt cx="362918" cy="727971"/>
                            </a:xfrm>
                          </p:grpSpPr>
                          <p:sp>
                            <p:nvSpPr>
                              <p:cNvPr id="74" name="Rectangle 9">
                                <a:extLst>
                                  <a:ext uri="{FF2B5EF4-FFF2-40B4-BE49-F238E27FC236}">
                                    <a16:creationId xmlns:a16="http://schemas.microsoft.com/office/drawing/2014/main" id="{122D0ED5-B292-CDFD-6083-4F59C3072200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75" name="Rectangle 10">
                                <a:extLst>
                                  <a:ext uri="{FF2B5EF4-FFF2-40B4-BE49-F238E27FC236}">
                                    <a16:creationId xmlns:a16="http://schemas.microsoft.com/office/drawing/2014/main" id="{2C2ED7AF-3A41-DE0F-7ADF-A58DA8135F48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1" name="组合 70">
                              <a:extLst>
                                <a:ext uri="{FF2B5EF4-FFF2-40B4-BE49-F238E27FC236}">
                                  <a16:creationId xmlns:a16="http://schemas.microsoft.com/office/drawing/2014/main" id="{FD363EA1-B569-B534-32F1-CFD069A1128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78490" y="3333677"/>
                              <a:ext cx="70189" cy="105731"/>
                              <a:chOff x="6203289" y="3406124"/>
                              <a:chExt cx="92188" cy="152230"/>
                            </a:xfrm>
                          </p:grpSpPr>
                          <p:sp>
                            <p:nvSpPr>
                              <p:cNvPr id="72" name="Line 24">
                                <a:extLst>
                                  <a:ext uri="{FF2B5EF4-FFF2-40B4-BE49-F238E27FC236}">
                                    <a16:creationId xmlns:a16="http://schemas.microsoft.com/office/drawing/2014/main" id="{E7F08735-B196-9129-508D-BE01A5E02458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6203290" y="3406124"/>
                                <a:ext cx="92186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73" name="Line 24">
                                <a:extLst>
                                  <a:ext uri="{FF2B5EF4-FFF2-40B4-BE49-F238E27FC236}">
                                    <a16:creationId xmlns:a16="http://schemas.microsoft.com/office/drawing/2014/main" id="{393CDBAB-B040-5DDA-605D-11CFFD7C735E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6203289" y="3482239"/>
                                <a:ext cx="92188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" name="组合 23">
                            <a:extLst>
                              <a:ext uri="{FF2B5EF4-FFF2-40B4-BE49-F238E27FC236}">
                                <a16:creationId xmlns:a16="http://schemas.microsoft.com/office/drawing/2014/main" id="{1CE1D04E-A8F8-A6FB-6120-ED38E9F232B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886593" y="3407615"/>
                            <a:ext cx="281230" cy="362906"/>
                            <a:chOff x="5362627" y="2783884"/>
                            <a:chExt cx="362918" cy="727971"/>
                          </a:xfrm>
                        </p:grpSpPr>
                        <p:grpSp>
                          <p:nvGrpSpPr>
                            <p:cNvPr id="64" name="组合 63">
                              <a:extLst>
                                <a:ext uri="{FF2B5EF4-FFF2-40B4-BE49-F238E27FC236}">
                                  <a16:creationId xmlns:a16="http://schemas.microsoft.com/office/drawing/2014/main" id="{264D36A1-D863-A4E2-A8BF-1F7D58CD19E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62627" y="2783884"/>
                              <a:ext cx="362918" cy="727971"/>
                              <a:chOff x="6852297" y="2398254"/>
                              <a:chExt cx="362918" cy="727971"/>
                            </a:xfrm>
                          </p:grpSpPr>
                          <p:sp>
                            <p:nvSpPr>
                              <p:cNvPr id="68" name="Rectangle 9">
                                <a:extLst>
                                  <a:ext uri="{FF2B5EF4-FFF2-40B4-BE49-F238E27FC236}">
                                    <a16:creationId xmlns:a16="http://schemas.microsoft.com/office/drawing/2014/main" id="{A8F5CB2E-411D-0C6D-D824-23BD1B4A0EF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69" name="Rectangle 10">
                                <a:extLst>
                                  <a:ext uri="{FF2B5EF4-FFF2-40B4-BE49-F238E27FC236}">
                                    <a16:creationId xmlns:a16="http://schemas.microsoft.com/office/drawing/2014/main" id="{CF3894EC-43B4-AB28-63AF-612A53519AAF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65" name="组合 64">
                              <a:extLst>
                                <a:ext uri="{FF2B5EF4-FFF2-40B4-BE49-F238E27FC236}">
                                  <a16:creationId xmlns:a16="http://schemas.microsoft.com/office/drawing/2014/main" id="{C6FA1FA8-4937-A490-2C4C-0B434A5759D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78490" y="3333677"/>
                              <a:ext cx="70189" cy="105731"/>
                              <a:chOff x="6203289" y="3406124"/>
                              <a:chExt cx="92188" cy="152230"/>
                            </a:xfrm>
                          </p:grpSpPr>
                          <p:sp>
                            <p:nvSpPr>
                              <p:cNvPr id="66" name="Line 24">
                                <a:extLst>
                                  <a:ext uri="{FF2B5EF4-FFF2-40B4-BE49-F238E27FC236}">
                                    <a16:creationId xmlns:a16="http://schemas.microsoft.com/office/drawing/2014/main" id="{776ABE82-68E1-8ED4-7450-1A9C4C2C7E00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6203290" y="3406124"/>
                                <a:ext cx="92186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67" name="Line 24">
                                <a:extLst>
                                  <a:ext uri="{FF2B5EF4-FFF2-40B4-BE49-F238E27FC236}">
                                    <a16:creationId xmlns:a16="http://schemas.microsoft.com/office/drawing/2014/main" id="{24693221-8FEB-3239-BD43-CA4C0DAB2656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6203289" y="3482239"/>
                                <a:ext cx="92188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52" name="组合 51">
                            <a:extLst>
                              <a:ext uri="{FF2B5EF4-FFF2-40B4-BE49-F238E27FC236}">
                                <a16:creationId xmlns:a16="http://schemas.microsoft.com/office/drawing/2014/main" id="{2C1820B7-FA6D-9BC5-107F-298518678AE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886593" y="3909203"/>
                            <a:ext cx="281230" cy="362906"/>
                            <a:chOff x="5362627" y="2783884"/>
                            <a:chExt cx="362918" cy="727971"/>
                          </a:xfrm>
                        </p:grpSpPr>
                        <p:grpSp>
                          <p:nvGrpSpPr>
                            <p:cNvPr id="58" name="组合 57">
                              <a:extLst>
                                <a:ext uri="{FF2B5EF4-FFF2-40B4-BE49-F238E27FC236}">
                                  <a16:creationId xmlns:a16="http://schemas.microsoft.com/office/drawing/2014/main" id="{EBEF6CE0-8F56-2B15-C20B-6F1AB9D4E77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62627" y="2783884"/>
                              <a:ext cx="362918" cy="727971"/>
                              <a:chOff x="6852297" y="2398254"/>
                              <a:chExt cx="362918" cy="727971"/>
                            </a:xfrm>
                          </p:grpSpPr>
                          <p:sp>
                            <p:nvSpPr>
                              <p:cNvPr id="62" name="Rectangle 9">
                                <a:extLst>
                                  <a:ext uri="{FF2B5EF4-FFF2-40B4-BE49-F238E27FC236}">
                                    <a16:creationId xmlns:a16="http://schemas.microsoft.com/office/drawing/2014/main" id="{655B315B-65F2-0077-2496-1CB770304DA9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63" name="Rectangle 10">
                                <a:extLst>
                                  <a:ext uri="{FF2B5EF4-FFF2-40B4-BE49-F238E27FC236}">
                                    <a16:creationId xmlns:a16="http://schemas.microsoft.com/office/drawing/2014/main" id="{A3229B5D-92A2-82E5-347D-BF33238F3F5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6852297" y="2398254"/>
                                <a:ext cx="362918" cy="727971"/>
                              </a:xfrm>
                              <a:prstGeom prst="rect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 dirty="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59" name="组合 58">
                              <a:extLst>
                                <a:ext uri="{FF2B5EF4-FFF2-40B4-BE49-F238E27FC236}">
                                  <a16:creationId xmlns:a16="http://schemas.microsoft.com/office/drawing/2014/main" id="{B1519B84-43D4-42DA-A352-3ACBE4660D3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378490" y="3333677"/>
                              <a:ext cx="70189" cy="105731"/>
                              <a:chOff x="6203289" y="3406124"/>
                              <a:chExt cx="92188" cy="152230"/>
                            </a:xfrm>
                          </p:grpSpPr>
                          <p:sp>
                            <p:nvSpPr>
                              <p:cNvPr id="60" name="Line 24">
                                <a:extLst>
                                  <a:ext uri="{FF2B5EF4-FFF2-40B4-BE49-F238E27FC236}">
                                    <a16:creationId xmlns:a16="http://schemas.microsoft.com/office/drawing/2014/main" id="{01372136-0627-A3B7-4C05-DAF3BC2C0A18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6203290" y="3406124"/>
                                <a:ext cx="92186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  <p:sp>
                            <p:nvSpPr>
                              <p:cNvPr id="61" name="Line 24">
                                <a:extLst>
                                  <a:ext uri="{FF2B5EF4-FFF2-40B4-BE49-F238E27FC236}">
                                    <a16:creationId xmlns:a16="http://schemas.microsoft.com/office/drawing/2014/main" id="{3C52B615-8023-967C-D8BF-0650F388C4C5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>
                                <a:off x="6203289" y="3482239"/>
                                <a:ext cx="92188" cy="76115"/>
                              </a:xfrm>
                              <a:prstGeom prst="line">
                                <a:avLst/>
                              </a:prstGeom>
                              <a:noFill/>
                              <a:ln w="28575" cap="rnd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 vert="horz" wrap="square" lIns="91440" tIns="45720" rIns="91440" bIns="45720" numCol="1" anchor="t" anchorCtr="0" compatLnSpc="1">
                                <a:prstTxWarp prst="textNoShape">
                                  <a:avLst/>
                                </a:prstTxWarp>
                              </a:bodyPr>
                              <a:lstStyle/>
                              <a:p>
                                <a:endParaRPr lang="zh-CN" altLang="en-US" sz="1200">
                                  <a:latin typeface="+mn-lt"/>
                                </a:endParaRPr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53" name="Line 24">
                            <a:extLst>
                              <a:ext uri="{FF2B5EF4-FFF2-40B4-BE49-F238E27FC236}">
                                <a16:creationId xmlns:a16="http://schemas.microsoft.com/office/drawing/2014/main" id="{6998F6F9-BB40-3074-3E16-76F9E686333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540131" y="2447766"/>
                            <a:ext cx="356621" cy="0"/>
                          </a:xfrm>
                          <a:prstGeom prst="line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54" name="Line 24">
                            <a:extLst>
                              <a:ext uri="{FF2B5EF4-FFF2-40B4-BE49-F238E27FC236}">
                                <a16:creationId xmlns:a16="http://schemas.microsoft.com/office/drawing/2014/main" id="{AA211C54-E63B-673E-A494-DE9D15DEE2C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529972" y="2899744"/>
                            <a:ext cx="356621" cy="0"/>
                          </a:xfrm>
                          <a:prstGeom prst="line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55" name="Line 24">
                            <a:extLst>
                              <a:ext uri="{FF2B5EF4-FFF2-40B4-BE49-F238E27FC236}">
                                <a16:creationId xmlns:a16="http://schemas.microsoft.com/office/drawing/2014/main" id="{D7CF9224-7022-238A-FBCC-13F1F96906D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517925" y="3589068"/>
                            <a:ext cx="356621" cy="0"/>
                          </a:xfrm>
                          <a:prstGeom prst="line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56" name="Line 24">
                            <a:extLst>
                              <a:ext uri="{FF2B5EF4-FFF2-40B4-BE49-F238E27FC236}">
                                <a16:creationId xmlns:a16="http://schemas.microsoft.com/office/drawing/2014/main" id="{B010DD4B-3A7E-B2F7-6788-8C65A5E125E2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517925" y="4090656"/>
                            <a:ext cx="356621" cy="0"/>
                          </a:xfrm>
                          <a:prstGeom prst="line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57" name="Rectangle 33">
                            <a:extLst>
                              <a:ext uri="{FF2B5EF4-FFF2-40B4-BE49-F238E27FC236}">
                                <a16:creationId xmlns:a16="http://schemas.microsoft.com/office/drawing/2014/main" id="{77E68988-BB6B-1A36-146A-3520194EA137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393716" y="2829720"/>
                            <a:ext cx="136256" cy="246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marL="0" marR="0" lvl="0" indent="0" algn="l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r>
                              <a:rPr kumimoji="0" lang="en-US" altLang="zh-CN" sz="160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</a:rPr>
                              <a:t>B</a:t>
                            </a:r>
                            <a:endParaRPr kumimoji="0" lang="zh-CN" altLang="zh-CN" sz="120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endParaRPr>
                          </a:p>
                        </p:txBody>
                      </p:sp>
                    </p:grpSp>
                    <p:sp>
                      <p:nvSpPr>
                        <p:cNvPr id="21" name="Rectangle 33">
                          <a:extLst>
                            <a:ext uri="{FF2B5EF4-FFF2-40B4-BE49-F238E27FC236}">
                              <a16:creationId xmlns:a16="http://schemas.microsoft.com/office/drawing/2014/main" id="{A5EBFC61-75F4-3064-1D73-A2781E25B59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73305" y="3511509"/>
                          <a:ext cx="147476" cy="246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hangingPunct="0"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kumimoji="0" lang="zh-CN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p:txBody>
                    </p:sp>
                  </p:grpSp>
                  <p:sp>
                    <p:nvSpPr>
                      <p:cNvPr id="19" name="Rectangle 33">
                        <a:extLst>
                          <a:ext uri="{FF2B5EF4-FFF2-40B4-BE49-F238E27FC236}">
                            <a16:creationId xmlns:a16="http://schemas.microsoft.com/office/drawing/2014/main" id="{AE1DF162-99C0-9BE4-36E6-98A8A75EE8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73305" y="3997798"/>
                        <a:ext cx="147476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altLang="zh-CN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rPr>
                          <a:t>D</a:t>
                        </a:r>
                        <a:endPara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2F573E8-F38A-349B-9A6A-F38F8B821482}"/>
                  </a:ext>
                </a:extLst>
              </p:cNvPr>
              <p:cNvSpPr txBox="1"/>
              <p:nvPr/>
            </p:nvSpPr>
            <p:spPr>
              <a:xfrm>
                <a:off x="3114007" y="2726756"/>
                <a:ext cx="3898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T1</a:t>
                </a:r>
                <a:endPara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F11128-74E0-11AC-3299-86FECE88B8F2}"/>
                  </a:ext>
                </a:extLst>
              </p:cNvPr>
              <p:cNvSpPr txBox="1"/>
              <p:nvPr/>
            </p:nvSpPr>
            <p:spPr>
              <a:xfrm>
                <a:off x="3118555" y="3853859"/>
                <a:ext cx="3898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T2</a:t>
                </a:r>
                <a:endPara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4" name="Group 24">
              <a:extLst>
                <a:ext uri="{FF2B5EF4-FFF2-40B4-BE49-F238E27FC236}">
                  <a16:creationId xmlns:a16="http://schemas.microsoft.com/office/drawing/2014/main" id="{FB9B8277-CDE4-CBA7-A7CE-7728F268CF2E}"/>
                </a:ext>
              </a:extLst>
            </p:cNvPr>
            <p:cNvGrpSpPr/>
            <p:nvPr/>
          </p:nvGrpSpPr>
          <p:grpSpPr>
            <a:xfrm>
              <a:off x="4735230" y="3531176"/>
              <a:ext cx="460249" cy="640080"/>
              <a:chOff x="2660904" y="2715768"/>
              <a:chExt cx="460249" cy="640080"/>
            </a:xfrm>
          </p:grpSpPr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C5D4500A-6CF0-6F2D-DE08-2B917E9A7877}"/>
                  </a:ext>
                </a:extLst>
              </p:cNvPr>
              <p:cNvSpPr/>
              <p:nvPr/>
            </p:nvSpPr>
            <p:spPr>
              <a:xfrm>
                <a:off x="2660904" y="2715768"/>
                <a:ext cx="460249" cy="640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FC60185E-CC0D-1942-1FD5-F93C02358FC0}"/>
                  </a:ext>
                </a:extLst>
              </p:cNvPr>
              <p:cNvSpPr/>
              <p:nvPr/>
            </p:nvSpPr>
            <p:spPr>
              <a:xfrm>
                <a:off x="2670048" y="3154680"/>
                <a:ext cx="100584" cy="192024"/>
              </a:xfrm>
              <a:custGeom>
                <a:avLst/>
                <a:gdLst>
                  <a:gd name="connsiteX0" fmla="*/ 0 w 100584"/>
                  <a:gd name="connsiteY0" fmla="*/ 0 h 192024"/>
                  <a:gd name="connsiteX1" fmla="*/ 100584 w 100584"/>
                  <a:gd name="connsiteY1" fmla="*/ 100584 h 192024"/>
                  <a:gd name="connsiteX2" fmla="*/ 9144 w 100584"/>
                  <a:gd name="connsiteY2" fmla="*/ 192024 h 192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584" h="192024">
                    <a:moveTo>
                      <a:pt x="0" y="0"/>
                    </a:moveTo>
                    <a:lnTo>
                      <a:pt x="100584" y="100584"/>
                    </a:lnTo>
                    <a:lnTo>
                      <a:pt x="9144" y="192024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grpSp>
          <p:nvGrpSpPr>
            <p:cNvPr id="47" name="Group 27">
              <a:extLst>
                <a:ext uri="{FF2B5EF4-FFF2-40B4-BE49-F238E27FC236}">
                  <a16:creationId xmlns:a16="http://schemas.microsoft.com/office/drawing/2014/main" id="{DF2FFA5C-75D6-20A1-DC0F-11FB69DC89AF}"/>
                </a:ext>
              </a:extLst>
            </p:cNvPr>
            <p:cNvGrpSpPr/>
            <p:nvPr/>
          </p:nvGrpSpPr>
          <p:grpSpPr>
            <a:xfrm>
              <a:off x="4744374" y="4580740"/>
              <a:ext cx="460249" cy="640080"/>
              <a:chOff x="2660904" y="2715768"/>
              <a:chExt cx="460249" cy="640080"/>
            </a:xfrm>
          </p:grpSpPr>
          <p:sp>
            <p:nvSpPr>
              <p:cNvPr id="48" name="Rectangle 28">
                <a:extLst>
                  <a:ext uri="{FF2B5EF4-FFF2-40B4-BE49-F238E27FC236}">
                    <a16:creationId xmlns:a16="http://schemas.microsoft.com/office/drawing/2014/main" id="{03AAC1BC-1E56-C36C-ABEF-207CF0B329F4}"/>
                  </a:ext>
                </a:extLst>
              </p:cNvPr>
              <p:cNvSpPr/>
              <p:nvPr/>
            </p:nvSpPr>
            <p:spPr>
              <a:xfrm>
                <a:off x="2660904" y="2715768"/>
                <a:ext cx="460249" cy="6400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114CA58-7B16-D97D-4156-880A6E4AA433}"/>
                  </a:ext>
                </a:extLst>
              </p:cNvPr>
              <p:cNvSpPr/>
              <p:nvPr/>
            </p:nvSpPr>
            <p:spPr>
              <a:xfrm>
                <a:off x="2670048" y="3154680"/>
                <a:ext cx="100584" cy="192024"/>
              </a:xfrm>
              <a:custGeom>
                <a:avLst/>
                <a:gdLst>
                  <a:gd name="connsiteX0" fmla="*/ 0 w 100584"/>
                  <a:gd name="connsiteY0" fmla="*/ 0 h 192024"/>
                  <a:gd name="connsiteX1" fmla="*/ 100584 w 100584"/>
                  <a:gd name="connsiteY1" fmla="*/ 100584 h 192024"/>
                  <a:gd name="connsiteX2" fmla="*/ 9144 w 100584"/>
                  <a:gd name="connsiteY2" fmla="*/ 192024 h 192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584" h="192024">
                    <a:moveTo>
                      <a:pt x="0" y="0"/>
                    </a:moveTo>
                    <a:lnTo>
                      <a:pt x="100584" y="100584"/>
                    </a:lnTo>
                    <a:lnTo>
                      <a:pt x="9144" y="192024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156869F6-4478-624D-68F0-17037C20FA30}"/>
              </a:ext>
            </a:extLst>
          </p:cNvPr>
          <p:cNvSpPr txBox="1"/>
          <p:nvPr/>
        </p:nvSpPr>
        <p:spPr>
          <a:xfrm>
            <a:off x="3004344" y="5674355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SimHei" panose="02010609060101010101" pitchFamily="49" charset="-122"/>
              </a:rPr>
              <a:t>第</a:t>
            </a:r>
            <a:r>
              <a:rPr lang="en-US" altLang="zh-CN" dirty="0">
                <a:ea typeface="SimHei" panose="02010609060101010101" pitchFamily="49" charset="-122"/>
              </a:rPr>
              <a:t>1</a:t>
            </a:r>
            <a:r>
              <a:rPr lang="zh-CN" altLang="en-US" dirty="0">
                <a:ea typeface="SimHei" panose="02010609060101010101" pitchFamily="49" charset="-122"/>
              </a:rPr>
              <a:t>个周期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F26CB05-7855-B0D3-8BF6-850D26DC68CD}"/>
              </a:ext>
            </a:extLst>
          </p:cNvPr>
          <p:cNvSpPr txBox="1"/>
          <p:nvPr/>
        </p:nvSpPr>
        <p:spPr>
          <a:xfrm>
            <a:off x="5470727" y="569661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SimHei" panose="02010609060101010101" pitchFamily="49" charset="-122"/>
              </a:rPr>
              <a:t>第</a:t>
            </a:r>
            <a:r>
              <a:rPr lang="en-US" altLang="zh-CN" dirty="0">
                <a:ea typeface="SimHei" panose="02010609060101010101" pitchFamily="49" charset="-122"/>
              </a:rPr>
              <a:t>2</a:t>
            </a:r>
            <a:r>
              <a:rPr lang="zh-CN" altLang="en-US" dirty="0">
                <a:ea typeface="SimHei" panose="02010609060101010101" pitchFamily="49" charset="-122"/>
              </a:rPr>
              <a:t>个周期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90ABFC-D395-A53B-7C4B-37C2973C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976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单周期到多周期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多周期的资源复用：</a:t>
            </a:r>
            <a:endParaRPr lang="en-US" altLang="zh-CN" dirty="0"/>
          </a:p>
          <a:p>
            <a:pPr lvl="1"/>
            <a:r>
              <a:rPr lang="zh-CN" altLang="en-US" dirty="0"/>
              <a:t>周期调度</a:t>
            </a:r>
            <a:endParaRPr lang="en-US" altLang="zh-CN" dirty="0"/>
          </a:p>
          <a:p>
            <a:pPr lvl="1"/>
            <a:r>
              <a:rPr lang="zh-CN" altLang="en-US" dirty="0"/>
              <a:t>资源绑定（加法器，寄存器）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7D598-6FB3-4EBF-9897-4F314D3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14</a:t>
            </a:fld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137CD-89E0-BEA1-C9D5-078F2C48E379}"/>
              </a:ext>
            </a:extLst>
          </p:cNvPr>
          <p:cNvGraphicFramePr>
            <a:graphicFrameLocks noGrp="1"/>
          </p:cNvGraphicFramePr>
          <p:nvPr/>
        </p:nvGraphicFramePr>
        <p:xfrm>
          <a:off x="1093690" y="3501240"/>
          <a:ext cx="2955109" cy="223622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95680">
                  <a:extLst>
                    <a:ext uri="{9D8B030D-6E8A-4147-A177-3AD203B41FA5}">
                      <a16:colId xmlns:a16="http://schemas.microsoft.com/office/drawing/2014/main" val="3187574335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3893358263"/>
                    </a:ext>
                  </a:extLst>
                </a:gridCol>
              </a:tblGrid>
              <a:tr h="5590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周期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操作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656571"/>
                  </a:ext>
                </a:extLst>
              </a:tr>
              <a:tr h="559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T1=A+B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181718"/>
                  </a:ext>
                </a:extLst>
              </a:tr>
              <a:tr h="559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T2=C+D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341032"/>
                  </a:ext>
                </a:extLst>
              </a:tr>
              <a:tr h="559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Y=T1+T2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90318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3A20EA58-9F6B-8F4F-6FB7-13D94328FF22}"/>
              </a:ext>
            </a:extLst>
          </p:cNvPr>
          <p:cNvGrpSpPr/>
          <p:nvPr/>
        </p:nvGrpSpPr>
        <p:grpSpPr>
          <a:xfrm>
            <a:off x="4330460" y="3126727"/>
            <a:ext cx="4508790" cy="2767789"/>
            <a:chOff x="4330460" y="3126727"/>
            <a:chExt cx="4508790" cy="2767789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7D1498CD-7EA0-41EB-AAD0-0581F84C587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330460" y="3171175"/>
              <a:ext cx="4508790" cy="2723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196869-496F-415D-BFE1-818A8DDE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733" y="3855331"/>
              <a:ext cx="604449" cy="1207569"/>
            </a:xfrm>
            <a:custGeom>
              <a:avLst/>
              <a:gdLst>
                <a:gd name="T0" fmla="*/ 0 w 455"/>
                <a:gd name="T1" fmla="*/ 0 h 909"/>
                <a:gd name="T2" fmla="*/ 455 w 455"/>
                <a:gd name="T3" fmla="*/ 228 h 909"/>
                <a:gd name="T4" fmla="*/ 455 w 455"/>
                <a:gd name="T5" fmla="*/ 682 h 909"/>
                <a:gd name="T6" fmla="*/ 0 w 455"/>
                <a:gd name="T7" fmla="*/ 909 h 909"/>
                <a:gd name="T8" fmla="*/ 0 w 455"/>
                <a:gd name="T9" fmla="*/ 568 h 909"/>
                <a:gd name="T10" fmla="*/ 228 w 455"/>
                <a:gd name="T11" fmla="*/ 455 h 909"/>
                <a:gd name="T12" fmla="*/ 0 w 455"/>
                <a:gd name="T13" fmla="*/ 341 h 909"/>
                <a:gd name="T14" fmla="*/ 0 w 455"/>
                <a:gd name="T1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909">
                  <a:moveTo>
                    <a:pt x="0" y="0"/>
                  </a:moveTo>
                  <a:lnTo>
                    <a:pt x="455" y="228"/>
                  </a:lnTo>
                  <a:lnTo>
                    <a:pt x="455" y="682"/>
                  </a:lnTo>
                  <a:lnTo>
                    <a:pt x="0" y="909"/>
                  </a:lnTo>
                  <a:lnTo>
                    <a:pt x="0" y="568"/>
                  </a:lnTo>
                  <a:lnTo>
                    <a:pt x="228" y="455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78F2751-9B2F-468D-90F4-5F19D2153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733" y="3855331"/>
              <a:ext cx="604449" cy="1207569"/>
            </a:xfrm>
            <a:custGeom>
              <a:avLst/>
              <a:gdLst>
                <a:gd name="T0" fmla="*/ 0 w 455"/>
                <a:gd name="T1" fmla="*/ 0 h 909"/>
                <a:gd name="T2" fmla="*/ 455 w 455"/>
                <a:gd name="T3" fmla="*/ 228 h 909"/>
                <a:gd name="T4" fmla="*/ 455 w 455"/>
                <a:gd name="T5" fmla="*/ 682 h 909"/>
                <a:gd name="T6" fmla="*/ 0 w 455"/>
                <a:gd name="T7" fmla="*/ 909 h 909"/>
                <a:gd name="T8" fmla="*/ 0 w 455"/>
                <a:gd name="T9" fmla="*/ 568 h 909"/>
                <a:gd name="T10" fmla="*/ 228 w 455"/>
                <a:gd name="T11" fmla="*/ 455 h 909"/>
                <a:gd name="T12" fmla="*/ 0 w 455"/>
                <a:gd name="T13" fmla="*/ 341 h 909"/>
                <a:gd name="T14" fmla="*/ 0 w 455"/>
                <a:gd name="T1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909">
                  <a:moveTo>
                    <a:pt x="0" y="0"/>
                  </a:moveTo>
                  <a:lnTo>
                    <a:pt x="455" y="228"/>
                  </a:lnTo>
                  <a:lnTo>
                    <a:pt x="455" y="682"/>
                  </a:lnTo>
                  <a:lnTo>
                    <a:pt x="0" y="909"/>
                  </a:lnTo>
                  <a:lnTo>
                    <a:pt x="0" y="568"/>
                  </a:lnTo>
                  <a:lnTo>
                    <a:pt x="228" y="455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F71C0EF4-054D-49CD-91D3-1A922F9729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388243" y="4330920"/>
              <a:ext cx="449019" cy="256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ADD</a:t>
              </a:r>
              <a:endPara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6AF66CE9-DC23-46C9-AD9A-355CE3991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3252211"/>
              <a:ext cx="451676" cy="906009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72EE9284-BCC3-46AB-AE3C-47D470236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3252211"/>
              <a:ext cx="451676" cy="906009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18892F36-195A-44AB-8E1A-3A8B3A62A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017" y="3564399"/>
              <a:ext cx="225838" cy="23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T1</a:t>
              </a:r>
              <a:endPara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8" name="Rectangle 12">
              <a:extLst>
                <a:ext uri="{FF2B5EF4-FFF2-40B4-BE49-F238E27FC236}">
                  <a16:creationId xmlns:a16="http://schemas.microsoft.com/office/drawing/2014/main" id="{8A292828-1D4C-4BEE-903E-1E179C54B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4791895"/>
              <a:ext cx="451676" cy="904681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240FF3A4-EEC7-4F32-ABE9-516736DD7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4791895"/>
              <a:ext cx="451676" cy="904681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8EAD02BE-B027-4A97-B116-21BF95329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017" y="5104083"/>
              <a:ext cx="225838" cy="23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T2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B407092-817A-4DEA-89CE-D1EAE818A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3402327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E853915-FD48-4AF7-A56C-F86BF461D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3402327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F6CFA6C0-5C64-4341-AE23-2A00C98EFB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32618" y="3734442"/>
              <a:ext cx="592493" cy="256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MUX1</a:t>
              </a:r>
              <a:endPara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83696718-6430-4334-A597-A8A374383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4911456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D469B5D-A5E4-41D5-B4E1-3A7373FAE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4911456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28" name="Rectangle 22">
              <a:extLst>
                <a:ext uri="{FF2B5EF4-FFF2-40B4-BE49-F238E27FC236}">
                  <a16:creationId xmlns:a16="http://schemas.microsoft.com/office/drawing/2014/main" id="{776BE5E4-AC82-4A45-9275-E42AE70ECD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32618" y="5243571"/>
              <a:ext cx="592493" cy="256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MUX2</a:t>
              </a:r>
              <a:endPara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0B8A6CDD-03A1-4976-854F-FDFABFF42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4372" y="3855331"/>
              <a:ext cx="60312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EED9DEE6-9083-4E96-9DC9-068050696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4372" y="4164862"/>
              <a:ext cx="60312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ABCFA7AF-F647-420C-8A7B-71803E9E9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377" y="3126727"/>
              <a:ext cx="3374286" cy="578488"/>
            </a:xfrm>
            <a:custGeom>
              <a:avLst/>
              <a:gdLst>
                <a:gd name="T0" fmla="*/ 113 w 2540"/>
                <a:gd name="T1" fmla="*/ 270 h 384"/>
                <a:gd name="T2" fmla="*/ 0 w 2540"/>
                <a:gd name="T3" fmla="*/ 270 h 384"/>
                <a:gd name="T4" fmla="*/ 0 w 2540"/>
                <a:gd name="T5" fmla="*/ 0 h 384"/>
                <a:gd name="T6" fmla="*/ 2540 w 2540"/>
                <a:gd name="T7" fmla="*/ 0 h 384"/>
                <a:gd name="T8" fmla="*/ 2540 w 2540"/>
                <a:gd name="T9" fmla="*/ 384 h 384"/>
                <a:gd name="T10" fmla="*/ 2497 w 2540"/>
                <a:gd name="T1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0" h="384">
                  <a:moveTo>
                    <a:pt x="113" y="270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2540" y="384"/>
                  </a:lnTo>
                  <a:lnTo>
                    <a:pt x="2497" y="384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A6EC94B7-092E-4202-8F7A-56FCFFEF5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377" y="5062901"/>
              <a:ext cx="3381035" cy="811688"/>
            </a:xfrm>
            <a:custGeom>
              <a:avLst/>
              <a:gdLst>
                <a:gd name="T0" fmla="*/ 2497 w 2540"/>
                <a:gd name="T1" fmla="*/ 136 h 611"/>
                <a:gd name="T2" fmla="*/ 2540 w 2540"/>
                <a:gd name="T3" fmla="*/ 136 h 611"/>
                <a:gd name="T4" fmla="*/ 2540 w 2540"/>
                <a:gd name="T5" fmla="*/ 611 h 611"/>
                <a:gd name="T6" fmla="*/ 0 w 2540"/>
                <a:gd name="T7" fmla="*/ 611 h 611"/>
                <a:gd name="T8" fmla="*/ 0 w 2540"/>
                <a:gd name="T9" fmla="*/ 0 h 611"/>
                <a:gd name="T10" fmla="*/ 113 w 2540"/>
                <a:gd name="T11" fmla="*/ 0 h 611"/>
                <a:gd name="connsiteX0" fmla="*/ 8887 w 10000"/>
                <a:gd name="connsiteY0" fmla="*/ 231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2140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231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1970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95 w 10000"/>
                <a:gd name="connsiteY0" fmla="*/ 2397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95 w 10000"/>
                <a:gd name="connsiteY0" fmla="*/ 214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312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10000 w 10000"/>
                <a:gd name="connsiteY1" fmla="*/ 2055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9979 w 10000"/>
                <a:gd name="connsiteY1" fmla="*/ 2311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20"/>
                <a:gd name="connsiteY0" fmla="*/ 2141 h 10000"/>
                <a:gd name="connsiteX1" fmla="*/ 10020 w 10020"/>
                <a:gd name="connsiteY1" fmla="*/ 2140 h 10000"/>
                <a:gd name="connsiteX2" fmla="*/ 10000 w 10020"/>
                <a:gd name="connsiteY2" fmla="*/ 10000 h 10000"/>
                <a:gd name="connsiteX3" fmla="*/ 0 w 10020"/>
                <a:gd name="connsiteY3" fmla="*/ 10000 h 10000"/>
                <a:gd name="connsiteX4" fmla="*/ 0 w 10020"/>
                <a:gd name="connsiteY4" fmla="*/ 0 h 10000"/>
                <a:gd name="connsiteX5" fmla="*/ 445 w 1002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20" h="10000">
                  <a:moveTo>
                    <a:pt x="9236" y="2141"/>
                  </a:moveTo>
                  <a:lnTo>
                    <a:pt x="10020" y="2140"/>
                  </a:lnTo>
                  <a:cubicBezTo>
                    <a:pt x="10013" y="4760"/>
                    <a:pt x="10007" y="7380"/>
                    <a:pt x="10000" y="10000"/>
                  </a:cubicBezTo>
                  <a:lnTo>
                    <a:pt x="0" y="10000"/>
                  </a:lnTo>
                  <a:lnTo>
                    <a:pt x="0" y="0"/>
                  </a:lnTo>
                  <a:lnTo>
                    <a:pt x="445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8FFB962B-6BE5-471C-8862-27D62A11D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372" y="5339220"/>
              <a:ext cx="603120" cy="25241"/>
            </a:xfrm>
            <a:custGeom>
              <a:avLst/>
              <a:gdLst>
                <a:gd name="T0" fmla="*/ 2419 w 2419"/>
                <a:gd name="T1" fmla="*/ 100 h 100"/>
                <a:gd name="T2" fmla="*/ 1915 w 2419"/>
                <a:gd name="T3" fmla="*/ 100 h 100"/>
                <a:gd name="T4" fmla="*/ 1815 w 2419"/>
                <a:gd name="T5" fmla="*/ 0 h 100"/>
                <a:gd name="T6" fmla="*/ 1714 w 2419"/>
                <a:gd name="T7" fmla="*/ 100 h 100"/>
                <a:gd name="T8" fmla="*/ 0 w 2419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9" h="100">
                  <a:moveTo>
                    <a:pt x="2419" y="100"/>
                  </a:moveTo>
                  <a:lnTo>
                    <a:pt x="1915" y="100"/>
                  </a:lnTo>
                  <a:cubicBezTo>
                    <a:pt x="1915" y="45"/>
                    <a:pt x="1870" y="0"/>
                    <a:pt x="1815" y="0"/>
                  </a:cubicBezTo>
                  <a:cubicBezTo>
                    <a:pt x="1759" y="0"/>
                    <a:pt x="1714" y="45"/>
                    <a:pt x="1714" y="100"/>
                  </a:cubicBezTo>
                  <a:lnTo>
                    <a:pt x="0" y="10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BEF5E7D9-FD99-4BA7-93A9-59EA7B5B7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372" y="5647423"/>
              <a:ext cx="603120" cy="26569"/>
            </a:xfrm>
            <a:custGeom>
              <a:avLst/>
              <a:gdLst>
                <a:gd name="T0" fmla="*/ 2419 w 2419"/>
                <a:gd name="T1" fmla="*/ 109 h 109"/>
                <a:gd name="T2" fmla="*/ 1915 w 2419"/>
                <a:gd name="T3" fmla="*/ 103 h 109"/>
                <a:gd name="T4" fmla="*/ 1816 w 2419"/>
                <a:gd name="T5" fmla="*/ 1 h 109"/>
                <a:gd name="T6" fmla="*/ 1714 w 2419"/>
                <a:gd name="T7" fmla="*/ 100 h 109"/>
                <a:gd name="T8" fmla="*/ 0 w 2419"/>
                <a:gd name="T9" fmla="*/ 7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9" h="109">
                  <a:moveTo>
                    <a:pt x="2419" y="109"/>
                  </a:moveTo>
                  <a:lnTo>
                    <a:pt x="1915" y="103"/>
                  </a:lnTo>
                  <a:cubicBezTo>
                    <a:pt x="1916" y="47"/>
                    <a:pt x="1872" y="1"/>
                    <a:pt x="1816" y="1"/>
                  </a:cubicBezTo>
                  <a:cubicBezTo>
                    <a:pt x="1760" y="0"/>
                    <a:pt x="1715" y="45"/>
                    <a:pt x="1714" y="100"/>
                  </a:cubicBezTo>
                  <a:lnTo>
                    <a:pt x="0" y="79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A8B3F604-7691-400A-A3A8-917F0FE1E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497" y="3855331"/>
              <a:ext cx="753236" cy="151444"/>
            </a:xfrm>
            <a:custGeom>
              <a:avLst/>
              <a:gdLst>
                <a:gd name="T0" fmla="*/ 0 w 567"/>
                <a:gd name="T1" fmla="*/ 0 h 114"/>
                <a:gd name="T2" fmla="*/ 85 w 567"/>
                <a:gd name="T3" fmla="*/ 0 h 114"/>
                <a:gd name="T4" fmla="*/ 85 w 567"/>
                <a:gd name="T5" fmla="*/ 114 h 114"/>
                <a:gd name="T6" fmla="*/ 567 w 567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114">
                  <a:moveTo>
                    <a:pt x="0" y="0"/>
                  </a:moveTo>
                  <a:lnTo>
                    <a:pt x="85" y="0"/>
                  </a:lnTo>
                  <a:lnTo>
                    <a:pt x="85" y="114"/>
                  </a:lnTo>
                  <a:lnTo>
                    <a:pt x="567" y="114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618327DA-4FD8-49D3-AF01-06A10B5F4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497" y="4911456"/>
              <a:ext cx="753236" cy="453005"/>
            </a:xfrm>
            <a:custGeom>
              <a:avLst/>
              <a:gdLst>
                <a:gd name="T0" fmla="*/ 0 w 567"/>
                <a:gd name="T1" fmla="*/ 341 h 341"/>
                <a:gd name="T2" fmla="*/ 85 w 567"/>
                <a:gd name="T3" fmla="*/ 341 h 341"/>
                <a:gd name="T4" fmla="*/ 85 w 567"/>
                <a:gd name="T5" fmla="*/ 0 h 341"/>
                <a:gd name="T6" fmla="*/ 567 w 567"/>
                <a:gd name="T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341">
                  <a:moveTo>
                    <a:pt x="0" y="341"/>
                  </a:moveTo>
                  <a:lnTo>
                    <a:pt x="85" y="341"/>
                  </a:lnTo>
                  <a:lnTo>
                    <a:pt x="85" y="0"/>
                  </a:lnTo>
                  <a:lnTo>
                    <a:pt x="567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BF2A4D77-9323-48AD-96B5-8AA782953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183" y="3705216"/>
              <a:ext cx="676946" cy="754565"/>
            </a:xfrm>
            <a:custGeom>
              <a:avLst/>
              <a:gdLst>
                <a:gd name="T0" fmla="*/ 0 w 681"/>
                <a:gd name="T1" fmla="*/ 568 h 568"/>
                <a:gd name="T2" fmla="*/ 227 w 681"/>
                <a:gd name="T3" fmla="*/ 568 h 568"/>
                <a:gd name="T4" fmla="*/ 227 w 681"/>
                <a:gd name="T5" fmla="*/ 0 h 568"/>
                <a:gd name="T6" fmla="*/ 681 w 681"/>
                <a:gd name="T7" fmla="*/ 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1" h="568">
                  <a:moveTo>
                    <a:pt x="0" y="568"/>
                  </a:moveTo>
                  <a:lnTo>
                    <a:pt x="227" y="568"/>
                  </a:lnTo>
                  <a:lnTo>
                    <a:pt x="227" y="0"/>
                  </a:lnTo>
                  <a:lnTo>
                    <a:pt x="681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E0836889-2CC5-4528-81C7-869467B75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182" y="4459780"/>
              <a:ext cx="676947" cy="783791"/>
            </a:xfrm>
            <a:custGeom>
              <a:avLst/>
              <a:gdLst>
                <a:gd name="T0" fmla="*/ 681 w 681"/>
                <a:gd name="T1" fmla="*/ 590 h 590"/>
                <a:gd name="T2" fmla="*/ 227 w 681"/>
                <a:gd name="T3" fmla="*/ 590 h 590"/>
                <a:gd name="T4" fmla="*/ 227 w 681"/>
                <a:gd name="T5" fmla="*/ 0 h 590"/>
                <a:gd name="T6" fmla="*/ 0 w 681"/>
                <a:gd name="T7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1" h="590">
                  <a:moveTo>
                    <a:pt x="681" y="590"/>
                  </a:moveTo>
                  <a:lnTo>
                    <a:pt x="227" y="590"/>
                  </a:lnTo>
                  <a:lnTo>
                    <a:pt x="227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14E8F935-ADB5-480E-A081-B7F9B4E53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3564399"/>
              <a:ext cx="128861" cy="23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0" name="Rectangle 34">
              <a:extLst>
                <a:ext uri="{FF2B5EF4-FFF2-40B4-BE49-F238E27FC236}">
                  <a16:creationId xmlns:a16="http://schemas.microsoft.com/office/drawing/2014/main" id="{B1D7771F-2067-459B-94B5-7031419ED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5073528"/>
              <a:ext cx="1538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1" name="Rectangle 35">
              <a:extLst>
                <a:ext uri="{FF2B5EF4-FFF2-40B4-BE49-F238E27FC236}">
                  <a16:creationId xmlns:a16="http://schemas.microsoft.com/office/drawing/2014/main" id="{571B4A7A-9889-49AD-B330-1701AF987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3865959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C</a:t>
              </a:r>
              <a:endPara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2" name="Rectangle 36">
              <a:extLst>
                <a:ext uri="{FF2B5EF4-FFF2-40B4-BE49-F238E27FC236}">
                  <a16:creationId xmlns:a16="http://schemas.microsoft.com/office/drawing/2014/main" id="{DE0D6A85-C2FD-49B5-8686-D5C390E85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5375089"/>
              <a:ext cx="139488" cy="23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D</a:t>
              </a:r>
              <a:endPara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3" name="Line 37">
              <a:extLst>
                <a:ext uri="{FF2B5EF4-FFF2-40B4-BE49-F238E27FC236}">
                  <a16:creationId xmlns:a16="http://schemas.microsoft.com/office/drawing/2014/main" id="{4E2762B0-4343-4644-A02C-C94FD42D1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313" y="3705215"/>
              <a:ext cx="878682" cy="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44" name="Rectangle 38">
              <a:extLst>
                <a:ext uri="{FF2B5EF4-FFF2-40B4-BE49-F238E27FC236}">
                  <a16:creationId xmlns:a16="http://schemas.microsoft.com/office/drawing/2014/main" id="{84EC2CDD-4119-46C6-BBD4-04EA49F35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500" y="3412955"/>
              <a:ext cx="128861" cy="23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Y</a:t>
              </a:r>
              <a:endPara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120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299A8D-0F08-A3B6-3CF2-1F51A4D3F1C2}"/>
              </a:ext>
            </a:extLst>
          </p:cNvPr>
          <p:cNvGrpSpPr/>
          <p:nvPr/>
        </p:nvGrpSpPr>
        <p:grpSpPr>
          <a:xfrm>
            <a:off x="5412874" y="3014940"/>
            <a:ext cx="3400386" cy="2973641"/>
            <a:chOff x="5412874" y="3014940"/>
            <a:chExt cx="3400386" cy="2973641"/>
          </a:xfrm>
        </p:grpSpPr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5DBC9EFC-8459-4130-92BB-2A4506716E27}"/>
                </a:ext>
              </a:extLst>
            </p:cNvPr>
            <p:cNvSpPr txBox="1"/>
            <p:nvPr/>
          </p:nvSpPr>
          <p:spPr>
            <a:xfrm>
              <a:off x="5412874" y="3014940"/>
              <a:ext cx="34003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选择器：</a:t>
              </a:r>
              <a:r>
                <a:rPr lang="en-US" altLang="zh-CN" dirty="0">
                  <a:latin typeface="+mn-lt"/>
                  <a:ea typeface="SimHei" panose="02010609060101010101" pitchFamily="49" charset="-122"/>
                </a:rPr>
                <a:t>00,01,10</a:t>
              </a:r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（从上到下）</a:t>
              </a:r>
              <a:endParaRPr lang="en-US" altLang="zh-CN" dirty="0">
                <a:latin typeface="+mn-lt"/>
                <a:ea typeface="SimHei" panose="02010609060101010101" pitchFamily="49" charset="-122"/>
              </a:endParaRPr>
            </a:p>
            <a:p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寄存器：</a:t>
              </a:r>
              <a:r>
                <a:rPr lang="en-US" altLang="zh-CN" dirty="0">
                  <a:latin typeface="+mn-lt"/>
                  <a:ea typeface="SimHei" panose="02010609060101010101" pitchFamily="49" charset="-122"/>
                </a:rPr>
                <a:t>W1,W2</a:t>
              </a:r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（分别为</a:t>
              </a:r>
              <a:r>
                <a:rPr lang="en-US" altLang="zh-CN" dirty="0">
                  <a:latin typeface="+mn-lt"/>
                  <a:ea typeface="SimHei" panose="02010609060101010101" pitchFamily="49" charset="-122"/>
                </a:rPr>
                <a:t>T1</a:t>
              </a:r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、</a:t>
              </a:r>
              <a:r>
                <a:rPr lang="en-US" altLang="zh-CN" dirty="0">
                  <a:latin typeface="+mn-lt"/>
                  <a:ea typeface="SimHei" panose="02010609060101010101" pitchFamily="49" charset="-122"/>
                </a:rPr>
                <a:t>T2</a:t>
              </a:r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的使能信号）</a:t>
              </a:r>
            </a:p>
            <a:p>
              <a:endParaRPr lang="en-US" altLang="zh-CN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07BA798-DE6A-43F8-1426-CEFBFA45C7E2}"/>
                </a:ext>
              </a:extLst>
            </p:cNvPr>
            <p:cNvSpPr txBox="1"/>
            <p:nvPr/>
          </p:nvSpPr>
          <p:spPr>
            <a:xfrm>
              <a:off x="7234925" y="4149937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W1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58A7DF6-B234-6EB3-5F5A-F5A9ACD7D875}"/>
                </a:ext>
              </a:extLst>
            </p:cNvPr>
            <p:cNvSpPr txBox="1"/>
            <p:nvPr/>
          </p:nvSpPr>
          <p:spPr>
            <a:xfrm>
              <a:off x="7215492" y="5615428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W2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E319048-091E-A98F-1895-2A2165E64FFC}"/>
                </a:ext>
              </a:extLst>
            </p:cNvPr>
            <p:cNvSpPr txBox="1"/>
            <p:nvPr/>
          </p:nvSpPr>
          <p:spPr>
            <a:xfrm>
              <a:off x="6200983" y="415540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M1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8A7F2CF-AFF3-35D8-814E-320E1586CD00}"/>
                </a:ext>
              </a:extLst>
            </p:cNvPr>
            <p:cNvSpPr txBox="1"/>
            <p:nvPr/>
          </p:nvSpPr>
          <p:spPr>
            <a:xfrm>
              <a:off x="6202132" y="561924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M2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</p:grp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多周期的资源复用：</a:t>
            </a:r>
            <a:endParaRPr lang="en-US" altLang="zh-CN" dirty="0"/>
          </a:p>
          <a:p>
            <a:pPr lvl="1"/>
            <a:r>
              <a:rPr lang="zh-CN" altLang="en-US" dirty="0"/>
              <a:t>周期调度</a:t>
            </a:r>
            <a:endParaRPr lang="en-US" altLang="zh-CN" dirty="0"/>
          </a:p>
          <a:p>
            <a:pPr lvl="1"/>
            <a:r>
              <a:rPr lang="zh-CN" altLang="en-US" dirty="0"/>
              <a:t>资源绑定（加法器，寄存器）</a:t>
            </a:r>
          </a:p>
          <a:p>
            <a:pPr lvl="1"/>
            <a:r>
              <a:rPr lang="en-US" altLang="zh-CN" dirty="0">
                <a:solidFill>
                  <a:srgbClr val="3333FF"/>
                </a:solidFill>
              </a:rPr>
              <a:t>T2</a:t>
            </a:r>
            <a:r>
              <a:rPr lang="zh-CN" altLang="en-US" dirty="0">
                <a:solidFill>
                  <a:srgbClr val="3333FF"/>
                </a:solidFill>
              </a:rPr>
              <a:t>只有一个周期被使用？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ABF4E8-42C7-081D-4D05-423C65F2FCF2}"/>
              </a:ext>
            </a:extLst>
          </p:cNvPr>
          <p:cNvGrpSpPr/>
          <p:nvPr/>
        </p:nvGrpSpPr>
        <p:grpSpPr>
          <a:xfrm>
            <a:off x="5375793" y="4078598"/>
            <a:ext cx="3347172" cy="2054712"/>
            <a:chOff x="4330460" y="3126727"/>
            <a:chExt cx="4508790" cy="2767789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611E2EA-3BE2-F198-5E64-C9B215FF471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330460" y="3171175"/>
              <a:ext cx="4508790" cy="2723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>
                <a:latin typeface="+mn-lt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3E43A76-F984-90C9-BD8B-4F93788AE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733" y="3855331"/>
              <a:ext cx="604449" cy="1207569"/>
            </a:xfrm>
            <a:custGeom>
              <a:avLst/>
              <a:gdLst>
                <a:gd name="T0" fmla="*/ 0 w 455"/>
                <a:gd name="T1" fmla="*/ 0 h 909"/>
                <a:gd name="T2" fmla="*/ 455 w 455"/>
                <a:gd name="T3" fmla="*/ 228 h 909"/>
                <a:gd name="T4" fmla="*/ 455 w 455"/>
                <a:gd name="T5" fmla="*/ 682 h 909"/>
                <a:gd name="T6" fmla="*/ 0 w 455"/>
                <a:gd name="T7" fmla="*/ 909 h 909"/>
                <a:gd name="T8" fmla="*/ 0 w 455"/>
                <a:gd name="T9" fmla="*/ 568 h 909"/>
                <a:gd name="T10" fmla="*/ 228 w 455"/>
                <a:gd name="T11" fmla="*/ 455 h 909"/>
                <a:gd name="T12" fmla="*/ 0 w 455"/>
                <a:gd name="T13" fmla="*/ 341 h 909"/>
                <a:gd name="T14" fmla="*/ 0 w 455"/>
                <a:gd name="T1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909">
                  <a:moveTo>
                    <a:pt x="0" y="0"/>
                  </a:moveTo>
                  <a:lnTo>
                    <a:pt x="455" y="228"/>
                  </a:lnTo>
                  <a:lnTo>
                    <a:pt x="455" y="682"/>
                  </a:lnTo>
                  <a:lnTo>
                    <a:pt x="0" y="909"/>
                  </a:lnTo>
                  <a:lnTo>
                    <a:pt x="0" y="568"/>
                  </a:lnTo>
                  <a:lnTo>
                    <a:pt x="228" y="455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0198441-B879-9367-029D-06D7F065F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3733" y="3855331"/>
              <a:ext cx="604449" cy="1207569"/>
            </a:xfrm>
            <a:custGeom>
              <a:avLst/>
              <a:gdLst>
                <a:gd name="T0" fmla="*/ 0 w 455"/>
                <a:gd name="T1" fmla="*/ 0 h 909"/>
                <a:gd name="T2" fmla="*/ 455 w 455"/>
                <a:gd name="T3" fmla="*/ 228 h 909"/>
                <a:gd name="T4" fmla="*/ 455 w 455"/>
                <a:gd name="T5" fmla="*/ 682 h 909"/>
                <a:gd name="T6" fmla="*/ 0 w 455"/>
                <a:gd name="T7" fmla="*/ 909 h 909"/>
                <a:gd name="T8" fmla="*/ 0 w 455"/>
                <a:gd name="T9" fmla="*/ 568 h 909"/>
                <a:gd name="T10" fmla="*/ 228 w 455"/>
                <a:gd name="T11" fmla="*/ 455 h 909"/>
                <a:gd name="T12" fmla="*/ 0 w 455"/>
                <a:gd name="T13" fmla="*/ 341 h 909"/>
                <a:gd name="T14" fmla="*/ 0 w 455"/>
                <a:gd name="T1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909">
                  <a:moveTo>
                    <a:pt x="0" y="0"/>
                  </a:moveTo>
                  <a:lnTo>
                    <a:pt x="455" y="228"/>
                  </a:lnTo>
                  <a:lnTo>
                    <a:pt x="455" y="682"/>
                  </a:lnTo>
                  <a:lnTo>
                    <a:pt x="0" y="909"/>
                  </a:lnTo>
                  <a:lnTo>
                    <a:pt x="0" y="568"/>
                  </a:lnTo>
                  <a:lnTo>
                    <a:pt x="228" y="455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BCBE6480-78D3-96D6-EF59-B4BC42D138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394660" y="4334741"/>
              <a:ext cx="436183" cy="248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ADD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65E24D59-C6DC-E2EC-F438-1CC57F85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3252211"/>
              <a:ext cx="451676" cy="906009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C02BB85-BAC8-A924-C284-371AF367D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3252211"/>
              <a:ext cx="451676" cy="906009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1" name="Rectangle 11">
              <a:extLst>
                <a:ext uri="{FF2B5EF4-FFF2-40B4-BE49-F238E27FC236}">
                  <a16:creationId xmlns:a16="http://schemas.microsoft.com/office/drawing/2014/main" id="{C4D15848-5FDD-D9D8-B462-0A4BA480D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017" y="3564399"/>
              <a:ext cx="280711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T1</a:t>
              </a:r>
              <a:endPara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2" name="Rectangle 12">
              <a:extLst>
                <a:ext uri="{FF2B5EF4-FFF2-40B4-BE49-F238E27FC236}">
                  <a16:creationId xmlns:a16="http://schemas.microsoft.com/office/drawing/2014/main" id="{D458A5EB-51F9-2FD2-78D5-799B63EEF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4791895"/>
              <a:ext cx="451676" cy="904681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3" name="Rectangle 13">
              <a:extLst>
                <a:ext uri="{FF2B5EF4-FFF2-40B4-BE49-F238E27FC236}">
                  <a16:creationId xmlns:a16="http://schemas.microsoft.com/office/drawing/2014/main" id="{0683B4FA-759F-2AB6-719A-89CA5FECD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83" y="4791895"/>
              <a:ext cx="451676" cy="904681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4" name="Rectangle 14">
              <a:extLst>
                <a:ext uri="{FF2B5EF4-FFF2-40B4-BE49-F238E27FC236}">
                  <a16:creationId xmlns:a16="http://schemas.microsoft.com/office/drawing/2014/main" id="{0690545E-F64E-8DB0-2C65-2A4B5A532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017" y="5104084"/>
              <a:ext cx="280711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T2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51575C52-E203-21A1-6E1F-CB4102048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3402327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F9562D2-6BF5-DCD5-7E53-B8D9B7A86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3402327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7" name="Rectangle 18">
              <a:extLst>
                <a:ext uri="{FF2B5EF4-FFF2-40B4-BE49-F238E27FC236}">
                  <a16:creationId xmlns:a16="http://schemas.microsoft.com/office/drawing/2014/main" id="{6120EF56-63FA-6749-4C03-531DC3CEC2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1676" y="3738262"/>
              <a:ext cx="574379" cy="248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MUX1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038B3AB-8289-75F6-BD06-7EB68253C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4911456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0897C0B8-F016-5630-8263-9DC403B3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493" y="4911456"/>
              <a:ext cx="453005" cy="906009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2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2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0" name="Rectangle 22">
              <a:extLst>
                <a:ext uri="{FF2B5EF4-FFF2-40B4-BE49-F238E27FC236}">
                  <a16:creationId xmlns:a16="http://schemas.microsoft.com/office/drawing/2014/main" id="{DE5B40B5-45DD-843D-4A95-ABE1296B05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1676" y="5247392"/>
              <a:ext cx="574379" cy="248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MUX2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1" name="Line 23">
              <a:extLst>
                <a:ext uri="{FF2B5EF4-FFF2-40B4-BE49-F238E27FC236}">
                  <a16:creationId xmlns:a16="http://schemas.microsoft.com/office/drawing/2014/main" id="{B04AF21A-E4B0-4D2D-EF79-3FF99B81B1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4372" y="3855331"/>
              <a:ext cx="60312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2" name="Line 24">
              <a:extLst>
                <a:ext uri="{FF2B5EF4-FFF2-40B4-BE49-F238E27FC236}">
                  <a16:creationId xmlns:a16="http://schemas.microsoft.com/office/drawing/2014/main" id="{A6B7FDD0-C32A-0062-92CC-B7282322C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4372" y="4164862"/>
              <a:ext cx="60312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1BE2815E-FBD9-C72A-0C3C-8744D6BBD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377" y="3126727"/>
              <a:ext cx="3374286" cy="578488"/>
            </a:xfrm>
            <a:custGeom>
              <a:avLst/>
              <a:gdLst>
                <a:gd name="T0" fmla="*/ 113 w 2540"/>
                <a:gd name="T1" fmla="*/ 270 h 384"/>
                <a:gd name="T2" fmla="*/ 0 w 2540"/>
                <a:gd name="T3" fmla="*/ 270 h 384"/>
                <a:gd name="T4" fmla="*/ 0 w 2540"/>
                <a:gd name="T5" fmla="*/ 0 h 384"/>
                <a:gd name="T6" fmla="*/ 2540 w 2540"/>
                <a:gd name="T7" fmla="*/ 0 h 384"/>
                <a:gd name="T8" fmla="*/ 2540 w 2540"/>
                <a:gd name="T9" fmla="*/ 384 h 384"/>
                <a:gd name="T10" fmla="*/ 2497 w 2540"/>
                <a:gd name="T1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0" h="384">
                  <a:moveTo>
                    <a:pt x="113" y="270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2540" y="384"/>
                  </a:lnTo>
                  <a:lnTo>
                    <a:pt x="2497" y="384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2FAD6BA3-C360-AD81-C21A-0E9DDE5D6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377" y="5062901"/>
              <a:ext cx="3381035" cy="811688"/>
            </a:xfrm>
            <a:custGeom>
              <a:avLst/>
              <a:gdLst>
                <a:gd name="T0" fmla="*/ 2497 w 2540"/>
                <a:gd name="T1" fmla="*/ 136 h 611"/>
                <a:gd name="T2" fmla="*/ 2540 w 2540"/>
                <a:gd name="T3" fmla="*/ 136 h 611"/>
                <a:gd name="T4" fmla="*/ 2540 w 2540"/>
                <a:gd name="T5" fmla="*/ 611 h 611"/>
                <a:gd name="T6" fmla="*/ 0 w 2540"/>
                <a:gd name="T7" fmla="*/ 611 h 611"/>
                <a:gd name="T8" fmla="*/ 0 w 2540"/>
                <a:gd name="T9" fmla="*/ 0 h 611"/>
                <a:gd name="T10" fmla="*/ 113 w 2540"/>
                <a:gd name="T11" fmla="*/ 0 h 611"/>
                <a:gd name="connsiteX0" fmla="*/ 8887 w 10000"/>
                <a:gd name="connsiteY0" fmla="*/ 231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2140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231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74 w 10000"/>
                <a:gd name="connsiteY0" fmla="*/ 1970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95 w 10000"/>
                <a:gd name="connsiteY0" fmla="*/ 2397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195 w 10000"/>
                <a:gd name="connsiteY0" fmla="*/ 214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312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10000 w 10000"/>
                <a:gd name="connsiteY1" fmla="*/ 2226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10000 w 10000"/>
                <a:gd name="connsiteY1" fmla="*/ 2055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00"/>
                <a:gd name="connsiteY0" fmla="*/ 2141 h 10000"/>
                <a:gd name="connsiteX1" fmla="*/ 9979 w 10000"/>
                <a:gd name="connsiteY1" fmla="*/ 2311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5" fmla="*/ 445 w 10000"/>
                <a:gd name="connsiteY5" fmla="*/ 0 h 10000"/>
                <a:gd name="connsiteX0" fmla="*/ 9236 w 10020"/>
                <a:gd name="connsiteY0" fmla="*/ 2141 h 10000"/>
                <a:gd name="connsiteX1" fmla="*/ 10020 w 10020"/>
                <a:gd name="connsiteY1" fmla="*/ 2140 h 10000"/>
                <a:gd name="connsiteX2" fmla="*/ 10000 w 10020"/>
                <a:gd name="connsiteY2" fmla="*/ 10000 h 10000"/>
                <a:gd name="connsiteX3" fmla="*/ 0 w 10020"/>
                <a:gd name="connsiteY3" fmla="*/ 10000 h 10000"/>
                <a:gd name="connsiteX4" fmla="*/ 0 w 10020"/>
                <a:gd name="connsiteY4" fmla="*/ 0 h 10000"/>
                <a:gd name="connsiteX5" fmla="*/ 445 w 1002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20" h="10000">
                  <a:moveTo>
                    <a:pt x="9236" y="2141"/>
                  </a:moveTo>
                  <a:lnTo>
                    <a:pt x="10020" y="2140"/>
                  </a:lnTo>
                  <a:cubicBezTo>
                    <a:pt x="10013" y="4760"/>
                    <a:pt x="10007" y="7380"/>
                    <a:pt x="10000" y="10000"/>
                  </a:cubicBezTo>
                  <a:lnTo>
                    <a:pt x="0" y="10000"/>
                  </a:lnTo>
                  <a:lnTo>
                    <a:pt x="0" y="0"/>
                  </a:lnTo>
                  <a:lnTo>
                    <a:pt x="445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2B28E3D2-633D-9F24-AA9B-FFE26ACC4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372" y="5339220"/>
              <a:ext cx="603120" cy="25241"/>
            </a:xfrm>
            <a:custGeom>
              <a:avLst/>
              <a:gdLst>
                <a:gd name="T0" fmla="*/ 2419 w 2419"/>
                <a:gd name="T1" fmla="*/ 100 h 100"/>
                <a:gd name="T2" fmla="*/ 1915 w 2419"/>
                <a:gd name="T3" fmla="*/ 100 h 100"/>
                <a:gd name="T4" fmla="*/ 1815 w 2419"/>
                <a:gd name="T5" fmla="*/ 0 h 100"/>
                <a:gd name="T6" fmla="*/ 1714 w 2419"/>
                <a:gd name="T7" fmla="*/ 100 h 100"/>
                <a:gd name="T8" fmla="*/ 0 w 2419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9" h="100">
                  <a:moveTo>
                    <a:pt x="2419" y="100"/>
                  </a:moveTo>
                  <a:lnTo>
                    <a:pt x="1915" y="100"/>
                  </a:lnTo>
                  <a:cubicBezTo>
                    <a:pt x="1915" y="45"/>
                    <a:pt x="1870" y="0"/>
                    <a:pt x="1815" y="0"/>
                  </a:cubicBezTo>
                  <a:cubicBezTo>
                    <a:pt x="1759" y="0"/>
                    <a:pt x="1714" y="45"/>
                    <a:pt x="1714" y="100"/>
                  </a:cubicBezTo>
                  <a:lnTo>
                    <a:pt x="0" y="10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838B0E68-DE06-7870-FF55-61EB0B341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372" y="5647423"/>
              <a:ext cx="603120" cy="26569"/>
            </a:xfrm>
            <a:custGeom>
              <a:avLst/>
              <a:gdLst>
                <a:gd name="T0" fmla="*/ 2419 w 2419"/>
                <a:gd name="T1" fmla="*/ 109 h 109"/>
                <a:gd name="T2" fmla="*/ 1915 w 2419"/>
                <a:gd name="T3" fmla="*/ 103 h 109"/>
                <a:gd name="T4" fmla="*/ 1816 w 2419"/>
                <a:gd name="T5" fmla="*/ 1 h 109"/>
                <a:gd name="T6" fmla="*/ 1714 w 2419"/>
                <a:gd name="T7" fmla="*/ 100 h 109"/>
                <a:gd name="T8" fmla="*/ 0 w 2419"/>
                <a:gd name="T9" fmla="*/ 7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9" h="109">
                  <a:moveTo>
                    <a:pt x="2419" y="109"/>
                  </a:moveTo>
                  <a:lnTo>
                    <a:pt x="1915" y="103"/>
                  </a:lnTo>
                  <a:cubicBezTo>
                    <a:pt x="1916" y="47"/>
                    <a:pt x="1872" y="1"/>
                    <a:pt x="1816" y="1"/>
                  </a:cubicBezTo>
                  <a:cubicBezTo>
                    <a:pt x="1760" y="0"/>
                    <a:pt x="1715" y="45"/>
                    <a:pt x="1714" y="100"/>
                  </a:cubicBezTo>
                  <a:lnTo>
                    <a:pt x="0" y="79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477257B7-8EAB-8D62-309F-71C63B469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497" y="3855331"/>
              <a:ext cx="753236" cy="151444"/>
            </a:xfrm>
            <a:custGeom>
              <a:avLst/>
              <a:gdLst>
                <a:gd name="T0" fmla="*/ 0 w 567"/>
                <a:gd name="T1" fmla="*/ 0 h 114"/>
                <a:gd name="T2" fmla="*/ 85 w 567"/>
                <a:gd name="T3" fmla="*/ 0 h 114"/>
                <a:gd name="T4" fmla="*/ 85 w 567"/>
                <a:gd name="T5" fmla="*/ 114 h 114"/>
                <a:gd name="T6" fmla="*/ 567 w 567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114">
                  <a:moveTo>
                    <a:pt x="0" y="0"/>
                  </a:moveTo>
                  <a:lnTo>
                    <a:pt x="85" y="0"/>
                  </a:lnTo>
                  <a:lnTo>
                    <a:pt x="85" y="114"/>
                  </a:lnTo>
                  <a:lnTo>
                    <a:pt x="567" y="114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E495BB1-AC7B-A351-D1D8-585833365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497" y="4911456"/>
              <a:ext cx="753236" cy="453005"/>
            </a:xfrm>
            <a:custGeom>
              <a:avLst/>
              <a:gdLst>
                <a:gd name="T0" fmla="*/ 0 w 567"/>
                <a:gd name="T1" fmla="*/ 341 h 341"/>
                <a:gd name="T2" fmla="*/ 85 w 567"/>
                <a:gd name="T3" fmla="*/ 341 h 341"/>
                <a:gd name="T4" fmla="*/ 85 w 567"/>
                <a:gd name="T5" fmla="*/ 0 h 341"/>
                <a:gd name="T6" fmla="*/ 567 w 567"/>
                <a:gd name="T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341">
                  <a:moveTo>
                    <a:pt x="0" y="341"/>
                  </a:moveTo>
                  <a:lnTo>
                    <a:pt x="85" y="341"/>
                  </a:lnTo>
                  <a:lnTo>
                    <a:pt x="85" y="0"/>
                  </a:lnTo>
                  <a:lnTo>
                    <a:pt x="567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C5D369EE-39B3-BABB-BF74-507C5A733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183" y="3705216"/>
              <a:ext cx="676946" cy="754565"/>
            </a:xfrm>
            <a:custGeom>
              <a:avLst/>
              <a:gdLst>
                <a:gd name="T0" fmla="*/ 0 w 681"/>
                <a:gd name="T1" fmla="*/ 568 h 568"/>
                <a:gd name="T2" fmla="*/ 227 w 681"/>
                <a:gd name="T3" fmla="*/ 568 h 568"/>
                <a:gd name="T4" fmla="*/ 227 w 681"/>
                <a:gd name="T5" fmla="*/ 0 h 568"/>
                <a:gd name="T6" fmla="*/ 681 w 681"/>
                <a:gd name="T7" fmla="*/ 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1" h="568">
                  <a:moveTo>
                    <a:pt x="0" y="568"/>
                  </a:moveTo>
                  <a:lnTo>
                    <a:pt x="227" y="568"/>
                  </a:lnTo>
                  <a:lnTo>
                    <a:pt x="227" y="0"/>
                  </a:lnTo>
                  <a:lnTo>
                    <a:pt x="681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6820E3B0-5329-52D7-910F-9DD3525D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182" y="4459780"/>
              <a:ext cx="676947" cy="783791"/>
            </a:xfrm>
            <a:custGeom>
              <a:avLst/>
              <a:gdLst>
                <a:gd name="T0" fmla="*/ 681 w 681"/>
                <a:gd name="T1" fmla="*/ 590 h 590"/>
                <a:gd name="T2" fmla="*/ 227 w 681"/>
                <a:gd name="T3" fmla="*/ 590 h 590"/>
                <a:gd name="T4" fmla="*/ 227 w 681"/>
                <a:gd name="T5" fmla="*/ 0 h 590"/>
                <a:gd name="T6" fmla="*/ 0 w 681"/>
                <a:gd name="T7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1" h="590">
                  <a:moveTo>
                    <a:pt x="681" y="590"/>
                  </a:moveTo>
                  <a:lnTo>
                    <a:pt x="227" y="590"/>
                  </a:lnTo>
                  <a:lnTo>
                    <a:pt x="227" y="0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71" name="Rectangle 33">
              <a:extLst>
                <a:ext uri="{FF2B5EF4-FFF2-40B4-BE49-F238E27FC236}">
                  <a16:creationId xmlns:a16="http://schemas.microsoft.com/office/drawing/2014/main" id="{E344B642-ABD6-EC1E-8A53-2057B0DA5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3564399"/>
              <a:ext cx="161950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2" name="Rectangle 34">
              <a:extLst>
                <a:ext uri="{FF2B5EF4-FFF2-40B4-BE49-F238E27FC236}">
                  <a16:creationId xmlns:a16="http://schemas.microsoft.com/office/drawing/2014/main" id="{482D61B8-FC30-5A0F-BCB5-DB232812E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5073529"/>
              <a:ext cx="161950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3" name="Rectangle 35">
              <a:extLst>
                <a:ext uri="{FF2B5EF4-FFF2-40B4-BE49-F238E27FC236}">
                  <a16:creationId xmlns:a16="http://schemas.microsoft.com/office/drawing/2014/main" id="{56C9C1DD-D179-C8BB-643D-E4CA0DFB0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3865960"/>
              <a:ext cx="174906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C</a:t>
              </a:r>
              <a:endPara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4" name="Rectangle 36">
              <a:extLst>
                <a:ext uri="{FF2B5EF4-FFF2-40B4-BE49-F238E27FC236}">
                  <a16:creationId xmlns:a16="http://schemas.microsoft.com/office/drawing/2014/main" id="{360D30F7-EE94-9FD8-A8BC-C25FAD432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101" y="5375089"/>
              <a:ext cx="174906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D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5" name="Line 37">
              <a:extLst>
                <a:ext uri="{FF2B5EF4-FFF2-40B4-BE49-F238E27FC236}">
                  <a16:creationId xmlns:a16="http://schemas.microsoft.com/office/drawing/2014/main" id="{680C20AB-D243-F014-7107-0E92E48CC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9313" y="3705215"/>
              <a:ext cx="878682" cy="1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>
                <a:latin typeface="+mn-lt"/>
              </a:endParaRPr>
            </a:p>
          </p:txBody>
        </p:sp>
        <p:sp>
          <p:nvSpPr>
            <p:cNvPr id="76" name="Rectangle 38">
              <a:extLst>
                <a:ext uri="{FF2B5EF4-FFF2-40B4-BE49-F238E27FC236}">
                  <a16:creationId xmlns:a16="http://schemas.microsoft.com/office/drawing/2014/main" id="{73FAE9D8-79B6-F326-9B4D-AA94EAD77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500" y="3412955"/>
              <a:ext cx="161950" cy="29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Y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单周期到多周期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D2841F8-53BF-4351-9D08-A0378BC4DADC}"/>
              </a:ext>
            </a:extLst>
          </p:cNvPr>
          <p:cNvGraphicFramePr>
            <a:graphicFrameLocks noGrp="1"/>
          </p:cNvGraphicFramePr>
          <p:nvPr/>
        </p:nvGraphicFramePr>
        <p:xfrm>
          <a:off x="156633" y="3619499"/>
          <a:ext cx="4953000" cy="279424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9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周期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资源绑定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控制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7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T1=Add1(A,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B)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M1=01; M2=01;</a:t>
                      </a:r>
                    </a:p>
                    <a:p>
                      <a:pPr algn="ctr"/>
                      <a:r>
                        <a:rPr lang="en-US" altLang="zh-CN" sz="2000" dirty="0"/>
                        <a:t>W1=1; W2=0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T2=Add1(C,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D)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M1=10; M2=10;</a:t>
                      </a:r>
                    </a:p>
                    <a:p>
                      <a:pPr algn="ctr"/>
                      <a:r>
                        <a:rPr lang="en-US" altLang="zh-CN" sz="2000" dirty="0"/>
                        <a:t>W1=0; </a:t>
                      </a:r>
                      <a:r>
                        <a:rPr lang="en-US" altLang="zh-CN" sz="2000" baseline="0" dirty="0"/>
                        <a:t>W2=1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7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T1=Add1(T1, T2)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M1=00; M2=00;</a:t>
                      </a:r>
                    </a:p>
                    <a:p>
                      <a:pPr algn="ctr"/>
                      <a:r>
                        <a:rPr lang="en-US" altLang="zh-CN" sz="2000" dirty="0"/>
                        <a:t>W1=1; </a:t>
                      </a:r>
                      <a:r>
                        <a:rPr lang="en-US" altLang="zh-CN" sz="2000" baseline="0" dirty="0"/>
                        <a:t>W2=0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7D598-6FB3-4EBF-9897-4F314D3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4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单周期到多周期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多周期的资源复用</a:t>
            </a:r>
          </a:p>
          <a:p>
            <a:pPr lvl="1"/>
            <a:r>
              <a:rPr lang="zh-CN" altLang="en-US" dirty="0"/>
              <a:t>周期调度</a:t>
            </a:r>
            <a:endParaRPr lang="en-US" altLang="zh-CN" dirty="0"/>
          </a:p>
          <a:p>
            <a:pPr lvl="1"/>
            <a:r>
              <a:rPr lang="zh-CN" altLang="en-US" dirty="0"/>
              <a:t>资源绑定（加法器，寄存器）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寄存器数量降低至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D2841F8-53BF-4351-9D08-A0378BC4DADC}"/>
              </a:ext>
            </a:extLst>
          </p:cNvPr>
          <p:cNvGraphicFramePr>
            <a:graphicFrameLocks noGrp="1"/>
          </p:cNvGraphicFramePr>
          <p:nvPr/>
        </p:nvGraphicFramePr>
        <p:xfrm>
          <a:off x="147575" y="3354019"/>
          <a:ext cx="4953000" cy="272097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7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周期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资源绑定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控制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T1=Add1(A,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B)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M1=0; M2=00;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T1=Add1(T1,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C)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M1=1; M2=01;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T1=Add1(T1, D)</a:t>
                      </a:r>
                      <a:endParaRPr lang="zh-CN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M1=1; M2=10;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BB3311-C7A6-4C08-A973-13B55A36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16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EC0785-92A3-E9CB-956F-E8A353B1957B}"/>
              </a:ext>
            </a:extLst>
          </p:cNvPr>
          <p:cNvGrpSpPr/>
          <p:nvPr/>
        </p:nvGrpSpPr>
        <p:grpSpPr>
          <a:xfrm>
            <a:off x="5463584" y="3354019"/>
            <a:ext cx="3176649" cy="1900993"/>
            <a:chOff x="5539784" y="3096500"/>
            <a:chExt cx="3176649" cy="190099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DF2C975-C055-AD9B-BC12-2BAAA670F007}"/>
                </a:ext>
              </a:extLst>
            </p:cNvPr>
            <p:cNvSpPr txBox="1"/>
            <p:nvPr/>
          </p:nvSpPr>
          <p:spPr>
            <a:xfrm>
              <a:off x="5920318" y="3454156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M1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EF66A4C-D422-CF24-296F-52F805844742}"/>
                </a:ext>
              </a:extLst>
            </p:cNvPr>
            <p:cNvSpPr txBox="1"/>
            <p:nvPr/>
          </p:nvSpPr>
          <p:spPr>
            <a:xfrm>
              <a:off x="5920318" y="4628161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+mn-lt"/>
                  <a:ea typeface="+mj-ea"/>
                </a:rPr>
                <a:t>M2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j-ea"/>
              </a:endParaRPr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28814427-2F63-974E-19BE-50173737B4AF}"/>
                </a:ext>
              </a:extLst>
            </p:cNvPr>
            <p:cNvSpPr txBox="1"/>
            <p:nvPr/>
          </p:nvSpPr>
          <p:spPr>
            <a:xfrm>
              <a:off x="5539784" y="3096500"/>
              <a:ext cx="3176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选择器：</a:t>
              </a:r>
              <a:r>
                <a:rPr lang="en-US" altLang="zh-CN" dirty="0">
                  <a:latin typeface="+mn-lt"/>
                  <a:ea typeface="SimHei" panose="02010609060101010101" pitchFamily="49" charset="-122"/>
                </a:rPr>
                <a:t>00,01,10</a:t>
              </a:r>
              <a:r>
                <a:rPr lang="zh-CN" altLang="en-US" dirty="0">
                  <a:latin typeface="+mn-lt"/>
                  <a:ea typeface="SimHei" panose="02010609060101010101" pitchFamily="49" charset="-122"/>
                </a:rPr>
                <a:t>（从上到下）</a:t>
              </a:r>
              <a:endParaRPr lang="en-US" altLang="zh-CN" dirty="0">
                <a:latin typeface="+mn-lt"/>
                <a:ea typeface="SimHei" panose="02010609060101010101" pitchFamily="49" charset="-122"/>
              </a:endParaRPr>
            </a:p>
          </p:txBody>
        </p:sp>
      </p:grpSp>
      <p:grpSp>
        <p:nvGrpSpPr>
          <p:cNvPr id="13" name="Group 4">
            <a:extLst>
              <a:ext uri="{FF2B5EF4-FFF2-40B4-BE49-F238E27FC236}">
                <a16:creationId xmlns:a16="http://schemas.microsoft.com/office/drawing/2014/main" id="{BCE2E785-7614-4D4F-8657-7408FD3C47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3730" y="3772294"/>
            <a:ext cx="3565359" cy="2094211"/>
            <a:chOff x="1167" y="1174"/>
            <a:chExt cx="3359" cy="1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7B5F6D8-449F-448E-A74C-2EF08D465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671"/>
              <a:ext cx="454" cy="908"/>
            </a:xfrm>
            <a:custGeom>
              <a:avLst/>
              <a:gdLst>
                <a:gd name="T0" fmla="*/ 0 w 454"/>
                <a:gd name="T1" fmla="*/ 0 h 908"/>
                <a:gd name="T2" fmla="*/ 454 w 454"/>
                <a:gd name="T3" fmla="*/ 227 h 908"/>
                <a:gd name="T4" fmla="*/ 454 w 454"/>
                <a:gd name="T5" fmla="*/ 681 h 908"/>
                <a:gd name="T6" fmla="*/ 0 w 454"/>
                <a:gd name="T7" fmla="*/ 908 h 908"/>
                <a:gd name="T8" fmla="*/ 0 w 454"/>
                <a:gd name="T9" fmla="*/ 568 h 908"/>
                <a:gd name="T10" fmla="*/ 227 w 454"/>
                <a:gd name="T11" fmla="*/ 454 h 908"/>
                <a:gd name="T12" fmla="*/ 0 w 454"/>
                <a:gd name="T13" fmla="*/ 341 h 908"/>
                <a:gd name="T14" fmla="*/ 0 w 454"/>
                <a:gd name="T15" fmla="*/ 0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4" h="908">
                  <a:moveTo>
                    <a:pt x="0" y="0"/>
                  </a:moveTo>
                  <a:lnTo>
                    <a:pt x="454" y="227"/>
                  </a:lnTo>
                  <a:lnTo>
                    <a:pt x="454" y="681"/>
                  </a:lnTo>
                  <a:lnTo>
                    <a:pt x="0" y="908"/>
                  </a:lnTo>
                  <a:lnTo>
                    <a:pt x="0" y="568"/>
                  </a:lnTo>
                  <a:lnTo>
                    <a:pt x="227" y="454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147C3B1-8139-4855-B9D5-93CEEC624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671"/>
              <a:ext cx="454" cy="908"/>
            </a:xfrm>
            <a:custGeom>
              <a:avLst/>
              <a:gdLst>
                <a:gd name="T0" fmla="*/ 0 w 454"/>
                <a:gd name="T1" fmla="*/ 0 h 908"/>
                <a:gd name="T2" fmla="*/ 454 w 454"/>
                <a:gd name="T3" fmla="*/ 227 h 908"/>
                <a:gd name="T4" fmla="*/ 454 w 454"/>
                <a:gd name="T5" fmla="*/ 681 h 908"/>
                <a:gd name="T6" fmla="*/ 0 w 454"/>
                <a:gd name="T7" fmla="*/ 908 h 908"/>
                <a:gd name="T8" fmla="*/ 0 w 454"/>
                <a:gd name="T9" fmla="*/ 568 h 908"/>
                <a:gd name="T10" fmla="*/ 227 w 454"/>
                <a:gd name="T11" fmla="*/ 454 h 908"/>
                <a:gd name="T12" fmla="*/ 0 w 454"/>
                <a:gd name="T13" fmla="*/ 341 h 908"/>
                <a:gd name="T14" fmla="*/ 0 w 454"/>
                <a:gd name="T15" fmla="*/ 0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4" h="908">
                  <a:moveTo>
                    <a:pt x="0" y="0"/>
                  </a:moveTo>
                  <a:lnTo>
                    <a:pt x="454" y="227"/>
                  </a:lnTo>
                  <a:lnTo>
                    <a:pt x="454" y="681"/>
                  </a:lnTo>
                  <a:lnTo>
                    <a:pt x="0" y="908"/>
                  </a:lnTo>
                  <a:lnTo>
                    <a:pt x="0" y="568"/>
                  </a:lnTo>
                  <a:lnTo>
                    <a:pt x="227" y="454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D81B1EAD-E3A5-433A-A852-129C14DE66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709" y="2015"/>
              <a:ext cx="358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ADD</a:t>
              </a:r>
              <a:endPara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5CA7783D-E22F-4F28-A8E1-1549D4338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1785"/>
              <a:ext cx="340" cy="681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38CBEB32-DFB3-4BAA-9C98-CCDAB43D9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4" y="1785"/>
              <a:ext cx="340" cy="681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DB953049-31EA-40BA-A7FC-CF75132C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2018"/>
              <a:ext cx="22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T1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E275078-7448-4791-9480-B6FC6A4A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330"/>
              <a:ext cx="341" cy="682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1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1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5A8DA7CB-93D9-4106-AF1E-1662251B9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330"/>
              <a:ext cx="341" cy="682"/>
            </a:xfrm>
            <a:custGeom>
              <a:avLst/>
              <a:gdLst>
                <a:gd name="T0" fmla="*/ 0 w 341"/>
                <a:gd name="T1" fmla="*/ 0 h 682"/>
                <a:gd name="T2" fmla="*/ 341 w 341"/>
                <a:gd name="T3" fmla="*/ 171 h 682"/>
                <a:gd name="T4" fmla="*/ 341 w 341"/>
                <a:gd name="T5" fmla="*/ 511 h 682"/>
                <a:gd name="T6" fmla="*/ 0 w 341"/>
                <a:gd name="T7" fmla="*/ 682 h 682"/>
                <a:gd name="T8" fmla="*/ 0 w 341"/>
                <a:gd name="T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2">
                  <a:moveTo>
                    <a:pt x="0" y="0"/>
                  </a:moveTo>
                  <a:lnTo>
                    <a:pt x="341" y="171"/>
                  </a:lnTo>
                  <a:lnTo>
                    <a:pt x="341" y="511"/>
                  </a:lnTo>
                  <a:lnTo>
                    <a:pt x="0" y="6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2A822CC5-F744-4510-BB72-18FCCDE995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05" y="1570"/>
              <a:ext cx="47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MUX1</a:t>
              </a:r>
              <a:endPara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4CF3E240-3465-41F8-B574-F6BAFEC00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466"/>
              <a:ext cx="341" cy="681"/>
            </a:xfrm>
            <a:custGeom>
              <a:avLst/>
              <a:gdLst>
                <a:gd name="T0" fmla="*/ 0 w 341"/>
                <a:gd name="T1" fmla="*/ 0 h 681"/>
                <a:gd name="T2" fmla="*/ 341 w 341"/>
                <a:gd name="T3" fmla="*/ 170 h 681"/>
                <a:gd name="T4" fmla="*/ 341 w 341"/>
                <a:gd name="T5" fmla="*/ 511 h 681"/>
                <a:gd name="T6" fmla="*/ 0 w 341"/>
                <a:gd name="T7" fmla="*/ 681 h 681"/>
                <a:gd name="T8" fmla="*/ 0 w 341"/>
                <a:gd name="T9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1">
                  <a:moveTo>
                    <a:pt x="0" y="0"/>
                  </a:moveTo>
                  <a:lnTo>
                    <a:pt x="341" y="170"/>
                  </a:lnTo>
                  <a:lnTo>
                    <a:pt x="341" y="511"/>
                  </a:lnTo>
                  <a:lnTo>
                    <a:pt x="0" y="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F3F75A4F-04DA-4D51-A73E-30BEEDE66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466"/>
              <a:ext cx="341" cy="681"/>
            </a:xfrm>
            <a:custGeom>
              <a:avLst/>
              <a:gdLst>
                <a:gd name="T0" fmla="*/ 0 w 341"/>
                <a:gd name="T1" fmla="*/ 0 h 681"/>
                <a:gd name="T2" fmla="*/ 341 w 341"/>
                <a:gd name="T3" fmla="*/ 170 h 681"/>
                <a:gd name="T4" fmla="*/ 341 w 341"/>
                <a:gd name="T5" fmla="*/ 511 h 681"/>
                <a:gd name="T6" fmla="*/ 0 w 341"/>
                <a:gd name="T7" fmla="*/ 681 h 681"/>
                <a:gd name="T8" fmla="*/ 0 w 341"/>
                <a:gd name="T9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681">
                  <a:moveTo>
                    <a:pt x="0" y="0"/>
                  </a:moveTo>
                  <a:lnTo>
                    <a:pt x="341" y="170"/>
                  </a:lnTo>
                  <a:lnTo>
                    <a:pt x="341" y="511"/>
                  </a:lnTo>
                  <a:lnTo>
                    <a:pt x="0" y="68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29" name="Rectangle 19">
              <a:extLst>
                <a:ext uri="{FF2B5EF4-FFF2-40B4-BE49-F238E27FC236}">
                  <a16:creationId xmlns:a16="http://schemas.microsoft.com/office/drawing/2014/main" id="{CB3668F0-D98B-4031-A6A3-659BF4DD93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05" y="2706"/>
              <a:ext cx="47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MUX2</a:t>
              </a:r>
              <a:endPara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55DCC1E4-81EE-4367-B891-DF36C1859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7" y="1671"/>
              <a:ext cx="454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327D52C5-9F32-46EB-A2B2-BF8918012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174"/>
              <a:ext cx="2774" cy="951"/>
            </a:xfrm>
            <a:custGeom>
              <a:avLst/>
              <a:gdLst>
                <a:gd name="T0" fmla="*/ 164 w 2774"/>
                <a:gd name="T1" fmla="*/ 730 h 951"/>
                <a:gd name="T2" fmla="*/ 0 w 2774"/>
                <a:gd name="T3" fmla="*/ 730 h 951"/>
                <a:gd name="T4" fmla="*/ 0 w 2774"/>
                <a:gd name="T5" fmla="*/ 0 h 951"/>
                <a:gd name="T6" fmla="*/ 2774 w 2774"/>
                <a:gd name="T7" fmla="*/ 0 h 951"/>
                <a:gd name="T8" fmla="*/ 2774 w 2774"/>
                <a:gd name="T9" fmla="*/ 951 h 951"/>
                <a:gd name="T10" fmla="*/ 2547 w 2774"/>
                <a:gd name="T11" fmla="*/ 951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74" h="951">
                  <a:moveTo>
                    <a:pt x="164" y="730"/>
                  </a:moveTo>
                  <a:lnTo>
                    <a:pt x="0" y="730"/>
                  </a:lnTo>
                  <a:lnTo>
                    <a:pt x="0" y="0"/>
                  </a:lnTo>
                  <a:lnTo>
                    <a:pt x="2774" y="0"/>
                  </a:lnTo>
                  <a:lnTo>
                    <a:pt x="2774" y="951"/>
                  </a:lnTo>
                  <a:lnTo>
                    <a:pt x="2547" y="951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8FA93FD2-0EB1-4C93-96DF-B3F591E83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7" y="2807"/>
              <a:ext cx="454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3" name="Line 23">
              <a:extLst>
                <a:ext uri="{FF2B5EF4-FFF2-40B4-BE49-F238E27FC236}">
                  <a16:creationId xmlns:a16="http://schemas.microsoft.com/office/drawing/2014/main" id="{272E381B-281A-49D4-9B44-A25F01122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67" y="3034"/>
              <a:ext cx="454" cy="5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6BBB07FF-8B73-443B-ADDE-337D7D092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1671"/>
              <a:ext cx="567" cy="191"/>
            </a:xfrm>
            <a:custGeom>
              <a:avLst/>
              <a:gdLst>
                <a:gd name="T0" fmla="*/ 0 w 567"/>
                <a:gd name="T1" fmla="*/ 0 h 114"/>
                <a:gd name="T2" fmla="*/ 85 w 567"/>
                <a:gd name="T3" fmla="*/ 0 h 114"/>
                <a:gd name="T4" fmla="*/ 85 w 567"/>
                <a:gd name="T5" fmla="*/ 114 h 114"/>
                <a:gd name="T6" fmla="*/ 567 w 567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114">
                  <a:moveTo>
                    <a:pt x="0" y="0"/>
                  </a:moveTo>
                  <a:lnTo>
                    <a:pt x="85" y="0"/>
                  </a:lnTo>
                  <a:lnTo>
                    <a:pt x="85" y="114"/>
                  </a:lnTo>
                  <a:lnTo>
                    <a:pt x="567" y="114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EF69F359-EB52-4913-8E05-662D78BA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2414"/>
              <a:ext cx="567" cy="393"/>
            </a:xfrm>
            <a:custGeom>
              <a:avLst/>
              <a:gdLst>
                <a:gd name="T0" fmla="*/ 0 w 567"/>
                <a:gd name="T1" fmla="*/ 341 h 341"/>
                <a:gd name="T2" fmla="*/ 85 w 567"/>
                <a:gd name="T3" fmla="*/ 341 h 341"/>
                <a:gd name="T4" fmla="*/ 85 w 567"/>
                <a:gd name="T5" fmla="*/ 0 h 341"/>
                <a:gd name="T6" fmla="*/ 567 w 567"/>
                <a:gd name="T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7" h="341">
                  <a:moveTo>
                    <a:pt x="0" y="341"/>
                  </a:moveTo>
                  <a:lnTo>
                    <a:pt x="85" y="341"/>
                  </a:lnTo>
                  <a:lnTo>
                    <a:pt x="85" y="0"/>
                  </a:lnTo>
                  <a:lnTo>
                    <a:pt x="567" y="0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6" name="Line 26">
              <a:extLst>
                <a:ext uri="{FF2B5EF4-FFF2-40B4-BE49-F238E27FC236}">
                  <a16:creationId xmlns:a16="http://schemas.microsoft.com/office/drawing/2014/main" id="{AC118A1B-1D91-45C4-9118-7638F7396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3" y="2125"/>
              <a:ext cx="681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6E0B414A-C5CE-440A-B706-9A58B7E44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1452"/>
              <a:ext cx="12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A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F77953C4-D708-4AEE-90BA-82B4BA430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360"/>
              <a:ext cx="12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B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3F2ACB6E-8A92-4B0A-81D2-527E22F73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813"/>
              <a:ext cx="139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D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0" name="Line 30">
              <a:extLst>
                <a:ext uri="{FF2B5EF4-FFF2-40B4-BE49-F238E27FC236}">
                  <a16:creationId xmlns:a16="http://schemas.microsoft.com/office/drawing/2014/main" id="{21042451-0E1E-411E-A224-87F22C11A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125"/>
              <a:ext cx="522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41" name="Rectangle 31">
              <a:extLst>
                <a:ext uri="{FF2B5EF4-FFF2-40B4-BE49-F238E27FC236}">
                  <a16:creationId xmlns:a16="http://schemas.microsoft.com/office/drawing/2014/main" id="{FB210850-3275-4BEF-A1BA-5B823DCD7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1906"/>
              <a:ext cx="12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Y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2" name="Line 32">
              <a:extLst>
                <a:ext uri="{FF2B5EF4-FFF2-40B4-BE49-F238E27FC236}">
                  <a16:creationId xmlns:a16="http://schemas.microsoft.com/office/drawing/2014/main" id="{9A569034-9542-4A4B-8553-F91DD3A0B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7" y="2579"/>
              <a:ext cx="454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43" name="Rectangle 33">
              <a:extLst>
                <a:ext uri="{FF2B5EF4-FFF2-40B4-BE49-F238E27FC236}">
                  <a16:creationId xmlns:a16="http://schemas.microsoft.com/office/drawing/2014/main" id="{1E504873-79A7-4758-B992-19B514995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587"/>
              <a:ext cx="139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C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939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9A723-31E1-4137-90E9-818D6F18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回顾：单周期与多周期方案的对比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E72B7C-61F0-4BF6-9CA9-691ABF61E9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5226393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en-US" altLang="zh-CN" b="1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𝑪𝑷𝑼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执行时间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指令数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时钟周期</m:t>
                      </m:r>
                    </m:oMath>
                  </m:oMathPara>
                </a14:m>
                <a:endParaRPr lang="en-US" altLang="zh-CN" dirty="0">
                  <a:solidFill>
                    <a:srgbClr val="3333FF"/>
                  </a:solidFill>
                  <a:sym typeface="Symbol" pitchFamily="18" charset="2"/>
                </a:endParaRPr>
              </a:p>
              <a:p>
                <a:endParaRPr lang="en-US" altLang="zh-CN" dirty="0"/>
              </a:p>
              <a:p>
                <a:r>
                  <a:rPr lang="en-US" altLang="zh-CN" dirty="0"/>
                  <a:t>CPI</a:t>
                </a:r>
                <a:r>
                  <a:rPr lang="zh-CN" altLang="en-US" dirty="0"/>
                  <a:t>：单周期处理器</a:t>
                </a:r>
                <a:r>
                  <a:rPr lang="en-US" altLang="zh-CN" dirty="0"/>
                  <a:t>CPI=1</a:t>
                </a:r>
                <a:r>
                  <a:rPr lang="zh-CN" altLang="en-US" dirty="0"/>
                  <a:t>，多周期处理器</a:t>
                </a:r>
                <a:r>
                  <a:rPr lang="en-US" altLang="zh-CN" dirty="0"/>
                  <a:t>CPI&gt;1</a:t>
                </a:r>
              </a:p>
              <a:p>
                <a:r>
                  <a:rPr lang="zh-CN" altLang="en-US" dirty="0"/>
                  <a:t>时钟周期：单周期周期较长，多周期周期较短</a:t>
                </a:r>
                <a:endParaRPr lang="en-US" altLang="zh-CN" dirty="0"/>
              </a:p>
              <a:p>
                <a:r>
                  <a:rPr lang="zh-CN" altLang="en-US" dirty="0"/>
                  <a:t>单周期与多周期的共性：一条指令完全执行结束，才能执行下一条指令，指令难以并行</a:t>
                </a:r>
                <a:endParaRPr lang="en-US" altLang="zh-CN" dirty="0"/>
              </a:p>
              <a:p>
                <a:r>
                  <a:rPr lang="zh-CN" altLang="en-US" dirty="0">
                    <a:solidFill>
                      <a:srgbClr val="3333FF"/>
                    </a:solidFill>
                  </a:rPr>
                  <a:t>如何进一步提高处理器性能？</a:t>
                </a:r>
                <a:endParaRPr lang="en-US" altLang="zh-CN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E72B7C-61F0-4BF6-9CA9-691ABF61E9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5226393"/>
              </a:xfrm>
              <a:blipFill>
                <a:blip r:embed="rId2"/>
                <a:stretch>
                  <a:fillRect l="-1333" r="-2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A4124D-2F1A-404E-91BC-6FB8E20D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7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65918" y="5354554"/>
            <a:ext cx="3506552" cy="12618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一次执行一条指令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一条路一辆车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采用固定的上路间隔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DD3C57-6D30-6598-7FAC-B4AD5C91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18</a:t>
            </a:fld>
            <a:endParaRPr lang="en-US" altLang="zh-CN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3E45E8D-5342-DFA6-4200-4691AA0D4EAF}"/>
              </a:ext>
            </a:extLst>
          </p:cNvPr>
          <p:cNvGrpSpPr/>
          <p:nvPr/>
        </p:nvGrpSpPr>
        <p:grpSpPr>
          <a:xfrm>
            <a:off x="2329684" y="2453510"/>
            <a:ext cx="4879993" cy="767200"/>
            <a:chOff x="2315396" y="3784722"/>
            <a:chExt cx="4879993" cy="767200"/>
          </a:xfrm>
        </p:grpSpPr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B3AC1725-EE49-C649-4532-48305513D4B2}"/>
                </a:ext>
              </a:extLst>
            </p:cNvPr>
            <p:cNvSpPr/>
            <p:nvPr/>
          </p:nvSpPr>
          <p:spPr>
            <a:xfrm rot="16555416" flipV="1">
              <a:off x="4387713" y="1912014"/>
              <a:ext cx="706492" cy="4451908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14" name="Star: 5 Points 15">
              <a:extLst>
                <a:ext uri="{FF2B5EF4-FFF2-40B4-BE49-F238E27FC236}">
                  <a16:creationId xmlns:a16="http://schemas.microsoft.com/office/drawing/2014/main" id="{5C93D5B5-7BF1-5B20-7DC8-C14D62177603}"/>
                </a:ext>
              </a:extLst>
            </p:cNvPr>
            <p:cNvSpPr/>
            <p:nvPr/>
          </p:nvSpPr>
          <p:spPr>
            <a:xfrm>
              <a:off x="6754333" y="4110866"/>
              <a:ext cx="441056" cy="441056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CF2DB1C-5437-0941-4D9E-26BE6E7F6266}"/>
                </a:ext>
              </a:extLst>
            </p:cNvPr>
            <p:cNvGrpSpPr/>
            <p:nvPr/>
          </p:nvGrpSpPr>
          <p:grpSpPr>
            <a:xfrm>
              <a:off x="2315396" y="4110866"/>
              <a:ext cx="367511" cy="367511"/>
              <a:chOff x="2388941" y="4145967"/>
              <a:chExt cx="273187" cy="273187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D1FFD595-2DEB-F63E-983A-359E9750D0D3}"/>
                  </a:ext>
                </a:extLst>
              </p:cNvPr>
              <p:cNvSpPr/>
              <p:nvPr/>
            </p:nvSpPr>
            <p:spPr>
              <a:xfrm>
                <a:off x="2388941" y="4145967"/>
                <a:ext cx="273187" cy="27318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AC4E824-6BAA-A707-0AE5-CCEC7F9EC270}"/>
                  </a:ext>
                </a:extLst>
              </p:cNvPr>
              <p:cNvSpPr/>
              <p:nvPr/>
            </p:nvSpPr>
            <p:spPr>
              <a:xfrm>
                <a:off x="2463757" y="4220783"/>
                <a:ext cx="123555" cy="1235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A744B81-A3F9-5BD4-29CB-F4B068C74C34}"/>
              </a:ext>
            </a:extLst>
          </p:cNvPr>
          <p:cNvSpPr txBox="1"/>
          <p:nvPr/>
        </p:nvSpPr>
        <p:spPr>
          <a:xfrm>
            <a:off x="4314825" y="302826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OR</a:t>
            </a:r>
            <a:endParaRPr kumimoji="1"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CFBA0B6-A6E1-CD3D-8C00-4293116C918E}"/>
              </a:ext>
            </a:extLst>
          </p:cNvPr>
          <p:cNvGrpSpPr/>
          <p:nvPr/>
        </p:nvGrpSpPr>
        <p:grpSpPr>
          <a:xfrm>
            <a:off x="2405743" y="4366187"/>
            <a:ext cx="4879993" cy="767200"/>
            <a:chOff x="2315396" y="3784722"/>
            <a:chExt cx="4879993" cy="767200"/>
          </a:xfrm>
        </p:grpSpPr>
        <p:sp>
          <p:nvSpPr>
            <p:cNvPr id="21" name="Freeform: Shape 5">
              <a:extLst>
                <a:ext uri="{FF2B5EF4-FFF2-40B4-BE49-F238E27FC236}">
                  <a16:creationId xmlns:a16="http://schemas.microsoft.com/office/drawing/2014/main" id="{CE406C61-4F48-C9CF-4C96-DB826A9A26CA}"/>
                </a:ext>
              </a:extLst>
            </p:cNvPr>
            <p:cNvSpPr/>
            <p:nvPr/>
          </p:nvSpPr>
          <p:spPr>
            <a:xfrm rot="16555416" flipV="1">
              <a:off x="4387713" y="1912014"/>
              <a:ext cx="706492" cy="4451908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22" name="Star: 5 Points 15">
              <a:extLst>
                <a:ext uri="{FF2B5EF4-FFF2-40B4-BE49-F238E27FC236}">
                  <a16:creationId xmlns:a16="http://schemas.microsoft.com/office/drawing/2014/main" id="{5F42D5E3-B045-B746-DA17-D4986F2FD0EF}"/>
                </a:ext>
              </a:extLst>
            </p:cNvPr>
            <p:cNvSpPr/>
            <p:nvPr/>
          </p:nvSpPr>
          <p:spPr>
            <a:xfrm>
              <a:off x="6754333" y="4110866"/>
              <a:ext cx="441056" cy="441056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2CC084B-2901-D3F1-FF89-EBCFBA8E17DE}"/>
                </a:ext>
              </a:extLst>
            </p:cNvPr>
            <p:cNvGrpSpPr/>
            <p:nvPr/>
          </p:nvGrpSpPr>
          <p:grpSpPr>
            <a:xfrm>
              <a:off x="2315396" y="4110866"/>
              <a:ext cx="367511" cy="367511"/>
              <a:chOff x="2388941" y="4145967"/>
              <a:chExt cx="273187" cy="273187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0812043-1551-3EE0-C880-0385847C8C03}"/>
                  </a:ext>
                </a:extLst>
              </p:cNvPr>
              <p:cNvSpPr/>
              <p:nvPr/>
            </p:nvSpPr>
            <p:spPr>
              <a:xfrm>
                <a:off x="2388941" y="4145967"/>
                <a:ext cx="273187" cy="27318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073C7CEA-E083-671C-54CD-41D6FA54895F}"/>
                  </a:ext>
                </a:extLst>
              </p:cNvPr>
              <p:cNvSpPr/>
              <p:nvPr/>
            </p:nvSpPr>
            <p:spPr>
              <a:xfrm>
                <a:off x="2463757" y="4220783"/>
                <a:ext cx="123555" cy="1235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A8BF9D66-AE68-8AA2-F72E-87F3EA6B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085" y="3338692"/>
            <a:ext cx="2044700" cy="990600"/>
          </a:xfrm>
          <a:prstGeom prst="rect">
            <a:avLst/>
          </a:prstGeom>
        </p:spPr>
      </p:pic>
      <p:pic>
        <p:nvPicPr>
          <p:cNvPr id="27" name="Graphic 11">
            <a:extLst>
              <a:ext uri="{FF2B5EF4-FFF2-40B4-BE49-F238E27FC236}">
                <a16:creationId xmlns:a16="http://schemas.microsoft.com/office/drawing/2014/main" id="{088F8A9D-E4E1-46FD-D363-F4DEE4824D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4685" flipH="1">
            <a:off x="3727477" y="1684734"/>
            <a:ext cx="1791916" cy="859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4685" flipH="1">
            <a:off x="3783820" y="2862471"/>
            <a:ext cx="1791916" cy="8597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31429" y="4350030"/>
            <a:ext cx="288114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流水线执行指令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一条路多辆车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优点：效率提高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不同车速度不同？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依赖性？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3DA524-3F87-707C-4D9B-3C9571FF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19</a:t>
            </a:fld>
            <a:endParaRPr lang="en-US" altLang="zh-CN"/>
          </a:p>
        </p:txBody>
      </p:sp>
      <p:pic>
        <p:nvPicPr>
          <p:cNvPr id="14" name="Graphic 4">
            <a:extLst>
              <a:ext uri="{FF2B5EF4-FFF2-40B4-BE49-F238E27FC236}">
                <a16:creationId xmlns:a16="http://schemas.microsoft.com/office/drawing/2014/main" id="{DEB16711-C7F7-F9D7-76B0-EF37C0DBE2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569292" flipV="1">
            <a:off x="2428626" y="3044382"/>
            <a:ext cx="1171428" cy="682789"/>
          </a:xfrm>
          <a:prstGeom prst="rect">
            <a:avLst/>
          </a:prstGeom>
        </p:spPr>
      </p:pic>
      <p:pic>
        <p:nvPicPr>
          <p:cNvPr id="15" name="Graphic 4">
            <a:extLst>
              <a:ext uri="{FF2B5EF4-FFF2-40B4-BE49-F238E27FC236}">
                <a16:creationId xmlns:a16="http://schemas.microsoft.com/office/drawing/2014/main" id="{62F2D042-A7EC-AF2A-0FAE-18BC620C1D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1944691" flipV="1">
            <a:off x="5780311" y="3124371"/>
            <a:ext cx="1171428" cy="682789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74682F-12B0-0886-1438-89BD1975D0E9}"/>
              </a:ext>
            </a:extLst>
          </p:cNvPr>
          <p:cNvGrpSpPr/>
          <p:nvPr/>
        </p:nvGrpSpPr>
        <p:grpSpPr>
          <a:xfrm>
            <a:off x="2315396" y="3585942"/>
            <a:ext cx="4879993" cy="767200"/>
            <a:chOff x="2315396" y="3784722"/>
            <a:chExt cx="4879993" cy="767200"/>
          </a:xfrm>
        </p:grpSpPr>
        <p:sp>
          <p:nvSpPr>
            <p:cNvPr id="24" name="Freeform: Shape 5">
              <a:extLst>
                <a:ext uri="{FF2B5EF4-FFF2-40B4-BE49-F238E27FC236}">
                  <a16:creationId xmlns:a16="http://schemas.microsoft.com/office/drawing/2014/main" id="{2C41475F-04A7-A9B5-5A7E-033B9ED43300}"/>
                </a:ext>
              </a:extLst>
            </p:cNvPr>
            <p:cNvSpPr/>
            <p:nvPr/>
          </p:nvSpPr>
          <p:spPr>
            <a:xfrm rot="16555416" flipV="1">
              <a:off x="4387713" y="1912014"/>
              <a:ext cx="706492" cy="4451908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25" name="Star: 5 Points 15">
              <a:extLst>
                <a:ext uri="{FF2B5EF4-FFF2-40B4-BE49-F238E27FC236}">
                  <a16:creationId xmlns:a16="http://schemas.microsoft.com/office/drawing/2014/main" id="{16F0CFCB-8D7E-04D5-9685-32DF0E9A7B55}"/>
                </a:ext>
              </a:extLst>
            </p:cNvPr>
            <p:cNvSpPr/>
            <p:nvPr/>
          </p:nvSpPr>
          <p:spPr>
            <a:xfrm>
              <a:off x="6754333" y="4110866"/>
              <a:ext cx="441056" cy="441056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A5B46C-B030-9062-F095-7F1B1B2E6D54}"/>
                </a:ext>
              </a:extLst>
            </p:cNvPr>
            <p:cNvGrpSpPr/>
            <p:nvPr/>
          </p:nvGrpSpPr>
          <p:grpSpPr>
            <a:xfrm>
              <a:off x="2315396" y="4110866"/>
              <a:ext cx="367511" cy="367511"/>
              <a:chOff x="2388941" y="4145967"/>
              <a:chExt cx="273187" cy="273187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C76EDED-91D2-1E66-05A6-3C2A254DC972}"/>
                  </a:ext>
                </a:extLst>
              </p:cNvPr>
              <p:cNvSpPr/>
              <p:nvPr/>
            </p:nvSpPr>
            <p:spPr>
              <a:xfrm>
                <a:off x="2388941" y="4145967"/>
                <a:ext cx="273187" cy="27318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1F6601C-D3FA-12F6-2837-CA01ED803B17}"/>
                  </a:ext>
                </a:extLst>
              </p:cNvPr>
              <p:cNvSpPr/>
              <p:nvPr/>
            </p:nvSpPr>
            <p:spPr>
              <a:xfrm>
                <a:off x="2463757" y="4220783"/>
                <a:ext cx="123555" cy="1235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3FD994CA-E6E6-B863-93FB-31F81B6B4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生活中的实例</a:t>
            </a:r>
            <a:r>
              <a:rPr lang="en-US" altLang="zh-CN" dirty="0"/>
              <a:t>——</a:t>
            </a:r>
            <a:r>
              <a:rPr lang="zh-CN" altLang="en-US" dirty="0"/>
              <a:t>洗衣店</a:t>
            </a:r>
            <a:endParaRPr lang="en-US" altLang="zh-CN" dirty="0"/>
          </a:p>
          <a:p>
            <a:pPr lvl="1"/>
            <a:r>
              <a:rPr lang="zh-CN" altLang="en-US" dirty="0"/>
              <a:t>洗衣过程包括</a:t>
            </a:r>
            <a:r>
              <a:rPr lang="en-US" altLang="zh-CN" dirty="0"/>
              <a:t>4</a:t>
            </a:r>
            <a:r>
              <a:rPr lang="zh-CN" altLang="en-US" dirty="0"/>
              <a:t>个步骤：每个步骤需要</a:t>
            </a:r>
            <a:r>
              <a:rPr lang="en-US" altLang="zh-CN" dirty="0"/>
              <a:t>30</a:t>
            </a:r>
            <a:r>
              <a:rPr lang="zh-CN" altLang="en-US" dirty="0"/>
              <a:t>分钟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非流水线方式，洗</a:t>
            </a:r>
            <a:r>
              <a:rPr lang="en-US" altLang="zh-CN" dirty="0"/>
              <a:t>4</a:t>
            </a:r>
            <a:r>
              <a:rPr lang="zh-CN" altLang="en-US" dirty="0"/>
              <a:t>批衣服需要花费</a:t>
            </a:r>
            <a:r>
              <a:rPr lang="en-US" altLang="zh-CN" dirty="0"/>
              <a:t>8</a:t>
            </a:r>
            <a:r>
              <a:rPr lang="zh-CN" altLang="en-US" dirty="0"/>
              <a:t>个小时的时间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4" name="Group 1814">
            <a:extLst>
              <a:ext uri="{FF2B5EF4-FFF2-40B4-BE49-F238E27FC236}">
                <a16:creationId xmlns:a16="http://schemas.microsoft.com/office/drawing/2014/main" id="{77B1654B-6A0B-497A-B098-D84021BFDB19}"/>
              </a:ext>
            </a:extLst>
          </p:cNvPr>
          <p:cNvGraphicFramePr>
            <a:graphicFrameLocks/>
          </p:cNvGraphicFramePr>
          <p:nvPr/>
        </p:nvGraphicFramePr>
        <p:xfrm>
          <a:off x="2957512" y="2273300"/>
          <a:ext cx="3228975" cy="460375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洗衣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脱水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折叠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储存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9ECA9377-F911-4C19-8369-21EA1679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8" y="3713956"/>
            <a:ext cx="7374624" cy="257254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F05F5-EC34-4C53-B76D-D812F53E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210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生活中的实例</a:t>
            </a:r>
            <a:r>
              <a:rPr lang="en-US" altLang="zh-CN" dirty="0"/>
              <a:t>——</a:t>
            </a:r>
            <a:r>
              <a:rPr lang="zh-CN" altLang="en-US" dirty="0"/>
              <a:t>洗衣店</a:t>
            </a:r>
            <a:endParaRPr lang="en-US" altLang="zh-CN" dirty="0"/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4</a:t>
            </a:r>
            <a:r>
              <a:rPr lang="zh-CN" altLang="en-US" dirty="0"/>
              <a:t>批衣服只需要花费</a:t>
            </a:r>
            <a:r>
              <a:rPr lang="en-US" altLang="zh-CN" dirty="0"/>
              <a:t>3.5</a:t>
            </a:r>
            <a:r>
              <a:rPr lang="zh-CN" altLang="en-US" dirty="0"/>
              <a:t>小时</a:t>
            </a:r>
          </a:p>
          <a:p>
            <a:pPr lvl="1"/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28F09E-63EC-4906-9C65-587F01A3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34" y="2599315"/>
            <a:ext cx="8079566" cy="331450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F5ED6-B467-4F0C-848A-1239CEB2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94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生活中的实例</a:t>
            </a:r>
            <a:r>
              <a:rPr lang="en-US" altLang="zh-CN" dirty="0"/>
              <a:t>——</a:t>
            </a:r>
            <a:r>
              <a:rPr lang="zh-CN" altLang="en-US" dirty="0"/>
              <a:t>洗衣店</a:t>
            </a:r>
            <a:endParaRPr lang="en-US" altLang="zh-CN" dirty="0"/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4</a:t>
            </a:r>
            <a:r>
              <a:rPr lang="zh-CN" altLang="en-US" dirty="0"/>
              <a:t>批衣服只需要花费</a:t>
            </a:r>
            <a:r>
              <a:rPr lang="en-US" altLang="zh-CN" dirty="0"/>
              <a:t>3.5</a:t>
            </a:r>
            <a:r>
              <a:rPr lang="zh-CN" altLang="en-US" dirty="0"/>
              <a:t>小时</a:t>
            </a:r>
          </a:p>
          <a:p>
            <a:pPr lvl="1"/>
            <a:r>
              <a:rPr lang="zh-CN" altLang="en-CN" dirty="0"/>
              <a:t>洗</a:t>
            </a:r>
            <a:r>
              <a:rPr lang="zh-CN" altLang="en-US" dirty="0"/>
              <a:t>更多衣服？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28F09E-63EC-4906-9C65-587F01A3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43" y="2733412"/>
            <a:ext cx="8079566" cy="331450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F5ED6-B467-4F0C-848A-1239CEB2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C4F497A-11E0-6B0E-3EF1-552466F320B3}"/>
              </a:ext>
            </a:extLst>
          </p:cNvPr>
          <p:cNvGrpSpPr/>
          <p:nvPr/>
        </p:nvGrpSpPr>
        <p:grpSpPr>
          <a:xfrm>
            <a:off x="664029" y="6047913"/>
            <a:ext cx="3907971" cy="673562"/>
            <a:chOff x="664029" y="6047913"/>
            <a:chExt cx="3907971" cy="67356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68F25C5-B3BF-2CF7-210D-8796E6FBF97B}"/>
                </a:ext>
              </a:extLst>
            </p:cNvPr>
            <p:cNvGrpSpPr/>
            <p:nvPr/>
          </p:nvGrpSpPr>
          <p:grpSpPr>
            <a:xfrm>
              <a:off x="676084" y="6047913"/>
              <a:ext cx="3713878" cy="554372"/>
              <a:chOff x="676084" y="6047913"/>
              <a:chExt cx="3713878" cy="554372"/>
            </a:xfrm>
          </p:grpSpPr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EC6CB527-08E2-9290-7E0E-C5D52C715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3583" y="6047913"/>
                <a:ext cx="1696379" cy="554372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9E80BC1-AF01-3A0F-33EB-BFE4C65C4E94}"/>
                  </a:ext>
                </a:extLst>
              </p:cNvPr>
              <p:cNvSpPr txBox="1"/>
              <p:nvPr/>
            </p:nvSpPr>
            <p:spPr>
              <a:xfrm>
                <a:off x="676084" y="6175573"/>
                <a:ext cx="30489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/>
                  <a:t>E</a:t>
                </a:r>
                <a:endParaRPr kumimoji="1" lang="zh-CN" altLang="en-US" sz="1400" dirty="0"/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AD3608-2045-4B7C-A1B5-876ACCB3AB3F}"/>
                </a:ext>
              </a:extLst>
            </p:cNvPr>
            <p:cNvSpPr/>
            <p:nvPr/>
          </p:nvSpPr>
          <p:spPr>
            <a:xfrm>
              <a:off x="664029" y="6047913"/>
              <a:ext cx="3907971" cy="6735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094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生活中的实例</a:t>
            </a:r>
            <a:r>
              <a:rPr lang="en-US" altLang="zh-CN" dirty="0"/>
              <a:t>——</a:t>
            </a:r>
            <a:r>
              <a:rPr lang="zh-CN" altLang="en-US" dirty="0"/>
              <a:t>洗衣店</a:t>
            </a:r>
            <a:endParaRPr lang="en-US" altLang="zh-CN" dirty="0"/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4</a:t>
            </a:r>
            <a:r>
              <a:rPr lang="zh-CN" altLang="en-US" dirty="0"/>
              <a:t>批衣服只需要花费</a:t>
            </a:r>
            <a:r>
              <a:rPr lang="en-US" altLang="zh-CN" dirty="0"/>
              <a:t>3.5</a:t>
            </a:r>
            <a:r>
              <a:rPr lang="zh-CN" altLang="en-US" dirty="0"/>
              <a:t>小时</a:t>
            </a:r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16</a:t>
            </a:r>
            <a:r>
              <a:rPr lang="zh-CN" altLang="en-US" dirty="0"/>
              <a:t>批衣服只需要花费</a:t>
            </a:r>
            <a:r>
              <a:rPr lang="en-US" altLang="zh-CN" dirty="0"/>
              <a:t>9.5</a:t>
            </a:r>
            <a:r>
              <a:rPr lang="zh-CN" altLang="en-US" dirty="0"/>
              <a:t>小时</a:t>
            </a:r>
          </a:p>
          <a:p>
            <a:pPr marL="342900" lvl="1" indent="0">
              <a:buNone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28F09E-63EC-4906-9C65-587F01A3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43" y="2733412"/>
            <a:ext cx="8079566" cy="331450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F5ED6-B467-4F0C-848A-1239CEB2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B0A20-E42C-C84D-978E-592BB84C1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959" y="3880894"/>
            <a:ext cx="1696379" cy="5543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63E8D6-7193-984C-AD1F-EF6F984AFB0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2959" y="6019930"/>
            <a:ext cx="1614356" cy="52756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F1AFCC-D23E-7518-67FF-0E4EAECC6333}"/>
              </a:ext>
            </a:extLst>
          </p:cNvPr>
          <p:cNvSpPr txBox="1"/>
          <p:nvPr/>
        </p:nvSpPr>
        <p:spPr>
          <a:xfrm>
            <a:off x="604834" y="4077809"/>
            <a:ext cx="47481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A/E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377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1DD40D59-FE00-47D2-AC3E-58CE62E41B4B}"/>
              </a:ext>
            </a:extLst>
          </p:cNvPr>
          <p:cNvGrpSpPr/>
          <p:nvPr/>
        </p:nvGrpSpPr>
        <p:grpSpPr>
          <a:xfrm>
            <a:off x="173400" y="3415989"/>
            <a:ext cx="8858565" cy="3314501"/>
            <a:chOff x="173400" y="3012086"/>
            <a:chExt cx="8858565" cy="331450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328F09E-63EC-4906-9C65-587F01A3B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400" y="3012086"/>
              <a:ext cx="8079566" cy="331450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0B0A20-E42C-C84D-978E-592BB84C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09416" y="4159568"/>
              <a:ext cx="1696379" cy="5543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6C27A3-9889-C147-AB5B-6E63B20EF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1381" y="5706392"/>
              <a:ext cx="1696379" cy="55437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A49204-7D09-6144-A0B0-EB87B503D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7760" y="5672939"/>
              <a:ext cx="1696379" cy="55437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068C6A9-BD0E-E247-B074-B81A7E5683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r="504"/>
            <a:stretch/>
          </p:blipFill>
          <p:spPr>
            <a:xfrm>
              <a:off x="7344139" y="5639486"/>
              <a:ext cx="1687826" cy="55437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B557DC-5EF8-FD45-87A4-7BA3F3BC4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7605" y="5179723"/>
              <a:ext cx="1696379" cy="55437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EC15DA-86F6-B446-955F-8ED39C9AF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3984" y="5146270"/>
              <a:ext cx="1696379" cy="5543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3E52935-F2CC-6844-A182-88AED9CCD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0363" y="5112817"/>
              <a:ext cx="1696379" cy="55437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4BADED-567C-A14B-8A8D-02ADDD5B0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3829" y="4706195"/>
              <a:ext cx="1696379" cy="55437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D0F0FD-8D1D-1243-9915-ADD31BC6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0208" y="4672742"/>
              <a:ext cx="1696379" cy="5543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558B60-2CD9-6042-BE75-9A72BDDC6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6946" y="4148417"/>
              <a:ext cx="1696379" cy="55437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ED0A62-EC0E-3B43-99F4-EA8DEAC3A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3325" y="4114964"/>
              <a:ext cx="1696379" cy="55437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734234-5267-F04F-9692-2E0130DBE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6587" y="4639289"/>
              <a:ext cx="1696379" cy="554372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生活中的实例</a:t>
            </a:r>
            <a:r>
              <a:rPr lang="en-US" altLang="zh-CN" dirty="0"/>
              <a:t>——</a:t>
            </a:r>
            <a:r>
              <a:rPr lang="zh-CN" altLang="en-US" dirty="0"/>
              <a:t>洗衣店</a:t>
            </a:r>
            <a:endParaRPr lang="en-US" altLang="zh-CN" dirty="0"/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4</a:t>
            </a:r>
            <a:r>
              <a:rPr lang="zh-CN" altLang="en-US" dirty="0"/>
              <a:t>批衣服只需要花费</a:t>
            </a:r>
            <a:r>
              <a:rPr lang="en-US" altLang="zh-CN" dirty="0"/>
              <a:t>3.5</a:t>
            </a:r>
            <a:r>
              <a:rPr lang="zh-CN" altLang="en-US" dirty="0"/>
              <a:t>小时</a:t>
            </a:r>
          </a:p>
          <a:p>
            <a:pPr lvl="1"/>
            <a:r>
              <a:rPr lang="zh-CN" altLang="en-US" dirty="0"/>
              <a:t>采用流水线的方式，洗</a:t>
            </a:r>
            <a:r>
              <a:rPr lang="en-US" altLang="zh-CN" dirty="0"/>
              <a:t>16</a:t>
            </a:r>
            <a:r>
              <a:rPr lang="zh-CN" altLang="en-US" dirty="0"/>
              <a:t>批衣服只需要花费</a:t>
            </a:r>
            <a:r>
              <a:rPr lang="en-US" altLang="zh-CN" dirty="0"/>
              <a:t>9.5</a:t>
            </a:r>
            <a:r>
              <a:rPr lang="zh-CN" altLang="en-US" dirty="0"/>
              <a:t>小时</a:t>
            </a:r>
            <a:endParaRPr lang="en-US" altLang="zh-CN" dirty="0"/>
          </a:p>
          <a:p>
            <a:pPr lvl="1"/>
            <a:r>
              <a:rPr lang="zh-CN" altLang="en-US" dirty="0"/>
              <a:t>横向来看，洗完一批衣服的时间并没有降低</a:t>
            </a:r>
            <a:endParaRPr lang="en-US" altLang="zh-CN" dirty="0"/>
          </a:p>
          <a:p>
            <a:pPr lvl="1"/>
            <a:r>
              <a:rPr lang="zh-CN" altLang="en-US" dirty="0"/>
              <a:t>纵向来看，最多同时洗</a:t>
            </a:r>
            <a:r>
              <a:rPr lang="en-US" altLang="zh-CN" dirty="0"/>
              <a:t>4</a:t>
            </a:r>
            <a:r>
              <a:rPr lang="zh-CN" altLang="en-US" dirty="0"/>
              <a:t>批衣服，效率提高了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F5ED6-B467-4F0C-848A-1239CEB2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52BCFB1-6D41-F852-0C7C-284202DE51C7}"/>
              </a:ext>
            </a:extLst>
          </p:cNvPr>
          <p:cNvSpPr txBox="1"/>
          <p:nvPr/>
        </p:nvSpPr>
        <p:spPr>
          <a:xfrm>
            <a:off x="610086" y="4734716"/>
            <a:ext cx="5741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A/E/I</a:t>
            </a:r>
            <a:endParaRPr kumimoji="1"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62B715-4B9C-2BA9-2840-735DF720EDB1}"/>
              </a:ext>
            </a:extLst>
          </p:cNvPr>
          <p:cNvSpPr txBox="1"/>
          <p:nvPr/>
        </p:nvSpPr>
        <p:spPr>
          <a:xfrm>
            <a:off x="610086" y="5229296"/>
            <a:ext cx="60305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B/F/J</a:t>
            </a:r>
            <a:endParaRPr kumimoji="1"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65D65F-0B05-6AF7-B199-5E1719BAD96D}"/>
              </a:ext>
            </a:extLst>
          </p:cNvPr>
          <p:cNvSpPr txBox="1"/>
          <p:nvPr/>
        </p:nvSpPr>
        <p:spPr>
          <a:xfrm>
            <a:off x="610086" y="5700125"/>
            <a:ext cx="6735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C/G/K</a:t>
            </a:r>
            <a:endParaRPr kumimoji="1"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2A69F5-43F9-873B-6ED9-996058AA781D}"/>
              </a:ext>
            </a:extLst>
          </p:cNvPr>
          <p:cNvSpPr txBox="1"/>
          <p:nvPr/>
        </p:nvSpPr>
        <p:spPr>
          <a:xfrm>
            <a:off x="610086" y="6248087"/>
            <a:ext cx="6431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D/H/L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64721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AA66-7452-46A2-8F17-E9969FEF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F3007-ABC4-4358-AD2D-4B5652B7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正如</a:t>
            </a:r>
            <a:r>
              <a:rPr kumimoji="1" lang="zh-CN" altLang="en-US" dirty="0"/>
              <a:t>流水线可以加快洗衣店的工作一样，流水线也可以加快指令的总体执行时间</a:t>
            </a:r>
            <a:endParaRPr kumimoji="1" lang="en-US" altLang="zh-CN" dirty="0"/>
          </a:p>
          <a:p>
            <a:endParaRPr lang="en-US" altLang="zh-CN" dirty="0"/>
          </a:p>
          <a:p>
            <a:r>
              <a:rPr lang="zh-CN" altLang="en-US" dirty="0"/>
              <a:t>流水线（</a:t>
            </a:r>
            <a:r>
              <a:rPr lang="en-US" altLang="zh-CN" dirty="0"/>
              <a:t>Pipeline</a:t>
            </a:r>
            <a:r>
              <a:rPr lang="zh-CN" altLang="en-US" dirty="0"/>
              <a:t>）：时空复用</a:t>
            </a:r>
            <a:endParaRPr lang="en-US" altLang="zh-CN" dirty="0"/>
          </a:p>
          <a:p>
            <a:pPr lvl="1"/>
            <a:r>
              <a:rPr lang="zh-CN" altLang="en-US" dirty="0"/>
              <a:t>将一个</a:t>
            </a:r>
            <a:r>
              <a:rPr kumimoji="1" lang="zh-CN" altLang="en-US" dirty="0"/>
              <a:t>复杂的</a:t>
            </a:r>
            <a:r>
              <a:rPr lang="zh-CN" altLang="en-US" dirty="0"/>
              <a:t>任务</a:t>
            </a:r>
            <a:r>
              <a:rPr lang="zh-CN" altLang="en-US" dirty="0">
                <a:solidFill>
                  <a:srgbClr val="3333FF"/>
                </a:solidFill>
              </a:rPr>
              <a:t>分解</a:t>
            </a:r>
            <a:r>
              <a:rPr lang="zh-CN" altLang="en-US" dirty="0"/>
              <a:t>成若干个先后执行的子任务，每个子任务</a:t>
            </a:r>
            <a:r>
              <a:rPr lang="zh-CN" altLang="en-US" dirty="0">
                <a:solidFill>
                  <a:srgbClr val="3333FF"/>
                </a:solidFill>
              </a:rPr>
              <a:t>分配</a:t>
            </a:r>
            <a:r>
              <a:rPr lang="zh-CN" altLang="en-US" dirty="0"/>
              <a:t>给专门的设施处理</a:t>
            </a:r>
            <a:endParaRPr lang="en-US" altLang="zh-CN" dirty="0"/>
          </a:p>
          <a:p>
            <a:pPr lvl="1"/>
            <a:r>
              <a:rPr lang="zh-CN" altLang="en-US" dirty="0"/>
              <a:t>多个任务的不同子任务可以同时执行来提高处理器性能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398568-C28A-424D-821A-0D895874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57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C4555-13A5-4DDD-AE91-1F6D93D6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50D17-CA4C-4879-80D7-0A6A4563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流水线：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个周期时，第一级（</a:t>
            </a:r>
            <a:r>
              <a:rPr lang="en-US" altLang="zh-CN" dirty="0"/>
              <a:t>Add1,</a:t>
            </a:r>
            <a:r>
              <a:rPr lang="zh-CN" altLang="en-US" dirty="0"/>
              <a:t> </a:t>
            </a:r>
            <a:r>
              <a:rPr lang="en-US" altLang="zh-CN" dirty="0"/>
              <a:t>Add2</a:t>
            </a:r>
            <a:r>
              <a:rPr lang="zh-CN" altLang="en-US" dirty="0"/>
              <a:t>）可以处理下一次加法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FEB53-539B-4605-B263-8A99E4B2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3B1DA27-36D7-9CD1-9DD6-EAFE95793026}"/>
              </a:ext>
            </a:extLst>
          </p:cNvPr>
          <p:cNvGraphicFramePr>
            <a:graphicFrameLocks noGrp="1"/>
          </p:cNvGraphicFramePr>
          <p:nvPr/>
        </p:nvGraphicFramePr>
        <p:xfrm>
          <a:off x="186253" y="3301592"/>
          <a:ext cx="4261848" cy="25717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7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流水级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资源绑定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T1=Add1(A,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B)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T2=Add2(C,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D)</a:t>
                      </a:r>
                      <a:endParaRPr lang="zh-CN" altLang="en-US" sz="2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Y=Add3(T1, T2)</a:t>
                      </a: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A4163FCE-12E9-EB5B-688E-0E8DB636D548}"/>
              </a:ext>
            </a:extLst>
          </p:cNvPr>
          <p:cNvGrpSpPr/>
          <p:nvPr/>
        </p:nvGrpSpPr>
        <p:grpSpPr>
          <a:xfrm>
            <a:off x="4827413" y="2740333"/>
            <a:ext cx="3983745" cy="3384300"/>
            <a:chOff x="4943954" y="2812051"/>
            <a:chExt cx="3983745" cy="33843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D3174E-4A7F-D6E7-41CA-D814BDB8A03A}"/>
                </a:ext>
              </a:extLst>
            </p:cNvPr>
            <p:cNvSpPr txBox="1"/>
            <p:nvPr/>
          </p:nvSpPr>
          <p:spPr>
            <a:xfrm>
              <a:off x="5716015" y="2812051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SimHei" panose="02010609060101010101" pitchFamily="49" charset="-122"/>
                </a:rPr>
                <a:t>Add1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D65F105-00C8-ED62-5504-9DC97EE9F56C}"/>
                </a:ext>
              </a:extLst>
            </p:cNvPr>
            <p:cNvSpPr txBox="1"/>
            <p:nvPr/>
          </p:nvSpPr>
          <p:spPr>
            <a:xfrm>
              <a:off x="5710291" y="4781489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SimHei" panose="02010609060101010101" pitchFamily="49" charset="-122"/>
                </a:rPr>
                <a:t>Add2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5053994-047D-ED69-7B0B-68DAE3F129E2}"/>
                </a:ext>
              </a:extLst>
            </p:cNvPr>
            <p:cNvSpPr txBox="1"/>
            <p:nvPr/>
          </p:nvSpPr>
          <p:spPr>
            <a:xfrm>
              <a:off x="7292153" y="3499674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SimHei" panose="02010609060101010101" pitchFamily="49" charset="-122"/>
                </a:rPr>
                <a:t>Add3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C0E301B-CA3B-2905-65B9-0129EC318CEF}"/>
                </a:ext>
              </a:extLst>
            </p:cNvPr>
            <p:cNvGrpSpPr/>
            <p:nvPr/>
          </p:nvGrpSpPr>
          <p:grpSpPr>
            <a:xfrm>
              <a:off x="4943954" y="3066307"/>
              <a:ext cx="3983745" cy="3130044"/>
              <a:chOff x="4943954" y="3066307"/>
              <a:chExt cx="3983745" cy="313004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1DC40F1-3F91-F946-7F92-40AF0A994111}"/>
                  </a:ext>
                </a:extLst>
              </p:cNvPr>
              <p:cNvSpPr txBox="1"/>
              <p:nvPr/>
            </p:nvSpPr>
            <p:spPr>
              <a:xfrm>
                <a:off x="6766305" y="4262287"/>
                <a:ext cx="6739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00000"/>
                    </a:solidFill>
                    <a:ea typeface="SimHei" panose="02010609060101010101" pitchFamily="49" charset="-122"/>
                  </a:rPr>
                  <a:t>W2</a:t>
                </a:r>
                <a:endParaRPr lang="zh-CN" altLang="en-US" sz="1600" dirty="0">
                  <a:solidFill>
                    <a:srgbClr val="C00000"/>
                  </a:solidFill>
                  <a:ea typeface="SimHei" panose="02010609060101010101" pitchFamily="49" charset="-122"/>
                </a:endParaRPr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09419C4-F4C4-0CDE-ADDF-3312E1E37685}"/>
                  </a:ext>
                </a:extLst>
              </p:cNvPr>
              <p:cNvGrpSpPr/>
              <p:nvPr/>
            </p:nvGrpSpPr>
            <p:grpSpPr>
              <a:xfrm>
                <a:off x="4943954" y="3066307"/>
                <a:ext cx="3983745" cy="3130044"/>
                <a:chOff x="4943954" y="3066307"/>
                <a:chExt cx="3983745" cy="3130044"/>
              </a:xfrm>
            </p:grpSpPr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246FD86-708A-6B88-0F04-EFDBAF8136E9}"/>
                    </a:ext>
                  </a:extLst>
                </p:cNvPr>
                <p:cNvSpPr txBox="1"/>
                <p:nvPr/>
              </p:nvSpPr>
              <p:spPr>
                <a:xfrm>
                  <a:off x="6771085" y="3066307"/>
                  <a:ext cx="5762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rgbClr val="C00000"/>
                      </a:solidFill>
                      <a:ea typeface="SimHei" panose="02010609060101010101" pitchFamily="49" charset="-122"/>
                    </a:rPr>
                    <a:t>W1</a:t>
                  </a:r>
                  <a:endParaRPr lang="zh-CN" altLang="en-US" sz="1600" dirty="0">
                    <a:solidFill>
                      <a:srgbClr val="C00000"/>
                    </a:solidFill>
                    <a:ea typeface="SimHei" panose="02010609060101010101" pitchFamily="49" charset="-122"/>
                  </a:endParaRPr>
                </a:p>
              </p:txBody>
            </p: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5BAE80FD-B4EB-0E2E-B751-974EA89B16E4}"/>
                    </a:ext>
                  </a:extLst>
                </p:cNvPr>
                <p:cNvGrpSpPr/>
                <p:nvPr/>
              </p:nvGrpSpPr>
              <p:grpSpPr>
                <a:xfrm>
                  <a:off x="4943954" y="3071826"/>
                  <a:ext cx="3983745" cy="3124525"/>
                  <a:chOff x="4943954" y="3071826"/>
                  <a:chExt cx="3983745" cy="3124525"/>
                </a:xfrm>
              </p:grpSpPr>
              <p:grpSp>
                <p:nvGrpSpPr>
                  <p:cNvPr id="19" name="组合 18">
                    <a:extLst>
                      <a:ext uri="{FF2B5EF4-FFF2-40B4-BE49-F238E27FC236}">
                        <a16:creationId xmlns:a16="http://schemas.microsoft.com/office/drawing/2014/main" id="{A7CFADB3-8912-0675-7DD0-64A337C98B27}"/>
                      </a:ext>
                    </a:extLst>
                  </p:cNvPr>
                  <p:cNvGrpSpPr/>
                  <p:nvPr/>
                </p:nvGrpSpPr>
                <p:grpSpPr>
                  <a:xfrm>
                    <a:off x="4943954" y="3071826"/>
                    <a:ext cx="3797738" cy="3124525"/>
                    <a:chOff x="5621428" y="3071826"/>
                    <a:chExt cx="3166493" cy="2930147"/>
                  </a:xfrm>
                </p:grpSpPr>
                <p:grpSp>
                  <p:nvGrpSpPr>
                    <p:cNvPr id="22" name="组合 21">
                      <a:extLst>
                        <a:ext uri="{FF2B5EF4-FFF2-40B4-BE49-F238E27FC236}">
                          <a16:creationId xmlns:a16="http://schemas.microsoft.com/office/drawing/2014/main" id="{AE0674A8-B419-CB02-526B-5F64E2361F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1428" y="3071826"/>
                      <a:ext cx="3166493" cy="2930147"/>
                      <a:chOff x="3193839" y="2284787"/>
                      <a:chExt cx="2475838" cy="1910656"/>
                    </a:xfrm>
                  </p:grpSpPr>
                  <p:sp>
                    <p:nvSpPr>
                      <p:cNvPr id="31" name="Line 23">
                        <a:extLst>
                          <a:ext uri="{FF2B5EF4-FFF2-40B4-BE49-F238E27FC236}">
                            <a16:creationId xmlns:a16="http://schemas.microsoft.com/office/drawing/2014/main" id="{755AC75A-A057-F782-8F20-69C203BF04B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193839" y="3604977"/>
                        <a:ext cx="484602" cy="0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32" name="Line 23">
                        <a:extLst>
                          <a:ext uri="{FF2B5EF4-FFF2-40B4-BE49-F238E27FC236}">
                            <a16:creationId xmlns:a16="http://schemas.microsoft.com/office/drawing/2014/main" id="{CFD41628-66D7-7BD5-9B0D-35539F7DF70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193839" y="4104612"/>
                        <a:ext cx="484602" cy="0"/>
                      </a:xfrm>
                      <a:prstGeom prst="line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grpSp>
                    <p:nvGrpSpPr>
                      <p:cNvPr id="33" name="组合 32">
                        <a:extLst>
                          <a:ext uri="{FF2B5EF4-FFF2-40B4-BE49-F238E27FC236}">
                            <a16:creationId xmlns:a16="http://schemas.microsoft.com/office/drawing/2014/main" id="{9F96A6F0-2A14-6DCA-DCA6-B28DE34234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194805" y="2284787"/>
                        <a:ext cx="2474872" cy="1910656"/>
                        <a:chOff x="3194805" y="2284787"/>
                        <a:chExt cx="2474872" cy="1910656"/>
                      </a:xfrm>
                    </p:grpSpPr>
                    <p:grpSp>
                      <p:nvGrpSpPr>
                        <p:cNvPr id="34" name="组合 33">
                          <a:extLst>
                            <a:ext uri="{FF2B5EF4-FFF2-40B4-BE49-F238E27FC236}">
                              <a16:creationId xmlns:a16="http://schemas.microsoft.com/office/drawing/2014/main" id="{6D335B4D-7DD8-7E17-9DFE-DA8D1B6BF32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94805" y="2284787"/>
                          <a:ext cx="2104579" cy="1910656"/>
                          <a:chOff x="4028183" y="2366471"/>
                          <a:chExt cx="2104579" cy="1910656"/>
                        </a:xfrm>
                      </p:grpSpPr>
                      <p:grpSp>
                        <p:nvGrpSpPr>
                          <p:cNvPr id="39" name="Group 4">
                            <a:extLst>
                              <a:ext uri="{FF2B5EF4-FFF2-40B4-BE49-F238E27FC236}">
                                <a16:creationId xmlns:a16="http://schemas.microsoft.com/office/drawing/2014/main" id="{6272DAAD-77A8-ABC5-AEB8-B4683E59ED86}"/>
                              </a:ext>
                            </a:extLst>
                          </p:cNvPr>
                          <p:cNvGrpSpPr>
                            <a:grpSpLocks noChangeAspect="1"/>
                          </p:cNvGrpSpPr>
                          <p:nvPr/>
                        </p:nvGrpSpPr>
                        <p:grpSpPr bwMode="auto">
                          <a:xfrm>
                            <a:off x="4028183" y="2366471"/>
                            <a:ext cx="1897847" cy="1910656"/>
                            <a:chOff x="1196" y="1309"/>
                            <a:chExt cx="1778" cy="1790"/>
                          </a:xfrm>
                        </p:grpSpPr>
                        <p:sp>
                          <p:nvSpPr>
                            <p:cNvPr id="41" name="Freeform 6">
                              <a:extLst>
                                <a:ext uri="{FF2B5EF4-FFF2-40B4-BE49-F238E27FC236}">
                                  <a16:creationId xmlns:a16="http://schemas.microsoft.com/office/drawing/2014/main" id="{F91E5B56-FB54-ED64-99F3-510DF650C797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578" y="1721"/>
                              <a:ext cx="396" cy="790"/>
                            </a:xfrm>
                            <a:custGeom>
                              <a:avLst/>
                              <a:gdLst>
                                <a:gd name="T0" fmla="*/ 0 w 455"/>
                                <a:gd name="T1" fmla="*/ 0 h 909"/>
                                <a:gd name="T2" fmla="*/ 455 w 455"/>
                                <a:gd name="T3" fmla="*/ 228 h 909"/>
                                <a:gd name="T4" fmla="*/ 455 w 455"/>
                                <a:gd name="T5" fmla="*/ 682 h 909"/>
                                <a:gd name="T6" fmla="*/ 0 w 455"/>
                                <a:gd name="T7" fmla="*/ 909 h 909"/>
                                <a:gd name="T8" fmla="*/ 0 w 455"/>
                                <a:gd name="T9" fmla="*/ 568 h 909"/>
                                <a:gd name="T10" fmla="*/ 228 w 455"/>
                                <a:gd name="T11" fmla="*/ 455 h 909"/>
                                <a:gd name="T12" fmla="*/ 0 w 455"/>
                                <a:gd name="T13" fmla="*/ 341 h 909"/>
                                <a:gd name="T14" fmla="*/ 0 w 455"/>
                                <a:gd name="T15" fmla="*/ 0 h 90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455" h="909">
                                  <a:moveTo>
                                    <a:pt x="0" y="0"/>
                                  </a:moveTo>
                                  <a:lnTo>
                                    <a:pt x="455" y="228"/>
                                  </a:lnTo>
                                  <a:lnTo>
                                    <a:pt x="455" y="682"/>
                                  </a:lnTo>
                                  <a:lnTo>
                                    <a:pt x="0" y="909"/>
                                  </a:lnTo>
                                  <a:lnTo>
                                    <a:pt x="0" y="568"/>
                                  </a:lnTo>
                                  <a:lnTo>
                                    <a:pt x="228" y="455"/>
                                  </a:lnTo>
                                  <a:lnTo>
                                    <a:pt x="0" y="341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2" name="Rectangle 8">
                              <a:extLst>
                                <a:ext uri="{FF2B5EF4-FFF2-40B4-BE49-F238E27FC236}">
                                  <a16:creationId xmlns:a16="http://schemas.microsoft.com/office/drawing/2014/main" id="{DF96612F-3022-AD00-9D85-06DFEC59AB81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 rot="5400000">
                              <a:off x="2788" y="2050"/>
                              <a:ext cx="218" cy="13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kumimoji="0" lang="zh-CN" altLang="zh-CN" sz="1400" b="0" i="0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+mn-lt"/>
                                  <a:ea typeface="宋体" panose="02010600030101010101" pitchFamily="2" charset="-122"/>
                                </a:rPr>
                                <a:t>ADD</a:t>
                              </a:r>
                              <a:endParaRPr kumimoji="0" lang="zh-CN" altLang="zh-CN" sz="14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3" name="Freeform 15">
                              <a:extLst>
                                <a:ext uri="{FF2B5EF4-FFF2-40B4-BE49-F238E27FC236}">
                                  <a16:creationId xmlns:a16="http://schemas.microsoft.com/office/drawing/2014/main" id="{CD240309-FF97-38EC-2FA1-CAAE6154CDB0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655" y="1309"/>
                              <a:ext cx="341" cy="682"/>
                            </a:xfrm>
                            <a:custGeom>
                              <a:avLst/>
                              <a:gdLst>
                                <a:gd name="T0" fmla="*/ 0 w 341"/>
                                <a:gd name="T1" fmla="*/ 0 h 682"/>
                                <a:gd name="T2" fmla="*/ 341 w 341"/>
                                <a:gd name="T3" fmla="*/ 171 h 682"/>
                                <a:gd name="T4" fmla="*/ 341 w 341"/>
                                <a:gd name="T5" fmla="*/ 512 h 682"/>
                                <a:gd name="T6" fmla="*/ 0 w 341"/>
                                <a:gd name="T7" fmla="*/ 682 h 682"/>
                                <a:gd name="T8" fmla="*/ 0 w 341"/>
                                <a:gd name="T9" fmla="*/ 0 h 68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341" h="682">
                                  <a:moveTo>
                                    <a:pt x="0" y="0"/>
                                  </a:moveTo>
                                  <a:lnTo>
                                    <a:pt x="341" y="171"/>
                                  </a:lnTo>
                                  <a:lnTo>
                                    <a:pt x="341" y="512"/>
                                  </a:lnTo>
                                  <a:lnTo>
                                    <a:pt x="0" y="682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4" name="Rectangle 18">
                              <a:extLst>
                                <a:ext uri="{FF2B5EF4-FFF2-40B4-BE49-F238E27FC236}">
                                  <a16:creationId xmlns:a16="http://schemas.microsoft.com/office/drawing/2014/main" id="{CFF8E37C-1B00-3CA1-7EB8-C202D43F1D9D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 rot="5400000">
                              <a:off x="1797" y="1594"/>
                              <a:ext cx="218" cy="13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lang="en-US" altLang="zh-CN" sz="1400" dirty="0">
                                  <a:solidFill>
                                    <a:srgbClr val="000000"/>
                                  </a:solidFill>
                                  <a:latin typeface="+mn-lt"/>
                                  <a:ea typeface="宋体" panose="02010600030101010101" pitchFamily="2" charset="-122"/>
                                </a:rPr>
                                <a:t>ADD</a:t>
                              </a:r>
                              <a:endParaRPr kumimoji="0" lang="zh-CN" altLang="zh-CN" sz="14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5" name="Line 23">
                              <a:extLst>
                                <a:ext uri="{FF2B5EF4-FFF2-40B4-BE49-F238E27FC236}">
                                  <a16:creationId xmlns:a16="http://schemas.microsoft.com/office/drawing/2014/main" id="{C5A75EEE-514A-3445-A806-F584CDAAD3A7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1196" y="1445"/>
                              <a:ext cx="454" cy="0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 dirty="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6" name="Line 24">
                              <a:extLst>
                                <a:ext uri="{FF2B5EF4-FFF2-40B4-BE49-F238E27FC236}">
                                  <a16:creationId xmlns:a16="http://schemas.microsoft.com/office/drawing/2014/main" id="{0FAFD779-72CC-4C9F-3178-0FE5ED771E57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1196" y="1883"/>
                              <a:ext cx="454" cy="0"/>
                            </a:xfrm>
                            <a:prstGeom prst="line">
                              <a:avLst/>
                            </a:pr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7" name="Freeform 29">
                              <a:extLst>
                                <a:ext uri="{FF2B5EF4-FFF2-40B4-BE49-F238E27FC236}">
                                  <a16:creationId xmlns:a16="http://schemas.microsoft.com/office/drawing/2014/main" id="{ACA6421F-746D-F021-DBD5-AE0278CD7156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996" y="1650"/>
                              <a:ext cx="567" cy="114"/>
                            </a:xfrm>
                            <a:custGeom>
                              <a:avLst/>
                              <a:gdLst>
                                <a:gd name="T0" fmla="*/ 0 w 567"/>
                                <a:gd name="T1" fmla="*/ 0 h 114"/>
                                <a:gd name="T2" fmla="*/ 85 w 567"/>
                                <a:gd name="T3" fmla="*/ 0 h 114"/>
                                <a:gd name="T4" fmla="*/ 85 w 567"/>
                                <a:gd name="T5" fmla="*/ 114 h 114"/>
                                <a:gd name="T6" fmla="*/ 567 w 567"/>
                                <a:gd name="T7" fmla="*/ 114 h 11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</a:cxnLst>
                              <a:rect l="0" t="0" r="r" b="b"/>
                              <a:pathLst>
                                <a:path w="567" h="114">
                                  <a:moveTo>
                                    <a:pt x="0" y="0"/>
                                  </a:moveTo>
                                  <a:lnTo>
                                    <a:pt x="85" y="0"/>
                                  </a:lnTo>
                                  <a:lnTo>
                                    <a:pt x="85" y="114"/>
                                  </a:lnTo>
                                  <a:lnTo>
                                    <a:pt x="567" y="114"/>
                                  </a:lnTo>
                                </a:path>
                              </a:pathLst>
                            </a:cu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8" name="Freeform 30">
                              <a:extLst>
                                <a:ext uri="{FF2B5EF4-FFF2-40B4-BE49-F238E27FC236}">
                                  <a16:creationId xmlns:a16="http://schemas.microsoft.com/office/drawing/2014/main" id="{0F1DB6EF-2D17-7560-7B47-5F264D45FD98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996" y="2445"/>
                              <a:ext cx="567" cy="341"/>
                            </a:xfrm>
                            <a:custGeom>
                              <a:avLst/>
                              <a:gdLst>
                                <a:gd name="T0" fmla="*/ 0 w 567"/>
                                <a:gd name="T1" fmla="*/ 341 h 341"/>
                                <a:gd name="T2" fmla="*/ 85 w 567"/>
                                <a:gd name="T3" fmla="*/ 341 h 341"/>
                                <a:gd name="T4" fmla="*/ 85 w 567"/>
                                <a:gd name="T5" fmla="*/ 0 h 341"/>
                                <a:gd name="T6" fmla="*/ 567 w 567"/>
                                <a:gd name="T7" fmla="*/ 0 h 3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</a:cxnLst>
                              <a:rect l="0" t="0" r="r" b="b"/>
                              <a:pathLst>
                                <a:path w="567" h="341">
                                  <a:moveTo>
                                    <a:pt x="0" y="341"/>
                                  </a:moveTo>
                                  <a:lnTo>
                                    <a:pt x="85" y="341"/>
                                  </a:lnTo>
                                  <a:lnTo>
                                    <a:pt x="85" y="0"/>
                                  </a:lnTo>
                                  <a:lnTo>
                                    <a:pt x="567" y="0"/>
                                  </a:lnTo>
                                </a:path>
                              </a:pathLst>
                            </a:cu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49" name="Rectangle 33">
                              <a:extLst>
                                <a:ext uri="{FF2B5EF4-FFF2-40B4-BE49-F238E27FC236}">
                                  <a16:creationId xmlns:a16="http://schemas.microsoft.com/office/drawing/2014/main" id="{2F5043CD-FD11-F463-63CA-AD57649F29FA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336" y="1461"/>
                              <a:ext cx="128" cy="2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kumimoji="0" lang="zh-CN" altLang="zh-CN" sz="1600" b="0" i="0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+mn-lt"/>
                                  <a:ea typeface="宋体" panose="02010600030101010101" pitchFamily="2" charset="-122"/>
                                </a:rPr>
                                <a:t>A</a:t>
                              </a:r>
                              <a:endParaRPr kumimoji="0" lang="zh-CN" altLang="zh-CN" sz="12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0" name="Rectangle 34">
                              <a:extLst>
                                <a:ext uri="{FF2B5EF4-FFF2-40B4-BE49-F238E27FC236}">
                                  <a16:creationId xmlns:a16="http://schemas.microsoft.com/office/drawing/2014/main" id="{169BE55C-888E-BC3B-A1E4-0158D74C4BF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325" y="2567"/>
                              <a:ext cx="90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lang="en-US" altLang="zh-CN" sz="1600" dirty="0">
                                  <a:solidFill>
                                    <a:srgbClr val="000000"/>
                                  </a:solidFill>
                                  <a:latin typeface="+mn-lt"/>
                                  <a:ea typeface="宋体" panose="02010600030101010101" pitchFamily="2" charset="-122"/>
                                </a:rPr>
                                <a:t>C</a:t>
                              </a:r>
                              <a:endParaRPr kumimoji="0" lang="zh-CN" altLang="zh-CN" sz="12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1" name="Rectangle 35">
                              <a:extLst>
                                <a:ext uri="{FF2B5EF4-FFF2-40B4-BE49-F238E27FC236}">
                                  <a16:creationId xmlns:a16="http://schemas.microsoft.com/office/drawing/2014/main" id="{8EB67F4E-A61E-82EF-2649-184EC573C68F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332" y="1721"/>
                              <a:ext cx="83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lang="en-US" altLang="zh-CN" sz="1600" dirty="0">
                                  <a:solidFill>
                                    <a:srgbClr val="000000"/>
                                  </a:solidFill>
                                  <a:latin typeface="+mn-lt"/>
                                  <a:ea typeface="宋体" panose="02010600030101010101" pitchFamily="2" charset="-122"/>
                                </a:rPr>
                                <a:t>B</a:t>
                              </a:r>
                              <a:endParaRPr kumimoji="0" lang="zh-CN" altLang="zh-CN" sz="12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2" name="Rectangle 36">
                              <a:extLst>
                                <a:ext uri="{FF2B5EF4-FFF2-40B4-BE49-F238E27FC236}">
                                  <a16:creationId xmlns:a16="http://schemas.microsoft.com/office/drawing/2014/main" id="{5E7A3832-073D-1EB7-68EF-2A1CE192D6ED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328" y="2863"/>
                              <a:ext cx="138" cy="2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kumimoji="0" lang="zh-CN" altLang="zh-CN" sz="1600" b="0" i="0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latin typeface="+mn-lt"/>
                                  <a:ea typeface="宋体" panose="02010600030101010101" pitchFamily="2" charset="-122"/>
                                </a:rPr>
                                <a:t>D</a:t>
                              </a:r>
                              <a:endParaRPr kumimoji="0" lang="zh-CN" altLang="zh-CN" sz="12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3" name="Freeform 6">
                              <a:extLst>
                                <a:ext uri="{FF2B5EF4-FFF2-40B4-BE49-F238E27FC236}">
                                  <a16:creationId xmlns:a16="http://schemas.microsoft.com/office/drawing/2014/main" id="{784B4929-BD29-7577-123A-70B9768B6CE7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665" y="1341"/>
                              <a:ext cx="319" cy="637"/>
                            </a:xfrm>
                            <a:custGeom>
                              <a:avLst/>
                              <a:gdLst>
                                <a:gd name="T0" fmla="*/ 0 w 455"/>
                                <a:gd name="T1" fmla="*/ 0 h 909"/>
                                <a:gd name="T2" fmla="*/ 455 w 455"/>
                                <a:gd name="T3" fmla="*/ 228 h 909"/>
                                <a:gd name="T4" fmla="*/ 455 w 455"/>
                                <a:gd name="T5" fmla="*/ 682 h 909"/>
                                <a:gd name="T6" fmla="*/ 0 w 455"/>
                                <a:gd name="T7" fmla="*/ 909 h 909"/>
                                <a:gd name="T8" fmla="*/ 0 w 455"/>
                                <a:gd name="T9" fmla="*/ 568 h 909"/>
                                <a:gd name="T10" fmla="*/ 228 w 455"/>
                                <a:gd name="T11" fmla="*/ 455 h 909"/>
                                <a:gd name="T12" fmla="*/ 0 w 455"/>
                                <a:gd name="T13" fmla="*/ 341 h 909"/>
                                <a:gd name="T14" fmla="*/ 0 w 455"/>
                                <a:gd name="T15" fmla="*/ 0 h 90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455" h="909">
                                  <a:moveTo>
                                    <a:pt x="0" y="0"/>
                                  </a:moveTo>
                                  <a:lnTo>
                                    <a:pt x="455" y="228"/>
                                  </a:lnTo>
                                  <a:lnTo>
                                    <a:pt x="455" y="682"/>
                                  </a:lnTo>
                                  <a:lnTo>
                                    <a:pt x="0" y="909"/>
                                  </a:lnTo>
                                  <a:lnTo>
                                    <a:pt x="0" y="568"/>
                                  </a:lnTo>
                                  <a:lnTo>
                                    <a:pt x="228" y="455"/>
                                  </a:lnTo>
                                  <a:lnTo>
                                    <a:pt x="0" y="341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4" name="Rectangle 18">
                              <a:extLst>
                                <a:ext uri="{FF2B5EF4-FFF2-40B4-BE49-F238E27FC236}">
                                  <a16:creationId xmlns:a16="http://schemas.microsoft.com/office/drawing/2014/main" id="{01F79A95-AB0E-A64D-1230-752F65E456F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 rot="5400000">
                              <a:off x="1797" y="2715"/>
                              <a:ext cx="218" cy="13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vert="horz" wrap="none" lIns="0" tIns="0" rIns="0" bIns="0" numCol="1" anchor="t" anchorCtr="0" compatLnSpc="1">
                              <a:prstTxWarp prst="textNoShape">
                                <a:avLst/>
                              </a:prstTxWarp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1pPr>
                              <a:lvl2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2pPr>
                              <a:lvl3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3pPr>
                              <a:lvl4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4pPr>
                              <a:lvl5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5pPr>
                              <a:lvl6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6pPr>
                              <a:lvl7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7pPr>
                              <a:lvl8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8pPr>
                              <a:lvl9pPr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panose="020B0604020202020204" pitchFamily="34" charset="0"/>
                                </a:defRPr>
                              </a:lvl9pPr>
                            </a:lstStyle>
                            <a:p>
                              <a:pPr marL="0" marR="0" lvl="0" indent="0" algn="l" defTabSz="914400" rtl="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</a:pPr>
                              <a:r>
                                <a:rPr lang="en-US" altLang="zh-CN" sz="1400" dirty="0">
                                  <a:solidFill>
                                    <a:srgbClr val="000000"/>
                                  </a:solidFill>
                                  <a:latin typeface="+mn-lt"/>
                                  <a:ea typeface="宋体" panose="02010600030101010101" pitchFamily="2" charset="-122"/>
                                </a:rPr>
                                <a:t>ADD</a:t>
                              </a:r>
                              <a:endParaRPr kumimoji="0" lang="zh-CN" altLang="zh-CN" sz="14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</a:endParaRPr>
                            </a:p>
                          </p:txBody>
                        </p:sp>
                        <p:sp>
                          <p:nvSpPr>
                            <p:cNvPr id="55" name="Freeform 6">
                              <a:extLst>
                                <a:ext uri="{FF2B5EF4-FFF2-40B4-BE49-F238E27FC236}">
                                  <a16:creationId xmlns:a16="http://schemas.microsoft.com/office/drawing/2014/main" id="{26CCF3CC-00A5-CE81-8248-7901EDFD0E31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1665" y="2462"/>
                              <a:ext cx="319" cy="637"/>
                            </a:xfrm>
                            <a:custGeom>
                              <a:avLst/>
                              <a:gdLst>
                                <a:gd name="T0" fmla="*/ 0 w 455"/>
                                <a:gd name="T1" fmla="*/ 0 h 909"/>
                                <a:gd name="T2" fmla="*/ 455 w 455"/>
                                <a:gd name="T3" fmla="*/ 228 h 909"/>
                                <a:gd name="T4" fmla="*/ 455 w 455"/>
                                <a:gd name="T5" fmla="*/ 682 h 909"/>
                                <a:gd name="T6" fmla="*/ 0 w 455"/>
                                <a:gd name="T7" fmla="*/ 909 h 909"/>
                                <a:gd name="T8" fmla="*/ 0 w 455"/>
                                <a:gd name="T9" fmla="*/ 568 h 909"/>
                                <a:gd name="T10" fmla="*/ 228 w 455"/>
                                <a:gd name="T11" fmla="*/ 455 h 909"/>
                                <a:gd name="T12" fmla="*/ 0 w 455"/>
                                <a:gd name="T13" fmla="*/ 341 h 909"/>
                                <a:gd name="T14" fmla="*/ 0 w 455"/>
                                <a:gd name="T15" fmla="*/ 0 h 90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455" h="909">
                                  <a:moveTo>
                                    <a:pt x="0" y="0"/>
                                  </a:moveTo>
                                  <a:lnTo>
                                    <a:pt x="455" y="228"/>
                                  </a:lnTo>
                                  <a:lnTo>
                                    <a:pt x="455" y="682"/>
                                  </a:lnTo>
                                  <a:lnTo>
                                    <a:pt x="0" y="909"/>
                                  </a:lnTo>
                                  <a:lnTo>
                                    <a:pt x="0" y="568"/>
                                  </a:lnTo>
                                  <a:lnTo>
                                    <a:pt x="228" y="455"/>
                                  </a:lnTo>
                                  <a:lnTo>
                                    <a:pt x="0" y="341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noFill/>
                            <a:ln w="28575" cap="rnd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200">
                                <a:latin typeface="+mn-lt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0" name="Line 24">
                            <a:extLst>
                              <a:ext uri="{FF2B5EF4-FFF2-40B4-BE49-F238E27FC236}">
                                <a16:creationId xmlns:a16="http://schemas.microsoft.com/office/drawing/2014/main" id="{9B7C8750-DD2F-55F2-BD85-E4A47CF5FE2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 flipV="1">
                            <a:off x="5930895" y="3215590"/>
                            <a:ext cx="201867" cy="0"/>
                          </a:xfrm>
                          <a:prstGeom prst="line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>
                              <a:latin typeface="+mn-lt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5" name="组合 34">
                          <a:extLst>
                            <a:ext uri="{FF2B5EF4-FFF2-40B4-BE49-F238E27FC236}">
                              <a16:creationId xmlns:a16="http://schemas.microsoft.com/office/drawing/2014/main" id="{C47663F0-96F4-CCC3-69A7-A04E883212A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306758" y="2783884"/>
                          <a:ext cx="362919" cy="727971"/>
                          <a:chOff x="6796428" y="2398254"/>
                          <a:chExt cx="362919" cy="727971"/>
                        </a:xfrm>
                      </p:grpSpPr>
                      <p:sp>
                        <p:nvSpPr>
                          <p:cNvPr id="36" name="Rectangle 9">
                            <a:extLst>
                              <a:ext uri="{FF2B5EF4-FFF2-40B4-BE49-F238E27FC236}">
                                <a16:creationId xmlns:a16="http://schemas.microsoft.com/office/drawing/2014/main" id="{82879233-0FE4-E349-80C6-DE216C7CD451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6429" y="2398254"/>
                            <a:ext cx="362918" cy="727971"/>
                          </a:xfrm>
                          <a:prstGeom prst="rect">
                            <a:avLst/>
                          </a:prstGeom>
                          <a:solidFill>
                            <a:srgbClr val="E8EEF7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 dirty="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37" name="Rectangle 10">
                            <a:extLst>
                              <a:ext uri="{FF2B5EF4-FFF2-40B4-BE49-F238E27FC236}">
                                <a16:creationId xmlns:a16="http://schemas.microsoft.com/office/drawing/2014/main" id="{A131E084-3FFF-47E1-737B-498F64E21C29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6428" y="2398254"/>
                            <a:ext cx="362918" cy="727971"/>
                          </a:xfrm>
                          <a:prstGeom prst="rect">
                            <a:avLst/>
                          </a:prstGeom>
                          <a:noFill/>
                          <a:ln w="28575" cap="rnd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200" dirty="0">
                              <a:latin typeface="+mn-lt"/>
                            </a:endParaRPr>
                          </a:p>
                        </p:txBody>
                      </p:sp>
                      <p:sp>
                        <p:nvSpPr>
                          <p:cNvPr id="38" name="Rectangle 11">
                            <a:extLst>
                              <a:ext uri="{FF2B5EF4-FFF2-40B4-BE49-F238E27FC236}">
                                <a16:creationId xmlns:a16="http://schemas.microsoft.com/office/drawing/2014/main" id="{DDBB86BB-F2FE-27F0-8CFF-C7676BF709FE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933472" y="2692577"/>
                            <a:ext cx="88828" cy="1505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marL="0" marR="0" lvl="0" indent="0" algn="ctr" defTabSz="914400" rtl="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</a:pPr>
                            <a:r>
                              <a:rPr lang="en-US" altLang="zh-CN" sz="1600" dirty="0">
                                <a:solidFill>
                                  <a:srgbClr val="000000"/>
                                </a:solidFill>
                                <a:latin typeface="+mn-lt"/>
                                <a:ea typeface="宋体" panose="02010600030101010101" pitchFamily="2" charset="-122"/>
                              </a:rPr>
                              <a:t>Y</a:t>
                            </a:r>
                            <a:endParaRPr kumimoji="0" lang="zh-CN" altLang="zh-CN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endParaRPr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3" name="组合 22">
                      <a:extLst>
                        <a:ext uri="{FF2B5EF4-FFF2-40B4-BE49-F238E27FC236}">
                          <a16:creationId xmlns:a16="http://schemas.microsoft.com/office/drawing/2014/main" id="{C761927C-25F5-9A0C-1A2A-B10823AE2A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48393" y="4475740"/>
                      <a:ext cx="449984" cy="854964"/>
                      <a:chOff x="6948393" y="4475740"/>
                      <a:chExt cx="449984" cy="854964"/>
                    </a:xfrm>
                  </p:grpSpPr>
                  <p:sp>
                    <p:nvSpPr>
                      <p:cNvPr id="29" name="Rectangle 9">
                        <a:extLst>
                          <a:ext uri="{FF2B5EF4-FFF2-40B4-BE49-F238E27FC236}">
                            <a16:creationId xmlns:a16="http://schemas.microsoft.com/office/drawing/2014/main" id="{62EEA6B2-1FEE-4E1E-BE27-7E1ADB92E96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948393" y="4475740"/>
                        <a:ext cx="449984" cy="854964"/>
                      </a:xfrm>
                      <a:prstGeom prst="rect">
                        <a:avLst/>
                      </a:prstGeom>
                      <a:solidFill>
                        <a:srgbClr val="E8EEF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30" name="Rectangle 10">
                        <a:extLst>
                          <a:ext uri="{FF2B5EF4-FFF2-40B4-BE49-F238E27FC236}">
                            <a16:creationId xmlns:a16="http://schemas.microsoft.com/office/drawing/2014/main" id="{C58C4F68-F279-4769-02E5-86E9AFBE3A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948393" y="4475740"/>
                        <a:ext cx="449984" cy="854964"/>
                      </a:xfrm>
                      <a:prstGeom prst="rect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</p:grpSp>
                <p:grpSp>
                  <p:nvGrpSpPr>
                    <p:cNvPr id="24" name="组合 23">
                      <a:extLst>
                        <a:ext uri="{FF2B5EF4-FFF2-40B4-BE49-F238E27FC236}">
                          <a16:creationId xmlns:a16="http://schemas.microsoft.com/office/drawing/2014/main" id="{102B526D-911B-6254-AD09-5D156ACDB5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48393" y="3354914"/>
                      <a:ext cx="449984" cy="854964"/>
                      <a:chOff x="7100793" y="4628140"/>
                      <a:chExt cx="449984" cy="854964"/>
                    </a:xfrm>
                  </p:grpSpPr>
                  <p:sp>
                    <p:nvSpPr>
                      <p:cNvPr id="27" name="Rectangle 9">
                        <a:extLst>
                          <a:ext uri="{FF2B5EF4-FFF2-40B4-BE49-F238E27FC236}">
                            <a16:creationId xmlns:a16="http://schemas.microsoft.com/office/drawing/2014/main" id="{9BD6CE07-CED0-9D0C-198F-C6CFF9F1623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100793" y="4628140"/>
                        <a:ext cx="449984" cy="854964"/>
                      </a:xfrm>
                      <a:prstGeom prst="rect">
                        <a:avLst/>
                      </a:prstGeom>
                      <a:solidFill>
                        <a:srgbClr val="E8EEF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  <p:sp>
                    <p:nvSpPr>
                      <p:cNvPr id="28" name="Rectangle 10">
                        <a:extLst>
                          <a:ext uri="{FF2B5EF4-FFF2-40B4-BE49-F238E27FC236}">
                            <a16:creationId xmlns:a16="http://schemas.microsoft.com/office/drawing/2014/main" id="{9F5FF291-98C6-A0BA-CAB0-83EFA9E89F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100793" y="4628140"/>
                        <a:ext cx="449984" cy="854964"/>
                      </a:xfrm>
                      <a:prstGeom prst="rect">
                        <a:avLst/>
                      </a:prstGeom>
                      <a:noFill/>
                      <a:ln w="28575" cap="rnd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zh-CN" altLang="en-US" sz="1200" dirty="0">
                          <a:latin typeface="+mn-lt"/>
                        </a:endParaRPr>
                      </a:p>
                    </p:txBody>
                  </p:sp>
                </p:grpSp>
                <p:sp>
                  <p:nvSpPr>
                    <p:cNvPr id="25" name="文本框 24">
                      <a:extLst>
                        <a:ext uri="{FF2B5EF4-FFF2-40B4-BE49-F238E27FC236}">
                          <a16:creationId xmlns:a16="http://schemas.microsoft.com/office/drawing/2014/main" id="{7BF32E6F-5232-512D-AC90-0176A632DE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07068" y="3620143"/>
                      <a:ext cx="353119" cy="31749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+mn-lt"/>
                          <a:ea typeface="黑体" panose="02010609060101010101" pitchFamily="49" charset="-122"/>
                        </a:rPr>
                        <a:t>T1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6" name="文本框 25">
                      <a:extLst>
                        <a:ext uri="{FF2B5EF4-FFF2-40B4-BE49-F238E27FC236}">
                          <a16:creationId xmlns:a16="http://schemas.microsoft.com/office/drawing/2014/main" id="{CE2E1870-00F3-1E21-A46E-A09252D81A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08515" y="4744476"/>
                      <a:ext cx="353119" cy="31749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+mn-lt"/>
                          <a:ea typeface="黑体" panose="02010609060101010101" pitchFamily="49" charset="-122"/>
                        </a:rPr>
                        <a:t>T2</a:t>
                      </a:r>
                      <a:endParaRPr lang="zh-CN" altLang="en-US" sz="1600" dirty="0">
                        <a:latin typeface="+mn-lt"/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20" name="Line 23">
                    <a:extLst>
                      <a:ext uri="{FF2B5EF4-FFF2-40B4-BE49-F238E27FC236}">
                        <a16:creationId xmlns:a16="http://schemas.microsoft.com/office/drawing/2014/main" id="{D3B856A9-916E-72C8-883A-A4DFFD2FC2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8463346" y="3713024"/>
                    <a:ext cx="0" cy="155931"/>
                  </a:xfrm>
                  <a:prstGeom prst="line">
                    <a:avLst/>
                  </a:prstGeom>
                  <a:noFill/>
                  <a:ln w="28575" cap="rnd">
                    <a:solidFill>
                      <a:srgbClr val="C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 sz="1200" dirty="0">
                      <a:latin typeface="+mn-lt"/>
                    </a:endParaRPr>
                  </a:p>
                </p:txBody>
              </p:sp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5BEBD5F4-AA5F-B205-18BD-595016F81F7F}"/>
                      </a:ext>
                    </a:extLst>
                  </p:cNvPr>
                  <p:cNvSpPr txBox="1"/>
                  <p:nvPr/>
                </p:nvSpPr>
                <p:spPr>
                  <a:xfrm>
                    <a:off x="8435256" y="3567835"/>
                    <a:ext cx="49244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600" dirty="0">
                        <a:solidFill>
                          <a:srgbClr val="C00000"/>
                        </a:solidFill>
                        <a:ea typeface="SimHei" panose="02010609060101010101" pitchFamily="49" charset="-122"/>
                      </a:rPr>
                      <a:t>W3</a:t>
                    </a:r>
                    <a:endParaRPr lang="zh-CN" altLang="en-US" sz="1600" dirty="0">
                      <a:solidFill>
                        <a:srgbClr val="C00000"/>
                      </a:solidFill>
                      <a:ea typeface="SimHei" panose="02010609060101010101" pitchFamily="49" charset="-122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923438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19E25-C783-434F-9554-A771975B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F24B6-71C5-446A-8B4A-A26491DBB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单周期→多周期→流水线</a:t>
            </a:r>
            <a:endParaRPr lang="en-US" altLang="zh-CN" dirty="0"/>
          </a:p>
          <a:p>
            <a:pPr lvl="1"/>
            <a:r>
              <a:rPr lang="zh-CN" altLang="en-US" dirty="0"/>
              <a:t>延时与吞吐率：周期数与时钟周期</a:t>
            </a:r>
          </a:p>
          <a:p>
            <a:pPr lvl="1"/>
            <a:r>
              <a:rPr lang="zh-CN" altLang="en-US" dirty="0"/>
              <a:t>调度（</a:t>
            </a:r>
            <a:r>
              <a:rPr lang="en-US" altLang="zh-CN" dirty="0"/>
              <a:t>Scheduling</a:t>
            </a:r>
            <a:r>
              <a:rPr lang="zh-CN" altLang="en-US" dirty="0"/>
              <a:t>）：操作分配到特定的周期</a:t>
            </a:r>
          </a:p>
          <a:p>
            <a:pPr lvl="1"/>
            <a:r>
              <a:rPr lang="zh-CN" altLang="en-US" dirty="0"/>
              <a:t>资源绑定（</a:t>
            </a:r>
            <a:r>
              <a:rPr lang="en-US" altLang="zh-CN" dirty="0"/>
              <a:t>Binding</a:t>
            </a:r>
            <a:r>
              <a:rPr lang="zh-CN" altLang="en-US" dirty="0"/>
              <a:t>）：操作分配到特定的资源</a:t>
            </a:r>
          </a:p>
          <a:p>
            <a:pPr lvl="2"/>
            <a:r>
              <a:rPr lang="zh-CN" altLang="en-US" dirty="0"/>
              <a:t>寄存器</a:t>
            </a:r>
          </a:p>
          <a:p>
            <a:pPr lvl="2"/>
            <a:r>
              <a:rPr lang="zh-CN" altLang="en-US" dirty="0"/>
              <a:t>运算单元</a:t>
            </a:r>
          </a:p>
          <a:p>
            <a:pPr lvl="1"/>
            <a:r>
              <a:rPr lang="zh-CN" altLang="en-US" dirty="0"/>
              <a:t>资源共享方式：</a:t>
            </a:r>
          </a:p>
          <a:p>
            <a:pPr lvl="2"/>
            <a:r>
              <a:rPr lang="zh-CN" altLang="en-US" dirty="0"/>
              <a:t>时分复用：同一资源在多个时间重复使用</a:t>
            </a:r>
          </a:p>
          <a:p>
            <a:pPr lvl="2"/>
            <a:r>
              <a:rPr lang="zh-CN" altLang="en-US" dirty="0"/>
              <a:t>空分复用：多个资源在同一时间使用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A5C22F-A1D5-4E01-90AB-8F989177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27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DA844C3-DD70-87F2-A9DC-32206854755B}"/>
                  </a:ext>
                </a:extLst>
              </p14:cNvPr>
              <p14:cNvContentPartPr/>
              <p14:nvPr/>
            </p14:nvContentPartPr>
            <p14:xfrm>
              <a:off x="1176120" y="4136040"/>
              <a:ext cx="1694520" cy="891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DA844C3-DD70-87F2-A9DC-3220685475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760" y="4126680"/>
                <a:ext cx="1713240" cy="90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7368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19E25-C783-434F-9554-A771975B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FF24B6-71C5-446A-8B4A-A26491DBB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提高处理器运算速度是处理器设计基本任务之一：</a:t>
                </a:r>
                <a:endParaRPr lang="en-US" altLang="zh-CN" dirty="0"/>
              </a:p>
              <a:p>
                <a:pPr marL="342900" lvl="1" indent="0" algn="ctr">
                  <a:buNone/>
                </a:pPr>
                <a:endParaRPr lang="en-US" altLang="zh-CN" sz="2000" dirty="0">
                  <a:solidFill>
                    <a:schemeClr val="accent2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𝑪𝑷𝑼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执行时间</m:t>
                      </m:r>
                      <m:r>
                        <a:rPr lang="zh-CN" altLang="en-US" b="1" i="0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指令数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𝑪𝑷𝑰</m:t>
                      </m:r>
                      <m:r>
                        <a:rPr lang="en-US" altLang="zh-CN" b="1" i="1" dirty="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b="1" i="1" dirty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sym typeface="Symbol" pitchFamily="18" charset="2"/>
                        </a:rPr>
                        <m:t>时钟周期</m:t>
                      </m:r>
                    </m:oMath>
                  </m:oMathPara>
                </a14:m>
                <a:endParaRPr lang="en-US" altLang="zh-CN" dirty="0">
                  <a:solidFill>
                    <a:srgbClr val="3333FF"/>
                  </a:solidFill>
                  <a:sym typeface="Symbol" pitchFamily="18" charset="2"/>
                </a:endParaRPr>
              </a:p>
              <a:p>
                <a:pPr marL="342900" lvl="1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主要手段：</a:t>
                </a:r>
                <a:endParaRPr lang="en-US" altLang="zh-CN" dirty="0"/>
              </a:p>
              <a:p>
                <a:pPr marL="995363" lvl="1" indent="-533400">
                  <a:defRPr/>
                </a:pPr>
                <a:r>
                  <a:rPr lang="zh-CN" altLang="en-US" dirty="0"/>
                  <a:t>减小指令数 </a:t>
                </a:r>
                <a:endParaRPr lang="en-US" altLang="zh-CN" dirty="0"/>
              </a:p>
              <a:p>
                <a:pPr marL="995363" lvl="1" indent="-533400">
                  <a:defRPr/>
                </a:pPr>
                <a:r>
                  <a:rPr lang="zh-CN" altLang="en-US" dirty="0"/>
                  <a:t>减小时钟周期</a:t>
                </a:r>
                <a:endParaRPr lang="en-US" altLang="zh-CN" dirty="0"/>
              </a:p>
              <a:p>
                <a:pPr marL="995363" lvl="1" indent="-533400">
                  <a:defRPr/>
                </a:pPr>
                <a:r>
                  <a:rPr lang="zh-CN" altLang="en-US" dirty="0"/>
                  <a:t>减小</a:t>
                </a:r>
                <a:r>
                  <a:rPr lang="en-US" altLang="zh-CN" dirty="0"/>
                  <a:t>CPI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dirty="0">
                    <a:sym typeface="Wingdings" panose="05000000000000000000" pitchFamily="2" charset="2"/>
                  </a:rPr>
                  <a:t>指令级并行处理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FF24B6-71C5-446A-8B4A-A26491DBB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750" r="-2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A5C22F-A1D5-4E01-90AB-8F989177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269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19E25-C783-434F-9554-A771975B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F24B6-71C5-446A-8B4A-A26491DBB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458200" cy="5176416"/>
          </a:xfrm>
        </p:spPr>
        <p:txBody>
          <a:bodyPr/>
          <a:lstStyle/>
          <a:p>
            <a:r>
              <a:rPr lang="zh-CN" altLang="en-US" dirty="0"/>
              <a:t>指令级并行处理</a:t>
            </a:r>
            <a:r>
              <a:rPr lang="en-US" altLang="zh-CN" b="0" dirty="0"/>
              <a:t>(ILP,</a:t>
            </a:r>
            <a:r>
              <a:rPr lang="zh-CN" altLang="en-US" b="0" dirty="0"/>
              <a:t> </a:t>
            </a:r>
            <a:r>
              <a:rPr lang="en-US" altLang="zh-CN" b="0" dirty="0"/>
              <a:t>Instruction-Level-Parallelism)</a:t>
            </a:r>
          </a:p>
          <a:p>
            <a:pPr lvl="1"/>
            <a:r>
              <a:rPr lang="zh-CN" altLang="en-US" dirty="0"/>
              <a:t>并行执行多条指令</a:t>
            </a:r>
            <a:endParaRPr lang="en-US" altLang="zh-CN" dirty="0"/>
          </a:p>
          <a:p>
            <a:pPr lvl="1"/>
            <a:r>
              <a:rPr lang="zh-CN" altLang="en-US" dirty="0"/>
              <a:t>目前和将来提高处理器指令执行速度的主要途径之一</a:t>
            </a:r>
            <a:endParaRPr lang="en-US" altLang="zh-CN" dirty="0"/>
          </a:p>
          <a:p>
            <a:r>
              <a:rPr lang="zh-CN" altLang="en-US" dirty="0"/>
              <a:t>基本技术：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3333FF"/>
                </a:solidFill>
              </a:rPr>
              <a:t>流水线</a:t>
            </a:r>
            <a:r>
              <a:rPr lang="en-US" altLang="zh-CN" dirty="0">
                <a:solidFill>
                  <a:srgbClr val="3333FF"/>
                </a:solidFill>
              </a:rPr>
              <a:t>(Pipeline)</a:t>
            </a:r>
            <a:r>
              <a:rPr lang="zh-CN" altLang="en-US" dirty="0">
                <a:solidFill>
                  <a:srgbClr val="3333FF"/>
                </a:solidFill>
              </a:rPr>
              <a:t>：把一条指令的执行过程分解为若干个子过程，每个子过程与其他指令的不同子过程同时进行</a:t>
            </a:r>
          </a:p>
          <a:p>
            <a:pPr lvl="1"/>
            <a:r>
              <a:rPr lang="zh-CN" altLang="en-US" dirty="0"/>
              <a:t>超标量</a:t>
            </a:r>
            <a:r>
              <a:rPr lang="en-US" altLang="zh-CN" dirty="0"/>
              <a:t>(Superscale)</a:t>
            </a:r>
            <a:r>
              <a:rPr lang="zh-CN" altLang="en-US" dirty="0"/>
              <a:t>：设置多个独立的功能部件并行执行指令，确保处理器可以在同一时钟周期内执行多条指令</a:t>
            </a:r>
          </a:p>
          <a:p>
            <a:pPr lvl="1"/>
            <a:r>
              <a:rPr lang="zh-CN" altLang="en-US" dirty="0"/>
              <a:t>超长指令字</a:t>
            </a:r>
            <a:r>
              <a:rPr lang="en-US" altLang="zh-CN" dirty="0"/>
              <a:t>(VLIW)</a:t>
            </a:r>
            <a:r>
              <a:rPr lang="zh-CN" altLang="en-US" dirty="0"/>
              <a:t>：在一条指令中设置多个独立的字段，每个字段可以分别独立地控制各个功能部件并行工作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82DAD3-DE6F-49A7-A844-0EDCF1E8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29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0D12863-5A5A-63FD-0483-97A056757EF1}"/>
                  </a:ext>
                </a:extLst>
              </p14:cNvPr>
              <p14:cNvContentPartPr/>
              <p14:nvPr/>
            </p14:nvContentPartPr>
            <p14:xfrm>
              <a:off x="193320" y="4124880"/>
              <a:ext cx="876960" cy="1675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0D12863-5A5A-63FD-0483-97A056757E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960" y="4115520"/>
                <a:ext cx="895680" cy="16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9747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90348-0EC6-4362-A518-279FDB8D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88ADD-AFE7-45FC-A371-0FA941451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每条指令的执行过程，可以划分为若干步骤</a:t>
            </a:r>
            <a:endParaRPr lang="en-US" altLang="zh-CN" dirty="0"/>
          </a:p>
          <a:p>
            <a:pPr lvl="1"/>
            <a:r>
              <a:rPr lang="zh-CN" altLang="en-US" dirty="0"/>
              <a:t>参考多周期的多个步骤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926A2-255D-4ED8-B3CB-DF1F879C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30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0AAFC39-B584-4510-B364-3A10597F8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83456"/>
              </p:ext>
            </p:extLst>
          </p:nvPr>
        </p:nvGraphicFramePr>
        <p:xfrm>
          <a:off x="144000" y="2788920"/>
          <a:ext cx="8855999" cy="3478954"/>
        </p:xfrm>
        <a:graphic>
          <a:graphicData uri="http://schemas.openxmlformats.org/drawingml/2006/table">
            <a:tbl>
              <a:tblPr firstRow="1" firstCol="1" bandRow="1"/>
              <a:tblGrid>
                <a:gridCol w="1431634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784553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32635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50120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57057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\</a:t>
                      </a:r>
                      <a:r>
                        <a:rPr lang="zh-CN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649392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IR &lt;= MemInst[PC]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PC &lt;= PC+4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649392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 </a:t>
                      </a:r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A &lt;= Reg[IR[25:21]]; B &lt;= Reg[IR[20:16]]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 &lt;= PC + 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signext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宋体" panose="02010600030101010101" pitchFamily="2" charset="-122"/>
                        </a:rPr>
                        <a:t>(IR[15:0]) &lt;&lt; 2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44519" marB="445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1049868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 &lt;= A op B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&lt;= 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 + 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signext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(IR[15:0])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if (A==B) PC&lt;=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PC &lt;= {PC[31:28], IR[25:0], 2’b00}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524935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 &amp; 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Reg[IR[15:11]] &lt;= 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Load: MDR&lt;=MemData[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]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Store: MemData[</a:t>
                      </a:r>
                      <a:r>
                        <a:rPr lang="en-US" sz="1500" b="0" i="0" kern="100" dirty="0" err="1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] &lt;= B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62467">
                <a:tc>
                  <a:txBody>
                    <a:bodyPr/>
                    <a:lstStyle/>
                    <a:p>
                      <a:pPr algn="ctr"/>
                      <a:r>
                        <a:rPr lang="zh-CN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内存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Load: Reg[IR[20:16]]&lt;=MDR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kern="100" dirty="0">
                          <a:effectLst/>
                          <a:latin typeface="Arial" panose="020B0604020202020204" pitchFamily="34" charset="0"/>
                          <a:ea typeface="SimHei" panose="02010609060101010101" pitchFamily="49" charset="-122"/>
                          <a:cs typeface="宋体" panose="02010600030101010101" pitchFamily="2" charset="-122"/>
                        </a:rPr>
                        <a:t> </a:t>
                      </a:r>
                      <a:endParaRPr lang="zh-CN" sz="1700" b="0" i="0" kern="1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16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90348-0EC6-4362-A518-279FDB8D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88ADD-AFE7-45FC-A371-0FA941451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537713" cy="4525963"/>
          </a:xfrm>
        </p:spPr>
        <p:txBody>
          <a:bodyPr/>
          <a:lstStyle/>
          <a:p>
            <a:r>
              <a:rPr lang="zh-CN" altLang="en-US" dirty="0"/>
              <a:t>每条指令的执行过程，可以划分为若干步骤</a:t>
            </a:r>
            <a:endParaRPr lang="en-US" altLang="zh-CN" dirty="0"/>
          </a:p>
          <a:p>
            <a:r>
              <a:rPr kumimoji="1" lang="zh-CN" altLang="en-US" dirty="0"/>
              <a:t>通常，一条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指令包含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个先后处理步骤：</a:t>
            </a:r>
            <a:endParaRPr kumimoji="1" lang="en-US" altLang="zh-CN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Instruction Fetch (IF)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取指，从存储器读取指令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Instruction Decode / Register File (ID/RF)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指令译码、读取寄存器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ALU Execution (EX)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执行运算或计算存储器地址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Memory Data Access (MEM)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访问存储器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Register Write-Back (WB)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将结果写回寄存器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B8E1D7-CE50-4B91-98F1-0F745E07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7E54E2-9196-4E4E-9CA5-789C725C3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51" y="4343910"/>
            <a:ext cx="4747098" cy="200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40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1E93-7966-44EB-9B8F-192C4CF0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20BDD-5493-410A-BF4C-9BB20B744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单周期处理器的指令执行方式：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E78A2E29-D7BC-40FD-B7C1-C5FD3207A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75520"/>
            <a:ext cx="85471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F63675EE-3624-4CF3-878F-AB57A39E1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75520"/>
            <a:ext cx="0" cy="226853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96B72487-EF11-4465-A319-E66A3A12D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938" y="2200461"/>
            <a:ext cx="1008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0" dirty="0">
                <a:ea typeface="SimHei" panose="02010609060101010101" pitchFamily="49" charset="-122"/>
              </a:rPr>
              <a:t>时间</a:t>
            </a:r>
            <a:r>
              <a:rPr lang="en-US" altLang="zh-CN" sz="2000" b="0" dirty="0">
                <a:ea typeface="SimHei" panose="02010609060101010101" pitchFamily="49" charset="-122"/>
              </a:rPr>
              <a:t>t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B04238A-0B58-48EF-8532-B8DAAEE7F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24038"/>
            <a:ext cx="1067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0" dirty="0">
                <a:ea typeface="SimHei" panose="02010609060101010101" pitchFamily="49" charset="-122"/>
              </a:rPr>
              <a:t>指令数</a:t>
            </a:r>
          </a:p>
        </p:txBody>
      </p:sp>
      <p:graphicFrame>
        <p:nvGraphicFramePr>
          <p:cNvPr id="14" name="Group 39">
            <a:extLst>
              <a:ext uri="{FF2B5EF4-FFF2-40B4-BE49-F238E27FC236}">
                <a16:creationId xmlns:a16="http://schemas.microsoft.com/office/drawing/2014/main" id="{581B0082-4F41-4368-BFD5-7F47F4F0CF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076899"/>
              </p:ext>
            </p:extLst>
          </p:nvPr>
        </p:nvGraphicFramePr>
        <p:xfrm>
          <a:off x="457200" y="2675520"/>
          <a:ext cx="2832100" cy="327025"/>
        </p:xfrm>
        <a:graphic>
          <a:graphicData uri="http://schemas.openxmlformats.org/drawingml/2006/table">
            <a:tbl>
              <a:tblPr/>
              <a:tblGrid>
                <a:gridCol w="56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IF 1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ID 1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EX 1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MEM 1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WB 1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9">
            <a:extLst>
              <a:ext uri="{FF2B5EF4-FFF2-40B4-BE49-F238E27FC236}">
                <a16:creationId xmlns:a16="http://schemas.microsoft.com/office/drawing/2014/main" id="{2CEF56FB-51C6-427C-BDCC-DC22DCEEBB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481906"/>
              </p:ext>
            </p:extLst>
          </p:nvPr>
        </p:nvGraphicFramePr>
        <p:xfrm>
          <a:off x="3289300" y="3006174"/>
          <a:ext cx="2832100" cy="327025"/>
        </p:xfrm>
        <a:graphic>
          <a:graphicData uri="http://schemas.openxmlformats.org/drawingml/2006/table">
            <a:tbl>
              <a:tblPr/>
              <a:tblGrid>
                <a:gridCol w="56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IF 2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ID 2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rPr>
                        <a:t>EX 2</a:t>
                      </a:r>
                      <a:endParaRPr kumimoji="0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MEM 2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WB 2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Group 39">
            <a:extLst>
              <a:ext uri="{FF2B5EF4-FFF2-40B4-BE49-F238E27FC236}">
                <a16:creationId xmlns:a16="http://schemas.microsoft.com/office/drawing/2014/main" id="{3D982A84-06CD-49A6-B575-A3FCDFC1D7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8943940"/>
              </p:ext>
            </p:extLst>
          </p:nvPr>
        </p:nvGraphicFramePr>
        <p:xfrm>
          <a:off x="6121400" y="3336374"/>
          <a:ext cx="2832100" cy="327025"/>
        </p:xfrm>
        <a:graphic>
          <a:graphicData uri="http://schemas.openxmlformats.org/drawingml/2006/table">
            <a:tbl>
              <a:tblPr/>
              <a:tblGrid>
                <a:gridCol w="56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IF 3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ID 3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EX 3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MEM 3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rPr>
                        <a:t>WB 3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SimHei" panose="02010609060101010101" pitchFamily="49" charset="-122"/>
                      </a:endParaRPr>
                    </a:p>
                  </a:txBody>
                  <a:tcPr marL="36000" marR="36000" marT="46125" marB="461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B9FF7-220B-4609-AAB1-AEFCDF16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972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1E93-7966-44EB-9B8F-192C4CF0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20BDD-5493-410A-BF4C-9BB20B744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流水线处理器的指令执行方式</a:t>
            </a:r>
            <a:endParaRPr lang="en-US" altLang="zh-CN" dirty="0"/>
          </a:p>
          <a:p>
            <a:r>
              <a:rPr lang="zh-CN" altLang="en-US" dirty="0"/>
              <a:t>流水线并不能减少单条指令的延时，但是可以提高一段时间内处理的总指令数（吞吐率）</a:t>
            </a:r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8AE7D-C14D-4D5B-B501-6858425B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33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E8D6583-0733-42FA-BC31-49132D8C2D8A}"/>
              </a:ext>
            </a:extLst>
          </p:cNvPr>
          <p:cNvGrpSpPr/>
          <p:nvPr/>
        </p:nvGrpSpPr>
        <p:grpSpPr>
          <a:xfrm>
            <a:off x="0" y="2608132"/>
            <a:ext cx="9144000" cy="3223687"/>
            <a:chOff x="0" y="2608132"/>
            <a:chExt cx="9144000" cy="3223687"/>
          </a:xfrm>
        </p:grpSpPr>
        <p:sp>
          <p:nvSpPr>
            <p:cNvPr id="19" name="Line 4">
              <a:extLst>
                <a:ext uri="{FF2B5EF4-FFF2-40B4-BE49-F238E27FC236}">
                  <a16:creationId xmlns:a16="http://schemas.microsoft.com/office/drawing/2014/main" id="{59AD21DE-37EA-4409-A77A-458BA74C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3083191"/>
              <a:ext cx="8547100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">
              <a:extLst>
                <a:ext uri="{FF2B5EF4-FFF2-40B4-BE49-F238E27FC236}">
                  <a16:creationId xmlns:a16="http://schemas.microsoft.com/office/drawing/2014/main" id="{68ADC044-B23D-4742-88F4-6EA514F9C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3083191"/>
              <a:ext cx="0" cy="226853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60E47ECD-EBDD-4E56-BF45-8DC47D288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5938" y="2608132"/>
              <a:ext cx="10080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时间</a:t>
              </a:r>
              <a:r>
                <a:rPr lang="en-US" altLang="zh-CN" sz="2000" b="0" dirty="0">
                  <a:ea typeface="SimHei" panose="02010609060101010101" pitchFamily="49" charset="-122"/>
                </a:rPr>
                <a:t>t</a:t>
              </a:r>
            </a:p>
          </p:txBody>
        </p:sp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id="{C8B5DA98-68A3-4D99-8965-E434E820A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431709"/>
              <a:ext cx="10671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指令数</a:t>
              </a:r>
            </a:p>
          </p:txBody>
        </p:sp>
        <p:graphicFrame>
          <p:nvGraphicFramePr>
            <p:cNvPr id="31" name="Group 39">
              <a:extLst>
                <a:ext uri="{FF2B5EF4-FFF2-40B4-BE49-F238E27FC236}">
                  <a16:creationId xmlns:a16="http://schemas.microsoft.com/office/drawing/2014/main" id="{DEB5C35A-D1D8-4785-948F-5EFC7F2A44E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76158078"/>
                </p:ext>
              </p:extLst>
            </p:nvPr>
          </p:nvGraphicFramePr>
          <p:xfrm>
            <a:off x="457200" y="3083191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2" name="Group 39">
              <a:extLst>
                <a:ext uri="{FF2B5EF4-FFF2-40B4-BE49-F238E27FC236}">
                  <a16:creationId xmlns:a16="http://schemas.microsoft.com/office/drawing/2014/main" id="{B9D73608-A647-4B52-A530-F7800278E04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92153126"/>
                </p:ext>
              </p:extLst>
            </p:nvPr>
          </p:nvGraphicFramePr>
          <p:xfrm>
            <a:off x="1025083" y="3413845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2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3" name="Group 39">
              <a:extLst>
                <a:ext uri="{FF2B5EF4-FFF2-40B4-BE49-F238E27FC236}">
                  <a16:creationId xmlns:a16="http://schemas.microsoft.com/office/drawing/2014/main" id="{69820890-6334-4DB9-8AE9-B9A155E4B74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17699525"/>
                </p:ext>
              </p:extLst>
            </p:nvPr>
          </p:nvGraphicFramePr>
          <p:xfrm>
            <a:off x="1592962" y="3744045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4" name="Group 39">
              <a:extLst>
                <a:ext uri="{FF2B5EF4-FFF2-40B4-BE49-F238E27FC236}">
                  <a16:creationId xmlns:a16="http://schemas.microsoft.com/office/drawing/2014/main" id="{87B48459-1BCF-4582-89B9-73C525829E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03359001"/>
                </p:ext>
              </p:extLst>
            </p:nvPr>
          </p:nvGraphicFramePr>
          <p:xfrm>
            <a:off x="2158793" y="4069746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5" name="Group 39">
              <a:extLst>
                <a:ext uri="{FF2B5EF4-FFF2-40B4-BE49-F238E27FC236}">
                  <a16:creationId xmlns:a16="http://schemas.microsoft.com/office/drawing/2014/main" id="{05FFD323-F417-4A6F-B0EE-56A7C435E1C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9981429"/>
                </p:ext>
              </p:extLst>
            </p:nvPr>
          </p:nvGraphicFramePr>
          <p:xfrm>
            <a:off x="2726676" y="4400400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5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6" name="Group 39">
              <a:extLst>
                <a:ext uri="{FF2B5EF4-FFF2-40B4-BE49-F238E27FC236}">
                  <a16:creationId xmlns:a16="http://schemas.microsoft.com/office/drawing/2014/main" id="{DBA9B4C7-1ACD-48E1-B321-615C7599E0C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3552523"/>
                </p:ext>
              </p:extLst>
            </p:nvPr>
          </p:nvGraphicFramePr>
          <p:xfrm>
            <a:off x="3294555" y="4730600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1951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58818-AA4A-4389-818E-DBA50667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9144000" cy="826958"/>
          </a:xfrm>
        </p:spPr>
        <p:txBody>
          <a:bodyPr/>
          <a:lstStyle/>
          <a:p>
            <a:r>
              <a:rPr lang="zh-CN" altLang="en-US" dirty="0"/>
              <a:t>单周期 </a:t>
            </a:r>
            <a:r>
              <a:rPr lang="en-US" altLang="zh-CN" dirty="0"/>
              <a:t>vs </a:t>
            </a:r>
            <a:r>
              <a:rPr lang="zh-CN" altLang="en-US" dirty="0"/>
              <a:t>多周期 </a:t>
            </a:r>
            <a:r>
              <a:rPr lang="en-US" altLang="zh-CN" dirty="0"/>
              <a:t>vs </a:t>
            </a:r>
            <a:r>
              <a:rPr lang="zh-CN" altLang="en-US" dirty="0"/>
              <a:t>流水线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BC0607-2A49-466F-BC1B-C09EA2D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0DCE3-6672-49E1-94B2-4A896B01B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1" y="3911603"/>
            <a:ext cx="3635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247854EC-A996-4441-9ABE-4E3F4621A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938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D47A00B7-4E17-41B2-B1F7-F6EA38C3D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6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F1478A2C-A766-42A0-90C8-1D8280EFD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3663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44BFD4D5-F57A-4B80-8865-69B95EAF0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863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FEB6C4-3030-4B89-9E97-9AE4DC30F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1" y="3662366"/>
            <a:ext cx="703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1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2E9390-8462-40AF-BF13-24D872839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6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6BD164-20B2-4B19-8F1C-0999F06DC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4564066"/>
            <a:ext cx="158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ED2AA6-3992-44BA-A045-4ECF0F7A8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1D642A-019D-4BFF-9AA1-810825934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8" y="4564066"/>
            <a:ext cx="179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7901B5-8570-4A22-98E4-4B0FD8B2C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1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C93C16-23F8-463A-BAA1-EF914B500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9" y="4564066"/>
            <a:ext cx="239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1B9622-BA75-4844-8878-5FB199EC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4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DE41D5-62B5-4073-9255-D70C9FD9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4" y="4564066"/>
            <a:ext cx="419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18C462-0EB2-4F29-9190-0515E9678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6" y="4521203"/>
            <a:ext cx="654050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E832A2-FDE0-4416-992C-4FFCDF42B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9" y="4564066"/>
            <a:ext cx="3825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WB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430A4D2E-D130-44E7-9220-E9729EC5C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1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D43BF9ED-7D68-44A2-8E85-53EC4E829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3588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C5C77ACA-0D45-482C-B7FD-BA24BBCF5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1526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137BA8E5-F14D-4368-AC21-071A6C0E6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1726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F1761FA-283B-492E-9351-F81DF6796D51}"/>
              </a:ext>
            </a:extLst>
          </p:cNvPr>
          <p:cNvSpPr>
            <a:spLocks noEditPoints="1"/>
          </p:cNvSpPr>
          <p:nvPr/>
        </p:nvSpPr>
        <p:spPr bwMode="auto">
          <a:xfrm>
            <a:off x="2030413" y="3598866"/>
            <a:ext cx="22225" cy="293688"/>
          </a:xfrm>
          <a:custGeom>
            <a:avLst/>
            <a:gdLst>
              <a:gd name="T0" fmla="*/ 14 w 14"/>
              <a:gd name="T1" fmla="*/ 185 h 185"/>
              <a:gd name="T2" fmla="*/ 14 w 14"/>
              <a:gd name="T3" fmla="*/ 171 h 185"/>
              <a:gd name="T4" fmla="*/ 0 w 14"/>
              <a:gd name="T5" fmla="*/ 171 h 185"/>
              <a:gd name="T6" fmla="*/ 0 w 14"/>
              <a:gd name="T7" fmla="*/ 185 h 185"/>
              <a:gd name="T8" fmla="*/ 14 w 14"/>
              <a:gd name="T9" fmla="*/ 185 h 185"/>
              <a:gd name="T10" fmla="*/ 14 w 14"/>
              <a:gd name="T11" fmla="*/ 157 h 185"/>
              <a:gd name="T12" fmla="*/ 14 w 14"/>
              <a:gd name="T13" fmla="*/ 143 h 185"/>
              <a:gd name="T14" fmla="*/ 0 w 14"/>
              <a:gd name="T15" fmla="*/ 143 h 185"/>
              <a:gd name="T16" fmla="*/ 0 w 14"/>
              <a:gd name="T17" fmla="*/ 157 h 185"/>
              <a:gd name="T18" fmla="*/ 14 w 14"/>
              <a:gd name="T19" fmla="*/ 157 h 185"/>
              <a:gd name="T20" fmla="*/ 14 w 14"/>
              <a:gd name="T21" fmla="*/ 129 h 185"/>
              <a:gd name="T22" fmla="*/ 14 w 14"/>
              <a:gd name="T23" fmla="*/ 114 h 185"/>
              <a:gd name="T24" fmla="*/ 0 w 14"/>
              <a:gd name="T25" fmla="*/ 114 h 185"/>
              <a:gd name="T26" fmla="*/ 0 w 14"/>
              <a:gd name="T27" fmla="*/ 129 h 185"/>
              <a:gd name="T28" fmla="*/ 14 w 14"/>
              <a:gd name="T29" fmla="*/ 129 h 185"/>
              <a:gd name="T30" fmla="*/ 14 w 14"/>
              <a:gd name="T31" fmla="*/ 100 h 185"/>
              <a:gd name="T32" fmla="*/ 14 w 14"/>
              <a:gd name="T33" fmla="*/ 86 h 185"/>
              <a:gd name="T34" fmla="*/ 0 w 14"/>
              <a:gd name="T35" fmla="*/ 86 h 185"/>
              <a:gd name="T36" fmla="*/ 0 w 14"/>
              <a:gd name="T37" fmla="*/ 100 h 185"/>
              <a:gd name="T38" fmla="*/ 14 w 14"/>
              <a:gd name="T39" fmla="*/ 100 h 185"/>
              <a:gd name="T40" fmla="*/ 14 w 14"/>
              <a:gd name="T41" fmla="*/ 71 h 185"/>
              <a:gd name="T42" fmla="*/ 14 w 14"/>
              <a:gd name="T43" fmla="*/ 57 h 185"/>
              <a:gd name="T44" fmla="*/ 0 w 14"/>
              <a:gd name="T45" fmla="*/ 57 h 185"/>
              <a:gd name="T46" fmla="*/ 0 w 14"/>
              <a:gd name="T47" fmla="*/ 71 h 185"/>
              <a:gd name="T48" fmla="*/ 14 w 14"/>
              <a:gd name="T49" fmla="*/ 71 h 185"/>
              <a:gd name="T50" fmla="*/ 14 w 14"/>
              <a:gd name="T51" fmla="*/ 43 h 185"/>
              <a:gd name="T52" fmla="*/ 14 w 14"/>
              <a:gd name="T53" fmla="*/ 29 h 185"/>
              <a:gd name="T54" fmla="*/ 0 w 14"/>
              <a:gd name="T55" fmla="*/ 29 h 185"/>
              <a:gd name="T56" fmla="*/ 0 w 14"/>
              <a:gd name="T57" fmla="*/ 43 h 185"/>
              <a:gd name="T58" fmla="*/ 14 w 14"/>
              <a:gd name="T59" fmla="*/ 43 h 185"/>
              <a:gd name="T60" fmla="*/ 14 w 14"/>
              <a:gd name="T61" fmla="*/ 14 h 185"/>
              <a:gd name="T62" fmla="*/ 14 w 14"/>
              <a:gd name="T63" fmla="*/ 0 h 185"/>
              <a:gd name="T64" fmla="*/ 0 w 14"/>
              <a:gd name="T65" fmla="*/ 0 h 185"/>
              <a:gd name="T66" fmla="*/ 0 w 14"/>
              <a:gd name="T67" fmla="*/ 14 h 185"/>
              <a:gd name="T68" fmla="*/ 14 w 14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5">
                <a:moveTo>
                  <a:pt x="14" y="185"/>
                </a:moveTo>
                <a:lnTo>
                  <a:pt x="14" y="171"/>
                </a:lnTo>
                <a:lnTo>
                  <a:pt x="0" y="171"/>
                </a:lnTo>
                <a:lnTo>
                  <a:pt x="0" y="185"/>
                </a:lnTo>
                <a:lnTo>
                  <a:pt x="14" y="185"/>
                </a:lnTo>
                <a:close/>
                <a:moveTo>
                  <a:pt x="14" y="157"/>
                </a:moveTo>
                <a:lnTo>
                  <a:pt x="14" y="143"/>
                </a:lnTo>
                <a:lnTo>
                  <a:pt x="0" y="143"/>
                </a:lnTo>
                <a:lnTo>
                  <a:pt x="0" y="157"/>
                </a:lnTo>
                <a:lnTo>
                  <a:pt x="14" y="157"/>
                </a:lnTo>
                <a:close/>
                <a:moveTo>
                  <a:pt x="14" y="129"/>
                </a:moveTo>
                <a:lnTo>
                  <a:pt x="14" y="114"/>
                </a:lnTo>
                <a:lnTo>
                  <a:pt x="0" y="114"/>
                </a:lnTo>
                <a:lnTo>
                  <a:pt x="0" y="129"/>
                </a:lnTo>
                <a:lnTo>
                  <a:pt x="14" y="129"/>
                </a:lnTo>
                <a:close/>
                <a:moveTo>
                  <a:pt x="14" y="100"/>
                </a:moveTo>
                <a:lnTo>
                  <a:pt x="14" y="86"/>
                </a:lnTo>
                <a:lnTo>
                  <a:pt x="0" y="86"/>
                </a:lnTo>
                <a:lnTo>
                  <a:pt x="0" y="100"/>
                </a:lnTo>
                <a:lnTo>
                  <a:pt x="14" y="100"/>
                </a:lnTo>
                <a:close/>
                <a:moveTo>
                  <a:pt x="14" y="71"/>
                </a:moveTo>
                <a:lnTo>
                  <a:pt x="14" y="57"/>
                </a:lnTo>
                <a:lnTo>
                  <a:pt x="0" y="57"/>
                </a:lnTo>
                <a:lnTo>
                  <a:pt x="0" y="71"/>
                </a:lnTo>
                <a:lnTo>
                  <a:pt x="14" y="71"/>
                </a:lnTo>
                <a:close/>
                <a:moveTo>
                  <a:pt x="14" y="43"/>
                </a:moveTo>
                <a:lnTo>
                  <a:pt x="14" y="29"/>
                </a:lnTo>
                <a:lnTo>
                  <a:pt x="0" y="29"/>
                </a:lnTo>
                <a:lnTo>
                  <a:pt x="0" y="43"/>
                </a:lnTo>
                <a:lnTo>
                  <a:pt x="14" y="43"/>
                </a:lnTo>
                <a:close/>
                <a:moveTo>
                  <a:pt x="14" y="14"/>
                </a:move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28EE26-A5A9-403F-A2FA-F2DE238F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6" y="3662366"/>
            <a:ext cx="703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9483B8E9-BBBE-4318-A75E-79947EC75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51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869EBE04-3171-4759-80BA-C66A974BA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1451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4B2E3E4A-F7B6-4395-B344-76D4CD764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389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702EE5EF-2986-4919-8A55-6C6D9D889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176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6388E2F7-E0F5-4F42-A259-BDF1A42C94DA}"/>
              </a:ext>
            </a:extLst>
          </p:cNvPr>
          <p:cNvSpPr>
            <a:spLocks noEditPoints="1"/>
          </p:cNvSpPr>
          <p:nvPr/>
        </p:nvSpPr>
        <p:spPr bwMode="auto">
          <a:xfrm>
            <a:off x="2708276" y="3598866"/>
            <a:ext cx="23813" cy="293688"/>
          </a:xfrm>
          <a:custGeom>
            <a:avLst/>
            <a:gdLst>
              <a:gd name="T0" fmla="*/ 15 w 15"/>
              <a:gd name="T1" fmla="*/ 185 h 185"/>
              <a:gd name="T2" fmla="*/ 15 w 15"/>
              <a:gd name="T3" fmla="*/ 171 h 185"/>
              <a:gd name="T4" fmla="*/ 0 w 15"/>
              <a:gd name="T5" fmla="*/ 171 h 185"/>
              <a:gd name="T6" fmla="*/ 0 w 15"/>
              <a:gd name="T7" fmla="*/ 185 h 185"/>
              <a:gd name="T8" fmla="*/ 15 w 15"/>
              <a:gd name="T9" fmla="*/ 185 h 185"/>
              <a:gd name="T10" fmla="*/ 15 w 15"/>
              <a:gd name="T11" fmla="*/ 157 h 185"/>
              <a:gd name="T12" fmla="*/ 15 w 15"/>
              <a:gd name="T13" fmla="*/ 143 h 185"/>
              <a:gd name="T14" fmla="*/ 0 w 15"/>
              <a:gd name="T15" fmla="*/ 143 h 185"/>
              <a:gd name="T16" fmla="*/ 0 w 15"/>
              <a:gd name="T17" fmla="*/ 157 h 185"/>
              <a:gd name="T18" fmla="*/ 15 w 15"/>
              <a:gd name="T19" fmla="*/ 157 h 185"/>
              <a:gd name="T20" fmla="*/ 15 w 15"/>
              <a:gd name="T21" fmla="*/ 129 h 185"/>
              <a:gd name="T22" fmla="*/ 15 w 15"/>
              <a:gd name="T23" fmla="*/ 114 h 185"/>
              <a:gd name="T24" fmla="*/ 0 w 15"/>
              <a:gd name="T25" fmla="*/ 114 h 185"/>
              <a:gd name="T26" fmla="*/ 0 w 15"/>
              <a:gd name="T27" fmla="*/ 129 h 185"/>
              <a:gd name="T28" fmla="*/ 15 w 15"/>
              <a:gd name="T29" fmla="*/ 129 h 185"/>
              <a:gd name="T30" fmla="*/ 15 w 15"/>
              <a:gd name="T31" fmla="*/ 100 h 185"/>
              <a:gd name="T32" fmla="*/ 15 w 15"/>
              <a:gd name="T33" fmla="*/ 86 h 185"/>
              <a:gd name="T34" fmla="*/ 0 w 15"/>
              <a:gd name="T35" fmla="*/ 86 h 185"/>
              <a:gd name="T36" fmla="*/ 0 w 15"/>
              <a:gd name="T37" fmla="*/ 100 h 185"/>
              <a:gd name="T38" fmla="*/ 15 w 15"/>
              <a:gd name="T39" fmla="*/ 100 h 185"/>
              <a:gd name="T40" fmla="*/ 15 w 15"/>
              <a:gd name="T41" fmla="*/ 71 h 185"/>
              <a:gd name="T42" fmla="*/ 15 w 15"/>
              <a:gd name="T43" fmla="*/ 57 h 185"/>
              <a:gd name="T44" fmla="*/ 0 w 15"/>
              <a:gd name="T45" fmla="*/ 57 h 185"/>
              <a:gd name="T46" fmla="*/ 0 w 15"/>
              <a:gd name="T47" fmla="*/ 71 h 185"/>
              <a:gd name="T48" fmla="*/ 15 w 15"/>
              <a:gd name="T49" fmla="*/ 71 h 185"/>
              <a:gd name="T50" fmla="*/ 15 w 15"/>
              <a:gd name="T51" fmla="*/ 43 h 185"/>
              <a:gd name="T52" fmla="*/ 15 w 15"/>
              <a:gd name="T53" fmla="*/ 29 h 185"/>
              <a:gd name="T54" fmla="*/ 0 w 15"/>
              <a:gd name="T55" fmla="*/ 29 h 185"/>
              <a:gd name="T56" fmla="*/ 0 w 15"/>
              <a:gd name="T57" fmla="*/ 43 h 185"/>
              <a:gd name="T58" fmla="*/ 15 w 15"/>
              <a:gd name="T59" fmla="*/ 43 h 185"/>
              <a:gd name="T60" fmla="*/ 15 w 15"/>
              <a:gd name="T61" fmla="*/ 14 h 185"/>
              <a:gd name="T62" fmla="*/ 15 w 15"/>
              <a:gd name="T63" fmla="*/ 0 h 185"/>
              <a:gd name="T64" fmla="*/ 0 w 15"/>
              <a:gd name="T65" fmla="*/ 0 h 185"/>
              <a:gd name="T66" fmla="*/ 0 w 15"/>
              <a:gd name="T67" fmla="*/ 14 h 185"/>
              <a:gd name="T68" fmla="*/ 15 w 15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" h="185">
                <a:moveTo>
                  <a:pt x="15" y="185"/>
                </a:moveTo>
                <a:lnTo>
                  <a:pt x="15" y="171"/>
                </a:lnTo>
                <a:lnTo>
                  <a:pt x="0" y="171"/>
                </a:lnTo>
                <a:lnTo>
                  <a:pt x="0" y="185"/>
                </a:lnTo>
                <a:lnTo>
                  <a:pt x="15" y="185"/>
                </a:lnTo>
                <a:close/>
                <a:moveTo>
                  <a:pt x="15" y="157"/>
                </a:moveTo>
                <a:lnTo>
                  <a:pt x="15" y="143"/>
                </a:lnTo>
                <a:lnTo>
                  <a:pt x="0" y="143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9"/>
                </a:moveTo>
                <a:lnTo>
                  <a:pt x="15" y="114"/>
                </a:lnTo>
                <a:lnTo>
                  <a:pt x="0" y="114"/>
                </a:lnTo>
                <a:lnTo>
                  <a:pt x="0" y="129"/>
                </a:lnTo>
                <a:lnTo>
                  <a:pt x="15" y="129"/>
                </a:lnTo>
                <a:close/>
                <a:moveTo>
                  <a:pt x="15" y="100"/>
                </a:moveTo>
                <a:lnTo>
                  <a:pt x="15" y="86"/>
                </a:lnTo>
                <a:lnTo>
                  <a:pt x="0" y="86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9"/>
                </a:lnTo>
                <a:lnTo>
                  <a:pt x="0" y="29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4"/>
                </a:moveTo>
                <a:lnTo>
                  <a:pt x="15" y="0"/>
                </a:lnTo>
                <a:lnTo>
                  <a:pt x="0" y="0"/>
                </a:ln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730C9A-4933-4AAE-8CF2-BC8F920F7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6" y="3662366"/>
            <a:ext cx="7048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3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97DDF4F5-71AB-4DE4-B45F-616ED133D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4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64617569-23B9-4F2D-94E9-8F8570B3D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9314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EEBA5304-F8B0-43CC-BC28-6B0DDF745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8839" y="3952878"/>
            <a:ext cx="320675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A65BA0A9-25B6-4488-82E8-D71684AA1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39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355D908D-D2FE-4AF9-8279-B106CC0EBD8B}"/>
              </a:ext>
            </a:extLst>
          </p:cNvPr>
          <p:cNvSpPr>
            <a:spLocks noEditPoints="1"/>
          </p:cNvSpPr>
          <p:nvPr/>
        </p:nvSpPr>
        <p:spPr bwMode="auto">
          <a:xfrm>
            <a:off x="3387726" y="3598866"/>
            <a:ext cx="22225" cy="293688"/>
          </a:xfrm>
          <a:custGeom>
            <a:avLst/>
            <a:gdLst>
              <a:gd name="T0" fmla="*/ 14 w 14"/>
              <a:gd name="T1" fmla="*/ 185 h 185"/>
              <a:gd name="T2" fmla="*/ 14 w 14"/>
              <a:gd name="T3" fmla="*/ 171 h 185"/>
              <a:gd name="T4" fmla="*/ 0 w 14"/>
              <a:gd name="T5" fmla="*/ 171 h 185"/>
              <a:gd name="T6" fmla="*/ 0 w 14"/>
              <a:gd name="T7" fmla="*/ 185 h 185"/>
              <a:gd name="T8" fmla="*/ 14 w 14"/>
              <a:gd name="T9" fmla="*/ 185 h 185"/>
              <a:gd name="T10" fmla="*/ 14 w 14"/>
              <a:gd name="T11" fmla="*/ 157 h 185"/>
              <a:gd name="T12" fmla="*/ 14 w 14"/>
              <a:gd name="T13" fmla="*/ 143 h 185"/>
              <a:gd name="T14" fmla="*/ 0 w 14"/>
              <a:gd name="T15" fmla="*/ 143 h 185"/>
              <a:gd name="T16" fmla="*/ 0 w 14"/>
              <a:gd name="T17" fmla="*/ 157 h 185"/>
              <a:gd name="T18" fmla="*/ 14 w 14"/>
              <a:gd name="T19" fmla="*/ 157 h 185"/>
              <a:gd name="T20" fmla="*/ 14 w 14"/>
              <a:gd name="T21" fmla="*/ 129 h 185"/>
              <a:gd name="T22" fmla="*/ 14 w 14"/>
              <a:gd name="T23" fmla="*/ 114 h 185"/>
              <a:gd name="T24" fmla="*/ 0 w 14"/>
              <a:gd name="T25" fmla="*/ 114 h 185"/>
              <a:gd name="T26" fmla="*/ 0 w 14"/>
              <a:gd name="T27" fmla="*/ 129 h 185"/>
              <a:gd name="T28" fmla="*/ 14 w 14"/>
              <a:gd name="T29" fmla="*/ 129 h 185"/>
              <a:gd name="T30" fmla="*/ 14 w 14"/>
              <a:gd name="T31" fmla="*/ 100 h 185"/>
              <a:gd name="T32" fmla="*/ 14 w 14"/>
              <a:gd name="T33" fmla="*/ 86 h 185"/>
              <a:gd name="T34" fmla="*/ 0 w 14"/>
              <a:gd name="T35" fmla="*/ 86 h 185"/>
              <a:gd name="T36" fmla="*/ 0 w 14"/>
              <a:gd name="T37" fmla="*/ 100 h 185"/>
              <a:gd name="T38" fmla="*/ 14 w 14"/>
              <a:gd name="T39" fmla="*/ 100 h 185"/>
              <a:gd name="T40" fmla="*/ 14 w 14"/>
              <a:gd name="T41" fmla="*/ 71 h 185"/>
              <a:gd name="T42" fmla="*/ 14 w 14"/>
              <a:gd name="T43" fmla="*/ 57 h 185"/>
              <a:gd name="T44" fmla="*/ 0 w 14"/>
              <a:gd name="T45" fmla="*/ 57 h 185"/>
              <a:gd name="T46" fmla="*/ 0 w 14"/>
              <a:gd name="T47" fmla="*/ 71 h 185"/>
              <a:gd name="T48" fmla="*/ 14 w 14"/>
              <a:gd name="T49" fmla="*/ 71 h 185"/>
              <a:gd name="T50" fmla="*/ 14 w 14"/>
              <a:gd name="T51" fmla="*/ 43 h 185"/>
              <a:gd name="T52" fmla="*/ 14 w 14"/>
              <a:gd name="T53" fmla="*/ 29 h 185"/>
              <a:gd name="T54" fmla="*/ 0 w 14"/>
              <a:gd name="T55" fmla="*/ 29 h 185"/>
              <a:gd name="T56" fmla="*/ 0 w 14"/>
              <a:gd name="T57" fmla="*/ 43 h 185"/>
              <a:gd name="T58" fmla="*/ 14 w 14"/>
              <a:gd name="T59" fmla="*/ 43 h 185"/>
              <a:gd name="T60" fmla="*/ 14 w 14"/>
              <a:gd name="T61" fmla="*/ 14 h 185"/>
              <a:gd name="T62" fmla="*/ 14 w 14"/>
              <a:gd name="T63" fmla="*/ 0 h 185"/>
              <a:gd name="T64" fmla="*/ 0 w 14"/>
              <a:gd name="T65" fmla="*/ 0 h 185"/>
              <a:gd name="T66" fmla="*/ 0 w 14"/>
              <a:gd name="T67" fmla="*/ 14 h 185"/>
              <a:gd name="T68" fmla="*/ 14 w 14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5">
                <a:moveTo>
                  <a:pt x="14" y="185"/>
                </a:moveTo>
                <a:lnTo>
                  <a:pt x="14" y="171"/>
                </a:lnTo>
                <a:lnTo>
                  <a:pt x="0" y="171"/>
                </a:lnTo>
                <a:lnTo>
                  <a:pt x="0" y="185"/>
                </a:lnTo>
                <a:lnTo>
                  <a:pt x="14" y="185"/>
                </a:lnTo>
                <a:close/>
                <a:moveTo>
                  <a:pt x="14" y="157"/>
                </a:moveTo>
                <a:lnTo>
                  <a:pt x="14" y="143"/>
                </a:lnTo>
                <a:lnTo>
                  <a:pt x="0" y="143"/>
                </a:lnTo>
                <a:lnTo>
                  <a:pt x="0" y="157"/>
                </a:lnTo>
                <a:lnTo>
                  <a:pt x="14" y="157"/>
                </a:lnTo>
                <a:close/>
                <a:moveTo>
                  <a:pt x="14" y="129"/>
                </a:moveTo>
                <a:lnTo>
                  <a:pt x="14" y="114"/>
                </a:lnTo>
                <a:lnTo>
                  <a:pt x="0" y="114"/>
                </a:lnTo>
                <a:lnTo>
                  <a:pt x="0" y="129"/>
                </a:lnTo>
                <a:lnTo>
                  <a:pt x="14" y="129"/>
                </a:lnTo>
                <a:close/>
                <a:moveTo>
                  <a:pt x="14" y="100"/>
                </a:moveTo>
                <a:lnTo>
                  <a:pt x="14" y="86"/>
                </a:lnTo>
                <a:lnTo>
                  <a:pt x="0" y="86"/>
                </a:lnTo>
                <a:lnTo>
                  <a:pt x="0" y="100"/>
                </a:lnTo>
                <a:lnTo>
                  <a:pt x="14" y="100"/>
                </a:lnTo>
                <a:close/>
                <a:moveTo>
                  <a:pt x="14" y="71"/>
                </a:moveTo>
                <a:lnTo>
                  <a:pt x="14" y="57"/>
                </a:lnTo>
                <a:lnTo>
                  <a:pt x="0" y="57"/>
                </a:lnTo>
                <a:lnTo>
                  <a:pt x="0" y="71"/>
                </a:lnTo>
                <a:lnTo>
                  <a:pt x="14" y="71"/>
                </a:lnTo>
                <a:close/>
                <a:moveTo>
                  <a:pt x="14" y="43"/>
                </a:moveTo>
                <a:lnTo>
                  <a:pt x="14" y="29"/>
                </a:lnTo>
                <a:lnTo>
                  <a:pt x="0" y="29"/>
                </a:lnTo>
                <a:lnTo>
                  <a:pt x="0" y="43"/>
                </a:lnTo>
                <a:lnTo>
                  <a:pt x="14" y="43"/>
                </a:lnTo>
                <a:close/>
                <a:moveTo>
                  <a:pt x="14" y="14"/>
                </a:move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03E1F9-67EB-426B-BA6F-84DA59264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3662366"/>
            <a:ext cx="703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1BD585A1-D449-4C07-865A-F7B39BFF4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6976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30FB7225-5C91-4464-9E1E-C5623C4774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176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AC56AF64-AB70-495E-8279-A7A18F343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6701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49">
            <a:extLst>
              <a:ext uri="{FF2B5EF4-FFF2-40B4-BE49-F238E27FC236}">
                <a16:creationId xmlns:a16="http://schemas.microsoft.com/office/drawing/2014/main" id="{4BBE7BCA-751A-43C6-A3E7-A4A43D2FD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6901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6C1886C1-5939-4BA4-87F7-008210362598}"/>
              </a:ext>
            </a:extLst>
          </p:cNvPr>
          <p:cNvSpPr>
            <a:spLocks noEditPoints="1"/>
          </p:cNvSpPr>
          <p:nvPr/>
        </p:nvSpPr>
        <p:spPr bwMode="auto">
          <a:xfrm>
            <a:off x="4065589" y="3598866"/>
            <a:ext cx="22225" cy="293688"/>
          </a:xfrm>
          <a:custGeom>
            <a:avLst/>
            <a:gdLst>
              <a:gd name="T0" fmla="*/ 14 w 14"/>
              <a:gd name="T1" fmla="*/ 185 h 185"/>
              <a:gd name="T2" fmla="*/ 14 w 14"/>
              <a:gd name="T3" fmla="*/ 171 h 185"/>
              <a:gd name="T4" fmla="*/ 0 w 14"/>
              <a:gd name="T5" fmla="*/ 171 h 185"/>
              <a:gd name="T6" fmla="*/ 0 w 14"/>
              <a:gd name="T7" fmla="*/ 185 h 185"/>
              <a:gd name="T8" fmla="*/ 14 w 14"/>
              <a:gd name="T9" fmla="*/ 185 h 185"/>
              <a:gd name="T10" fmla="*/ 14 w 14"/>
              <a:gd name="T11" fmla="*/ 157 h 185"/>
              <a:gd name="T12" fmla="*/ 14 w 14"/>
              <a:gd name="T13" fmla="*/ 143 h 185"/>
              <a:gd name="T14" fmla="*/ 0 w 14"/>
              <a:gd name="T15" fmla="*/ 143 h 185"/>
              <a:gd name="T16" fmla="*/ 0 w 14"/>
              <a:gd name="T17" fmla="*/ 157 h 185"/>
              <a:gd name="T18" fmla="*/ 14 w 14"/>
              <a:gd name="T19" fmla="*/ 157 h 185"/>
              <a:gd name="T20" fmla="*/ 14 w 14"/>
              <a:gd name="T21" fmla="*/ 129 h 185"/>
              <a:gd name="T22" fmla="*/ 14 w 14"/>
              <a:gd name="T23" fmla="*/ 114 h 185"/>
              <a:gd name="T24" fmla="*/ 0 w 14"/>
              <a:gd name="T25" fmla="*/ 114 h 185"/>
              <a:gd name="T26" fmla="*/ 0 w 14"/>
              <a:gd name="T27" fmla="*/ 129 h 185"/>
              <a:gd name="T28" fmla="*/ 14 w 14"/>
              <a:gd name="T29" fmla="*/ 129 h 185"/>
              <a:gd name="T30" fmla="*/ 14 w 14"/>
              <a:gd name="T31" fmla="*/ 100 h 185"/>
              <a:gd name="T32" fmla="*/ 14 w 14"/>
              <a:gd name="T33" fmla="*/ 86 h 185"/>
              <a:gd name="T34" fmla="*/ 0 w 14"/>
              <a:gd name="T35" fmla="*/ 86 h 185"/>
              <a:gd name="T36" fmla="*/ 0 w 14"/>
              <a:gd name="T37" fmla="*/ 100 h 185"/>
              <a:gd name="T38" fmla="*/ 14 w 14"/>
              <a:gd name="T39" fmla="*/ 100 h 185"/>
              <a:gd name="T40" fmla="*/ 14 w 14"/>
              <a:gd name="T41" fmla="*/ 71 h 185"/>
              <a:gd name="T42" fmla="*/ 14 w 14"/>
              <a:gd name="T43" fmla="*/ 57 h 185"/>
              <a:gd name="T44" fmla="*/ 0 w 14"/>
              <a:gd name="T45" fmla="*/ 57 h 185"/>
              <a:gd name="T46" fmla="*/ 0 w 14"/>
              <a:gd name="T47" fmla="*/ 71 h 185"/>
              <a:gd name="T48" fmla="*/ 14 w 14"/>
              <a:gd name="T49" fmla="*/ 71 h 185"/>
              <a:gd name="T50" fmla="*/ 14 w 14"/>
              <a:gd name="T51" fmla="*/ 43 h 185"/>
              <a:gd name="T52" fmla="*/ 14 w 14"/>
              <a:gd name="T53" fmla="*/ 29 h 185"/>
              <a:gd name="T54" fmla="*/ 0 w 14"/>
              <a:gd name="T55" fmla="*/ 29 h 185"/>
              <a:gd name="T56" fmla="*/ 0 w 14"/>
              <a:gd name="T57" fmla="*/ 43 h 185"/>
              <a:gd name="T58" fmla="*/ 14 w 14"/>
              <a:gd name="T59" fmla="*/ 43 h 185"/>
              <a:gd name="T60" fmla="*/ 14 w 14"/>
              <a:gd name="T61" fmla="*/ 14 h 185"/>
              <a:gd name="T62" fmla="*/ 14 w 14"/>
              <a:gd name="T63" fmla="*/ 0 h 185"/>
              <a:gd name="T64" fmla="*/ 0 w 14"/>
              <a:gd name="T65" fmla="*/ 0 h 185"/>
              <a:gd name="T66" fmla="*/ 0 w 14"/>
              <a:gd name="T67" fmla="*/ 14 h 185"/>
              <a:gd name="T68" fmla="*/ 14 w 14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5">
                <a:moveTo>
                  <a:pt x="14" y="185"/>
                </a:moveTo>
                <a:lnTo>
                  <a:pt x="14" y="171"/>
                </a:lnTo>
                <a:lnTo>
                  <a:pt x="0" y="171"/>
                </a:lnTo>
                <a:lnTo>
                  <a:pt x="0" y="185"/>
                </a:lnTo>
                <a:lnTo>
                  <a:pt x="14" y="185"/>
                </a:lnTo>
                <a:close/>
                <a:moveTo>
                  <a:pt x="14" y="157"/>
                </a:moveTo>
                <a:lnTo>
                  <a:pt x="14" y="143"/>
                </a:lnTo>
                <a:lnTo>
                  <a:pt x="0" y="143"/>
                </a:lnTo>
                <a:lnTo>
                  <a:pt x="0" y="157"/>
                </a:lnTo>
                <a:lnTo>
                  <a:pt x="14" y="157"/>
                </a:lnTo>
                <a:close/>
                <a:moveTo>
                  <a:pt x="14" y="129"/>
                </a:moveTo>
                <a:lnTo>
                  <a:pt x="14" y="114"/>
                </a:lnTo>
                <a:lnTo>
                  <a:pt x="0" y="114"/>
                </a:lnTo>
                <a:lnTo>
                  <a:pt x="0" y="129"/>
                </a:lnTo>
                <a:lnTo>
                  <a:pt x="14" y="129"/>
                </a:lnTo>
                <a:close/>
                <a:moveTo>
                  <a:pt x="14" y="100"/>
                </a:moveTo>
                <a:lnTo>
                  <a:pt x="14" y="86"/>
                </a:lnTo>
                <a:lnTo>
                  <a:pt x="0" y="86"/>
                </a:lnTo>
                <a:lnTo>
                  <a:pt x="0" y="100"/>
                </a:lnTo>
                <a:lnTo>
                  <a:pt x="14" y="100"/>
                </a:lnTo>
                <a:close/>
                <a:moveTo>
                  <a:pt x="14" y="71"/>
                </a:moveTo>
                <a:lnTo>
                  <a:pt x="14" y="57"/>
                </a:lnTo>
                <a:lnTo>
                  <a:pt x="0" y="57"/>
                </a:lnTo>
                <a:lnTo>
                  <a:pt x="0" y="71"/>
                </a:lnTo>
                <a:lnTo>
                  <a:pt x="14" y="71"/>
                </a:lnTo>
                <a:close/>
                <a:moveTo>
                  <a:pt x="14" y="43"/>
                </a:moveTo>
                <a:lnTo>
                  <a:pt x="14" y="29"/>
                </a:lnTo>
                <a:lnTo>
                  <a:pt x="0" y="29"/>
                </a:lnTo>
                <a:lnTo>
                  <a:pt x="0" y="43"/>
                </a:lnTo>
                <a:lnTo>
                  <a:pt x="14" y="43"/>
                </a:lnTo>
                <a:close/>
                <a:moveTo>
                  <a:pt x="14" y="14"/>
                </a:move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82A926D-C290-47F9-A6DB-57F99FAB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1" y="3662366"/>
            <a:ext cx="703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5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3CDDF0D7-3797-448F-B6B8-88BC96F92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4839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C3ED2185-2BF9-4CD4-B6B4-6E05278256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6627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B944F1B1-4465-42BD-A89A-AC5EB8CB5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4564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C04BC9C7-2998-4E68-83C7-A92209177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4764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E91A8F-9831-4F2C-8FEB-60EAA1314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2" y="3662366"/>
            <a:ext cx="6267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F568D11B-86B8-416B-A9E3-553E6AFA7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289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Line 58">
            <a:extLst>
              <a:ext uri="{FF2B5EF4-FFF2-40B4-BE49-F238E27FC236}">
                <a16:creationId xmlns:a16="http://schemas.microsoft.com/office/drawing/2014/main" id="{D757897F-A4D8-4BFA-A11D-F0A228A6B4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4489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9EFD19E3-D088-4356-9FC7-B92471D83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2427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Line 60">
            <a:extLst>
              <a:ext uri="{FF2B5EF4-FFF2-40B4-BE49-F238E27FC236}">
                <a16:creationId xmlns:a16="http://schemas.microsoft.com/office/drawing/2014/main" id="{19FB7EA9-05D5-4989-8F26-4C3BA8F54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27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D4A17DFD-0BFC-4570-9C7B-C09E48AF627C}"/>
              </a:ext>
            </a:extLst>
          </p:cNvPr>
          <p:cNvSpPr>
            <a:spLocks noEditPoints="1"/>
          </p:cNvSpPr>
          <p:nvPr/>
        </p:nvSpPr>
        <p:spPr bwMode="auto">
          <a:xfrm>
            <a:off x="5421314" y="3598866"/>
            <a:ext cx="23813" cy="293688"/>
          </a:xfrm>
          <a:custGeom>
            <a:avLst/>
            <a:gdLst>
              <a:gd name="T0" fmla="*/ 15 w 15"/>
              <a:gd name="T1" fmla="*/ 185 h 185"/>
              <a:gd name="T2" fmla="*/ 15 w 15"/>
              <a:gd name="T3" fmla="*/ 171 h 185"/>
              <a:gd name="T4" fmla="*/ 0 w 15"/>
              <a:gd name="T5" fmla="*/ 171 h 185"/>
              <a:gd name="T6" fmla="*/ 0 w 15"/>
              <a:gd name="T7" fmla="*/ 185 h 185"/>
              <a:gd name="T8" fmla="*/ 15 w 15"/>
              <a:gd name="T9" fmla="*/ 185 h 185"/>
              <a:gd name="T10" fmla="*/ 15 w 15"/>
              <a:gd name="T11" fmla="*/ 157 h 185"/>
              <a:gd name="T12" fmla="*/ 15 w 15"/>
              <a:gd name="T13" fmla="*/ 143 h 185"/>
              <a:gd name="T14" fmla="*/ 0 w 15"/>
              <a:gd name="T15" fmla="*/ 143 h 185"/>
              <a:gd name="T16" fmla="*/ 0 w 15"/>
              <a:gd name="T17" fmla="*/ 157 h 185"/>
              <a:gd name="T18" fmla="*/ 15 w 15"/>
              <a:gd name="T19" fmla="*/ 157 h 185"/>
              <a:gd name="T20" fmla="*/ 15 w 15"/>
              <a:gd name="T21" fmla="*/ 129 h 185"/>
              <a:gd name="T22" fmla="*/ 15 w 15"/>
              <a:gd name="T23" fmla="*/ 114 h 185"/>
              <a:gd name="T24" fmla="*/ 0 w 15"/>
              <a:gd name="T25" fmla="*/ 114 h 185"/>
              <a:gd name="T26" fmla="*/ 0 w 15"/>
              <a:gd name="T27" fmla="*/ 129 h 185"/>
              <a:gd name="T28" fmla="*/ 15 w 15"/>
              <a:gd name="T29" fmla="*/ 129 h 185"/>
              <a:gd name="T30" fmla="*/ 15 w 15"/>
              <a:gd name="T31" fmla="*/ 100 h 185"/>
              <a:gd name="T32" fmla="*/ 15 w 15"/>
              <a:gd name="T33" fmla="*/ 86 h 185"/>
              <a:gd name="T34" fmla="*/ 0 w 15"/>
              <a:gd name="T35" fmla="*/ 86 h 185"/>
              <a:gd name="T36" fmla="*/ 0 w 15"/>
              <a:gd name="T37" fmla="*/ 100 h 185"/>
              <a:gd name="T38" fmla="*/ 15 w 15"/>
              <a:gd name="T39" fmla="*/ 100 h 185"/>
              <a:gd name="T40" fmla="*/ 15 w 15"/>
              <a:gd name="T41" fmla="*/ 71 h 185"/>
              <a:gd name="T42" fmla="*/ 15 w 15"/>
              <a:gd name="T43" fmla="*/ 57 h 185"/>
              <a:gd name="T44" fmla="*/ 0 w 15"/>
              <a:gd name="T45" fmla="*/ 57 h 185"/>
              <a:gd name="T46" fmla="*/ 0 w 15"/>
              <a:gd name="T47" fmla="*/ 71 h 185"/>
              <a:gd name="T48" fmla="*/ 15 w 15"/>
              <a:gd name="T49" fmla="*/ 71 h 185"/>
              <a:gd name="T50" fmla="*/ 15 w 15"/>
              <a:gd name="T51" fmla="*/ 43 h 185"/>
              <a:gd name="T52" fmla="*/ 15 w 15"/>
              <a:gd name="T53" fmla="*/ 29 h 185"/>
              <a:gd name="T54" fmla="*/ 0 w 15"/>
              <a:gd name="T55" fmla="*/ 29 h 185"/>
              <a:gd name="T56" fmla="*/ 0 w 15"/>
              <a:gd name="T57" fmla="*/ 43 h 185"/>
              <a:gd name="T58" fmla="*/ 15 w 15"/>
              <a:gd name="T59" fmla="*/ 43 h 185"/>
              <a:gd name="T60" fmla="*/ 15 w 15"/>
              <a:gd name="T61" fmla="*/ 14 h 185"/>
              <a:gd name="T62" fmla="*/ 15 w 15"/>
              <a:gd name="T63" fmla="*/ 0 h 185"/>
              <a:gd name="T64" fmla="*/ 0 w 15"/>
              <a:gd name="T65" fmla="*/ 0 h 185"/>
              <a:gd name="T66" fmla="*/ 0 w 15"/>
              <a:gd name="T67" fmla="*/ 14 h 185"/>
              <a:gd name="T68" fmla="*/ 15 w 15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" h="185">
                <a:moveTo>
                  <a:pt x="15" y="185"/>
                </a:moveTo>
                <a:lnTo>
                  <a:pt x="15" y="171"/>
                </a:lnTo>
                <a:lnTo>
                  <a:pt x="0" y="171"/>
                </a:lnTo>
                <a:lnTo>
                  <a:pt x="0" y="185"/>
                </a:lnTo>
                <a:lnTo>
                  <a:pt x="15" y="185"/>
                </a:lnTo>
                <a:close/>
                <a:moveTo>
                  <a:pt x="15" y="157"/>
                </a:moveTo>
                <a:lnTo>
                  <a:pt x="15" y="143"/>
                </a:lnTo>
                <a:lnTo>
                  <a:pt x="0" y="143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9"/>
                </a:moveTo>
                <a:lnTo>
                  <a:pt x="15" y="114"/>
                </a:lnTo>
                <a:lnTo>
                  <a:pt x="0" y="114"/>
                </a:lnTo>
                <a:lnTo>
                  <a:pt x="0" y="129"/>
                </a:lnTo>
                <a:lnTo>
                  <a:pt x="15" y="129"/>
                </a:lnTo>
                <a:close/>
                <a:moveTo>
                  <a:pt x="15" y="100"/>
                </a:moveTo>
                <a:lnTo>
                  <a:pt x="15" y="86"/>
                </a:lnTo>
                <a:lnTo>
                  <a:pt x="0" y="86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9"/>
                </a:lnTo>
                <a:lnTo>
                  <a:pt x="0" y="29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4"/>
                </a:moveTo>
                <a:lnTo>
                  <a:pt x="15" y="0"/>
                </a:lnTo>
                <a:lnTo>
                  <a:pt x="0" y="0"/>
                </a:ln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CBD217-882C-40C2-9336-50BCEC745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4" y="3662366"/>
            <a:ext cx="6267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4" name="Line 63">
            <a:extLst>
              <a:ext uri="{FF2B5EF4-FFF2-40B4-BE49-F238E27FC236}">
                <a16:creationId xmlns:a16="http://schemas.microsoft.com/office/drawing/2014/main" id="{96828D4A-99B2-42B8-AA9D-802D2B533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2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6" name="Line 64">
            <a:extLst>
              <a:ext uri="{FF2B5EF4-FFF2-40B4-BE49-F238E27FC236}">
                <a16:creationId xmlns:a16="http://schemas.microsoft.com/office/drawing/2014/main" id="{FC0CBF2A-9742-4965-9D01-D3F8D80D96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2352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7" name="Line 65">
            <a:extLst>
              <a:ext uri="{FF2B5EF4-FFF2-40B4-BE49-F238E27FC236}">
                <a16:creationId xmlns:a16="http://schemas.microsoft.com/office/drawing/2014/main" id="{6F87E9AA-23A9-42B4-8B52-90F89B21D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0289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8" name="Line 66">
            <a:extLst>
              <a:ext uri="{FF2B5EF4-FFF2-40B4-BE49-F238E27FC236}">
                <a16:creationId xmlns:a16="http://schemas.microsoft.com/office/drawing/2014/main" id="{765F2B2B-1420-4DAD-B90B-42A6A8FEE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077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" name="Freeform 67">
            <a:extLst>
              <a:ext uri="{FF2B5EF4-FFF2-40B4-BE49-F238E27FC236}">
                <a16:creationId xmlns:a16="http://schemas.microsoft.com/office/drawing/2014/main" id="{C87D00A7-11C3-4553-855D-18ABCCD47DE2}"/>
              </a:ext>
            </a:extLst>
          </p:cNvPr>
          <p:cNvSpPr>
            <a:spLocks noEditPoints="1"/>
          </p:cNvSpPr>
          <p:nvPr/>
        </p:nvSpPr>
        <p:spPr bwMode="auto">
          <a:xfrm>
            <a:off x="6099177" y="3598866"/>
            <a:ext cx="23813" cy="293688"/>
          </a:xfrm>
          <a:custGeom>
            <a:avLst/>
            <a:gdLst>
              <a:gd name="T0" fmla="*/ 15 w 15"/>
              <a:gd name="T1" fmla="*/ 185 h 185"/>
              <a:gd name="T2" fmla="*/ 15 w 15"/>
              <a:gd name="T3" fmla="*/ 171 h 185"/>
              <a:gd name="T4" fmla="*/ 0 w 15"/>
              <a:gd name="T5" fmla="*/ 171 h 185"/>
              <a:gd name="T6" fmla="*/ 0 w 15"/>
              <a:gd name="T7" fmla="*/ 185 h 185"/>
              <a:gd name="T8" fmla="*/ 15 w 15"/>
              <a:gd name="T9" fmla="*/ 185 h 185"/>
              <a:gd name="T10" fmla="*/ 15 w 15"/>
              <a:gd name="T11" fmla="*/ 157 h 185"/>
              <a:gd name="T12" fmla="*/ 15 w 15"/>
              <a:gd name="T13" fmla="*/ 143 h 185"/>
              <a:gd name="T14" fmla="*/ 0 w 15"/>
              <a:gd name="T15" fmla="*/ 143 h 185"/>
              <a:gd name="T16" fmla="*/ 0 w 15"/>
              <a:gd name="T17" fmla="*/ 157 h 185"/>
              <a:gd name="T18" fmla="*/ 15 w 15"/>
              <a:gd name="T19" fmla="*/ 157 h 185"/>
              <a:gd name="T20" fmla="*/ 15 w 15"/>
              <a:gd name="T21" fmla="*/ 129 h 185"/>
              <a:gd name="T22" fmla="*/ 15 w 15"/>
              <a:gd name="T23" fmla="*/ 114 h 185"/>
              <a:gd name="T24" fmla="*/ 0 w 15"/>
              <a:gd name="T25" fmla="*/ 114 h 185"/>
              <a:gd name="T26" fmla="*/ 0 w 15"/>
              <a:gd name="T27" fmla="*/ 129 h 185"/>
              <a:gd name="T28" fmla="*/ 15 w 15"/>
              <a:gd name="T29" fmla="*/ 129 h 185"/>
              <a:gd name="T30" fmla="*/ 15 w 15"/>
              <a:gd name="T31" fmla="*/ 100 h 185"/>
              <a:gd name="T32" fmla="*/ 15 w 15"/>
              <a:gd name="T33" fmla="*/ 86 h 185"/>
              <a:gd name="T34" fmla="*/ 0 w 15"/>
              <a:gd name="T35" fmla="*/ 86 h 185"/>
              <a:gd name="T36" fmla="*/ 0 w 15"/>
              <a:gd name="T37" fmla="*/ 100 h 185"/>
              <a:gd name="T38" fmla="*/ 15 w 15"/>
              <a:gd name="T39" fmla="*/ 100 h 185"/>
              <a:gd name="T40" fmla="*/ 15 w 15"/>
              <a:gd name="T41" fmla="*/ 71 h 185"/>
              <a:gd name="T42" fmla="*/ 15 w 15"/>
              <a:gd name="T43" fmla="*/ 57 h 185"/>
              <a:gd name="T44" fmla="*/ 0 w 15"/>
              <a:gd name="T45" fmla="*/ 57 h 185"/>
              <a:gd name="T46" fmla="*/ 0 w 15"/>
              <a:gd name="T47" fmla="*/ 71 h 185"/>
              <a:gd name="T48" fmla="*/ 15 w 15"/>
              <a:gd name="T49" fmla="*/ 71 h 185"/>
              <a:gd name="T50" fmla="*/ 15 w 15"/>
              <a:gd name="T51" fmla="*/ 43 h 185"/>
              <a:gd name="T52" fmla="*/ 15 w 15"/>
              <a:gd name="T53" fmla="*/ 29 h 185"/>
              <a:gd name="T54" fmla="*/ 0 w 15"/>
              <a:gd name="T55" fmla="*/ 29 h 185"/>
              <a:gd name="T56" fmla="*/ 0 w 15"/>
              <a:gd name="T57" fmla="*/ 43 h 185"/>
              <a:gd name="T58" fmla="*/ 15 w 15"/>
              <a:gd name="T59" fmla="*/ 43 h 185"/>
              <a:gd name="T60" fmla="*/ 15 w 15"/>
              <a:gd name="T61" fmla="*/ 14 h 185"/>
              <a:gd name="T62" fmla="*/ 15 w 15"/>
              <a:gd name="T63" fmla="*/ 0 h 185"/>
              <a:gd name="T64" fmla="*/ 0 w 15"/>
              <a:gd name="T65" fmla="*/ 0 h 185"/>
              <a:gd name="T66" fmla="*/ 0 w 15"/>
              <a:gd name="T67" fmla="*/ 14 h 185"/>
              <a:gd name="T68" fmla="*/ 15 w 15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" h="185">
                <a:moveTo>
                  <a:pt x="15" y="185"/>
                </a:moveTo>
                <a:lnTo>
                  <a:pt x="15" y="171"/>
                </a:lnTo>
                <a:lnTo>
                  <a:pt x="0" y="171"/>
                </a:lnTo>
                <a:lnTo>
                  <a:pt x="0" y="185"/>
                </a:lnTo>
                <a:lnTo>
                  <a:pt x="15" y="185"/>
                </a:lnTo>
                <a:close/>
                <a:moveTo>
                  <a:pt x="15" y="157"/>
                </a:moveTo>
                <a:lnTo>
                  <a:pt x="15" y="143"/>
                </a:lnTo>
                <a:lnTo>
                  <a:pt x="0" y="143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9"/>
                </a:moveTo>
                <a:lnTo>
                  <a:pt x="15" y="114"/>
                </a:lnTo>
                <a:lnTo>
                  <a:pt x="0" y="114"/>
                </a:lnTo>
                <a:lnTo>
                  <a:pt x="0" y="129"/>
                </a:lnTo>
                <a:lnTo>
                  <a:pt x="15" y="129"/>
                </a:lnTo>
                <a:close/>
                <a:moveTo>
                  <a:pt x="15" y="100"/>
                </a:moveTo>
                <a:lnTo>
                  <a:pt x="15" y="86"/>
                </a:lnTo>
                <a:lnTo>
                  <a:pt x="0" y="86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9"/>
                </a:lnTo>
                <a:lnTo>
                  <a:pt x="0" y="29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4"/>
                </a:moveTo>
                <a:lnTo>
                  <a:pt x="15" y="0"/>
                </a:lnTo>
                <a:lnTo>
                  <a:pt x="0" y="0"/>
                </a:ln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0" name="Rectangle 68">
            <a:extLst>
              <a:ext uri="{FF2B5EF4-FFF2-40B4-BE49-F238E27FC236}">
                <a16:creationId xmlns:a16="http://schemas.microsoft.com/office/drawing/2014/main" id="{BC7AB477-31B7-4F82-857F-FFF2475BB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7" y="3662366"/>
            <a:ext cx="6267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1" name="Line 69">
            <a:extLst>
              <a:ext uri="{FF2B5EF4-FFF2-40B4-BE49-F238E27FC236}">
                <a16:creationId xmlns:a16="http://schemas.microsoft.com/office/drawing/2014/main" id="{68F74F86-B88C-424E-8167-2DB2522A2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0014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2" name="Line 70">
            <a:extLst>
              <a:ext uri="{FF2B5EF4-FFF2-40B4-BE49-F238E27FC236}">
                <a16:creationId xmlns:a16="http://schemas.microsoft.com/office/drawing/2014/main" id="{D4840258-3042-4BE5-8AC9-80C1403AF2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0215" y="3935416"/>
            <a:ext cx="0" cy="2286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3" name="Line 71">
            <a:extLst>
              <a:ext uri="{FF2B5EF4-FFF2-40B4-BE49-F238E27FC236}">
                <a16:creationId xmlns:a16="http://schemas.microsoft.com/office/drawing/2014/main" id="{4FF7FA0F-DDF9-4A57-ABA9-31004B592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9740" y="39528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4" name="Line 72">
            <a:extLst>
              <a:ext uri="{FF2B5EF4-FFF2-40B4-BE49-F238E27FC236}">
                <a16:creationId xmlns:a16="http://schemas.microsoft.com/office/drawing/2014/main" id="{7D8C73C8-2F71-4EBE-BB87-8F4B8E5E2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40" y="3960816"/>
            <a:ext cx="0" cy="1778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5" name="Freeform 73">
            <a:extLst>
              <a:ext uri="{FF2B5EF4-FFF2-40B4-BE49-F238E27FC236}">
                <a16:creationId xmlns:a16="http://schemas.microsoft.com/office/drawing/2014/main" id="{7F0D943F-C912-4A74-8675-3D776CA08C35}"/>
              </a:ext>
            </a:extLst>
          </p:cNvPr>
          <p:cNvSpPr>
            <a:spLocks noEditPoints="1"/>
          </p:cNvSpPr>
          <p:nvPr/>
        </p:nvSpPr>
        <p:spPr bwMode="auto">
          <a:xfrm>
            <a:off x="6778627" y="3598866"/>
            <a:ext cx="22225" cy="293688"/>
          </a:xfrm>
          <a:custGeom>
            <a:avLst/>
            <a:gdLst>
              <a:gd name="T0" fmla="*/ 14 w 14"/>
              <a:gd name="T1" fmla="*/ 185 h 185"/>
              <a:gd name="T2" fmla="*/ 14 w 14"/>
              <a:gd name="T3" fmla="*/ 171 h 185"/>
              <a:gd name="T4" fmla="*/ 0 w 14"/>
              <a:gd name="T5" fmla="*/ 171 h 185"/>
              <a:gd name="T6" fmla="*/ 0 w 14"/>
              <a:gd name="T7" fmla="*/ 185 h 185"/>
              <a:gd name="T8" fmla="*/ 14 w 14"/>
              <a:gd name="T9" fmla="*/ 185 h 185"/>
              <a:gd name="T10" fmla="*/ 14 w 14"/>
              <a:gd name="T11" fmla="*/ 157 h 185"/>
              <a:gd name="T12" fmla="*/ 14 w 14"/>
              <a:gd name="T13" fmla="*/ 143 h 185"/>
              <a:gd name="T14" fmla="*/ 0 w 14"/>
              <a:gd name="T15" fmla="*/ 143 h 185"/>
              <a:gd name="T16" fmla="*/ 0 w 14"/>
              <a:gd name="T17" fmla="*/ 157 h 185"/>
              <a:gd name="T18" fmla="*/ 14 w 14"/>
              <a:gd name="T19" fmla="*/ 157 h 185"/>
              <a:gd name="T20" fmla="*/ 14 w 14"/>
              <a:gd name="T21" fmla="*/ 129 h 185"/>
              <a:gd name="T22" fmla="*/ 14 w 14"/>
              <a:gd name="T23" fmla="*/ 114 h 185"/>
              <a:gd name="T24" fmla="*/ 0 w 14"/>
              <a:gd name="T25" fmla="*/ 114 h 185"/>
              <a:gd name="T26" fmla="*/ 0 w 14"/>
              <a:gd name="T27" fmla="*/ 129 h 185"/>
              <a:gd name="T28" fmla="*/ 14 w 14"/>
              <a:gd name="T29" fmla="*/ 129 h 185"/>
              <a:gd name="T30" fmla="*/ 14 w 14"/>
              <a:gd name="T31" fmla="*/ 100 h 185"/>
              <a:gd name="T32" fmla="*/ 14 w 14"/>
              <a:gd name="T33" fmla="*/ 86 h 185"/>
              <a:gd name="T34" fmla="*/ 0 w 14"/>
              <a:gd name="T35" fmla="*/ 86 h 185"/>
              <a:gd name="T36" fmla="*/ 0 w 14"/>
              <a:gd name="T37" fmla="*/ 100 h 185"/>
              <a:gd name="T38" fmla="*/ 14 w 14"/>
              <a:gd name="T39" fmla="*/ 100 h 185"/>
              <a:gd name="T40" fmla="*/ 14 w 14"/>
              <a:gd name="T41" fmla="*/ 71 h 185"/>
              <a:gd name="T42" fmla="*/ 14 w 14"/>
              <a:gd name="T43" fmla="*/ 57 h 185"/>
              <a:gd name="T44" fmla="*/ 0 w 14"/>
              <a:gd name="T45" fmla="*/ 57 h 185"/>
              <a:gd name="T46" fmla="*/ 0 w 14"/>
              <a:gd name="T47" fmla="*/ 71 h 185"/>
              <a:gd name="T48" fmla="*/ 14 w 14"/>
              <a:gd name="T49" fmla="*/ 71 h 185"/>
              <a:gd name="T50" fmla="*/ 14 w 14"/>
              <a:gd name="T51" fmla="*/ 43 h 185"/>
              <a:gd name="T52" fmla="*/ 14 w 14"/>
              <a:gd name="T53" fmla="*/ 29 h 185"/>
              <a:gd name="T54" fmla="*/ 0 w 14"/>
              <a:gd name="T55" fmla="*/ 29 h 185"/>
              <a:gd name="T56" fmla="*/ 0 w 14"/>
              <a:gd name="T57" fmla="*/ 43 h 185"/>
              <a:gd name="T58" fmla="*/ 14 w 14"/>
              <a:gd name="T59" fmla="*/ 43 h 185"/>
              <a:gd name="T60" fmla="*/ 14 w 14"/>
              <a:gd name="T61" fmla="*/ 14 h 185"/>
              <a:gd name="T62" fmla="*/ 14 w 14"/>
              <a:gd name="T63" fmla="*/ 0 h 185"/>
              <a:gd name="T64" fmla="*/ 0 w 14"/>
              <a:gd name="T65" fmla="*/ 0 h 185"/>
              <a:gd name="T66" fmla="*/ 0 w 14"/>
              <a:gd name="T67" fmla="*/ 14 h 185"/>
              <a:gd name="T68" fmla="*/ 14 w 14"/>
              <a:gd name="T69" fmla="*/ 14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5">
                <a:moveTo>
                  <a:pt x="14" y="185"/>
                </a:moveTo>
                <a:lnTo>
                  <a:pt x="14" y="171"/>
                </a:lnTo>
                <a:lnTo>
                  <a:pt x="0" y="171"/>
                </a:lnTo>
                <a:lnTo>
                  <a:pt x="0" y="185"/>
                </a:lnTo>
                <a:lnTo>
                  <a:pt x="14" y="185"/>
                </a:lnTo>
                <a:close/>
                <a:moveTo>
                  <a:pt x="14" y="157"/>
                </a:moveTo>
                <a:lnTo>
                  <a:pt x="14" y="143"/>
                </a:lnTo>
                <a:lnTo>
                  <a:pt x="0" y="143"/>
                </a:lnTo>
                <a:lnTo>
                  <a:pt x="0" y="157"/>
                </a:lnTo>
                <a:lnTo>
                  <a:pt x="14" y="157"/>
                </a:lnTo>
                <a:close/>
                <a:moveTo>
                  <a:pt x="14" y="129"/>
                </a:moveTo>
                <a:lnTo>
                  <a:pt x="14" y="114"/>
                </a:lnTo>
                <a:lnTo>
                  <a:pt x="0" y="114"/>
                </a:lnTo>
                <a:lnTo>
                  <a:pt x="0" y="129"/>
                </a:lnTo>
                <a:lnTo>
                  <a:pt x="14" y="129"/>
                </a:lnTo>
                <a:close/>
                <a:moveTo>
                  <a:pt x="14" y="100"/>
                </a:moveTo>
                <a:lnTo>
                  <a:pt x="14" y="86"/>
                </a:lnTo>
                <a:lnTo>
                  <a:pt x="0" y="86"/>
                </a:lnTo>
                <a:lnTo>
                  <a:pt x="0" y="100"/>
                </a:lnTo>
                <a:lnTo>
                  <a:pt x="14" y="100"/>
                </a:lnTo>
                <a:close/>
                <a:moveTo>
                  <a:pt x="14" y="71"/>
                </a:moveTo>
                <a:lnTo>
                  <a:pt x="14" y="57"/>
                </a:lnTo>
                <a:lnTo>
                  <a:pt x="0" y="57"/>
                </a:lnTo>
                <a:lnTo>
                  <a:pt x="0" y="71"/>
                </a:lnTo>
                <a:lnTo>
                  <a:pt x="14" y="71"/>
                </a:lnTo>
                <a:close/>
                <a:moveTo>
                  <a:pt x="14" y="43"/>
                </a:moveTo>
                <a:lnTo>
                  <a:pt x="14" y="29"/>
                </a:lnTo>
                <a:lnTo>
                  <a:pt x="0" y="29"/>
                </a:lnTo>
                <a:lnTo>
                  <a:pt x="0" y="43"/>
                </a:lnTo>
                <a:lnTo>
                  <a:pt x="14" y="43"/>
                </a:lnTo>
                <a:close/>
                <a:moveTo>
                  <a:pt x="14" y="14"/>
                </a:move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6" name="Rectangle 74">
            <a:extLst>
              <a:ext uri="{FF2B5EF4-FFF2-40B4-BE49-F238E27FC236}">
                <a16:creationId xmlns:a16="http://schemas.microsoft.com/office/drawing/2014/main" id="{6222779E-FC14-4873-A0AC-8F5F7B26A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7" y="3662366"/>
            <a:ext cx="6267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7" name="Line 75">
            <a:extLst>
              <a:ext uri="{FF2B5EF4-FFF2-40B4-BE49-F238E27FC236}">
                <a16:creationId xmlns:a16="http://schemas.microsoft.com/office/drawing/2014/main" id="{86690363-FBAC-422C-BF69-0928D1542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7877" y="4156078"/>
            <a:ext cx="322263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4" name="Rectangle 82">
            <a:extLst>
              <a:ext uri="{FF2B5EF4-FFF2-40B4-BE49-F238E27FC236}">
                <a16:creationId xmlns:a16="http://schemas.microsoft.com/office/drawing/2014/main" id="{7F84B87E-C76B-487C-9C84-6721B064E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6" y="5627691"/>
            <a:ext cx="279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lw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5" name="Rectangle 83">
            <a:extLst>
              <a:ext uri="{FF2B5EF4-FFF2-40B4-BE49-F238E27FC236}">
                <a16:creationId xmlns:a16="http://schemas.microsoft.com/office/drawing/2014/main" id="{874A49C8-DF4E-4F93-943A-82F940AB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6" y="5580066"/>
            <a:ext cx="660400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6" name="Rectangle 84">
            <a:extLst>
              <a:ext uri="{FF2B5EF4-FFF2-40B4-BE49-F238E27FC236}">
                <a16:creationId xmlns:a16="http://schemas.microsoft.com/office/drawing/2014/main" id="{5A0BEA19-4E10-43B1-9002-DAEB489B8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5624516"/>
            <a:ext cx="158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7" name="Rectangle 85">
            <a:extLst>
              <a:ext uri="{FF2B5EF4-FFF2-40B4-BE49-F238E27FC236}">
                <a16:creationId xmlns:a16="http://schemas.microsoft.com/office/drawing/2014/main" id="{A8CB2937-92F4-4A19-84C6-C43539FD1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5580066"/>
            <a:ext cx="660400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8" name="Rectangle 86">
            <a:extLst>
              <a:ext uri="{FF2B5EF4-FFF2-40B4-BE49-F238E27FC236}">
                <a16:creationId xmlns:a16="http://schemas.microsoft.com/office/drawing/2014/main" id="{9E14BBE4-1103-458A-B487-429E68AA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5624516"/>
            <a:ext cx="179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9" name="Rectangle 87">
            <a:extLst>
              <a:ext uri="{FF2B5EF4-FFF2-40B4-BE49-F238E27FC236}">
                <a16:creationId xmlns:a16="http://schemas.microsoft.com/office/drawing/2014/main" id="{CD840DC8-C6FE-42F0-9E7D-0733853D4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5580066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0" name="Rectangle 88">
            <a:extLst>
              <a:ext uri="{FF2B5EF4-FFF2-40B4-BE49-F238E27FC236}">
                <a16:creationId xmlns:a16="http://schemas.microsoft.com/office/drawing/2014/main" id="{181B7C50-733A-49CD-AD72-C45AFC3A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9" y="5624516"/>
            <a:ext cx="239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1" name="Rectangle 89">
            <a:extLst>
              <a:ext uri="{FF2B5EF4-FFF2-40B4-BE49-F238E27FC236}">
                <a16:creationId xmlns:a16="http://schemas.microsoft.com/office/drawing/2014/main" id="{74F26E68-841F-4FE1-9835-3C91F5CD3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4" y="5580066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2" name="Rectangle 90">
            <a:extLst>
              <a:ext uri="{FF2B5EF4-FFF2-40B4-BE49-F238E27FC236}">
                <a16:creationId xmlns:a16="http://schemas.microsoft.com/office/drawing/2014/main" id="{1078CEA5-D50D-4914-8CFD-06A0BD0D1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1" y="5624516"/>
            <a:ext cx="419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3" name="Rectangle 91">
            <a:extLst>
              <a:ext uri="{FF2B5EF4-FFF2-40B4-BE49-F238E27FC236}">
                <a16:creationId xmlns:a16="http://schemas.microsoft.com/office/drawing/2014/main" id="{BA9BBDF6-E67C-4697-A1E1-C33330FED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6" y="5580066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4" name="Rectangle 92">
            <a:extLst>
              <a:ext uri="{FF2B5EF4-FFF2-40B4-BE49-F238E27FC236}">
                <a16:creationId xmlns:a16="http://schemas.microsoft.com/office/drawing/2014/main" id="{CE578073-0174-407F-8197-297FB1B6D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676" y="5624516"/>
            <a:ext cx="381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WB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5" name="Rectangle 93">
            <a:extLst>
              <a:ext uri="{FF2B5EF4-FFF2-40B4-BE49-F238E27FC236}">
                <a16:creationId xmlns:a16="http://schemas.microsoft.com/office/drawing/2014/main" id="{0178FA96-BCC7-4AFB-8B6B-323001A0D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7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6" name="Rectangle 94">
            <a:extLst>
              <a:ext uri="{FF2B5EF4-FFF2-40B4-BE49-F238E27FC236}">
                <a16:creationId xmlns:a16="http://schemas.microsoft.com/office/drawing/2014/main" id="{4F310EAA-B531-4047-8964-B11522F09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9" y="4564066"/>
            <a:ext cx="158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" name="Rectangle 95">
            <a:extLst>
              <a:ext uri="{FF2B5EF4-FFF2-40B4-BE49-F238E27FC236}">
                <a16:creationId xmlns:a16="http://schemas.microsoft.com/office/drawing/2014/main" id="{A2D4AA8B-9A40-42AC-A21F-40888B7BD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9889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8" name="Rectangle 96">
            <a:extLst>
              <a:ext uri="{FF2B5EF4-FFF2-40B4-BE49-F238E27FC236}">
                <a16:creationId xmlns:a16="http://schemas.microsoft.com/office/drawing/2014/main" id="{116BCFB0-85A8-4119-9574-C86B4897C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2" y="4564066"/>
            <a:ext cx="179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" name="Rectangle 97">
            <a:extLst>
              <a:ext uri="{FF2B5EF4-FFF2-40B4-BE49-F238E27FC236}">
                <a16:creationId xmlns:a16="http://schemas.microsoft.com/office/drawing/2014/main" id="{3D16CB45-0534-4D2F-BA01-2E2E9B26E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2" y="4521203"/>
            <a:ext cx="652463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0" name="Rectangle 98">
            <a:extLst>
              <a:ext uri="{FF2B5EF4-FFF2-40B4-BE49-F238E27FC236}">
                <a16:creationId xmlns:a16="http://schemas.microsoft.com/office/drawing/2014/main" id="{A4EA35B6-5502-4FE0-B7CA-50147E37E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39" y="4564066"/>
            <a:ext cx="239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" name="Rectangle 99">
            <a:extLst>
              <a:ext uri="{FF2B5EF4-FFF2-40B4-BE49-F238E27FC236}">
                <a16:creationId xmlns:a16="http://schemas.microsoft.com/office/drawing/2014/main" id="{1BF835C7-062F-41CB-89B0-F92CB1B9A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5" y="4521203"/>
            <a:ext cx="654050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2" name="Rectangle 100">
            <a:extLst>
              <a:ext uri="{FF2B5EF4-FFF2-40B4-BE49-F238E27FC236}">
                <a16:creationId xmlns:a16="http://schemas.microsoft.com/office/drawing/2014/main" id="{0E2DC9E7-358F-40FF-91DF-CA70AB7F4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5" y="4564066"/>
            <a:ext cx="419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3" name="Rectangle 101">
            <a:extLst>
              <a:ext uri="{FF2B5EF4-FFF2-40B4-BE49-F238E27FC236}">
                <a16:creationId xmlns:a16="http://schemas.microsoft.com/office/drawing/2014/main" id="{5E9FE940-C412-4672-B3FE-16277AED8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4292603"/>
            <a:ext cx="279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lw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4" name="Rectangle 102">
            <a:extLst>
              <a:ext uri="{FF2B5EF4-FFF2-40B4-BE49-F238E27FC236}">
                <a16:creationId xmlns:a16="http://schemas.microsoft.com/office/drawing/2014/main" id="{61405659-A5D3-41A5-ABB1-208A34DB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4" y="4292603"/>
            <a:ext cx="322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7" name="Rectangle 105">
            <a:extLst>
              <a:ext uri="{FF2B5EF4-FFF2-40B4-BE49-F238E27FC236}">
                <a16:creationId xmlns:a16="http://schemas.microsoft.com/office/drawing/2014/main" id="{1DE6A31D-6609-4A28-80B6-EAB037523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5988053"/>
            <a:ext cx="660400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8" name="Rectangle 106">
            <a:extLst>
              <a:ext uri="{FF2B5EF4-FFF2-40B4-BE49-F238E27FC236}">
                <a16:creationId xmlns:a16="http://schemas.microsoft.com/office/drawing/2014/main" id="{67E4ABE2-73FC-41D1-A219-FFB2856F0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6029328"/>
            <a:ext cx="158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9" name="Rectangle 107">
            <a:extLst>
              <a:ext uri="{FF2B5EF4-FFF2-40B4-BE49-F238E27FC236}">
                <a16:creationId xmlns:a16="http://schemas.microsoft.com/office/drawing/2014/main" id="{3CA1BAE2-93F3-4FA2-B52A-38C322EC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5988053"/>
            <a:ext cx="661988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" name="Rectangle 108">
            <a:extLst>
              <a:ext uri="{FF2B5EF4-FFF2-40B4-BE49-F238E27FC236}">
                <a16:creationId xmlns:a16="http://schemas.microsoft.com/office/drawing/2014/main" id="{FC734471-9B26-4E08-B950-0B0B81D6E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1" y="6029328"/>
            <a:ext cx="179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" name="Rectangle 109">
            <a:extLst>
              <a:ext uri="{FF2B5EF4-FFF2-40B4-BE49-F238E27FC236}">
                <a16:creationId xmlns:a16="http://schemas.microsoft.com/office/drawing/2014/main" id="{B0E3E66B-EA81-4256-B531-6BB229BF4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4" y="5988053"/>
            <a:ext cx="661988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2" name="Rectangle 110">
            <a:extLst>
              <a:ext uri="{FF2B5EF4-FFF2-40B4-BE49-F238E27FC236}">
                <a16:creationId xmlns:a16="http://schemas.microsoft.com/office/drawing/2014/main" id="{7A08EEB3-2427-47A8-A5E3-80CD77B67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039" y="6029328"/>
            <a:ext cx="239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3" name="Rectangle 111">
            <a:extLst>
              <a:ext uri="{FF2B5EF4-FFF2-40B4-BE49-F238E27FC236}">
                <a16:creationId xmlns:a16="http://schemas.microsoft.com/office/drawing/2014/main" id="{A30207F9-E2AB-4F16-A962-44C77EEB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6" y="5988053"/>
            <a:ext cx="661988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4" name="Rectangle 112">
            <a:extLst>
              <a:ext uri="{FF2B5EF4-FFF2-40B4-BE49-F238E27FC236}">
                <a16:creationId xmlns:a16="http://schemas.microsoft.com/office/drawing/2014/main" id="{A348C440-B8FA-49AC-B0B9-8D3153728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4" y="6029328"/>
            <a:ext cx="419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5" name="Rectangle 113">
            <a:extLst>
              <a:ext uri="{FF2B5EF4-FFF2-40B4-BE49-F238E27FC236}">
                <a16:creationId xmlns:a16="http://schemas.microsoft.com/office/drawing/2014/main" id="{80A113AA-7137-4918-A904-4428E5557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7" y="5988053"/>
            <a:ext cx="660400" cy="254000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6" name="Rectangle 114">
            <a:extLst>
              <a:ext uri="{FF2B5EF4-FFF2-40B4-BE49-F238E27FC236}">
                <a16:creationId xmlns:a16="http://schemas.microsoft.com/office/drawing/2014/main" id="{4C9C7ED9-B797-4D66-8A9B-1B318C39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9" y="6029328"/>
            <a:ext cx="3000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WB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7" name="Rectangle 115">
            <a:extLst>
              <a:ext uri="{FF2B5EF4-FFF2-40B4-BE49-F238E27FC236}">
                <a16:creationId xmlns:a16="http://schemas.microsoft.com/office/drawing/2014/main" id="{6841F254-0BDA-44CE-BF2C-D7088D9F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6037266"/>
            <a:ext cx="322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8" name="Freeform 116">
            <a:extLst>
              <a:ext uri="{FF2B5EF4-FFF2-40B4-BE49-F238E27FC236}">
                <a16:creationId xmlns:a16="http://schemas.microsoft.com/office/drawing/2014/main" id="{A20120EE-695A-4C0C-B253-942895A98E87}"/>
              </a:ext>
            </a:extLst>
          </p:cNvPr>
          <p:cNvSpPr>
            <a:spLocks noEditPoints="1"/>
          </p:cNvSpPr>
          <p:nvPr/>
        </p:nvSpPr>
        <p:spPr bwMode="auto">
          <a:xfrm>
            <a:off x="1335088" y="2247903"/>
            <a:ext cx="23813" cy="3595688"/>
          </a:xfrm>
          <a:custGeom>
            <a:avLst/>
            <a:gdLst>
              <a:gd name="T0" fmla="*/ 15 w 15"/>
              <a:gd name="T1" fmla="*/ 2222 h 2265"/>
              <a:gd name="T2" fmla="*/ 0 w 15"/>
              <a:gd name="T3" fmla="*/ 2208 h 2265"/>
              <a:gd name="T4" fmla="*/ 15 w 15"/>
              <a:gd name="T5" fmla="*/ 2151 h 2265"/>
              <a:gd name="T6" fmla="*/ 0 w 15"/>
              <a:gd name="T7" fmla="*/ 2108 h 2265"/>
              <a:gd name="T8" fmla="*/ 15 w 15"/>
              <a:gd name="T9" fmla="*/ 2094 h 2265"/>
              <a:gd name="T10" fmla="*/ 15 w 15"/>
              <a:gd name="T11" fmla="*/ 2023 h 2265"/>
              <a:gd name="T12" fmla="*/ 0 w 15"/>
              <a:gd name="T13" fmla="*/ 2009 h 2265"/>
              <a:gd name="T14" fmla="*/ 15 w 15"/>
              <a:gd name="T15" fmla="*/ 1952 h 2265"/>
              <a:gd name="T16" fmla="*/ 0 w 15"/>
              <a:gd name="T17" fmla="*/ 1909 h 2265"/>
              <a:gd name="T18" fmla="*/ 15 w 15"/>
              <a:gd name="T19" fmla="*/ 1895 h 2265"/>
              <a:gd name="T20" fmla="*/ 15 w 15"/>
              <a:gd name="T21" fmla="*/ 1824 h 2265"/>
              <a:gd name="T22" fmla="*/ 0 w 15"/>
              <a:gd name="T23" fmla="*/ 1809 h 2265"/>
              <a:gd name="T24" fmla="*/ 15 w 15"/>
              <a:gd name="T25" fmla="*/ 1752 h 2265"/>
              <a:gd name="T26" fmla="*/ 0 w 15"/>
              <a:gd name="T27" fmla="*/ 1709 h 2265"/>
              <a:gd name="T28" fmla="*/ 15 w 15"/>
              <a:gd name="T29" fmla="*/ 1695 h 2265"/>
              <a:gd name="T30" fmla="*/ 15 w 15"/>
              <a:gd name="T31" fmla="*/ 1624 h 2265"/>
              <a:gd name="T32" fmla="*/ 0 w 15"/>
              <a:gd name="T33" fmla="*/ 1610 h 2265"/>
              <a:gd name="T34" fmla="*/ 15 w 15"/>
              <a:gd name="T35" fmla="*/ 1553 h 2265"/>
              <a:gd name="T36" fmla="*/ 0 w 15"/>
              <a:gd name="T37" fmla="*/ 1510 h 2265"/>
              <a:gd name="T38" fmla="*/ 15 w 15"/>
              <a:gd name="T39" fmla="*/ 1496 h 2265"/>
              <a:gd name="T40" fmla="*/ 15 w 15"/>
              <a:gd name="T41" fmla="*/ 1425 h 2265"/>
              <a:gd name="T42" fmla="*/ 0 w 15"/>
              <a:gd name="T43" fmla="*/ 1410 h 2265"/>
              <a:gd name="T44" fmla="*/ 15 w 15"/>
              <a:gd name="T45" fmla="*/ 1354 h 2265"/>
              <a:gd name="T46" fmla="*/ 0 w 15"/>
              <a:gd name="T47" fmla="*/ 1311 h 2265"/>
              <a:gd name="T48" fmla="*/ 15 w 15"/>
              <a:gd name="T49" fmla="*/ 1296 h 2265"/>
              <a:gd name="T50" fmla="*/ 15 w 15"/>
              <a:gd name="T51" fmla="*/ 1225 h 2265"/>
              <a:gd name="T52" fmla="*/ 0 w 15"/>
              <a:gd name="T53" fmla="*/ 1211 h 2265"/>
              <a:gd name="T54" fmla="*/ 15 w 15"/>
              <a:gd name="T55" fmla="*/ 1154 h 2265"/>
              <a:gd name="T56" fmla="*/ 0 w 15"/>
              <a:gd name="T57" fmla="*/ 1111 h 2265"/>
              <a:gd name="T58" fmla="*/ 15 w 15"/>
              <a:gd name="T59" fmla="*/ 1097 h 2265"/>
              <a:gd name="T60" fmla="*/ 15 w 15"/>
              <a:gd name="T61" fmla="*/ 1026 h 2265"/>
              <a:gd name="T62" fmla="*/ 0 w 15"/>
              <a:gd name="T63" fmla="*/ 1012 h 2265"/>
              <a:gd name="T64" fmla="*/ 15 w 15"/>
              <a:gd name="T65" fmla="*/ 955 h 2265"/>
              <a:gd name="T66" fmla="*/ 0 w 15"/>
              <a:gd name="T67" fmla="*/ 912 h 2265"/>
              <a:gd name="T68" fmla="*/ 15 w 15"/>
              <a:gd name="T69" fmla="*/ 897 h 2265"/>
              <a:gd name="T70" fmla="*/ 15 w 15"/>
              <a:gd name="T71" fmla="*/ 826 h 2265"/>
              <a:gd name="T72" fmla="*/ 0 w 15"/>
              <a:gd name="T73" fmla="*/ 812 h 2265"/>
              <a:gd name="T74" fmla="*/ 15 w 15"/>
              <a:gd name="T75" fmla="*/ 755 h 2265"/>
              <a:gd name="T76" fmla="*/ 0 w 15"/>
              <a:gd name="T77" fmla="*/ 712 h 2265"/>
              <a:gd name="T78" fmla="*/ 15 w 15"/>
              <a:gd name="T79" fmla="*/ 698 h 2265"/>
              <a:gd name="T80" fmla="*/ 15 w 15"/>
              <a:gd name="T81" fmla="*/ 627 h 2265"/>
              <a:gd name="T82" fmla="*/ 0 w 15"/>
              <a:gd name="T83" fmla="*/ 613 h 2265"/>
              <a:gd name="T84" fmla="*/ 15 w 15"/>
              <a:gd name="T85" fmla="*/ 556 h 2265"/>
              <a:gd name="T86" fmla="*/ 0 w 15"/>
              <a:gd name="T87" fmla="*/ 513 h 2265"/>
              <a:gd name="T88" fmla="*/ 15 w 15"/>
              <a:gd name="T89" fmla="*/ 499 h 2265"/>
              <a:gd name="T90" fmla="*/ 15 w 15"/>
              <a:gd name="T91" fmla="*/ 427 h 2265"/>
              <a:gd name="T92" fmla="*/ 0 w 15"/>
              <a:gd name="T93" fmla="*/ 413 h 2265"/>
              <a:gd name="T94" fmla="*/ 15 w 15"/>
              <a:gd name="T95" fmla="*/ 356 h 2265"/>
              <a:gd name="T96" fmla="*/ 0 w 15"/>
              <a:gd name="T97" fmla="*/ 313 h 2265"/>
              <a:gd name="T98" fmla="*/ 15 w 15"/>
              <a:gd name="T99" fmla="*/ 299 h 2265"/>
              <a:gd name="T100" fmla="*/ 15 w 15"/>
              <a:gd name="T101" fmla="*/ 228 h 2265"/>
              <a:gd name="T102" fmla="*/ 0 w 15"/>
              <a:gd name="T103" fmla="*/ 214 h 2265"/>
              <a:gd name="T104" fmla="*/ 15 w 15"/>
              <a:gd name="T105" fmla="*/ 157 h 2265"/>
              <a:gd name="T106" fmla="*/ 0 w 15"/>
              <a:gd name="T107" fmla="*/ 114 h 2265"/>
              <a:gd name="T108" fmla="*/ 15 w 15"/>
              <a:gd name="T109" fmla="*/ 100 h 2265"/>
              <a:gd name="T110" fmla="*/ 15 w 15"/>
              <a:gd name="T111" fmla="*/ 29 h 2265"/>
              <a:gd name="T112" fmla="*/ 0 w 15"/>
              <a:gd name="T113" fmla="*/ 14 h 2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" h="2265">
                <a:moveTo>
                  <a:pt x="15" y="2265"/>
                </a:moveTo>
                <a:lnTo>
                  <a:pt x="15" y="2251"/>
                </a:lnTo>
                <a:lnTo>
                  <a:pt x="0" y="2251"/>
                </a:lnTo>
                <a:lnTo>
                  <a:pt x="0" y="2265"/>
                </a:lnTo>
                <a:lnTo>
                  <a:pt x="15" y="2265"/>
                </a:lnTo>
                <a:close/>
                <a:moveTo>
                  <a:pt x="15" y="2237"/>
                </a:moveTo>
                <a:lnTo>
                  <a:pt x="15" y="2222"/>
                </a:lnTo>
                <a:lnTo>
                  <a:pt x="0" y="2222"/>
                </a:lnTo>
                <a:lnTo>
                  <a:pt x="0" y="2237"/>
                </a:lnTo>
                <a:lnTo>
                  <a:pt x="15" y="2237"/>
                </a:lnTo>
                <a:close/>
                <a:moveTo>
                  <a:pt x="15" y="2208"/>
                </a:moveTo>
                <a:lnTo>
                  <a:pt x="15" y="2194"/>
                </a:lnTo>
                <a:lnTo>
                  <a:pt x="0" y="2194"/>
                </a:lnTo>
                <a:lnTo>
                  <a:pt x="0" y="2208"/>
                </a:lnTo>
                <a:lnTo>
                  <a:pt x="15" y="2208"/>
                </a:lnTo>
                <a:close/>
                <a:moveTo>
                  <a:pt x="15" y="2180"/>
                </a:moveTo>
                <a:lnTo>
                  <a:pt x="15" y="2166"/>
                </a:lnTo>
                <a:lnTo>
                  <a:pt x="0" y="2166"/>
                </a:lnTo>
                <a:lnTo>
                  <a:pt x="0" y="2180"/>
                </a:lnTo>
                <a:lnTo>
                  <a:pt x="15" y="2180"/>
                </a:lnTo>
                <a:close/>
                <a:moveTo>
                  <a:pt x="15" y="2151"/>
                </a:moveTo>
                <a:lnTo>
                  <a:pt x="15" y="2137"/>
                </a:lnTo>
                <a:lnTo>
                  <a:pt x="0" y="2137"/>
                </a:lnTo>
                <a:lnTo>
                  <a:pt x="0" y="2151"/>
                </a:lnTo>
                <a:lnTo>
                  <a:pt x="15" y="2151"/>
                </a:lnTo>
                <a:close/>
                <a:moveTo>
                  <a:pt x="15" y="2123"/>
                </a:moveTo>
                <a:lnTo>
                  <a:pt x="15" y="2108"/>
                </a:lnTo>
                <a:lnTo>
                  <a:pt x="0" y="2108"/>
                </a:lnTo>
                <a:lnTo>
                  <a:pt x="0" y="2123"/>
                </a:lnTo>
                <a:lnTo>
                  <a:pt x="15" y="2123"/>
                </a:lnTo>
                <a:close/>
                <a:moveTo>
                  <a:pt x="15" y="2094"/>
                </a:moveTo>
                <a:lnTo>
                  <a:pt x="15" y="2080"/>
                </a:lnTo>
                <a:lnTo>
                  <a:pt x="0" y="2080"/>
                </a:lnTo>
                <a:lnTo>
                  <a:pt x="0" y="2094"/>
                </a:lnTo>
                <a:lnTo>
                  <a:pt x="15" y="2094"/>
                </a:lnTo>
                <a:close/>
                <a:moveTo>
                  <a:pt x="15" y="2066"/>
                </a:moveTo>
                <a:lnTo>
                  <a:pt x="15" y="2051"/>
                </a:lnTo>
                <a:lnTo>
                  <a:pt x="0" y="2051"/>
                </a:lnTo>
                <a:lnTo>
                  <a:pt x="0" y="2066"/>
                </a:lnTo>
                <a:lnTo>
                  <a:pt x="15" y="2066"/>
                </a:lnTo>
                <a:close/>
                <a:moveTo>
                  <a:pt x="15" y="2037"/>
                </a:moveTo>
                <a:lnTo>
                  <a:pt x="15" y="2023"/>
                </a:lnTo>
                <a:lnTo>
                  <a:pt x="0" y="2023"/>
                </a:lnTo>
                <a:lnTo>
                  <a:pt x="0" y="2037"/>
                </a:lnTo>
                <a:lnTo>
                  <a:pt x="15" y="2037"/>
                </a:lnTo>
                <a:close/>
                <a:moveTo>
                  <a:pt x="15" y="2009"/>
                </a:moveTo>
                <a:lnTo>
                  <a:pt x="15" y="1995"/>
                </a:lnTo>
                <a:lnTo>
                  <a:pt x="0" y="1995"/>
                </a:lnTo>
                <a:lnTo>
                  <a:pt x="0" y="2009"/>
                </a:lnTo>
                <a:lnTo>
                  <a:pt x="15" y="2009"/>
                </a:lnTo>
                <a:close/>
                <a:moveTo>
                  <a:pt x="15" y="1980"/>
                </a:moveTo>
                <a:lnTo>
                  <a:pt x="15" y="1966"/>
                </a:lnTo>
                <a:lnTo>
                  <a:pt x="0" y="1966"/>
                </a:lnTo>
                <a:lnTo>
                  <a:pt x="0" y="1980"/>
                </a:lnTo>
                <a:lnTo>
                  <a:pt x="15" y="1980"/>
                </a:lnTo>
                <a:close/>
                <a:moveTo>
                  <a:pt x="15" y="1952"/>
                </a:moveTo>
                <a:lnTo>
                  <a:pt x="15" y="1938"/>
                </a:lnTo>
                <a:lnTo>
                  <a:pt x="0" y="1938"/>
                </a:lnTo>
                <a:lnTo>
                  <a:pt x="0" y="1952"/>
                </a:lnTo>
                <a:lnTo>
                  <a:pt x="15" y="1952"/>
                </a:lnTo>
                <a:close/>
                <a:moveTo>
                  <a:pt x="15" y="1923"/>
                </a:moveTo>
                <a:lnTo>
                  <a:pt x="15" y="1909"/>
                </a:lnTo>
                <a:lnTo>
                  <a:pt x="0" y="1909"/>
                </a:lnTo>
                <a:lnTo>
                  <a:pt x="0" y="1923"/>
                </a:lnTo>
                <a:lnTo>
                  <a:pt x="15" y="1923"/>
                </a:lnTo>
                <a:close/>
                <a:moveTo>
                  <a:pt x="15" y="1895"/>
                </a:moveTo>
                <a:lnTo>
                  <a:pt x="15" y="1880"/>
                </a:lnTo>
                <a:lnTo>
                  <a:pt x="0" y="1880"/>
                </a:lnTo>
                <a:lnTo>
                  <a:pt x="0" y="1895"/>
                </a:lnTo>
                <a:lnTo>
                  <a:pt x="15" y="1895"/>
                </a:lnTo>
                <a:close/>
                <a:moveTo>
                  <a:pt x="15" y="1866"/>
                </a:moveTo>
                <a:lnTo>
                  <a:pt x="15" y="1852"/>
                </a:lnTo>
                <a:lnTo>
                  <a:pt x="0" y="1852"/>
                </a:lnTo>
                <a:lnTo>
                  <a:pt x="0" y="1866"/>
                </a:lnTo>
                <a:lnTo>
                  <a:pt x="15" y="1866"/>
                </a:lnTo>
                <a:close/>
                <a:moveTo>
                  <a:pt x="15" y="1838"/>
                </a:moveTo>
                <a:lnTo>
                  <a:pt x="15" y="1824"/>
                </a:lnTo>
                <a:lnTo>
                  <a:pt x="0" y="1824"/>
                </a:lnTo>
                <a:lnTo>
                  <a:pt x="0" y="1838"/>
                </a:lnTo>
                <a:lnTo>
                  <a:pt x="15" y="1838"/>
                </a:lnTo>
                <a:close/>
                <a:moveTo>
                  <a:pt x="15" y="1809"/>
                </a:moveTo>
                <a:lnTo>
                  <a:pt x="15" y="1795"/>
                </a:lnTo>
                <a:lnTo>
                  <a:pt x="0" y="1795"/>
                </a:lnTo>
                <a:lnTo>
                  <a:pt x="0" y="1809"/>
                </a:lnTo>
                <a:lnTo>
                  <a:pt x="15" y="1809"/>
                </a:lnTo>
                <a:close/>
                <a:moveTo>
                  <a:pt x="15" y="1781"/>
                </a:moveTo>
                <a:lnTo>
                  <a:pt x="15" y="1767"/>
                </a:lnTo>
                <a:lnTo>
                  <a:pt x="0" y="1767"/>
                </a:lnTo>
                <a:lnTo>
                  <a:pt x="0" y="1781"/>
                </a:lnTo>
                <a:lnTo>
                  <a:pt x="15" y="1781"/>
                </a:lnTo>
                <a:close/>
                <a:moveTo>
                  <a:pt x="15" y="1752"/>
                </a:moveTo>
                <a:lnTo>
                  <a:pt x="15" y="1738"/>
                </a:lnTo>
                <a:lnTo>
                  <a:pt x="0" y="1738"/>
                </a:lnTo>
                <a:lnTo>
                  <a:pt x="0" y="1752"/>
                </a:lnTo>
                <a:lnTo>
                  <a:pt x="15" y="1752"/>
                </a:lnTo>
                <a:close/>
                <a:moveTo>
                  <a:pt x="15" y="1724"/>
                </a:moveTo>
                <a:lnTo>
                  <a:pt x="15" y="1709"/>
                </a:lnTo>
                <a:lnTo>
                  <a:pt x="0" y="1709"/>
                </a:lnTo>
                <a:lnTo>
                  <a:pt x="0" y="1724"/>
                </a:lnTo>
                <a:lnTo>
                  <a:pt x="15" y="1724"/>
                </a:lnTo>
                <a:close/>
                <a:moveTo>
                  <a:pt x="15" y="1695"/>
                </a:moveTo>
                <a:lnTo>
                  <a:pt x="15" y="1681"/>
                </a:lnTo>
                <a:lnTo>
                  <a:pt x="0" y="1681"/>
                </a:lnTo>
                <a:lnTo>
                  <a:pt x="0" y="1695"/>
                </a:lnTo>
                <a:lnTo>
                  <a:pt x="15" y="1695"/>
                </a:lnTo>
                <a:close/>
                <a:moveTo>
                  <a:pt x="15" y="1667"/>
                </a:moveTo>
                <a:lnTo>
                  <a:pt x="15" y="1653"/>
                </a:lnTo>
                <a:lnTo>
                  <a:pt x="0" y="1653"/>
                </a:lnTo>
                <a:lnTo>
                  <a:pt x="0" y="1667"/>
                </a:lnTo>
                <a:lnTo>
                  <a:pt x="15" y="1667"/>
                </a:lnTo>
                <a:close/>
                <a:moveTo>
                  <a:pt x="15" y="1638"/>
                </a:moveTo>
                <a:lnTo>
                  <a:pt x="15" y="1624"/>
                </a:lnTo>
                <a:lnTo>
                  <a:pt x="0" y="1624"/>
                </a:lnTo>
                <a:lnTo>
                  <a:pt x="0" y="1638"/>
                </a:lnTo>
                <a:lnTo>
                  <a:pt x="15" y="1638"/>
                </a:lnTo>
                <a:close/>
                <a:moveTo>
                  <a:pt x="15" y="1610"/>
                </a:moveTo>
                <a:lnTo>
                  <a:pt x="15" y="1596"/>
                </a:lnTo>
                <a:lnTo>
                  <a:pt x="0" y="1596"/>
                </a:lnTo>
                <a:lnTo>
                  <a:pt x="0" y="1610"/>
                </a:lnTo>
                <a:lnTo>
                  <a:pt x="15" y="1610"/>
                </a:lnTo>
                <a:close/>
                <a:moveTo>
                  <a:pt x="15" y="1581"/>
                </a:moveTo>
                <a:lnTo>
                  <a:pt x="15" y="1567"/>
                </a:lnTo>
                <a:lnTo>
                  <a:pt x="0" y="1567"/>
                </a:lnTo>
                <a:lnTo>
                  <a:pt x="0" y="1581"/>
                </a:lnTo>
                <a:lnTo>
                  <a:pt x="15" y="1581"/>
                </a:lnTo>
                <a:close/>
                <a:moveTo>
                  <a:pt x="15" y="1553"/>
                </a:moveTo>
                <a:lnTo>
                  <a:pt x="15" y="1539"/>
                </a:lnTo>
                <a:lnTo>
                  <a:pt x="0" y="1539"/>
                </a:lnTo>
                <a:lnTo>
                  <a:pt x="0" y="1553"/>
                </a:lnTo>
                <a:lnTo>
                  <a:pt x="15" y="1553"/>
                </a:lnTo>
                <a:close/>
                <a:moveTo>
                  <a:pt x="15" y="1525"/>
                </a:moveTo>
                <a:lnTo>
                  <a:pt x="15" y="1510"/>
                </a:lnTo>
                <a:lnTo>
                  <a:pt x="0" y="1510"/>
                </a:lnTo>
                <a:lnTo>
                  <a:pt x="0" y="1525"/>
                </a:lnTo>
                <a:lnTo>
                  <a:pt x="15" y="1525"/>
                </a:lnTo>
                <a:close/>
                <a:moveTo>
                  <a:pt x="15" y="1496"/>
                </a:moveTo>
                <a:lnTo>
                  <a:pt x="15" y="1482"/>
                </a:lnTo>
                <a:lnTo>
                  <a:pt x="0" y="1482"/>
                </a:lnTo>
                <a:lnTo>
                  <a:pt x="0" y="1496"/>
                </a:lnTo>
                <a:lnTo>
                  <a:pt x="15" y="1496"/>
                </a:lnTo>
                <a:close/>
                <a:moveTo>
                  <a:pt x="15" y="1467"/>
                </a:moveTo>
                <a:lnTo>
                  <a:pt x="15" y="1453"/>
                </a:lnTo>
                <a:lnTo>
                  <a:pt x="0" y="1453"/>
                </a:lnTo>
                <a:lnTo>
                  <a:pt x="0" y="1467"/>
                </a:lnTo>
                <a:lnTo>
                  <a:pt x="15" y="1467"/>
                </a:lnTo>
                <a:close/>
                <a:moveTo>
                  <a:pt x="15" y="1439"/>
                </a:moveTo>
                <a:lnTo>
                  <a:pt x="15" y="1425"/>
                </a:lnTo>
                <a:lnTo>
                  <a:pt x="0" y="1425"/>
                </a:lnTo>
                <a:lnTo>
                  <a:pt x="0" y="1439"/>
                </a:lnTo>
                <a:lnTo>
                  <a:pt x="15" y="1439"/>
                </a:lnTo>
                <a:close/>
                <a:moveTo>
                  <a:pt x="15" y="1410"/>
                </a:moveTo>
                <a:lnTo>
                  <a:pt x="15" y="1396"/>
                </a:lnTo>
                <a:lnTo>
                  <a:pt x="0" y="1396"/>
                </a:lnTo>
                <a:lnTo>
                  <a:pt x="0" y="1410"/>
                </a:lnTo>
                <a:lnTo>
                  <a:pt x="15" y="1410"/>
                </a:lnTo>
                <a:close/>
                <a:moveTo>
                  <a:pt x="15" y="1382"/>
                </a:moveTo>
                <a:lnTo>
                  <a:pt x="15" y="1368"/>
                </a:lnTo>
                <a:lnTo>
                  <a:pt x="0" y="1368"/>
                </a:lnTo>
                <a:lnTo>
                  <a:pt x="0" y="1382"/>
                </a:lnTo>
                <a:lnTo>
                  <a:pt x="15" y="1382"/>
                </a:lnTo>
                <a:close/>
                <a:moveTo>
                  <a:pt x="15" y="1354"/>
                </a:moveTo>
                <a:lnTo>
                  <a:pt x="15" y="1339"/>
                </a:lnTo>
                <a:lnTo>
                  <a:pt x="0" y="1339"/>
                </a:lnTo>
                <a:lnTo>
                  <a:pt x="0" y="1354"/>
                </a:lnTo>
                <a:lnTo>
                  <a:pt x="15" y="1354"/>
                </a:lnTo>
                <a:close/>
                <a:moveTo>
                  <a:pt x="15" y="1325"/>
                </a:moveTo>
                <a:lnTo>
                  <a:pt x="15" y="1311"/>
                </a:lnTo>
                <a:lnTo>
                  <a:pt x="0" y="1311"/>
                </a:lnTo>
                <a:lnTo>
                  <a:pt x="0" y="1325"/>
                </a:lnTo>
                <a:lnTo>
                  <a:pt x="15" y="1325"/>
                </a:lnTo>
                <a:close/>
                <a:moveTo>
                  <a:pt x="15" y="1296"/>
                </a:moveTo>
                <a:lnTo>
                  <a:pt x="15" y="1282"/>
                </a:lnTo>
                <a:lnTo>
                  <a:pt x="0" y="1282"/>
                </a:lnTo>
                <a:lnTo>
                  <a:pt x="0" y="1296"/>
                </a:lnTo>
                <a:lnTo>
                  <a:pt x="15" y="1296"/>
                </a:lnTo>
                <a:close/>
                <a:moveTo>
                  <a:pt x="15" y="1268"/>
                </a:moveTo>
                <a:lnTo>
                  <a:pt x="15" y="1254"/>
                </a:lnTo>
                <a:lnTo>
                  <a:pt x="0" y="1254"/>
                </a:lnTo>
                <a:lnTo>
                  <a:pt x="0" y="1268"/>
                </a:lnTo>
                <a:lnTo>
                  <a:pt x="15" y="1268"/>
                </a:lnTo>
                <a:close/>
                <a:moveTo>
                  <a:pt x="15" y="1239"/>
                </a:moveTo>
                <a:lnTo>
                  <a:pt x="15" y="1225"/>
                </a:lnTo>
                <a:lnTo>
                  <a:pt x="0" y="1225"/>
                </a:lnTo>
                <a:lnTo>
                  <a:pt x="0" y="1239"/>
                </a:lnTo>
                <a:lnTo>
                  <a:pt x="15" y="1239"/>
                </a:lnTo>
                <a:close/>
                <a:moveTo>
                  <a:pt x="15" y="1211"/>
                </a:moveTo>
                <a:lnTo>
                  <a:pt x="15" y="1197"/>
                </a:lnTo>
                <a:lnTo>
                  <a:pt x="0" y="1197"/>
                </a:lnTo>
                <a:lnTo>
                  <a:pt x="0" y="1211"/>
                </a:lnTo>
                <a:lnTo>
                  <a:pt x="15" y="1211"/>
                </a:lnTo>
                <a:close/>
                <a:moveTo>
                  <a:pt x="15" y="1183"/>
                </a:moveTo>
                <a:lnTo>
                  <a:pt x="15" y="1168"/>
                </a:lnTo>
                <a:lnTo>
                  <a:pt x="0" y="1168"/>
                </a:lnTo>
                <a:lnTo>
                  <a:pt x="0" y="1183"/>
                </a:lnTo>
                <a:lnTo>
                  <a:pt x="15" y="1183"/>
                </a:lnTo>
                <a:close/>
                <a:moveTo>
                  <a:pt x="15" y="1154"/>
                </a:moveTo>
                <a:lnTo>
                  <a:pt x="15" y="1140"/>
                </a:lnTo>
                <a:lnTo>
                  <a:pt x="0" y="1140"/>
                </a:lnTo>
                <a:lnTo>
                  <a:pt x="0" y="1154"/>
                </a:lnTo>
                <a:lnTo>
                  <a:pt x="15" y="1154"/>
                </a:lnTo>
                <a:close/>
                <a:moveTo>
                  <a:pt x="15" y="1125"/>
                </a:moveTo>
                <a:lnTo>
                  <a:pt x="15" y="1111"/>
                </a:lnTo>
                <a:lnTo>
                  <a:pt x="0" y="1111"/>
                </a:lnTo>
                <a:lnTo>
                  <a:pt x="0" y="1125"/>
                </a:lnTo>
                <a:lnTo>
                  <a:pt x="15" y="1125"/>
                </a:lnTo>
                <a:close/>
                <a:moveTo>
                  <a:pt x="15" y="1097"/>
                </a:moveTo>
                <a:lnTo>
                  <a:pt x="15" y="1083"/>
                </a:lnTo>
                <a:lnTo>
                  <a:pt x="0" y="1083"/>
                </a:lnTo>
                <a:lnTo>
                  <a:pt x="0" y="1097"/>
                </a:lnTo>
                <a:lnTo>
                  <a:pt x="15" y="1097"/>
                </a:lnTo>
                <a:close/>
                <a:moveTo>
                  <a:pt x="15" y="1068"/>
                </a:moveTo>
                <a:lnTo>
                  <a:pt x="15" y="1054"/>
                </a:lnTo>
                <a:lnTo>
                  <a:pt x="0" y="1054"/>
                </a:lnTo>
                <a:lnTo>
                  <a:pt x="0" y="1068"/>
                </a:lnTo>
                <a:lnTo>
                  <a:pt x="15" y="1068"/>
                </a:lnTo>
                <a:close/>
                <a:moveTo>
                  <a:pt x="15" y="1040"/>
                </a:moveTo>
                <a:lnTo>
                  <a:pt x="15" y="1026"/>
                </a:lnTo>
                <a:lnTo>
                  <a:pt x="0" y="1026"/>
                </a:lnTo>
                <a:lnTo>
                  <a:pt x="0" y="1040"/>
                </a:lnTo>
                <a:lnTo>
                  <a:pt x="15" y="1040"/>
                </a:lnTo>
                <a:close/>
                <a:moveTo>
                  <a:pt x="15" y="1012"/>
                </a:moveTo>
                <a:lnTo>
                  <a:pt x="15" y="997"/>
                </a:lnTo>
                <a:lnTo>
                  <a:pt x="0" y="997"/>
                </a:lnTo>
                <a:lnTo>
                  <a:pt x="0" y="1012"/>
                </a:lnTo>
                <a:lnTo>
                  <a:pt x="15" y="1012"/>
                </a:lnTo>
                <a:close/>
                <a:moveTo>
                  <a:pt x="15" y="983"/>
                </a:moveTo>
                <a:lnTo>
                  <a:pt x="15" y="969"/>
                </a:lnTo>
                <a:lnTo>
                  <a:pt x="0" y="969"/>
                </a:lnTo>
                <a:lnTo>
                  <a:pt x="0" y="983"/>
                </a:lnTo>
                <a:lnTo>
                  <a:pt x="15" y="983"/>
                </a:lnTo>
                <a:close/>
                <a:moveTo>
                  <a:pt x="15" y="955"/>
                </a:moveTo>
                <a:lnTo>
                  <a:pt x="15" y="940"/>
                </a:lnTo>
                <a:lnTo>
                  <a:pt x="0" y="940"/>
                </a:lnTo>
                <a:lnTo>
                  <a:pt x="0" y="955"/>
                </a:lnTo>
                <a:lnTo>
                  <a:pt x="15" y="955"/>
                </a:lnTo>
                <a:close/>
                <a:moveTo>
                  <a:pt x="15" y="926"/>
                </a:moveTo>
                <a:lnTo>
                  <a:pt x="15" y="912"/>
                </a:lnTo>
                <a:lnTo>
                  <a:pt x="0" y="912"/>
                </a:lnTo>
                <a:lnTo>
                  <a:pt x="0" y="926"/>
                </a:lnTo>
                <a:lnTo>
                  <a:pt x="15" y="926"/>
                </a:lnTo>
                <a:close/>
                <a:moveTo>
                  <a:pt x="15" y="897"/>
                </a:moveTo>
                <a:lnTo>
                  <a:pt x="15" y="883"/>
                </a:lnTo>
                <a:lnTo>
                  <a:pt x="0" y="883"/>
                </a:lnTo>
                <a:lnTo>
                  <a:pt x="0" y="897"/>
                </a:lnTo>
                <a:lnTo>
                  <a:pt x="15" y="897"/>
                </a:lnTo>
                <a:close/>
                <a:moveTo>
                  <a:pt x="15" y="869"/>
                </a:moveTo>
                <a:lnTo>
                  <a:pt x="15" y="855"/>
                </a:lnTo>
                <a:lnTo>
                  <a:pt x="0" y="855"/>
                </a:lnTo>
                <a:lnTo>
                  <a:pt x="0" y="869"/>
                </a:lnTo>
                <a:lnTo>
                  <a:pt x="15" y="869"/>
                </a:lnTo>
                <a:close/>
                <a:moveTo>
                  <a:pt x="15" y="841"/>
                </a:moveTo>
                <a:lnTo>
                  <a:pt x="15" y="826"/>
                </a:lnTo>
                <a:lnTo>
                  <a:pt x="0" y="826"/>
                </a:lnTo>
                <a:lnTo>
                  <a:pt x="0" y="841"/>
                </a:lnTo>
                <a:lnTo>
                  <a:pt x="15" y="841"/>
                </a:lnTo>
                <a:close/>
                <a:moveTo>
                  <a:pt x="15" y="812"/>
                </a:moveTo>
                <a:lnTo>
                  <a:pt x="15" y="798"/>
                </a:lnTo>
                <a:lnTo>
                  <a:pt x="0" y="798"/>
                </a:lnTo>
                <a:lnTo>
                  <a:pt x="0" y="812"/>
                </a:lnTo>
                <a:lnTo>
                  <a:pt x="15" y="812"/>
                </a:lnTo>
                <a:close/>
                <a:moveTo>
                  <a:pt x="15" y="784"/>
                </a:moveTo>
                <a:lnTo>
                  <a:pt x="15" y="769"/>
                </a:lnTo>
                <a:lnTo>
                  <a:pt x="0" y="769"/>
                </a:lnTo>
                <a:lnTo>
                  <a:pt x="0" y="784"/>
                </a:lnTo>
                <a:lnTo>
                  <a:pt x="15" y="784"/>
                </a:lnTo>
                <a:close/>
                <a:moveTo>
                  <a:pt x="15" y="755"/>
                </a:moveTo>
                <a:lnTo>
                  <a:pt x="15" y="741"/>
                </a:lnTo>
                <a:lnTo>
                  <a:pt x="0" y="741"/>
                </a:lnTo>
                <a:lnTo>
                  <a:pt x="0" y="755"/>
                </a:lnTo>
                <a:lnTo>
                  <a:pt x="15" y="755"/>
                </a:lnTo>
                <a:close/>
                <a:moveTo>
                  <a:pt x="15" y="726"/>
                </a:moveTo>
                <a:lnTo>
                  <a:pt x="15" y="712"/>
                </a:lnTo>
                <a:lnTo>
                  <a:pt x="0" y="712"/>
                </a:lnTo>
                <a:lnTo>
                  <a:pt x="0" y="726"/>
                </a:lnTo>
                <a:lnTo>
                  <a:pt x="15" y="726"/>
                </a:lnTo>
                <a:close/>
                <a:moveTo>
                  <a:pt x="15" y="698"/>
                </a:moveTo>
                <a:lnTo>
                  <a:pt x="15" y="684"/>
                </a:lnTo>
                <a:lnTo>
                  <a:pt x="0" y="684"/>
                </a:lnTo>
                <a:lnTo>
                  <a:pt x="0" y="698"/>
                </a:lnTo>
                <a:lnTo>
                  <a:pt x="15" y="698"/>
                </a:lnTo>
                <a:close/>
                <a:moveTo>
                  <a:pt x="15" y="670"/>
                </a:moveTo>
                <a:lnTo>
                  <a:pt x="15" y="655"/>
                </a:lnTo>
                <a:lnTo>
                  <a:pt x="0" y="655"/>
                </a:lnTo>
                <a:lnTo>
                  <a:pt x="0" y="670"/>
                </a:lnTo>
                <a:lnTo>
                  <a:pt x="15" y="670"/>
                </a:lnTo>
                <a:close/>
                <a:moveTo>
                  <a:pt x="15" y="641"/>
                </a:moveTo>
                <a:lnTo>
                  <a:pt x="15" y="627"/>
                </a:lnTo>
                <a:lnTo>
                  <a:pt x="0" y="627"/>
                </a:lnTo>
                <a:lnTo>
                  <a:pt x="0" y="641"/>
                </a:lnTo>
                <a:lnTo>
                  <a:pt x="15" y="641"/>
                </a:lnTo>
                <a:close/>
                <a:moveTo>
                  <a:pt x="15" y="613"/>
                </a:moveTo>
                <a:lnTo>
                  <a:pt x="15" y="598"/>
                </a:lnTo>
                <a:lnTo>
                  <a:pt x="0" y="598"/>
                </a:lnTo>
                <a:lnTo>
                  <a:pt x="0" y="613"/>
                </a:lnTo>
                <a:lnTo>
                  <a:pt x="15" y="613"/>
                </a:lnTo>
                <a:close/>
                <a:moveTo>
                  <a:pt x="15" y="584"/>
                </a:moveTo>
                <a:lnTo>
                  <a:pt x="15" y="570"/>
                </a:lnTo>
                <a:lnTo>
                  <a:pt x="0" y="570"/>
                </a:lnTo>
                <a:lnTo>
                  <a:pt x="0" y="584"/>
                </a:lnTo>
                <a:lnTo>
                  <a:pt x="15" y="584"/>
                </a:lnTo>
                <a:close/>
                <a:moveTo>
                  <a:pt x="15" y="556"/>
                </a:moveTo>
                <a:lnTo>
                  <a:pt x="15" y="542"/>
                </a:lnTo>
                <a:lnTo>
                  <a:pt x="0" y="542"/>
                </a:lnTo>
                <a:lnTo>
                  <a:pt x="0" y="556"/>
                </a:lnTo>
                <a:lnTo>
                  <a:pt x="15" y="556"/>
                </a:lnTo>
                <a:close/>
                <a:moveTo>
                  <a:pt x="15" y="527"/>
                </a:moveTo>
                <a:lnTo>
                  <a:pt x="15" y="513"/>
                </a:lnTo>
                <a:lnTo>
                  <a:pt x="0" y="513"/>
                </a:lnTo>
                <a:lnTo>
                  <a:pt x="0" y="527"/>
                </a:lnTo>
                <a:lnTo>
                  <a:pt x="15" y="527"/>
                </a:lnTo>
                <a:close/>
                <a:moveTo>
                  <a:pt x="15" y="499"/>
                </a:moveTo>
                <a:lnTo>
                  <a:pt x="15" y="484"/>
                </a:lnTo>
                <a:lnTo>
                  <a:pt x="0" y="484"/>
                </a:lnTo>
                <a:lnTo>
                  <a:pt x="0" y="499"/>
                </a:lnTo>
                <a:lnTo>
                  <a:pt x="15" y="499"/>
                </a:lnTo>
                <a:close/>
                <a:moveTo>
                  <a:pt x="15" y="470"/>
                </a:moveTo>
                <a:lnTo>
                  <a:pt x="15" y="456"/>
                </a:lnTo>
                <a:lnTo>
                  <a:pt x="0" y="456"/>
                </a:lnTo>
                <a:lnTo>
                  <a:pt x="0" y="470"/>
                </a:lnTo>
                <a:lnTo>
                  <a:pt x="15" y="470"/>
                </a:lnTo>
                <a:close/>
                <a:moveTo>
                  <a:pt x="15" y="442"/>
                </a:moveTo>
                <a:lnTo>
                  <a:pt x="15" y="427"/>
                </a:lnTo>
                <a:lnTo>
                  <a:pt x="0" y="427"/>
                </a:lnTo>
                <a:lnTo>
                  <a:pt x="0" y="442"/>
                </a:lnTo>
                <a:lnTo>
                  <a:pt x="15" y="442"/>
                </a:lnTo>
                <a:close/>
                <a:moveTo>
                  <a:pt x="15" y="413"/>
                </a:moveTo>
                <a:lnTo>
                  <a:pt x="15" y="399"/>
                </a:lnTo>
                <a:lnTo>
                  <a:pt x="0" y="399"/>
                </a:lnTo>
                <a:lnTo>
                  <a:pt x="0" y="413"/>
                </a:lnTo>
                <a:lnTo>
                  <a:pt x="15" y="413"/>
                </a:lnTo>
                <a:close/>
                <a:moveTo>
                  <a:pt x="15" y="385"/>
                </a:moveTo>
                <a:lnTo>
                  <a:pt x="15" y="371"/>
                </a:lnTo>
                <a:lnTo>
                  <a:pt x="0" y="371"/>
                </a:lnTo>
                <a:lnTo>
                  <a:pt x="0" y="385"/>
                </a:lnTo>
                <a:lnTo>
                  <a:pt x="15" y="385"/>
                </a:lnTo>
                <a:close/>
                <a:moveTo>
                  <a:pt x="15" y="356"/>
                </a:moveTo>
                <a:lnTo>
                  <a:pt x="15" y="342"/>
                </a:lnTo>
                <a:lnTo>
                  <a:pt x="0" y="342"/>
                </a:lnTo>
                <a:lnTo>
                  <a:pt x="0" y="356"/>
                </a:lnTo>
                <a:lnTo>
                  <a:pt x="15" y="356"/>
                </a:lnTo>
                <a:close/>
                <a:moveTo>
                  <a:pt x="15" y="328"/>
                </a:moveTo>
                <a:lnTo>
                  <a:pt x="15" y="313"/>
                </a:lnTo>
                <a:lnTo>
                  <a:pt x="0" y="313"/>
                </a:lnTo>
                <a:lnTo>
                  <a:pt x="0" y="328"/>
                </a:lnTo>
                <a:lnTo>
                  <a:pt x="15" y="328"/>
                </a:lnTo>
                <a:close/>
                <a:moveTo>
                  <a:pt x="15" y="299"/>
                </a:moveTo>
                <a:lnTo>
                  <a:pt x="15" y="285"/>
                </a:lnTo>
                <a:lnTo>
                  <a:pt x="0" y="285"/>
                </a:lnTo>
                <a:lnTo>
                  <a:pt x="0" y="299"/>
                </a:lnTo>
                <a:lnTo>
                  <a:pt x="15" y="299"/>
                </a:lnTo>
                <a:close/>
                <a:moveTo>
                  <a:pt x="15" y="271"/>
                </a:moveTo>
                <a:lnTo>
                  <a:pt x="15" y="256"/>
                </a:lnTo>
                <a:lnTo>
                  <a:pt x="0" y="256"/>
                </a:lnTo>
                <a:lnTo>
                  <a:pt x="0" y="271"/>
                </a:lnTo>
                <a:lnTo>
                  <a:pt x="15" y="271"/>
                </a:lnTo>
                <a:close/>
                <a:moveTo>
                  <a:pt x="15" y="242"/>
                </a:moveTo>
                <a:lnTo>
                  <a:pt x="15" y="228"/>
                </a:lnTo>
                <a:lnTo>
                  <a:pt x="0" y="228"/>
                </a:lnTo>
                <a:lnTo>
                  <a:pt x="0" y="242"/>
                </a:lnTo>
                <a:lnTo>
                  <a:pt x="15" y="242"/>
                </a:lnTo>
                <a:close/>
                <a:moveTo>
                  <a:pt x="15" y="214"/>
                </a:moveTo>
                <a:lnTo>
                  <a:pt x="15" y="200"/>
                </a:lnTo>
                <a:lnTo>
                  <a:pt x="0" y="200"/>
                </a:lnTo>
                <a:lnTo>
                  <a:pt x="0" y="214"/>
                </a:lnTo>
                <a:lnTo>
                  <a:pt x="15" y="214"/>
                </a:lnTo>
                <a:close/>
                <a:moveTo>
                  <a:pt x="15" y="185"/>
                </a:moveTo>
                <a:lnTo>
                  <a:pt x="15" y="171"/>
                </a:lnTo>
                <a:lnTo>
                  <a:pt x="0" y="171"/>
                </a:lnTo>
                <a:lnTo>
                  <a:pt x="0" y="185"/>
                </a:lnTo>
                <a:lnTo>
                  <a:pt x="15" y="185"/>
                </a:lnTo>
                <a:close/>
                <a:moveTo>
                  <a:pt x="15" y="157"/>
                </a:moveTo>
                <a:lnTo>
                  <a:pt x="15" y="142"/>
                </a:lnTo>
                <a:lnTo>
                  <a:pt x="0" y="142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8"/>
                </a:moveTo>
                <a:lnTo>
                  <a:pt x="15" y="114"/>
                </a:lnTo>
                <a:lnTo>
                  <a:pt x="0" y="114"/>
                </a:lnTo>
                <a:lnTo>
                  <a:pt x="0" y="128"/>
                </a:lnTo>
                <a:lnTo>
                  <a:pt x="15" y="128"/>
                </a:lnTo>
                <a:close/>
                <a:moveTo>
                  <a:pt x="15" y="100"/>
                </a:moveTo>
                <a:lnTo>
                  <a:pt x="15" y="85"/>
                </a:lnTo>
                <a:lnTo>
                  <a:pt x="0" y="85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9"/>
                </a:lnTo>
                <a:lnTo>
                  <a:pt x="0" y="29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4"/>
                </a:moveTo>
                <a:lnTo>
                  <a:pt x="15" y="0"/>
                </a:lnTo>
                <a:lnTo>
                  <a:pt x="0" y="0"/>
                </a:ln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3333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9" name="Freeform 117">
            <a:extLst>
              <a:ext uri="{FF2B5EF4-FFF2-40B4-BE49-F238E27FC236}">
                <a16:creationId xmlns:a16="http://schemas.microsoft.com/office/drawing/2014/main" id="{1B39F843-DD8B-4C13-AA42-4CAF6D45480C}"/>
              </a:ext>
            </a:extLst>
          </p:cNvPr>
          <p:cNvSpPr>
            <a:spLocks noEditPoints="1"/>
          </p:cNvSpPr>
          <p:nvPr/>
        </p:nvSpPr>
        <p:spPr bwMode="auto">
          <a:xfrm>
            <a:off x="7439027" y="3671891"/>
            <a:ext cx="23813" cy="2544763"/>
          </a:xfrm>
          <a:custGeom>
            <a:avLst/>
            <a:gdLst>
              <a:gd name="T0" fmla="*/ 15 w 15"/>
              <a:gd name="T1" fmla="*/ 1603 h 1603"/>
              <a:gd name="T2" fmla="*/ 15 w 15"/>
              <a:gd name="T3" fmla="*/ 1575 h 1603"/>
              <a:gd name="T4" fmla="*/ 15 w 15"/>
              <a:gd name="T5" fmla="*/ 1546 h 1603"/>
              <a:gd name="T6" fmla="*/ 15 w 15"/>
              <a:gd name="T7" fmla="*/ 1518 h 1603"/>
              <a:gd name="T8" fmla="*/ 15 w 15"/>
              <a:gd name="T9" fmla="*/ 1489 h 1603"/>
              <a:gd name="T10" fmla="*/ 15 w 15"/>
              <a:gd name="T11" fmla="*/ 1461 h 1603"/>
              <a:gd name="T12" fmla="*/ 15 w 15"/>
              <a:gd name="T13" fmla="*/ 1432 h 1603"/>
              <a:gd name="T14" fmla="*/ 15 w 15"/>
              <a:gd name="T15" fmla="*/ 1404 h 1603"/>
              <a:gd name="T16" fmla="*/ 15 w 15"/>
              <a:gd name="T17" fmla="*/ 1375 h 1603"/>
              <a:gd name="T18" fmla="*/ 15 w 15"/>
              <a:gd name="T19" fmla="*/ 1347 h 1603"/>
              <a:gd name="T20" fmla="*/ 15 w 15"/>
              <a:gd name="T21" fmla="*/ 1318 h 1603"/>
              <a:gd name="T22" fmla="*/ 15 w 15"/>
              <a:gd name="T23" fmla="*/ 1290 h 1603"/>
              <a:gd name="T24" fmla="*/ 15 w 15"/>
              <a:gd name="T25" fmla="*/ 1261 h 1603"/>
              <a:gd name="T26" fmla="*/ 15 w 15"/>
              <a:gd name="T27" fmla="*/ 1233 h 1603"/>
              <a:gd name="T28" fmla="*/ 15 w 15"/>
              <a:gd name="T29" fmla="*/ 1204 h 1603"/>
              <a:gd name="T30" fmla="*/ 15 w 15"/>
              <a:gd name="T31" fmla="*/ 1176 h 1603"/>
              <a:gd name="T32" fmla="*/ 15 w 15"/>
              <a:gd name="T33" fmla="*/ 1147 h 1603"/>
              <a:gd name="T34" fmla="*/ 15 w 15"/>
              <a:gd name="T35" fmla="*/ 1119 h 1603"/>
              <a:gd name="T36" fmla="*/ 15 w 15"/>
              <a:gd name="T37" fmla="*/ 1090 h 1603"/>
              <a:gd name="T38" fmla="*/ 15 w 15"/>
              <a:gd name="T39" fmla="*/ 1062 h 1603"/>
              <a:gd name="T40" fmla="*/ 15 w 15"/>
              <a:gd name="T41" fmla="*/ 1034 h 1603"/>
              <a:gd name="T42" fmla="*/ 15 w 15"/>
              <a:gd name="T43" fmla="*/ 1005 h 1603"/>
              <a:gd name="T44" fmla="*/ 15 w 15"/>
              <a:gd name="T45" fmla="*/ 976 h 1603"/>
              <a:gd name="T46" fmla="*/ 15 w 15"/>
              <a:gd name="T47" fmla="*/ 948 h 1603"/>
              <a:gd name="T48" fmla="*/ 15 w 15"/>
              <a:gd name="T49" fmla="*/ 919 h 1603"/>
              <a:gd name="T50" fmla="*/ 15 w 15"/>
              <a:gd name="T51" fmla="*/ 891 h 1603"/>
              <a:gd name="T52" fmla="*/ 15 w 15"/>
              <a:gd name="T53" fmla="*/ 863 h 1603"/>
              <a:gd name="T54" fmla="*/ 15 w 15"/>
              <a:gd name="T55" fmla="*/ 834 h 1603"/>
              <a:gd name="T56" fmla="*/ 15 w 15"/>
              <a:gd name="T57" fmla="*/ 805 h 1603"/>
              <a:gd name="T58" fmla="*/ 15 w 15"/>
              <a:gd name="T59" fmla="*/ 777 h 1603"/>
              <a:gd name="T60" fmla="*/ 15 w 15"/>
              <a:gd name="T61" fmla="*/ 748 h 1603"/>
              <a:gd name="T62" fmla="*/ 15 w 15"/>
              <a:gd name="T63" fmla="*/ 720 h 1603"/>
              <a:gd name="T64" fmla="*/ 15 w 15"/>
              <a:gd name="T65" fmla="*/ 692 h 1603"/>
              <a:gd name="T66" fmla="*/ 15 w 15"/>
              <a:gd name="T67" fmla="*/ 663 h 1603"/>
              <a:gd name="T68" fmla="*/ 15 w 15"/>
              <a:gd name="T69" fmla="*/ 635 h 1603"/>
              <a:gd name="T70" fmla="*/ 15 w 15"/>
              <a:gd name="T71" fmla="*/ 606 h 1603"/>
              <a:gd name="T72" fmla="*/ 15 w 15"/>
              <a:gd name="T73" fmla="*/ 577 h 1603"/>
              <a:gd name="T74" fmla="*/ 15 w 15"/>
              <a:gd name="T75" fmla="*/ 549 h 1603"/>
              <a:gd name="T76" fmla="*/ 15 w 15"/>
              <a:gd name="T77" fmla="*/ 521 h 1603"/>
              <a:gd name="T78" fmla="*/ 15 w 15"/>
              <a:gd name="T79" fmla="*/ 492 h 1603"/>
              <a:gd name="T80" fmla="*/ 15 w 15"/>
              <a:gd name="T81" fmla="*/ 464 h 1603"/>
              <a:gd name="T82" fmla="*/ 15 w 15"/>
              <a:gd name="T83" fmla="*/ 435 h 1603"/>
              <a:gd name="T84" fmla="*/ 15 w 15"/>
              <a:gd name="T85" fmla="*/ 406 h 1603"/>
              <a:gd name="T86" fmla="*/ 15 w 15"/>
              <a:gd name="T87" fmla="*/ 378 h 1603"/>
              <a:gd name="T88" fmla="*/ 15 w 15"/>
              <a:gd name="T89" fmla="*/ 350 h 1603"/>
              <a:gd name="T90" fmla="*/ 15 w 15"/>
              <a:gd name="T91" fmla="*/ 321 h 1603"/>
              <a:gd name="T92" fmla="*/ 15 w 15"/>
              <a:gd name="T93" fmla="*/ 293 h 1603"/>
              <a:gd name="T94" fmla="*/ 15 w 15"/>
              <a:gd name="T95" fmla="*/ 264 h 1603"/>
              <a:gd name="T96" fmla="*/ 15 w 15"/>
              <a:gd name="T97" fmla="*/ 236 h 1603"/>
              <a:gd name="T98" fmla="*/ 15 w 15"/>
              <a:gd name="T99" fmla="*/ 207 h 1603"/>
              <a:gd name="T100" fmla="*/ 15 w 15"/>
              <a:gd name="T101" fmla="*/ 179 h 1603"/>
              <a:gd name="T102" fmla="*/ 15 w 15"/>
              <a:gd name="T103" fmla="*/ 150 h 1603"/>
              <a:gd name="T104" fmla="*/ 15 w 15"/>
              <a:gd name="T105" fmla="*/ 122 h 1603"/>
              <a:gd name="T106" fmla="*/ 15 w 15"/>
              <a:gd name="T107" fmla="*/ 93 h 1603"/>
              <a:gd name="T108" fmla="*/ 15 w 15"/>
              <a:gd name="T109" fmla="*/ 65 h 1603"/>
              <a:gd name="T110" fmla="*/ 15 w 15"/>
              <a:gd name="T111" fmla="*/ 36 h 1603"/>
              <a:gd name="T112" fmla="*/ 15 w 15"/>
              <a:gd name="T113" fmla="*/ 8 h 1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" h="1603">
                <a:moveTo>
                  <a:pt x="15" y="1603"/>
                </a:moveTo>
                <a:lnTo>
                  <a:pt x="15" y="1589"/>
                </a:lnTo>
                <a:lnTo>
                  <a:pt x="0" y="1589"/>
                </a:lnTo>
                <a:lnTo>
                  <a:pt x="0" y="1603"/>
                </a:lnTo>
                <a:lnTo>
                  <a:pt x="15" y="1603"/>
                </a:lnTo>
                <a:close/>
                <a:moveTo>
                  <a:pt x="15" y="1575"/>
                </a:moveTo>
                <a:lnTo>
                  <a:pt x="15" y="1560"/>
                </a:lnTo>
                <a:lnTo>
                  <a:pt x="0" y="1560"/>
                </a:lnTo>
                <a:lnTo>
                  <a:pt x="0" y="1575"/>
                </a:lnTo>
                <a:lnTo>
                  <a:pt x="15" y="1575"/>
                </a:lnTo>
                <a:close/>
                <a:moveTo>
                  <a:pt x="15" y="1546"/>
                </a:moveTo>
                <a:lnTo>
                  <a:pt x="15" y="1532"/>
                </a:lnTo>
                <a:lnTo>
                  <a:pt x="0" y="1532"/>
                </a:lnTo>
                <a:lnTo>
                  <a:pt x="0" y="1546"/>
                </a:lnTo>
                <a:lnTo>
                  <a:pt x="15" y="1546"/>
                </a:lnTo>
                <a:close/>
                <a:moveTo>
                  <a:pt x="15" y="1518"/>
                </a:moveTo>
                <a:lnTo>
                  <a:pt x="15" y="1504"/>
                </a:lnTo>
                <a:lnTo>
                  <a:pt x="0" y="1504"/>
                </a:lnTo>
                <a:lnTo>
                  <a:pt x="0" y="1518"/>
                </a:lnTo>
                <a:lnTo>
                  <a:pt x="15" y="1518"/>
                </a:lnTo>
                <a:close/>
                <a:moveTo>
                  <a:pt x="15" y="1489"/>
                </a:moveTo>
                <a:lnTo>
                  <a:pt x="15" y="1475"/>
                </a:lnTo>
                <a:lnTo>
                  <a:pt x="0" y="1475"/>
                </a:lnTo>
                <a:lnTo>
                  <a:pt x="0" y="1489"/>
                </a:lnTo>
                <a:lnTo>
                  <a:pt x="15" y="1489"/>
                </a:lnTo>
                <a:close/>
                <a:moveTo>
                  <a:pt x="15" y="1461"/>
                </a:moveTo>
                <a:lnTo>
                  <a:pt x="15" y="1447"/>
                </a:lnTo>
                <a:lnTo>
                  <a:pt x="0" y="1447"/>
                </a:lnTo>
                <a:lnTo>
                  <a:pt x="0" y="1461"/>
                </a:lnTo>
                <a:lnTo>
                  <a:pt x="15" y="1461"/>
                </a:lnTo>
                <a:close/>
                <a:moveTo>
                  <a:pt x="15" y="1432"/>
                </a:moveTo>
                <a:lnTo>
                  <a:pt x="15" y="1418"/>
                </a:lnTo>
                <a:lnTo>
                  <a:pt x="0" y="1418"/>
                </a:lnTo>
                <a:lnTo>
                  <a:pt x="0" y="1432"/>
                </a:lnTo>
                <a:lnTo>
                  <a:pt x="15" y="1432"/>
                </a:lnTo>
                <a:close/>
                <a:moveTo>
                  <a:pt x="15" y="1404"/>
                </a:moveTo>
                <a:lnTo>
                  <a:pt x="15" y="1389"/>
                </a:lnTo>
                <a:lnTo>
                  <a:pt x="0" y="1389"/>
                </a:lnTo>
                <a:lnTo>
                  <a:pt x="0" y="1404"/>
                </a:lnTo>
                <a:lnTo>
                  <a:pt x="15" y="1404"/>
                </a:lnTo>
                <a:close/>
                <a:moveTo>
                  <a:pt x="15" y="1375"/>
                </a:moveTo>
                <a:lnTo>
                  <a:pt x="15" y="1361"/>
                </a:lnTo>
                <a:lnTo>
                  <a:pt x="0" y="1361"/>
                </a:lnTo>
                <a:lnTo>
                  <a:pt x="0" y="1375"/>
                </a:lnTo>
                <a:lnTo>
                  <a:pt x="15" y="1375"/>
                </a:lnTo>
                <a:close/>
                <a:moveTo>
                  <a:pt x="15" y="1347"/>
                </a:moveTo>
                <a:lnTo>
                  <a:pt x="15" y="1333"/>
                </a:lnTo>
                <a:lnTo>
                  <a:pt x="0" y="1333"/>
                </a:lnTo>
                <a:lnTo>
                  <a:pt x="0" y="1347"/>
                </a:lnTo>
                <a:lnTo>
                  <a:pt x="15" y="1347"/>
                </a:lnTo>
                <a:close/>
                <a:moveTo>
                  <a:pt x="15" y="1318"/>
                </a:moveTo>
                <a:lnTo>
                  <a:pt x="15" y="1304"/>
                </a:lnTo>
                <a:lnTo>
                  <a:pt x="0" y="1304"/>
                </a:lnTo>
                <a:lnTo>
                  <a:pt x="0" y="1318"/>
                </a:lnTo>
                <a:lnTo>
                  <a:pt x="15" y="1318"/>
                </a:lnTo>
                <a:close/>
                <a:moveTo>
                  <a:pt x="15" y="1290"/>
                </a:moveTo>
                <a:lnTo>
                  <a:pt x="15" y="1276"/>
                </a:lnTo>
                <a:lnTo>
                  <a:pt x="0" y="1276"/>
                </a:lnTo>
                <a:lnTo>
                  <a:pt x="0" y="1290"/>
                </a:lnTo>
                <a:lnTo>
                  <a:pt x="15" y="1290"/>
                </a:lnTo>
                <a:close/>
                <a:moveTo>
                  <a:pt x="15" y="1261"/>
                </a:moveTo>
                <a:lnTo>
                  <a:pt x="15" y="1247"/>
                </a:lnTo>
                <a:lnTo>
                  <a:pt x="0" y="1247"/>
                </a:lnTo>
                <a:lnTo>
                  <a:pt x="0" y="1261"/>
                </a:lnTo>
                <a:lnTo>
                  <a:pt x="15" y="1261"/>
                </a:lnTo>
                <a:close/>
                <a:moveTo>
                  <a:pt x="15" y="1233"/>
                </a:moveTo>
                <a:lnTo>
                  <a:pt x="15" y="1219"/>
                </a:lnTo>
                <a:lnTo>
                  <a:pt x="0" y="1219"/>
                </a:lnTo>
                <a:lnTo>
                  <a:pt x="0" y="1233"/>
                </a:lnTo>
                <a:lnTo>
                  <a:pt x="15" y="1233"/>
                </a:lnTo>
                <a:close/>
                <a:moveTo>
                  <a:pt x="15" y="1204"/>
                </a:moveTo>
                <a:lnTo>
                  <a:pt x="15" y="1190"/>
                </a:lnTo>
                <a:lnTo>
                  <a:pt x="0" y="1190"/>
                </a:lnTo>
                <a:lnTo>
                  <a:pt x="0" y="1204"/>
                </a:lnTo>
                <a:lnTo>
                  <a:pt x="15" y="1204"/>
                </a:lnTo>
                <a:close/>
                <a:moveTo>
                  <a:pt x="15" y="1176"/>
                </a:moveTo>
                <a:lnTo>
                  <a:pt x="15" y="1162"/>
                </a:lnTo>
                <a:lnTo>
                  <a:pt x="0" y="1162"/>
                </a:lnTo>
                <a:lnTo>
                  <a:pt x="0" y="1176"/>
                </a:lnTo>
                <a:lnTo>
                  <a:pt x="15" y="1176"/>
                </a:lnTo>
                <a:close/>
                <a:moveTo>
                  <a:pt x="15" y="1147"/>
                </a:moveTo>
                <a:lnTo>
                  <a:pt x="15" y="1133"/>
                </a:lnTo>
                <a:lnTo>
                  <a:pt x="0" y="1133"/>
                </a:lnTo>
                <a:lnTo>
                  <a:pt x="0" y="1147"/>
                </a:lnTo>
                <a:lnTo>
                  <a:pt x="15" y="1147"/>
                </a:lnTo>
                <a:close/>
                <a:moveTo>
                  <a:pt x="15" y="1119"/>
                </a:moveTo>
                <a:lnTo>
                  <a:pt x="15" y="1105"/>
                </a:lnTo>
                <a:lnTo>
                  <a:pt x="0" y="1105"/>
                </a:lnTo>
                <a:lnTo>
                  <a:pt x="0" y="1119"/>
                </a:lnTo>
                <a:lnTo>
                  <a:pt x="15" y="1119"/>
                </a:lnTo>
                <a:close/>
                <a:moveTo>
                  <a:pt x="15" y="1090"/>
                </a:moveTo>
                <a:lnTo>
                  <a:pt x="15" y="1076"/>
                </a:lnTo>
                <a:lnTo>
                  <a:pt x="0" y="1076"/>
                </a:lnTo>
                <a:lnTo>
                  <a:pt x="0" y="1090"/>
                </a:lnTo>
                <a:lnTo>
                  <a:pt x="15" y="1090"/>
                </a:lnTo>
                <a:close/>
                <a:moveTo>
                  <a:pt x="15" y="1062"/>
                </a:moveTo>
                <a:lnTo>
                  <a:pt x="15" y="1048"/>
                </a:lnTo>
                <a:lnTo>
                  <a:pt x="0" y="1048"/>
                </a:lnTo>
                <a:lnTo>
                  <a:pt x="0" y="1062"/>
                </a:lnTo>
                <a:lnTo>
                  <a:pt x="15" y="1062"/>
                </a:lnTo>
                <a:close/>
                <a:moveTo>
                  <a:pt x="15" y="1034"/>
                </a:moveTo>
                <a:lnTo>
                  <a:pt x="15" y="1019"/>
                </a:lnTo>
                <a:lnTo>
                  <a:pt x="0" y="1019"/>
                </a:lnTo>
                <a:lnTo>
                  <a:pt x="0" y="1034"/>
                </a:lnTo>
                <a:lnTo>
                  <a:pt x="15" y="1034"/>
                </a:lnTo>
                <a:close/>
                <a:moveTo>
                  <a:pt x="15" y="1005"/>
                </a:moveTo>
                <a:lnTo>
                  <a:pt x="15" y="991"/>
                </a:lnTo>
                <a:lnTo>
                  <a:pt x="0" y="991"/>
                </a:lnTo>
                <a:lnTo>
                  <a:pt x="0" y="1005"/>
                </a:lnTo>
                <a:lnTo>
                  <a:pt x="15" y="1005"/>
                </a:lnTo>
                <a:close/>
                <a:moveTo>
                  <a:pt x="15" y="976"/>
                </a:moveTo>
                <a:lnTo>
                  <a:pt x="15" y="962"/>
                </a:lnTo>
                <a:lnTo>
                  <a:pt x="0" y="962"/>
                </a:lnTo>
                <a:lnTo>
                  <a:pt x="0" y="976"/>
                </a:lnTo>
                <a:lnTo>
                  <a:pt x="15" y="976"/>
                </a:lnTo>
                <a:close/>
                <a:moveTo>
                  <a:pt x="15" y="948"/>
                </a:moveTo>
                <a:lnTo>
                  <a:pt x="15" y="934"/>
                </a:lnTo>
                <a:lnTo>
                  <a:pt x="0" y="934"/>
                </a:lnTo>
                <a:lnTo>
                  <a:pt x="0" y="948"/>
                </a:lnTo>
                <a:lnTo>
                  <a:pt x="15" y="948"/>
                </a:lnTo>
                <a:close/>
                <a:moveTo>
                  <a:pt x="15" y="919"/>
                </a:moveTo>
                <a:lnTo>
                  <a:pt x="15" y="905"/>
                </a:lnTo>
                <a:lnTo>
                  <a:pt x="0" y="905"/>
                </a:lnTo>
                <a:lnTo>
                  <a:pt x="0" y="919"/>
                </a:lnTo>
                <a:lnTo>
                  <a:pt x="15" y="919"/>
                </a:lnTo>
                <a:close/>
                <a:moveTo>
                  <a:pt x="15" y="891"/>
                </a:moveTo>
                <a:lnTo>
                  <a:pt x="15" y="877"/>
                </a:lnTo>
                <a:lnTo>
                  <a:pt x="0" y="877"/>
                </a:lnTo>
                <a:lnTo>
                  <a:pt x="0" y="891"/>
                </a:lnTo>
                <a:lnTo>
                  <a:pt x="15" y="891"/>
                </a:lnTo>
                <a:close/>
                <a:moveTo>
                  <a:pt x="15" y="863"/>
                </a:moveTo>
                <a:lnTo>
                  <a:pt x="15" y="848"/>
                </a:lnTo>
                <a:lnTo>
                  <a:pt x="0" y="848"/>
                </a:lnTo>
                <a:lnTo>
                  <a:pt x="0" y="863"/>
                </a:lnTo>
                <a:lnTo>
                  <a:pt x="15" y="863"/>
                </a:lnTo>
                <a:close/>
                <a:moveTo>
                  <a:pt x="15" y="834"/>
                </a:moveTo>
                <a:lnTo>
                  <a:pt x="15" y="820"/>
                </a:lnTo>
                <a:lnTo>
                  <a:pt x="0" y="820"/>
                </a:lnTo>
                <a:lnTo>
                  <a:pt x="0" y="834"/>
                </a:lnTo>
                <a:lnTo>
                  <a:pt x="15" y="834"/>
                </a:lnTo>
                <a:close/>
                <a:moveTo>
                  <a:pt x="15" y="805"/>
                </a:moveTo>
                <a:lnTo>
                  <a:pt x="15" y="791"/>
                </a:lnTo>
                <a:lnTo>
                  <a:pt x="0" y="791"/>
                </a:lnTo>
                <a:lnTo>
                  <a:pt x="0" y="805"/>
                </a:lnTo>
                <a:lnTo>
                  <a:pt x="15" y="805"/>
                </a:lnTo>
                <a:close/>
                <a:moveTo>
                  <a:pt x="15" y="777"/>
                </a:moveTo>
                <a:lnTo>
                  <a:pt x="15" y="763"/>
                </a:lnTo>
                <a:lnTo>
                  <a:pt x="0" y="763"/>
                </a:lnTo>
                <a:lnTo>
                  <a:pt x="0" y="777"/>
                </a:lnTo>
                <a:lnTo>
                  <a:pt x="15" y="777"/>
                </a:lnTo>
                <a:close/>
                <a:moveTo>
                  <a:pt x="15" y="748"/>
                </a:moveTo>
                <a:lnTo>
                  <a:pt x="15" y="734"/>
                </a:lnTo>
                <a:lnTo>
                  <a:pt x="0" y="734"/>
                </a:lnTo>
                <a:lnTo>
                  <a:pt x="0" y="748"/>
                </a:lnTo>
                <a:lnTo>
                  <a:pt x="15" y="748"/>
                </a:lnTo>
                <a:close/>
                <a:moveTo>
                  <a:pt x="15" y="720"/>
                </a:moveTo>
                <a:lnTo>
                  <a:pt x="15" y="706"/>
                </a:lnTo>
                <a:lnTo>
                  <a:pt x="0" y="706"/>
                </a:lnTo>
                <a:lnTo>
                  <a:pt x="0" y="720"/>
                </a:lnTo>
                <a:lnTo>
                  <a:pt x="15" y="720"/>
                </a:lnTo>
                <a:close/>
                <a:moveTo>
                  <a:pt x="15" y="692"/>
                </a:moveTo>
                <a:lnTo>
                  <a:pt x="15" y="677"/>
                </a:lnTo>
                <a:lnTo>
                  <a:pt x="0" y="677"/>
                </a:lnTo>
                <a:lnTo>
                  <a:pt x="0" y="692"/>
                </a:lnTo>
                <a:lnTo>
                  <a:pt x="15" y="692"/>
                </a:lnTo>
                <a:close/>
                <a:moveTo>
                  <a:pt x="15" y="663"/>
                </a:moveTo>
                <a:lnTo>
                  <a:pt x="15" y="649"/>
                </a:lnTo>
                <a:lnTo>
                  <a:pt x="0" y="649"/>
                </a:lnTo>
                <a:lnTo>
                  <a:pt x="0" y="663"/>
                </a:lnTo>
                <a:lnTo>
                  <a:pt x="15" y="663"/>
                </a:lnTo>
                <a:close/>
                <a:moveTo>
                  <a:pt x="15" y="635"/>
                </a:moveTo>
                <a:lnTo>
                  <a:pt x="15" y="620"/>
                </a:lnTo>
                <a:lnTo>
                  <a:pt x="0" y="620"/>
                </a:lnTo>
                <a:lnTo>
                  <a:pt x="0" y="635"/>
                </a:lnTo>
                <a:lnTo>
                  <a:pt x="15" y="635"/>
                </a:lnTo>
                <a:close/>
                <a:moveTo>
                  <a:pt x="15" y="606"/>
                </a:moveTo>
                <a:lnTo>
                  <a:pt x="15" y="592"/>
                </a:lnTo>
                <a:lnTo>
                  <a:pt x="0" y="592"/>
                </a:lnTo>
                <a:lnTo>
                  <a:pt x="0" y="606"/>
                </a:lnTo>
                <a:lnTo>
                  <a:pt x="15" y="606"/>
                </a:lnTo>
                <a:close/>
                <a:moveTo>
                  <a:pt x="15" y="577"/>
                </a:moveTo>
                <a:lnTo>
                  <a:pt x="15" y="563"/>
                </a:lnTo>
                <a:lnTo>
                  <a:pt x="0" y="563"/>
                </a:lnTo>
                <a:lnTo>
                  <a:pt x="0" y="577"/>
                </a:lnTo>
                <a:lnTo>
                  <a:pt x="15" y="577"/>
                </a:lnTo>
                <a:close/>
                <a:moveTo>
                  <a:pt x="15" y="549"/>
                </a:moveTo>
                <a:lnTo>
                  <a:pt x="15" y="535"/>
                </a:lnTo>
                <a:lnTo>
                  <a:pt x="0" y="535"/>
                </a:lnTo>
                <a:lnTo>
                  <a:pt x="0" y="549"/>
                </a:lnTo>
                <a:lnTo>
                  <a:pt x="15" y="549"/>
                </a:lnTo>
                <a:close/>
                <a:moveTo>
                  <a:pt x="15" y="521"/>
                </a:moveTo>
                <a:lnTo>
                  <a:pt x="15" y="506"/>
                </a:lnTo>
                <a:lnTo>
                  <a:pt x="0" y="506"/>
                </a:lnTo>
                <a:lnTo>
                  <a:pt x="0" y="521"/>
                </a:lnTo>
                <a:lnTo>
                  <a:pt x="15" y="521"/>
                </a:lnTo>
                <a:close/>
                <a:moveTo>
                  <a:pt x="15" y="492"/>
                </a:moveTo>
                <a:lnTo>
                  <a:pt x="15" y="478"/>
                </a:lnTo>
                <a:lnTo>
                  <a:pt x="0" y="478"/>
                </a:lnTo>
                <a:lnTo>
                  <a:pt x="0" y="492"/>
                </a:lnTo>
                <a:lnTo>
                  <a:pt x="15" y="492"/>
                </a:lnTo>
                <a:close/>
                <a:moveTo>
                  <a:pt x="15" y="464"/>
                </a:moveTo>
                <a:lnTo>
                  <a:pt x="15" y="449"/>
                </a:lnTo>
                <a:lnTo>
                  <a:pt x="0" y="449"/>
                </a:lnTo>
                <a:lnTo>
                  <a:pt x="0" y="464"/>
                </a:lnTo>
                <a:lnTo>
                  <a:pt x="15" y="464"/>
                </a:lnTo>
                <a:close/>
                <a:moveTo>
                  <a:pt x="15" y="435"/>
                </a:moveTo>
                <a:lnTo>
                  <a:pt x="15" y="421"/>
                </a:lnTo>
                <a:lnTo>
                  <a:pt x="0" y="421"/>
                </a:lnTo>
                <a:lnTo>
                  <a:pt x="0" y="435"/>
                </a:lnTo>
                <a:lnTo>
                  <a:pt x="15" y="435"/>
                </a:lnTo>
                <a:close/>
                <a:moveTo>
                  <a:pt x="15" y="406"/>
                </a:moveTo>
                <a:lnTo>
                  <a:pt x="15" y="392"/>
                </a:lnTo>
                <a:lnTo>
                  <a:pt x="0" y="392"/>
                </a:lnTo>
                <a:lnTo>
                  <a:pt x="0" y="406"/>
                </a:lnTo>
                <a:lnTo>
                  <a:pt x="15" y="406"/>
                </a:lnTo>
                <a:close/>
                <a:moveTo>
                  <a:pt x="15" y="378"/>
                </a:moveTo>
                <a:lnTo>
                  <a:pt x="15" y="364"/>
                </a:lnTo>
                <a:lnTo>
                  <a:pt x="0" y="364"/>
                </a:lnTo>
                <a:lnTo>
                  <a:pt x="0" y="378"/>
                </a:lnTo>
                <a:lnTo>
                  <a:pt x="15" y="378"/>
                </a:lnTo>
                <a:close/>
                <a:moveTo>
                  <a:pt x="15" y="350"/>
                </a:moveTo>
                <a:lnTo>
                  <a:pt x="15" y="335"/>
                </a:lnTo>
                <a:lnTo>
                  <a:pt x="0" y="335"/>
                </a:lnTo>
                <a:lnTo>
                  <a:pt x="0" y="350"/>
                </a:lnTo>
                <a:lnTo>
                  <a:pt x="15" y="350"/>
                </a:lnTo>
                <a:close/>
                <a:moveTo>
                  <a:pt x="15" y="321"/>
                </a:moveTo>
                <a:lnTo>
                  <a:pt x="15" y="307"/>
                </a:lnTo>
                <a:lnTo>
                  <a:pt x="0" y="307"/>
                </a:lnTo>
                <a:lnTo>
                  <a:pt x="0" y="321"/>
                </a:lnTo>
                <a:lnTo>
                  <a:pt x="15" y="321"/>
                </a:lnTo>
                <a:close/>
                <a:moveTo>
                  <a:pt x="15" y="293"/>
                </a:moveTo>
                <a:lnTo>
                  <a:pt x="15" y="278"/>
                </a:lnTo>
                <a:lnTo>
                  <a:pt x="0" y="278"/>
                </a:lnTo>
                <a:lnTo>
                  <a:pt x="0" y="293"/>
                </a:lnTo>
                <a:lnTo>
                  <a:pt x="15" y="293"/>
                </a:lnTo>
                <a:close/>
                <a:moveTo>
                  <a:pt x="15" y="264"/>
                </a:moveTo>
                <a:lnTo>
                  <a:pt x="15" y="250"/>
                </a:lnTo>
                <a:lnTo>
                  <a:pt x="0" y="250"/>
                </a:lnTo>
                <a:lnTo>
                  <a:pt x="0" y="264"/>
                </a:lnTo>
                <a:lnTo>
                  <a:pt x="15" y="264"/>
                </a:lnTo>
                <a:close/>
                <a:moveTo>
                  <a:pt x="15" y="236"/>
                </a:moveTo>
                <a:lnTo>
                  <a:pt x="15" y="221"/>
                </a:lnTo>
                <a:lnTo>
                  <a:pt x="0" y="221"/>
                </a:lnTo>
                <a:lnTo>
                  <a:pt x="0" y="236"/>
                </a:lnTo>
                <a:lnTo>
                  <a:pt x="15" y="236"/>
                </a:lnTo>
                <a:close/>
                <a:moveTo>
                  <a:pt x="15" y="207"/>
                </a:moveTo>
                <a:lnTo>
                  <a:pt x="15" y="193"/>
                </a:lnTo>
                <a:lnTo>
                  <a:pt x="0" y="193"/>
                </a:lnTo>
                <a:lnTo>
                  <a:pt x="0" y="207"/>
                </a:lnTo>
                <a:lnTo>
                  <a:pt x="15" y="207"/>
                </a:lnTo>
                <a:close/>
                <a:moveTo>
                  <a:pt x="15" y="179"/>
                </a:moveTo>
                <a:lnTo>
                  <a:pt x="15" y="164"/>
                </a:lnTo>
                <a:lnTo>
                  <a:pt x="0" y="164"/>
                </a:lnTo>
                <a:lnTo>
                  <a:pt x="0" y="179"/>
                </a:lnTo>
                <a:lnTo>
                  <a:pt x="15" y="179"/>
                </a:lnTo>
                <a:close/>
                <a:moveTo>
                  <a:pt x="15" y="150"/>
                </a:moveTo>
                <a:lnTo>
                  <a:pt x="15" y="136"/>
                </a:lnTo>
                <a:lnTo>
                  <a:pt x="0" y="136"/>
                </a:lnTo>
                <a:lnTo>
                  <a:pt x="0" y="150"/>
                </a:lnTo>
                <a:lnTo>
                  <a:pt x="15" y="150"/>
                </a:lnTo>
                <a:close/>
                <a:moveTo>
                  <a:pt x="15" y="122"/>
                </a:moveTo>
                <a:lnTo>
                  <a:pt x="15" y="107"/>
                </a:lnTo>
                <a:lnTo>
                  <a:pt x="0" y="107"/>
                </a:lnTo>
                <a:lnTo>
                  <a:pt x="0" y="122"/>
                </a:lnTo>
                <a:lnTo>
                  <a:pt x="15" y="122"/>
                </a:lnTo>
                <a:close/>
                <a:moveTo>
                  <a:pt x="15" y="93"/>
                </a:moveTo>
                <a:lnTo>
                  <a:pt x="15" y="79"/>
                </a:lnTo>
                <a:lnTo>
                  <a:pt x="0" y="79"/>
                </a:lnTo>
                <a:lnTo>
                  <a:pt x="0" y="93"/>
                </a:lnTo>
                <a:lnTo>
                  <a:pt x="15" y="93"/>
                </a:lnTo>
                <a:close/>
                <a:moveTo>
                  <a:pt x="15" y="65"/>
                </a:moveTo>
                <a:lnTo>
                  <a:pt x="15" y="51"/>
                </a:lnTo>
                <a:lnTo>
                  <a:pt x="0" y="51"/>
                </a:lnTo>
                <a:lnTo>
                  <a:pt x="0" y="65"/>
                </a:lnTo>
                <a:lnTo>
                  <a:pt x="15" y="65"/>
                </a:lnTo>
                <a:close/>
                <a:moveTo>
                  <a:pt x="15" y="36"/>
                </a:moveTo>
                <a:lnTo>
                  <a:pt x="15" y="22"/>
                </a:lnTo>
                <a:lnTo>
                  <a:pt x="0" y="22"/>
                </a:lnTo>
                <a:lnTo>
                  <a:pt x="0" y="36"/>
                </a:lnTo>
                <a:lnTo>
                  <a:pt x="15" y="36"/>
                </a:lnTo>
                <a:close/>
                <a:moveTo>
                  <a:pt x="15" y="8"/>
                </a:moveTo>
                <a:lnTo>
                  <a:pt x="15" y="0"/>
                </a:lnTo>
                <a:lnTo>
                  <a:pt x="0" y="0"/>
                </a:lnTo>
                <a:lnTo>
                  <a:pt x="0" y="8"/>
                </a:lnTo>
                <a:lnTo>
                  <a:pt x="15" y="8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3333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" name="Freeform 118">
            <a:extLst>
              <a:ext uri="{FF2B5EF4-FFF2-40B4-BE49-F238E27FC236}">
                <a16:creationId xmlns:a16="http://schemas.microsoft.com/office/drawing/2014/main" id="{4C156D69-45AB-4E90-B1E2-D6FD2DE7EC14}"/>
              </a:ext>
            </a:extLst>
          </p:cNvPr>
          <p:cNvSpPr>
            <a:spLocks noEditPoints="1"/>
          </p:cNvSpPr>
          <p:nvPr/>
        </p:nvSpPr>
        <p:spPr bwMode="auto">
          <a:xfrm>
            <a:off x="7628479" y="1897066"/>
            <a:ext cx="23813" cy="1335088"/>
          </a:xfrm>
          <a:custGeom>
            <a:avLst/>
            <a:gdLst>
              <a:gd name="T0" fmla="*/ 0 w 15"/>
              <a:gd name="T1" fmla="*/ 827 h 841"/>
              <a:gd name="T2" fmla="*/ 15 w 15"/>
              <a:gd name="T3" fmla="*/ 812 h 841"/>
              <a:gd name="T4" fmla="*/ 0 w 15"/>
              <a:gd name="T5" fmla="*/ 812 h 841"/>
              <a:gd name="T6" fmla="*/ 15 w 15"/>
              <a:gd name="T7" fmla="*/ 770 h 841"/>
              <a:gd name="T8" fmla="*/ 15 w 15"/>
              <a:gd name="T9" fmla="*/ 784 h 841"/>
              <a:gd name="T10" fmla="*/ 0 w 15"/>
              <a:gd name="T11" fmla="*/ 741 h 841"/>
              <a:gd name="T12" fmla="*/ 15 w 15"/>
              <a:gd name="T13" fmla="*/ 727 h 841"/>
              <a:gd name="T14" fmla="*/ 0 w 15"/>
              <a:gd name="T15" fmla="*/ 727 h 841"/>
              <a:gd name="T16" fmla="*/ 15 w 15"/>
              <a:gd name="T17" fmla="*/ 684 h 841"/>
              <a:gd name="T18" fmla="*/ 15 w 15"/>
              <a:gd name="T19" fmla="*/ 698 h 841"/>
              <a:gd name="T20" fmla="*/ 0 w 15"/>
              <a:gd name="T21" fmla="*/ 656 h 841"/>
              <a:gd name="T22" fmla="*/ 15 w 15"/>
              <a:gd name="T23" fmla="*/ 641 h 841"/>
              <a:gd name="T24" fmla="*/ 0 w 15"/>
              <a:gd name="T25" fmla="*/ 641 h 841"/>
              <a:gd name="T26" fmla="*/ 15 w 15"/>
              <a:gd name="T27" fmla="*/ 599 h 841"/>
              <a:gd name="T28" fmla="*/ 15 w 15"/>
              <a:gd name="T29" fmla="*/ 613 h 841"/>
              <a:gd name="T30" fmla="*/ 0 w 15"/>
              <a:gd name="T31" fmla="*/ 570 h 841"/>
              <a:gd name="T32" fmla="*/ 15 w 15"/>
              <a:gd name="T33" fmla="*/ 556 h 841"/>
              <a:gd name="T34" fmla="*/ 0 w 15"/>
              <a:gd name="T35" fmla="*/ 556 h 841"/>
              <a:gd name="T36" fmla="*/ 15 w 15"/>
              <a:gd name="T37" fmla="*/ 513 h 841"/>
              <a:gd name="T38" fmla="*/ 15 w 15"/>
              <a:gd name="T39" fmla="*/ 527 h 841"/>
              <a:gd name="T40" fmla="*/ 0 w 15"/>
              <a:gd name="T41" fmla="*/ 485 h 841"/>
              <a:gd name="T42" fmla="*/ 15 w 15"/>
              <a:gd name="T43" fmla="*/ 470 h 841"/>
              <a:gd name="T44" fmla="*/ 0 w 15"/>
              <a:gd name="T45" fmla="*/ 470 h 841"/>
              <a:gd name="T46" fmla="*/ 15 w 15"/>
              <a:gd name="T47" fmla="*/ 428 h 841"/>
              <a:gd name="T48" fmla="*/ 15 w 15"/>
              <a:gd name="T49" fmla="*/ 442 h 841"/>
              <a:gd name="T50" fmla="*/ 0 w 15"/>
              <a:gd name="T51" fmla="*/ 399 h 841"/>
              <a:gd name="T52" fmla="*/ 15 w 15"/>
              <a:gd name="T53" fmla="*/ 385 h 841"/>
              <a:gd name="T54" fmla="*/ 0 w 15"/>
              <a:gd name="T55" fmla="*/ 385 h 841"/>
              <a:gd name="T56" fmla="*/ 15 w 15"/>
              <a:gd name="T57" fmla="*/ 342 h 841"/>
              <a:gd name="T58" fmla="*/ 15 w 15"/>
              <a:gd name="T59" fmla="*/ 356 h 841"/>
              <a:gd name="T60" fmla="*/ 0 w 15"/>
              <a:gd name="T61" fmla="*/ 314 h 841"/>
              <a:gd name="T62" fmla="*/ 15 w 15"/>
              <a:gd name="T63" fmla="*/ 299 h 841"/>
              <a:gd name="T64" fmla="*/ 0 w 15"/>
              <a:gd name="T65" fmla="*/ 299 h 841"/>
              <a:gd name="T66" fmla="*/ 15 w 15"/>
              <a:gd name="T67" fmla="*/ 257 h 841"/>
              <a:gd name="T68" fmla="*/ 15 w 15"/>
              <a:gd name="T69" fmla="*/ 271 h 841"/>
              <a:gd name="T70" fmla="*/ 0 w 15"/>
              <a:gd name="T71" fmla="*/ 228 h 841"/>
              <a:gd name="T72" fmla="*/ 15 w 15"/>
              <a:gd name="T73" fmla="*/ 214 h 841"/>
              <a:gd name="T74" fmla="*/ 0 w 15"/>
              <a:gd name="T75" fmla="*/ 214 h 841"/>
              <a:gd name="T76" fmla="*/ 15 w 15"/>
              <a:gd name="T77" fmla="*/ 171 h 841"/>
              <a:gd name="T78" fmla="*/ 15 w 15"/>
              <a:gd name="T79" fmla="*/ 186 h 841"/>
              <a:gd name="T80" fmla="*/ 0 w 15"/>
              <a:gd name="T81" fmla="*/ 143 h 841"/>
              <a:gd name="T82" fmla="*/ 15 w 15"/>
              <a:gd name="T83" fmla="*/ 128 h 841"/>
              <a:gd name="T84" fmla="*/ 0 w 15"/>
              <a:gd name="T85" fmla="*/ 128 h 841"/>
              <a:gd name="T86" fmla="*/ 15 w 15"/>
              <a:gd name="T87" fmla="*/ 86 h 841"/>
              <a:gd name="T88" fmla="*/ 15 w 15"/>
              <a:gd name="T89" fmla="*/ 100 h 841"/>
              <a:gd name="T90" fmla="*/ 0 w 15"/>
              <a:gd name="T91" fmla="*/ 57 h 841"/>
              <a:gd name="T92" fmla="*/ 15 w 15"/>
              <a:gd name="T93" fmla="*/ 43 h 841"/>
              <a:gd name="T94" fmla="*/ 0 w 15"/>
              <a:gd name="T95" fmla="*/ 43 h 841"/>
              <a:gd name="T96" fmla="*/ 15 w 15"/>
              <a:gd name="T97" fmla="*/ 0 h 841"/>
              <a:gd name="T98" fmla="*/ 15 w 15"/>
              <a:gd name="T99" fmla="*/ 15 h 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" h="841">
                <a:moveTo>
                  <a:pt x="15" y="841"/>
                </a:moveTo>
                <a:lnTo>
                  <a:pt x="15" y="827"/>
                </a:lnTo>
                <a:lnTo>
                  <a:pt x="0" y="827"/>
                </a:lnTo>
                <a:lnTo>
                  <a:pt x="0" y="841"/>
                </a:lnTo>
                <a:lnTo>
                  <a:pt x="15" y="841"/>
                </a:lnTo>
                <a:close/>
                <a:moveTo>
                  <a:pt x="15" y="812"/>
                </a:moveTo>
                <a:lnTo>
                  <a:pt x="15" y="798"/>
                </a:lnTo>
                <a:lnTo>
                  <a:pt x="0" y="798"/>
                </a:lnTo>
                <a:lnTo>
                  <a:pt x="0" y="812"/>
                </a:lnTo>
                <a:lnTo>
                  <a:pt x="15" y="812"/>
                </a:lnTo>
                <a:close/>
                <a:moveTo>
                  <a:pt x="15" y="784"/>
                </a:moveTo>
                <a:lnTo>
                  <a:pt x="15" y="770"/>
                </a:lnTo>
                <a:lnTo>
                  <a:pt x="0" y="770"/>
                </a:lnTo>
                <a:lnTo>
                  <a:pt x="0" y="784"/>
                </a:lnTo>
                <a:lnTo>
                  <a:pt x="15" y="784"/>
                </a:lnTo>
                <a:close/>
                <a:moveTo>
                  <a:pt x="15" y="755"/>
                </a:moveTo>
                <a:lnTo>
                  <a:pt x="15" y="741"/>
                </a:lnTo>
                <a:lnTo>
                  <a:pt x="0" y="741"/>
                </a:lnTo>
                <a:lnTo>
                  <a:pt x="0" y="755"/>
                </a:lnTo>
                <a:lnTo>
                  <a:pt x="15" y="755"/>
                </a:lnTo>
                <a:close/>
                <a:moveTo>
                  <a:pt x="15" y="727"/>
                </a:moveTo>
                <a:lnTo>
                  <a:pt x="15" y="712"/>
                </a:lnTo>
                <a:lnTo>
                  <a:pt x="0" y="712"/>
                </a:lnTo>
                <a:lnTo>
                  <a:pt x="0" y="727"/>
                </a:lnTo>
                <a:lnTo>
                  <a:pt x="15" y="727"/>
                </a:lnTo>
                <a:close/>
                <a:moveTo>
                  <a:pt x="15" y="698"/>
                </a:moveTo>
                <a:lnTo>
                  <a:pt x="15" y="684"/>
                </a:lnTo>
                <a:lnTo>
                  <a:pt x="0" y="684"/>
                </a:lnTo>
                <a:lnTo>
                  <a:pt x="0" y="698"/>
                </a:lnTo>
                <a:lnTo>
                  <a:pt x="15" y="698"/>
                </a:lnTo>
                <a:close/>
                <a:moveTo>
                  <a:pt x="15" y="670"/>
                </a:moveTo>
                <a:lnTo>
                  <a:pt x="15" y="656"/>
                </a:lnTo>
                <a:lnTo>
                  <a:pt x="0" y="656"/>
                </a:lnTo>
                <a:lnTo>
                  <a:pt x="0" y="670"/>
                </a:lnTo>
                <a:lnTo>
                  <a:pt x="15" y="670"/>
                </a:lnTo>
                <a:close/>
                <a:moveTo>
                  <a:pt x="15" y="641"/>
                </a:moveTo>
                <a:lnTo>
                  <a:pt x="15" y="627"/>
                </a:lnTo>
                <a:lnTo>
                  <a:pt x="0" y="627"/>
                </a:lnTo>
                <a:lnTo>
                  <a:pt x="0" y="641"/>
                </a:lnTo>
                <a:lnTo>
                  <a:pt x="15" y="641"/>
                </a:lnTo>
                <a:close/>
                <a:moveTo>
                  <a:pt x="15" y="613"/>
                </a:moveTo>
                <a:lnTo>
                  <a:pt x="15" y="599"/>
                </a:lnTo>
                <a:lnTo>
                  <a:pt x="0" y="599"/>
                </a:lnTo>
                <a:lnTo>
                  <a:pt x="0" y="613"/>
                </a:lnTo>
                <a:lnTo>
                  <a:pt x="15" y="613"/>
                </a:lnTo>
                <a:close/>
                <a:moveTo>
                  <a:pt x="15" y="584"/>
                </a:moveTo>
                <a:lnTo>
                  <a:pt x="15" y="570"/>
                </a:lnTo>
                <a:lnTo>
                  <a:pt x="0" y="570"/>
                </a:lnTo>
                <a:lnTo>
                  <a:pt x="0" y="584"/>
                </a:lnTo>
                <a:lnTo>
                  <a:pt x="15" y="584"/>
                </a:lnTo>
                <a:close/>
                <a:moveTo>
                  <a:pt x="15" y="556"/>
                </a:moveTo>
                <a:lnTo>
                  <a:pt x="15" y="541"/>
                </a:lnTo>
                <a:lnTo>
                  <a:pt x="0" y="541"/>
                </a:lnTo>
                <a:lnTo>
                  <a:pt x="0" y="556"/>
                </a:lnTo>
                <a:lnTo>
                  <a:pt x="15" y="556"/>
                </a:lnTo>
                <a:close/>
                <a:moveTo>
                  <a:pt x="15" y="527"/>
                </a:moveTo>
                <a:lnTo>
                  <a:pt x="15" y="513"/>
                </a:lnTo>
                <a:lnTo>
                  <a:pt x="0" y="513"/>
                </a:lnTo>
                <a:lnTo>
                  <a:pt x="0" y="527"/>
                </a:lnTo>
                <a:lnTo>
                  <a:pt x="15" y="527"/>
                </a:lnTo>
                <a:close/>
                <a:moveTo>
                  <a:pt x="15" y="499"/>
                </a:moveTo>
                <a:lnTo>
                  <a:pt x="15" y="485"/>
                </a:lnTo>
                <a:lnTo>
                  <a:pt x="0" y="485"/>
                </a:lnTo>
                <a:lnTo>
                  <a:pt x="0" y="499"/>
                </a:lnTo>
                <a:lnTo>
                  <a:pt x="15" y="499"/>
                </a:lnTo>
                <a:close/>
                <a:moveTo>
                  <a:pt x="15" y="470"/>
                </a:moveTo>
                <a:lnTo>
                  <a:pt x="15" y="456"/>
                </a:lnTo>
                <a:lnTo>
                  <a:pt x="0" y="456"/>
                </a:lnTo>
                <a:lnTo>
                  <a:pt x="0" y="470"/>
                </a:lnTo>
                <a:lnTo>
                  <a:pt x="15" y="470"/>
                </a:lnTo>
                <a:close/>
                <a:moveTo>
                  <a:pt x="15" y="442"/>
                </a:moveTo>
                <a:lnTo>
                  <a:pt x="15" y="428"/>
                </a:lnTo>
                <a:lnTo>
                  <a:pt x="0" y="428"/>
                </a:lnTo>
                <a:lnTo>
                  <a:pt x="0" y="442"/>
                </a:lnTo>
                <a:lnTo>
                  <a:pt x="15" y="442"/>
                </a:lnTo>
                <a:close/>
                <a:moveTo>
                  <a:pt x="15" y="413"/>
                </a:moveTo>
                <a:lnTo>
                  <a:pt x="15" y="399"/>
                </a:lnTo>
                <a:lnTo>
                  <a:pt x="0" y="399"/>
                </a:lnTo>
                <a:lnTo>
                  <a:pt x="0" y="413"/>
                </a:lnTo>
                <a:lnTo>
                  <a:pt x="15" y="413"/>
                </a:lnTo>
                <a:close/>
                <a:moveTo>
                  <a:pt x="15" y="385"/>
                </a:moveTo>
                <a:lnTo>
                  <a:pt x="15" y="371"/>
                </a:lnTo>
                <a:lnTo>
                  <a:pt x="0" y="371"/>
                </a:lnTo>
                <a:lnTo>
                  <a:pt x="0" y="385"/>
                </a:lnTo>
                <a:lnTo>
                  <a:pt x="15" y="385"/>
                </a:lnTo>
                <a:close/>
                <a:moveTo>
                  <a:pt x="15" y="356"/>
                </a:moveTo>
                <a:lnTo>
                  <a:pt x="15" y="342"/>
                </a:lnTo>
                <a:lnTo>
                  <a:pt x="0" y="342"/>
                </a:lnTo>
                <a:lnTo>
                  <a:pt x="0" y="356"/>
                </a:lnTo>
                <a:lnTo>
                  <a:pt x="15" y="356"/>
                </a:lnTo>
                <a:close/>
                <a:moveTo>
                  <a:pt x="15" y="328"/>
                </a:moveTo>
                <a:lnTo>
                  <a:pt x="15" y="314"/>
                </a:lnTo>
                <a:lnTo>
                  <a:pt x="0" y="314"/>
                </a:lnTo>
                <a:lnTo>
                  <a:pt x="0" y="328"/>
                </a:lnTo>
                <a:lnTo>
                  <a:pt x="15" y="328"/>
                </a:lnTo>
                <a:close/>
                <a:moveTo>
                  <a:pt x="15" y="299"/>
                </a:moveTo>
                <a:lnTo>
                  <a:pt x="15" y="285"/>
                </a:lnTo>
                <a:lnTo>
                  <a:pt x="0" y="285"/>
                </a:lnTo>
                <a:lnTo>
                  <a:pt x="0" y="299"/>
                </a:lnTo>
                <a:lnTo>
                  <a:pt x="15" y="299"/>
                </a:lnTo>
                <a:close/>
                <a:moveTo>
                  <a:pt x="15" y="271"/>
                </a:moveTo>
                <a:lnTo>
                  <a:pt x="15" y="257"/>
                </a:lnTo>
                <a:lnTo>
                  <a:pt x="0" y="257"/>
                </a:lnTo>
                <a:lnTo>
                  <a:pt x="0" y="271"/>
                </a:lnTo>
                <a:lnTo>
                  <a:pt x="15" y="271"/>
                </a:lnTo>
                <a:close/>
                <a:moveTo>
                  <a:pt x="15" y="242"/>
                </a:moveTo>
                <a:lnTo>
                  <a:pt x="15" y="228"/>
                </a:lnTo>
                <a:lnTo>
                  <a:pt x="0" y="228"/>
                </a:lnTo>
                <a:lnTo>
                  <a:pt x="0" y="242"/>
                </a:lnTo>
                <a:lnTo>
                  <a:pt x="15" y="242"/>
                </a:lnTo>
                <a:close/>
                <a:moveTo>
                  <a:pt x="15" y="214"/>
                </a:moveTo>
                <a:lnTo>
                  <a:pt x="15" y="200"/>
                </a:lnTo>
                <a:lnTo>
                  <a:pt x="0" y="200"/>
                </a:lnTo>
                <a:lnTo>
                  <a:pt x="0" y="214"/>
                </a:lnTo>
                <a:lnTo>
                  <a:pt x="15" y="214"/>
                </a:lnTo>
                <a:close/>
                <a:moveTo>
                  <a:pt x="15" y="186"/>
                </a:moveTo>
                <a:lnTo>
                  <a:pt x="15" y="171"/>
                </a:lnTo>
                <a:lnTo>
                  <a:pt x="0" y="171"/>
                </a:lnTo>
                <a:lnTo>
                  <a:pt x="0" y="186"/>
                </a:lnTo>
                <a:lnTo>
                  <a:pt x="15" y="186"/>
                </a:lnTo>
                <a:close/>
                <a:moveTo>
                  <a:pt x="15" y="157"/>
                </a:moveTo>
                <a:lnTo>
                  <a:pt x="15" y="143"/>
                </a:lnTo>
                <a:lnTo>
                  <a:pt x="0" y="143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8"/>
                </a:moveTo>
                <a:lnTo>
                  <a:pt x="15" y="114"/>
                </a:lnTo>
                <a:lnTo>
                  <a:pt x="0" y="114"/>
                </a:lnTo>
                <a:lnTo>
                  <a:pt x="0" y="128"/>
                </a:lnTo>
                <a:lnTo>
                  <a:pt x="15" y="128"/>
                </a:lnTo>
                <a:close/>
                <a:moveTo>
                  <a:pt x="15" y="100"/>
                </a:moveTo>
                <a:lnTo>
                  <a:pt x="15" y="86"/>
                </a:lnTo>
                <a:lnTo>
                  <a:pt x="0" y="86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9"/>
                </a:lnTo>
                <a:lnTo>
                  <a:pt x="0" y="29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5"/>
                </a:moveTo>
                <a:lnTo>
                  <a:pt x="15" y="0"/>
                </a:lnTo>
                <a:lnTo>
                  <a:pt x="0" y="0"/>
                </a:lnTo>
                <a:lnTo>
                  <a:pt x="0" y="15"/>
                </a:lnTo>
                <a:lnTo>
                  <a:pt x="15" y="15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3333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1" name="Line 119">
            <a:extLst>
              <a:ext uri="{FF2B5EF4-FFF2-40B4-BE49-F238E27FC236}">
                <a16:creationId xmlns:a16="http://schemas.microsoft.com/office/drawing/2014/main" id="{5425CAE9-B2EF-472F-B278-A771F972A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3463" y="2179641"/>
            <a:ext cx="312738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2" name="Line 120">
            <a:extLst>
              <a:ext uri="{FF2B5EF4-FFF2-40B4-BE49-F238E27FC236}">
                <a16:creationId xmlns:a16="http://schemas.microsoft.com/office/drawing/2014/main" id="{4B975C02-62A3-484D-9199-4EEA69BBAE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6" y="1968503"/>
            <a:ext cx="0" cy="2032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3" name="Line 121">
            <a:extLst>
              <a:ext uri="{FF2B5EF4-FFF2-40B4-BE49-F238E27FC236}">
                <a16:creationId xmlns:a16="http://schemas.microsoft.com/office/drawing/2014/main" id="{D7386AD4-3EE5-467F-97CE-A55738E4E1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2713" y="1933578"/>
            <a:ext cx="0" cy="238125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4" name="Line 122">
            <a:extLst>
              <a:ext uri="{FF2B5EF4-FFF2-40B4-BE49-F238E27FC236}">
                <a16:creationId xmlns:a16="http://schemas.microsoft.com/office/drawing/2014/main" id="{3C0B4FF5-E882-4792-ABAA-2CD29C82B8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1254" y="1968503"/>
            <a:ext cx="0" cy="2032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5" name="Line 123">
            <a:extLst>
              <a:ext uri="{FF2B5EF4-FFF2-40B4-BE49-F238E27FC236}">
                <a16:creationId xmlns:a16="http://schemas.microsoft.com/office/drawing/2014/main" id="{22348765-EA49-4F51-AC8D-2657D1F46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1" y="1958978"/>
            <a:ext cx="1670050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6" name="Line 124">
            <a:extLst>
              <a:ext uri="{FF2B5EF4-FFF2-40B4-BE49-F238E27FC236}">
                <a16:creationId xmlns:a16="http://schemas.microsoft.com/office/drawing/2014/main" id="{75986742-A68B-47E7-B230-4B4488469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1176" y="2179641"/>
            <a:ext cx="1401537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7" name="Line 125">
            <a:extLst>
              <a:ext uri="{FF2B5EF4-FFF2-40B4-BE49-F238E27FC236}">
                <a16:creationId xmlns:a16="http://schemas.microsoft.com/office/drawing/2014/main" id="{689AC811-2B5E-4A92-9581-7E0E6BE83C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1176" y="1968503"/>
            <a:ext cx="0" cy="2032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8" name="Line 126">
            <a:extLst>
              <a:ext uri="{FF2B5EF4-FFF2-40B4-BE49-F238E27FC236}">
                <a16:creationId xmlns:a16="http://schemas.microsoft.com/office/drawing/2014/main" id="{77756A37-214F-42AF-B496-A34D3C3B6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3189" y="1958978"/>
            <a:ext cx="1744850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9" name="Line 127">
            <a:extLst>
              <a:ext uri="{FF2B5EF4-FFF2-40B4-BE49-F238E27FC236}">
                <a16:creationId xmlns:a16="http://schemas.microsoft.com/office/drawing/2014/main" id="{CEAFBA2B-1FAA-43F5-A186-91405C10A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39" y="2171703"/>
            <a:ext cx="1458087" cy="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0" name="Line 128">
            <a:extLst>
              <a:ext uri="{FF2B5EF4-FFF2-40B4-BE49-F238E27FC236}">
                <a16:creationId xmlns:a16="http://schemas.microsoft.com/office/drawing/2014/main" id="{6CDCAE1E-0112-4373-918D-8637AE0346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9326" y="1968503"/>
            <a:ext cx="0" cy="203200"/>
          </a:xfrm>
          <a:prstGeom prst="line">
            <a:avLst/>
          </a:prstGeom>
          <a:noFill/>
          <a:ln w="222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2" name="Rectangle 130">
            <a:extLst>
              <a:ext uri="{FF2B5EF4-FFF2-40B4-BE49-F238E27FC236}">
                <a16:creationId xmlns:a16="http://schemas.microsoft.com/office/drawing/2014/main" id="{09E2025F-A252-4E34-9D33-795068477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6" y="1927228"/>
            <a:ext cx="365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6" name="Rectangle 134">
            <a:extLst>
              <a:ext uri="{FF2B5EF4-FFF2-40B4-BE49-F238E27FC236}">
                <a16:creationId xmlns:a16="http://schemas.microsoft.com/office/drawing/2014/main" id="{D1CE71B2-784E-42B9-9488-356472B52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2" y="2527303"/>
            <a:ext cx="3057526" cy="263525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7" name="Rectangle 135">
            <a:extLst>
              <a:ext uri="{FF2B5EF4-FFF2-40B4-BE49-F238E27FC236}">
                <a16:creationId xmlns:a16="http://schemas.microsoft.com/office/drawing/2014/main" id="{82CE54AC-E71A-4A2A-9AAC-A58B9787A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0" y="2519366"/>
            <a:ext cx="3210876" cy="271463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8" name="Rectangle 136">
            <a:extLst>
              <a:ext uri="{FF2B5EF4-FFF2-40B4-BE49-F238E27FC236}">
                <a16:creationId xmlns:a16="http://schemas.microsoft.com/office/drawing/2014/main" id="{068DE0C5-B329-41FE-ABDE-9F90752A3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2568578"/>
            <a:ext cx="54292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Load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9" name="Rectangle 137">
            <a:extLst>
              <a:ext uri="{FF2B5EF4-FFF2-40B4-BE49-F238E27FC236}">
                <a16:creationId xmlns:a16="http://schemas.microsoft.com/office/drawing/2014/main" id="{7F64B24A-7060-4F1A-9F5C-8F0BC5694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588" y="2568578"/>
            <a:ext cx="576263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" name="Freeform 138">
            <a:extLst>
              <a:ext uri="{FF2B5EF4-FFF2-40B4-BE49-F238E27FC236}">
                <a16:creationId xmlns:a16="http://schemas.microsoft.com/office/drawing/2014/main" id="{8111F8D6-82E0-406D-B0E3-F9297537ED30}"/>
              </a:ext>
            </a:extLst>
          </p:cNvPr>
          <p:cNvSpPr>
            <a:spLocks noEditPoints="1"/>
          </p:cNvSpPr>
          <p:nvPr/>
        </p:nvSpPr>
        <p:spPr bwMode="auto">
          <a:xfrm>
            <a:off x="6701058" y="2511428"/>
            <a:ext cx="22225" cy="287338"/>
          </a:xfrm>
          <a:custGeom>
            <a:avLst/>
            <a:gdLst>
              <a:gd name="T0" fmla="*/ 14 w 14"/>
              <a:gd name="T1" fmla="*/ 181 h 181"/>
              <a:gd name="T2" fmla="*/ 14 w 14"/>
              <a:gd name="T3" fmla="*/ 167 h 181"/>
              <a:gd name="T4" fmla="*/ 0 w 14"/>
              <a:gd name="T5" fmla="*/ 167 h 181"/>
              <a:gd name="T6" fmla="*/ 0 w 14"/>
              <a:gd name="T7" fmla="*/ 181 h 181"/>
              <a:gd name="T8" fmla="*/ 14 w 14"/>
              <a:gd name="T9" fmla="*/ 181 h 181"/>
              <a:gd name="T10" fmla="*/ 14 w 14"/>
              <a:gd name="T11" fmla="*/ 153 h 181"/>
              <a:gd name="T12" fmla="*/ 14 w 14"/>
              <a:gd name="T13" fmla="*/ 138 h 181"/>
              <a:gd name="T14" fmla="*/ 0 w 14"/>
              <a:gd name="T15" fmla="*/ 138 h 181"/>
              <a:gd name="T16" fmla="*/ 0 w 14"/>
              <a:gd name="T17" fmla="*/ 153 h 181"/>
              <a:gd name="T18" fmla="*/ 14 w 14"/>
              <a:gd name="T19" fmla="*/ 153 h 181"/>
              <a:gd name="T20" fmla="*/ 14 w 14"/>
              <a:gd name="T21" fmla="*/ 124 h 181"/>
              <a:gd name="T22" fmla="*/ 14 w 14"/>
              <a:gd name="T23" fmla="*/ 110 h 181"/>
              <a:gd name="T24" fmla="*/ 0 w 14"/>
              <a:gd name="T25" fmla="*/ 110 h 181"/>
              <a:gd name="T26" fmla="*/ 0 w 14"/>
              <a:gd name="T27" fmla="*/ 124 h 181"/>
              <a:gd name="T28" fmla="*/ 14 w 14"/>
              <a:gd name="T29" fmla="*/ 124 h 181"/>
              <a:gd name="T30" fmla="*/ 14 w 14"/>
              <a:gd name="T31" fmla="*/ 96 h 181"/>
              <a:gd name="T32" fmla="*/ 14 w 14"/>
              <a:gd name="T33" fmla="*/ 82 h 181"/>
              <a:gd name="T34" fmla="*/ 0 w 14"/>
              <a:gd name="T35" fmla="*/ 82 h 181"/>
              <a:gd name="T36" fmla="*/ 0 w 14"/>
              <a:gd name="T37" fmla="*/ 96 h 181"/>
              <a:gd name="T38" fmla="*/ 14 w 14"/>
              <a:gd name="T39" fmla="*/ 96 h 181"/>
              <a:gd name="T40" fmla="*/ 14 w 14"/>
              <a:gd name="T41" fmla="*/ 67 h 181"/>
              <a:gd name="T42" fmla="*/ 14 w 14"/>
              <a:gd name="T43" fmla="*/ 53 h 181"/>
              <a:gd name="T44" fmla="*/ 0 w 14"/>
              <a:gd name="T45" fmla="*/ 53 h 181"/>
              <a:gd name="T46" fmla="*/ 0 w 14"/>
              <a:gd name="T47" fmla="*/ 67 h 181"/>
              <a:gd name="T48" fmla="*/ 14 w 14"/>
              <a:gd name="T49" fmla="*/ 67 h 181"/>
              <a:gd name="T50" fmla="*/ 14 w 14"/>
              <a:gd name="T51" fmla="*/ 39 h 181"/>
              <a:gd name="T52" fmla="*/ 14 w 14"/>
              <a:gd name="T53" fmla="*/ 25 h 181"/>
              <a:gd name="T54" fmla="*/ 0 w 14"/>
              <a:gd name="T55" fmla="*/ 25 h 181"/>
              <a:gd name="T56" fmla="*/ 0 w 14"/>
              <a:gd name="T57" fmla="*/ 39 h 181"/>
              <a:gd name="T58" fmla="*/ 14 w 14"/>
              <a:gd name="T59" fmla="*/ 39 h 181"/>
              <a:gd name="T60" fmla="*/ 14 w 14"/>
              <a:gd name="T61" fmla="*/ 10 h 181"/>
              <a:gd name="T62" fmla="*/ 14 w 14"/>
              <a:gd name="T63" fmla="*/ 0 h 181"/>
              <a:gd name="T64" fmla="*/ 0 w 14"/>
              <a:gd name="T65" fmla="*/ 0 h 181"/>
              <a:gd name="T66" fmla="*/ 0 w 14"/>
              <a:gd name="T67" fmla="*/ 10 h 181"/>
              <a:gd name="T68" fmla="*/ 14 w 14"/>
              <a:gd name="T69" fmla="*/ 1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1">
                <a:moveTo>
                  <a:pt x="14" y="181"/>
                </a:moveTo>
                <a:lnTo>
                  <a:pt x="14" y="167"/>
                </a:lnTo>
                <a:lnTo>
                  <a:pt x="0" y="167"/>
                </a:lnTo>
                <a:lnTo>
                  <a:pt x="0" y="181"/>
                </a:lnTo>
                <a:lnTo>
                  <a:pt x="14" y="181"/>
                </a:lnTo>
                <a:close/>
                <a:moveTo>
                  <a:pt x="14" y="153"/>
                </a:moveTo>
                <a:lnTo>
                  <a:pt x="14" y="138"/>
                </a:lnTo>
                <a:lnTo>
                  <a:pt x="0" y="138"/>
                </a:lnTo>
                <a:lnTo>
                  <a:pt x="0" y="153"/>
                </a:lnTo>
                <a:lnTo>
                  <a:pt x="14" y="153"/>
                </a:lnTo>
                <a:close/>
                <a:moveTo>
                  <a:pt x="14" y="124"/>
                </a:moveTo>
                <a:lnTo>
                  <a:pt x="14" y="110"/>
                </a:lnTo>
                <a:lnTo>
                  <a:pt x="0" y="110"/>
                </a:lnTo>
                <a:lnTo>
                  <a:pt x="0" y="124"/>
                </a:lnTo>
                <a:lnTo>
                  <a:pt x="14" y="124"/>
                </a:lnTo>
                <a:close/>
                <a:moveTo>
                  <a:pt x="14" y="96"/>
                </a:moveTo>
                <a:lnTo>
                  <a:pt x="14" y="82"/>
                </a:lnTo>
                <a:lnTo>
                  <a:pt x="0" y="82"/>
                </a:lnTo>
                <a:lnTo>
                  <a:pt x="0" y="96"/>
                </a:lnTo>
                <a:lnTo>
                  <a:pt x="14" y="96"/>
                </a:lnTo>
                <a:close/>
                <a:moveTo>
                  <a:pt x="14" y="67"/>
                </a:moveTo>
                <a:lnTo>
                  <a:pt x="14" y="53"/>
                </a:lnTo>
                <a:lnTo>
                  <a:pt x="0" y="53"/>
                </a:lnTo>
                <a:lnTo>
                  <a:pt x="0" y="67"/>
                </a:lnTo>
                <a:lnTo>
                  <a:pt x="14" y="67"/>
                </a:lnTo>
                <a:close/>
                <a:moveTo>
                  <a:pt x="14" y="39"/>
                </a:moveTo>
                <a:lnTo>
                  <a:pt x="14" y="25"/>
                </a:lnTo>
                <a:lnTo>
                  <a:pt x="0" y="25"/>
                </a:lnTo>
                <a:lnTo>
                  <a:pt x="0" y="39"/>
                </a:lnTo>
                <a:lnTo>
                  <a:pt x="14" y="39"/>
                </a:lnTo>
                <a:close/>
                <a:moveTo>
                  <a:pt x="14" y="10"/>
                </a:moveTo>
                <a:lnTo>
                  <a:pt x="14" y="0"/>
                </a:lnTo>
                <a:lnTo>
                  <a:pt x="0" y="0"/>
                </a:lnTo>
                <a:lnTo>
                  <a:pt x="0" y="10"/>
                </a:lnTo>
                <a:lnTo>
                  <a:pt x="14" y="1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1" name="Rectangle 139">
            <a:extLst>
              <a:ext uri="{FF2B5EF4-FFF2-40B4-BE49-F238E27FC236}">
                <a16:creationId xmlns:a16="http://schemas.microsoft.com/office/drawing/2014/main" id="{40404D46-C8B6-4E15-90A1-3FD49A15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391" y="2552703"/>
            <a:ext cx="6302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" panose="020B0604020202020204" pitchFamily="34" charset="0"/>
              </a:rPr>
              <a:t>Waste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Arial" panose="020B0604020202020204" pitchFamily="34" charset="0"/>
              </a:rPr>
              <a:t>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7" name="Rectangle 145">
            <a:extLst>
              <a:ext uri="{FF2B5EF4-FFF2-40B4-BE49-F238E27FC236}">
                <a16:creationId xmlns:a16="http://schemas.microsoft.com/office/drawing/2014/main" id="{FCEC6B78-713D-46DC-B74A-B7C59821E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6394453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8" name="Rectangle 146">
            <a:extLst>
              <a:ext uri="{FF2B5EF4-FFF2-40B4-BE49-F238E27FC236}">
                <a16:creationId xmlns:a16="http://schemas.microsoft.com/office/drawing/2014/main" id="{4408673B-1FAA-4A59-AE55-6AA62C93F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864" y="6438903"/>
            <a:ext cx="158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9" name="Rectangle 147">
            <a:extLst>
              <a:ext uri="{FF2B5EF4-FFF2-40B4-BE49-F238E27FC236}">
                <a16:creationId xmlns:a16="http://schemas.microsoft.com/office/drawing/2014/main" id="{CD07219A-437D-4678-BCFF-B0B144F4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4" y="6394453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0" name="Rectangle 148">
            <a:extLst>
              <a:ext uri="{FF2B5EF4-FFF2-40B4-BE49-F238E27FC236}">
                <a16:creationId xmlns:a16="http://schemas.microsoft.com/office/drawing/2014/main" id="{9DA580F1-5E43-414E-B62B-1092ED10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4" y="6438903"/>
            <a:ext cx="179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1" name="Rectangle 149">
            <a:extLst>
              <a:ext uri="{FF2B5EF4-FFF2-40B4-BE49-F238E27FC236}">
                <a16:creationId xmlns:a16="http://schemas.microsoft.com/office/drawing/2014/main" id="{B26FE4E3-FE25-429A-841B-7B16EE6FE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6" y="6394453"/>
            <a:ext cx="661988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2" name="Rectangle 150">
            <a:extLst>
              <a:ext uri="{FF2B5EF4-FFF2-40B4-BE49-F238E27FC236}">
                <a16:creationId xmlns:a16="http://schemas.microsoft.com/office/drawing/2014/main" id="{1C902FBB-EAEB-40F5-AD64-9EB895610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1" y="6438903"/>
            <a:ext cx="239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3" name="Rectangle 151">
            <a:extLst>
              <a:ext uri="{FF2B5EF4-FFF2-40B4-BE49-F238E27FC236}">
                <a16:creationId xmlns:a16="http://schemas.microsoft.com/office/drawing/2014/main" id="{EFAAE537-C957-48B2-BD15-FDD1CDAD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27" y="6394453"/>
            <a:ext cx="660400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4" name="Rectangle 152">
            <a:extLst>
              <a:ext uri="{FF2B5EF4-FFF2-40B4-BE49-F238E27FC236}">
                <a16:creationId xmlns:a16="http://schemas.microsoft.com/office/drawing/2014/main" id="{7F06DDF7-22E9-444D-A207-45DCEF74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7" y="6438903"/>
            <a:ext cx="419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MEM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5" name="Rectangle 153">
            <a:extLst>
              <a:ext uri="{FF2B5EF4-FFF2-40B4-BE49-F238E27FC236}">
                <a16:creationId xmlns:a16="http://schemas.microsoft.com/office/drawing/2014/main" id="{0E1FA70B-7805-49DB-8B81-DA7AA928F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9" y="6394453"/>
            <a:ext cx="660400" cy="255588"/>
          </a:xfrm>
          <a:prstGeom prst="rect">
            <a:avLst/>
          </a:prstGeom>
          <a:noFill/>
          <a:ln w="222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6" name="Rectangle 154">
            <a:extLst>
              <a:ext uri="{FF2B5EF4-FFF2-40B4-BE49-F238E27FC236}">
                <a16:creationId xmlns:a16="http://schemas.microsoft.com/office/drawing/2014/main" id="{1F20E2BB-87E4-45F4-88E6-9184DCAB6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2" y="6438903"/>
            <a:ext cx="381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WB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9" name="Rectangle 157">
            <a:extLst>
              <a:ext uri="{FF2B5EF4-FFF2-40B4-BE49-F238E27FC236}">
                <a16:creationId xmlns:a16="http://schemas.microsoft.com/office/drawing/2014/main" id="{34759DBB-96D9-4DC3-B530-E29990964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6396041"/>
            <a:ext cx="555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R-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0" name="Freeform 158">
            <a:extLst>
              <a:ext uri="{FF2B5EF4-FFF2-40B4-BE49-F238E27FC236}">
                <a16:creationId xmlns:a16="http://schemas.microsoft.com/office/drawing/2014/main" id="{3FB62B6B-A1E0-468F-AC60-E7B76BEE4684}"/>
              </a:ext>
            </a:extLst>
          </p:cNvPr>
          <p:cNvSpPr>
            <a:spLocks noEditPoints="1"/>
          </p:cNvSpPr>
          <p:nvPr/>
        </p:nvSpPr>
        <p:spPr bwMode="auto">
          <a:xfrm>
            <a:off x="1344613" y="1697041"/>
            <a:ext cx="22225" cy="287338"/>
          </a:xfrm>
          <a:custGeom>
            <a:avLst/>
            <a:gdLst>
              <a:gd name="T0" fmla="*/ 14 w 14"/>
              <a:gd name="T1" fmla="*/ 181 h 181"/>
              <a:gd name="T2" fmla="*/ 14 w 14"/>
              <a:gd name="T3" fmla="*/ 167 h 181"/>
              <a:gd name="T4" fmla="*/ 0 w 14"/>
              <a:gd name="T5" fmla="*/ 167 h 181"/>
              <a:gd name="T6" fmla="*/ 0 w 14"/>
              <a:gd name="T7" fmla="*/ 181 h 181"/>
              <a:gd name="T8" fmla="*/ 14 w 14"/>
              <a:gd name="T9" fmla="*/ 181 h 181"/>
              <a:gd name="T10" fmla="*/ 14 w 14"/>
              <a:gd name="T11" fmla="*/ 153 h 181"/>
              <a:gd name="T12" fmla="*/ 14 w 14"/>
              <a:gd name="T13" fmla="*/ 139 h 181"/>
              <a:gd name="T14" fmla="*/ 0 w 14"/>
              <a:gd name="T15" fmla="*/ 139 h 181"/>
              <a:gd name="T16" fmla="*/ 0 w 14"/>
              <a:gd name="T17" fmla="*/ 153 h 181"/>
              <a:gd name="T18" fmla="*/ 14 w 14"/>
              <a:gd name="T19" fmla="*/ 153 h 181"/>
              <a:gd name="T20" fmla="*/ 14 w 14"/>
              <a:gd name="T21" fmla="*/ 125 h 181"/>
              <a:gd name="T22" fmla="*/ 14 w 14"/>
              <a:gd name="T23" fmla="*/ 110 h 181"/>
              <a:gd name="T24" fmla="*/ 0 w 14"/>
              <a:gd name="T25" fmla="*/ 110 h 181"/>
              <a:gd name="T26" fmla="*/ 0 w 14"/>
              <a:gd name="T27" fmla="*/ 125 h 181"/>
              <a:gd name="T28" fmla="*/ 14 w 14"/>
              <a:gd name="T29" fmla="*/ 125 h 181"/>
              <a:gd name="T30" fmla="*/ 14 w 14"/>
              <a:gd name="T31" fmla="*/ 96 h 181"/>
              <a:gd name="T32" fmla="*/ 14 w 14"/>
              <a:gd name="T33" fmla="*/ 82 h 181"/>
              <a:gd name="T34" fmla="*/ 0 w 14"/>
              <a:gd name="T35" fmla="*/ 82 h 181"/>
              <a:gd name="T36" fmla="*/ 0 w 14"/>
              <a:gd name="T37" fmla="*/ 96 h 181"/>
              <a:gd name="T38" fmla="*/ 14 w 14"/>
              <a:gd name="T39" fmla="*/ 96 h 181"/>
              <a:gd name="T40" fmla="*/ 14 w 14"/>
              <a:gd name="T41" fmla="*/ 67 h 181"/>
              <a:gd name="T42" fmla="*/ 14 w 14"/>
              <a:gd name="T43" fmla="*/ 53 h 181"/>
              <a:gd name="T44" fmla="*/ 0 w 14"/>
              <a:gd name="T45" fmla="*/ 53 h 181"/>
              <a:gd name="T46" fmla="*/ 0 w 14"/>
              <a:gd name="T47" fmla="*/ 67 h 181"/>
              <a:gd name="T48" fmla="*/ 14 w 14"/>
              <a:gd name="T49" fmla="*/ 67 h 181"/>
              <a:gd name="T50" fmla="*/ 14 w 14"/>
              <a:gd name="T51" fmla="*/ 39 h 181"/>
              <a:gd name="T52" fmla="*/ 14 w 14"/>
              <a:gd name="T53" fmla="*/ 25 h 181"/>
              <a:gd name="T54" fmla="*/ 0 w 14"/>
              <a:gd name="T55" fmla="*/ 25 h 181"/>
              <a:gd name="T56" fmla="*/ 0 w 14"/>
              <a:gd name="T57" fmla="*/ 39 h 181"/>
              <a:gd name="T58" fmla="*/ 14 w 14"/>
              <a:gd name="T59" fmla="*/ 39 h 181"/>
              <a:gd name="T60" fmla="*/ 14 w 14"/>
              <a:gd name="T61" fmla="*/ 10 h 181"/>
              <a:gd name="T62" fmla="*/ 14 w 14"/>
              <a:gd name="T63" fmla="*/ 0 h 181"/>
              <a:gd name="T64" fmla="*/ 0 w 14"/>
              <a:gd name="T65" fmla="*/ 0 h 181"/>
              <a:gd name="T66" fmla="*/ 0 w 14"/>
              <a:gd name="T67" fmla="*/ 10 h 181"/>
              <a:gd name="T68" fmla="*/ 14 w 14"/>
              <a:gd name="T69" fmla="*/ 1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" h="181">
                <a:moveTo>
                  <a:pt x="14" y="181"/>
                </a:moveTo>
                <a:lnTo>
                  <a:pt x="14" y="167"/>
                </a:lnTo>
                <a:lnTo>
                  <a:pt x="0" y="167"/>
                </a:lnTo>
                <a:lnTo>
                  <a:pt x="0" y="181"/>
                </a:lnTo>
                <a:lnTo>
                  <a:pt x="14" y="181"/>
                </a:lnTo>
                <a:close/>
                <a:moveTo>
                  <a:pt x="14" y="153"/>
                </a:moveTo>
                <a:lnTo>
                  <a:pt x="14" y="139"/>
                </a:lnTo>
                <a:lnTo>
                  <a:pt x="0" y="139"/>
                </a:lnTo>
                <a:lnTo>
                  <a:pt x="0" y="153"/>
                </a:lnTo>
                <a:lnTo>
                  <a:pt x="14" y="153"/>
                </a:lnTo>
                <a:close/>
                <a:moveTo>
                  <a:pt x="14" y="125"/>
                </a:moveTo>
                <a:lnTo>
                  <a:pt x="14" y="110"/>
                </a:lnTo>
                <a:lnTo>
                  <a:pt x="0" y="110"/>
                </a:lnTo>
                <a:lnTo>
                  <a:pt x="0" y="125"/>
                </a:lnTo>
                <a:lnTo>
                  <a:pt x="14" y="125"/>
                </a:lnTo>
                <a:close/>
                <a:moveTo>
                  <a:pt x="14" y="96"/>
                </a:moveTo>
                <a:lnTo>
                  <a:pt x="14" y="82"/>
                </a:lnTo>
                <a:lnTo>
                  <a:pt x="0" y="82"/>
                </a:lnTo>
                <a:lnTo>
                  <a:pt x="0" y="96"/>
                </a:lnTo>
                <a:lnTo>
                  <a:pt x="14" y="96"/>
                </a:lnTo>
                <a:close/>
                <a:moveTo>
                  <a:pt x="14" y="67"/>
                </a:moveTo>
                <a:lnTo>
                  <a:pt x="14" y="53"/>
                </a:lnTo>
                <a:lnTo>
                  <a:pt x="0" y="53"/>
                </a:lnTo>
                <a:lnTo>
                  <a:pt x="0" y="67"/>
                </a:lnTo>
                <a:lnTo>
                  <a:pt x="14" y="67"/>
                </a:lnTo>
                <a:close/>
                <a:moveTo>
                  <a:pt x="14" y="39"/>
                </a:moveTo>
                <a:lnTo>
                  <a:pt x="14" y="25"/>
                </a:lnTo>
                <a:lnTo>
                  <a:pt x="0" y="25"/>
                </a:lnTo>
                <a:lnTo>
                  <a:pt x="0" y="39"/>
                </a:lnTo>
                <a:lnTo>
                  <a:pt x="14" y="39"/>
                </a:lnTo>
                <a:close/>
                <a:moveTo>
                  <a:pt x="14" y="10"/>
                </a:moveTo>
                <a:lnTo>
                  <a:pt x="14" y="0"/>
                </a:lnTo>
                <a:lnTo>
                  <a:pt x="0" y="0"/>
                </a:lnTo>
                <a:lnTo>
                  <a:pt x="0" y="10"/>
                </a:lnTo>
                <a:lnTo>
                  <a:pt x="14" y="1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1" name="Rectangle 159">
            <a:extLst>
              <a:ext uri="{FF2B5EF4-FFF2-40B4-BE49-F238E27FC236}">
                <a16:creationId xmlns:a16="http://schemas.microsoft.com/office/drawing/2014/main" id="{39720803-A791-4846-BC94-7FFE38ED0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9" y="1712916"/>
            <a:ext cx="703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1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2" name="Freeform 160">
            <a:extLst>
              <a:ext uri="{FF2B5EF4-FFF2-40B4-BE49-F238E27FC236}">
                <a16:creationId xmlns:a16="http://schemas.microsoft.com/office/drawing/2014/main" id="{E4A78CBF-931B-4D31-A1C0-E4B2F1A510C7}"/>
              </a:ext>
            </a:extLst>
          </p:cNvPr>
          <p:cNvSpPr>
            <a:spLocks noEditPoints="1"/>
          </p:cNvSpPr>
          <p:nvPr/>
        </p:nvSpPr>
        <p:spPr bwMode="auto">
          <a:xfrm>
            <a:off x="4432075" y="1697041"/>
            <a:ext cx="23813" cy="287338"/>
          </a:xfrm>
          <a:custGeom>
            <a:avLst/>
            <a:gdLst>
              <a:gd name="T0" fmla="*/ 15 w 15"/>
              <a:gd name="T1" fmla="*/ 181 h 181"/>
              <a:gd name="T2" fmla="*/ 15 w 15"/>
              <a:gd name="T3" fmla="*/ 167 h 181"/>
              <a:gd name="T4" fmla="*/ 0 w 15"/>
              <a:gd name="T5" fmla="*/ 167 h 181"/>
              <a:gd name="T6" fmla="*/ 0 w 15"/>
              <a:gd name="T7" fmla="*/ 181 h 181"/>
              <a:gd name="T8" fmla="*/ 15 w 15"/>
              <a:gd name="T9" fmla="*/ 181 h 181"/>
              <a:gd name="T10" fmla="*/ 15 w 15"/>
              <a:gd name="T11" fmla="*/ 153 h 181"/>
              <a:gd name="T12" fmla="*/ 15 w 15"/>
              <a:gd name="T13" fmla="*/ 139 h 181"/>
              <a:gd name="T14" fmla="*/ 0 w 15"/>
              <a:gd name="T15" fmla="*/ 139 h 181"/>
              <a:gd name="T16" fmla="*/ 0 w 15"/>
              <a:gd name="T17" fmla="*/ 153 h 181"/>
              <a:gd name="T18" fmla="*/ 15 w 15"/>
              <a:gd name="T19" fmla="*/ 153 h 181"/>
              <a:gd name="T20" fmla="*/ 15 w 15"/>
              <a:gd name="T21" fmla="*/ 125 h 181"/>
              <a:gd name="T22" fmla="*/ 15 w 15"/>
              <a:gd name="T23" fmla="*/ 110 h 181"/>
              <a:gd name="T24" fmla="*/ 0 w 15"/>
              <a:gd name="T25" fmla="*/ 110 h 181"/>
              <a:gd name="T26" fmla="*/ 0 w 15"/>
              <a:gd name="T27" fmla="*/ 125 h 181"/>
              <a:gd name="T28" fmla="*/ 15 w 15"/>
              <a:gd name="T29" fmla="*/ 125 h 181"/>
              <a:gd name="T30" fmla="*/ 15 w 15"/>
              <a:gd name="T31" fmla="*/ 96 h 181"/>
              <a:gd name="T32" fmla="*/ 15 w 15"/>
              <a:gd name="T33" fmla="*/ 82 h 181"/>
              <a:gd name="T34" fmla="*/ 0 w 15"/>
              <a:gd name="T35" fmla="*/ 82 h 181"/>
              <a:gd name="T36" fmla="*/ 0 w 15"/>
              <a:gd name="T37" fmla="*/ 96 h 181"/>
              <a:gd name="T38" fmla="*/ 15 w 15"/>
              <a:gd name="T39" fmla="*/ 96 h 181"/>
              <a:gd name="T40" fmla="*/ 15 w 15"/>
              <a:gd name="T41" fmla="*/ 67 h 181"/>
              <a:gd name="T42" fmla="*/ 15 w 15"/>
              <a:gd name="T43" fmla="*/ 53 h 181"/>
              <a:gd name="T44" fmla="*/ 0 w 15"/>
              <a:gd name="T45" fmla="*/ 53 h 181"/>
              <a:gd name="T46" fmla="*/ 0 w 15"/>
              <a:gd name="T47" fmla="*/ 67 h 181"/>
              <a:gd name="T48" fmla="*/ 15 w 15"/>
              <a:gd name="T49" fmla="*/ 67 h 181"/>
              <a:gd name="T50" fmla="*/ 15 w 15"/>
              <a:gd name="T51" fmla="*/ 39 h 181"/>
              <a:gd name="T52" fmla="*/ 15 w 15"/>
              <a:gd name="T53" fmla="*/ 25 h 181"/>
              <a:gd name="T54" fmla="*/ 0 w 15"/>
              <a:gd name="T55" fmla="*/ 25 h 181"/>
              <a:gd name="T56" fmla="*/ 0 w 15"/>
              <a:gd name="T57" fmla="*/ 39 h 181"/>
              <a:gd name="T58" fmla="*/ 15 w 15"/>
              <a:gd name="T59" fmla="*/ 39 h 181"/>
              <a:gd name="T60" fmla="*/ 15 w 15"/>
              <a:gd name="T61" fmla="*/ 10 h 181"/>
              <a:gd name="T62" fmla="*/ 15 w 15"/>
              <a:gd name="T63" fmla="*/ 0 h 181"/>
              <a:gd name="T64" fmla="*/ 0 w 15"/>
              <a:gd name="T65" fmla="*/ 0 h 181"/>
              <a:gd name="T66" fmla="*/ 0 w 15"/>
              <a:gd name="T67" fmla="*/ 10 h 181"/>
              <a:gd name="T68" fmla="*/ 15 w 15"/>
              <a:gd name="T69" fmla="*/ 1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" h="181">
                <a:moveTo>
                  <a:pt x="15" y="181"/>
                </a:moveTo>
                <a:lnTo>
                  <a:pt x="15" y="167"/>
                </a:lnTo>
                <a:lnTo>
                  <a:pt x="0" y="167"/>
                </a:lnTo>
                <a:lnTo>
                  <a:pt x="0" y="181"/>
                </a:lnTo>
                <a:lnTo>
                  <a:pt x="15" y="181"/>
                </a:lnTo>
                <a:close/>
                <a:moveTo>
                  <a:pt x="15" y="153"/>
                </a:moveTo>
                <a:lnTo>
                  <a:pt x="15" y="139"/>
                </a:lnTo>
                <a:lnTo>
                  <a:pt x="0" y="139"/>
                </a:lnTo>
                <a:lnTo>
                  <a:pt x="0" y="153"/>
                </a:lnTo>
                <a:lnTo>
                  <a:pt x="15" y="153"/>
                </a:lnTo>
                <a:close/>
                <a:moveTo>
                  <a:pt x="15" y="125"/>
                </a:moveTo>
                <a:lnTo>
                  <a:pt x="15" y="110"/>
                </a:lnTo>
                <a:lnTo>
                  <a:pt x="0" y="110"/>
                </a:lnTo>
                <a:lnTo>
                  <a:pt x="0" y="125"/>
                </a:lnTo>
                <a:lnTo>
                  <a:pt x="15" y="125"/>
                </a:lnTo>
                <a:close/>
                <a:moveTo>
                  <a:pt x="15" y="96"/>
                </a:moveTo>
                <a:lnTo>
                  <a:pt x="15" y="82"/>
                </a:lnTo>
                <a:lnTo>
                  <a:pt x="0" y="82"/>
                </a:lnTo>
                <a:lnTo>
                  <a:pt x="0" y="96"/>
                </a:lnTo>
                <a:lnTo>
                  <a:pt x="15" y="96"/>
                </a:lnTo>
                <a:close/>
                <a:moveTo>
                  <a:pt x="15" y="67"/>
                </a:moveTo>
                <a:lnTo>
                  <a:pt x="15" y="53"/>
                </a:lnTo>
                <a:lnTo>
                  <a:pt x="0" y="53"/>
                </a:lnTo>
                <a:lnTo>
                  <a:pt x="0" y="67"/>
                </a:lnTo>
                <a:lnTo>
                  <a:pt x="15" y="67"/>
                </a:lnTo>
                <a:close/>
                <a:moveTo>
                  <a:pt x="15" y="39"/>
                </a:moveTo>
                <a:lnTo>
                  <a:pt x="15" y="25"/>
                </a:lnTo>
                <a:lnTo>
                  <a:pt x="0" y="25"/>
                </a:lnTo>
                <a:lnTo>
                  <a:pt x="0" y="39"/>
                </a:lnTo>
                <a:lnTo>
                  <a:pt x="15" y="39"/>
                </a:lnTo>
                <a:close/>
                <a:moveTo>
                  <a:pt x="15" y="10"/>
                </a:moveTo>
                <a:lnTo>
                  <a:pt x="15" y="0"/>
                </a:lnTo>
                <a:lnTo>
                  <a:pt x="0" y="0"/>
                </a:lnTo>
                <a:lnTo>
                  <a:pt x="0" y="10"/>
                </a:lnTo>
                <a:lnTo>
                  <a:pt x="15" y="1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3" name="Freeform 161">
            <a:extLst>
              <a:ext uri="{FF2B5EF4-FFF2-40B4-BE49-F238E27FC236}">
                <a16:creationId xmlns:a16="http://schemas.microsoft.com/office/drawing/2014/main" id="{BA667E0B-DCF9-40C5-8E53-C31980EE9269}"/>
              </a:ext>
            </a:extLst>
          </p:cNvPr>
          <p:cNvSpPr>
            <a:spLocks noEditPoints="1"/>
          </p:cNvSpPr>
          <p:nvPr/>
        </p:nvSpPr>
        <p:spPr bwMode="auto">
          <a:xfrm>
            <a:off x="7648079" y="1697041"/>
            <a:ext cx="23813" cy="287338"/>
          </a:xfrm>
          <a:custGeom>
            <a:avLst/>
            <a:gdLst>
              <a:gd name="T0" fmla="*/ 15 w 15"/>
              <a:gd name="T1" fmla="*/ 181 h 181"/>
              <a:gd name="T2" fmla="*/ 15 w 15"/>
              <a:gd name="T3" fmla="*/ 167 h 181"/>
              <a:gd name="T4" fmla="*/ 0 w 15"/>
              <a:gd name="T5" fmla="*/ 167 h 181"/>
              <a:gd name="T6" fmla="*/ 0 w 15"/>
              <a:gd name="T7" fmla="*/ 181 h 181"/>
              <a:gd name="T8" fmla="*/ 15 w 15"/>
              <a:gd name="T9" fmla="*/ 181 h 181"/>
              <a:gd name="T10" fmla="*/ 15 w 15"/>
              <a:gd name="T11" fmla="*/ 153 h 181"/>
              <a:gd name="T12" fmla="*/ 15 w 15"/>
              <a:gd name="T13" fmla="*/ 139 h 181"/>
              <a:gd name="T14" fmla="*/ 0 w 15"/>
              <a:gd name="T15" fmla="*/ 139 h 181"/>
              <a:gd name="T16" fmla="*/ 0 w 15"/>
              <a:gd name="T17" fmla="*/ 153 h 181"/>
              <a:gd name="T18" fmla="*/ 15 w 15"/>
              <a:gd name="T19" fmla="*/ 153 h 181"/>
              <a:gd name="T20" fmla="*/ 15 w 15"/>
              <a:gd name="T21" fmla="*/ 125 h 181"/>
              <a:gd name="T22" fmla="*/ 15 w 15"/>
              <a:gd name="T23" fmla="*/ 110 h 181"/>
              <a:gd name="T24" fmla="*/ 0 w 15"/>
              <a:gd name="T25" fmla="*/ 110 h 181"/>
              <a:gd name="T26" fmla="*/ 0 w 15"/>
              <a:gd name="T27" fmla="*/ 125 h 181"/>
              <a:gd name="T28" fmla="*/ 15 w 15"/>
              <a:gd name="T29" fmla="*/ 125 h 181"/>
              <a:gd name="T30" fmla="*/ 15 w 15"/>
              <a:gd name="T31" fmla="*/ 96 h 181"/>
              <a:gd name="T32" fmla="*/ 15 w 15"/>
              <a:gd name="T33" fmla="*/ 82 h 181"/>
              <a:gd name="T34" fmla="*/ 0 w 15"/>
              <a:gd name="T35" fmla="*/ 82 h 181"/>
              <a:gd name="T36" fmla="*/ 0 w 15"/>
              <a:gd name="T37" fmla="*/ 96 h 181"/>
              <a:gd name="T38" fmla="*/ 15 w 15"/>
              <a:gd name="T39" fmla="*/ 96 h 181"/>
              <a:gd name="T40" fmla="*/ 15 w 15"/>
              <a:gd name="T41" fmla="*/ 67 h 181"/>
              <a:gd name="T42" fmla="*/ 15 w 15"/>
              <a:gd name="T43" fmla="*/ 53 h 181"/>
              <a:gd name="T44" fmla="*/ 0 w 15"/>
              <a:gd name="T45" fmla="*/ 53 h 181"/>
              <a:gd name="T46" fmla="*/ 0 w 15"/>
              <a:gd name="T47" fmla="*/ 67 h 181"/>
              <a:gd name="T48" fmla="*/ 15 w 15"/>
              <a:gd name="T49" fmla="*/ 67 h 181"/>
              <a:gd name="T50" fmla="*/ 15 w 15"/>
              <a:gd name="T51" fmla="*/ 39 h 181"/>
              <a:gd name="T52" fmla="*/ 15 w 15"/>
              <a:gd name="T53" fmla="*/ 25 h 181"/>
              <a:gd name="T54" fmla="*/ 0 w 15"/>
              <a:gd name="T55" fmla="*/ 25 h 181"/>
              <a:gd name="T56" fmla="*/ 0 w 15"/>
              <a:gd name="T57" fmla="*/ 39 h 181"/>
              <a:gd name="T58" fmla="*/ 15 w 15"/>
              <a:gd name="T59" fmla="*/ 39 h 181"/>
              <a:gd name="T60" fmla="*/ 15 w 15"/>
              <a:gd name="T61" fmla="*/ 10 h 181"/>
              <a:gd name="T62" fmla="*/ 15 w 15"/>
              <a:gd name="T63" fmla="*/ 0 h 181"/>
              <a:gd name="T64" fmla="*/ 0 w 15"/>
              <a:gd name="T65" fmla="*/ 0 h 181"/>
              <a:gd name="T66" fmla="*/ 0 w 15"/>
              <a:gd name="T67" fmla="*/ 10 h 181"/>
              <a:gd name="T68" fmla="*/ 15 w 15"/>
              <a:gd name="T69" fmla="*/ 1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" h="181">
                <a:moveTo>
                  <a:pt x="15" y="181"/>
                </a:moveTo>
                <a:lnTo>
                  <a:pt x="15" y="167"/>
                </a:lnTo>
                <a:lnTo>
                  <a:pt x="0" y="167"/>
                </a:lnTo>
                <a:lnTo>
                  <a:pt x="0" y="181"/>
                </a:lnTo>
                <a:lnTo>
                  <a:pt x="15" y="181"/>
                </a:lnTo>
                <a:close/>
                <a:moveTo>
                  <a:pt x="15" y="153"/>
                </a:moveTo>
                <a:lnTo>
                  <a:pt x="15" y="139"/>
                </a:lnTo>
                <a:lnTo>
                  <a:pt x="0" y="139"/>
                </a:lnTo>
                <a:lnTo>
                  <a:pt x="0" y="153"/>
                </a:lnTo>
                <a:lnTo>
                  <a:pt x="15" y="153"/>
                </a:lnTo>
                <a:close/>
                <a:moveTo>
                  <a:pt x="15" y="125"/>
                </a:moveTo>
                <a:lnTo>
                  <a:pt x="15" y="110"/>
                </a:lnTo>
                <a:lnTo>
                  <a:pt x="0" y="110"/>
                </a:lnTo>
                <a:lnTo>
                  <a:pt x="0" y="125"/>
                </a:lnTo>
                <a:lnTo>
                  <a:pt x="15" y="125"/>
                </a:lnTo>
                <a:close/>
                <a:moveTo>
                  <a:pt x="15" y="96"/>
                </a:moveTo>
                <a:lnTo>
                  <a:pt x="15" y="82"/>
                </a:lnTo>
                <a:lnTo>
                  <a:pt x="0" y="82"/>
                </a:lnTo>
                <a:lnTo>
                  <a:pt x="0" y="96"/>
                </a:lnTo>
                <a:lnTo>
                  <a:pt x="15" y="96"/>
                </a:lnTo>
                <a:close/>
                <a:moveTo>
                  <a:pt x="15" y="67"/>
                </a:moveTo>
                <a:lnTo>
                  <a:pt x="15" y="53"/>
                </a:lnTo>
                <a:lnTo>
                  <a:pt x="0" y="53"/>
                </a:lnTo>
                <a:lnTo>
                  <a:pt x="0" y="67"/>
                </a:lnTo>
                <a:lnTo>
                  <a:pt x="15" y="67"/>
                </a:lnTo>
                <a:close/>
                <a:moveTo>
                  <a:pt x="15" y="39"/>
                </a:moveTo>
                <a:lnTo>
                  <a:pt x="15" y="25"/>
                </a:lnTo>
                <a:lnTo>
                  <a:pt x="0" y="25"/>
                </a:lnTo>
                <a:lnTo>
                  <a:pt x="0" y="39"/>
                </a:lnTo>
                <a:lnTo>
                  <a:pt x="15" y="39"/>
                </a:lnTo>
                <a:close/>
                <a:moveTo>
                  <a:pt x="15" y="10"/>
                </a:moveTo>
                <a:lnTo>
                  <a:pt x="15" y="0"/>
                </a:lnTo>
                <a:lnTo>
                  <a:pt x="0" y="0"/>
                </a:lnTo>
                <a:lnTo>
                  <a:pt x="0" y="10"/>
                </a:lnTo>
                <a:lnTo>
                  <a:pt x="15" y="1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4" name="Rectangle 162">
            <a:extLst>
              <a:ext uri="{FF2B5EF4-FFF2-40B4-BE49-F238E27FC236}">
                <a16:creationId xmlns:a16="http://schemas.microsoft.com/office/drawing/2014/main" id="{7D2EE0FF-245A-4774-BC3B-7AE646E7C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643" y="1703394"/>
            <a:ext cx="703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Cycle 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5" name="Freeform 163">
            <a:extLst>
              <a:ext uri="{FF2B5EF4-FFF2-40B4-BE49-F238E27FC236}">
                <a16:creationId xmlns:a16="http://schemas.microsoft.com/office/drawing/2014/main" id="{7327F494-459D-4061-BBB4-D88C6D3B8C2B}"/>
              </a:ext>
            </a:extLst>
          </p:cNvPr>
          <p:cNvSpPr>
            <a:spLocks noEditPoints="1"/>
          </p:cNvSpPr>
          <p:nvPr/>
        </p:nvSpPr>
        <p:spPr bwMode="auto">
          <a:xfrm>
            <a:off x="1371601" y="1806578"/>
            <a:ext cx="1263650" cy="68263"/>
          </a:xfrm>
          <a:custGeom>
            <a:avLst/>
            <a:gdLst>
              <a:gd name="T0" fmla="*/ 36 w 796"/>
              <a:gd name="T1" fmla="*/ 14 h 43"/>
              <a:gd name="T2" fmla="*/ 796 w 796"/>
              <a:gd name="T3" fmla="*/ 14 h 43"/>
              <a:gd name="T4" fmla="*/ 796 w 796"/>
              <a:gd name="T5" fmla="*/ 29 h 43"/>
              <a:gd name="T6" fmla="*/ 36 w 796"/>
              <a:gd name="T7" fmla="*/ 29 h 43"/>
              <a:gd name="T8" fmla="*/ 36 w 796"/>
              <a:gd name="T9" fmla="*/ 14 h 43"/>
              <a:gd name="T10" fmla="*/ 43 w 796"/>
              <a:gd name="T11" fmla="*/ 43 h 43"/>
              <a:gd name="T12" fmla="*/ 0 w 796"/>
              <a:gd name="T13" fmla="*/ 21 h 43"/>
              <a:gd name="T14" fmla="*/ 43 w 796"/>
              <a:gd name="T15" fmla="*/ 0 h 43"/>
              <a:gd name="T16" fmla="*/ 43 w 796"/>
              <a:gd name="T1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96" h="43">
                <a:moveTo>
                  <a:pt x="36" y="14"/>
                </a:moveTo>
                <a:lnTo>
                  <a:pt x="796" y="14"/>
                </a:lnTo>
                <a:lnTo>
                  <a:pt x="796" y="29"/>
                </a:lnTo>
                <a:lnTo>
                  <a:pt x="36" y="29"/>
                </a:lnTo>
                <a:lnTo>
                  <a:pt x="36" y="14"/>
                </a:lnTo>
                <a:close/>
                <a:moveTo>
                  <a:pt x="43" y="43"/>
                </a:moveTo>
                <a:lnTo>
                  <a:pt x="0" y="21"/>
                </a:lnTo>
                <a:lnTo>
                  <a:pt x="43" y="0"/>
                </a:lnTo>
                <a:lnTo>
                  <a:pt x="43" y="43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6" name="Freeform 164">
            <a:extLst>
              <a:ext uri="{FF2B5EF4-FFF2-40B4-BE49-F238E27FC236}">
                <a16:creationId xmlns:a16="http://schemas.microsoft.com/office/drawing/2014/main" id="{B38CCFA8-7666-463F-8576-E793D83FA7B0}"/>
              </a:ext>
            </a:extLst>
          </p:cNvPr>
          <p:cNvSpPr>
            <a:spLocks noEditPoints="1"/>
          </p:cNvSpPr>
          <p:nvPr/>
        </p:nvSpPr>
        <p:spPr bwMode="auto">
          <a:xfrm>
            <a:off x="4452713" y="1806578"/>
            <a:ext cx="1076325" cy="68263"/>
          </a:xfrm>
          <a:custGeom>
            <a:avLst/>
            <a:gdLst>
              <a:gd name="T0" fmla="*/ 35 w 678"/>
              <a:gd name="T1" fmla="*/ 14 h 43"/>
              <a:gd name="T2" fmla="*/ 678 w 678"/>
              <a:gd name="T3" fmla="*/ 14 h 43"/>
              <a:gd name="T4" fmla="*/ 678 w 678"/>
              <a:gd name="T5" fmla="*/ 29 h 43"/>
              <a:gd name="T6" fmla="*/ 35 w 678"/>
              <a:gd name="T7" fmla="*/ 29 h 43"/>
              <a:gd name="T8" fmla="*/ 35 w 678"/>
              <a:gd name="T9" fmla="*/ 14 h 43"/>
              <a:gd name="T10" fmla="*/ 42 w 678"/>
              <a:gd name="T11" fmla="*/ 43 h 43"/>
              <a:gd name="T12" fmla="*/ 0 w 678"/>
              <a:gd name="T13" fmla="*/ 21 h 43"/>
              <a:gd name="T14" fmla="*/ 42 w 678"/>
              <a:gd name="T15" fmla="*/ 0 h 43"/>
              <a:gd name="T16" fmla="*/ 42 w 678"/>
              <a:gd name="T1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8" h="43">
                <a:moveTo>
                  <a:pt x="35" y="14"/>
                </a:moveTo>
                <a:lnTo>
                  <a:pt x="678" y="14"/>
                </a:lnTo>
                <a:lnTo>
                  <a:pt x="678" y="29"/>
                </a:lnTo>
                <a:lnTo>
                  <a:pt x="35" y="29"/>
                </a:lnTo>
                <a:lnTo>
                  <a:pt x="35" y="14"/>
                </a:lnTo>
                <a:close/>
                <a:moveTo>
                  <a:pt x="42" y="43"/>
                </a:moveTo>
                <a:lnTo>
                  <a:pt x="0" y="21"/>
                </a:lnTo>
                <a:lnTo>
                  <a:pt x="42" y="0"/>
                </a:lnTo>
                <a:lnTo>
                  <a:pt x="42" y="43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7" name="Freeform 165">
            <a:extLst>
              <a:ext uri="{FF2B5EF4-FFF2-40B4-BE49-F238E27FC236}">
                <a16:creationId xmlns:a16="http://schemas.microsoft.com/office/drawing/2014/main" id="{C1CB6F20-BD32-4A96-ACD6-18196AFBD181}"/>
              </a:ext>
            </a:extLst>
          </p:cNvPr>
          <p:cNvSpPr>
            <a:spLocks noEditPoints="1"/>
          </p:cNvSpPr>
          <p:nvPr/>
        </p:nvSpPr>
        <p:spPr bwMode="auto">
          <a:xfrm>
            <a:off x="6493199" y="1789116"/>
            <a:ext cx="1174702" cy="85725"/>
          </a:xfrm>
          <a:custGeom>
            <a:avLst/>
            <a:gdLst>
              <a:gd name="T0" fmla="*/ 792 w 827"/>
              <a:gd name="T1" fmla="*/ 14 h 43"/>
              <a:gd name="T2" fmla="*/ 0 w 827"/>
              <a:gd name="T3" fmla="*/ 14 h 43"/>
              <a:gd name="T4" fmla="*/ 0 w 827"/>
              <a:gd name="T5" fmla="*/ 29 h 43"/>
              <a:gd name="T6" fmla="*/ 792 w 827"/>
              <a:gd name="T7" fmla="*/ 29 h 43"/>
              <a:gd name="T8" fmla="*/ 792 w 827"/>
              <a:gd name="T9" fmla="*/ 14 h 43"/>
              <a:gd name="T10" fmla="*/ 785 w 827"/>
              <a:gd name="T11" fmla="*/ 43 h 43"/>
              <a:gd name="T12" fmla="*/ 827 w 827"/>
              <a:gd name="T13" fmla="*/ 21 h 43"/>
              <a:gd name="T14" fmla="*/ 785 w 827"/>
              <a:gd name="T15" fmla="*/ 0 h 43"/>
              <a:gd name="T16" fmla="*/ 785 w 827"/>
              <a:gd name="T1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7" h="43">
                <a:moveTo>
                  <a:pt x="792" y="14"/>
                </a:moveTo>
                <a:lnTo>
                  <a:pt x="0" y="14"/>
                </a:lnTo>
                <a:lnTo>
                  <a:pt x="0" y="29"/>
                </a:lnTo>
                <a:lnTo>
                  <a:pt x="792" y="29"/>
                </a:lnTo>
                <a:lnTo>
                  <a:pt x="792" y="14"/>
                </a:lnTo>
                <a:close/>
                <a:moveTo>
                  <a:pt x="785" y="43"/>
                </a:moveTo>
                <a:lnTo>
                  <a:pt x="827" y="21"/>
                </a:lnTo>
                <a:lnTo>
                  <a:pt x="785" y="0"/>
                </a:lnTo>
                <a:lnTo>
                  <a:pt x="785" y="43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8" name="Freeform 166">
            <a:extLst>
              <a:ext uri="{FF2B5EF4-FFF2-40B4-BE49-F238E27FC236}">
                <a16:creationId xmlns:a16="http://schemas.microsoft.com/office/drawing/2014/main" id="{2BD9A5F6-880B-4491-A899-D466B4392DAC}"/>
              </a:ext>
            </a:extLst>
          </p:cNvPr>
          <p:cNvSpPr>
            <a:spLocks noEditPoints="1"/>
          </p:cNvSpPr>
          <p:nvPr/>
        </p:nvSpPr>
        <p:spPr bwMode="auto">
          <a:xfrm>
            <a:off x="3449639" y="1803404"/>
            <a:ext cx="985611" cy="71438"/>
          </a:xfrm>
          <a:custGeom>
            <a:avLst/>
            <a:gdLst>
              <a:gd name="T0" fmla="*/ 776 w 811"/>
              <a:gd name="T1" fmla="*/ 14 h 43"/>
              <a:gd name="T2" fmla="*/ 0 w 811"/>
              <a:gd name="T3" fmla="*/ 14 h 43"/>
              <a:gd name="T4" fmla="*/ 0 w 811"/>
              <a:gd name="T5" fmla="*/ 29 h 43"/>
              <a:gd name="T6" fmla="*/ 776 w 811"/>
              <a:gd name="T7" fmla="*/ 29 h 43"/>
              <a:gd name="T8" fmla="*/ 776 w 811"/>
              <a:gd name="T9" fmla="*/ 14 h 43"/>
              <a:gd name="T10" fmla="*/ 769 w 811"/>
              <a:gd name="T11" fmla="*/ 43 h 43"/>
              <a:gd name="T12" fmla="*/ 811 w 811"/>
              <a:gd name="T13" fmla="*/ 21 h 43"/>
              <a:gd name="T14" fmla="*/ 769 w 811"/>
              <a:gd name="T15" fmla="*/ 0 h 43"/>
              <a:gd name="T16" fmla="*/ 769 w 811"/>
              <a:gd name="T17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1" h="43">
                <a:moveTo>
                  <a:pt x="776" y="14"/>
                </a:moveTo>
                <a:lnTo>
                  <a:pt x="0" y="14"/>
                </a:lnTo>
                <a:lnTo>
                  <a:pt x="0" y="29"/>
                </a:lnTo>
                <a:lnTo>
                  <a:pt x="776" y="29"/>
                </a:lnTo>
                <a:lnTo>
                  <a:pt x="776" y="14"/>
                </a:lnTo>
                <a:close/>
                <a:moveTo>
                  <a:pt x="769" y="43"/>
                </a:moveTo>
                <a:lnTo>
                  <a:pt x="811" y="21"/>
                </a:lnTo>
                <a:lnTo>
                  <a:pt x="769" y="0"/>
                </a:lnTo>
                <a:lnTo>
                  <a:pt x="769" y="43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9" name="Freeform 167">
            <a:extLst>
              <a:ext uri="{FF2B5EF4-FFF2-40B4-BE49-F238E27FC236}">
                <a16:creationId xmlns:a16="http://schemas.microsoft.com/office/drawing/2014/main" id="{DDA3CC61-759A-40EA-8163-659DF0E46168}"/>
              </a:ext>
            </a:extLst>
          </p:cNvPr>
          <p:cNvSpPr>
            <a:spLocks noEditPoints="1"/>
          </p:cNvSpPr>
          <p:nvPr/>
        </p:nvSpPr>
        <p:spPr bwMode="auto">
          <a:xfrm>
            <a:off x="5403852" y="2881316"/>
            <a:ext cx="23813" cy="3370263"/>
          </a:xfrm>
          <a:custGeom>
            <a:avLst/>
            <a:gdLst>
              <a:gd name="T0" fmla="*/ 15 w 15"/>
              <a:gd name="T1" fmla="*/ 2094 h 2123"/>
              <a:gd name="T2" fmla="*/ 15 w 15"/>
              <a:gd name="T3" fmla="*/ 2051 h 2123"/>
              <a:gd name="T4" fmla="*/ 0 w 15"/>
              <a:gd name="T5" fmla="*/ 2023 h 2123"/>
              <a:gd name="T6" fmla="*/ 0 w 15"/>
              <a:gd name="T7" fmla="*/ 2009 h 2123"/>
              <a:gd name="T8" fmla="*/ 15 w 15"/>
              <a:gd name="T9" fmla="*/ 1980 h 2123"/>
              <a:gd name="T10" fmla="*/ 15 w 15"/>
              <a:gd name="T11" fmla="*/ 1923 h 2123"/>
              <a:gd name="T12" fmla="*/ 15 w 15"/>
              <a:gd name="T13" fmla="*/ 1880 h 2123"/>
              <a:gd name="T14" fmla="*/ 0 w 15"/>
              <a:gd name="T15" fmla="*/ 1852 h 2123"/>
              <a:gd name="T16" fmla="*/ 0 w 15"/>
              <a:gd name="T17" fmla="*/ 1838 h 2123"/>
              <a:gd name="T18" fmla="*/ 15 w 15"/>
              <a:gd name="T19" fmla="*/ 1809 h 2123"/>
              <a:gd name="T20" fmla="*/ 15 w 15"/>
              <a:gd name="T21" fmla="*/ 1752 h 2123"/>
              <a:gd name="T22" fmla="*/ 15 w 15"/>
              <a:gd name="T23" fmla="*/ 1709 h 2123"/>
              <a:gd name="T24" fmla="*/ 0 w 15"/>
              <a:gd name="T25" fmla="*/ 1681 h 2123"/>
              <a:gd name="T26" fmla="*/ 0 w 15"/>
              <a:gd name="T27" fmla="*/ 1667 h 2123"/>
              <a:gd name="T28" fmla="*/ 15 w 15"/>
              <a:gd name="T29" fmla="*/ 1638 h 2123"/>
              <a:gd name="T30" fmla="*/ 15 w 15"/>
              <a:gd name="T31" fmla="*/ 1581 h 2123"/>
              <a:gd name="T32" fmla="*/ 15 w 15"/>
              <a:gd name="T33" fmla="*/ 1539 h 2123"/>
              <a:gd name="T34" fmla="*/ 0 w 15"/>
              <a:gd name="T35" fmla="*/ 1510 h 2123"/>
              <a:gd name="T36" fmla="*/ 0 w 15"/>
              <a:gd name="T37" fmla="*/ 1496 h 2123"/>
              <a:gd name="T38" fmla="*/ 15 w 15"/>
              <a:gd name="T39" fmla="*/ 1467 h 2123"/>
              <a:gd name="T40" fmla="*/ 15 w 15"/>
              <a:gd name="T41" fmla="*/ 1410 h 2123"/>
              <a:gd name="T42" fmla="*/ 15 w 15"/>
              <a:gd name="T43" fmla="*/ 1368 h 2123"/>
              <a:gd name="T44" fmla="*/ 0 w 15"/>
              <a:gd name="T45" fmla="*/ 1339 h 2123"/>
              <a:gd name="T46" fmla="*/ 0 w 15"/>
              <a:gd name="T47" fmla="*/ 1325 h 2123"/>
              <a:gd name="T48" fmla="*/ 15 w 15"/>
              <a:gd name="T49" fmla="*/ 1296 h 2123"/>
              <a:gd name="T50" fmla="*/ 15 w 15"/>
              <a:gd name="T51" fmla="*/ 1239 h 2123"/>
              <a:gd name="T52" fmla="*/ 15 w 15"/>
              <a:gd name="T53" fmla="*/ 1197 h 2123"/>
              <a:gd name="T54" fmla="*/ 0 w 15"/>
              <a:gd name="T55" fmla="*/ 1168 h 2123"/>
              <a:gd name="T56" fmla="*/ 0 w 15"/>
              <a:gd name="T57" fmla="*/ 1154 h 2123"/>
              <a:gd name="T58" fmla="*/ 15 w 15"/>
              <a:gd name="T59" fmla="*/ 1126 h 2123"/>
              <a:gd name="T60" fmla="*/ 15 w 15"/>
              <a:gd name="T61" fmla="*/ 1068 h 2123"/>
              <a:gd name="T62" fmla="*/ 15 w 15"/>
              <a:gd name="T63" fmla="*/ 1026 h 2123"/>
              <a:gd name="T64" fmla="*/ 0 w 15"/>
              <a:gd name="T65" fmla="*/ 997 h 2123"/>
              <a:gd name="T66" fmla="*/ 0 w 15"/>
              <a:gd name="T67" fmla="*/ 983 h 2123"/>
              <a:gd name="T68" fmla="*/ 15 w 15"/>
              <a:gd name="T69" fmla="*/ 955 h 2123"/>
              <a:gd name="T70" fmla="*/ 15 w 15"/>
              <a:gd name="T71" fmla="*/ 897 h 2123"/>
              <a:gd name="T72" fmla="*/ 15 w 15"/>
              <a:gd name="T73" fmla="*/ 855 h 2123"/>
              <a:gd name="T74" fmla="*/ 0 w 15"/>
              <a:gd name="T75" fmla="*/ 826 h 2123"/>
              <a:gd name="T76" fmla="*/ 0 w 15"/>
              <a:gd name="T77" fmla="*/ 812 h 2123"/>
              <a:gd name="T78" fmla="*/ 15 w 15"/>
              <a:gd name="T79" fmla="*/ 784 h 2123"/>
              <a:gd name="T80" fmla="*/ 15 w 15"/>
              <a:gd name="T81" fmla="*/ 726 h 2123"/>
              <a:gd name="T82" fmla="*/ 15 w 15"/>
              <a:gd name="T83" fmla="*/ 684 h 2123"/>
              <a:gd name="T84" fmla="*/ 0 w 15"/>
              <a:gd name="T85" fmla="*/ 655 h 2123"/>
              <a:gd name="T86" fmla="*/ 0 w 15"/>
              <a:gd name="T87" fmla="*/ 641 h 2123"/>
              <a:gd name="T88" fmla="*/ 15 w 15"/>
              <a:gd name="T89" fmla="*/ 613 h 2123"/>
              <a:gd name="T90" fmla="*/ 15 w 15"/>
              <a:gd name="T91" fmla="*/ 556 h 2123"/>
              <a:gd name="T92" fmla="*/ 15 w 15"/>
              <a:gd name="T93" fmla="*/ 513 h 2123"/>
              <a:gd name="T94" fmla="*/ 0 w 15"/>
              <a:gd name="T95" fmla="*/ 484 h 2123"/>
              <a:gd name="T96" fmla="*/ 0 w 15"/>
              <a:gd name="T97" fmla="*/ 470 h 2123"/>
              <a:gd name="T98" fmla="*/ 15 w 15"/>
              <a:gd name="T99" fmla="*/ 442 h 2123"/>
              <a:gd name="T100" fmla="*/ 15 w 15"/>
              <a:gd name="T101" fmla="*/ 385 h 2123"/>
              <a:gd name="T102" fmla="*/ 15 w 15"/>
              <a:gd name="T103" fmla="*/ 342 h 2123"/>
              <a:gd name="T104" fmla="*/ 0 w 15"/>
              <a:gd name="T105" fmla="*/ 313 h 2123"/>
              <a:gd name="T106" fmla="*/ 0 w 15"/>
              <a:gd name="T107" fmla="*/ 299 h 2123"/>
              <a:gd name="T108" fmla="*/ 15 w 15"/>
              <a:gd name="T109" fmla="*/ 271 h 2123"/>
              <a:gd name="T110" fmla="*/ 15 w 15"/>
              <a:gd name="T111" fmla="*/ 214 h 2123"/>
              <a:gd name="T112" fmla="*/ 15 w 15"/>
              <a:gd name="T113" fmla="*/ 171 h 2123"/>
              <a:gd name="T114" fmla="*/ 0 w 15"/>
              <a:gd name="T115" fmla="*/ 143 h 2123"/>
              <a:gd name="T116" fmla="*/ 0 w 15"/>
              <a:gd name="T117" fmla="*/ 128 h 2123"/>
              <a:gd name="T118" fmla="*/ 15 w 15"/>
              <a:gd name="T119" fmla="*/ 100 h 2123"/>
              <a:gd name="T120" fmla="*/ 15 w 15"/>
              <a:gd name="T121" fmla="*/ 43 h 2123"/>
              <a:gd name="T122" fmla="*/ 15 w 15"/>
              <a:gd name="T123" fmla="*/ 0 h 2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" h="2123">
                <a:moveTo>
                  <a:pt x="15" y="2123"/>
                </a:moveTo>
                <a:lnTo>
                  <a:pt x="15" y="2109"/>
                </a:lnTo>
                <a:lnTo>
                  <a:pt x="0" y="2109"/>
                </a:lnTo>
                <a:lnTo>
                  <a:pt x="0" y="2123"/>
                </a:lnTo>
                <a:lnTo>
                  <a:pt x="15" y="2123"/>
                </a:lnTo>
                <a:close/>
                <a:moveTo>
                  <a:pt x="15" y="2094"/>
                </a:moveTo>
                <a:lnTo>
                  <a:pt x="15" y="2080"/>
                </a:lnTo>
                <a:lnTo>
                  <a:pt x="0" y="2080"/>
                </a:lnTo>
                <a:lnTo>
                  <a:pt x="0" y="2094"/>
                </a:lnTo>
                <a:lnTo>
                  <a:pt x="15" y="2094"/>
                </a:lnTo>
                <a:close/>
                <a:moveTo>
                  <a:pt x="15" y="2066"/>
                </a:moveTo>
                <a:lnTo>
                  <a:pt x="15" y="2051"/>
                </a:lnTo>
                <a:lnTo>
                  <a:pt x="0" y="2051"/>
                </a:lnTo>
                <a:lnTo>
                  <a:pt x="0" y="2066"/>
                </a:lnTo>
                <a:lnTo>
                  <a:pt x="15" y="2066"/>
                </a:lnTo>
                <a:close/>
                <a:moveTo>
                  <a:pt x="15" y="2037"/>
                </a:moveTo>
                <a:lnTo>
                  <a:pt x="15" y="2023"/>
                </a:lnTo>
                <a:lnTo>
                  <a:pt x="0" y="2023"/>
                </a:lnTo>
                <a:lnTo>
                  <a:pt x="0" y="2037"/>
                </a:lnTo>
                <a:lnTo>
                  <a:pt x="15" y="2037"/>
                </a:lnTo>
                <a:close/>
                <a:moveTo>
                  <a:pt x="15" y="2009"/>
                </a:moveTo>
                <a:lnTo>
                  <a:pt x="15" y="1994"/>
                </a:lnTo>
                <a:lnTo>
                  <a:pt x="0" y="1994"/>
                </a:lnTo>
                <a:lnTo>
                  <a:pt x="0" y="2009"/>
                </a:lnTo>
                <a:lnTo>
                  <a:pt x="15" y="2009"/>
                </a:lnTo>
                <a:close/>
                <a:moveTo>
                  <a:pt x="15" y="1980"/>
                </a:moveTo>
                <a:lnTo>
                  <a:pt x="15" y="1966"/>
                </a:lnTo>
                <a:lnTo>
                  <a:pt x="0" y="1966"/>
                </a:lnTo>
                <a:lnTo>
                  <a:pt x="0" y="1980"/>
                </a:lnTo>
                <a:lnTo>
                  <a:pt x="15" y="1980"/>
                </a:lnTo>
                <a:close/>
                <a:moveTo>
                  <a:pt x="15" y="1952"/>
                </a:moveTo>
                <a:lnTo>
                  <a:pt x="15" y="1938"/>
                </a:lnTo>
                <a:lnTo>
                  <a:pt x="0" y="1938"/>
                </a:lnTo>
                <a:lnTo>
                  <a:pt x="0" y="1952"/>
                </a:lnTo>
                <a:lnTo>
                  <a:pt x="15" y="1952"/>
                </a:lnTo>
                <a:close/>
                <a:moveTo>
                  <a:pt x="15" y="1923"/>
                </a:moveTo>
                <a:lnTo>
                  <a:pt x="15" y="1909"/>
                </a:lnTo>
                <a:lnTo>
                  <a:pt x="0" y="1909"/>
                </a:lnTo>
                <a:lnTo>
                  <a:pt x="0" y="1923"/>
                </a:lnTo>
                <a:lnTo>
                  <a:pt x="15" y="1923"/>
                </a:lnTo>
                <a:close/>
                <a:moveTo>
                  <a:pt x="15" y="1895"/>
                </a:moveTo>
                <a:lnTo>
                  <a:pt x="15" y="1880"/>
                </a:lnTo>
                <a:lnTo>
                  <a:pt x="0" y="1880"/>
                </a:lnTo>
                <a:lnTo>
                  <a:pt x="0" y="1895"/>
                </a:lnTo>
                <a:lnTo>
                  <a:pt x="15" y="1895"/>
                </a:lnTo>
                <a:close/>
                <a:moveTo>
                  <a:pt x="15" y="1866"/>
                </a:moveTo>
                <a:lnTo>
                  <a:pt x="15" y="1852"/>
                </a:lnTo>
                <a:lnTo>
                  <a:pt x="0" y="1852"/>
                </a:lnTo>
                <a:lnTo>
                  <a:pt x="0" y="1866"/>
                </a:lnTo>
                <a:lnTo>
                  <a:pt x="15" y="1866"/>
                </a:lnTo>
                <a:close/>
                <a:moveTo>
                  <a:pt x="15" y="1838"/>
                </a:moveTo>
                <a:lnTo>
                  <a:pt x="15" y="1823"/>
                </a:lnTo>
                <a:lnTo>
                  <a:pt x="0" y="1823"/>
                </a:lnTo>
                <a:lnTo>
                  <a:pt x="0" y="1838"/>
                </a:lnTo>
                <a:lnTo>
                  <a:pt x="15" y="1838"/>
                </a:lnTo>
                <a:close/>
                <a:moveTo>
                  <a:pt x="15" y="1809"/>
                </a:moveTo>
                <a:lnTo>
                  <a:pt x="15" y="1795"/>
                </a:lnTo>
                <a:lnTo>
                  <a:pt x="0" y="1795"/>
                </a:lnTo>
                <a:lnTo>
                  <a:pt x="0" y="1809"/>
                </a:lnTo>
                <a:lnTo>
                  <a:pt x="15" y="1809"/>
                </a:lnTo>
                <a:close/>
                <a:moveTo>
                  <a:pt x="15" y="1781"/>
                </a:moveTo>
                <a:lnTo>
                  <a:pt x="15" y="1767"/>
                </a:lnTo>
                <a:lnTo>
                  <a:pt x="0" y="1767"/>
                </a:lnTo>
                <a:lnTo>
                  <a:pt x="0" y="1781"/>
                </a:lnTo>
                <a:lnTo>
                  <a:pt x="15" y="1781"/>
                </a:lnTo>
                <a:close/>
                <a:moveTo>
                  <a:pt x="15" y="1752"/>
                </a:moveTo>
                <a:lnTo>
                  <a:pt x="15" y="1738"/>
                </a:lnTo>
                <a:lnTo>
                  <a:pt x="0" y="1738"/>
                </a:lnTo>
                <a:lnTo>
                  <a:pt x="0" y="1752"/>
                </a:lnTo>
                <a:lnTo>
                  <a:pt x="15" y="1752"/>
                </a:lnTo>
                <a:close/>
                <a:moveTo>
                  <a:pt x="15" y="1724"/>
                </a:moveTo>
                <a:lnTo>
                  <a:pt x="15" y="1709"/>
                </a:lnTo>
                <a:lnTo>
                  <a:pt x="0" y="1709"/>
                </a:lnTo>
                <a:lnTo>
                  <a:pt x="0" y="1724"/>
                </a:lnTo>
                <a:lnTo>
                  <a:pt x="15" y="1724"/>
                </a:lnTo>
                <a:close/>
                <a:moveTo>
                  <a:pt x="15" y="1695"/>
                </a:moveTo>
                <a:lnTo>
                  <a:pt x="15" y="1681"/>
                </a:lnTo>
                <a:lnTo>
                  <a:pt x="0" y="1681"/>
                </a:lnTo>
                <a:lnTo>
                  <a:pt x="0" y="1695"/>
                </a:lnTo>
                <a:lnTo>
                  <a:pt x="15" y="1695"/>
                </a:lnTo>
                <a:close/>
                <a:moveTo>
                  <a:pt x="15" y="1667"/>
                </a:moveTo>
                <a:lnTo>
                  <a:pt x="15" y="1652"/>
                </a:lnTo>
                <a:lnTo>
                  <a:pt x="0" y="1652"/>
                </a:lnTo>
                <a:lnTo>
                  <a:pt x="0" y="1667"/>
                </a:lnTo>
                <a:lnTo>
                  <a:pt x="15" y="1667"/>
                </a:lnTo>
                <a:close/>
                <a:moveTo>
                  <a:pt x="15" y="1638"/>
                </a:moveTo>
                <a:lnTo>
                  <a:pt x="15" y="1624"/>
                </a:lnTo>
                <a:lnTo>
                  <a:pt x="0" y="1624"/>
                </a:lnTo>
                <a:lnTo>
                  <a:pt x="0" y="1638"/>
                </a:lnTo>
                <a:lnTo>
                  <a:pt x="15" y="1638"/>
                </a:lnTo>
                <a:close/>
                <a:moveTo>
                  <a:pt x="15" y="1610"/>
                </a:moveTo>
                <a:lnTo>
                  <a:pt x="15" y="1596"/>
                </a:lnTo>
                <a:lnTo>
                  <a:pt x="0" y="1596"/>
                </a:lnTo>
                <a:lnTo>
                  <a:pt x="0" y="1610"/>
                </a:lnTo>
                <a:lnTo>
                  <a:pt x="15" y="1610"/>
                </a:lnTo>
                <a:close/>
                <a:moveTo>
                  <a:pt x="15" y="1581"/>
                </a:moveTo>
                <a:lnTo>
                  <a:pt x="15" y="1567"/>
                </a:lnTo>
                <a:lnTo>
                  <a:pt x="0" y="1567"/>
                </a:lnTo>
                <a:lnTo>
                  <a:pt x="0" y="1581"/>
                </a:lnTo>
                <a:lnTo>
                  <a:pt x="15" y="1581"/>
                </a:lnTo>
                <a:close/>
                <a:moveTo>
                  <a:pt x="15" y="1553"/>
                </a:moveTo>
                <a:lnTo>
                  <a:pt x="15" y="1539"/>
                </a:lnTo>
                <a:lnTo>
                  <a:pt x="0" y="1539"/>
                </a:lnTo>
                <a:lnTo>
                  <a:pt x="0" y="1553"/>
                </a:lnTo>
                <a:lnTo>
                  <a:pt x="15" y="1553"/>
                </a:lnTo>
                <a:close/>
                <a:moveTo>
                  <a:pt x="15" y="1524"/>
                </a:moveTo>
                <a:lnTo>
                  <a:pt x="15" y="1510"/>
                </a:lnTo>
                <a:lnTo>
                  <a:pt x="0" y="1510"/>
                </a:lnTo>
                <a:lnTo>
                  <a:pt x="0" y="1524"/>
                </a:lnTo>
                <a:lnTo>
                  <a:pt x="15" y="1524"/>
                </a:lnTo>
                <a:close/>
                <a:moveTo>
                  <a:pt x="15" y="1496"/>
                </a:moveTo>
                <a:lnTo>
                  <a:pt x="15" y="1481"/>
                </a:lnTo>
                <a:lnTo>
                  <a:pt x="0" y="1481"/>
                </a:lnTo>
                <a:lnTo>
                  <a:pt x="0" y="1496"/>
                </a:lnTo>
                <a:lnTo>
                  <a:pt x="15" y="1496"/>
                </a:lnTo>
                <a:close/>
                <a:moveTo>
                  <a:pt x="15" y="1467"/>
                </a:moveTo>
                <a:lnTo>
                  <a:pt x="15" y="1453"/>
                </a:lnTo>
                <a:lnTo>
                  <a:pt x="0" y="1453"/>
                </a:lnTo>
                <a:lnTo>
                  <a:pt x="0" y="1467"/>
                </a:lnTo>
                <a:lnTo>
                  <a:pt x="15" y="1467"/>
                </a:lnTo>
                <a:close/>
                <a:moveTo>
                  <a:pt x="15" y="1439"/>
                </a:moveTo>
                <a:lnTo>
                  <a:pt x="15" y="1425"/>
                </a:lnTo>
                <a:lnTo>
                  <a:pt x="0" y="1425"/>
                </a:lnTo>
                <a:lnTo>
                  <a:pt x="0" y="1439"/>
                </a:lnTo>
                <a:lnTo>
                  <a:pt x="15" y="1439"/>
                </a:lnTo>
                <a:close/>
                <a:moveTo>
                  <a:pt x="15" y="1410"/>
                </a:moveTo>
                <a:lnTo>
                  <a:pt x="15" y="1396"/>
                </a:lnTo>
                <a:lnTo>
                  <a:pt x="0" y="1396"/>
                </a:lnTo>
                <a:lnTo>
                  <a:pt x="0" y="1410"/>
                </a:lnTo>
                <a:lnTo>
                  <a:pt x="15" y="1410"/>
                </a:lnTo>
                <a:close/>
                <a:moveTo>
                  <a:pt x="15" y="1382"/>
                </a:moveTo>
                <a:lnTo>
                  <a:pt x="15" y="1368"/>
                </a:lnTo>
                <a:lnTo>
                  <a:pt x="0" y="1368"/>
                </a:lnTo>
                <a:lnTo>
                  <a:pt x="0" y="1382"/>
                </a:lnTo>
                <a:lnTo>
                  <a:pt x="15" y="1382"/>
                </a:lnTo>
                <a:close/>
                <a:moveTo>
                  <a:pt x="15" y="1353"/>
                </a:moveTo>
                <a:lnTo>
                  <a:pt x="15" y="1339"/>
                </a:lnTo>
                <a:lnTo>
                  <a:pt x="0" y="1339"/>
                </a:lnTo>
                <a:lnTo>
                  <a:pt x="0" y="1353"/>
                </a:lnTo>
                <a:lnTo>
                  <a:pt x="15" y="1353"/>
                </a:lnTo>
                <a:close/>
                <a:moveTo>
                  <a:pt x="15" y="1325"/>
                </a:moveTo>
                <a:lnTo>
                  <a:pt x="15" y="1310"/>
                </a:lnTo>
                <a:lnTo>
                  <a:pt x="0" y="1310"/>
                </a:lnTo>
                <a:lnTo>
                  <a:pt x="0" y="1325"/>
                </a:lnTo>
                <a:lnTo>
                  <a:pt x="15" y="1325"/>
                </a:lnTo>
                <a:close/>
                <a:moveTo>
                  <a:pt x="15" y="1296"/>
                </a:moveTo>
                <a:lnTo>
                  <a:pt x="15" y="1282"/>
                </a:lnTo>
                <a:lnTo>
                  <a:pt x="0" y="1282"/>
                </a:lnTo>
                <a:lnTo>
                  <a:pt x="0" y="1296"/>
                </a:lnTo>
                <a:lnTo>
                  <a:pt x="15" y="1296"/>
                </a:lnTo>
                <a:close/>
                <a:moveTo>
                  <a:pt x="15" y="1268"/>
                </a:moveTo>
                <a:lnTo>
                  <a:pt x="15" y="1254"/>
                </a:lnTo>
                <a:lnTo>
                  <a:pt x="0" y="1254"/>
                </a:lnTo>
                <a:lnTo>
                  <a:pt x="0" y="1268"/>
                </a:lnTo>
                <a:lnTo>
                  <a:pt x="15" y="1268"/>
                </a:lnTo>
                <a:close/>
                <a:moveTo>
                  <a:pt x="15" y="1239"/>
                </a:moveTo>
                <a:lnTo>
                  <a:pt x="15" y="1225"/>
                </a:lnTo>
                <a:lnTo>
                  <a:pt x="0" y="1225"/>
                </a:lnTo>
                <a:lnTo>
                  <a:pt x="0" y="1239"/>
                </a:lnTo>
                <a:lnTo>
                  <a:pt x="15" y="1239"/>
                </a:lnTo>
                <a:close/>
                <a:moveTo>
                  <a:pt x="15" y="1211"/>
                </a:moveTo>
                <a:lnTo>
                  <a:pt x="15" y="1197"/>
                </a:lnTo>
                <a:lnTo>
                  <a:pt x="0" y="1197"/>
                </a:lnTo>
                <a:lnTo>
                  <a:pt x="0" y="1211"/>
                </a:lnTo>
                <a:lnTo>
                  <a:pt x="15" y="1211"/>
                </a:lnTo>
                <a:close/>
                <a:moveTo>
                  <a:pt x="15" y="1182"/>
                </a:moveTo>
                <a:lnTo>
                  <a:pt x="15" y="1168"/>
                </a:lnTo>
                <a:lnTo>
                  <a:pt x="0" y="1168"/>
                </a:lnTo>
                <a:lnTo>
                  <a:pt x="0" y="1182"/>
                </a:lnTo>
                <a:lnTo>
                  <a:pt x="15" y="1182"/>
                </a:lnTo>
                <a:close/>
                <a:moveTo>
                  <a:pt x="15" y="1154"/>
                </a:moveTo>
                <a:lnTo>
                  <a:pt x="15" y="1140"/>
                </a:lnTo>
                <a:lnTo>
                  <a:pt x="0" y="1140"/>
                </a:lnTo>
                <a:lnTo>
                  <a:pt x="0" y="1154"/>
                </a:lnTo>
                <a:lnTo>
                  <a:pt x="15" y="1154"/>
                </a:lnTo>
                <a:close/>
                <a:moveTo>
                  <a:pt x="15" y="1126"/>
                </a:moveTo>
                <a:lnTo>
                  <a:pt x="15" y="1111"/>
                </a:lnTo>
                <a:lnTo>
                  <a:pt x="0" y="1111"/>
                </a:lnTo>
                <a:lnTo>
                  <a:pt x="0" y="1126"/>
                </a:lnTo>
                <a:lnTo>
                  <a:pt x="15" y="1126"/>
                </a:lnTo>
                <a:close/>
                <a:moveTo>
                  <a:pt x="15" y="1097"/>
                </a:moveTo>
                <a:lnTo>
                  <a:pt x="15" y="1083"/>
                </a:lnTo>
                <a:lnTo>
                  <a:pt x="0" y="1083"/>
                </a:lnTo>
                <a:lnTo>
                  <a:pt x="0" y="1097"/>
                </a:lnTo>
                <a:lnTo>
                  <a:pt x="15" y="1097"/>
                </a:lnTo>
                <a:close/>
                <a:moveTo>
                  <a:pt x="15" y="1068"/>
                </a:moveTo>
                <a:lnTo>
                  <a:pt x="15" y="1054"/>
                </a:lnTo>
                <a:lnTo>
                  <a:pt x="0" y="1054"/>
                </a:lnTo>
                <a:lnTo>
                  <a:pt x="0" y="1068"/>
                </a:lnTo>
                <a:lnTo>
                  <a:pt x="15" y="1068"/>
                </a:lnTo>
                <a:close/>
                <a:moveTo>
                  <a:pt x="15" y="1040"/>
                </a:moveTo>
                <a:lnTo>
                  <a:pt x="15" y="1026"/>
                </a:lnTo>
                <a:lnTo>
                  <a:pt x="0" y="1026"/>
                </a:lnTo>
                <a:lnTo>
                  <a:pt x="0" y="1040"/>
                </a:lnTo>
                <a:lnTo>
                  <a:pt x="15" y="1040"/>
                </a:lnTo>
                <a:close/>
                <a:moveTo>
                  <a:pt x="15" y="1011"/>
                </a:moveTo>
                <a:lnTo>
                  <a:pt x="15" y="997"/>
                </a:lnTo>
                <a:lnTo>
                  <a:pt x="0" y="997"/>
                </a:lnTo>
                <a:lnTo>
                  <a:pt x="0" y="1011"/>
                </a:lnTo>
                <a:lnTo>
                  <a:pt x="15" y="1011"/>
                </a:lnTo>
                <a:close/>
                <a:moveTo>
                  <a:pt x="15" y="983"/>
                </a:moveTo>
                <a:lnTo>
                  <a:pt x="15" y="969"/>
                </a:lnTo>
                <a:lnTo>
                  <a:pt x="0" y="969"/>
                </a:lnTo>
                <a:lnTo>
                  <a:pt x="0" y="983"/>
                </a:lnTo>
                <a:lnTo>
                  <a:pt x="15" y="983"/>
                </a:lnTo>
                <a:close/>
                <a:moveTo>
                  <a:pt x="15" y="955"/>
                </a:moveTo>
                <a:lnTo>
                  <a:pt x="15" y="940"/>
                </a:lnTo>
                <a:lnTo>
                  <a:pt x="0" y="940"/>
                </a:lnTo>
                <a:lnTo>
                  <a:pt x="0" y="955"/>
                </a:lnTo>
                <a:lnTo>
                  <a:pt x="15" y="955"/>
                </a:lnTo>
                <a:close/>
                <a:moveTo>
                  <a:pt x="15" y="926"/>
                </a:moveTo>
                <a:lnTo>
                  <a:pt x="15" y="912"/>
                </a:lnTo>
                <a:lnTo>
                  <a:pt x="0" y="912"/>
                </a:lnTo>
                <a:lnTo>
                  <a:pt x="0" y="926"/>
                </a:lnTo>
                <a:lnTo>
                  <a:pt x="15" y="926"/>
                </a:lnTo>
                <a:close/>
                <a:moveTo>
                  <a:pt x="15" y="897"/>
                </a:moveTo>
                <a:lnTo>
                  <a:pt x="15" y="883"/>
                </a:lnTo>
                <a:lnTo>
                  <a:pt x="0" y="883"/>
                </a:lnTo>
                <a:lnTo>
                  <a:pt x="0" y="897"/>
                </a:lnTo>
                <a:lnTo>
                  <a:pt x="15" y="897"/>
                </a:lnTo>
                <a:close/>
                <a:moveTo>
                  <a:pt x="15" y="869"/>
                </a:moveTo>
                <a:lnTo>
                  <a:pt x="15" y="855"/>
                </a:lnTo>
                <a:lnTo>
                  <a:pt x="0" y="855"/>
                </a:lnTo>
                <a:lnTo>
                  <a:pt x="0" y="869"/>
                </a:lnTo>
                <a:lnTo>
                  <a:pt x="15" y="869"/>
                </a:lnTo>
                <a:close/>
                <a:moveTo>
                  <a:pt x="15" y="840"/>
                </a:moveTo>
                <a:lnTo>
                  <a:pt x="15" y="826"/>
                </a:lnTo>
                <a:lnTo>
                  <a:pt x="0" y="826"/>
                </a:lnTo>
                <a:lnTo>
                  <a:pt x="0" y="840"/>
                </a:lnTo>
                <a:lnTo>
                  <a:pt x="15" y="840"/>
                </a:lnTo>
                <a:close/>
                <a:moveTo>
                  <a:pt x="15" y="812"/>
                </a:moveTo>
                <a:lnTo>
                  <a:pt x="15" y="798"/>
                </a:lnTo>
                <a:lnTo>
                  <a:pt x="0" y="798"/>
                </a:lnTo>
                <a:lnTo>
                  <a:pt x="0" y="812"/>
                </a:lnTo>
                <a:lnTo>
                  <a:pt x="15" y="812"/>
                </a:lnTo>
                <a:close/>
                <a:moveTo>
                  <a:pt x="15" y="784"/>
                </a:moveTo>
                <a:lnTo>
                  <a:pt x="15" y="769"/>
                </a:lnTo>
                <a:lnTo>
                  <a:pt x="0" y="769"/>
                </a:lnTo>
                <a:lnTo>
                  <a:pt x="0" y="784"/>
                </a:lnTo>
                <a:lnTo>
                  <a:pt x="15" y="784"/>
                </a:lnTo>
                <a:close/>
                <a:moveTo>
                  <a:pt x="15" y="755"/>
                </a:moveTo>
                <a:lnTo>
                  <a:pt x="15" y="741"/>
                </a:lnTo>
                <a:lnTo>
                  <a:pt x="0" y="741"/>
                </a:lnTo>
                <a:lnTo>
                  <a:pt x="0" y="755"/>
                </a:lnTo>
                <a:lnTo>
                  <a:pt x="15" y="755"/>
                </a:lnTo>
                <a:close/>
                <a:moveTo>
                  <a:pt x="15" y="726"/>
                </a:moveTo>
                <a:lnTo>
                  <a:pt x="15" y="712"/>
                </a:lnTo>
                <a:lnTo>
                  <a:pt x="0" y="712"/>
                </a:lnTo>
                <a:lnTo>
                  <a:pt x="0" y="726"/>
                </a:lnTo>
                <a:lnTo>
                  <a:pt x="15" y="726"/>
                </a:lnTo>
                <a:close/>
                <a:moveTo>
                  <a:pt x="15" y="698"/>
                </a:moveTo>
                <a:lnTo>
                  <a:pt x="15" y="684"/>
                </a:lnTo>
                <a:lnTo>
                  <a:pt x="0" y="684"/>
                </a:lnTo>
                <a:lnTo>
                  <a:pt x="0" y="698"/>
                </a:lnTo>
                <a:lnTo>
                  <a:pt x="15" y="698"/>
                </a:lnTo>
                <a:close/>
                <a:moveTo>
                  <a:pt x="15" y="669"/>
                </a:moveTo>
                <a:lnTo>
                  <a:pt x="15" y="655"/>
                </a:lnTo>
                <a:lnTo>
                  <a:pt x="0" y="655"/>
                </a:lnTo>
                <a:lnTo>
                  <a:pt x="0" y="669"/>
                </a:lnTo>
                <a:lnTo>
                  <a:pt x="15" y="669"/>
                </a:lnTo>
                <a:close/>
                <a:moveTo>
                  <a:pt x="15" y="641"/>
                </a:moveTo>
                <a:lnTo>
                  <a:pt x="15" y="627"/>
                </a:lnTo>
                <a:lnTo>
                  <a:pt x="0" y="627"/>
                </a:lnTo>
                <a:lnTo>
                  <a:pt x="0" y="641"/>
                </a:lnTo>
                <a:lnTo>
                  <a:pt x="15" y="641"/>
                </a:lnTo>
                <a:close/>
                <a:moveTo>
                  <a:pt x="15" y="613"/>
                </a:moveTo>
                <a:lnTo>
                  <a:pt x="15" y="598"/>
                </a:lnTo>
                <a:lnTo>
                  <a:pt x="0" y="598"/>
                </a:lnTo>
                <a:lnTo>
                  <a:pt x="0" y="613"/>
                </a:lnTo>
                <a:lnTo>
                  <a:pt x="15" y="613"/>
                </a:lnTo>
                <a:close/>
                <a:moveTo>
                  <a:pt x="15" y="584"/>
                </a:moveTo>
                <a:lnTo>
                  <a:pt x="15" y="570"/>
                </a:lnTo>
                <a:lnTo>
                  <a:pt x="0" y="570"/>
                </a:lnTo>
                <a:lnTo>
                  <a:pt x="0" y="584"/>
                </a:lnTo>
                <a:lnTo>
                  <a:pt x="15" y="584"/>
                </a:lnTo>
                <a:close/>
                <a:moveTo>
                  <a:pt x="15" y="556"/>
                </a:moveTo>
                <a:lnTo>
                  <a:pt x="15" y="541"/>
                </a:lnTo>
                <a:lnTo>
                  <a:pt x="0" y="541"/>
                </a:lnTo>
                <a:lnTo>
                  <a:pt x="0" y="556"/>
                </a:lnTo>
                <a:lnTo>
                  <a:pt x="15" y="556"/>
                </a:lnTo>
                <a:close/>
                <a:moveTo>
                  <a:pt x="15" y="527"/>
                </a:moveTo>
                <a:lnTo>
                  <a:pt x="15" y="513"/>
                </a:lnTo>
                <a:lnTo>
                  <a:pt x="0" y="513"/>
                </a:lnTo>
                <a:lnTo>
                  <a:pt x="0" y="527"/>
                </a:lnTo>
                <a:lnTo>
                  <a:pt x="15" y="527"/>
                </a:lnTo>
                <a:close/>
                <a:moveTo>
                  <a:pt x="15" y="498"/>
                </a:moveTo>
                <a:lnTo>
                  <a:pt x="15" y="484"/>
                </a:lnTo>
                <a:lnTo>
                  <a:pt x="0" y="484"/>
                </a:lnTo>
                <a:lnTo>
                  <a:pt x="0" y="498"/>
                </a:lnTo>
                <a:lnTo>
                  <a:pt x="15" y="498"/>
                </a:lnTo>
                <a:close/>
                <a:moveTo>
                  <a:pt x="15" y="470"/>
                </a:moveTo>
                <a:lnTo>
                  <a:pt x="15" y="456"/>
                </a:lnTo>
                <a:lnTo>
                  <a:pt x="0" y="456"/>
                </a:lnTo>
                <a:lnTo>
                  <a:pt x="0" y="470"/>
                </a:lnTo>
                <a:lnTo>
                  <a:pt x="15" y="470"/>
                </a:lnTo>
                <a:close/>
                <a:moveTo>
                  <a:pt x="15" y="442"/>
                </a:moveTo>
                <a:lnTo>
                  <a:pt x="15" y="427"/>
                </a:lnTo>
                <a:lnTo>
                  <a:pt x="0" y="427"/>
                </a:lnTo>
                <a:lnTo>
                  <a:pt x="0" y="442"/>
                </a:lnTo>
                <a:lnTo>
                  <a:pt x="15" y="442"/>
                </a:lnTo>
                <a:close/>
                <a:moveTo>
                  <a:pt x="15" y="413"/>
                </a:moveTo>
                <a:lnTo>
                  <a:pt x="15" y="399"/>
                </a:lnTo>
                <a:lnTo>
                  <a:pt x="0" y="399"/>
                </a:lnTo>
                <a:lnTo>
                  <a:pt x="0" y="413"/>
                </a:lnTo>
                <a:lnTo>
                  <a:pt x="15" y="413"/>
                </a:lnTo>
                <a:close/>
                <a:moveTo>
                  <a:pt x="15" y="385"/>
                </a:moveTo>
                <a:lnTo>
                  <a:pt x="15" y="370"/>
                </a:lnTo>
                <a:lnTo>
                  <a:pt x="0" y="370"/>
                </a:lnTo>
                <a:lnTo>
                  <a:pt x="0" y="385"/>
                </a:lnTo>
                <a:lnTo>
                  <a:pt x="15" y="385"/>
                </a:lnTo>
                <a:close/>
                <a:moveTo>
                  <a:pt x="15" y="356"/>
                </a:moveTo>
                <a:lnTo>
                  <a:pt x="15" y="342"/>
                </a:lnTo>
                <a:lnTo>
                  <a:pt x="0" y="342"/>
                </a:lnTo>
                <a:lnTo>
                  <a:pt x="0" y="356"/>
                </a:lnTo>
                <a:lnTo>
                  <a:pt x="15" y="356"/>
                </a:lnTo>
                <a:close/>
                <a:moveTo>
                  <a:pt x="15" y="327"/>
                </a:moveTo>
                <a:lnTo>
                  <a:pt x="15" y="313"/>
                </a:lnTo>
                <a:lnTo>
                  <a:pt x="0" y="313"/>
                </a:lnTo>
                <a:lnTo>
                  <a:pt x="0" y="327"/>
                </a:lnTo>
                <a:lnTo>
                  <a:pt x="15" y="327"/>
                </a:lnTo>
                <a:close/>
                <a:moveTo>
                  <a:pt x="15" y="299"/>
                </a:moveTo>
                <a:lnTo>
                  <a:pt x="15" y="285"/>
                </a:lnTo>
                <a:lnTo>
                  <a:pt x="0" y="285"/>
                </a:lnTo>
                <a:lnTo>
                  <a:pt x="0" y="299"/>
                </a:lnTo>
                <a:lnTo>
                  <a:pt x="15" y="299"/>
                </a:lnTo>
                <a:close/>
                <a:moveTo>
                  <a:pt x="15" y="271"/>
                </a:moveTo>
                <a:lnTo>
                  <a:pt x="15" y="256"/>
                </a:lnTo>
                <a:lnTo>
                  <a:pt x="0" y="256"/>
                </a:lnTo>
                <a:lnTo>
                  <a:pt x="0" y="271"/>
                </a:lnTo>
                <a:lnTo>
                  <a:pt x="15" y="271"/>
                </a:lnTo>
                <a:close/>
                <a:moveTo>
                  <a:pt x="15" y="242"/>
                </a:moveTo>
                <a:lnTo>
                  <a:pt x="15" y="228"/>
                </a:lnTo>
                <a:lnTo>
                  <a:pt x="0" y="228"/>
                </a:lnTo>
                <a:lnTo>
                  <a:pt x="0" y="242"/>
                </a:lnTo>
                <a:lnTo>
                  <a:pt x="15" y="242"/>
                </a:lnTo>
                <a:close/>
                <a:moveTo>
                  <a:pt x="15" y="214"/>
                </a:moveTo>
                <a:lnTo>
                  <a:pt x="15" y="199"/>
                </a:lnTo>
                <a:lnTo>
                  <a:pt x="0" y="199"/>
                </a:lnTo>
                <a:lnTo>
                  <a:pt x="0" y="214"/>
                </a:lnTo>
                <a:lnTo>
                  <a:pt x="15" y="214"/>
                </a:lnTo>
                <a:close/>
                <a:moveTo>
                  <a:pt x="15" y="185"/>
                </a:moveTo>
                <a:lnTo>
                  <a:pt x="15" y="171"/>
                </a:lnTo>
                <a:lnTo>
                  <a:pt x="0" y="171"/>
                </a:lnTo>
                <a:lnTo>
                  <a:pt x="0" y="185"/>
                </a:lnTo>
                <a:lnTo>
                  <a:pt x="15" y="185"/>
                </a:lnTo>
                <a:close/>
                <a:moveTo>
                  <a:pt x="15" y="157"/>
                </a:moveTo>
                <a:lnTo>
                  <a:pt x="15" y="143"/>
                </a:lnTo>
                <a:lnTo>
                  <a:pt x="0" y="143"/>
                </a:lnTo>
                <a:lnTo>
                  <a:pt x="0" y="157"/>
                </a:lnTo>
                <a:lnTo>
                  <a:pt x="15" y="157"/>
                </a:lnTo>
                <a:close/>
                <a:moveTo>
                  <a:pt x="15" y="128"/>
                </a:moveTo>
                <a:lnTo>
                  <a:pt x="15" y="114"/>
                </a:lnTo>
                <a:lnTo>
                  <a:pt x="0" y="114"/>
                </a:lnTo>
                <a:lnTo>
                  <a:pt x="0" y="128"/>
                </a:lnTo>
                <a:lnTo>
                  <a:pt x="15" y="128"/>
                </a:lnTo>
                <a:close/>
                <a:moveTo>
                  <a:pt x="15" y="100"/>
                </a:moveTo>
                <a:lnTo>
                  <a:pt x="15" y="85"/>
                </a:lnTo>
                <a:lnTo>
                  <a:pt x="0" y="85"/>
                </a:lnTo>
                <a:lnTo>
                  <a:pt x="0" y="100"/>
                </a:lnTo>
                <a:lnTo>
                  <a:pt x="15" y="100"/>
                </a:lnTo>
                <a:close/>
                <a:moveTo>
                  <a:pt x="15" y="71"/>
                </a:moveTo>
                <a:lnTo>
                  <a:pt x="15" y="57"/>
                </a:lnTo>
                <a:lnTo>
                  <a:pt x="0" y="57"/>
                </a:lnTo>
                <a:lnTo>
                  <a:pt x="0" y="71"/>
                </a:lnTo>
                <a:lnTo>
                  <a:pt x="15" y="71"/>
                </a:lnTo>
                <a:close/>
                <a:moveTo>
                  <a:pt x="15" y="43"/>
                </a:moveTo>
                <a:lnTo>
                  <a:pt x="15" y="28"/>
                </a:lnTo>
                <a:lnTo>
                  <a:pt x="0" y="28"/>
                </a:lnTo>
                <a:lnTo>
                  <a:pt x="0" y="43"/>
                </a:lnTo>
                <a:lnTo>
                  <a:pt x="15" y="43"/>
                </a:lnTo>
                <a:close/>
                <a:moveTo>
                  <a:pt x="15" y="14"/>
                </a:moveTo>
                <a:lnTo>
                  <a:pt x="15" y="0"/>
                </a:lnTo>
                <a:lnTo>
                  <a:pt x="0" y="0"/>
                </a:lnTo>
                <a:lnTo>
                  <a:pt x="0" y="14"/>
                </a:lnTo>
                <a:lnTo>
                  <a:pt x="15" y="14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3333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" name="Rectangle 169">
            <a:extLst>
              <a:ext uri="{FF2B5EF4-FFF2-40B4-BE49-F238E27FC236}">
                <a16:creationId xmlns:a16="http://schemas.microsoft.com/office/drawing/2014/main" id="{572EC6EB-0789-457D-882E-3FE8115F6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764" y="5426078"/>
            <a:ext cx="105568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“W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asted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cycles</a:t>
            </a:r>
          </a:p>
        </p:txBody>
      </p:sp>
      <p:sp>
        <p:nvSpPr>
          <p:cNvPr id="492" name="Freeform 170">
            <a:extLst>
              <a:ext uri="{FF2B5EF4-FFF2-40B4-BE49-F238E27FC236}">
                <a16:creationId xmlns:a16="http://schemas.microsoft.com/office/drawing/2014/main" id="{CE34B3D2-391A-4ABF-82FD-3D28F2CCF4CE}"/>
              </a:ext>
            </a:extLst>
          </p:cNvPr>
          <p:cNvSpPr>
            <a:spLocks noEditPoints="1"/>
          </p:cNvSpPr>
          <p:nvPr/>
        </p:nvSpPr>
        <p:spPr bwMode="auto">
          <a:xfrm>
            <a:off x="5068889" y="5541966"/>
            <a:ext cx="957263" cy="434975"/>
          </a:xfrm>
          <a:custGeom>
            <a:avLst/>
            <a:gdLst>
              <a:gd name="T0" fmla="*/ 1806 w 1807"/>
              <a:gd name="T1" fmla="*/ 0 h 821"/>
              <a:gd name="T2" fmla="*/ 1640 w 1807"/>
              <a:gd name="T3" fmla="*/ 5 h 821"/>
              <a:gd name="T4" fmla="*/ 1475 w 1807"/>
              <a:gd name="T5" fmla="*/ 18 h 821"/>
              <a:gd name="T6" fmla="*/ 1312 w 1807"/>
              <a:gd name="T7" fmla="*/ 40 h 821"/>
              <a:gd name="T8" fmla="*/ 1153 w 1807"/>
              <a:gd name="T9" fmla="*/ 70 h 821"/>
              <a:gd name="T10" fmla="*/ 1000 w 1807"/>
              <a:gd name="T11" fmla="*/ 107 h 821"/>
              <a:gd name="T12" fmla="*/ 852 w 1807"/>
              <a:gd name="T13" fmla="*/ 150 h 821"/>
              <a:gd name="T14" fmla="*/ 713 w 1807"/>
              <a:gd name="T15" fmla="*/ 199 h 821"/>
              <a:gd name="T16" fmla="*/ 582 w 1807"/>
              <a:gd name="T17" fmla="*/ 255 h 821"/>
              <a:gd name="T18" fmla="*/ 463 w 1807"/>
              <a:gd name="T19" fmla="*/ 314 h 821"/>
              <a:gd name="T20" fmla="*/ 354 w 1807"/>
              <a:gd name="T21" fmla="*/ 377 h 821"/>
              <a:gd name="T22" fmla="*/ 259 w 1807"/>
              <a:gd name="T23" fmla="*/ 445 h 821"/>
              <a:gd name="T24" fmla="*/ 177 w 1807"/>
              <a:gd name="T25" fmla="*/ 515 h 821"/>
              <a:gd name="T26" fmla="*/ 112 w 1807"/>
              <a:gd name="T27" fmla="*/ 589 h 821"/>
              <a:gd name="T28" fmla="*/ 112 w 1807"/>
              <a:gd name="T29" fmla="*/ 591 h 821"/>
              <a:gd name="T30" fmla="*/ 64 w 1807"/>
              <a:gd name="T31" fmla="*/ 665 h 821"/>
              <a:gd name="T32" fmla="*/ 62 w 1807"/>
              <a:gd name="T33" fmla="*/ 667 h 821"/>
              <a:gd name="T34" fmla="*/ 47 w 1807"/>
              <a:gd name="T35" fmla="*/ 714 h 821"/>
              <a:gd name="T36" fmla="*/ 67 w 1807"/>
              <a:gd name="T37" fmla="*/ 721 h 821"/>
              <a:gd name="T38" fmla="*/ 83 w 1807"/>
              <a:gd name="T39" fmla="*/ 674 h 821"/>
              <a:gd name="T40" fmla="*/ 81 w 1807"/>
              <a:gd name="T41" fmla="*/ 676 h 821"/>
              <a:gd name="T42" fmla="*/ 129 w 1807"/>
              <a:gd name="T43" fmla="*/ 602 h 821"/>
              <a:gd name="T44" fmla="*/ 128 w 1807"/>
              <a:gd name="T45" fmla="*/ 603 h 821"/>
              <a:gd name="T46" fmla="*/ 191 w 1807"/>
              <a:gd name="T47" fmla="*/ 532 h 821"/>
              <a:gd name="T48" fmla="*/ 272 w 1807"/>
              <a:gd name="T49" fmla="*/ 462 h 821"/>
              <a:gd name="T50" fmla="*/ 365 w 1807"/>
              <a:gd name="T51" fmla="*/ 396 h 821"/>
              <a:gd name="T52" fmla="*/ 472 w 1807"/>
              <a:gd name="T53" fmla="*/ 333 h 821"/>
              <a:gd name="T54" fmla="*/ 591 w 1807"/>
              <a:gd name="T55" fmla="*/ 274 h 821"/>
              <a:gd name="T56" fmla="*/ 720 w 1807"/>
              <a:gd name="T57" fmla="*/ 220 h 821"/>
              <a:gd name="T58" fmla="*/ 858 w 1807"/>
              <a:gd name="T59" fmla="*/ 171 h 821"/>
              <a:gd name="T60" fmla="*/ 1005 w 1807"/>
              <a:gd name="T61" fmla="*/ 128 h 821"/>
              <a:gd name="T62" fmla="*/ 1157 w 1807"/>
              <a:gd name="T63" fmla="*/ 91 h 821"/>
              <a:gd name="T64" fmla="*/ 1315 w 1807"/>
              <a:gd name="T65" fmla="*/ 61 h 821"/>
              <a:gd name="T66" fmla="*/ 1476 w 1807"/>
              <a:gd name="T67" fmla="*/ 39 h 821"/>
              <a:gd name="T68" fmla="*/ 1641 w 1807"/>
              <a:gd name="T69" fmla="*/ 26 h 821"/>
              <a:gd name="T70" fmla="*/ 1807 w 1807"/>
              <a:gd name="T71" fmla="*/ 21 h 821"/>
              <a:gd name="T72" fmla="*/ 1806 w 1807"/>
              <a:gd name="T73" fmla="*/ 0 h 821"/>
              <a:gd name="T74" fmla="*/ 0 w 1807"/>
              <a:gd name="T75" fmla="*/ 682 h 821"/>
              <a:gd name="T76" fmla="*/ 32 w 1807"/>
              <a:gd name="T77" fmla="*/ 821 h 821"/>
              <a:gd name="T78" fmla="*/ 124 w 1807"/>
              <a:gd name="T79" fmla="*/ 712 h 821"/>
              <a:gd name="T80" fmla="*/ 0 w 1807"/>
              <a:gd name="T81" fmla="*/ 682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807" h="821">
                <a:moveTo>
                  <a:pt x="1806" y="0"/>
                </a:moveTo>
                <a:lnTo>
                  <a:pt x="1640" y="5"/>
                </a:lnTo>
                <a:lnTo>
                  <a:pt x="1475" y="18"/>
                </a:lnTo>
                <a:lnTo>
                  <a:pt x="1312" y="40"/>
                </a:lnTo>
                <a:lnTo>
                  <a:pt x="1153" y="70"/>
                </a:lnTo>
                <a:lnTo>
                  <a:pt x="1000" y="107"/>
                </a:lnTo>
                <a:lnTo>
                  <a:pt x="852" y="150"/>
                </a:lnTo>
                <a:lnTo>
                  <a:pt x="713" y="199"/>
                </a:lnTo>
                <a:lnTo>
                  <a:pt x="582" y="255"/>
                </a:lnTo>
                <a:lnTo>
                  <a:pt x="463" y="314"/>
                </a:lnTo>
                <a:lnTo>
                  <a:pt x="354" y="377"/>
                </a:lnTo>
                <a:lnTo>
                  <a:pt x="259" y="445"/>
                </a:lnTo>
                <a:lnTo>
                  <a:pt x="177" y="515"/>
                </a:lnTo>
                <a:lnTo>
                  <a:pt x="112" y="589"/>
                </a:lnTo>
                <a:cubicBezTo>
                  <a:pt x="112" y="590"/>
                  <a:pt x="112" y="590"/>
                  <a:pt x="112" y="591"/>
                </a:cubicBezTo>
                <a:lnTo>
                  <a:pt x="64" y="665"/>
                </a:lnTo>
                <a:cubicBezTo>
                  <a:pt x="63" y="665"/>
                  <a:pt x="63" y="666"/>
                  <a:pt x="62" y="667"/>
                </a:cubicBezTo>
                <a:lnTo>
                  <a:pt x="47" y="714"/>
                </a:lnTo>
                <a:lnTo>
                  <a:pt x="67" y="721"/>
                </a:lnTo>
                <a:lnTo>
                  <a:pt x="83" y="674"/>
                </a:lnTo>
                <a:lnTo>
                  <a:pt x="81" y="676"/>
                </a:lnTo>
                <a:lnTo>
                  <a:pt x="129" y="602"/>
                </a:lnTo>
                <a:lnTo>
                  <a:pt x="128" y="603"/>
                </a:lnTo>
                <a:lnTo>
                  <a:pt x="191" y="532"/>
                </a:lnTo>
                <a:lnTo>
                  <a:pt x="272" y="462"/>
                </a:lnTo>
                <a:lnTo>
                  <a:pt x="365" y="396"/>
                </a:lnTo>
                <a:lnTo>
                  <a:pt x="472" y="333"/>
                </a:lnTo>
                <a:lnTo>
                  <a:pt x="591" y="274"/>
                </a:lnTo>
                <a:lnTo>
                  <a:pt x="720" y="220"/>
                </a:lnTo>
                <a:lnTo>
                  <a:pt x="858" y="171"/>
                </a:lnTo>
                <a:lnTo>
                  <a:pt x="1005" y="128"/>
                </a:lnTo>
                <a:lnTo>
                  <a:pt x="1157" y="91"/>
                </a:lnTo>
                <a:lnTo>
                  <a:pt x="1315" y="61"/>
                </a:lnTo>
                <a:lnTo>
                  <a:pt x="1476" y="39"/>
                </a:lnTo>
                <a:lnTo>
                  <a:pt x="1641" y="26"/>
                </a:lnTo>
                <a:lnTo>
                  <a:pt x="1807" y="21"/>
                </a:lnTo>
                <a:lnTo>
                  <a:pt x="1806" y="0"/>
                </a:lnTo>
                <a:close/>
                <a:moveTo>
                  <a:pt x="0" y="682"/>
                </a:moveTo>
                <a:lnTo>
                  <a:pt x="32" y="821"/>
                </a:lnTo>
                <a:lnTo>
                  <a:pt x="124" y="712"/>
                </a:lnTo>
                <a:lnTo>
                  <a:pt x="0" y="682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3" name="Freeform 171">
            <a:extLst>
              <a:ext uri="{FF2B5EF4-FFF2-40B4-BE49-F238E27FC236}">
                <a16:creationId xmlns:a16="http://schemas.microsoft.com/office/drawing/2014/main" id="{055ED91E-699E-4E30-8FAA-2695659A3FA1}"/>
              </a:ext>
            </a:extLst>
          </p:cNvPr>
          <p:cNvSpPr>
            <a:spLocks noEditPoints="1"/>
          </p:cNvSpPr>
          <p:nvPr/>
        </p:nvSpPr>
        <p:spPr bwMode="auto">
          <a:xfrm>
            <a:off x="5424490" y="2925766"/>
            <a:ext cx="2203990" cy="90487"/>
          </a:xfrm>
          <a:custGeom>
            <a:avLst/>
            <a:gdLst>
              <a:gd name="T0" fmla="*/ 36 w 1703"/>
              <a:gd name="T1" fmla="*/ 18 h 43"/>
              <a:gd name="T2" fmla="*/ 1668 w 1703"/>
              <a:gd name="T3" fmla="*/ 18 h 43"/>
              <a:gd name="T4" fmla="*/ 1668 w 1703"/>
              <a:gd name="T5" fmla="*/ 25 h 43"/>
              <a:gd name="T6" fmla="*/ 36 w 1703"/>
              <a:gd name="T7" fmla="*/ 25 h 43"/>
              <a:gd name="T8" fmla="*/ 36 w 1703"/>
              <a:gd name="T9" fmla="*/ 18 h 43"/>
              <a:gd name="T10" fmla="*/ 43 w 1703"/>
              <a:gd name="T11" fmla="*/ 43 h 43"/>
              <a:gd name="T12" fmla="*/ 0 w 1703"/>
              <a:gd name="T13" fmla="*/ 22 h 43"/>
              <a:gd name="T14" fmla="*/ 43 w 1703"/>
              <a:gd name="T15" fmla="*/ 0 h 43"/>
              <a:gd name="T16" fmla="*/ 43 w 1703"/>
              <a:gd name="T17" fmla="*/ 43 h 43"/>
              <a:gd name="T18" fmla="*/ 1661 w 1703"/>
              <a:gd name="T19" fmla="*/ 0 h 43"/>
              <a:gd name="T20" fmla="*/ 1703 w 1703"/>
              <a:gd name="T21" fmla="*/ 22 h 43"/>
              <a:gd name="T22" fmla="*/ 1661 w 1703"/>
              <a:gd name="T23" fmla="*/ 43 h 43"/>
              <a:gd name="T24" fmla="*/ 1661 w 1703"/>
              <a:gd name="T2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03" h="43">
                <a:moveTo>
                  <a:pt x="36" y="18"/>
                </a:moveTo>
                <a:lnTo>
                  <a:pt x="1668" y="18"/>
                </a:lnTo>
                <a:lnTo>
                  <a:pt x="1668" y="25"/>
                </a:lnTo>
                <a:lnTo>
                  <a:pt x="36" y="25"/>
                </a:lnTo>
                <a:lnTo>
                  <a:pt x="36" y="18"/>
                </a:lnTo>
                <a:close/>
                <a:moveTo>
                  <a:pt x="43" y="43"/>
                </a:moveTo>
                <a:lnTo>
                  <a:pt x="0" y="22"/>
                </a:lnTo>
                <a:lnTo>
                  <a:pt x="43" y="0"/>
                </a:lnTo>
                <a:lnTo>
                  <a:pt x="43" y="43"/>
                </a:lnTo>
                <a:close/>
                <a:moveTo>
                  <a:pt x="1661" y="0"/>
                </a:moveTo>
                <a:lnTo>
                  <a:pt x="1703" y="22"/>
                </a:lnTo>
                <a:lnTo>
                  <a:pt x="1661" y="43"/>
                </a:lnTo>
                <a:lnTo>
                  <a:pt x="1661" y="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4" name="Freeform 172">
            <a:extLst>
              <a:ext uri="{FF2B5EF4-FFF2-40B4-BE49-F238E27FC236}">
                <a16:creationId xmlns:a16="http://schemas.microsoft.com/office/drawing/2014/main" id="{9EFA62F3-8EBA-4F1A-BA42-03240A75F9EA}"/>
              </a:ext>
            </a:extLst>
          </p:cNvPr>
          <p:cNvSpPr>
            <a:spLocks noEditPoints="1"/>
          </p:cNvSpPr>
          <p:nvPr/>
        </p:nvSpPr>
        <p:spPr bwMode="auto">
          <a:xfrm>
            <a:off x="5432427" y="4902203"/>
            <a:ext cx="2035176" cy="68263"/>
          </a:xfrm>
          <a:custGeom>
            <a:avLst/>
            <a:gdLst>
              <a:gd name="T0" fmla="*/ 36 w 1282"/>
              <a:gd name="T1" fmla="*/ 18 h 43"/>
              <a:gd name="T2" fmla="*/ 1246 w 1282"/>
              <a:gd name="T3" fmla="*/ 18 h 43"/>
              <a:gd name="T4" fmla="*/ 1246 w 1282"/>
              <a:gd name="T5" fmla="*/ 25 h 43"/>
              <a:gd name="T6" fmla="*/ 36 w 1282"/>
              <a:gd name="T7" fmla="*/ 25 h 43"/>
              <a:gd name="T8" fmla="*/ 36 w 1282"/>
              <a:gd name="T9" fmla="*/ 18 h 43"/>
              <a:gd name="T10" fmla="*/ 43 w 1282"/>
              <a:gd name="T11" fmla="*/ 43 h 43"/>
              <a:gd name="T12" fmla="*/ 0 w 1282"/>
              <a:gd name="T13" fmla="*/ 21 h 43"/>
              <a:gd name="T14" fmla="*/ 43 w 1282"/>
              <a:gd name="T15" fmla="*/ 0 h 43"/>
              <a:gd name="T16" fmla="*/ 43 w 1282"/>
              <a:gd name="T17" fmla="*/ 43 h 43"/>
              <a:gd name="T18" fmla="*/ 1239 w 1282"/>
              <a:gd name="T19" fmla="*/ 0 h 43"/>
              <a:gd name="T20" fmla="*/ 1282 w 1282"/>
              <a:gd name="T21" fmla="*/ 21 h 43"/>
              <a:gd name="T22" fmla="*/ 1239 w 1282"/>
              <a:gd name="T23" fmla="*/ 43 h 43"/>
              <a:gd name="T24" fmla="*/ 1239 w 1282"/>
              <a:gd name="T2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82" h="43">
                <a:moveTo>
                  <a:pt x="36" y="18"/>
                </a:moveTo>
                <a:lnTo>
                  <a:pt x="1246" y="18"/>
                </a:lnTo>
                <a:lnTo>
                  <a:pt x="1246" y="25"/>
                </a:lnTo>
                <a:lnTo>
                  <a:pt x="36" y="25"/>
                </a:lnTo>
                <a:lnTo>
                  <a:pt x="36" y="18"/>
                </a:lnTo>
                <a:close/>
                <a:moveTo>
                  <a:pt x="43" y="43"/>
                </a:moveTo>
                <a:lnTo>
                  <a:pt x="0" y="21"/>
                </a:lnTo>
                <a:lnTo>
                  <a:pt x="43" y="0"/>
                </a:lnTo>
                <a:lnTo>
                  <a:pt x="43" y="43"/>
                </a:lnTo>
                <a:close/>
                <a:moveTo>
                  <a:pt x="1239" y="0"/>
                </a:moveTo>
                <a:lnTo>
                  <a:pt x="1282" y="21"/>
                </a:lnTo>
                <a:lnTo>
                  <a:pt x="1239" y="43"/>
                </a:lnTo>
                <a:lnTo>
                  <a:pt x="1239" y="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6" name="Rectangle 174">
            <a:extLst>
              <a:ext uri="{FF2B5EF4-FFF2-40B4-BE49-F238E27FC236}">
                <a16:creationId xmlns:a16="http://schemas.microsoft.com/office/drawing/2014/main" id="{92F5261C-5360-42FD-8150-0F7B62133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3" y="2983710"/>
            <a:ext cx="1277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Saved Time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77" name="Rectangle 174">
            <a:extLst>
              <a:ext uri="{FF2B5EF4-FFF2-40B4-BE49-F238E27FC236}">
                <a16:creationId xmlns:a16="http://schemas.microsoft.com/office/drawing/2014/main" id="{B3F1BA55-6B8A-489A-8E4B-BC4799323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9938" y="4951412"/>
            <a:ext cx="12779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Saved Time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E4BBC170-FD4E-9071-14AE-E05062238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8" y="3095625"/>
            <a:ext cx="135453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10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SimHei" panose="02010609060101010101" pitchFamily="49" charset="-122"/>
              </a:rPr>
              <a:t>多周期实现</a:t>
            </a:r>
            <a:endParaRPr kumimoji="0" lang="zh-CN" altLang="zh-CN" sz="180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699703D2-798C-F1DD-5C4B-6015B871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8" y="5065713"/>
            <a:ext cx="135453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100" dirty="0">
                <a:solidFill>
                  <a:srgbClr val="3333FF"/>
                </a:solidFill>
                <a:ea typeface="SimHei" panose="02010609060101010101" pitchFamily="49" charset="-122"/>
              </a:rPr>
              <a:t>流水线实现</a:t>
            </a:r>
            <a:endParaRPr kumimoji="0" lang="zh-CN" altLang="zh-CN" sz="180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ea typeface="SimHei" panose="02010609060101010101" pitchFamily="49" charset="-122"/>
            </a:endParaRPr>
          </a:p>
        </p:txBody>
      </p:sp>
      <p:sp>
        <p:nvSpPr>
          <p:cNvPr id="6" name="Rectangle 131">
            <a:extLst>
              <a:ext uri="{FF2B5EF4-FFF2-40B4-BE49-F238E27FC236}">
                <a16:creationId xmlns:a16="http://schemas.microsoft.com/office/drawing/2014/main" id="{07CBF19F-1C52-4BD2-63E2-958DDD97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8" y="1198563"/>
            <a:ext cx="135453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100" dirty="0">
                <a:ea typeface="SimHei" panose="02010609060101010101" pitchFamily="49" charset="-122"/>
              </a:rPr>
              <a:t>单周期实现</a:t>
            </a:r>
            <a:endParaRPr kumimoji="0" lang="zh-CN" altLang="zh-CN" sz="180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7" name="Freeform 170">
            <a:extLst>
              <a:ext uri="{FF2B5EF4-FFF2-40B4-BE49-F238E27FC236}">
                <a16:creationId xmlns:a16="http://schemas.microsoft.com/office/drawing/2014/main" id="{03CADDE7-D950-41FE-96E8-127BE223ABBF}"/>
              </a:ext>
            </a:extLst>
          </p:cNvPr>
          <p:cNvSpPr>
            <a:spLocks noEditPoints="1"/>
          </p:cNvSpPr>
          <p:nvPr/>
        </p:nvSpPr>
        <p:spPr bwMode="auto">
          <a:xfrm>
            <a:off x="5180011" y="5935665"/>
            <a:ext cx="957263" cy="434975"/>
          </a:xfrm>
          <a:custGeom>
            <a:avLst/>
            <a:gdLst>
              <a:gd name="T0" fmla="*/ 1806 w 1807"/>
              <a:gd name="T1" fmla="*/ 0 h 821"/>
              <a:gd name="T2" fmla="*/ 1640 w 1807"/>
              <a:gd name="T3" fmla="*/ 5 h 821"/>
              <a:gd name="T4" fmla="*/ 1475 w 1807"/>
              <a:gd name="T5" fmla="*/ 18 h 821"/>
              <a:gd name="T6" fmla="*/ 1312 w 1807"/>
              <a:gd name="T7" fmla="*/ 40 h 821"/>
              <a:gd name="T8" fmla="*/ 1153 w 1807"/>
              <a:gd name="T9" fmla="*/ 70 h 821"/>
              <a:gd name="T10" fmla="*/ 1000 w 1807"/>
              <a:gd name="T11" fmla="*/ 107 h 821"/>
              <a:gd name="T12" fmla="*/ 852 w 1807"/>
              <a:gd name="T13" fmla="*/ 150 h 821"/>
              <a:gd name="T14" fmla="*/ 713 w 1807"/>
              <a:gd name="T15" fmla="*/ 199 h 821"/>
              <a:gd name="T16" fmla="*/ 582 w 1807"/>
              <a:gd name="T17" fmla="*/ 255 h 821"/>
              <a:gd name="T18" fmla="*/ 463 w 1807"/>
              <a:gd name="T19" fmla="*/ 314 h 821"/>
              <a:gd name="T20" fmla="*/ 354 w 1807"/>
              <a:gd name="T21" fmla="*/ 377 h 821"/>
              <a:gd name="T22" fmla="*/ 259 w 1807"/>
              <a:gd name="T23" fmla="*/ 445 h 821"/>
              <a:gd name="T24" fmla="*/ 177 w 1807"/>
              <a:gd name="T25" fmla="*/ 515 h 821"/>
              <a:gd name="T26" fmla="*/ 112 w 1807"/>
              <a:gd name="T27" fmla="*/ 589 h 821"/>
              <a:gd name="T28" fmla="*/ 112 w 1807"/>
              <a:gd name="T29" fmla="*/ 591 h 821"/>
              <a:gd name="T30" fmla="*/ 64 w 1807"/>
              <a:gd name="T31" fmla="*/ 665 h 821"/>
              <a:gd name="T32" fmla="*/ 62 w 1807"/>
              <a:gd name="T33" fmla="*/ 667 h 821"/>
              <a:gd name="T34" fmla="*/ 47 w 1807"/>
              <a:gd name="T35" fmla="*/ 714 h 821"/>
              <a:gd name="T36" fmla="*/ 67 w 1807"/>
              <a:gd name="T37" fmla="*/ 721 h 821"/>
              <a:gd name="T38" fmla="*/ 83 w 1807"/>
              <a:gd name="T39" fmla="*/ 674 h 821"/>
              <a:gd name="T40" fmla="*/ 81 w 1807"/>
              <a:gd name="T41" fmla="*/ 676 h 821"/>
              <a:gd name="T42" fmla="*/ 129 w 1807"/>
              <a:gd name="T43" fmla="*/ 602 h 821"/>
              <a:gd name="T44" fmla="*/ 128 w 1807"/>
              <a:gd name="T45" fmla="*/ 603 h 821"/>
              <a:gd name="T46" fmla="*/ 191 w 1807"/>
              <a:gd name="T47" fmla="*/ 532 h 821"/>
              <a:gd name="T48" fmla="*/ 272 w 1807"/>
              <a:gd name="T49" fmla="*/ 462 h 821"/>
              <a:gd name="T50" fmla="*/ 365 w 1807"/>
              <a:gd name="T51" fmla="*/ 396 h 821"/>
              <a:gd name="T52" fmla="*/ 472 w 1807"/>
              <a:gd name="T53" fmla="*/ 333 h 821"/>
              <a:gd name="T54" fmla="*/ 591 w 1807"/>
              <a:gd name="T55" fmla="*/ 274 h 821"/>
              <a:gd name="T56" fmla="*/ 720 w 1807"/>
              <a:gd name="T57" fmla="*/ 220 h 821"/>
              <a:gd name="T58" fmla="*/ 858 w 1807"/>
              <a:gd name="T59" fmla="*/ 171 h 821"/>
              <a:gd name="T60" fmla="*/ 1005 w 1807"/>
              <a:gd name="T61" fmla="*/ 128 h 821"/>
              <a:gd name="T62" fmla="*/ 1157 w 1807"/>
              <a:gd name="T63" fmla="*/ 91 h 821"/>
              <a:gd name="T64" fmla="*/ 1315 w 1807"/>
              <a:gd name="T65" fmla="*/ 61 h 821"/>
              <a:gd name="T66" fmla="*/ 1476 w 1807"/>
              <a:gd name="T67" fmla="*/ 39 h 821"/>
              <a:gd name="T68" fmla="*/ 1641 w 1807"/>
              <a:gd name="T69" fmla="*/ 26 h 821"/>
              <a:gd name="T70" fmla="*/ 1807 w 1807"/>
              <a:gd name="T71" fmla="*/ 21 h 821"/>
              <a:gd name="T72" fmla="*/ 1806 w 1807"/>
              <a:gd name="T73" fmla="*/ 0 h 821"/>
              <a:gd name="T74" fmla="*/ 0 w 1807"/>
              <a:gd name="T75" fmla="*/ 682 h 821"/>
              <a:gd name="T76" fmla="*/ 32 w 1807"/>
              <a:gd name="T77" fmla="*/ 821 h 821"/>
              <a:gd name="T78" fmla="*/ 124 w 1807"/>
              <a:gd name="T79" fmla="*/ 712 h 821"/>
              <a:gd name="T80" fmla="*/ 0 w 1807"/>
              <a:gd name="T81" fmla="*/ 682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807" h="821">
                <a:moveTo>
                  <a:pt x="1806" y="0"/>
                </a:moveTo>
                <a:lnTo>
                  <a:pt x="1640" y="5"/>
                </a:lnTo>
                <a:lnTo>
                  <a:pt x="1475" y="18"/>
                </a:lnTo>
                <a:lnTo>
                  <a:pt x="1312" y="40"/>
                </a:lnTo>
                <a:lnTo>
                  <a:pt x="1153" y="70"/>
                </a:lnTo>
                <a:lnTo>
                  <a:pt x="1000" y="107"/>
                </a:lnTo>
                <a:lnTo>
                  <a:pt x="852" y="150"/>
                </a:lnTo>
                <a:lnTo>
                  <a:pt x="713" y="199"/>
                </a:lnTo>
                <a:lnTo>
                  <a:pt x="582" y="255"/>
                </a:lnTo>
                <a:lnTo>
                  <a:pt x="463" y="314"/>
                </a:lnTo>
                <a:lnTo>
                  <a:pt x="354" y="377"/>
                </a:lnTo>
                <a:lnTo>
                  <a:pt x="259" y="445"/>
                </a:lnTo>
                <a:lnTo>
                  <a:pt x="177" y="515"/>
                </a:lnTo>
                <a:lnTo>
                  <a:pt x="112" y="589"/>
                </a:lnTo>
                <a:cubicBezTo>
                  <a:pt x="112" y="590"/>
                  <a:pt x="112" y="590"/>
                  <a:pt x="112" y="591"/>
                </a:cubicBezTo>
                <a:lnTo>
                  <a:pt x="64" y="665"/>
                </a:lnTo>
                <a:cubicBezTo>
                  <a:pt x="63" y="665"/>
                  <a:pt x="63" y="666"/>
                  <a:pt x="62" y="667"/>
                </a:cubicBezTo>
                <a:lnTo>
                  <a:pt x="47" y="714"/>
                </a:lnTo>
                <a:lnTo>
                  <a:pt x="67" y="721"/>
                </a:lnTo>
                <a:lnTo>
                  <a:pt x="83" y="674"/>
                </a:lnTo>
                <a:lnTo>
                  <a:pt x="81" y="676"/>
                </a:lnTo>
                <a:lnTo>
                  <a:pt x="129" y="602"/>
                </a:lnTo>
                <a:lnTo>
                  <a:pt x="128" y="603"/>
                </a:lnTo>
                <a:lnTo>
                  <a:pt x="191" y="532"/>
                </a:lnTo>
                <a:lnTo>
                  <a:pt x="272" y="462"/>
                </a:lnTo>
                <a:lnTo>
                  <a:pt x="365" y="396"/>
                </a:lnTo>
                <a:lnTo>
                  <a:pt x="472" y="333"/>
                </a:lnTo>
                <a:lnTo>
                  <a:pt x="591" y="274"/>
                </a:lnTo>
                <a:lnTo>
                  <a:pt x="720" y="220"/>
                </a:lnTo>
                <a:lnTo>
                  <a:pt x="858" y="171"/>
                </a:lnTo>
                <a:lnTo>
                  <a:pt x="1005" y="128"/>
                </a:lnTo>
                <a:lnTo>
                  <a:pt x="1157" y="91"/>
                </a:lnTo>
                <a:lnTo>
                  <a:pt x="1315" y="61"/>
                </a:lnTo>
                <a:lnTo>
                  <a:pt x="1476" y="39"/>
                </a:lnTo>
                <a:lnTo>
                  <a:pt x="1641" y="26"/>
                </a:lnTo>
                <a:lnTo>
                  <a:pt x="1807" y="21"/>
                </a:lnTo>
                <a:lnTo>
                  <a:pt x="1806" y="0"/>
                </a:lnTo>
                <a:close/>
                <a:moveTo>
                  <a:pt x="0" y="682"/>
                </a:moveTo>
                <a:lnTo>
                  <a:pt x="32" y="821"/>
                </a:lnTo>
                <a:lnTo>
                  <a:pt x="124" y="712"/>
                </a:lnTo>
                <a:lnTo>
                  <a:pt x="0" y="682"/>
                </a:lnTo>
                <a:close/>
              </a:path>
            </a:pathLst>
          </a:custGeom>
          <a:solidFill>
            <a:srgbClr val="3333FF"/>
          </a:solidFill>
          <a:ln w="0" cap="flat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B4E7F4D-4D29-0198-A5D0-AFBF87C91CDF}"/>
                  </a:ext>
                </a:extLst>
              </p14:cNvPr>
              <p14:cNvContentPartPr/>
              <p14:nvPr/>
            </p14:nvContentPartPr>
            <p14:xfrm>
              <a:off x="4082760" y="1502280"/>
              <a:ext cx="3933360" cy="38516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B4E7F4D-4D29-0198-A5D0-AFBF87C91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3400" y="1492920"/>
                <a:ext cx="3952080" cy="38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6351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1E93-7966-44EB-9B8F-192C4CF0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流水线的瓶颈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20BDD-5493-410A-BF4C-9BB20B744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流水线中各段的时间应尽量</a:t>
            </a:r>
            <a:r>
              <a:rPr lang="zh-CN" altLang="en-US" dirty="0">
                <a:solidFill>
                  <a:srgbClr val="3333FF"/>
                </a:solidFill>
              </a:rPr>
              <a:t>相等</a:t>
            </a:r>
            <a:r>
              <a:rPr lang="zh-CN" altLang="en-US" dirty="0"/>
              <a:t>，为什么？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/>
            <a:r>
              <a:rPr lang="zh-CN" altLang="en-US" dirty="0"/>
              <a:t>流水线处理时间受限于</a:t>
            </a:r>
            <a:r>
              <a:rPr lang="zh-CN" altLang="en-US" dirty="0">
                <a:solidFill>
                  <a:srgbClr val="3333FF"/>
                </a:solidFill>
              </a:rPr>
              <a:t>最慢</a:t>
            </a:r>
            <a:r>
              <a:rPr lang="zh-CN" altLang="en-US" dirty="0"/>
              <a:t>的处理资源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类比多周期：</a:t>
            </a:r>
            <a:endParaRPr lang="en-US" altLang="zh-CN" dirty="0"/>
          </a:p>
          <a:p>
            <a:pPr lvl="1"/>
            <a:r>
              <a:rPr lang="zh-CN" altLang="en-US" dirty="0"/>
              <a:t>各个状态的延时应该尽量相等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69CED-ED71-441F-9AC6-4581A260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181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71E93-7966-44EB-9B8F-192C4CF0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20BDD-5493-410A-BF4C-9BB20B74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608979" cy="4525963"/>
          </a:xfrm>
        </p:spPr>
        <p:txBody>
          <a:bodyPr/>
          <a:lstStyle/>
          <a:p>
            <a:r>
              <a:rPr lang="zh-CN" altLang="en-US" sz="3200" dirty="0"/>
              <a:t>吞吐率（</a:t>
            </a:r>
            <a:r>
              <a:rPr lang="en-US" altLang="zh-CN" sz="3200" dirty="0"/>
              <a:t>Throughput, TP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lvl="1"/>
            <a:r>
              <a:rPr lang="zh-CN" altLang="en-US" sz="2800" dirty="0"/>
              <a:t>单位时间内流水线处理的指令数</a:t>
            </a:r>
            <a:endParaRPr lang="en-US" altLang="zh-CN" sz="2800" dirty="0"/>
          </a:p>
          <a:p>
            <a:r>
              <a:rPr lang="zh-CN" altLang="en-US" sz="3200" dirty="0"/>
              <a:t>最大吞吐率</a:t>
            </a:r>
            <a:endParaRPr lang="en-US" altLang="zh-CN" sz="3200" dirty="0"/>
          </a:p>
          <a:p>
            <a:pPr lvl="1"/>
            <a:r>
              <a:rPr lang="zh-CN" altLang="en-US" sz="2800" dirty="0"/>
              <a:t>在连续指令流输入下流水线达到稳态后的吞吐率</a:t>
            </a:r>
          </a:p>
          <a:p>
            <a:r>
              <a:rPr lang="zh-CN" altLang="en-US" sz="3200" dirty="0"/>
              <a:t>实际吞吐率</a:t>
            </a:r>
            <a:endParaRPr lang="en-US" altLang="zh-CN" sz="3200" dirty="0"/>
          </a:p>
          <a:p>
            <a:pPr lvl="1"/>
            <a:r>
              <a:rPr lang="zh-CN" altLang="en-US" sz="2800" dirty="0"/>
              <a:t>运行有限任务实际能达到的吞吐率</a:t>
            </a:r>
          </a:p>
          <a:p>
            <a:pPr lvl="1"/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737203-B5E5-4181-95ED-0404AF9F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36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A46C9E5-9362-F5C4-A305-35B8E321897E}"/>
                  </a:ext>
                </a:extLst>
              </p14:cNvPr>
              <p14:cNvContentPartPr/>
              <p14:nvPr/>
            </p14:nvContentPartPr>
            <p14:xfrm>
              <a:off x="297360" y="991440"/>
              <a:ext cx="5910120" cy="8355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A46C9E5-9362-F5C4-A305-35B8E32189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000" y="982080"/>
                <a:ext cx="5928840" cy="85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1425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6F668-CB12-459D-A95F-0789864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F458A-3CDB-44FD-9CD0-01EF2E65C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3200" dirty="0"/>
                  <a:t>吞吐率</a:t>
                </a:r>
                <a:endParaRPr lang="en-US" altLang="zh-CN" sz="3200" dirty="0"/>
              </a:p>
              <a:p>
                <a:pPr lvl="1"/>
                <a:r>
                  <a:rPr lang="zh-CN" altLang="en-US" sz="2800" dirty="0"/>
                  <a:t>实际吞吐率：</a:t>
                </a:r>
                <a:endParaRPr lang="en-US" altLang="zh-CN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𝑻𝑷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 lvl="1"/>
                <a:r>
                  <a:rPr lang="zh-CN" altLang="en-US" sz="2800" dirty="0"/>
                  <a:t>最大吞吐率：</a:t>
                </a:r>
                <a:endParaRPr lang="en-US" altLang="zh-CN" sz="2800" dirty="0"/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𝑻𝑷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𝒍𝒊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F458A-3CDB-44FD-9CD0-01EF2E65C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8">
            <a:extLst>
              <a:ext uri="{FF2B5EF4-FFF2-40B4-BE49-F238E27FC236}">
                <a16:creationId xmlns:a16="http://schemas.microsoft.com/office/drawing/2014/main" id="{BE5B6AB2-7AD1-4D11-90F8-B44658155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3857625"/>
            <a:ext cx="23495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</a:pPr>
            <a:endParaRPr lang="en-US" altLang="zh-CN" sz="2000" b="0" dirty="0">
              <a:solidFill>
                <a:schemeClr val="bg1"/>
              </a:solidFill>
              <a:ea typeface="SimHei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7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6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5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4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3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2</a:t>
            </a:r>
          </a:p>
          <a:p>
            <a:pPr>
              <a:spcBef>
                <a:spcPct val="20000"/>
              </a:spcBef>
            </a:pPr>
            <a:r>
              <a:rPr lang="en-US" altLang="zh-CN" sz="2000" b="0" dirty="0">
                <a:solidFill>
                  <a:schemeClr val="bg1"/>
                </a:solidFill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D4718B85-C701-498B-BEC8-67A70B49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37</a:t>
            </a:fld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499C5C6-AD10-47E8-9C32-3E9751671625}"/>
              </a:ext>
            </a:extLst>
          </p:cNvPr>
          <p:cNvGrpSpPr/>
          <p:nvPr/>
        </p:nvGrpSpPr>
        <p:grpSpPr>
          <a:xfrm>
            <a:off x="531708" y="4112917"/>
            <a:ext cx="8419083" cy="2660915"/>
            <a:chOff x="531708" y="4112917"/>
            <a:chExt cx="8419083" cy="2660915"/>
          </a:xfrm>
        </p:grpSpPr>
        <p:sp>
          <p:nvSpPr>
            <p:cNvPr id="28" name="Line 4">
              <a:extLst>
                <a:ext uri="{FF2B5EF4-FFF2-40B4-BE49-F238E27FC236}">
                  <a16:creationId xmlns:a16="http://schemas.microsoft.com/office/drawing/2014/main" id="{D6EA38CC-3855-4101-8878-6C3985B89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5"/>
              <a:ext cx="6911789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5">
              <a:extLst>
                <a:ext uri="{FF2B5EF4-FFF2-40B4-BE49-F238E27FC236}">
                  <a16:creationId xmlns:a16="http://schemas.microsoft.com/office/drawing/2014/main" id="{34FF54C0-9420-438B-A68F-856944CB1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4"/>
              <a:ext cx="0" cy="206236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6">
              <a:extLst>
                <a:ext uri="{FF2B5EF4-FFF2-40B4-BE49-F238E27FC236}">
                  <a16:creationId xmlns:a16="http://schemas.microsoft.com/office/drawing/2014/main" id="{C9BC8820-6EE9-4559-BE14-CFBCE0CA4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2729" y="4112917"/>
              <a:ext cx="10080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时间</a:t>
              </a:r>
              <a:r>
                <a:rPr lang="en-US" altLang="zh-CN" sz="2000" b="0" dirty="0">
                  <a:ea typeface="SimHei" panose="02010609060101010101" pitchFamily="49" charset="-122"/>
                </a:rPr>
                <a:t>t</a:t>
              </a:r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B4D27A25-C9EE-4B2D-9FE5-0BC9BB106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708" y="6373722"/>
              <a:ext cx="10671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指令数</a:t>
              </a:r>
            </a:p>
          </p:txBody>
        </p:sp>
        <p:graphicFrame>
          <p:nvGraphicFramePr>
            <p:cNvPr id="32" name="Group 39">
              <a:extLst>
                <a:ext uri="{FF2B5EF4-FFF2-40B4-BE49-F238E27FC236}">
                  <a16:creationId xmlns:a16="http://schemas.microsoft.com/office/drawing/2014/main" id="{38B655D9-D487-4246-A3D3-204BDD21B4A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25086396"/>
                </p:ext>
              </p:extLst>
            </p:nvPr>
          </p:nvGraphicFramePr>
          <p:xfrm>
            <a:off x="1030940" y="4311355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3" name="Group 39">
              <a:extLst>
                <a:ext uri="{FF2B5EF4-FFF2-40B4-BE49-F238E27FC236}">
                  <a16:creationId xmlns:a16="http://schemas.microsoft.com/office/drawing/2014/main" id="{49600E57-7202-4DC7-95BC-9B4FA088433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24540875"/>
                </p:ext>
              </p:extLst>
            </p:nvPr>
          </p:nvGraphicFramePr>
          <p:xfrm>
            <a:off x="1598823" y="46420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2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4" name="Group 39">
              <a:extLst>
                <a:ext uri="{FF2B5EF4-FFF2-40B4-BE49-F238E27FC236}">
                  <a16:creationId xmlns:a16="http://schemas.microsoft.com/office/drawing/2014/main" id="{7758BEEC-CFA9-4D26-84C9-44C69C4324C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26811755"/>
                </p:ext>
              </p:extLst>
            </p:nvPr>
          </p:nvGraphicFramePr>
          <p:xfrm>
            <a:off x="2166702" y="49722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5" name="Group 39">
              <a:extLst>
                <a:ext uri="{FF2B5EF4-FFF2-40B4-BE49-F238E27FC236}">
                  <a16:creationId xmlns:a16="http://schemas.microsoft.com/office/drawing/2014/main" id="{E2E18A74-4E46-41F5-8621-1A989A26E28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25787429"/>
                </p:ext>
              </p:extLst>
            </p:nvPr>
          </p:nvGraphicFramePr>
          <p:xfrm>
            <a:off x="2732533" y="5297910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6" name="Group 39">
              <a:extLst>
                <a:ext uri="{FF2B5EF4-FFF2-40B4-BE49-F238E27FC236}">
                  <a16:creationId xmlns:a16="http://schemas.microsoft.com/office/drawing/2014/main" id="{C8D333BB-2EB2-4677-A6A6-DFF87574C7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45749689"/>
                </p:ext>
              </p:extLst>
            </p:nvPr>
          </p:nvGraphicFramePr>
          <p:xfrm>
            <a:off x="3300416" y="56285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5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7" name="Group 39">
              <a:extLst>
                <a:ext uri="{FF2B5EF4-FFF2-40B4-BE49-F238E27FC236}">
                  <a16:creationId xmlns:a16="http://schemas.microsoft.com/office/drawing/2014/main" id="{C2B056E2-3E18-4121-9848-265170191E6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88877323"/>
                </p:ext>
              </p:extLst>
            </p:nvPr>
          </p:nvGraphicFramePr>
          <p:xfrm>
            <a:off x="3868295" y="59587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AD84BE3-AA15-71C3-8E56-852DE3FAB463}"/>
                  </a:ext>
                </a:extLst>
              </p:cNvPr>
              <p:cNvSpPr txBox="1"/>
              <p:nvPr/>
            </p:nvSpPr>
            <p:spPr>
              <a:xfrm>
                <a:off x="3976168" y="1260414"/>
                <a:ext cx="51540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>
                    <a:ea typeface="SimHei" panose="02010609060101010101" pitchFamily="49" charset="-122"/>
                  </a:rPr>
                  <a:t>条指令，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>
                    <a:ea typeface="SimHei" panose="02010609060101010101" pitchFamily="49" charset="-122"/>
                  </a:rPr>
                  <a:t>级流水线，级间延时（周期）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𝐭</m:t>
                    </m:r>
                  </m:oMath>
                </a14:m>
                <a:endParaRPr lang="en-US" altLang="zh-CN" dirty="0">
                  <a:ea typeface="SimHei" panose="02010609060101010101" pitchFamily="49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ea typeface="SimHei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>
                    <a:ea typeface="SimHei" panose="02010609060101010101" pitchFamily="49" charset="-122"/>
                  </a:rPr>
                  <a:t>级流水线处理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>
                    <a:ea typeface="SimHei" panose="02010609060101010101" pitchFamily="49" charset="-122"/>
                  </a:rPr>
                  <a:t>条指令所用的时间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AD84BE3-AA15-71C3-8E56-852DE3FAB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168" y="1260414"/>
                <a:ext cx="5154064" cy="646331"/>
              </a:xfrm>
              <a:prstGeom prst="rect">
                <a:avLst/>
              </a:prstGeom>
              <a:blipFill>
                <a:blip r:embed="rId4"/>
                <a:stretch>
                  <a:fillRect t="-5769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828C2ED-C0B8-3253-86ED-B29CB7DDBDA3}"/>
                  </a:ext>
                </a:extLst>
              </p14:cNvPr>
              <p14:cNvContentPartPr/>
              <p14:nvPr/>
            </p14:nvContentPartPr>
            <p14:xfrm>
              <a:off x="1098360" y="6122880"/>
              <a:ext cx="5613480" cy="667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828C2ED-C0B8-3253-86ED-B29CB7DDBD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000" y="6113520"/>
                <a:ext cx="5632200" cy="68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093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6F668-CB12-459D-A95F-0789864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F458A-3CDB-44FD-9CD0-01EF2E65C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458200" cy="5452785"/>
              </a:xfrm>
            </p:spPr>
            <p:txBody>
              <a:bodyPr/>
              <a:lstStyle/>
              <a:p>
                <a:r>
                  <a:rPr lang="zh-CN" altLang="en-US" dirty="0"/>
                  <a:t>加速比（</a:t>
                </a:r>
                <a:r>
                  <a:rPr lang="en-US" altLang="zh-CN" dirty="0"/>
                  <a:t>speedup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不使用流水线所用的时间，与使用流水线所用的时间的比值。处理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条指令，</a:t>
                </a:r>
                <a:r>
                  <a:rPr lang="en-US" altLang="zh-CN" dirty="0"/>
                  <a:t>T</a:t>
                </a:r>
                <a:r>
                  <a:rPr lang="en-US" altLang="zh-CN" baseline="-25000" dirty="0"/>
                  <a:t>0</a:t>
                </a:r>
                <a:r>
                  <a:rPr lang="zh-CN" altLang="en-US" dirty="0"/>
                  <a:t>为不使用流水线所用的时间，</a:t>
                </a:r>
                <a:r>
                  <a:rPr lang="en-US" altLang="zh-CN" dirty="0"/>
                  <a:t>T</a:t>
                </a:r>
                <a:r>
                  <a:rPr lang="en-US" altLang="zh-CN" baseline="-25000" dirty="0"/>
                  <a:t>k</a:t>
                </a:r>
                <a:r>
                  <a:rPr lang="zh-CN" altLang="en-US" dirty="0"/>
                  <a:t>为使用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级流水线所用的时间（假设每一段操作所用时间相同）</a:t>
                </a:r>
                <a:endParaRPr lang="en-US" altLang="zh-CN" dirty="0"/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实际加速比：</a:t>
                </a:r>
                <a:endParaRPr lang="en-US" altLang="zh-CN" dirty="0"/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最大加速比：</a:t>
                </a:r>
                <a:endParaRPr lang="en-US" altLang="zh-CN" dirty="0"/>
              </a:p>
              <a:p>
                <a:pPr marL="3429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𝒍𝒊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sub>
                      </m:sSub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BF458A-3CDB-44FD-9CD0-01EF2E65C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458200" cy="5452785"/>
              </a:xfrm>
              <a:blipFill>
                <a:blip r:embed="rId3"/>
                <a:stretch>
                  <a:fillRect l="-1297" t="-1453" r="-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C7E06-D71E-423C-B051-D75EFA40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243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B39F2-1F3D-40A9-B656-98AD4365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1A68FB-B9A3-4419-940C-7D018CD0C90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ea typeface="SimHei" panose="02010609060101010101" pitchFamily="49" charset="-122"/>
              </a:rPr>
              <a:t>下述的实现中，使用流水线的加速比是多少？</a:t>
            </a:r>
            <a:endParaRPr lang="en-US" altLang="zh-CN" sz="2800" dirty="0">
              <a:ea typeface="SimHe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F1718A-846B-44DD-BDF8-1D4C42D5CD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628775" y="198516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4063F9-98AC-4A24-BBEF-C2AC91DC25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4480" y="19814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0244A5-93A3-4AD9-AA69-208B79FF7AA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28775" y="29338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1CD346-1E83-4EED-91FA-1E36443FD7A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64480" y="296218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EB7C338-5458-480F-A3F3-5B7E4DF8B6A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914400" y="204946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8A68E3-69BA-4B15-B3FD-880F4D44809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650105" y="2045767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BFA3C9A-D6B0-4077-9FC2-9070BC11C35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914400" y="29981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541E6CC-3DE6-4F0A-AE0B-4C3AA9C9375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650105" y="302648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7BEB3E7-2E9F-45F3-B01B-BA03A9A4085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0FFE9E9-9C29-3637-985E-3C023985D48B}"/>
              </a:ext>
            </a:extLst>
          </p:cNvPr>
          <p:cNvGrpSpPr/>
          <p:nvPr/>
        </p:nvGrpSpPr>
        <p:grpSpPr>
          <a:xfrm>
            <a:off x="522743" y="3605124"/>
            <a:ext cx="8419083" cy="2660915"/>
            <a:chOff x="531708" y="4112917"/>
            <a:chExt cx="8419083" cy="2660915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DFF943CE-D224-8DD6-6254-F4D22B799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5"/>
              <a:ext cx="6911789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A96E971E-276C-A942-4982-140631E3E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4"/>
              <a:ext cx="0" cy="206236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634437C3-2649-3072-CAE2-75213F6C7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2729" y="4112917"/>
              <a:ext cx="10080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时间</a:t>
              </a:r>
              <a:r>
                <a:rPr lang="en-US" altLang="zh-CN" sz="2000" b="0" dirty="0">
                  <a:ea typeface="SimHei" panose="02010609060101010101" pitchFamily="49" charset="-122"/>
                </a:rPr>
                <a:t>t</a:t>
              </a:r>
            </a:p>
          </p:txBody>
        </p:sp>
        <p:sp>
          <p:nvSpPr>
            <p:cNvPr id="34" name="Text Box 7">
              <a:extLst>
                <a:ext uri="{FF2B5EF4-FFF2-40B4-BE49-F238E27FC236}">
                  <a16:creationId xmlns:a16="http://schemas.microsoft.com/office/drawing/2014/main" id="{98BBB24D-B0E1-D210-B48B-591F8784D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708" y="6373722"/>
              <a:ext cx="10671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指令数</a:t>
              </a:r>
            </a:p>
          </p:txBody>
        </p:sp>
        <p:graphicFrame>
          <p:nvGraphicFramePr>
            <p:cNvPr id="35" name="Group 39">
              <a:extLst>
                <a:ext uri="{FF2B5EF4-FFF2-40B4-BE49-F238E27FC236}">
                  <a16:creationId xmlns:a16="http://schemas.microsoft.com/office/drawing/2014/main" id="{6259E9CB-481E-FD40-59AB-6DFA0E98A94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30940" y="4311355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6" name="Group 39">
              <a:extLst>
                <a:ext uri="{FF2B5EF4-FFF2-40B4-BE49-F238E27FC236}">
                  <a16:creationId xmlns:a16="http://schemas.microsoft.com/office/drawing/2014/main" id="{8FD822BD-AC55-4111-E608-A2B4373E4F6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98823" y="46420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2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7" name="Group 39">
              <a:extLst>
                <a:ext uri="{FF2B5EF4-FFF2-40B4-BE49-F238E27FC236}">
                  <a16:creationId xmlns:a16="http://schemas.microsoft.com/office/drawing/2014/main" id="{93F00100-FD3F-06D3-272D-26D902C4880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6702" y="49722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8" name="Group 39">
              <a:extLst>
                <a:ext uri="{FF2B5EF4-FFF2-40B4-BE49-F238E27FC236}">
                  <a16:creationId xmlns:a16="http://schemas.microsoft.com/office/drawing/2014/main" id="{2CC155DA-24D4-1360-7A6E-13592ECE4F9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732533" y="5297910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39" name="Group 39">
              <a:extLst>
                <a:ext uri="{FF2B5EF4-FFF2-40B4-BE49-F238E27FC236}">
                  <a16:creationId xmlns:a16="http://schemas.microsoft.com/office/drawing/2014/main" id="{32AF6EE6-84B3-93F7-C72F-A3F3E6AE16F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00416" y="56285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5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40" name="Group 39">
              <a:extLst>
                <a:ext uri="{FF2B5EF4-FFF2-40B4-BE49-F238E27FC236}">
                  <a16:creationId xmlns:a16="http://schemas.microsoft.com/office/drawing/2014/main" id="{21732F5A-B05E-5544-7ED7-A7453E69F0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68295" y="59587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558AC55-0016-47FB-A828-4A063851D4F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715F528B-40FB-44ED-B1EB-F8A039CFF2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08FABFFB-57A1-4902-8866-E9B3C5ADA45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3FB23001-1FC5-4558-B148-3BE07AFB8D2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B0F9172-E0C8-4280-B501-4E068C0A156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2C0DC49-0F3D-45CD-97A2-B866F341750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762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4ED42-59AF-4795-B96C-B33B8BF4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A5A58F-204F-4B38-A569-DC4D513A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下述的实现中，使用流水线的加速比是多少？</a:t>
            </a:r>
            <a:endParaRPr lang="en-US" altLang="zh-CN" dirty="0"/>
          </a:p>
          <a:p>
            <a:pPr marL="514350" indent="-514350">
              <a:buAutoNum type="alphaUcPeriod"/>
            </a:pPr>
            <a:r>
              <a:rPr lang="en-US" altLang="zh-CN" dirty="0"/>
              <a:t>5</a:t>
            </a:r>
          </a:p>
          <a:p>
            <a:pPr marL="514350" indent="-514350">
              <a:buAutoNum type="alphaUcPeriod"/>
            </a:pPr>
            <a:r>
              <a:rPr lang="en-US" altLang="zh-CN" dirty="0"/>
              <a:t>4</a:t>
            </a:r>
          </a:p>
          <a:p>
            <a:pPr marL="514350" indent="-514350">
              <a:buAutoNum type="alphaUcPeriod"/>
            </a:pPr>
            <a:r>
              <a:rPr lang="en-US" altLang="zh-CN" dirty="0">
                <a:solidFill>
                  <a:srgbClr val="3333FF"/>
                </a:solidFill>
              </a:rPr>
              <a:t>3</a:t>
            </a:r>
          </a:p>
          <a:p>
            <a:pPr marL="514350" indent="-514350">
              <a:buAutoNum type="alphaUcPeriod"/>
            </a:pPr>
            <a:r>
              <a:rPr lang="en-US" altLang="zh-CN" dirty="0"/>
              <a:t>2</a:t>
            </a:r>
          </a:p>
          <a:p>
            <a:pPr marL="514350" indent="-514350">
              <a:buAutoNum type="alphaUcPeriod"/>
            </a:pPr>
            <a:endParaRPr lang="en-US" altLang="zh-CN" dirty="0"/>
          </a:p>
          <a:p>
            <a:pPr marL="514350" indent="-514350">
              <a:buAutoNum type="alphaUcPeriod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241A01-70F4-4A76-8FB5-FEA4EEB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2FE6A5E-8BC5-4A34-8534-B09B209F30F6}"/>
                  </a:ext>
                </a:extLst>
              </p:cNvPr>
              <p:cNvSpPr/>
              <p:nvPr/>
            </p:nvSpPr>
            <p:spPr>
              <a:xfrm>
                <a:off x="1946545" y="2675306"/>
                <a:ext cx="6077561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𝒌𝒏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  <m:r>
                        <a:rPr lang="en-US" altLang="zh-CN" sz="200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𝒌𝒏</m:t>
                          </m:r>
                        </m:num>
                        <m:den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2000" dirty="0">
                  <a:solidFill>
                    <a:srgbClr val="3333FF"/>
                  </a:solidFill>
                  <a:ea typeface="SimHe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2FE6A5E-8BC5-4A34-8534-B09B209F3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45" y="2675306"/>
                <a:ext cx="6077561" cy="720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0FA3679-A10F-C2D5-92E6-54E8C5BC8E28}"/>
              </a:ext>
            </a:extLst>
          </p:cNvPr>
          <p:cNvGrpSpPr/>
          <p:nvPr/>
        </p:nvGrpSpPr>
        <p:grpSpPr>
          <a:xfrm>
            <a:off x="518232" y="3950712"/>
            <a:ext cx="8419083" cy="2660915"/>
            <a:chOff x="531708" y="4112917"/>
            <a:chExt cx="8419083" cy="2660915"/>
          </a:xfrm>
        </p:grpSpPr>
        <p:sp>
          <p:nvSpPr>
            <p:cNvPr id="18" name="Line 4">
              <a:extLst>
                <a:ext uri="{FF2B5EF4-FFF2-40B4-BE49-F238E27FC236}">
                  <a16:creationId xmlns:a16="http://schemas.microsoft.com/office/drawing/2014/main" id="{DEE9847F-278C-8AAB-520E-E9599CEAB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5"/>
              <a:ext cx="6911789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A7AB3E2E-65DC-EE67-9E18-AF3A7E9E9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940" y="4311354"/>
              <a:ext cx="0" cy="206236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9B781220-E3A3-EE12-DFF4-9E63D98D7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2729" y="4112917"/>
              <a:ext cx="10080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时间</a:t>
              </a:r>
              <a:r>
                <a:rPr lang="en-US" altLang="zh-CN" sz="2000" b="0" dirty="0">
                  <a:ea typeface="SimHei" panose="02010609060101010101" pitchFamily="49" charset="-122"/>
                </a:rPr>
                <a:t>t</a:t>
              </a: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2EDD3011-63D1-060D-738D-262EA3831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708" y="6373722"/>
              <a:ext cx="106711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0" dirty="0">
                  <a:ea typeface="SimHei" panose="02010609060101010101" pitchFamily="49" charset="-122"/>
                </a:rPr>
                <a:t>指令数</a:t>
              </a:r>
            </a:p>
          </p:txBody>
        </p:sp>
        <p:graphicFrame>
          <p:nvGraphicFramePr>
            <p:cNvPr id="22" name="Group 39">
              <a:extLst>
                <a:ext uri="{FF2B5EF4-FFF2-40B4-BE49-F238E27FC236}">
                  <a16:creationId xmlns:a16="http://schemas.microsoft.com/office/drawing/2014/main" id="{02AEEE82-CA83-EAE0-EAB2-28809FF3492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30940" y="4311355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1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3" name="Group 39">
              <a:extLst>
                <a:ext uri="{FF2B5EF4-FFF2-40B4-BE49-F238E27FC236}">
                  <a16:creationId xmlns:a16="http://schemas.microsoft.com/office/drawing/2014/main" id="{81DAF581-907F-BE47-1D25-3D81D0ABFE5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98823" y="46420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2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2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4" name="Group 39">
              <a:extLst>
                <a:ext uri="{FF2B5EF4-FFF2-40B4-BE49-F238E27FC236}">
                  <a16:creationId xmlns:a16="http://schemas.microsoft.com/office/drawing/2014/main" id="{6651C88B-386F-3657-BBDA-5C4C73EBCCE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6702" y="4972209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3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5" name="Group 39">
              <a:extLst>
                <a:ext uri="{FF2B5EF4-FFF2-40B4-BE49-F238E27FC236}">
                  <a16:creationId xmlns:a16="http://schemas.microsoft.com/office/drawing/2014/main" id="{9CF895D9-2110-4244-DB2C-8C00F93ECDC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732533" y="5297910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4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6" name="Group 39">
              <a:extLst>
                <a:ext uri="{FF2B5EF4-FFF2-40B4-BE49-F238E27FC236}">
                  <a16:creationId xmlns:a16="http://schemas.microsoft.com/office/drawing/2014/main" id="{829F3DC5-CA5B-6106-754D-9B87ED678D7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00416" y="56285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  <a:cs typeface="+mn-cs"/>
                          </a:rPr>
                          <a:t>EX 5</a:t>
                        </a:r>
                        <a:endPara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  <a:cs typeface="+mn-cs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5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27" name="Group 39">
              <a:extLst>
                <a:ext uri="{FF2B5EF4-FFF2-40B4-BE49-F238E27FC236}">
                  <a16:creationId xmlns:a16="http://schemas.microsoft.com/office/drawing/2014/main" id="{EC2B8B93-CA53-7B72-7B31-A3AB230DBD3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68295" y="5958764"/>
            <a:ext cx="2832100" cy="327025"/>
          </p:xfrm>
          <a:graphic>
            <a:graphicData uri="http://schemas.openxmlformats.org/drawingml/2006/table">
              <a:tbl>
                <a:tblPr/>
                <a:tblGrid>
                  <a:gridCol w="56642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56642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270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IF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ID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EX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MEM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folHlink"/>
                          </a:buClr>
                          <a:buSzTx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SimHei" panose="02010609060101010101" pitchFamily="49" charset="-122"/>
                          </a:rPr>
                          <a:t>WB 6</a:t>
                        </a:r>
                        <a:endPara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SimHei" panose="02010609060101010101" pitchFamily="49" charset="-122"/>
                        </a:endParaRPr>
                      </a:p>
                    </a:txBody>
                    <a:tcPr marL="36000" marR="36000" marT="46125" marB="46125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95412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sz="3200" dirty="0"/>
              <a:t>复习回顾与流水线基本概念 </a:t>
            </a:r>
            <a:r>
              <a:rPr lang="en-US" altLang="zh-CN" sz="3200" dirty="0"/>
              <a:t>P4</a:t>
            </a:r>
          </a:p>
          <a:p>
            <a:r>
              <a:rPr lang="zh-CN" altLang="en-US" sz="3200" b="0" dirty="0">
                <a:solidFill>
                  <a:srgbClr val="3333FF"/>
                </a:solidFill>
                <a:cs typeface="+mn-cs"/>
              </a:rPr>
              <a:t>流水线数据通路</a:t>
            </a:r>
            <a:r>
              <a:rPr lang="en-US" altLang="zh-CN" sz="3200" b="0" dirty="0">
                <a:solidFill>
                  <a:srgbClr val="3333FF"/>
                </a:solidFill>
                <a:cs typeface="+mn-cs"/>
              </a:rPr>
              <a:t> P41</a:t>
            </a:r>
            <a:endParaRPr lang="en-US" altLang="zh-CN" sz="3200" b="0" dirty="0">
              <a:solidFill>
                <a:srgbClr val="3333FF"/>
              </a:solidFill>
            </a:endParaRPr>
          </a:p>
          <a:p>
            <a:r>
              <a:rPr lang="zh-CN" altLang="en-US" sz="3200" b="0" dirty="0">
                <a:cs typeface="+mn-cs"/>
              </a:rPr>
              <a:t>流水线的冒险</a:t>
            </a:r>
            <a:r>
              <a:rPr lang="en-US" altLang="zh-CN" sz="3200" b="0" dirty="0">
                <a:cs typeface="+mn-cs"/>
              </a:rPr>
              <a:t> P88</a:t>
            </a:r>
          </a:p>
          <a:p>
            <a:pPr lvl="1"/>
            <a:r>
              <a:rPr lang="zh-CN" altLang="en-US" sz="2800" b="0" dirty="0">
                <a:cs typeface="+mn-cs"/>
              </a:rPr>
              <a:t>结构冒险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数据冒险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控制冒险</a:t>
            </a:r>
            <a:endParaRPr lang="en-US" altLang="zh-CN" sz="2800" b="0" dirty="0">
              <a:cs typeface="+mn-cs"/>
            </a:endParaRPr>
          </a:p>
          <a:p>
            <a:r>
              <a:rPr lang="zh-CN" altLang="en-US" sz="3200" b="0" dirty="0"/>
              <a:t>数据通路的实现（考虑冒险）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</p:spTree>
    <p:extLst>
      <p:ext uri="{BB962C8B-B14F-4D97-AF65-F5344CB8AC3E}">
        <p14:creationId xmlns:p14="http://schemas.microsoft.com/office/powerpoint/2010/main" val="290077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A1112-A5E3-4783-AC2D-8223846A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针对流水线结构的指令集设计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543A7-6149-4F99-A761-E545B307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指令集是专为指令执行的流水线化而设计的</a:t>
            </a:r>
            <a:endParaRPr lang="en-US" altLang="zh-CN" dirty="0"/>
          </a:p>
          <a:p>
            <a:pPr marL="971550" lvl="1" indent="-514350">
              <a:buClr>
                <a:schemeClr val="tx1"/>
              </a:buClr>
              <a:buFont typeface="Times New Roman" pitchFamily="18" charset="0"/>
              <a:buAutoNum type="arabicPeriod"/>
            </a:pPr>
            <a:r>
              <a:rPr lang="en-US" altLang="zh-CN" dirty="0"/>
              <a:t>MIPS</a:t>
            </a:r>
            <a:r>
              <a:rPr lang="zh-CN" altLang="en-US" dirty="0"/>
              <a:t>为定长指令格式</a:t>
            </a:r>
            <a:endParaRPr lang="en-US" altLang="zh-CN" dirty="0"/>
          </a:p>
          <a:p>
            <a:pPr marL="1271587" lvl="2" indent="-514350">
              <a:buClr>
                <a:schemeClr val="tx1"/>
              </a:buClr>
            </a:pPr>
            <a:r>
              <a:rPr lang="zh-CN" altLang="en-US" dirty="0"/>
              <a:t>简化</a:t>
            </a:r>
            <a:r>
              <a:rPr lang="en-US" altLang="zh-CN" dirty="0"/>
              <a:t>IF</a:t>
            </a:r>
            <a:r>
              <a:rPr lang="zh-CN" altLang="en-US" dirty="0"/>
              <a:t>和</a:t>
            </a:r>
            <a:r>
              <a:rPr lang="en-US" altLang="zh-CN" dirty="0"/>
              <a:t>ID</a:t>
            </a:r>
            <a:r>
              <a:rPr lang="zh-CN" altLang="en-US" dirty="0"/>
              <a:t>的过程</a:t>
            </a:r>
            <a:endParaRPr lang="en-US" altLang="zh-CN" dirty="0"/>
          </a:p>
          <a:p>
            <a:pPr marL="971550" lvl="1" indent="-514350">
              <a:buClr>
                <a:schemeClr val="tx1"/>
              </a:buClr>
              <a:buFont typeface="Times New Roman" pitchFamily="18" charset="0"/>
              <a:buAutoNum type="arabicPeriod"/>
            </a:pPr>
            <a:r>
              <a:rPr lang="en-US" altLang="zh-CN" dirty="0"/>
              <a:t>MIPS</a:t>
            </a:r>
            <a:r>
              <a:rPr lang="zh-CN" altLang="en-US" dirty="0"/>
              <a:t>只有很少的指令格式，并且每种指令格式中源寄存器的字段都相同</a:t>
            </a:r>
            <a:endParaRPr lang="en-US" altLang="zh-CN" dirty="0"/>
          </a:p>
          <a:p>
            <a:pPr marL="1271587" lvl="2" indent="-514350">
              <a:buClr>
                <a:schemeClr val="tx1"/>
              </a:buClr>
            </a:pPr>
            <a:r>
              <a:rPr lang="en-US" altLang="zh-CN" dirty="0"/>
              <a:t>ID</a:t>
            </a:r>
            <a:r>
              <a:rPr lang="zh-CN" altLang="en-US" dirty="0"/>
              <a:t>阶段译码的同时可以读取寄存器</a:t>
            </a:r>
            <a:endParaRPr lang="en-US" altLang="zh-CN" dirty="0"/>
          </a:p>
          <a:p>
            <a:pPr marL="971550" lvl="1" indent="-514350">
              <a:buClr>
                <a:schemeClr val="tx1"/>
              </a:buClr>
              <a:buFont typeface="Times New Roman" pitchFamily="18" charset="0"/>
              <a:buAutoNum type="arabicPeriod"/>
            </a:pPr>
            <a:r>
              <a:rPr lang="zh-CN" altLang="en-US" dirty="0"/>
              <a:t>内存操作只出现在装入和存储指令中</a:t>
            </a:r>
            <a:endParaRPr lang="en-US" altLang="zh-CN" dirty="0"/>
          </a:p>
          <a:p>
            <a:pPr marL="1271587" lvl="2" indent="-514350">
              <a:buClr>
                <a:schemeClr val="tx1"/>
              </a:buClr>
            </a:pPr>
            <a:r>
              <a:rPr lang="zh-CN" altLang="en-US" dirty="0"/>
              <a:t>在</a:t>
            </a:r>
            <a:r>
              <a:rPr lang="en-US" altLang="zh-CN" dirty="0"/>
              <a:t>EX</a:t>
            </a:r>
            <a:r>
              <a:rPr lang="zh-CN" altLang="en-US" dirty="0"/>
              <a:t>阶段可以计算内存地址</a:t>
            </a:r>
            <a:endParaRPr lang="en-US" altLang="zh-CN" dirty="0"/>
          </a:p>
          <a:p>
            <a:pPr marL="971550" lvl="1" indent="-514350">
              <a:buClr>
                <a:schemeClr val="tx1"/>
              </a:buClr>
              <a:buFont typeface="Times New Roman" pitchFamily="18" charset="0"/>
              <a:buAutoNum type="arabicPeriod"/>
            </a:pPr>
            <a:r>
              <a:rPr lang="zh-CN" altLang="en-US" dirty="0"/>
              <a:t>内存中的操作数必须对齐</a:t>
            </a:r>
            <a:endParaRPr lang="en-US" altLang="zh-CN" dirty="0"/>
          </a:p>
          <a:p>
            <a:pPr marL="1271587" lvl="2" indent="-514350">
              <a:buClr>
                <a:schemeClr val="tx1"/>
              </a:buClr>
            </a:pPr>
            <a:r>
              <a:rPr lang="zh-CN" altLang="en-US" dirty="0"/>
              <a:t>一条数据传输指令只需访问一次内存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9F410-1123-40B8-BC57-47EF988A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81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769AA-1E21-4A3F-A1EF-04C98758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</a:t>
            </a:r>
            <a:r>
              <a:rPr lang="en-US" altLang="zh-CN" dirty="0"/>
              <a:t>MIPS</a:t>
            </a:r>
            <a:r>
              <a:rPr lang="zh-CN" altLang="en-US" dirty="0"/>
              <a:t>子集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F0520C-1EC3-4D73-B1A7-29F60AC45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2671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000" dirty="0"/>
              <a:t>ADD, SUB, AND,</a:t>
            </a:r>
            <a:r>
              <a:rPr lang="zh-CN" altLang="en-US" sz="2000" dirty="0"/>
              <a:t> </a:t>
            </a:r>
            <a:r>
              <a:rPr lang="en-US" altLang="en-US" sz="2000" dirty="0"/>
              <a:t>SLT</a:t>
            </a:r>
          </a:p>
          <a:p>
            <a:pPr lvl="1"/>
            <a:r>
              <a:rPr lang="en-US" altLang="en-US" sz="1800" dirty="0" err="1"/>
              <a:t>addu</a:t>
            </a:r>
            <a:r>
              <a:rPr lang="en-US" altLang="en-US" sz="1800" dirty="0"/>
              <a:t> </a:t>
            </a:r>
            <a:r>
              <a:rPr lang="en-US" altLang="en-US" sz="1800" dirty="0" err="1"/>
              <a:t>rd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, rt</a:t>
            </a:r>
          </a:p>
          <a:p>
            <a:pPr lvl="1"/>
            <a:r>
              <a:rPr lang="en-US" altLang="en-US" sz="1800" dirty="0" err="1"/>
              <a:t>sub</a:t>
            </a:r>
            <a:r>
              <a:rPr lang="en-US" altLang="zh-CN" sz="1800" dirty="0" err="1"/>
              <a:t>u</a:t>
            </a:r>
            <a:r>
              <a:rPr lang="en-US" altLang="en-US" sz="1800" dirty="0"/>
              <a:t> </a:t>
            </a:r>
            <a:r>
              <a:rPr lang="en-US" altLang="en-US" sz="1800" dirty="0" err="1"/>
              <a:t>rd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, rt</a:t>
            </a:r>
          </a:p>
          <a:p>
            <a:pPr lvl="1"/>
            <a:r>
              <a:rPr lang="en-US" altLang="en-US" sz="1800" dirty="0"/>
              <a:t>and   </a:t>
            </a:r>
            <a:r>
              <a:rPr lang="en-US" altLang="en-US" sz="1800" dirty="0" err="1"/>
              <a:t>rd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, rt </a:t>
            </a:r>
          </a:p>
          <a:p>
            <a:pPr lvl="1"/>
            <a:r>
              <a:rPr lang="en-US" altLang="en-US" sz="1800" dirty="0" err="1"/>
              <a:t>sltu</a:t>
            </a:r>
            <a:r>
              <a:rPr lang="zh-CN" altLang="en-US" sz="1800" dirty="0"/>
              <a:t>   </a:t>
            </a:r>
            <a:r>
              <a:rPr lang="en-US" altLang="en-US" sz="1800" dirty="0" err="1"/>
              <a:t>rd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, rt </a:t>
            </a:r>
          </a:p>
          <a:p>
            <a:endParaRPr lang="en-US" altLang="en-US" sz="2000" dirty="0"/>
          </a:p>
          <a:p>
            <a:r>
              <a:rPr lang="en-US" altLang="en-US" sz="2000" dirty="0"/>
              <a:t>OR Immediate</a:t>
            </a:r>
          </a:p>
          <a:p>
            <a:pPr lvl="1"/>
            <a:r>
              <a:rPr lang="en-US" altLang="en-US" sz="1800" dirty="0" err="1"/>
              <a:t>ori</a:t>
            </a:r>
            <a:r>
              <a:rPr lang="en-US" altLang="en-US" sz="1800" dirty="0"/>
              <a:t> rt, 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, imm16</a:t>
            </a:r>
          </a:p>
          <a:p>
            <a:r>
              <a:rPr lang="en-US" altLang="en-US" sz="2000" dirty="0"/>
              <a:t>LOAD and STORE Word</a:t>
            </a:r>
          </a:p>
          <a:p>
            <a:pPr lvl="1"/>
            <a:r>
              <a:rPr lang="en-US" altLang="en-US" sz="1800" dirty="0" err="1"/>
              <a:t>lw</a:t>
            </a:r>
            <a:r>
              <a:rPr lang="en-US" altLang="en-US" sz="1800" dirty="0"/>
              <a:t>  rt, imm16(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sz="1800" dirty="0" err="1"/>
              <a:t>sw</a:t>
            </a:r>
            <a:r>
              <a:rPr lang="en-US" altLang="en-US" sz="1800" dirty="0"/>
              <a:t> rt, imm16(</a:t>
            </a:r>
            <a:r>
              <a:rPr lang="en-US" altLang="en-US" sz="1800" dirty="0" err="1"/>
              <a:t>rs</a:t>
            </a:r>
            <a:r>
              <a:rPr lang="en-US" altLang="en-US" sz="1800" dirty="0"/>
              <a:t>)</a:t>
            </a:r>
          </a:p>
          <a:p>
            <a:endParaRPr lang="en-US" altLang="en-US" sz="2000" dirty="0"/>
          </a:p>
          <a:p>
            <a:r>
              <a:rPr lang="en-US" altLang="en-US" sz="2000" dirty="0"/>
              <a:t>BRANCH:</a:t>
            </a:r>
          </a:p>
          <a:p>
            <a:pPr lvl="1"/>
            <a:r>
              <a:rPr lang="en-US" altLang="en-US" sz="1800" dirty="0" err="1"/>
              <a:t>beq</a:t>
            </a:r>
            <a:r>
              <a:rPr lang="en-US" altLang="en-US" sz="1800" dirty="0"/>
              <a:t> </a:t>
            </a:r>
            <a:r>
              <a:rPr lang="en-US" altLang="zh-CN" sz="1800" dirty="0" err="1"/>
              <a:t>rs</a:t>
            </a:r>
            <a:r>
              <a:rPr lang="en-US" altLang="zh-CN" sz="1800" dirty="0"/>
              <a:t>, </a:t>
            </a:r>
            <a:r>
              <a:rPr lang="en-US" altLang="en-US" sz="1800" dirty="0"/>
              <a:t>rt, imm16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131BE8-F81A-4B38-9E88-5086A1A2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43</a:t>
            </a:fld>
            <a:endParaRPr lang="zh-CN" altLang="en-US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AD87715A-B9DA-77B2-5A0E-50D73666145E}"/>
              </a:ext>
            </a:extLst>
          </p:cNvPr>
          <p:cNvGrpSpPr/>
          <p:nvPr/>
        </p:nvGrpSpPr>
        <p:grpSpPr>
          <a:xfrm>
            <a:off x="3739668" y="1792622"/>
            <a:ext cx="5348941" cy="867326"/>
            <a:chOff x="3740221" y="1792622"/>
            <a:chExt cx="5348941" cy="867326"/>
          </a:xfrm>
        </p:grpSpPr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A675A29A-41A3-4CEF-AC6E-44273E609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211" y="2075669"/>
              <a:ext cx="5093426" cy="2490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5BC77A6A-B9FB-4BCF-8BDD-03B5A96B5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550" y="2070008"/>
              <a:ext cx="883106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op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F41AE298-6C60-42AA-B52B-78BB901DD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978" y="2070008"/>
              <a:ext cx="820836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rs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1CC39CD9-5B21-4B64-8AF0-36E4B74C4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135" y="2070008"/>
              <a:ext cx="819420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rt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4185A8EF-6947-4465-A2BB-4C30A34C3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3877" y="2070008"/>
              <a:ext cx="819420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rd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31" name="Rectangle 22">
              <a:extLst>
                <a:ext uri="{FF2B5EF4-FFF2-40B4-BE49-F238E27FC236}">
                  <a16:creationId xmlns:a16="http://schemas.microsoft.com/office/drawing/2014/main" id="{4F69DB49-CCD5-40D0-8A4E-FC6090E3E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4620" y="2070008"/>
              <a:ext cx="820836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shamt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CFACE2C1-AE2D-4576-86A9-4EC73DFFD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6777" y="2070008"/>
              <a:ext cx="884521" cy="2604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funct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2C69391-A95E-4AD8-810F-FE7D30B6E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2605" y="1792622"/>
              <a:ext cx="296557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57D06760-EE9E-4283-92B3-D4E33507A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3077" y="1792622"/>
              <a:ext cx="296557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</a:t>
              </a:r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060C06EB-280E-4D70-A747-48EF4DFB2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7234" y="1792622"/>
              <a:ext cx="395109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11</a:t>
              </a:r>
            </a:p>
          </p:txBody>
        </p:sp>
        <p:sp>
          <p:nvSpPr>
            <p:cNvPr id="17" name="Rectangle 30">
              <a:extLst>
                <a:ext uri="{FF2B5EF4-FFF2-40B4-BE49-F238E27FC236}">
                  <a16:creationId xmlns:a16="http://schemas.microsoft.com/office/drawing/2014/main" id="{D62B1537-28CB-48FF-AF56-9A4172DA0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6492" y="1792622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125CD143-800C-44C7-937B-C193E6240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4334" y="1792622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19" name="Rectangle 32">
              <a:extLst>
                <a:ext uri="{FF2B5EF4-FFF2-40B4-BE49-F238E27FC236}">
                  <a16:creationId xmlns:a16="http://schemas.microsoft.com/office/drawing/2014/main" id="{2610C893-860D-4C3D-B88D-6B514D2D3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177" y="1792622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20" name="Rectangle 33">
              <a:extLst>
                <a:ext uri="{FF2B5EF4-FFF2-40B4-BE49-F238E27FC236}">
                  <a16:creationId xmlns:a16="http://schemas.microsoft.com/office/drawing/2014/main" id="{43C4B1C4-A830-4ADE-BDCE-0DF373860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221" y="1792622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7" name="Rectangle 34">
              <a:extLst>
                <a:ext uri="{FF2B5EF4-FFF2-40B4-BE49-F238E27FC236}">
                  <a16:creationId xmlns:a16="http://schemas.microsoft.com/office/drawing/2014/main" id="{DE1B02F6-ADF9-45EA-A8DD-213CDE0CA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033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8" name="Rectangle 35">
              <a:extLst>
                <a:ext uri="{FF2B5EF4-FFF2-40B4-BE49-F238E27FC236}">
                  <a16:creationId xmlns:a16="http://schemas.microsoft.com/office/drawing/2014/main" id="{CD6FED0B-2F74-4791-B14C-ADE8D71D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3675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E8101287-84F1-487B-9621-DD1BD823C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7832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0" name="Rectangle 37">
              <a:extLst>
                <a:ext uri="{FF2B5EF4-FFF2-40B4-BE49-F238E27FC236}">
                  <a16:creationId xmlns:a16="http://schemas.microsoft.com/office/drawing/2014/main" id="{36944502-F0CC-4A72-9CBA-71802E070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7090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1" name="Rectangle 38">
              <a:extLst>
                <a:ext uri="{FF2B5EF4-FFF2-40B4-BE49-F238E27FC236}">
                  <a16:creationId xmlns:a16="http://schemas.microsoft.com/office/drawing/2014/main" id="{A9D3ED8A-7719-490B-9F3F-236B4381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932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12" name="Rectangle 39">
              <a:extLst>
                <a:ext uri="{FF2B5EF4-FFF2-40B4-BE49-F238E27FC236}">
                  <a16:creationId xmlns:a16="http://schemas.microsoft.com/office/drawing/2014/main" id="{44499E1F-54C4-4D9C-A6BD-BA7A26935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190" y="2323959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57ED7AE-3118-7875-A75C-82D828E448D1}"/>
              </a:ext>
            </a:extLst>
          </p:cNvPr>
          <p:cNvGrpSpPr/>
          <p:nvPr/>
        </p:nvGrpSpPr>
        <p:grpSpPr>
          <a:xfrm>
            <a:off x="3754188" y="3733936"/>
            <a:ext cx="5321281" cy="834071"/>
            <a:chOff x="3769261" y="3409016"/>
            <a:chExt cx="5321281" cy="83407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23C04A-8F50-48C1-9CFD-DDA30AB2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748" y="3690513"/>
              <a:ext cx="5065541" cy="24771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1" name="Rectangle 43">
              <a:extLst>
                <a:ext uri="{FF2B5EF4-FFF2-40B4-BE49-F238E27FC236}">
                  <a16:creationId xmlns:a16="http://schemas.microsoft.com/office/drawing/2014/main" id="{C07BDAD1-C356-45E6-B4BB-5F586F0F1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118" y="3684880"/>
              <a:ext cx="878271" cy="2589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op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A3749802-EDEB-48FD-A627-C0B7EFE97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4649" y="3684880"/>
              <a:ext cx="816342" cy="2589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 err="1">
                  <a:latin typeface="+mn-lt"/>
                  <a:ea typeface="SimHei" panose="02010609060101010101" pitchFamily="49" charset="-122"/>
                </a:rPr>
                <a:t>rs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57" name="Rectangle 49">
              <a:extLst>
                <a:ext uri="{FF2B5EF4-FFF2-40B4-BE49-F238E27FC236}">
                  <a16:creationId xmlns:a16="http://schemas.microsoft.com/office/drawing/2014/main" id="{E416EAEF-4B3E-4BE8-BED8-6508350D2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250" y="3684880"/>
              <a:ext cx="814934" cy="2589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rt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46" name="Rectangle 51">
              <a:extLst>
                <a:ext uri="{FF2B5EF4-FFF2-40B4-BE49-F238E27FC236}">
                  <a16:creationId xmlns:a16="http://schemas.microsoft.com/office/drawing/2014/main" id="{ECBB8167-95D3-4BE4-ABE7-005DAE97B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8444" y="3684883"/>
              <a:ext cx="2533474" cy="2589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immediate</a:t>
              </a:r>
            </a:p>
          </p:txBody>
        </p:sp>
        <p:sp>
          <p:nvSpPr>
            <p:cNvPr id="48" name="Rectangle 53">
              <a:extLst>
                <a:ext uri="{FF2B5EF4-FFF2-40B4-BE49-F238E27FC236}">
                  <a16:creationId xmlns:a16="http://schemas.microsoft.com/office/drawing/2014/main" id="{FBAB0FDF-A28D-4F33-9A08-B62546A06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3985" y="3409016"/>
              <a:ext cx="296557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49" name="Rectangle 54">
              <a:extLst>
                <a:ext uri="{FF2B5EF4-FFF2-40B4-BE49-F238E27FC236}">
                  <a16:creationId xmlns:a16="http://schemas.microsoft.com/office/drawing/2014/main" id="{C67381DF-E447-4612-9E4D-C9BEA834F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2577" y="3409016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0" name="Rectangle 55">
              <a:extLst>
                <a:ext uri="{FF2B5EF4-FFF2-40B4-BE49-F238E27FC236}">
                  <a16:creationId xmlns:a16="http://schemas.microsoft.com/office/drawing/2014/main" id="{6C238B24-343D-448E-8506-D90045EBC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4975" y="3409016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21</a:t>
              </a:r>
            </a:p>
          </p:txBody>
        </p:sp>
        <p:sp>
          <p:nvSpPr>
            <p:cNvPr id="51" name="Rectangle 56">
              <a:extLst>
                <a:ext uri="{FF2B5EF4-FFF2-40B4-BE49-F238E27FC236}">
                  <a16:creationId xmlns:a16="http://schemas.microsoft.com/office/drawing/2014/main" id="{BC0BAD68-FF2B-4676-B52B-E581F4E2B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374" y="3409016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52" name="Rectangle 57">
              <a:extLst>
                <a:ext uri="{FF2B5EF4-FFF2-40B4-BE49-F238E27FC236}">
                  <a16:creationId xmlns:a16="http://schemas.microsoft.com/office/drawing/2014/main" id="{62B1C648-9A86-44CB-9261-1F1CB0F50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261" y="3409016"/>
              <a:ext cx="410370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53" name="Rectangle 58">
              <a:extLst>
                <a:ext uri="{FF2B5EF4-FFF2-40B4-BE49-F238E27FC236}">
                  <a16:creationId xmlns:a16="http://schemas.microsoft.com/office/drawing/2014/main" id="{944EE47C-F763-4D93-B9F1-AA24247E4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497" y="3907098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54" name="Rectangle 59">
              <a:extLst>
                <a:ext uri="{FF2B5EF4-FFF2-40B4-BE49-F238E27FC236}">
                  <a16:creationId xmlns:a16="http://schemas.microsoft.com/office/drawing/2014/main" id="{A3268CD6-4E7F-4696-8CA0-A21ADAE1D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1752" y="3907098"/>
              <a:ext cx="787076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16 bits</a:t>
              </a:r>
            </a:p>
          </p:txBody>
        </p:sp>
        <p:sp>
          <p:nvSpPr>
            <p:cNvPr id="55" name="Rectangle 60">
              <a:extLst>
                <a:ext uri="{FF2B5EF4-FFF2-40B4-BE49-F238E27FC236}">
                  <a16:creationId xmlns:a16="http://schemas.microsoft.com/office/drawing/2014/main" id="{B2FB66B9-A39C-429A-969C-D199DF4D8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293" y="3907098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  <p:sp>
          <p:nvSpPr>
            <p:cNvPr id="56" name="Rectangle 61">
              <a:extLst>
                <a:ext uri="{FF2B5EF4-FFF2-40B4-BE49-F238E27FC236}">
                  <a16:creationId xmlns:a16="http://schemas.microsoft.com/office/drawing/2014/main" id="{25C79FE1-7ACD-4022-9F27-5D2A22C28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099" y="3907098"/>
              <a:ext cx="673262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5 bits</a:t>
              </a:r>
            </a:p>
          </p:txBody>
        </p:sp>
      </p:grpSp>
      <p:grpSp>
        <p:nvGrpSpPr>
          <p:cNvPr id="63" name="Group 4">
            <a:extLst>
              <a:ext uri="{FF2B5EF4-FFF2-40B4-BE49-F238E27FC236}">
                <a16:creationId xmlns:a16="http://schemas.microsoft.com/office/drawing/2014/main" id="{4DCE9A52-6535-473D-839E-F61E7B048183}"/>
              </a:ext>
            </a:extLst>
          </p:cNvPr>
          <p:cNvGrpSpPr>
            <a:grpSpLocks/>
          </p:cNvGrpSpPr>
          <p:nvPr/>
        </p:nvGrpSpPr>
        <p:grpSpPr bwMode="auto">
          <a:xfrm>
            <a:off x="3735286" y="5269554"/>
            <a:ext cx="5371947" cy="830997"/>
            <a:chOff x="1575" y="1824"/>
            <a:chExt cx="4014" cy="602"/>
          </a:xfrm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1AE82E1F-60D8-4D55-835B-FE5DC2C9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" y="202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73" name="Rectangle 7">
              <a:extLst>
                <a:ext uri="{FF2B5EF4-FFF2-40B4-BE49-F238E27FC236}">
                  <a16:creationId xmlns:a16="http://schemas.microsoft.com/office/drawing/2014/main" id="{E85F52D5-AEB0-42C4-8F74-E82AF86BF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020"/>
              <a:ext cx="664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latin typeface="+mn-lt"/>
                  <a:ea typeface="SimHei" panose="02010609060101010101" pitchFamily="49" charset="-122"/>
                </a:rPr>
                <a:t>op</a:t>
              </a:r>
              <a:endParaRPr lang="zh-CN" altLang="en-US" sz="1600" dirty="0">
                <a:latin typeface="+mn-lt"/>
                <a:ea typeface="SimHei" panose="02010609060101010101" pitchFamily="49" charset="-122"/>
              </a:endParaRPr>
            </a:p>
          </p:txBody>
        </p:sp>
        <p:sp>
          <p:nvSpPr>
            <p:cNvPr id="66" name="Rectangle 9">
              <a:extLst>
                <a:ext uri="{FF2B5EF4-FFF2-40B4-BE49-F238E27FC236}">
                  <a16:creationId xmlns:a16="http://schemas.microsoft.com/office/drawing/2014/main" id="{8562C5BA-5202-4333-823E-A0951E32A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020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target address</a:t>
              </a:r>
            </a:p>
          </p:txBody>
        </p:sp>
        <p:sp>
          <p:nvSpPr>
            <p:cNvPr id="68" name="Rectangle 11">
              <a:extLst>
                <a:ext uri="{FF2B5EF4-FFF2-40B4-BE49-F238E27FC236}">
                  <a16:creationId xmlns:a16="http://schemas.microsoft.com/office/drawing/2014/main" id="{BF6C5BD6-4C00-421E-B670-3118AC1ED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1824"/>
              <a:ext cx="222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0</a:t>
              </a:r>
            </a:p>
          </p:txBody>
        </p:sp>
        <p:sp>
          <p:nvSpPr>
            <p:cNvPr id="69" name="Rectangle 12">
              <a:extLst>
                <a:ext uri="{FF2B5EF4-FFF2-40B4-BE49-F238E27FC236}">
                  <a16:creationId xmlns:a16="http://schemas.microsoft.com/office/drawing/2014/main" id="{4921FCB1-48A5-44F6-8825-146253449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824"/>
              <a:ext cx="307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</a:t>
              </a:r>
            </a:p>
          </p:txBody>
        </p:sp>
        <p:sp>
          <p:nvSpPr>
            <p:cNvPr id="70" name="Rectangle 13">
              <a:extLst>
                <a:ext uri="{FF2B5EF4-FFF2-40B4-BE49-F238E27FC236}">
                  <a16:creationId xmlns:a16="http://schemas.microsoft.com/office/drawing/2014/main" id="{0A23D42C-AC26-4F6F-9638-43995D151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824"/>
              <a:ext cx="307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31</a:t>
              </a:r>
            </a:p>
          </p:txBody>
        </p:sp>
        <p:sp>
          <p:nvSpPr>
            <p:cNvPr id="71" name="Rectangle 14">
              <a:extLst>
                <a:ext uri="{FF2B5EF4-FFF2-40B4-BE49-F238E27FC236}">
                  <a16:creationId xmlns:a16="http://schemas.microsoft.com/office/drawing/2014/main" id="{2D5EF2A8-0258-49BF-A0C8-3E1ECD62C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183"/>
              <a:ext cx="503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6 bits</a:t>
              </a:r>
            </a:p>
          </p:txBody>
        </p:sp>
        <p:sp>
          <p:nvSpPr>
            <p:cNvPr id="72" name="Rectangle 15">
              <a:extLst>
                <a:ext uri="{FF2B5EF4-FFF2-40B4-BE49-F238E27FC236}">
                  <a16:creationId xmlns:a16="http://schemas.microsoft.com/office/drawing/2014/main" id="{A982D024-69EE-46DA-A162-A39DB2BD2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164"/>
              <a:ext cx="588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+mn-lt"/>
                  <a:ea typeface="SimHei" panose="02010609060101010101" pitchFamily="49" charset="-122"/>
                </a:rPr>
                <a:t>26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5980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CCF11-81D8-4A15-A34E-E8A08B8A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针对流水线结构的指令集设计</a:t>
            </a:r>
          </a:p>
        </p:txBody>
      </p:sp>
      <p:graphicFrame>
        <p:nvGraphicFramePr>
          <p:cNvPr id="4" name="Group 83">
            <a:extLst>
              <a:ext uri="{FF2B5EF4-FFF2-40B4-BE49-F238E27FC236}">
                <a16:creationId xmlns:a16="http://schemas.microsoft.com/office/drawing/2014/main" id="{40B3ED6E-ED49-44E5-8422-8752500790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3042565"/>
              </p:ext>
            </p:extLst>
          </p:nvPr>
        </p:nvGraphicFramePr>
        <p:xfrm>
          <a:off x="685800" y="1427505"/>
          <a:ext cx="7772400" cy="5046548"/>
        </p:xfrm>
        <a:graphic>
          <a:graphicData uri="http://schemas.openxmlformats.org/drawingml/2006/table">
            <a:tbl>
              <a:tblPr firstRow="1" firstCol="1"/>
              <a:tblGrid>
                <a:gridCol w="111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6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2923"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指令类型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取指令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读寄存器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ALU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操作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数据访问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写寄存器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总执行时间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lw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5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sw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R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add, sub, etc.</a:t>
                      </a:r>
                    </a:p>
                  </a:txBody>
                  <a:tcPr marL="0" marR="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414402"/>
                  </a:ext>
                </a:extLst>
              </a:tr>
              <a:tr h="792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ori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87964"/>
                  </a:ext>
                </a:extLst>
              </a:tr>
              <a:tr h="8221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beq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Hei" panose="02010609060101010101" pitchFamily="49" charset="-122"/>
                        </a:rPr>
                        <a:t>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422B0FC-C321-4F16-896A-4161F8BF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60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5E18D-C431-4818-AC25-F1722391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97611-8AB4-4206-94F2-660991C8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547652" cy="4525963"/>
          </a:xfrm>
        </p:spPr>
        <p:txBody>
          <a:bodyPr/>
          <a:lstStyle/>
          <a:p>
            <a:r>
              <a:rPr lang="zh-CN" altLang="en-US" sz="2400" dirty="0"/>
              <a:t>目标：流水线的</a:t>
            </a:r>
            <a:r>
              <a:rPr lang="en-US" altLang="zh-CN" sz="2400" dirty="0"/>
              <a:t>CPI</a:t>
            </a:r>
            <a:r>
              <a:rPr lang="zh-CN" altLang="en-US" sz="2400" dirty="0"/>
              <a:t>下限是</a:t>
            </a:r>
            <a:r>
              <a:rPr lang="en-US" altLang="zh-CN" sz="2400" dirty="0"/>
              <a:t>1</a:t>
            </a:r>
            <a:r>
              <a:rPr lang="zh-CN" altLang="en-US" sz="2400" dirty="0"/>
              <a:t>，希望能够达到“几乎”</a:t>
            </a:r>
            <a:r>
              <a:rPr lang="en-US" altLang="zh-CN" sz="2400" dirty="0"/>
              <a:t>1.0</a:t>
            </a:r>
            <a:r>
              <a:rPr lang="zh-CN" altLang="en-US" sz="2400" dirty="0"/>
              <a:t>的</a:t>
            </a:r>
            <a:r>
              <a:rPr lang="en-US" altLang="zh-CN" sz="2400" dirty="0"/>
              <a:t>CPI</a:t>
            </a:r>
            <a:r>
              <a:rPr lang="zh-CN" altLang="en-US" sz="2400" dirty="0"/>
              <a:t>和更高的时钟频率</a:t>
            </a:r>
            <a:endParaRPr lang="en-US" altLang="zh-CN" sz="2400" dirty="0"/>
          </a:p>
          <a:p>
            <a:r>
              <a:rPr lang="zh-CN" altLang="en-US" sz="2400" dirty="0"/>
              <a:t>方法：在多周期基础上，将处理器变为多级流水线</a:t>
            </a:r>
            <a:endParaRPr lang="en-US" altLang="zh-CN" sz="24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Instruction Fetch (IF)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取指，从存储器读取指令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Instruction Decode / Register File (ID/RF)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指令译码、读取寄存器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ALU Execution (EX)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执行运算或计算存储器地址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Memory Data Access (MEM)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访问存储器</a:t>
            </a:r>
            <a:endParaRPr kumimoji="1" lang="en-US" altLang="zh-CN" sz="2000" dirty="0"/>
          </a:p>
          <a:p>
            <a:pPr lvl="1"/>
            <a:r>
              <a:rPr lang="en-US" altLang="zh-CN" sz="2000" dirty="0">
                <a:solidFill>
                  <a:srgbClr val="3333FF"/>
                </a:solidFill>
              </a:rPr>
              <a:t>Register Write-Back (WB)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r>
              <a:rPr kumimoji="1" lang="zh-CN" altLang="en-US" sz="2000" dirty="0"/>
              <a:t>将结果写回寄存器</a:t>
            </a:r>
            <a:endParaRPr lang="zh-CN" altLang="en-US" sz="2000" dirty="0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F894CB36-BF1A-4C56-AB56-428C89F2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326523-4F33-F8D6-01D3-037228AD2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451" y="4482946"/>
            <a:ext cx="4747098" cy="200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19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854991-1543-4A94-800A-86B68F17E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39" y="1213785"/>
            <a:ext cx="8123722" cy="56442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E961FE-3B1C-4A63-9F1E-083DA5C1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7DA5C-29EB-463A-B736-42CA58EB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EDC608-214A-4A65-98F6-38CAA08C2591}"/>
              </a:ext>
            </a:extLst>
          </p:cNvPr>
          <p:cNvSpPr txBox="1"/>
          <p:nvPr/>
        </p:nvSpPr>
        <p:spPr>
          <a:xfrm>
            <a:off x="2590800" y="324433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SimHei" panose="02010609060101010101" pitchFamily="49" charset="-122"/>
              </a:rPr>
              <a:t>对比单周期执行方式</a:t>
            </a:r>
          </a:p>
        </p:txBody>
      </p:sp>
    </p:spTree>
    <p:extLst>
      <p:ext uri="{BB962C8B-B14F-4D97-AF65-F5344CB8AC3E}">
        <p14:creationId xmlns:p14="http://schemas.microsoft.com/office/powerpoint/2010/main" val="4106264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854991-1543-4A94-800A-86B68F17E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39" y="1213785"/>
            <a:ext cx="8123722" cy="56442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E961FE-3B1C-4A63-9F1E-083DA5C1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7DA5C-29EB-463A-B736-42CA58EB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06E518-D34F-4E7D-8C1A-187FC907DC83}"/>
              </a:ext>
            </a:extLst>
          </p:cNvPr>
          <p:cNvSpPr/>
          <p:nvPr/>
        </p:nvSpPr>
        <p:spPr>
          <a:xfrm>
            <a:off x="2873942" y="5037991"/>
            <a:ext cx="577917" cy="60622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DAC6E4-9BD0-4BCF-A1AE-FA665A051C84}"/>
              </a:ext>
            </a:extLst>
          </p:cNvPr>
          <p:cNvSpPr txBox="1"/>
          <p:nvPr/>
        </p:nvSpPr>
        <p:spPr>
          <a:xfrm>
            <a:off x="2089082" y="3998389"/>
            <a:ext cx="414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333FF"/>
                </a:solidFill>
                <a:ea typeface="SimHei" panose="02010609060101010101" pitchFamily="49" charset="-122"/>
              </a:rPr>
              <a:t>为何下图</a:t>
            </a:r>
            <a:r>
              <a:rPr lang="en-US" altLang="zh-CN" dirty="0">
                <a:solidFill>
                  <a:srgbClr val="3333FF"/>
                </a:solidFill>
                <a:ea typeface="SimHei" panose="02010609060101010101" pitchFamily="49" charset="-122"/>
              </a:rPr>
              <a:t>Reg</a:t>
            </a:r>
            <a:r>
              <a:rPr lang="zh-CN" altLang="en-US" dirty="0">
                <a:solidFill>
                  <a:srgbClr val="3333FF"/>
                </a:solidFill>
                <a:ea typeface="SimHei" panose="02010609060101010101" pitchFamily="49" charset="-122"/>
              </a:rPr>
              <a:t>贴向右边与</a:t>
            </a:r>
            <a:r>
              <a:rPr lang="en-US" altLang="zh-CN" dirty="0">
                <a:solidFill>
                  <a:srgbClr val="3333FF"/>
                </a:solidFill>
                <a:ea typeface="SimHei" panose="02010609060101010101" pitchFamily="49" charset="-122"/>
              </a:rPr>
              <a:t>ALU</a:t>
            </a:r>
            <a:r>
              <a:rPr lang="zh-CN" altLang="en-US" dirty="0">
                <a:solidFill>
                  <a:srgbClr val="3333FF"/>
                </a:solidFill>
                <a:ea typeface="SimHei" panose="02010609060101010101" pitchFamily="49" charset="-122"/>
              </a:rPr>
              <a:t>相邻？</a:t>
            </a:r>
          </a:p>
        </p:txBody>
      </p:sp>
    </p:spTree>
    <p:extLst>
      <p:ext uri="{BB962C8B-B14F-4D97-AF65-F5344CB8AC3E}">
        <p14:creationId xmlns:p14="http://schemas.microsoft.com/office/powerpoint/2010/main" val="1060842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854991-1543-4A94-800A-86B68F17E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39" y="1213785"/>
            <a:ext cx="8123722" cy="5644215"/>
          </a:xfrm>
          <a:prstGeom prst="rect">
            <a:avLst/>
          </a:prstGeom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E961FE-3B1C-4A63-9F1E-083DA5C1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7DA5C-29EB-463A-B736-42CA58EB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56A3F84-695C-47BD-9D86-DC1027BA5DC6}"/>
              </a:ext>
            </a:extLst>
          </p:cNvPr>
          <p:cNvSpPr/>
          <p:nvPr/>
        </p:nvSpPr>
        <p:spPr>
          <a:xfrm>
            <a:off x="2870200" y="5040591"/>
            <a:ext cx="558800" cy="60362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F66F11-2E1E-427F-A3DC-20F77BFFBED3}"/>
              </a:ext>
            </a:extLst>
          </p:cNvPr>
          <p:cNvSpPr txBox="1"/>
          <p:nvPr/>
        </p:nvSpPr>
        <p:spPr>
          <a:xfrm>
            <a:off x="2391410" y="4635625"/>
            <a:ext cx="151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70C0"/>
                </a:solidFill>
                <a:ea typeface="SimHei" panose="02010609060101010101" pitchFamily="49" charset="-122"/>
              </a:rPr>
              <a:t>寄存器读取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39250D8-C097-498F-A62D-B4E206845C6B}"/>
              </a:ext>
            </a:extLst>
          </p:cNvPr>
          <p:cNvSpPr/>
          <p:nvPr/>
        </p:nvSpPr>
        <p:spPr>
          <a:xfrm>
            <a:off x="4662347" y="5044701"/>
            <a:ext cx="558800" cy="60362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BAA49F-3D01-4E39-A8E6-74B9C42134F4}"/>
              </a:ext>
            </a:extLst>
          </p:cNvPr>
          <p:cNvSpPr txBox="1"/>
          <p:nvPr/>
        </p:nvSpPr>
        <p:spPr>
          <a:xfrm>
            <a:off x="4181375" y="4635625"/>
            <a:ext cx="151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  <a:ea typeface="SimHei" panose="02010609060101010101" pitchFamily="49" charset="-122"/>
              </a:rPr>
              <a:t>寄存器写入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AEE1F9-822C-49AD-8133-01D72B068EBD}"/>
              </a:ext>
            </a:extLst>
          </p:cNvPr>
          <p:cNvSpPr txBox="1"/>
          <p:nvPr/>
        </p:nvSpPr>
        <p:spPr>
          <a:xfrm>
            <a:off x="5671933" y="4932093"/>
            <a:ext cx="296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SimHei" panose="02010609060101010101" pitchFamily="49" charset="-122"/>
              </a:rPr>
              <a:t>一个周期内，</a:t>
            </a:r>
            <a:r>
              <a:rPr lang="zh-CN" altLang="en-US" dirty="0">
                <a:solidFill>
                  <a:srgbClr val="00B050"/>
                </a:solidFill>
                <a:ea typeface="SimHei" panose="02010609060101010101" pitchFamily="49" charset="-122"/>
              </a:rPr>
              <a:t>写入</a:t>
            </a:r>
            <a:r>
              <a:rPr lang="zh-CN" altLang="en-US" dirty="0">
                <a:ea typeface="SimHei" panose="02010609060101010101" pitchFamily="49" charset="-122"/>
              </a:rPr>
              <a:t>先于</a:t>
            </a:r>
            <a:r>
              <a:rPr lang="zh-CN" altLang="en-US" dirty="0">
                <a:solidFill>
                  <a:srgbClr val="0070C0"/>
                </a:solidFill>
                <a:ea typeface="SimHei" panose="02010609060101010101" pitchFamily="49" charset="-122"/>
              </a:rPr>
              <a:t>读取</a:t>
            </a:r>
            <a:r>
              <a:rPr lang="zh-CN" altLang="en-US" dirty="0">
                <a:ea typeface="SimHei" panose="02010609060101010101" pitchFamily="49" charset="-122"/>
              </a:rPr>
              <a:t>，为什么？</a:t>
            </a:r>
            <a:endParaRPr lang="zh-CN" altLang="en-US" dirty="0">
              <a:solidFill>
                <a:srgbClr val="00B0F0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4448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90348-0EC6-4362-A518-279FDB8D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流水线的数据通路：级间寄存器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88ADD-AFE7-45FC-A371-0FA941451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571297" cy="4525963"/>
          </a:xfrm>
        </p:spPr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个步骤</a:t>
            </a:r>
            <a:endParaRPr lang="en-US" altLang="zh-CN" dirty="0"/>
          </a:p>
          <a:p>
            <a:pPr lvl="1"/>
            <a:r>
              <a:rPr lang="zh-CN" altLang="en-US" dirty="0"/>
              <a:t>输入：来自于上一步骤上一周期</a:t>
            </a:r>
            <a:endParaRPr lang="en-US" altLang="zh-CN" dirty="0"/>
          </a:p>
          <a:p>
            <a:pPr lvl="1"/>
            <a:r>
              <a:rPr lang="zh-CN" altLang="en-US" dirty="0"/>
              <a:t>输出：被下一步骤在下一周期使用</a:t>
            </a:r>
            <a:endParaRPr lang="en-US" altLang="zh-CN" dirty="0"/>
          </a:p>
          <a:p>
            <a:r>
              <a:rPr kumimoji="1" lang="zh-CN" altLang="en-US" dirty="0"/>
              <a:t>数据在不同周期间传递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</a:t>
            </a:r>
            <a:r>
              <a:rPr kumimoji="1" lang="zh-CN" altLang="en-US" dirty="0">
                <a:solidFill>
                  <a:srgbClr val="3333FF"/>
                </a:solidFill>
              </a:rPr>
              <a:t>寄存器</a:t>
            </a:r>
            <a:r>
              <a:rPr kumimoji="1" lang="zh-CN" altLang="en-US" dirty="0"/>
              <a:t>保持中间数据</a:t>
            </a:r>
            <a:endParaRPr kumimoji="1"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CCFE62-813E-47BE-AA99-3AEDAEB7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56E391E-4BB5-34E6-D853-007C023C77B2}"/>
              </a:ext>
            </a:extLst>
          </p:cNvPr>
          <p:cNvGrpSpPr/>
          <p:nvPr/>
        </p:nvGrpSpPr>
        <p:grpSpPr>
          <a:xfrm>
            <a:off x="1828800" y="3562016"/>
            <a:ext cx="5486400" cy="2759905"/>
            <a:chOff x="953407" y="3126769"/>
            <a:chExt cx="7237186" cy="364063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F72E1B5-A747-4CD7-8D96-FAAA47C85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3407" y="3671759"/>
              <a:ext cx="7237186" cy="3049716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E1D1F8D-D89C-4480-82AA-8D4D04BA6602}"/>
                </a:ext>
              </a:extLst>
            </p:cNvPr>
            <p:cNvCxnSpPr>
              <a:cxnSpLocks/>
            </p:cNvCxnSpPr>
            <p:nvPr/>
          </p:nvCxnSpPr>
          <p:spPr>
            <a:xfrm>
              <a:off x="2374900" y="4155553"/>
              <a:ext cx="0" cy="2611846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C501D21-FB56-45AF-BC7F-096C6ED31DBB}"/>
                </a:ext>
              </a:extLst>
            </p:cNvPr>
            <p:cNvCxnSpPr/>
            <p:nvPr/>
          </p:nvCxnSpPr>
          <p:spPr>
            <a:xfrm>
              <a:off x="3886201" y="4155553"/>
              <a:ext cx="0" cy="2611846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4CFB0AC-FCB3-4707-82B3-4964698F0AD6}"/>
                </a:ext>
              </a:extLst>
            </p:cNvPr>
            <p:cNvCxnSpPr/>
            <p:nvPr/>
          </p:nvCxnSpPr>
          <p:spPr>
            <a:xfrm>
              <a:off x="5207000" y="4155553"/>
              <a:ext cx="0" cy="2611846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1C25311-E929-41F5-8BE6-0BD67BD86396}"/>
                </a:ext>
              </a:extLst>
            </p:cNvPr>
            <p:cNvCxnSpPr/>
            <p:nvPr/>
          </p:nvCxnSpPr>
          <p:spPr>
            <a:xfrm>
              <a:off x="6896100" y="4155553"/>
              <a:ext cx="0" cy="2611846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070D20A-6CA3-47E7-9905-1D43BFBF6749}"/>
                </a:ext>
              </a:extLst>
            </p:cNvPr>
            <p:cNvSpPr txBox="1"/>
            <p:nvPr/>
          </p:nvSpPr>
          <p:spPr>
            <a:xfrm>
              <a:off x="1540744" y="3146058"/>
              <a:ext cx="1491796" cy="85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IF/ID</a:t>
              </a:r>
            </a:p>
            <a:p>
              <a:pPr algn="ctr"/>
              <a:r>
                <a:rPr lang="zh-CN" altLang="en-US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寄存器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F824B0A-C76C-452E-BED7-FD779D862632}"/>
                </a:ext>
              </a:extLst>
            </p:cNvPr>
            <p:cNvSpPr txBox="1"/>
            <p:nvPr/>
          </p:nvSpPr>
          <p:spPr>
            <a:xfrm>
              <a:off x="3014863" y="3126772"/>
              <a:ext cx="1492700" cy="85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ID/EX</a:t>
              </a:r>
            </a:p>
            <a:p>
              <a:pPr algn="ctr"/>
              <a:r>
                <a:rPr lang="zh-CN" altLang="en-US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寄存器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4FBB77C-DFEE-482B-AB59-0EB9591BE2EF}"/>
                </a:ext>
              </a:extLst>
            </p:cNvPr>
            <p:cNvSpPr txBox="1"/>
            <p:nvPr/>
          </p:nvSpPr>
          <p:spPr>
            <a:xfrm>
              <a:off x="4253373" y="3126770"/>
              <a:ext cx="1924504" cy="85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EX/MEM</a:t>
              </a:r>
            </a:p>
            <a:p>
              <a:pPr algn="ctr"/>
              <a:r>
                <a:rPr lang="zh-CN" altLang="en-US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寄存器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C3DA9DB-709B-4EDC-B8F8-4998C225F067}"/>
                </a:ext>
              </a:extLst>
            </p:cNvPr>
            <p:cNvSpPr txBox="1"/>
            <p:nvPr/>
          </p:nvSpPr>
          <p:spPr>
            <a:xfrm>
              <a:off x="5962461" y="3126769"/>
              <a:ext cx="1855487" cy="852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MEM/WB</a:t>
              </a:r>
            </a:p>
            <a:p>
              <a:pPr algn="ctr"/>
              <a:r>
                <a:rPr lang="zh-CN" altLang="en-US" b="1" dirty="0">
                  <a:solidFill>
                    <a:srgbClr val="3333FF"/>
                  </a:solidFill>
                  <a:ea typeface="SimHei" panose="02010609060101010101" pitchFamily="49" charset="-122"/>
                </a:rPr>
                <a:t>寄存器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5311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50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8D4689-F2F7-E4BA-011C-135CC274396E}"/>
              </a:ext>
            </a:extLst>
          </p:cNvPr>
          <p:cNvGrpSpPr/>
          <p:nvPr/>
        </p:nvGrpSpPr>
        <p:grpSpPr>
          <a:xfrm>
            <a:off x="329006" y="1204898"/>
            <a:ext cx="8618119" cy="4511038"/>
            <a:chOff x="329006" y="1204898"/>
            <a:chExt cx="8618119" cy="4511038"/>
          </a:xfrm>
        </p:grpSpPr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E27AE386-708E-FF3F-3D0E-C4C7A6CE4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5093530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AA3D82AD-5BC7-4E5E-463B-AC9DC5BA3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5093530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79CA08EC-6C1C-2291-8CBC-33FD44FD0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5093530"/>
              <a:ext cx="167155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01FA2EB-D989-B3A3-F186-9C6FC2FFC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0" cy="27775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9C864AF8-CFD1-9FD6-3CFD-DF128670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5541548"/>
              <a:ext cx="562251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A1CE735E-4F0D-1662-1238-A30FBDF7B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5093530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76412A8D-8C12-9576-2704-5A8D17797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879" y="5093530"/>
              <a:ext cx="0" cy="4480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97639C20-6253-F468-49A4-DDA2DB7B6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0365" y="3899306"/>
              <a:ext cx="0" cy="1642241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7F0CFDC4-1570-755A-13E5-7413894CC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3904769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806C5395-F572-D0AD-129D-C02E158F1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06" y="3010335"/>
              <a:ext cx="1291659" cy="131935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E359A231-9EF5-EEC2-49E3-C0C39A7F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08" y="3357534"/>
              <a:ext cx="243879" cy="763838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P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C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7F60B4D2-D5EA-755C-D52C-11DBBECF8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87" y="3704733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FBD8F2F9-8EE0-6D0A-4EA6-4E0EE5652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866232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DBFBD9CE-8050-1C5B-8156-E60988523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2802015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16383385-07D7-1682-5592-B6377CC2F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247" y="3473905"/>
              <a:ext cx="550120" cy="461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DBCC198D-8F05-B0D7-867F-34D478CF7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631" y="2960993"/>
              <a:ext cx="1132010" cy="584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Instruction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DAA3C887-AD9F-24D9-7326-F1373E8DC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940" y="226966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2F8B6321-C512-CCE6-810D-F3C9202AD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3704733"/>
              <a:ext cx="21200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9DFB4336-EFB9-9F32-3E31-E5B67C28D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786" y="2663136"/>
              <a:ext cx="269595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97CA3F66-EE6E-DD10-D924-B9B43550E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1482658"/>
              <a:ext cx="0" cy="222207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6" name="AutoShape 37">
              <a:extLst>
                <a:ext uri="{FF2B5EF4-FFF2-40B4-BE49-F238E27FC236}">
                  <a16:creationId xmlns:a16="http://schemas.microsoft.com/office/drawing/2014/main" id="{DC6E1BC9-6B97-A6EF-5397-ECF9994BCF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966277" y="1403408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46C3802B-86B9-559A-8BC9-D3D3FEE41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006" y="1482658"/>
              <a:ext cx="8357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EA015B30-84EC-AB56-FE22-B623FBA94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725" y="1343779"/>
              <a:ext cx="554109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9FDC48DA-0BCA-1E57-15E2-6616DCEB4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2325" y="5715936"/>
              <a:ext cx="59264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1A711A4B-AED4-9912-6E75-3B8BA33C7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264" y="2913409"/>
              <a:ext cx="1291659" cy="158707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90BB6D75-7433-6FC3-00C4-C2BE06910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46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E96132F1-3649-9ABB-EA2A-9F8BDF057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4964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9C453617-4F3C-7E7B-05E7-27A3570F6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726" y="4069515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</p:txBody>
        </p:sp>
        <p:sp>
          <p:nvSpPr>
            <p:cNvPr id="45" name="Text Box 47">
              <a:extLst>
                <a:ext uri="{FF2B5EF4-FFF2-40B4-BE49-F238E27FC236}">
                  <a16:creationId xmlns:a16="http://schemas.microsoft.com/office/drawing/2014/main" id="{8AA49D62-398F-E1BB-8FBE-7F2BBB3D1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642" y="2967621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1</a:t>
              </a: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883B4F85-0058-724F-C198-22807FA72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432" y="3329446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2</a:t>
              </a: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04DF9940-1A51-EE47-706B-174F37143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375" y="3715251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3C91276F-4CAF-88F5-CED5-BE0DC74C9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972" y="3523895"/>
              <a:ext cx="684773" cy="338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Regs</a:t>
              </a: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FADA9C8D-EF5D-4087-C882-7175560EA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047" y="3141428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1</a:t>
              </a:r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1BF4C2A2-DA51-A3F2-66B1-C10748E71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411" y="3892751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2</a:t>
              </a:r>
            </a:p>
          </p:txBody>
        </p:sp>
        <p:sp>
          <p:nvSpPr>
            <p:cNvPr id="51" name="Line 53">
              <a:extLst>
                <a:ext uri="{FF2B5EF4-FFF2-40B4-BE49-F238E27FC236}">
                  <a16:creationId xmlns:a16="http://schemas.microsoft.com/office/drawing/2014/main" id="{0F56481A-9157-9866-7529-42EF0841E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5F0BF8AA-4F8F-0163-DD6C-63BF3E41C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543" y="4749518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Line 55">
              <a:extLst>
                <a:ext uri="{FF2B5EF4-FFF2-40B4-BE49-F238E27FC236}">
                  <a16:creationId xmlns:a16="http://schemas.microsoft.com/office/drawing/2014/main" id="{D1C9C395-CA5C-44F7-F109-5285A2266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54" y="4733847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85A318CD-23B8-5A23-1FDE-9CB4B083B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832" y="4838245"/>
              <a:ext cx="37988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5" name="Text Box 57">
              <a:extLst>
                <a:ext uri="{FF2B5EF4-FFF2-40B4-BE49-F238E27FC236}">
                  <a16:creationId xmlns:a16="http://schemas.microsoft.com/office/drawing/2014/main" id="{029C29B3-C98C-2155-CC5E-B244DE78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003" y="4815770"/>
              <a:ext cx="354554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56" name="Line 58">
              <a:extLst>
                <a:ext uri="{FF2B5EF4-FFF2-40B4-BE49-F238E27FC236}">
                  <a16:creationId xmlns:a16="http://schemas.microsoft.com/office/drawing/2014/main" id="{B659A95A-FA3F-E3C6-06DC-732977FD0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22793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Line 59">
              <a:extLst>
                <a:ext uri="{FF2B5EF4-FFF2-40B4-BE49-F238E27FC236}">
                  <a16:creationId xmlns:a16="http://schemas.microsoft.com/office/drawing/2014/main" id="{EA8E67D8-A69F-BE6A-EAC7-887CD2019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4329692"/>
              <a:ext cx="0" cy="48607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D61446E3-E3F4-D5A3-78AA-09BDA550D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982492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9" name="Line 61">
              <a:extLst>
                <a:ext uri="{FF2B5EF4-FFF2-40B4-BE49-F238E27FC236}">
                  <a16:creationId xmlns:a16="http://schemas.microsoft.com/office/drawing/2014/main" id="{F5705B44-0F51-7A32-3D9B-B520ECBDD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0" cy="166655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687A9150-043D-298F-CB86-9A49902CD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Line 63">
              <a:extLst>
                <a:ext uri="{FF2B5EF4-FFF2-40B4-BE49-F238E27FC236}">
                  <a16:creationId xmlns:a16="http://schemas.microsoft.com/office/drawing/2014/main" id="{25406034-4438-F9BB-9CC2-7C6306ED4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982492"/>
              <a:ext cx="47199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CFDFCBD3-51C8-DC60-AEE2-1ECF0AE1E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483" y="3774173"/>
              <a:ext cx="15151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81875826-2904-B6BD-B78C-38775DF45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622" y="3149214"/>
              <a:ext cx="531860" cy="1180477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235 h 1099"/>
                <a:gd name="T4" fmla="*/ 83 w 388"/>
                <a:gd name="T5" fmla="*/ 305 h 1099"/>
                <a:gd name="T6" fmla="*/ 0 w 388"/>
                <a:gd name="T7" fmla="*/ 370 h 1099"/>
                <a:gd name="T8" fmla="*/ 0 w 388"/>
                <a:gd name="T9" fmla="*/ 605 h 1099"/>
                <a:gd name="T10" fmla="*/ 290 w 388"/>
                <a:gd name="T11" fmla="*/ 436 h 1099"/>
                <a:gd name="T12" fmla="*/ 290 w 388"/>
                <a:gd name="T13" fmla="*/ 170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4" name="Rectangle 66">
              <a:extLst>
                <a:ext uri="{FF2B5EF4-FFF2-40B4-BE49-F238E27FC236}">
                  <a16:creationId xmlns:a16="http://schemas.microsoft.com/office/drawing/2014/main" id="{4F248D35-88F5-CEC6-A999-459AB8C34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180" y="3626888"/>
              <a:ext cx="473292" cy="198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ALU</a:t>
              </a:r>
            </a:p>
          </p:txBody>
        </p:sp>
        <p:sp>
          <p:nvSpPr>
            <p:cNvPr id="65" name="AutoShape 67">
              <a:extLst>
                <a:ext uri="{FF2B5EF4-FFF2-40B4-BE49-F238E27FC236}">
                  <a16:creationId xmlns:a16="http://schemas.microsoft.com/office/drawing/2014/main" id="{E8778C98-357D-79B9-9717-A8A364F49C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74612" y="4005956"/>
              <a:ext cx="694398" cy="227940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E2FD2C93-8EF8-374E-6C26-E27D99D0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813" y="4121372"/>
              <a:ext cx="1308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Line 71">
              <a:extLst>
                <a:ext uri="{FF2B5EF4-FFF2-40B4-BE49-F238E27FC236}">
                  <a16:creationId xmlns:a16="http://schemas.microsoft.com/office/drawing/2014/main" id="{94545124-B6AF-0C06-CD83-045D247DE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4" y="4329692"/>
              <a:ext cx="36448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9" name="Line 72">
              <a:extLst>
                <a:ext uri="{FF2B5EF4-FFF2-40B4-BE49-F238E27FC236}">
                  <a16:creationId xmlns:a16="http://schemas.microsoft.com/office/drawing/2014/main" id="{F4C5566B-55C4-393C-099B-810D39DAA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357534"/>
              <a:ext cx="81045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0" name="Oval 73">
              <a:extLst>
                <a:ext uri="{FF2B5EF4-FFF2-40B4-BE49-F238E27FC236}">
                  <a16:creationId xmlns:a16="http://schemas.microsoft.com/office/drawing/2014/main" id="{FA4C9470-D00A-EBC0-0E7F-09B9DEBB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743" y="2663136"/>
              <a:ext cx="455880" cy="486079"/>
            </a:xfrm>
            <a:prstGeom prst="ellips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1" name="Rectangle 74">
              <a:extLst>
                <a:ext uri="{FF2B5EF4-FFF2-40B4-BE49-F238E27FC236}">
                  <a16:creationId xmlns:a16="http://schemas.microsoft.com/office/drawing/2014/main" id="{943A9958-A332-D613-ADD4-7D623C1B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714" y="2782822"/>
              <a:ext cx="441936" cy="239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&lt;&lt;2</a:t>
              </a:r>
            </a:p>
          </p:txBody>
        </p:sp>
        <p:sp>
          <p:nvSpPr>
            <p:cNvPr id="72" name="Line 75">
              <a:extLst>
                <a:ext uri="{FF2B5EF4-FFF2-40B4-BE49-F238E27FC236}">
                  <a16:creationId xmlns:a16="http://schemas.microsoft.com/office/drawing/2014/main" id="{CDE0892F-9824-C384-17EC-9F6903342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2940895"/>
              <a:ext cx="2723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2" name="Line 85">
              <a:extLst>
                <a:ext uri="{FF2B5EF4-FFF2-40B4-BE49-F238E27FC236}">
                  <a16:creationId xmlns:a16="http://schemas.microsoft.com/office/drawing/2014/main" id="{5BECBDB3-7A0F-35E6-2FFF-F7EA685C0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6901" y="294089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3" name="Rectangle 86">
              <a:extLst>
                <a:ext uri="{FF2B5EF4-FFF2-40B4-BE49-F238E27FC236}">
                  <a16:creationId xmlns:a16="http://schemas.microsoft.com/office/drawing/2014/main" id="{FF2C69E3-FC08-CFC2-0475-5D71DADB1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341" y="3184998"/>
              <a:ext cx="1291659" cy="111720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Line 87">
              <a:extLst>
                <a:ext uri="{FF2B5EF4-FFF2-40B4-BE49-F238E27FC236}">
                  <a16:creationId xmlns:a16="http://schemas.microsoft.com/office/drawing/2014/main" id="{CC366717-6C54-572E-F645-FA153A697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3774173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5" name="Text Box 88">
              <a:extLst>
                <a:ext uri="{FF2B5EF4-FFF2-40B4-BE49-F238E27FC236}">
                  <a16:creationId xmlns:a16="http://schemas.microsoft.com/office/drawing/2014/main" id="{9A487E53-391C-9A52-8D21-7A3FF891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3363" y="3164294"/>
              <a:ext cx="830645" cy="523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86" name="Text Box 89">
              <a:extLst>
                <a:ext uri="{FF2B5EF4-FFF2-40B4-BE49-F238E27FC236}">
                  <a16:creationId xmlns:a16="http://schemas.microsoft.com/office/drawing/2014/main" id="{EB150BC4-6C6F-2A58-8545-D3AB587F4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635293"/>
              <a:ext cx="508442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87" name="Text Box 90">
              <a:extLst>
                <a:ext uri="{FF2B5EF4-FFF2-40B4-BE49-F238E27FC236}">
                  <a16:creationId xmlns:a16="http://schemas.microsoft.com/office/drawing/2014/main" id="{447A0FD1-961A-40EE-D937-65E985236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982492"/>
              <a:ext cx="90803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 Data</a:t>
              </a:r>
            </a:p>
          </p:txBody>
        </p:sp>
        <p:sp>
          <p:nvSpPr>
            <p:cNvPr id="88" name="Text Box 91">
              <a:extLst>
                <a:ext uri="{FF2B5EF4-FFF2-40B4-BE49-F238E27FC236}">
                  <a16:creationId xmlns:a16="http://schemas.microsoft.com/office/drawing/2014/main" id="{C93938C3-F62B-5F9F-C112-878EBC1E8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245" y="3630802"/>
              <a:ext cx="91720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Data</a:t>
              </a:r>
            </a:p>
          </p:txBody>
        </p:sp>
        <p:sp>
          <p:nvSpPr>
            <p:cNvPr id="89" name="Line 92">
              <a:extLst>
                <a:ext uri="{FF2B5EF4-FFF2-40B4-BE49-F238E27FC236}">
                  <a16:creationId xmlns:a16="http://schemas.microsoft.com/office/drawing/2014/main" id="{7838ECE6-1364-A505-5F77-23BF4735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4121372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0" name="Line 93">
              <a:extLst>
                <a:ext uri="{FF2B5EF4-FFF2-40B4-BE49-F238E27FC236}">
                  <a16:creationId xmlns:a16="http://schemas.microsoft.com/office/drawing/2014/main" id="{8142F012-9748-5FD4-F65D-95184626A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4121372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1" name="AutoShape 94">
              <a:extLst>
                <a:ext uri="{FF2B5EF4-FFF2-40B4-BE49-F238E27FC236}">
                  <a16:creationId xmlns:a16="http://schemas.microsoft.com/office/drawing/2014/main" id="{C0E26AB4-7102-7BB5-15A3-DB9A980F94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60350" y="3833803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2" name="Line 98">
              <a:extLst>
                <a:ext uri="{FF2B5EF4-FFF2-40B4-BE49-F238E27FC236}">
                  <a16:creationId xmlns:a16="http://schemas.microsoft.com/office/drawing/2014/main" id="{DD3A4DE6-7F49-0E6D-9BFC-E743597C7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357534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3" name="Line 99">
              <a:extLst>
                <a:ext uri="{FF2B5EF4-FFF2-40B4-BE49-F238E27FC236}">
                  <a16:creationId xmlns:a16="http://schemas.microsoft.com/office/drawing/2014/main" id="{49256853-9C80-4F3F-DA0C-4789AA871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0" cy="152512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4" name="Line 100">
              <a:extLst>
                <a:ext uri="{FF2B5EF4-FFF2-40B4-BE49-F238E27FC236}">
                  <a16:creationId xmlns:a16="http://schemas.microsoft.com/office/drawing/2014/main" id="{BDB341A6-0659-739F-A77F-CFBAA0248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52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5" name="Line 101">
              <a:extLst>
                <a:ext uri="{FF2B5EF4-FFF2-40B4-BE49-F238E27FC236}">
                  <a16:creationId xmlns:a16="http://schemas.microsoft.com/office/drawing/2014/main" id="{53A71A40-554E-4C9C-4D7F-5F7F68FA0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1621538"/>
              <a:ext cx="9117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6" name="Line 102">
              <a:extLst>
                <a:ext uri="{FF2B5EF4-FFF2-40B4-BE49-F238E27FC236}">
                  <a16:creationId xmlns:a16="http://schemas.microsoft.com/office/drawing/2014/main" id="{82636A46-5EF8-6C50-DE60-2F1B25EA1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7" name="Line 103">
              <a:extLst>
                <a:ext uri="{FF2B5EF4-FFF2-40B4-BE49-F238E27FC236}">
                  <a16:creationId xmlns:a16="http://schemas.microsoft.com/office/drawing/2014/main" id="{290A03FD-EA07-6F02-CD05-12FC8792B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000" y="3774173"/>
              <a:ext cx="1516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8" name="Rectangle 104">
              <a:extLst>
                <a:ext uri="{FF2B5EF4-FFF2-40B4-BE49-F238E27FC236}">
                  <a16:creationId xmlns:a16="http://schemas.microsoft.com/office/drawing/2014/main" id="{FE4E4301-1A3B-32D4-46DC-8F6CCDF8B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425" y="2315936"/>
              <a:ext cx="151960" cy="201375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9" name="Rectangle 105">
              <a:extLst>
                <a:ext uri="{FF2B5EF4-FFF2-40B4-BE49-F238E27FC236}">
                  <a16:creationId xmlns:a16="http://schemas.microsoft.com/office/drawing/2014/main" id="{0DDBC3A9-6F41-0A68-1210-8E1B9DA54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882" y="1800567"/>
              <a:ext cx="158319" cy="36483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0" name="Line 106">
              <a:extLst>
                <a:ext uri="{FF2B5EF4-FFF2-40B4-BE49-F238E27FC236}">
                  <a16:creationId xmlns:a16="http://schemas.microsoft.com/office/drawing/2014/main" id="{99C67827-6D6A-1E95-5618-81925D28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Line 107">
              <a:extLst>
                <a:ext uri="{FF2B5EF4-FFF2-40B4-BE49-F238E27FC236}">
                  <a16:creationId xmlns:a16="http://schemas.microsoft.com/office/drawing/2014/main" id="{CE335AE4-D686-E337-9947-48E11F158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2524256"/>
              <a:ext cx="189949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2" name="Line 108">
              <a:extLst>
                <a:ext uri="{FF2B5EF4-FFF2-40B4-BE49-F238E27FC236}">
                  <a16:creationId xmlns:a16="http://schemas.microsoft.com/office/drawing/2014/main" id="{A5900C28-091D-306D-630C-BEEE9939B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5718" y="2732575"/>
              <a:ext cx="9972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3" name="Line 109">
              <a:extLst>
                <a:ext uri="{FF2B5EF4-FFF2-40B4-BE49-F238E27FC236}">
                  <a16:creationId xmlns:a16="http://schemas.microsoft.com/office/drawing/2014/main" id="{BC109CAE-C108-CAFA-9592-7A207245F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4815770"/>
              <a:ext cx="10751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4" name="Line 110">
              <a:extLst>
                <a:ext uri="{FF2B5EF4-FFF2-40B4-BE49-F238E27FC236}">
                  <a16:creationId xmlns:a16="http://schemas.microsoft.com/office/drawing/2014/main" id="{8B84CBAE-0C77-4FCC-6A19-0DD1D9705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3982492"/>
              <a:ext cx="0" cy="83327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5" name="Line 111">
              <a:extLst>
                <a:ext uri="{FF2B5EF4-FFF2-40B4-BE49-F238E27FC236}">
                  <a16:creationId xmlns:a16="http://schemas.microsoft.com/office/drawing/2014/main" id="{9E92D52E-58A1-005D-D190-624895D36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4815770"/>
              <a:ext cx="12916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6" name="Rectangle 112">
              <a:extLst>
                <a:ext uri="{FF2B5EF4-FFF2-40B4-BE49-F238E27FC236}">
                  <a16:creationId xmlns:a16="http://schemas.microsoft.com/office/drawing/2014/main" id="{8CE8E128-DB07-2BA7-7A29-1FB91F28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8960" y="2690911"/>
              <a:ext cx="151960" cy="25414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7" name="Line 113">
              <a:extLst>
                <a:ext uri="{FF2B5EF4-FFF2-40B4-BE49-F238E27FC236}">
                  <a16:creationId xmlns:a16="http://schemas.microsoft.com/office/drawing/2014/main" id="{A8D44656-1826-E4DB-D6DF-D0BCFE686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4815770"/>
              <a:ext cx="15955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8" name="Line 114">
              <a:extLst>
                <a:ext uri="{FF2B5EF4-FFF2-40B4-BE49-F238E27FC236}">
                  <a16:creationId xmlns:a16="http://schemas.microsoft.com/office/drawing/2014/main" id="{D639506D-72C1-D5FF-A0AF-43292640B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3774173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Line 115">
              <a:extLst>
                <a:ext uri="{FF2B5EF4-FFF2-40B4-BE49-F238E27FC236}">
                  <a16:creationId xmlns:a16="http://schemas.microsoft.com/office/drawing/2014/main" id="{557C5AC9-0946-CB26-BD66-D6B883459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8759" y="3913052"/>
              <a:ext cx="0" cy="180288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0" name="Line 116">
              <a:extLst>
                <a:ext uri="{FF2B5EF4-FFF2-40B4-BE49-F238E27FC236}">
                  <a16:creationId xmlns:a16="http://schemas.microsoft.com/office/drawing/2014/main" id="{9D5F6BBC-1EA7-4B4F-407F-059D9ADCC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3821" y="1343777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1" name="Line 117">
              <a:extLst>
                <a:ext uri="{FF2B5EF4-FFF2-40B4-BE49-F238E27FC236}">
                  <a16:creationId xmlns:a16="http://schemas.microsoft.com/office/drawing/2014/main" id="{EBFBF49D-8063-B317-C4A4-818A020DC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55441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rgbClr val="ED7D3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Text Box 119">
              <a:extLst>
                <a:ext uri="{FF2B5EF4-FFF2-40B4-BE49-F238E27FC236}">
                  <a16:creationId xmlns:a16="http://schemas.microsoft.com/office/drawing/2014/main" id="{4C9A038A-AEE4-D392-F518-748D679FE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221" y="1924885"/>
              <a:ext cx="684773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IF/ID</a:t>
              </a:r>
            </a:p>
          </p:txBody>
        </p:sp>
        <p:sp>
          <p:nvSpPr>
            <p:cNvPr id="114" name="Line 120">
              <a:extLst>
                <a:ext uri="{FF2B5EF4-FFF2-40B4-BE49-F238E27FC236}">
                  <a16:creationId xmlns:a16="http://schemas.microsoft.com/office/drawing/2014/main" id="{28AD2B0E-5EFF-F06E-4F52-A795712D6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353" y="2940895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Line 121">
              <a:extLst>
                <a:ext uri="{FF2B5EF4-FFF2-40B4-BE49-F238E27FC236}">
                  <a16:creationId xmlns:a16="http://schemas.microsoft.com/office/drawing/2014/main" id="{C456D8F4-5FB7-1279-D1C4-5C3E0BB67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473" y="4815770"/>
              <a:ext cx="57041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6" name="Line 122">
              <a:extLst>
                <a:ext uri="{FF2B5EF4-FFF2-40B4-BE49-F238E27FC236}">
                  <a16:creationId xmlns:a16="http://schemas.microsoft.com/office/drawing/2014/main" id="{D1D1F92A-00E6-436D-B2DF-2E60B191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2524256"/>
              <a:ext cx="10637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7" name="Line 123">
              <a:extLst>
                <a:ext uri="{FF2B5EF4-FFF2-40B4-BE49-F238E27FC236}">
                  <a16:creationId xmlns:a16="http://schemas.microsoft.com/office/drawing/2014/main" id="{396F500F-1FA8-8FCF-CFDC-40D7E9F49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1621538"/>
              <a:ext cx="0" cy="9027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8" name="Line 124">
              <a:extLst>
                <a:ext uri="{FF2B5EF4-FFF2-40B4-BE49-F238E27FC236}">
                  <a16:creationId xmlns:a16="http://schemas.microsoft.com/office/drawing/2014/main" id="{37D8300E-99BD-3866-763F-E255E5EB1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7502" y="3037144"/>
              <a:ext cx="0" cy="38982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9" name="Line 125">
              <a:extLst>
                <a:ext uri="{FF2B5EF4-FFF2-40B4-BE49-F238E27FC236}">
                  <a16:creationId xmlns:a16="http://schemas.microsoft.com/office/drawing/2014/main" id="{15F5F541-D37A-79E9-0E09-DA625914C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0" cy="145823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0" name="Rectangle 126">
              <a:extLst>
                <a:ext uri="{FF2B5EF4-FFF2-40B4-BE49-F238E27FC236}">
                  <a16:creationId xmlns:a16="http://schemas.microsoft.com/office/drawing/2014/main" id="{81C77E3D-3293-7EB8-0900-D6167B9A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441" y="1966185"/>
              <a:ext cx="151960" cy="326622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1" name="Oval 127">
              <a:extLst>
                <a:ext uri="{FF2B5EF4-FFF2-40B4-BE49-F238E27FC236}">
                  <a16:creationId xmlns:a16="http://schemas.microsoft.com/office/drawing/2014/main" id="{FC74BE5D-0687-49D5-AAB4-1A22A3F39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244" y="4607451"/>
              <a:ext cx="810453" cy="416639"/>
            </a:xfrm>
            <a:prstGeom prst="ellipse">
              <a:avLst/>
            </a:prstGeom>
            <a:solidFill>
              <a:sysClr val="window" lastClr="FFFFFF"/>
            </a:solidFill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2" name="Rectangle 128">
              <a:extLst>
                <a:ext uri="{FF2B5EF4-FFF2-40B4-BE49-F238E27FC236}">
                  <a16:creationId xmlns:a16="http://schemas.microsoft.com/office/drawing/2014/main" id="{670E99B1-8F8A-033F-21CD-13F4C8540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04" y="4594606"/>
              <a:ext cx="531860" cy="416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Sign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Extend</a:t>
              </a:r>
            </a:p>
          </p:txBody>
        </p:sp>
        <p:sp>
          <p:nvSpPr>
            <p:cNvPr id="123" name="Line 129">
              <a:extLst>
                <a:ext uri="{FF2B5EF4-FFF2-40B4-BE49-F238E27FC236}">
                  <a16:creationId xmlns:a16="http://schemas.microsoft.com/office/drawing/2014/main" id="{59E9BA4C-AF21-D428-116B-00F569E1D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2732575"/>
              <a:ext cx="5264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4" name="Line 130">
              <a:extLst>
                <a:ext uri="{FF2B5EF4-FFF2-40B4-BE49-F238E27FC236}">
                  <a16:creationId xmlns:a16="http://schemas.microsoft.com/office/drawing/2014/main" id="{BA311DCE-4C69-F8F0-FE36-1391040E2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502" y="303714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5" name="Line 131">
              <a:extLst>
                <a:ext uri="{FF2B5EF4-FFF2-40B4-BE49-F238E27FC236}">
                  <a16:creationId xmlns:a16="http://schemas.microsoft.com/office/drawing/2014/main" id="{1EBC9B02-BAF5-9A6F-12D4-5EEFFDFA2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3037145"/>
              <a:ext cx="83578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6" name="Line 132">
              <a:extLst>
                <a:ext uri="{FF2B5EF4-FFF2-40B4-BE49-F238E27FC236}">
                  <a16:creationId xmlns:a16="http://schemas.microsoft.com/office/drawing/2014/main" id="{AA3BC222-E3D9-2085-AEF8-048C303A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3774173"/>
              <a:ext cx="0" cy="104159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7" name="Text Box 133">
              <a:extLst>
                <a:ext uri="{FF2B5EF4-FFF2-40B4-BE49-F238E27FC236}">
                  <a16:creationId xmlns:a16="http://schemas.microsoft.com/office/drawing/2014/main" id="{A2C95BC2-D9E3-69F6-79DE-D38EC9F94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678" y="1449977"/>
              <a:ext cx="78736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ID/EX</a:t>
              </a:r>
            </a:p>
          </p:txBody>
        </p:sp>
        <p:sp>
          <p:nvSpPr>
            <p:cNvPr id="128" name="Text Box 134">
              <a:extLst>
                <a:ext uri="{FF2B5EF4-FFF2-40B4-BE49-F238E27FC236}">
                  <a16:creationId xmlns:a16="http://schemas.microsoft.com/office/drawing/2014/main" id="{77F84CA9-0BB9-145A-E0FA-6F2D9AD49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8680" y="1626984"/>
              <a:ext cx="1095141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EX/MEM</a:t>
              </a:r>
            </a:p>
          </p:txBody>
        </p:sp>
        <p:sp>
          <p:nvSpPr>
            <p:cNvPr id="129" name="Text Box 135">
              <a:extLst>
                <a:ext uri="{FF2B5EF4-FFF2-40B4-BE49-F238E27FC236}">
                  <a16:creationId xmlns:a16="http://schemas.microsoft.com/office/drawing/2014/main" id="{B7B7BDF4-D461-90B3-9297-8F802F34C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5040" y="2394056"/>
              <a:ext cx="117208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MEM/WB</a:t>
              </a:r>
            </a:p>
          </p:txBody>
        </p:sp>
        <p:sp>
          <p:nvSpPr>
            <p:cNvPr id="154" name="Line 13">
              <a:extLst>
                <a:ext uri="{FF2B5EF4-FFF2-40B4-BE49-F238E27FC236}">
                  <a16:creationId xmlns:a16="http://schemas.microsoft.com/office/drawing/2014/main" id="{2FCE4DC9-2389-AE56-4E66-F2C569FC1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6799" y="391305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5" name="Line 110">
              <a:extLst>
                <a:ext uri="{FF2B5EF4-FFF2-40B4-BE49-F238E27FC236}">
                  <a16:creationId xmlns:a16="http://schemas.microsoft.com/office/drawing/2014/main" id="{125412EB-0058-531A-120F-D6501A8B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093529"/>
              <a:ext cx="0" cy="23687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6" name="Line 8">
              <a:extLst>
                <a:ext uri="{FF2B5EF4-FFF2-40B4-BE49-F238E27FC236}">
                  <a16:creationId xmlns:a16="http://schemas.microsoft.com/office/drawing/2014/main" id="{284F9856-FEA0-9912-730D-E60AF89D5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326892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7" name="Line 9">
              <a:extLst>
                <a:ext uri="{FF2B5EF4-FFF2-40B4-BE49-F238E27FC236}">
                  <a16:creationId xmlns:a16="http://schemas.microsoft.com/office/drawing/2014/main" id="{EF50FE4F-426F-034A-176B-AD9CD875C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201" y="5326892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8" name="AutoShape 67">
              <a:extLst>
                <a:ext uri="{FF2B5EF4-FFF2-40B4-BE49-F238E27FC236}">
                  <a16:creationId xmlns:a16="http://schemas.microsoft.com/office/drawing/2014/main" id="{B223882A-1F9C-A302-66BC-108C373376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0498" y="5024784"/>
              <a:ext cx="565593" cy="236773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9" name="Rectangle 70">
              <a:extLst>
                <a:ext uri="{FF2B5EF4-FFF2-40B4-BE49-F238E27FC236}">
                  <a16:creationId xmlns:a16="http://schemas.microsoft.com/office/drawing/2014/main" id="{8BF9BEFE-6D26-7E08-B667-3D085B668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139" y="5177696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0" name="Line 10">
              <a:extLst>
                <a:ext uri="{FF2B5EF4-FFF2-40B4-BE49-F238E27FC236}">
                  <a16:creationId xmlns:a16="http://schemas.microsoft.com/office/drawing/2014/main" id="{54CDD31E-E476-A86A-5A20-614734480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753" y="5093529"/>
              <a:ext cx="100806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3" name="Text Box 30">
              <a:extLst>
                <a:ext uri="{FF2B5EF4-FFF2-40B4-BE49-F238E27FC236}">
                  <a16:creationId xmlns:a16="http://schemas.microsoft.com/office/drawing/2014/main" id="{281B46CD-E4D4-9843-C9E9-B063CE2FD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014" y="3367716"/>
              <a:ext cx="50042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Zero</a:t>
              </a:r>
            </a:p>
          </p:txBody>
        </p:sp>
        <p:sp>
          <p:nvSpPr>
            <p:cNvPr id="164" name="Line 124">
              <a:extLst>
                <a:ext uri="{FF2B5EF4-FFF2-40B4-BE49-F238E27FC236}">
                  <a16:creationId xmlns:a16="http://schemas.microsoft.com/office/drawing/2014/main" id="{D6C77003-B91D-292A-D0ED-28834BAE0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3180" y="1794328"/>
              <a:ext cx="0" cy="123657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6" name="Rectangle 70">
              <a:extLst>
                <a:ext uri="{FF2B5EF4-FFF2-40B4-BE49-F238E27FC236}">
                  <a16:creationId xmlns:a16="http://schemas.microsoft.com/office/drawing/2014/main" id="{B6F9E2BD-EC7F-9EA6-D2F5-99165ECA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050" y="4958616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7" name="Rectangle 70">
              <a:extLst>
                <a:ext uri="{FF2B5EF4-FFF2-40B4-BE49-F238E27FC236}">
                  <a16:creationId xmlns:a16="http://schemas.microsoft.com/office/drawing/2014/main" id="{029FD17A-58B6-584E-AA22-CB91D12F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380" y="4190812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8" name="Rectangle 70">
              <a:extLst>
                <a:ext uri="{FF2B5EF4-FFF2-40B4-BE49-F238E27FC236}">
                  <a16:creationId xmlns:a16="http://schemas.microsoft.com/office/drawing/2014/main" id="{BCC79F90-FB79-A995-3187-AB5651073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337" y="3913052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9" name="Rectangle 70">
              <a:extLst>
                <a:ext uri="{FF2B5EF4-FFF2-40B4-BE49-F238E27FC236}">
                  <a16:creationId xmlns:a16="http://schemas.microsoft.com/office/drawing/2014/main" id="{666865C7-399F-10BD-9AB1-82D7A26D4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767" y="1292554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0" name="Rectangle 70">
              <a:extLst>
                <a:ext uri="{FF2B5EF4-FFF2-40B4-BE49-F238E27FC236}">
                  <a16:creationId xmlns:a16="http://schemas.microsoft.com/office/drawing/2014/main" id="{2EB333AE-CD6F-4E7C-C89C-7281BEE18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678" y="1561154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71" name="Text Box 32">
              <a:extLst>
                <a:ext uri="{FF2B5EF4-FFF2-40B4-BE49-F238E27FC236}">
                  <a16:creationId xmlns:a16="http://schemas.microsoft.com/office/drawing/2014/main" id="{BF7EFBE6-E30F-7AFE-367C-4187CA7F8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5656" y="248015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172" name="Rectangle 70">
              <a:extLst>
                <a:ext uri="{FF2B5EF4-FFF2-40B4-BE49-F238E27FC236}">
                  <a16:creationId xmlns:a16="http://schemas.microsoft.com/office/drawing/2014/main" id="{807AD728-38B0-7D8D-93E5-1D6C0FDDB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72" y="3734735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3" name="Rectangle 70">
              <a:extLst>
                <a:ext uri="{FF2B5EF4-FFF2-40B4-BE49-F238E27FC236}">
                  <a16:creationId xmlns:a16="http://schemas.microsoft.com/office/drawing/2014/main" id="{68E7A216-F9A6-307E-6BEA-17C1B1D18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8683" y="4003335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53" name="Line 118">
              <a:extLst>
                <a:ext uri="{FF2B5EF4-FFF2-40B4-BE49-F238E27FC236}">
                  <a16:creationId xmlns:a16="http://schemas.microsoft.com/office/drawing/2014/main" id="{0FA0E142-B820-A5D6-4056-8D05A2A4D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8069" y="4143847"/>
              <a:ext cx="118182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2" name="Line 118">
              <a:extLst>
                <a:ext uri="{FF2B5EF4-FFF2-40B4-BE49-F238E27FC236}">
                  <a16:creationId xmlns:a16="http://schemas.microsoft.com/office/drawing/2014/main" id="{FCA325FD-4210-4C70-198D-E99EDC7C0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78960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72EC27F-0B7B-F9D9-9FC2-E75465E2022C}"/>
                </a:ext>
              </a:extLst>
            </p:cNvPr>
            <p:cNvSpPr/>
            <p:nvPr/>
          </p:nvSpPr>
          <p:spPr>
            <a:xfrm>
              <a:off x="1778065" y="2094312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1001BBC3-8F5E-5382-C401-1639E88C0240}"/>
                </a:ext>
              </a:extLst>
            </p:cNvPr>
            <p:cNvSpPr/>
            <p:nvPr/>
          </p:nvSpPr>
          <p:spPr>
            <a:xfrm>
              <a:off x="5785707" y="2316635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83C1A9C-2009-6CC1-3ECB-6119E9CE03E5}"/>
              </a:ext>
            </a:extLst>
          </p:cNvPr>
          <p:cNvSpPr txBox="1"/>
          <p:nvPr/>
        </p:nvSpPr>
        <p:spPr>
          <a:xfrm>
            <a:off x="1372406" y="6005244"/>
            <a:ext cx="616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IF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ID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EX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MEM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WB</a:t>
            </a:r>
            <a:r>
              <a:rPr lang="zh-CN" altLang="en-US" dirty="0">
                <a:ea typeface="SimHei" panose="02010609060101010101" pitchFamily="49" charset="-122"/>
              </a:rPr>
              <a:t>流水级间插入寄存器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en-US" altLang="zh-CN" dirty="0">
                <a:ea typeface="SimHei" panose="02010609060101010101" pitchFamily="49" charset="-122"/>
              </a:rPr>
              <a:t>IF/ID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ID/EX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EX/MEM</a:t>
            </a:r>
            <a:r>
              <a:rPr lang="zh-CN" altLang="en-US" dirty="0">
                <a:ea typeface="SimHei" panose="02010609060101010101" pitchFamily="49" charset="-122"/>
              </a:rPr>
              <a:t>，</a:t>
            </a:r>
            <a:r>
              <a:rPr lang="en-US" altLang="zh-CN" dirty="0">
                <a:ea typeface="SimHei" panose="02010609060101010101" pitchFamily="49" charset="-122"/>
              </a:rPr>
              <a:t>MEM/WB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C827D16-B050-E8D0-3241-0C024D653F66}"/>
                  </a:ext>
                </a:extLst>
              </p14:cNvPr>
              <p14:cNvContentPartPr/>
              <p14:nvPr/>
            </p14:nvContentPartPr>
            <p14:xfrm>
              <a:off x="3282840" y="541656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C827D16-B050-E8D0-3241-0C024D653F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3480" y="5407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025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B5B31A-E171-2516-D869-69EAE03FAA79}"/>
              </a:ext>
            </a:extLst>
          </p:cNvPr>
          <p:cNvSpPr/>
          <p:nvPr/>
        </p:nvSpPr>
        <p:spPr>
          <a:xfrm>
            <a:off x="197621" y="1178212"/>
            <a:ext cx="8798728" cy="4655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290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694" y="3018080"/>
            <a:ext cx="642457" cy="1304822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D22FAA8-48E7-EE2D-5780-835DBEF32F23}"/>
              </a:ext>
            </a:extLst>
          </p:cNvPr>
          <p:cNvSpPr txBox="1"/>
          <p:nvPr/>
        </p:nvSpPr>
        <p:spPr>
          <a:xfrm>
            <a:off x="237079" y="6057745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PC=PC+4</a:t>
            </a: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D545662-1BC7-1F4B-5483-4DDF18A3B72A}"/>
              </a:ext>
            </a:extLst>
          </p:cNvPr>
          <p:cNvCxnSpPr>
            <a:cxnSpLocks/>
          </p:cNvCxnSpPr>
          <p:nvPr/>
        </p:nvCxnSpPr>
        <p:spPr>
          <a:xfrm>
            <a:off x="329006" y="5734975"/>
            <a:ext cx="228244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0CBF751-7B2B-D848-90BE-6A927E9C1BC2}"/>
              </a:ext>
            </a:extLst>
          </p:cNvPr>
          <p:cNvSpPr txBox="1"/>
          <p:nvPr/>
        </p:nvSpPr>
        <p:spPr>
          <a:xfrm>
            <a:off x="979091" y="5356881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IF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F5CC892-FFC5-A6E3-9921-9E991D13C80F}"/>
              </a:ext>
            </a:extLst>
          </p:cNvPr>
          <p:cNvSpPr txBox="1"/>
          <p:nvPr/>
        </p:nvSpPr>
        <p:spPr>
          <a:xfrm>
            <a:off x="567635" y="5736741"/>
            <a:ext cx="184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63137F79-B5FE-90BE-26F1-5E527F67E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206A912A-DAB5-E31A-AC4B-3D59B9AFB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D97702D-A67F-098B-140F-D538B985E7CC}"/>
                  </a:ext>
                </a:extLst>
              </p14:cNvPr>
              <p14:cNvContentPartPr/>
              <p14:nvPr/>
            </p14:nvContentPartPr>
            <p14:xfrm>
              <a:off x="730080" y="361332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D97702D-A67F-098B-140F-D538B985E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720" y="36039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10785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9E87431-6197-9607-1656-3811A4AF438C}"/>
              </a:ext>
            </a:extLst>
          </p:cNvPr>
          <p:cNvSpPr txBox="1"/>
          <p:nvPr/>
        </p:nvSpPr>
        <p:spPr>
          <a:xfrm>
            <a:off x="4163272" y="5957711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寄存器读取 </a:t>
            </a:r>
            <a:r>
              <a:rPr lang="en-US" altLang="zh-CN" dirty="0">
                <a:ea typeface="SimHei" panose="02010609060101010101" pitchFamily="49" charset="-122"/>
              </a:rPr>
              <a:t>&amp; </a:t>
            </a: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立即数扩展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1EB2FFB-EED4-18A3-011C-3007EDA4B79C}"/>
              </a:ext>
            </a:extLst>
          </p:cNvPr>
          <p:cNvCxnSpPr>
            <a:cxnSpLocks/>
          </p:cNvCxnSpPr>
          <p:nvPr/>
        </p:nvCxnSpPr>
        <p:spPr>
          <a:xfrm>
            <a:off x="2569398" y="6143418"/>
            <a:ext cx="2106912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8078E75-3078-DA32-68CD-23B438971D3E}"/>
              </a:ext>
            </a:extLst>
          </p:cNvPr>
          <p:cNvSpPr txBox="1"/>
          <p:nvPr/>
        </p:nvSpPr>
        <p:spPr>
          <a:xfrm>
            <a:off x="3200104" y="577071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ID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33DB6F7-7F1D-23A4-8CE1-F51619B8DC7A}"/>
              </a:ext>
            </a:extLst>
          </p:cNvPr>
          <p:cNvSpPr txBox="1"/>
          <p:nvPr/>
        </p:nvSpPr>
        <p:spPr>
          <a:xfrm>
            <a:off x="2625888" y="6145747"/>
            <a:ext cx="2048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Decode/</a:t>
            </a:r>
          </a:p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Register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9B824D78-EF30-BBF0-6332-FD84278676E5}"/>
              </a:ext>
            </a:extLst>
          </p:cNvPr>
          <p:cNvSpPr/>
          <p:nvPr/>
        </p:nvSpPr>
        <p:spPr>
          <a:xfrm>
            <a:off x="203051" y="1175239"/>
            <a:ext cx="8787150" cy="4655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828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816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679" y="2925089"/>
            <a:ext cx="642457" cy="1566000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</p:spTree>
    <p:extLst>
      <p:ext uri="{BB962C8B-B14F-4D97-AF65-F5344CB8AC3E}">
        <p14:creationId xmlns:p14="http://schemas.microsoft.com/office/powerpoint/2010/main" val="1045275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53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A10E99D-C05C-79DC-F82A-476FA612FC8C}"/>
              </a:ext>
            </a:extLst>
          </p:cNvPr>
          <p:cNvCxnSpPr>
            <a:cxnSpLocks/>
          </p:cNvCxnSpPr>
          <p:nvPr/>
        </p:nvCxnSpPr>
        <p:spPr>
          <a:xfrm>
            <a:off x="4678454" y="6137159"/>
            <a:ext cx="164870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7B296FA-289C-C554-A4C1-C7B2C6A5BA9A}"/>
              </a:ext>
            </a:extLst>
          </p:cNvPr>
          <p:cNvSpPr txBox="1"/>
          <p:nvPr/>
        </p:nvSpPr>
        <p:spPr>
          <a:xfrm>
            <a:off x="5013314" y="5767174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EX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C0D3FC2-9DBA-DEB9-2069-79C2BFF564FC}"/>
              </a:ext>
            </a:extLst>
          </p:cNvPr>
          <p:cNvSpPr txBox="1"/>
          <p:nvPr/>
        </p:nvSpPr>
        <p:spPr>
          <a:xfrm>
            <a:off x="4478679" y="6184370"/>
            <a:ext cx="2048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ALU execution</a:t>
            </a:r>
          </a:p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Jump address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EC10233-436D-C6E3-27C2-D2CE61B022C7}"/>
              </a:ext>
            </a:extLst>
          </p:cNvPr>
          <p:cNvSpPr txBox="1"/>
          <p:nvPr/>
        </p:nvSpPr>
        <p:spPr>
          <a:xfrm>
            <a:off x="6386250" y="5916113"/>
            <a:ext cx="214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ALU</a:t>
            </a:r>
            <a:r>
              <a:rPr lang="zh-CN" altLang="en-US" dirty="0">
                <a:ea typeface="SimHei" panose="02010609060101010101" pitchFamily="49" charset="-122"/>
              </a:rPr>
              <a:t>计算访存地址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地址跳转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D1CECDB-361B-AD2C-2A0D-78733DE040C3}"/>
              </a:ext>
            </a:extLst>
          </p:cNvPr>
          <p:cNvSpPr/>
          <p:nvPr/>
        </p:nvSpPr>
        <p:spPr>
          <a:xfrm>
            <a:off x="179016" y="1146759"/>
            <a:ext cx="8787150" cy="4655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solidFill>
            <a:srgbClr val="A6E2F9"/>
          </a:solidFill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214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778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08617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54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9B42F091-8462-C333-073B-BB833F47C84F}"/>
              </a:ext>
            </a:extLst>
          </p:cNvPr>
          <p:cNvCxnSpPr>
            <a:cxnSpLocks/>
          </p:cNvCxnSpPr>
          <p:nvPr/>
        </p:nvCxnSpPr>
        <p:spPr>
          <a:xfrm flipV="1">
            <a:off x="6353882" y="6093085"/>
            <a:ext cx="1773936" cy="1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09B71F1-1DAF-F89D-030F-27EC2B47D2D9}"/>
              </a:ext>
            </a:extLst>
          </p:cNvPr>
          <p:cNvSpPr txBox="1"/>
          <p:nvPr/>
        </p:nvSpPr>
        <p:spPr>
          <a:xfrm>
            <a:off x="6761596" y="572375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MEM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9BD41F0-F207-4509-6656-AE542D6EE7A7}"/>
              </a:ext>
            </a:extLst>
          </p:cNvPr>
          <p:cNvSpPr txBox="1"/>
          <p:nvPr/>
        </p:nvSpPr>
        <p:spPr>
          <a:xfrm>
            <a:off x="6219052" y="6103793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Memory Access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9D28F21-3341-B8C1-50CA-1F9CAA8286F7}"/>
              </a:ext>
            </a:extLst>
          </p:cNvPr>
          <p:cNvSpPr txBox="1"/>
          <p:nvPr/>
        </p:nvSpPr>
        <p:spPr>
          <a:xfrm>
            <a:off x="4088358" y="5927127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ea typeface="SimHei" panose="02010609060101010101" pitchFamily="49" charset="-122"/>
              </a:rPr>
              <a:t>Memroy</a:t>
            </a:r>
            <a:r>
              <a:rPr lang="zh-CN" altLang="en-US" dirty="0">
                <a:ea typeface="SimHei" panose="02010609060101010101" pitchFamily="49" charset="-122"/>
              </a:rPr>
              <a:t>数据读取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607BE1F-57B9-4AF8-02D8-614358878E7A}"/>
              </a:ext>
            </a:extLst>
          </p:cNvPr>
          <p:cNvSpPr/>
          <p:nvPr/>
        </p:nvSpPr>
        <p:spPr>
          <a:xfrm>
            <a:off x="196875" y="1152585"/>
            <a:ext cx="8787150" cy="4655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20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201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221" y="3190078"/>
            <a:ext cx="1291921" cy="1107847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</p:spTree>
    <p:extLst>
      <p:ext uri="{BB962C8B-B14F-4D97-AF65-F5344CB8AC3E}">
        <p14:creationId xmlns:p14="http://schemas.microsoft.com/office/powerpoint/2010/main" val="31866943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FE22003-237E-9258-5A91-E2812761303D}"/>
              </a:ext>
            </a:extLst>
          </p:cNvPr>
          <p:cNvCxnSpPr>
            <a:cxnSpLocks/>
          </p:cNvCxnSpPr>
          <p:nvPr/>
        </p:nvCxnSpPr>
        <p:spPr>
          <a:xfrm>
            <a:off x="8133571" y="6152756"/>
            <a:ext cx="800481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C73B19C-AC49-01AC-A713-8BBAA8BA681F}"/>
              </a:ext>
            </a:extLst>
          </p:cNvPr>
          <p:cNvSpPr txBox="1"/>
          <p:nvPr/>
        </p:nvSpPr>
        <p:spPr>
          <a:xfrm>
            <a:off x="8052227" y="5745292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WB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2C2829D-AFDB-EB15-EA76-3421EDC68286}"/>
              </a:ext>
            </a:extLst>
          </p:cNvPr>
          <p:cNvSpPr txBox="1"/>
          <p:nvPr/>
        </p:nvSpPr>
        <p:spPr>
          <a:xfrm>
            <a:off x="6555894" y="5898935"/>
            <a:ext cx="118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Write Back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AC5F5EE-9145-7345-8F9D-2AB65D065F35}"/>
              </a:ext>
            </a:extLst>
          </p:cNvPr>
          <p:cNvSpPr txBox="1"/>
          <p:nvPr/>
        </p:nvSpPr>
        <p:spPr>
          <a:xfrm>
            <a:off x="6030142" y="6155398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数据写回寄存器堆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id="{CB9ABD7D-0ADD-B601-70A7-D6842F9C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2" y="5795536"/>
            <a:ext cx="508604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01700" indent="-9017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注意：</a:t>
            </a:r>
            <a:r>
              <a:rPr lang="zh-CN" altLang="en-US" sz="2000" b="0" dirty="0">
                <a:latin typeface="SimHei" panose="02010609060101010101" pitchFamily="49" charset="-122"/>
                <a:ea typeface="SimHei" panose="02010609060101010101" pitchFamily="49" charset="-122"/>
              </a:rPr>
              <a:t>回写阶段的后面没有流水线寄存器，所有的指令都会更新机器中的一些状态，如寄存器堆、存储器、</a:t>
            </a:r>
            <a:r>
              <a:rPr lang="en-US" altLang="zh-CN" sz="2000" b="0" dirty="0">
                <a:latin typeface="SimHei" panose="02010609060101010101" pitchFamily="49" charset="-122"/>
                <a:ea typeface="SimHei" panose="02010609060101010101" pitchFamily="49" charset="-122"/>
              </a:rPr>
              <a:t>PC</a:t>
            </a:r>
            <a:r>
              <a:rPr lang="zh-CN" altLang="en-US" sz="2000" b="0" dirty="0">
                <a:latin typeface="SimHei" panose="02010609060101010101" pitchFamily="49" charset="-122"/>
                <a:ea typeface="SimHei" panose="02010609060101010101" pitchFamily="49" charset="-122"/>
              </a:rPr>
              <a:t>等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871A9A44-97E3-344D-25FB-BFD159577DC5}"/>
              </a:ext>
            </a:extLst>
          </p:cNvPr>
          <p:cNvSpPr/>
          <p:nvPr/>
        </p:nvSpPr>
        <p:spPr>
          <a:xfrm>
            <a:off x="228245" y="1139149"/>
            <a:ext cx="8787150" cy="465599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686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324" y="2922132"/>
            <a:ext cx="642457" cy="1573273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7834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56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8D4689-F2F7-E4BA-011C-135CC274396E}"/>
              </a:ext>
            </a:extLst>
          </p:cNvPr>
          <p:cNvGrpSpPr/>
          <p:nvPr/>
        </p:nvGrpSpPr>
        <p:grpSpPr>
          <a:xfrm>
            <a:off x="329006" y="1204898"/>
            <a:ext cx="8618119" cy="4511038"/>
            <a:chOff x="329006" y="1204898"/>
            <a:chExt cx="8618119" cy="4511038"/>
          </a:xfrm>
        </p:grpSpPr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E27AE386-708E-FF3F-3D0E-C4C7A6CE4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5093530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AA3D82AD-5BC7-4E5E-463B-AC9DC5BA3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5093530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79CA08EC-6C1C-2291-8CBC-33FD44FD0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5093530"/>
              <a:ext cx="167155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01FA2EB-D989-B3A3-F186-9C6FC2FFC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0" cy="27775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9C864AF8-CFD1-9FD6-3CFD-DF128670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5541548"/>
              <a:ext cx="562251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A1CE735E-4F0D-1662-1238-A30FBDF7B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5093530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76412A8D-8C12-9576-2704-5A8D17797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879" y="5093530"/>
              <a:ext cx="0" cy="4480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97639C20-6253-F468-49A4-DDA2DB7B6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0365" y="3899306"/>
              <a:ext cx="0" cy="1642241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7F0CFDC4-1570-755A-13E5-7413894CC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3904769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806C5395-F572-D0AD-129D-C02E158F1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06" y="3010335"/>
              <a:ext cx="1291659" cy="131935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E359A231-9EF5-EEC2-49E3-C0C39A7F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08" y="3357534"/>
              <a:ext cx="243879" cy="763838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P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C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7F60B4D2-D5EA-755C-D52C-11DBBECF8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87" y="3704733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FBD8F2F9-8EE0-6D0A-4EA6-4E0EE5652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866232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DBFBD9CE-8050-1C5B-8156-E60988523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2802015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16383385-07D7-1682-5592-B6377CC2F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247" y="3473905"/>
              <a:ext cx="550120" cy="461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DBCC198D-8F05-B0D7-867F-34D478CF7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631" y="2960993"/>
              <a:ext cx="1132010" cy="584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Instruction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DAA3C887-AD9F-24D9-7326-F1373E8DC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940" y="226966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2F8B6321-C512-CCE6-810D-F3C9202AD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3704733"/>
              <a:ext cx="21200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9DFB4336-EFB9-9F32-3E31-E5B67C28D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786" y="2663136"/>
              <a:ext cx="269595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97CA3F66-EE6E-DD10-D924-B9B43550E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1482658"/>
              <a:ext cx="0" cy="222207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6" name="AutoShape 37">
              <a:extLst>
                <a:ext uri="{FF2B5EF4-FFF2-40B4-BE49-F238E27FC236}">
                  <a16:creationId xmlns:a16="http://schemas.microsoft.com/office/drawing/2014/main" id="{DC6E1BC9-6B97-A6EF-5397-ECF9994BCF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966277" y="1403408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46C3802B-86B9-559A-8BC9-D3D3FEE41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006" y="1482658"/>
              <a:ext cx="8357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EA015B30-84EC-AB56-FE22-B623FBA94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725" y="1343779"/>
              <a:ext cx="554109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9FDC48DA-0BCA-1E57-15E2-6616DCEB4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2325" y="5715936"/>
              <a:ext cx="59264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1A711A4B-AED4-9912-6E75-3B8BA33C7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264" y="2913409"/>
              <a:ext cx="1291659" cy="158707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90BB6D75-7433-6FC3-00C4-C2BE06910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46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E96132F1-3649-9ABB-EA2A-9F8BDF057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4964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9C453617-4F3C-7E7B-05E7-27A3570F6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726" y="4069515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</p:txBody>
        </p:sp>
        <p:sp>
          <p:nvSpPr>
            <p:cNvPr id="45" name="Text Box 47">
              <a:extLst>
                <a:ext uri="{FF2B5EF4-FFF2-40B4-BE49-F238E27FC236}">
                  <a16:creationId xmlns:a16="http://schemas.microsoft.com/office/drawing/2014/main" id="{8AA49D62-398F-E1BB-8FBE-7F2BBB3D1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642" y="2967621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1</a:t>
              </a: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883B4F85-0058-724F-C198-22807FA72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432" y="3329446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2</a:t>
              </a: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04DF9940-1A51-EE47-706B-174F37143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375" y="3715251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3C91276F-4CAF-88F5-CED5-BE0DC74C9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972" y="3523895"/>
              <a:ext cx="684773" cy="338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Regs</a:t>
              </a: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FADA9C8D-EF5D-4087-C882-7175560EA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047" y="3141428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1</a:t>
              </a:r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1BF4C2A2-DA51-A3F2-66B1-C10748E71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411" y="3892751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2</a:t>
              </a:r>
            </a:p>
          </p:txBody>
        </p:sp>
        <p:sp>
          <p:nvSpPr>
            <p:cNvPr id="51" name="Line 53">
              <a:extLst>
                <a:ext uri="{FF2B5EF4-FFF2-40B4-BE49-F238E27FC236}">
                  <a16:creationId xmlns:a16="http://schemas.microsoft.com/office/drawing/2014/main" id="{0F56481A-9157-9866-7529-42EF0841E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5F0BF8AA-4F8F-0163-DD6C-63BF3E41C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543" y="4749518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Line 55">
              <a:extLst>
                <a:ext uri="{FF2B5EF4-FFF2-40B4-BE49-F238E27FC236}">
                  <a16:creationId xmlns:a16="http://schemas.microsoft.com/office/drawing/2014/main" id="{D1C9C395-CA5C-44F7-F109-5285A2266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54" y="4733847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85A318CD-23B8-5A23-1FDE-9CB4B083B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832" y="4838245"/>
              <a:ext cx="37988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5" name="Text Box 57">
              <a:extLst>
                <a:ext uri="{FF2B5EF4-FFF2-40B4-BE49-F238E27FC236}">
                  <a16:creationId xmlns:a16="http://schemas.microsoft.com/office/drawing/2014/main" id="{029C29B3-C98C-2155-CC5E-B244DE78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003" y="4815770"/>
              <a:ext cx="354554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56" name="Line 58">
              <a:extLst>
                <a:ext uri="{FF2B5EF4-FFF2-40B4-BE49-F238E27FC236}">
                  <a16:creationId xmlns:a16="http://schemas.microsoft.com/office/drawing/2014/main" id="{B659A95A-FA3F-E3C6-06DC-732977FD0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22793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Line 59">
              <a:extLst>
                <a:ext uri="{FF2B5EF4-FFF2-40B4-BE49-F238E27FC236}">
                  <a16:creationId xmlns:a16="http://schemas.microsoft.com/office/drawing/2014/main" id="{EA8E67D8-A69F-BE6A-EAC7-887CD2019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4329692"/>
              <a:ext cx="0" cy="48607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D61446E3-E3F4-D5A3-78AA-09BDA550D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982492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9" name="Line 61">
              <a:extLst>
                <a:ext uri="{FF2B5EF4-FFF2-40B4-BE49-F238E27FC236}">
                  <a16:creationId xmlns:a16="http://schemas.microsoft.com/office/drawing/2014/main" id="{F5705B44-0F51-7A32-3D9B-B520ECBDD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0" cy="166655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687A9150-043D-298F-CB86-9A49902CD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Line 63">
              <a:extLst>
                <a:ext uri="{FF2B5EF4-FFF2-40B4-BE49-F238E27FC236}">
                  <a16:creationId xmlns:a16="http://schemas.microsoft.com/office/drawing/2014/main" id="{25406034-4438-F9BB-9CC2-7C6306ED4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982492"/>
              <a:ext cx="47199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CFDFCBD3-51C8-DC60-AEE2-1ECF0AE1E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483" y="3774173"/>
              <a:ext cx="15151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81875826-2904-B6BD-B78C-38775DF45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622" y="3149214"/>
              <a:ext cx="531860" cy="1180477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235 h 1099"/>
                <a:gd name="T4" fmla="*/ 83 w 388"/>
                <a:gd name="T5" fmla="*/ 305 h 1099"/>
                <a:gd name="T6" fmla="*/ 0 w 388"/>
                <a:gd name="T7" fmla="*/ 370 h 1099"/>
                <a:gd name="T8" fmla="*/ 0 w 388"/>
                <a:gd name="T9" fmla="*/ 605 h 1099"/>
                <a:gd name="T10" fmla="*/ 290 w 388"/>
                <a:gd name="T11" fmla="*/ 436 h 1099"/>
                <a:gd name="T12" fmla="*/ 290 w 388"/>
                <a:gd name="T13" fmla="*/ 170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4" name="Rectangle 66">
              <a:extLst>
                <a:ext uri="{FF2B5EF4-FFF2-40B4-BE49-F238E27FC236}">
                  <a16:creationId xmlns:a16="http://schemas.microsoft.com/office/drawing/2014/main" id="{4F248D35-88F5-CEC6-A999-459AB8C34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180" y="3626888"/>
              <a:ext cx="473292" cy="198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ALU</a:t>
              </a:r>
            </a:p>
          </p:txBody>
        </p:sp>
        <p:sp>
          <p:nvSpPr>
            <p:cNvPr id="65" name="AutoShape 67">
              <a:extLst>
                <a:ext uri="{FF2B5EF4-FFF2-40B4-BE49-F238E27FC236}">
                  <a16:creationId xmlns:a16="http://schemas.microsoft.com/office/drawing/2014/main" id="{E8778C98-357D-79B9-9717-A8A364F49C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74612" y="4005956"/>
              <a:ext cx="694398" cy="227940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E2FD2C93-8EF8-374E-6C26-E27D99D0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813" y="4121372"/>
              <a:ext cx="1308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Line 71">
              <a:extLst>
                <a:ext uri="{FF2B5EF4-FFF2-40B4-BE49-F238E27FC236}">
                  <a16:creationId xmlns:a16="http://schemas.microsoft.com/office/drawing/2014/main" id="{94545124-B6AF-0C06-CD83-045D247DE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4" y="4329692"/>
              <a:ext cx="36448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9" name="Line 72">
              <a:extLst>
                <a:ext uri="{FF2B5EF4-FFF2-40B4-BE49-F238E27FC236}">
                  <a16:creationId xmlns:a16="http://schemas.microsoft.com/office/drawing/2014/main" id="{F4C5566B-55C4-393C-099B-810D39DAA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357534"/>
              <a:ext cx="81045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0" name="Oval 73">
              <a:extLst>
                <a:ext uri="{FF2B5EF4-FFF2-40B4-BE49-F238E27FC236}">
                  <a16:creationId xmlns:a16="http://schemas.microsoft.com/office/drawing/2014/main" id="{FA4C9470-D00A-EBC0-0E7F-09B9DEBB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743" y="2663136"/>
              <a:ext cx="455880" cy="486079"/>
            </a:xfrm>
            <a:prstGeom prst="ellips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1" name="Rectangle 74">
              <a:extLst>
                <a:ext uri="{FF2B5EF4-FFF2-40B4-BE49-F238E27FC236}">
                  <a16:creationId xmlns:a16="http://schemas.microsoft.com/office/drawing/2014/main" id="{943A9958-A332-D613-ADD4-7D623C1B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714" y="2782822"/>
              <a:ext cx="441936" cy="239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&lt;&lt;2</a:t>
              </a:r>
            </a:p>
          </p:txBody>
        </p:sp>
        <p:sp>
          <p:nvSpPr>
            <p:cNvPr id="72" name="Line 75">
              <a:extLst>
                <a:ext uri="{FF2B5EF4-FFF2-40B4-BE49-F238E27FC236}">
                  <a16:creationId xmlns:a16="http://schemas.microsoft.com/office/drawing/2014/main" id="{CDE0892F-9824-C384-17EC-9F6903342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2940895"/>
              <a:ext cx="2723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2" name="Line 85">
              <a:extLst>
                <a:ext uri="{FF2B5EF4-FFF2-40B4-BE49-F238E27FC236}">
                  <a16:creationId xmlns:a16="http://schemas.microsoft.com/office/drawing/2014/main" id="{5BECBDB3-7A0F-35E6-2FFF-F7EA685C0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6901" y="294089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3" name="Rectangle 86">
              <a:extLst>
                <a:ext uri="{FF2B5EF4-FFF2-40B4-BE49-F238E27FC236}">
                  <a16:creationId xmlns:a16="http://schemas.microsoft.com/office/drawing/2014/main" id="{FF2C69E3-FC08-CFC2-0475-5D71DADB1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341" y="3184998"/>
              <a:ext cx="1291659" cy="111720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Line 87">
              <a:extLst>
                <a:ext uri="{FF2B5EF4-FFF2-40B4-BE49-F238E27FC236}">
                  <a16:creationId xmlns:a16="http://schemas.microsoft.com/office/drawing/2014/main" id="{CC366717-6C54-572E-F645-FA153A697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3774173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5" name="Text Box 88">
              <a:extLst>
                <a:ext uri="{FF2B5EF4-FFF2-40B4-BE49-F238E27FC236}">
                  <a16:creationId xmlns:a16="http://schemas.microsoft.com/office/drawing/2014/main" id="{9A487E53-391C-9A52-8D21-7A3FF891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3363" y="3164294"/>
              <a:ext cx="830645" cy="523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86" name="Text Box 89">
              <a:extLst>
                <a:ext uri="{FF2B5EF4-FFF2-40B4-BE49-F238E27FC236}">
                  <a16:creationId xmlns:a16="http://schemas.microsoft.com/office/drawing/2014/main" id="{EB150BC4-6C6F-2A58-8545-D3AB587F4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635293"/>
              <a:ext cx="508442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87" name="Text Box 90">
              <a:extLst>
                <a:ext uri="{FF2B5EF4-FFF2-40B4-BE49-F238E27FC236}">
                  <a16:creationId xmlns:a16="http://schemas.microsoft.com/office/drawing/2014/main" id="{447A0FD1-961A-40EE-D937-65E985236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982492"/>
              <a:ext cx="90803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 Data</a:t>
              </a:r>
            </a:p>
          </p:txBody>
        </p:sp>
        <p:sp>
          <p:nvSpPr>
            <p:cNvPr id="88" name="Text Box 91">
              <a:extLst>
                <a:ext uri="{FF2B5EF4-FFF2-40B4-BE49-F238E27FC236}">
                  <a16:creationId xmlns:a16="http://schemas.microsoft.com/office/drawing/2014/main" id="{C93938C3-F62B-5F9F-C112-878EBC1E8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245" y="3630802"/>
              <a:ext cx="91720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Data</a:t>
              </a:r>
            </a:p>
          </p:txBody>
        </p:sp>
        <p:sp>
          <p:nvSpPr>
            <p:cNvPr id="89" name="Line 92">
              <a:extLst>
                <a:ext uri="{FF2B5EF4-FFF2-40B4-BE49-F238E27FC236}">
                  <a16:creationId xmlns:a16="http://schemas.microsoft.com/office/drawing/2014/main" id="{7838ECE6-1364-A505-5F77-23BF4735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4121372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0" name="Line 93">
              <a:extLst>
                <a:ext uri="{FF2B5EF4-FFF2-40B4-BE49-F238E27FC236}">
                  <a16:creationId xmlns:a16="http://schemas.microsoft.com/office/drawing/2014/main" id="{8142F012-9748-5FD4-F65D-95184626A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4121372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1" name="AutoShape 94">
              <a:extLst>
                <a:ext uri="{FF2B5EF4-FFF2-40B4-BE49-F238E27FC236}">
                  <a16:creationId xmlns:a16="http://schemas.microsoft.com/office/drawing/2014/main" id="{C0E26AB4-7102-7BB5-15A3-DB9A980F94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60350" y="3833803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2" name="Line 98">
              <a:extLst>
                <a:ext uri="{FF2B5EF4-FFF2-40B4-BE49-F238E27FC236}">
                  <a16:creationId xmlns:a16="http://schemas.microsoft.com/office/drawing/2014/main" id="{DD3A4DE6-7F49-0E6D-9BFC-E743597C7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357534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3" name="Line 99">
              <a:extLst>
                <a:ext uri="{FF2B5EF4-FFF2-40B4-BE49-F238E27FC236}">
                  <a16:creationId xmlns:a16="http://schemas.microsoft.com/office/drawing/2014/main" id="{49256853-9C80-4F3F-DA0C-4789AA871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0" cy="152512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4" name="Line 100">
              <a:extLst>
                <a:ext uri="{FF2B5EF4-FFF2-40B4-BE49-F238E27FC236}">
                  <a16:creationId xmlns:a16="http://schemas.microsoft.com/office/drawing/2014/main" id="{BDB341A6-0659-739F-A77F-CFBAA0248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52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5" name="Line 101">
              <a:extLst>
                <a:ext uri="{FF2B5EF4-FFF2-40B4-BE49-F238E27FC236}">
                  <a16:creationId xmlns:a16="http://schemas.microsoft.com/office/drawing/2014/main" id="{53A71A40-554E-4C9C-4D7F-5F7F68FA0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1621538"/>
              <a:ext cx="9117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6" name="Line 102">
              <a:extLst>
                <a:ext uri="{FF2B5EF4-FFF2-40B4-BE49-F238E27FC236}">
                  <a16:creationId xmlns:a16="http://schemas.microsoft.com/office/drawing/2014/main" id="{82636A46-5EF8-6C50-DE60-2F1B25EA1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7" name="Line 103">
              <a:extLst>
                <a:ext uri="{FF2B5EF4-FFF2-40B4-BE49-F238E27FC236}">
                  <a16:creationId xmlns:a16="http://schemas.microsoft.com/office/drawing/2014/main" id="{290A03FD-EA07-6F02-CD05-12FC8792B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000" y="3774173"/>
              <a:ext cx="1516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8" name="Rectangle 104">
              <a:extLst>
                <a:ext uri="{FF2B5EF4-FFF2-40B4-BE49-F238E27FC236}">
                  <a16:creationId xmlns:a16="http://schemas.microsoft.com/office/drawing/2014/main" id="{FE4E4301-1A3B-32D4-46DC-8F6CCDF8B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425" y="2315936"/>
              <a:ext cx="151960" cy="201375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9" name="Rectangle 105">
              <a:extLst>
                <a:ext uri="{FF2B5EF4-FFF2-40B4-BE49-F238E27FC236}">
                  <a16:creationId xmlns:a16="http://schemas.microsoft.com/office/drawing/2014/main" id="{0DDBC3A9-6F41-0A68-1210-8E1B9DA54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882" y="1800567"/>
              <a:ext cx="158319" cy="36483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0" name="Line 106">
              <a:extLst>
                <a:ext uri="{FF2B5EF4-FFF2-40B4-BE49-F238E27FC236}">
                  <a16:creationId xmlns:a16="http://schemas.microsoft.com/office/drawing/2014/main" id="{99C67827-6D6A-1E95-5618-81925D28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Line 107">
              <a:extLst>
                <a:ext uri="{FF2B5EF4-FFF2-40B4-BE49-F238E27FC236}">
                  <a16:creationId xmlns:a16="http://schemas.microsoft.com/office/drawing/2014/main" id="{CE335AE4-D686-E337-9947-48E11F158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2524256"/>
              <a:ext cx="189949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2" name="Line 108">
              <a:extLst>
                <a:ext uri="{FF2B5EF4-FFF2-40B4-BE49-F238E27FC236}">
                  <a16:creationId xmlns:a16="http://schemas.microsoft.com/office/drawing/2014/main" id="{A5900C28-091D-306D-630C-BEEE9939B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5718" y="2732575"/>
              <a:ext cx="9972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3" name="Line 109">
              <a:extLst>
                <a:ext uri="{FF2B5EF4-FFF2-40B4-BE49-F238E27FC236}">
                  <a16:creationId xmlns:a16="http://schemas.microsoft.com/office/drawing/2014/main" id="{BC109CAE-C108-CAFA-9592-7A207245F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4815770"/>
              <a:ext cx="10751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4" name="Line 110">
              <a:extLst>
                <a:ext uri="{FF2B5EF4-FFF2-40B4-BE49-F238E27FC236}">
                  <a16:creationId xmlns:a16="http://schemas.microsoft.com/office/drawing/2014/main" id="{8B84CBAE-0C77-4FCC-6A19-0DD1D9705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3982492"/>
              <a:ext cx="0" cy="83327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5" name="Line 111">
              <a:extLst>
                <a:ext uri="{FF2B5EF4-FFF2-40B4-BE49-F238E27FC236}">
                  <a16:creationId xmlns:a16="http://schemas.microsoft.com/office/drawing/2014/main" id="{9E92D52E-58A1-005D-D190-624895D36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4815770"/>
              <a:ext cx="12916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6" name="Rectangle 112">
              <a:extLst>
                <a:ext uri="{FF2B5EF4-FFF2-40B4-BE49-F238E27FC236}">
                  <a16:creationId xmlns:a16="http://schemas.microsoft.com/office/drawing/2014/main" id="{8CE8E128-DB07-2BA7-7A29-1FB91F28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8960" y="2690911"/>
              <a:ext cx="151960" cy="25414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7" name="Line 113">
              <a:extLst>
                <a:ext uri="{FF2B5EF4-FFF2-40B4-BE49-F238E27FC236}">
                  <a16:creationId xmlns:a16="http://schemas.microsoft.com/office/drawing/2014/main" id="{A8D44656-1826-E4DB-D6DF-D0BCFE686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4815770"/>
              <a:ext cx="15955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8" name="Line 114">
              <a:extLst>
                <a:ext uri="{FF2B5EF4-FFF2-40B4-BE49-F238E27FC236}">
                  <a16:creationId xmlns:a16="http://schemas.microsoft.com/office/drawing/2014/main" id="{D639506D-72C1-D5FF-A0AF-43292640B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3774173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Line 115">
              <a:extLst>
                <a:ext uri="{FF2B5EF4-FFF2-40B4-BE49-F238E27FC236}">
                  <a16:creationId xmlns:a16="http://schemas.microsoft.com/office/drawing/2014/main" id="{557C5AC9-0946-CB26-BD66-D6B883459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8759" y="3913052"/>
              <a:ext cx="0" cy="180288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0" name="Line 116">
              <a:extLst>
                <a:ext uri="{FF2B5EF4-FFF2-40B4-BE49-F238E27FC236}">
                  <a16:creationId xmlns:a16="http://schemas.microsoft.com/office/drawing/2014/main" id="{9D5F6BBC-1EA7-4B4F-407F-059D9ADCC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3821" y="1343777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1" name="Line 117">
              <a:extLst>
                <a:ext uri="{FF2B5EF4-FFF2-40B4-BE49-F238E27FC236}">
                  <a16:creationId xmlns:a16="http://schemas.microsoft.com/office/drawing/2014/main" id="{EBFBF49D-8063-B317-C4A4-818A020DC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55441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rgbClr val="ED7D3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Text Box 119">
              <a:extLst>
                <a:ext uri="{FF2B5EF4-FFF2-40B4-BE49-F238E27FC236}">
                  <a16:creationId xmlns:a16="http://schemas.microsoft.com/office/drawing/2014/main" id="{4C9A038A-AEE4-D392-F518-748D679FE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221" y="1924885"/>
              <a:ext cx="684773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IF/ID</a:t>
              </a:r>
            </a:p>
          </p:txBody>
        </p:sp>
        <p:sp>
          <p:nvSpPr>
            <p:cNvPr id="114" name="Line 120">
              <a:extLst>
                <a:ext uri="{FF2B5EF4-FFF2-40B4-BE49-F238E27FC236}">
                  <a16:creationId xmlns:a16="http://schemas.microsoft.com/office/drawing/2014/main" id="{28AD2B0E-5EFF-F06E-4F52-A795712D6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353" y="2940895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Line 121">
              <a:extLst>
                <a:ext uri="{FF2B5EF4-FFF2-40B4-BE49-F238E27FC236}">
                  <a16:creationId xmlns:a16="http://schemas.microsoft.com/office/drawing/2014/main" id="{C456D8F4-5FB7-1279-D1C4-5C3E0BB67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473" y="4815770"/>
              <a:ext cx="57041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6" name="Line 122">
              <a:extLst>
                <a:ext uri="{FF2B5EF4-FFF2-40B4-BE49-F238E27FC236}">
                  <a16:creationId xmlns:a16="http://schemas.microsoft.com/office/drawing/2014/main" id="{D1D1F92A-00E6-436D-B2DF-2E60B191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2524256"/>
              <a:ext cx="10637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7" name="Line 123">
              <a:extLst>
                <a:ext uri="{FF2B5EF4-FFF2-40B4-BE49-F238E27FC236}">
                  <a16:creationId xmlns:a16="http://schemas.microsoft.com/office/drawing/2014/main" id="{396F500F-1FA8-8FCF-CFDC-40D7E9F49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1621538"/>
              <a:ext cx="0" cy="9027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8" name="Line 124">
              <a:extLst>
                <a:ext uri="{FF2B5EF4-FFF2-40B4-BE49-F238E27FC236}">
                  <a16:creationId xmlns:a16="http://schemas.microsoft.com/office/drawing/2014/main" id="{37D8300E-99BD-3866-763F-E255E5EB1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7502" y="3037144"/>
              <a:ext cx="0" cy="38982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9" name="Line 125">
              <a:extLst>
                <a:ext uri="{FF2B5EF4-FFF2-40B4-BE49-F238E27FC236}">
                  <a16:creationId xmlns:a16="http://schemas.microsoft.com/office/drawing/2014/main" id="{15F5F541-D37A-79E9-0E09-DA625914C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0" cy="145823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0" name="Rectangle 126">
              <a:extLst>
                <a:ext uri="{FF2B5EF4-FFF2-40B4-BE49-F238E27FC236}">
                  <a16:creationId xmlns:a16="http://schemas.microsoft.com/office/drawing/2014/main" id="{81C77E3D-3293-7EB8-0900-D6167B9A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441" y="1966185"/>
              <a:ext cx="151960" cy="326622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1" name="Oval 127">
              <a:extLst>
                <a:ext uri="{FF2B5EF4-FFF2-40B4-BE49-F238E27FC236}">
                  <a16:creationId xmlns:a16="http://schemas.microsoft.com/office/drawing/2014/main" id="{FC74BE5D-0687-49D5-AAB4-1A22A3F39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244" y="4607451"/>
              <a:ext cx="810453" cy="416639"/>
            </a:xfrm>
            <a:prstGeom prst="ellipse">
              <a:avLst/>
            </a:prstGeom>
            <a:solidFill>
              <a:sysClr val="window" lastClr="FFFFFF"/>
            </a:solidFill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2" name="Rectangle 128">
              <a:extLst>
                <a:ext uri="{FF2B5EF4-FFF2-40B4-BE49-F238E27FC236}">
                  <a16:creationId xmlns:a16="http://schemas.microsoft.com/office/drawing/2014/main" id="{670E99B1-8F8A-033F-21CD-13F4C8540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04" y="4594606"/>
              <a:ext cx="531860" cy="416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Sign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Extend</a:t>
              </a:r>
            </a:p>
          </p:txBody>
        </p:sp>
        <p:sp>
          <p:nvSpPr>
            <p:cNvPr id="123" name="Line 129">
              <a:extLst>
                <a:ext uri="{FF2B5EF4-FFF2-40B4-BE49-F238E27FC236}">
                  <a16:creationId xmlns:a16="http://schemas.microsoft.com/office/drawing/2014/main" id="{59E9BA4C-AF21-D428-116B-00F569E1D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2732575"/>
              <a:ext cx="5264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4" name="Line 130">
              <a:extLst>
                <a:ext uri="{FF2B5EF4-FFF2-40B4-BE49-F238E27FC236}">
                  <a16:creationId xmlns:a16="http://schemas.microsoft.com/office/drawing/2014/main" id="{BA311DCE-4C69-F8F0-FE36-1391040E2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502" y="303714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5" name="Line 131">
              <a:extLst>
                <a:ext uri="{FF2B5EF4-FFF2-40B4-BE49-F238E27FC236}">
                  <a16:creationId xmlns:a16="http://schemas.microsoft.com/office/drawing/2014/main" id="{1EBC9B02-BAF5-9A6F-12D4-5EEFFDFA2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3037145"/>
              <a:ext cx="83578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6" name="Line 132">
              <a:extLst>
                <a:ext uri="{FF2B5EF4-FFF2-40B4-BE49-F238E27FC236}">
                  <a16:creationId xmlns:a16="http://schemas.microsoft.com/office/drawing/2014/main" id="{AA3BC222-E3D9-2085-AEF8-048C303A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3774173"/>
              <a:ext cx="0" cy="104159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7" name="Text Box 133">
              <a:extLst>
                <a:ext uri="{FF2B5EF4-FFF2-40B4-BE49-F238E27FC236}">
                  <a16:creationId xmlns:a16="http://schemas.microsoft.com/office/drawing/2014/main" id="{A2C95BC2-D9E3-69F6-79DE-D38EC9F94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678" y="1449977"/>
              <a:ext cx="78736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ID/EX</a:t>
              </a:r>
            </a:p>
          </p:txBody>
        </p:sp>
        <p:sp>
          <p:nvSpPr>
            <p:cNvPr id="128" name="Text Box 134">
              <a:extLst>
                <a:ext uri="{FF2B5EF4-FFF2-40B4-BE49-F238E27FC236}">
                  <a16:creationId xmlns:a16="http://schemas.microsoft.com/office/drawing/2014/main" id="{77F84CA9-0BB9-145A-E0FA-6F2D9AD49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8680" y="1626984"/>
              <a:ext cx="1095141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EX/MEM</a:t>
              </a:r>
            </a:p>
          </p:txBody>
        </p:sp>
        <p:sp>
          <p:nvSpPr>
            <p:cNvPr id="129" name="Text Box 135">
              <a:extLst>
                <a:ext uri="{FF2B5EF4-FFF2-40B4-BE49-F238E27FC236}">
                  <a16:creationId xmlns:a16="http://schemas.microsoft.com/office/drawing/2014/main" id="{B7B7BDF4-D461-90B3-9297-8F802F34C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5040" y="2394056"/>
              <a:ext cx="117208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MEM/WB</a:t>
              </a:r>
            </a:p>
          </p:txBody>
        </p:sp>
        <p:sp>
          <p:nvSpPr>
            <p:cNvPr id="154" name="Line 13">
              <a:extLst>
                <a:ext uri="{FF2B5EF4-FFF2-40B4-BE49-F238E27FC236}">
                  <a16:creationId xmlns:a16="http://schemas.microsoft.com/office/drawing/2014/main" id="{2FCE4DC9-2389-AE56-4E66-F2C569FC1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6799" y="391305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5" name="Line 110">
              <a:extLst>
                <a:ext uri="{FF2B5EF4-FFF2-40B4-BE49-F238E27FC236}">
                  <a16:creationId xmlns:a16="http://schemas.microsoft.com/office/drawing/2014/main" id="{125412EB-0058-531A-120F-D6501A8B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093529"/>
              <a:ext cx="0" cy="23687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6" name="Line 8">
              <a:extLst>
                <a:ext uri="{FF2B5EF4-FFF2-40B4-BE49-F238E27FC236}">
                  <a16:creationId xmlns:a16="http://schemas.microsoft.com/office/drawing/2014/main" id="{284F9856-FEA0-9912-730D-E60AF89D5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326892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7" name="Line 9">
              <a:extLst>
                <a:ext uri="{FF2B5EF4-FFF2-40B4-BE49-F238E27FC236}">
                  <a16:creationId xmlns:a16="http://schemas.microsoft.com/office/drawing/2014/main" id="{EF50FE4F-426F-034A-176B-AD9CD875C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201" y="5326892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8" name="AutoShape 67">
              <a:extLst>
                <a:ext uri="{FF2B5EF4-FFF2-40B4-BE49-F238E27FC236}">
                  <a16:creationId xmlns:a16="http://schemas.microsoft.com/office/drawing/2014/main" id="{B223882A-1F9C-A302-66BC-108C373376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0498" y="5024784"/>
              <a:ext cx="565593" cy="236773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9" name="Rectangle 70">
              <a:extLst>
                <a:ext uri="{FF2B5EF4-FFF2-40B4-BE49-F238E27FC236}">
                  <a16:creationId xmlns:a16="http://schemas.microsoft.com/office/drawing/2014/main" id="{8BF9BEFE-6D26-7E08-B667-3D085B668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139" y="5177696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0" name="Line 10">
              <a:extLst>
                <a:ext uri="{FF2B5EF4-FFF2-40B4-BE49-F238E27FC236}">
                  <a16:creationId xmlns:a16="http://schemas.microsoft.com/office/drawing/2014/main" id="{54CDD31E-E476-A86A-5A20-614734480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753" y="5093529"/>
              <a:ext cx="100806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3" name="Text Box 30">
              <a:extLst>
                <a:ext uri="{FF2B5EF4-FFF2-40B4-BE49-F238E27FC236}">
                  <a16:creationId xmlns:a16="http://schemas.microsoft.com/office/drawing/2014/main" id="{281B46CD-E4D4-9843-C9E9-B063CE2FD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014" y="3367716"/>
              <a:ext cx="50042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Zero</a:t>
              </a:r>
            </a:p>
          </p:txBody>
        </p:sp>
        <p:sp>
          <p:nvSpPr>
            <p:cNvPr id="164" name="Line 124">
              <a:extLst>
                <a:ext uri="{FF2B5EF4-FFF2-40B4-BE49-F238E27FC236}">
                  <a16:creationId xmlns:a16="http://schemas.microsoft.com/office/drawing/2014/main" id="{D6C77003-B91D-292A-D0ED-28834BAE0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3180" y="1794328"/>
              <a:ext cx="0" cy="123657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6" name="Rectangle 70">
              <a:extLst>
                <a:ext uri="{FF2B5EF4-FFF2-40B4-BE49-F238E27FC236}">
                  <a16:creationId xmlns:a16="http://schemas.microsoft.com/office/drawing/2014/main" id="{B6F9E2BD-EC7F-9EA6-D2F5-99165ECA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050" y="4958616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7" name="Rectangle 70">
              <a:extLst>
                <a:ext uri="{FF2B5EF4-FFF2-40B4-BE49-F238E27FC236}">
                  <a16:creationId xmlns:a16="http://schemas.microsoft.com/office/drawing/2014/main" id="{029FD17A-58B6-584E-AA22-CB91D12F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380" y="4190812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8" name="Rectangle 70">
              <a:extLst>
                <a:ext uri="{FF2B5EF4-FFF2-40B4-BE49-F238E27FC236}">
                  <a16:creationId xmlns:a16="http://schemas.microsoft.com/office/drawing/2014/main" id="{BCC79F90-FB79-A995-3187-AB5651073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337" y="3913052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9" name="Rectangle 70">
              <a:extLst>
                <a:ext uri="{FF2B5EF4-FFF2-40B4-BE49-F238E27FC236}">
                  <a16:creationId xmlns:a16="http://schemas.microsoft.com/office/drawing/2014/main" id="{666865C7-399F-10BD-9AB1-82D7A26D4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767" y="1292554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0" name="Rectangle 70">
              <a:extLst>
                <a:ext uri="{FF2B5EF4-FFF2-40B4-BE49-F238E27FC236}">
                  <a16:creationId xmlns:a16="http://schemas.microsoft.com/office/drawing/2014/main" id="{2EB333AE-CD6F-4E7C-C89C-7281BEE18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678" y="1561154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71" name="Text Box 32">
              <a:extLst>
                <a:ext uri="{FF2B5EF4-FFF2-40B4-BE49-F238E27FC236}">
                  <a16:creationId xmlns:a16="http://schemas.microsoft.com/office/drawing/2014/main" id="{BF7EFBE6-E30F-7AFE-367C-4187CA7F8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5656" y="248015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172" name="Rectangle 70">
              <a:extLst>
                <a:ext uri="{FF2B5EF4-FFF2-40B4-BE49-F238E27FC236}">
                  <a16:creationId xmlns:a16="http://schemas.microsoft.com/office/drawing/2014/main" id="{807AD728-38B0-7D8D-93E5-1D6C0FDDB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72" y="3734735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3" name="Rectangle 70">
              <a:extLst>
                <a:ext uri="{FF2B5EF4-FFF2-40B4-BE49-F238E27FC236}">
                  <a16:creationId xmlns:a16="http://schemas.microsoft.com/office/drawing/2014/main" id="{68E7A216-F9A6-307E-6BEA-17C1B1D18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8683" y="4003335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53" name="Line 118">
              <a:extLst>
                <a:ext uri="{FF2B5EF4-FFF2-40B4-BE49-F238E27FC236}">
                  <a16:creationId xmlns:a16="http://schemas.microsoft.com/office/drawing/2014/main" id="{0FA0E142-B820-A5D6-4056-8D05A2A4D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8069" y="4143847"/>
              <a:ext cx="118182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2" name="Line 118">
              <a:extLst>
                <a:ext uri="{FF2B5EF4-FFF2-40B4-BE49-F238E27FC236}">
                  <a16:creationId xmlns:a16="http://schemas.microsoft.com/office/drawing/2014/main" id="{FCA325FD-4210-4C70-198D-E99EDC7C0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78960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72EC27F-0B7B-F9D9-9FC2-E75465E2022C}"/>
                </a:ext>
              </a:extLst>
            </p:cNvPr>
            <p:cNvSpPr/>
            <p:nvPr/>
          </p:nvSpPr>
          <p:spPr>
            <a:xfrm>
              <a:off x="1778065" y="2094312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1001BBC3-8F5E-5382-C401-1639E88C0240}"/>
                </a:ext>
              </a:extLst>
            </p:cNvPr>
            <p:cNvSpPr/>
            <p:nvPr/>
          </p:nvSpPr>
          <p:spPr>
            <a:xfrm>
              <a:off x="5785707" y="2316635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76832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694" y="3018080"/>
            <a:ext cx="642457" cy="1304822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290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D22FAA8-48E7-EE2D-5780-835DBEF32F23}"/>
              </a:ext>
            </a:extLst>
          </p:cNvPr>
          <p:cNvSpPr txBox="1"/>
          <p:nvPr/>
        </p:nvSpPr>
        <p:spPr>
          <a:xfrm>
            <a:off x="237079" y="6057745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取指令并存入</a:t>
            </a:r>
            <a:r>
              <a:rPr lang="en-US" altLang="zh-CN" dirty="0">
                <a:ea typeface="SimHei" panose="02010609060101010101" pitchFamily="49" charset="-122"/>
              </a:rPr>
              <a:t>IF/ID</a:t>
            </a:r>
          </a:p>
          <a:p>
            <a:pPr algn="ctr"/>
            <a:r>
              <a:rPr lang="en-US" altLang="zh-CN" dirty="0">
                <a:ea typeface="SimHei" panose="02010609060101010101" pitchFamily="49" charset="-122"/>
              </a:rPr>
              <a:t>PC=PC+4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D545662-1BC7-1F4B-5483-4DDF18A3B72A}"/>
              </a:ext>
            </a:extLst>
          </p:cNvPr>
          <p:cNvCxnSpPr>
            <a:cxnSpLocks/>
          </p:cNvCxnSpPr>
          <p:nvPr/>
        </p:nvCxnSpPr>
        <p:spPr>
          <a:xfrm>
            <a:off x="329006" y="5734975"/>
            <a:ext cx="228244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0CBF751-7B2B-D848-90BE-6A927E9C1BC2}"/>
              </a:ext>
            </a:extLst>
          </p:cNvPr>
          <p:cNvSpPr txBox="1"/>
          <p:nvPr/>
        </p:nvSpPr>
        <p:spPr>
          <a:xfrm>
            <a:off x="979091" y="5356881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F5CC892-FFC5-A6E3-9921-9E991D13C80F}"/>
              </a:ext>
            </a:extLst>
          </p:cNvPr>
          <p:cNvSpPr txBox="1"/>
          <p:nvPr/>
        </p:nvSpPr>
        <p:spPr>
          <a:xfrm>
            <a:off x="567635" y="5736741"/>
            <a:ext cx="184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9" name="Rectangle 26">
            <a:extLst>
              <a:ext uri="{FF2B5EF4-FFF2-40B4-BE49-F238E27FC236}">
                <a16:creationId xmlns:a16="http://schemas.microsoft.com/office/drawing/2014/main" id="{0DA79EA5-7664-8C7D-FFA5-1540845D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0" name="Line 34">
            <a:extLst>
              <a:ext uri="{FF2B5EF4-FFF2-40B4-BE49-F238E27FC236}">
                <a16:creationId xmlns:a16="http://schemas.microsoft.com/office/drawing/2014/main" id="{62727A00-D435-DA0E-9C88-2C2573265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5530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679" y="2925089"/>
            <a:ext cx="642457" cy="1566000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58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828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626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9E87431-6197-9607-1656-3811A4AF438C}"/>
              </a:ext>
            </a:extLst>
          </p:cNvPr>
          <p:cNvSpPr txBox="1"/>
          <p:nvPr/>
        </p:nvSpPr>
        <p:spPr>
          <a:xfrm>
            <a:off x="4117546" y="5850863"/>
            <a:ext cx="2857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寄存器读取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立即数扩展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ID/EX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1EB2FFB-EED4-18A3-011C-3007EDA4B79C}"/>
              </a:ext>
            </a:extLst>
          </p:cNvPr>
          <p:cNvCxnSpPr>
            <a:cxnSpLocks/>
          </p:cNvCxnSpPr>
          <p:nvPr/>
        </p:nvCxnSpPr>
        <p:spPr>
          <a:xfrm>
            <a:off x="2569398" y="6143418"/>
            <a:ext cx="2106912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8078E75-3078-DA32-68CD-23B438971D3E}"/>
              </a:ext>
            </a:extLst>
          </p:cNvPr>
          <p:cNvSpPr txBox="1"/>
          <p:nvPr/>
        </p:nvSpPr>
        <p:spPr>
          <a:xfrm>
            <a:off x="3200104" y="577071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33DB6F7-7F1D-23A4-8CE1-F51619B8DC7A}"/>
              </a:ext>
            </a:extLst>
          </p:cNvPr>
          <p:cNvSpPr txBox="1"/>
          <p:nvPr/>
        </p:nvSpPr>
        <p:spPr>
          <a:xfrm>
            <a:off x="2625888" y="6145747"/>
            <a:ext cx="2048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Decode/</a:t>
            </a:r>
          </a:p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Register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48463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solidFill>
            <a:srgbClr val="A6E2F9"/>
          </a:solidFill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214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778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A10E99D-C05C-79DC-F82A-476FA612FC8C}"/>
              </a:ext>
            </a:extLst>
          </p:cNvPr>
          <p:cNvCxnSpPr>
            <a:cxnSpLocks/>
          </p:cNvCxnSpPr>
          <p:nvPr/>
        </p:nvCxnSpPr>
        <p:spPr>
          <a:xfrm>
            <a:off x="4678454" y="6137159"/>
            <a:ext cx="164870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7B296FA-289C-C554-A4C1-C7B2C6A5BA9A}"/>
              </a:ext>
            </a:extLst>
          </p:cNvPr>
          <p:cNvSpPr txBox="1"/>
          <p:nvPr/>
        </p:nvSpPr>
        <p:spPr>
          <a:xfrm>
            <a:off x="5013314" y="5767174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C0D3FC2-9DBA-DEB9-2069-79C2BFF564FC}"/>
              </a:ext>
            </a:extLst>
          </p:cNvPr>
          <p:cNvSpPr txBox="1"/>
          <p:nvPr/>
        </p:nvSpPr>
        <p:spPr>
          <a:xfrm>
            <a:off x="4470770" y="6138467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Execution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EC10233-436D-C6E3-27C2-D2CE61B022C7}"/>
              </a:ext>
            </a:extLst>
          </p:cNvPr>
          <p:cNvSpPr txBox="1"/>
          <p:nvPr/>
        </p:nvSpPr>
        <p:spPr>
          <a:xfrm>
            <a:off x="6345845" y="5808956"/>
            <a:ext cx="236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ALU</a:t>
            </a:r>
            <a:r>
              <a:rPr lang="zh-CN" altLang="en-US" dirty="0">
                <a:ea typeface="SimHei" panose="02010609060101010101" pitchFamily="49" charset="-122"/>
              </a:rPr>
              <a:t>计算访存地址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EX/MEM</a:t>
            </a:r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99875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85" y="3190078"/>
            <a:ext cx="642457" cy="1107847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60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20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201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9B42F091-8462-C333-073B-BB833F47C84F}"/>
              </a:ext>
            </a:extLst>
          </p:cNvPr>
          <p:cNvCxnSpPr>
            <a:cxnSpLocks/>
          </p:cNvCxnSpPr>
          <p:nvPr/>
        </p:nvCxnSpPr>
        <p:spPr>
          <a:xfrm flipV="1">
            <a:off x="6353882" y="6093085"/>
            <a:ext cx="1773936" cy="1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09B71F1-1DAF-F89D-030F-27EC2B47D2D9}"/>
              </a:ext>
            </a:extLst>
          </p:cNvPr>
          <p:cNvSpPr txBox="1"/>
          <p:nvPr/>
        </p:nvSpPr>
        <p:spPr>
          <a:xfrm>
            <a:off x="6761596" y="572375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9BD41F0-F207-4509-6656-AE542D6EE7A7}"/>
              </a:ext>
            </a:extLst>
          </p:cNvPr>
          <p:cNvSpPr txBox="1"/>
          <p:nvPr/>
        </p:nvSpPr>
        <p:spPr>
          <a:xfrm>
            <a:off x="6219052" y="6103793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Memory Access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9D28F21-3341-B8C1-50CA-1F9CAA8286F7}"/>
              </a:ext>
            </a:extLst>
          </p:cNvPr>
          <p:cNvSpPr txBox="1"/>
          <p:nvPr/>
        </p:nvSpPr>
        <p:spPr>
          <a:xfrm>
            <a:off x="4029749" y="5847938"/>
            <a:ext cx="223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数据内存读取，存入</a:t>
            </a:r>
            <a:r>
              <a:rPr lang="en-US" altLang="zh-CN" dirty="0">
                <a:ea typeface="SimHei" panose="02010609060101010101" pitchFamily="49" charset="-122"/>
              </a:rPr>
              <a:t>MEM/WB &amp; MDR</a:t>
            </a:r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0834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324" y="2922132"/>
            <a:ext cx="642457" cy="1573273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61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686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FE22003-237E-9258-5A91-E2812761303D}"/>
              </a:ext>
            </a:extLst>
          </p:cNvPr>
          <p:cNvCxnSpPr>
            <a:cxnSpLocks/>
          </p:cNvCxnSpPr>
          <p:nvPr/>
        </p:nvCxnSpPr>
        <p:spPr>
          <a:xfrm>
            <a:off x="8133571" y="6152756"/>
            <a:ext cx="800481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C73B19C-AC49-01AC-A713-8BBAA8BA681F}"/>
              </a:ext>
            </a:extLst>
          </p:cNvPr>
          <p:cNvSpPr txBox="1"/>
          <p:nvPr/>
        </p:nvSpPr>
        <p:spPr>
          <a:xfrm>
            <a:off x="8052227" y="5745292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2C2829D-AFDB-EB15-EA76-3421EDC68286}"/>
              </a:ext>
            </a:extLst>
          </p:cNvPr>
          <p:cNvSpPr txBox="1"/>
          <p:nvPr/>
        </p:nvSpPr>
        <p:spPr>
          <a:xfrm>
            <a:off x="6555894" y="5898935"/>
            <a:ext cx="118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Write Back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AC5F5EE-9145-7345-8F9D-2AB65D065F35}"/>
              </a:ext>
            </a:extLst>
          </p:cNvPr>
          <p:cNvSpPr txBox="1"/>
          <p:nvPr/>
        </p:nvSpPr>
        <p:spPr>
          <a:xfrm>
            <a:off x="6030142" y="6155398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数据写回寄存器堆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id="{CB9ABD7D-0ADD-B601-70A7-D6842F9C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192" y="6059451"/>
            <a:ext cx="50860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01700" indent="-9017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注意：</a:t>
            </a:r>
            <a:r>
              <a:rPr lang="en-US" altLang="zh-CN" sz="2000" b="0" dirty="0">
                <a:latin typeface="+mn-lt"/>
                <a:ea typeface="SimHei" panose="02010609060101010101" pitchFamily="49" charset="-122"/>
              </a:rPr>
              <a:t>WB</a:t>
            </a:r>
            <a:r>
              <a:rPr lang="zh-CN" altLang="en-US" sz="2000" b="0" dirty="0">
                <a:latin typeface="+mn-lt"/>
                <a:ea typeface="SimHei" panose="02010609060101010101" pitchFamily="49" charset="-122"/>
              </a:rPr>
              <a:t>是流水线的最后一个阶段</a:t>
            </a:r>
          </a:p>
        </p:txBody>
      </p:sp>
    </p:spTree>
    <p:extLst>
      <p:ext uri="{BB962C8B-B14F-4D97-AF65-F5344CB8AC3E}">
        <p14:creationId xmlns:p14="http://schemas.microsoft.com/office/powerpoint/2010/main" val="34696974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324" y="2922132"/>
            <a:ext cx="642457" cy="1573273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LW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62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686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FE22003-237E-9258-5A91-E2812761303D}"/>
              </a:ext>
            </a:extLst>
          </p:cNvPr>
          <p:cNvCxnSpPr>
            <a:cxnSpLocks/>
          </p:cNvCxnSpPr>
          <p:nvPr/>
        </p:nvCxnSpPr>
        <p:spPr>
          <a:xfrm>
            <a:off x="8133571" y="6152756"/>
            <a:ext cx="800481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C73B19C-AC49-01AC-A713-8BBAA8BA681F}"/>
              </a:ext>
            </a:extLst>
          </p:cNvPr>
          <p:cNvSpPr txBox="1"/>
          <p:nvPr/>
        </p:nvSpPr>
        <p:spPr>
          <a:xfrm>
            <a:off x="8052227" y="5745292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LW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2C2829D-AFDB-EB15-EA76-3421EDC68286}"/>
              </a:ext>
            </a:extLst>
          </p:cNvPr>
          <p:cNvSpPr txBox="1"/>
          <p:nvPr/>
        </p:nvSpPr>
        <p:spPr>
          <a:xfrm>
            <a:off x="6555894" y="5898935"/>
            <a:ext cx="118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Write Back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AC5F5EE-9145-7345-8F9D-2AB65D065F35}"/>
              </a:ext>
            </a:extLst>
          </p:cNvPr>
          <p:cNvSpPr txBox="1"/>
          <p:nvPr/>
        </p:nvSpPr>
        <p:spPr>
          <a:xfrm>
            <a:off x="6030142" y="6155398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数据写回寄存器堆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16A423-58B6-CBCA-E1FD-1B5ECF4094CE}"/>
              </a:ext>
            </a:extLst>
          </p:cNvPr>
          <p:cNvSpPr txBox="1"/>
          <p:nvPr/>
        </p:nvSpPr>
        <p:spPr>
          <a:xfrm>
            <a:off x="7278685" y="1327805"/>
            <a:ext cx="1996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8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如果不需要读取</a:t>
            </a:r>
            <a:r>
              <a:rPr lang="en-US" altLang="zh-CN" sz="18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Data Memory</a:t>
            </a:r>
            <a:r>
              <a:rPr lang="zh-CN" altLang="en-US" sz="18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，可以直接跳过吗？</a:t>
            </a:r>
            <a:endParaRPr lang="zh-CN" altLang="en-US" sz="1800" dirty="0"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CBEA1443-75A6-E10B-DADA-7E052C2C95DD}"/>
              </a:ext>
            </a:extLst>
          </p:cNvPr>
          <p:cNvSpPr/>
          <p:nvPr/>
        </p:nvSpPr>
        <p:spPr>
          <a:xfrm>
            <a:off x="6176674" y="3252700"/>
            <a:ext cx="1956897" cy="1701949"/>
          </a:xfrm>
          <a:prstGeom prst="arc">
            <a:avLst>
              <a:gd name="adj1" fmla="val 12019795"/>
              <a:gd name="adj2" fmla="val 204930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9105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694" y="3018080"/>
            <a:ext cx="642457" cy="1304822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63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290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D22FAA8-48E7-EE2D-5780-835DBEF32F23}"/>
              </a:ext>
            </a:extLst>
          </p:cNvPr>
          <p:cNvSpPr txBox="1"/>
          <p:nvPr/>
        </p:nvSpPr>
        <p:spPr>
          <a:xfrm>
            <a:off x="237079" y="6057745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取指令并存入</a:t>
            </a:r>
            <a:r>
              <a:rPr lang="en-US" altLang="zh-CN" dirty="0">
                <a:ea typeface="SimHei" panose="02010609060101010101" pitchFamily="49" charset="-122"/>
              </a:rPr>
              <a:t>IF/ID</a:t>
            </a:r>
          </a:p>
          <a:p>
            <a:pPr algn="ctr"/>
            <a:r>
              <a:rPr lang="en-US" altLang="zh-CN" dirty="0">
                <a:ea typeface="SimHei" panose="02010609060101010101" pitchFamily="49" charset="-122"/>
              </a:rPr>
              <a:t>PC=PC+4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D545662-1BC7-1F4B-5483-4DDF18A3B72A}"/>
              </a:ext>
            </a:extLst>
          </p:cNvPr>
          <p:cNvCxnSpPr>
            <a:cxnSpLocks/>
          </p:cNvCxnSpPr>
          <p:nvPr/>
        </p:nvCxnSpPr>
        <p:spPr>
          <a:xfrm>
            <a:off x="329006" y="5734975"/>
            <a:ext cx="228244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0CBF751-7B2B-D848-90BE-6A927E9C1BC2}"/>
              </a:ext>
            </a:extLst>
          </p:cNvPr>
          <p:cNvSpPr txBox="1"/>
          <p:nvPr/>
        </p:nvSpPr>
        <p:spPr>
          <a:xfrm>
            <a:off x="979091" y="5356881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F5CC892-FFC5-A6E3-9921-9E991D13C80F}"/>
              </a:ext>
            </a:extLst>
          </p:cNvPr>
          <p:cNvSpPr txBox="1"/>
          <p:nvPr/>
        </p:nvSpPr>
        <p:spPr>
          <a:xfrm>
            <a:off x="567635" y="5736741"/>
            <a:ext cx="184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313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679" y="2925089"/>
            <a:ext cx="642457" cy="1566000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828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626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9E87431-6197-9607-1656-3811A4AF438C}"/>
              </a:ext>
            </a:extLst>
          </p:cNvPr>
          <p:cNvSpPr txBox="1"/>
          <p:nvPr/>
        </p:nvSpPr>
        <p:spPr>
          <a:xfrm>
            <a:off x="4117546" y="5850863"/>
            <a:ext cx="2857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寄存器读取</a:t>
            </a:r>
            <a:r>
              <a:rPr lang="en-US" altLang="zh-CN" dirty="0">
                <a:ea typeface="SimHei" panose="02010609060101010101" pitchFamily="49" charset="-122"/>
              </a:rPr>
              <a:t> </a:t>
            </a: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不存在立即数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ID/EX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1EB2FFB-EED4-18A3-011C-3007EDA4B79C}"/>
              </a:ext>
            </a:extLst>
          </p:cNvPr>
          <p:cNvCxnSpPr>
            <a:cxnSpLocks/>
          </p:cNvCxnSpPr>
          <p:nvPr/>
        </p:nvCxnSpPr>
        <p:spPr>
          <a:xfrm>
            <a:off x="2569398" y="6143418"/>
            <a:ext cx="2106912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8078E75-3078-DA32-68CD-23B438971D3E}"/>
              </a:ext>
            </a:extLst>
          </p:cNvPr>
          <p:cNvSpPr txBox="1"/>
          <p:nvPr/>
        </p:nvSpPr>
        <p:spPr>
          <a:xfrm>
            <a:off x="3200104" y="577071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33DB6F7-7F1D-23A4-8CE1-F51619B8DC7A}"/>
              </a:ext>
            </a:extLst>
          </p:cNvPr>
          <p:cNvSpPr txBox="1"/>
          <p:nvPr/>
        </p:nvSpPr>
        <p:spPr>
          <a:xfrm>
            <a:off x="2625888" y="6145747"/>
            <a:ext cx="2048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Decode/</a:t>
            </a:r>
          </a:p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Register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37644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65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solidFill>
            <a:srgbClr val="A6E2F9"/>
          </a:solidFill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214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778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A10E99D-C05C-79DC-F82A-476FA612FC8C}"/>
              </a:ext>
            </a:extLst>
          </p:cNvPr>
          <p:cNvCxnSpPr>
            <a:cxnSpLocks/>
          </p:cNvCxnSpPr>
          <p:nvPr/>
        </p:nvCxnSpPr>
        <p:spPr>
          <a:xfrm>
            <a:off x="4678454" y="6137159"/>
            <a:ext cx="164870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7B296FA-289C-C554-A4C1-C7B2C6A5BA9A}"/>
              </a:ext>
            </a:extLst>
          </p:cNvPr>
          <p:cNvSpPr txBox="1"/>
          <p:nvPr/>
        </p:nvSpPr>
        <p:spPr>
          <a:xfrm>
            <a:off x="5013314" y="5767174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C0D3FC2-9DBA-DEB9-2069-79C2BFF564FC}"/>
              </a:ext>
            </a:extLst>
          </p:cNvPr>
          <p:cNvSpPr txBox="1"/>
          <p:nvPr/>
        </p:nvSpPr>
        <p:spPr>
          <a:xfrm>
            <a:off x="4470770" y="6138467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Execution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EC10233-436D-C6E3-27C2-D2CE61B022C7}"/>
              </a:ext>
            </a:extLst>
          </p:cNvPr>
          <p:cNvSpPr txBox="1"/>
          <p:nvPr/>
        </p:nvSpPr>
        <p:spPr>
          <a:xfrm>
            <a:off x="6345845" y="5808956"/>
            <a:ext cx="236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ALU</a:t>
            </a:r>
            <a:r>
              <a:rPr lang="zh-CN" altLang="en-US" dirty="0">
                <a:ea typeface="SimHei" panose="02010609060101010101" pitchFamily="49" charset="-122"/>
              </a:rPr>
              <a:t>计算结果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EX/MEM</a:t>
            </a:r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839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66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20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201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9B42F091-8462-C333-073B-BB833F47C84F}"/>
              </a:ext>
            </a:extLst>
          </p:cNvPr>
          <p:cNvCxnSpPr>
            <a:cxnSpLocks/>
          </p:cNvCxnSpPr>
          <p:nvPr/>
        </p:nvCxnSpPr>
        <p:spPr>
          <a:xfrm flipV="1">
            <a:off x="6353882" y="6093085"/>
            <a:ext cx="1773936" cy="1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09B71F1-1DAF-F89D-030F-27EC2B47D2D9}"/>
              </a:ext>
            </a:extLst>
          </p:cNvPr>
          <p:cNvSpPr txBox="1"/>
          <p:nvPr/>
        </p:nvSpPr>
        <p:spPr>
          <a:xfrm>
            <a:off x="6761596" y="572375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9BD41F0-F207-4509-6656-AE542D6EE7A7}"/>
              </a:ext>
            </a:extLst>
          </p:cNvPr>
          <p:cNvSpPr txBox="1"/>
          <p:nvPr/>
        </p:nvSpPr>
        <p:spPr>
          <a:xfrm>
            <a:off x="6219052" y="6103793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Memory Access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9D28F21-3341-B8C1-50CA-1F9CAA8286F7}"/>
              </a:ext>
            </a:extLst>
          </p:cNvPr>
          <p:cNvSpPr txBox="1"/>
          <p:nvPr/>
        </p:nvSpPr>
        <p:spPr>
          <a:xfrm>
            <a:off x="3655677" y="5940032"/>
            <a:ext cx="264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r>
              <a:rPr lang="zh-CN" altLang="en-US" dirty="0">
                <a:ea typeface="SimHei" panose="02010609060101010101" pitchFamily="49" charset="-122"/>
              </a:rPr>
              <a:t>无需读取</a:t>
            </a:r>
            <a:r>
              <a:rPr lang="en-US" altLang="zh-CN" dirty="0">
                <a:ea typeface="SimHei" panose="02010609060101010101" pitchFamily="49" charset="-122"/>
              </a:rPr>
              <a:t>Memory</a:t>
            </a:r>
            <a:r>
              <a:rPr lang="zh-CN" altLang="en-US" dirty="0">
                <a:ea typeface="SimHei" panose="02010609060101010101" pitchFamily="49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5562831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324" y="2922132"/>
            <a:ext cx="642457" cy="1573273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686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FE22003-237E-9258-5A91-E2812761303D}"/>
              </a:ext>
            </a:extLst>
          </p:cNvPr>
          <p:cNvCxnSpPr>
            <a:cxnSpLocks/>
          </p:cNvCxnSpPr>
          <p:nvPr/>
        </p:nvCxnSpPr>
        <p:spPr>
          <a:xfrm>
            <a:off x="8133571" y="6152756"/>
            <a:ext cx="800481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C73B19C-AC49-01AC-A713-8BBAA8BA681F}"/>
              </a:ext>
            </a:extLst>
          </p:cNvPr>
          <p:cNvSpPr txBox="1"/>
          <p:nvPr/>
        </p:nvSpPr>
        <p:spPr>
          <a:xfrm>
            <a:off x="8052227" y="5745292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ADD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2C2829D-AFDB-EB15-EA76-3421EDC68286}"/>
              </a:ext>
            </a:extLst>
          </p:cNvPr>
          <p:cNvSpPr txBox="1"/>
          <p:nvPr/>
        </p:nvSpPr>
        <p:spPr>
          <a:xfrm>
            <a:off x="6555894" y="5898935"/>
            <a:ext cx="118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Write Back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AC5F5EE-9145-7345-8F9D-2AB65D065F35}"/>
              </a:ext>
            </a:extLst>
          </p:cNvPr>
          <p:cNvSpPr txBox="1"/>
          <p:nvPr/>
        </p:nvSpPr>
        <p:spPr>
          <a:xfrm>
            <a:off x="6030142" y="6155398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数据写回寄存器堆</a:t>
            </a:r>
          </a:p>
        </p:txBody>
      </p:sp>
    </p:spTree>
    <p:extLst>
      <p:ext uri="{BB962C8B-B14F-4D97-AF65-F5344CB8AC3E}">
        <p14:creationId xmlns:p14="http://schemas.microsoft.com/office/powerpoint/2010/main" val="994065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68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8D4689-F2F7-E4BA-011C-135CC274396E}"/>
              </a:ext>
            </a:extLst>
          </p:cNvPr>
          <p:cNvGrpSpPr/>
          <p:nvPr/>
        </p:nvGrpSpPr>
        <p:grpSpPr>
          <a:xfrm>
            <a:off x="329006" y="1204898"/>
            <a:ext cx="8618119" cy="4511038"/>
            <a:chOff x="329006" y="1204898"/>
            <a:chExt cx="8618119" cy="4511038"/>
          </a:xfrm>
        </p:grpSpPr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E27AE386-708E-FF3F-3D0E-C4C7A6CE4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5093530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AA3D82AD-5BC7-4E5E-463B-AC9DC5BA3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5093530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79CA08EC-6C1C-2291-8CBC-33FD44FD0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5093530"/>
              <a:ext cx="167155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01FA2EB-D989-B3A3-F186-9C6FC2FFC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0" cy="27775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9C864AF8-CFD1-9FD6-3CFD-DF128670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5541548"/>
              <a:ext cx="562251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A1CE735E-4F0D-1662-1238-A30FBDF7B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5093530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76412A8D-8C12-9576-2704-5A8D17797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879" y="5093530"/>
              <a:ext cx="0" cy="4480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97639C20-6253-F468-49A4-DDA2DB7B6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0365" y="3899306"/>
              <a:ext cx="0" cy="1642241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7F0CFDC4-1570-755A-13E5-7413894CC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3904769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806C5395-F572-D0AD-129D-C02E158F1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06" y="3010335"/>
              <a:ext cx="1291659" cy="131935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E359A231-9EF5-EEC2-49E3-C0C39A7F3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08" y="3357534"/>
              <a:ext cx="243879" cy="763838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P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C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7F60B4D2-D5EA-755C-D52C-11DBBECF8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87" y="3704733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FBD8F2F9-8EE0-6D0A-4EA6-4E0EE5652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866232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DBFBD9CE-8050-1C5B-8156-E60988523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2802015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16383385-07D7-1682-5592-B6377CC2F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247" y="3473905"/>
              <a:ext cx="550120" cy="461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DBCC198D-8F05-B0D7-867F-34D478CF7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631" y="2960993"/>
              <a:ext cx="1132010" cy="584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Instruction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DAA3C887-AD9F-24D9-7326-F1373E8DC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940" y="226966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2F8B6321-C512-CCE6-810D-F3C9202AD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3704733"/>
              <a:ext cx="21200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9DFB4336-EFB9-9F32-3E31-E5B67C28D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786" y="2663136"/>
              <a:ext cx="269595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97CA3F66-EE6E-DD10-D924-B9B43550E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1482658"/>
              <a:ext cx="0" cy="222207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6" name="AutoShape 37">
              <a:extLst>
                <a:ext uri="{FF2B5EF4-FFF2-40B4-BE49-F238E27FC236}">
                  <a16:creationId xmlns:a16="http://schemas.microsoft.com/office/drawing/2014/main" id="{DC6E1BC9-6B97-A6EF-5397-ECF9994BCF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966277" y="1403408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46C3802B-86B9-559A-8BC9-D3D3FEE41F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006" y="1482658"/>
              <a:ext cx="8357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9" name="Line 41">
              <a:extLst>
                <a:ext uri="{FF2B5EF4-FFF2-40B4-BE49-F238E27FC236}">
                  <a16:creationId xmlns:a16="http://schemas.microsoft.com/office/drawing/2014/main" id="{EA015B30-84EC-AB56-FE22-B623FBA94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725" y="1343779"/>
              <a:ext cx="554109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9FDC48DA-0BCA-1E57-15E2-6616DCEB4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2325" y="5715936"/>
              <a:ext cx="59264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1A711A4B-AED4-9912-6E75-3B8BA33C7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264" y="2913409"/>
              <a:ext cx="1291659" cy="158707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90BB6D75-7433-6FC3-00C4-C2BE06910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46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E96132F1-3649-9ABB-EA2A-9F8BDF057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4964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9C453617-4F3C-7E7B-05E7-27A3570F6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726" y="4069515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</p:txBody>
        </p:sp>
        <p:sp>
          <p:nvSpPr>
            <p:cNvPr id="45" name="Text Box 47">
              <a:extLst>
                <a:ext uri="{FF2B5EF4-FFF2-40B4-BE49-F238E27FC236}">
                  <a16:creationId xmlns:a16="http://schemas.microsoft.com/office/drawing/2014/main" id="{8AA49D62-398F-E1BB-8FBE-7F2BBB3D1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642" y="2967621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1</a:t>
              </a: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883B4F85-0058-724F-C198-22807FA72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432" y="3329446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2</a:t>
              </a: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04DF9940-1A51-EE47-706B-174F37143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375" y="3715251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3C91276F-4CAF-88F5-CED5-BE0DC74C9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972" y="3523895"/>
              <a:ext cx="684773" cy="338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Regs</a:t>
              </a: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FADA9C8D-EF5D-4087-C882-7175560EA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047" y="3141428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1</a:t>
              </a:r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1BF4C2A2-DA51-A3F2-66B1-C10748E71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411" y="3892751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2</a:t>
              </a:r>
            </a:p>
          </p:txBody>
        </p:sp>
        <p:sp>
          <p:nvSpPr>
            <p:cNvPr id="51" name="Line 53">
              <a:extLst>
                <a:ext uri="{FF2B5EF4-FFF2-40B4-BE49-F238E27FC236}">
                  <a16:creationId xmlns:a16="http://schemas.microsoft.com/office/drawing/2014/main" id="{0F56481A-9157-9866-7529-42EF0841E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5F0BF8AA-4F8F-0163-DD6C-63BF3E41C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543" y="4749518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Line 55">
              <a:extLst>
                <a:ext uri="{FF2B5EF4-FFF2-40B4-BE49-F238E27FC236}">
                  <a16:creationId xmlns:a16="http://schemas.microsoft.com/office/drawing/2014/main" id="{D1C9C395-CA5C-44F7-F109-5285A2266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54" y="4733847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85A318CD-23B8-5A23-1FDE-9CB4B083B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832" y="4838245"/>
              <a:ext cx="37988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55" name="Text Box 57">
              <a:extLst>
                <a:ext uri="{FF2B5EF4-FFF2-40B4-BE49-F238E27FC236}">
                  <a16:creationId xmlns:a16="http://schemas.microsoft.com/office/drawing/2014/main" id="{029C29B3-C98C-2155-CC5E-B244DE78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003" y="4815770"/>
              <a:ext cx="354554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56" name="Line 58">
              <a:extLst>
                <a:ext uri="{FF2B5EF4-FFF2-40B4-BE49-F238E27FC236}">
                  <a16:creationId xmlns:a16="http://schemas.microsoft.com/office/drawing/2014/main" id="{B659A95A-FA3F-E3C6-06DC-732977FD0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22793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Line 59">
              <a:extLst>
                <a:ext uri="{FF2B5EF4-FFF2-40B4-BE49-F238E27FC236}">
                  <a16:creationId xmlns:a16="http://schemas.microsoft.com/office/drawing/2014/main" id="{EA8E67D8-A69F-BE6A-EAC7-887CD2019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4329692"/>
              <a:ext cx="0" cy="48607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8" name="Line 60">
              <a:extLst>
                <a:ext uri="{FF2B5EF4-FFF2-40B4-BE49-F238E27FC236}">
                  <a16:creationId xmlns:a16="http://schemas.microsoft.com/office/drawing/2014/main" id="{D61446E3-E3F4-D5A3-78AA-09BDA550D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982492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9" name="Line 61">
              <a:extLst>
                <a:ext uri="{FF2B5EF4-FFF2-40B4-BE49-F238E27FC236}">
                  <a16:creationId xmlns:a16="http://schemas.microsoft.com/office/drawing/2014/main" id="{F5705B44-0F51-7A32-3D9B-B520ECBDD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0" cy="166655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687A9150-043D-298F-CB86-9A49902CD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Line 63">
              <a:extLst>
                <a:ext uri="{FF2B5EF4-FFF2-40B4-BE49-F238E27FC236}">
                  <a16:creationId xmlns:a16="http://schemas.microsoft.com/office/drawing/2014/main" id="{25406034-4438-F9BB-9CC2-7C6306ED4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982492"/>
              <a:ext cx="47199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CFDFCBD3-51C8-DC60-AEE2-1ECF0AE1E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483" y="3774173"/>
              <a:ext cx="15151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81875826-2904-B6BD-B78C-38775DF45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622" y="3149214"/>
              <a:ext cx="531860" cy="1180477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235 h 1099"/>
                <a:gd name="T4" fmla="*/ 83 w 388"/>
                <a:gd name="T5" fmla="*/ 305 h 1099"/>
                <a:gd name="T6" fmla="*/ 0 w 388"/>
                <a:gd name="T7" fmla="*/ 370 h 1099"/>
                <a:gd name="T8" fmla="*/ 0 w 388"/>
                <a:gd name="T9" fmla="*/ 605 h 1099"/>
                <a:gd name="T10" fmla="*/ 290 w 388"/>
                <a:gd name="T11" fmla="*/ 436 h 1099"/>
                <a:gd name="T12" fmla="*/ 290 w 388"/>
                <a:gd name="T13" fmla="*/ 170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4" name="Rectangle 66">
              <a:extLst>
                <a:ext uri="{FF2B5EF4-FFF2-40B4-BE49-F238E27FC236}">
                  <a16:creationId xmlns:a16="http://schemas.microsoft.com/office/drawing/2014/main" id="{4F248D35-88F5-CEC6-A999-459AB8C34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180" y="3626888"/>
              <a:ext cx="473292" cy="198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ALU</a:t>
              </a:r>
            </a:p>
          </p:txBody>
        </p:sp>
        <p:sp>
          <p:nvSpPr>
            <p:cNvPr id="65" name="AutoShape 67">
              <a:extLst>
                <a:ext uri="{FF2B5EF4-FFF2-40B4-BE49-F238E27FC236}">
                  <a16:creationId xmlns:a16="http://schemas.microsoft.com/office/drawing/2014/main" id="{E8778C98-357D-79B9-9717-A8A364F49C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74612" y="4005956"/>
              <a:ext cx="694398" cy="227940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E2FD2C93-8EF8-374E-6C26-E27D99D0D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813" y="4121372"/>
              <a:ext cx="1308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Line 71">
              <a:extLst>
                <a:ext uri="{FF2B5EF4-FFF2-40B4-BE49-F238E27FC236}">
                  <a16:creationId xmlns:a16="http://schemas.microsoft.com/office/drawing/2014/main" id="{94545124-B6AF-0C06-CD83-045D247DE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4" y="4329692"/>
              <a:ext cx="36448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9" name="Line 72">
              <a:extLst>
                <a:ext uri="{FF2B5EF4-FFF2-40B4-BE49-F238E27FC236}">
                  <a16:creationId xmlns:a16="http://schemas.microsoft.com/office/drawing/2014/main" id="{F4C5566B-55C4-393C-099B-810D39DAA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357534"/>
              <a:ext cx="81045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0" name="Oval 73">
              <a:extLst>
                <a:ext uri="{FF2B5EF4-FFF2-40B4-BE49-F238E27FC236}">
                  <a16:creationId xmlns:a16="http://schemas.microsoft.com/office/drawing/2014/main" id="{FA4C9470-D00A-EBC0-0E7F-09B9DEBB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743" y="2663136"/>
              <a:ext cx="455880" cy="486079"/>
            </a:xfrm>
            <a:prstGeom prst="ellips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1" name="Rectangle 74">
              <a:extLst>
                <a:ext uri="{FF2B5EF4-FFF2-40B4-BE49-F238E27FC236}">
                  <a16:creationId xmlns:a16="http://schemas.microsoft.com/office/drawing/2014/main" id="{943A9958-A332-D613-ADD4-7D623C1B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714" y="2782822"/>
              <a:ext cx="441936" cy="239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&lt;&lt;2</a:t>
              </a:r>
            </a:p>
          </p:txBody>
        </p:sp>
        <p:sp>
          <p:nvSpPr>
            <p:cNvPr id="72" name="Line 75">
              <a:extLst>
                <a:ext uri="{FF2B5EF4-FFF2-40B4-BE49-F238E27FC236}">
                  <a16:creationId xmlns:a16="http://schemas.microsoft.com/office/drawing/2014/main" id="{CDE0892F-9824-C384-17EC-9F6903342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2940895"/>
              <a:ext cx="2723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2" name="Line 85">
              <a:extLst>
                <a:ext uri="{FF2B5EF4-FFF2-40B4-BE49-F238E27FC236}">
                  <a16:creationId xmlns:a16="http://schemas.microsoft.com/office/drawing/2014/main" id="{5BECBDB3-7A0F-35E6-2FFF-F7EA685C0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6901" y="294089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3" name="Rectangle 86">
              <a:extLst>
                <a:ext uri="{FF2B5EF4-FFF2-40B4-BE49-F238E27FC236}">
                  <a16:creationId xmlns:a16="http://schemas.microsoft.com/office/drawing/2014/main" id="{FF2C69E3-FC08-CFC2-0475-5D71DADB1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341" y="3184998"/>
              <a:ext cx="1291659" cy="111720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Line 87">
              <a:extLst>
                <a:ext uri="{FF2B5EF4-FFF2-40B4-BE49-F238E27FC236}">
                  <a16:creationId xmlns:a16="http://schemas.microsoft.com/office/drawing/2014/main" id="{CC366717-6C54-572E-F645-FA153A697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3774173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5" name="Text Box 88">
              <a:extLst>
                <a:ext uri="{FF2B5EF4-FFF2-40B4-BE49-F238E27FC236}">
                  <a16:creationId xmlns:a16="http://schemas.microsoft.com/office/drawing/2014/main" id="{9A487E53-391C-9A52-8D21-7A3FF891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3363" y="3164294"/>
              <a:ext cx="830645" cy="523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86" name="Text Box 89">
              <a:extLst>
                <a:ext uri="{FF2B5EF4-FFF2-40B4-BE49-F238E27FC236}">
                  <a16:creationId xmlns:a16="http://schemas.microsoft.com/office/drawing/2014/main" id="{EB150BC4-6C6F-2A58-8545-D3AB587F4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635293"/>
              <a:ext cx="508442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87" name="Text Box 90">
              <a:extLst>
                <a:ext uri="{FF2B5EF4-FFF2-40B4-BE49-F238E27FC236}">
                  <a16:creationId xmlns:a16="http://schemas.microsoft.com/office/drawing/2014/main" id="{447A0FD1-961A-40EE-D937-65E985236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982492"/>
              <a:ext cx="90803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 Data</a:t>
              </a:r>
            </a:p>
          </p:txBody>
        </p:sp>
        <p:sp>
          <p:nvSpPr>
            <p:cNvPr id="88" name="Text Box 91">
              <a:extLst>
                <a:ext uri="{FF2B5EF4-FFF2-40B4-BE49-F238E27FC236}">
                  <a16:creationId xmlns:a16="http://schemas.microsoft.com/office/drawing/2014/main" id="{C93938C3-F62B-5F9F-C112-878EBC1E8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245" y="3630802"/>
              <a:ext cx="91720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Data</a:t>
              </a:r>
            </a:p>
          </p:txBody>
        </p:sp>
        <p:sp>
          <p:nvSpPr>
            <p:cNvPr id="89" name="Line 92">
              <a:extLst>
                <a:ext uri="{FF2B5EF4-FFF2-40B4-BE49-F238E27FC236}">
                  <a16:creationId xmlns:a16="http://schemas.microsoft.com/office/drawing/2014/main" id="{7838ECE6-1364-A505-5F77-23BF4735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4121372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0" name="Line 93">
              <a:extLst>
                <a:ext uri="{FF2B5EF4-FFF2-40B4-BE49-F238E27FC236}">
                  <a16:creationId xmlns:a16="http://schemas.microsoft.com/office/drawing/2014/main" id="{8142F012-9748-5FD4-F65D-95184626A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4121372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1" name="AutoShape 94">
              <a:extLst>
                <a:ext uri="{FF2B5EF4-FFF2-40B4-BE49-F238E27FC236}">
                  <a16:creationId xmlns:a16="http://schemas.microsoft.com/office/drawing/2014/main" id="{C0E26AB4-7102-7BB5-15A3-DB9A980F94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60350" y="3833803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2" name="Line 98">
              <a:extLst>
                <a:ext uri="{FF2B5EF4-FFF2-40B4-BE49-F238E27FC236}">
                  <a16:creationId xmlns:a16="http://schemas.microsoft.com/office/drawing/2014/main" id="{DD3A4DE6-7F49-0E6D-9BFC-E743597C7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357534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3" name="Line 99">
              <a:extLst>
                <a:ext uri="{FF2B5EF4-FFF2-40B4-BE49-F238E27FC236}">
                  <a16:creationId xmlns:a16="http://schemas.microsoft.com/office/drawing/2014/main" id="{49256853-9C80-4F3F-DA0C-4789AA871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0" cy="152512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4" name="Line 100">
              <a:extLst>
                <a:ext uri="{FF2B5EF4-FFF2-40B4-BE49-F238E27FC236}">
                  <a16:creationId xmlns:a16="http://schemas.microsoft.com/office/drawing/2014/main" id="{BDB341A6-0659-739F-A77F-CFBAA0248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52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5" name="Line 101">
              <a:extLst>
                <a:ext uri="{FF2B5EF4-FFF2-40B4-BE49-F238E27FC236}">
                  <a16:creationId xmlns:a16="http://schemas.microsoft.com/office/drawing/2014/main" id="{53A71A40-554E-4C9C-4D7F-5F7F68FA0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1621538"/>
              <a:ext cx="9117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6" name="Line 102">
              <a:extLst>
                <a:ext uri="{FF2B5EF4-FFF2-40B4-BE49-F238E27FC236}">
                  <a16:creationId xmlns:a16="http://schemas.microsoft.com/office/drawing/2014/main" id="{82636A46-5EF8-6C50-DE60-2F1B25EA1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7" name="Line 103">
              <a:extLst>
                <a:ext uri="{FF2B5EF4-FFF2-40B4-BE49-F238E27FC236}">
                  <a16:creationId xmlns:a16="http://schemas.microsoft.com/office/drawing/2014/main" id="{290A03FD-EA07-6F02-CD05-12FC8792B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000" y="3774173"/>
              <a:ext cx="1516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8" name="Rectangle 104">
              <a:extLst>
                <a:ext uri="{FF2B5EF4-FFF2-40B4-BE49-F238E27FC236}">
                  <a16:creationId xmlns:a16="http://schemas.microsoft.com/office/drawing/2014/main" id="{FE4E4301-1A3B-32D4-46DC-8F6CCDF8B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425" y="2315936"/>
              <a:ext cx="151960" cy="201375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9" name="Rectangle 105">
              <a:extLst>
                <a:ext uri="{FF2B5EF4-FFF2-40B4-BE49-F238E27FC236}">
                  <a16:creationId xmlns:a16="http://schemas.microsoft.com/office/drawing/2014/main" id="{0DDBC3A9-6F41-0A68-1210-8E1B9DA54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882" y="1800567"/>
              <a:ext cx="158319" cy="36483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0" name="Line 106">
              <a:extLst>
                <a:ext uri="{FF2B5EF4-FFF2-40B4-BE49-F238E27FC236}">
                  <a16:creationId xmlns:a16="http://schemas.microsoft.com/office/drawing/2014/main" id="{99C67827-6D6A-1E95-5618-81925D28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Line 107">
              <a:extLst>
                <a:ext uri="{FF2B5EF4-FFF2-40B4-BE49-F238E27FC236}">
                  <a16:creationId xmlns:a16="http://schemas.microsoft.com/office/drawing/2014/main" id="{CE335AE4-D686-E337-9947-48E11F158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2524256"/>
              <a:ext cx="189949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2" name="Line 108">
              <a:extLst>
                <a:ext uri="{FF2B5EF4-FFF2-40B4-BE49-F238E27FC236}">
                  <a16:creationId xmlns:a16="http://schemas.microsoft.com/office/drawing/2014/main" id="{A5900C28-091D-306D-630C-BEEE9939B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5718" y="2732575"/>
              <a:ext cx="9972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3" name="Line 109">
              <a:extLst>
                <a:ext uri="{FF2B5EF4-FFF2-40B4-BE49-F238E27FC236}">
                  <a16:creationId xmlns:a16="http://schemas.microsoft.com/office/drawing/2014/main" id="{BC109CAE-C108-CAFA-9592-7A207245F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4815770"/>
              <a:ext cx="10751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4" name="Line 110">
              <a:extLst>
                <a:ext uri="{FF2B5EF4-FFF2-40B4-BE49-F238E27FC236}">
                  <a16:creationId xmlns:a16="http://schemas.microsoft.com/office/drawing/2014/main" id="{8B84CBAE-0C77-4FCC-6A19-0DD1D9705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3982492"/>
              <a:ext cx="0" cy="83327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5" name="Line 111">
              <a:extLst>
                <a:ext uri="{FF2B5EF4-FFF2-40B4-BE49-F238E27FC236}">
                  <a16:creationId xmlns:a16="http://schemas.microsoft.com/office/drawing/2014/main" id="{9E92D52E-58A1-005D-D190-624895D36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4815770"/>
              <a:ext cx="12916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6" name="Rectangle 112">
              <a:extLst>
                <a:ext uri="{FF2B5EF4-FFF2-40B4-BE49-F238E27FC236}">
                  <a16:creationId xmlns:a16="http://schemas.microsoft.com/office/drawing/2014/main" id="{8CE8E128-DB07-2BA7-7A29-1FB91F28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8960" y="2690911"/>
              <a:ext cx="151960" cy="25414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7" name="Line 113">
              <a:extLst>
                <a:ext uri="{FF2B5EF4-FFF2-40B4-BE49-F238E27FC236}">
                  <a16:creationId xmlns:a16="http://schemas.microsoft.com/office/drawing/2014/main" id="{A8D44656-1826-E4DB-D6DF-D0BCFE686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4815770"/>
              <a:ext cx="15955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8" name="Line 114">
              <a:extLst>
                <a:ext uri="{FF2B5EF4-FFF2-40B4-BE49-F238E27FC236}">
                  <a16:creationId xmlns:a16="http://schemas.microsoft.com/office/drawing/2014/main" id="{D639506D-72C1-D5FF-A0AF-43292640B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3774173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Line 115">
              <a:extLst>
                <a:ext uri="{FF2B5EF4-FFF2-40B4-BE49-F238E27FC236}">
                  <a16:creationId xmlns:a16="http://schemas.microsoft.com/office/drawing/2014/main" id="{557C5AC9-0946-CB26-BD66-D6B883459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8759" y="3913052"/>
              <a:ext cx="0" cy="180288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0" name="Line 116">
              <a:extLst>
                <a:ext uri="{FF2B5EF4-FFF2-40B4-BE49-F238E27FC236}">
                  <a16:creationId xmlns:a16="http://schemas.microsoft.com/office/drawing/2014/main" id="{9D5F6BBC-1EA7-4B4F-407F-059D9ADCC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3821" y="1343777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1" name="Line 117">
              <a:extLst>
                <a:ext uri="{FF2B5EF4-FFF2-40B4-BE49-F238E27FC236}">
                  <a16:creationId xmlns:a16="http://schemas.microsoft.com/office/drawing/2014/main" id="{EBFBF49D-8063-B317-C4A4-818A020DC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55441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rgbClr val="ED7D3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Text Box 119">
              <a:extLst>
                <a:ext uri="{FF2B5EF4-FFF2-40B4-BE49-F238E27FC236}">
                  <a16:creationId xmlns:a16="http://schemas.microsoft.com/office/drawing/2014/main" id="{4C9A038A-AEE4-D392-F518-748D679FE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221" y="1924885"/>
              <a:ext cx="684773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IF/ID</a:t>
              </a:r>
            </a:p>
          </p:txBody>
        </p:sp>
        <p:sp>
          <p:nvSpPr>
            <p:cNvPr id="114" name="Line 120">
              <a:extLst>
                <a:ext uri="{FF2B5EF4-FFF2-40B4-BE49-F238E27FC236}">
                  <a16:creationId xmlns:a16="http://schemas.microsoft.com/office/drawing/2014/main" id="{28AD2B0E-5EFF-F06E-4F52-A795712D6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353" y="2940895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Line 121">
              <a:extLst>
                <a:ext uri="{FF2B5EF4-FFF2-40B4-BE49-F238E27FC236}">
                  <a16:creationId xmlns:a16="http://schemas.microsoft.com/office/drawing/2014/main" id="{C456D8F4-5FB7-1279-D1C4-5C3E0BB67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473" y="4815770"/>
              <a:ext cx="57041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6" name="Line 122">
              <a:extLst>
                <a:ext uri="{FF2B5EF4-FFF2-40B4-BE49-F238E27FC236}">
                  <a16:creationId xmlns:a16="http://schemas.microsoft.com/office/drawing/2014/main" id="{D1D1F92A-00E6-436D-B2DF-2E60B191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2524256"/>
              <a:ext cx="10637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7" name="Line 123">
              <a:extLst>
                <a:ext uri="{FF2B5EF4-FFF2-40B4-BE49-F238E27FC236}">
                  <a16:creationId xmlns:a16="http://schemas.microsoft.com/office/drawing/2014/main" id="{396F500F-1FA8-8FCF-CFDC-40D7E9F49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1621538"/>
              <a:ext cx="0" cy="9027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8" name="Line 124">
              <a:extLst>
                <a:ext uri="{FF2B5EF4-FFF2-40B4-BE49-F238E27FC236}">
                  <a16:creationId xmlns:a16="http://schemas.microsoft.com/office/drawing/2014/main" id="{37D8300E-99BD-3866-763F-E255E5EB1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7502" y="3037144"/>
              <a:ext cx="0" cy="38982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9" name="Line 125">
              <a:extLst>
                <a:ext uri="{FF2B5EF4-FFF2-40B4-BE49-F238E27FC236}">
                  <a16:creationId xmlns:a16="http://schemas.microsoft.com/office/drawing/2014/main" id="{15F5F541-D37A-79E9-0E09-DA625914C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0" cy="145823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0" name="Rectangle 126">
              <a:extLst>
                <a:ext uri="{FF2B5EF4-FFF2-40B4-BE49-F238E27FC236}">
                  <a16:creationId xmlns:a16="http://schemas.microsoft.com/office/drawing/2014/main" id="{81C77E3D-3293-7EB8-0900-D6167B9A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441" y="1966185"/>
              <a:ext cx="151960" cy="326622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1" name="Oval 127">
              <a:extLst>
                <a:ext uri="{FF2B5EF4-FFF2-40B4-BE49-F238E27FC236}">
                  <a16:creationId xmlns:a16="http://schemas.microsoft.com/office/drawing/2014/main" id="{FC74BE5D-0687-49D5-AAB4-1A22A3F39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244" y="4607451"/>
              <a:ext cx="810453" cy="416639"/>
            </a:xfrm>
            <a:prstGeom prst="ellipse">
              <a:avLst/>
            </a:prstGeom>
            <a:solidFill>
              <a:sysClr val="window" lastClr="FFFFFF"/>
            </a:solidFill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2" name="Rectangle 128">
              <a:extLst>
                <a:ext uri="{FF2B5EF4-FFF2-40B4-BE49-F238E27FC236}">
                  <a16:creationId xmlns:a16="http://schemas.microsoft.com/office/drawing/2014/main" id="{670E99B1-8F8A-033F-21CD-13F4C8540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04" y="4594606"/>
              <a:ext cx="531860" cy="416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Sign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Extend</a:t>
              </a:r>
            </a:p>
          </p:txBody>
        </p:sp>
        <p:sp>
          <p:nvSpPr>
            <p:cNvPr id="123" name="Line 129">
              <a:extLst>
                <a:ext uri="{FF2B5EF4-FFF2-40B4-BE49-F238E27FC236}">
                  <a16:creationId xmlns:a16="http://schemas.microsoft.com/office/drawing/2014/main" id="{59E9BA4C-AF21-D428-116B-00F569E1D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2732575"/>
              <a:ext cx="5264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4" name="Line 130">
              <a:extLst>
                <a:ext uri="{FF2B5EF4-FFF2-40B4-BE49-F238E27FC236}">
                  <a16:creationId xmlns:a16="http://schemas.microsoft.com/office/drawing/2014/main" id="{BA311DCE-4C69-F8F0-FE36-1391040E2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502" y="303714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5" name="Line 131">
              <a:extLst>
                <a:ext uri="{FF2B5EF4-FFF2-40B4-BE49-F238E27FC236}">
                  <a16:creationId xmlns:a16="http://schemas.microsoft.com/office/drawing/2014/main" id="{1EBC9B02-BAF5-9A6F-12D4-5EEFFDFA2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3037145"/>
              <a:ext cx="83578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6" name="Line 132">
              <a:extLst>
                <a:ext uri="{FF2B5EF4-FFF2-40B4-BE49-F238E27FC236}">
                  <a16:creationId xmlns:a16="http://schemas.microsoft.com/office/drawing/2014/main" id="{AA3BC222-E3D9-2085-AEF8-048C303A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3774173"/>
              <a:ext cx="0" cy="104159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7" name="Text Box 133">
              <a:extLst>
                <a:ext uri="{FF2B5EF4-FFF2-40B4-BE49-F238E27FC236}">
                  <a16:creationId xmlns:a16="http://schemas.microsoft.com/office/drawing/2014/main" id="{A2C95BC2-D9E3-69F6-79DE-D38EC9F94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678" y="1449977"/>
              <a:ext cx="78736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ID/EX</a:t>
              </a:r>
            </a:p>
          </p:txBody>
        </p:sp>
        <p:sp>
          <p:nvSpPr>
            <p:cNvPr id="128" name="Text Box 134">
              <a:extLst>
                <a:ext uri="{FF2B5EF4-FFF2-40B4-BE49-F238E27FC236}">
                  <a16:creationId xmlns:a16="http://schemas.microsoft.com/office/drawing/2014/main" id="{77F84CA9-0BB9-145A-E0FA-6F2D9AD49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8680" y="1626984"/>
              <a:ext cx="1095141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EX/MEM</a:t>
              </a:r>
            </a:p>
          </p:txBody>
        </p:sp>
        <p:sp>
          <p:nvSpPr>
            <p:cNvPr id="129" name="Text Box 135">
              <a:extLst>
                <a:ext uri="{FF2B5EF4-FFF2-40B4-BE49-F238E27FC236}">
                  <a16:creationId xmlns:a16="http://schemas.microsoft.com/office/drawing/2014/main" id="{B7B7BDF4-D461-90B3-9297-8F802F34C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5040" y="2394056"/>
              <a:ext cx="117208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MEM/WB</a:t>
              </a:r>
            </a:p>
          </p:txBody>
        </p:sp>
        <p:sp>
          <p:nvSpPr>
            <p:cNvPr id="154" name="Line 13">
              <a:extLst>
                <a:ext uri="{FF2B5EF4-FFF2-40B4-BE49-F238E27FC236}">
                  <a16:creationId xmlns:a16="http://schemas.microsoft.com/office/drawing/2014/main" id="{2FCE4DC9-2389-AE56-4E66-F2C569FC1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6799" y="391305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5" name="Line 110">
              <a:extLst>
                <a:ext uri="{FF2B5EF4-FFF2-40B4-BE49-F238E27FC236}">
                  <a16:creationId xmlns:a16="http://schemas.microsoft.com/office/drawing/2014/main" id="{125412EB-0058-531A-120F-D6501A8B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093529"/>
              <a:ext cx="0" cy="23687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6" name="Line 8">
              <a:extLst>
                <a:ext uri="{FF2B5EF4-FFF2-40B4-BE49-F238E27FC236}">
                  <a16:creationId xmlns:a16="http://schemas.microsoft.com/office/drawing/2014/main" id="{284F9856-FEA0-9912-730D-E60AF89D5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326892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7" name="Line 9">
              <a:extLst>
                <a:ext uri="{FF2B5EF4-FFF2-40B4-BE49-F238E27FC236}">
                  <a16:creationId xmlns:a16="http://schemas.microsoft.com/office/drawing/2014/main" id="{EF50FE4F-426F-034A-176B-AD9CD875C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201" y="5326892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8" name="AutoShape 67">
              <a:extLst>
                <a:ext uri="{FF2B5EF4-FFF2-40B4-BE49-F238E27FC236}">
                  <a16:creationId xmlns:a16="http://schemas.microsoft.com/office/drawing/2014/main" id="{B223882A-1F9C-A302-66BC-108C373376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0498" y="5024784"/>
              <a:ext cx="565593" cy="236773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9" name="Rectangle 70">
              <a:extLst>
                <a:ext uri="{FF2B5EF4-FFF2-40B4-BE49-F238E27FC236}">
                  <a16:creationId xmlns:a16="http://schemas.microsoft.com/office/drawing/2014/main" id="{8BF9BEFE-6D26-7E08-B667-3D085B668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139" y="5177696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0" name="Line 10">
              <a:extLst>
                <a:ext uri="{FF2B5EF4-FFF2-40B4-BE49-F238E27FC236}">
                  <a16:creationId xmlns:a16="http://schemas.microsoft.com/office/drawing/2014/main" id="{54CDD31E-E476-A86A-5A20-614734480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753" y="5093529"/>
              <a:ext cx="100806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3" name="Text Box 30">
              <a:extLst>
                <a:ext uri="{FF2B5EF4-FFF2-40B4-BE49-F238E27FC236}">
                  <a16:creationId xmlns:a16="http://schemas.microsoft.com/office/drawing/2014/main" id="{281B46CD-E4D4-9843-C9E9-B063CE2FD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014" y="3367716"/>
              <a:ext cx="50042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Zero</a:t>
              </a:r>
            </a:p>
          </p:txBody>
        </p:sp>
        <p:sp>
          <p:nvSpPr>
            <p:cNvPr id="164" name="Line 124">
              <a:extLst>
                <a:ext uri="{FF2B5EF4-FFF2-40B4-BE49-F238E27FC236}">
                  <a16:creationId xmlns:a16="http://schemas.microsoft.com/office/drawing/2014/main" id="{D6C77003-B91D-292A-D0ED-28834BAE0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3180" y="1794328"/>
              <a:ext cx="0" cy="123657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6" name="Rectangle 70">
              <a:extLst>
                <a:ext uri="{FF2B5EF4-FFF2-40B4-BE49-F238E27FC236}">
                  <a16:creationId xmlns:a16="http://schemas.microsoft.com/office/drawing/2014/main" id="{B6F9E2BD-EC7F-9EA6-D2F5-99165ECA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050" y="4958616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7" name="Rectangle 70">
              <a:extLst>
                <a:ext uri="{FF2B5EF4-FFF2-40B4-BE49-F238E27FC236}">
                  <a16:creationId xmlns:a16="http://schemas.microsoft.com/office/drawing/2014/main" id="{029FD17A-58B6-584E-AA22-CB91D12FD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380" y="4190812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68" name="Rectangle 70">
              <a:extLst>
                <a:ext uri="{FF2B5EF4-FFF2-40B4-BE49-F238E27FC236}">
                  <a16:creationId xmlns:a16="http://schemas.microsoft.com/office/drawing/2014/main" id="{BCC79F90-FB79-A995-3187-AB5651073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337" y="3913052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69" name="Rectangle 70">
              <a:extLst>
                <a:ext uri="{FF2B5EF4-FFF2-40B4-BE49-F238E27FC236}">
                  <a16:creationId xmlns:a16="http://schemas.microsoft.com/office/drawing/2014/main" id="{666865C7-399F-10BD-9AB1-82D7A26D4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767" y="1292554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0" name="Rectangle 70">
              <a:extLst>
                <a:ext uri="{FF2B5EF4-FFF2-40B4-BE49-F238E27FC236}">
                  <a16:creationId xmlns:a16="http://schemas.microsoft.com/office/drawing/2014/main" id="{2EB333AE-CD6F-4E7C-C89C-7281BEE18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678" y="1561154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71" name="Text Box 32">
              <a:extLst>
                <a:ext uri="{FF2B5EF4-FFF2-40B4-BE49-F238E27FC236}">
                  <a16:creationId xmlns:a16="http://schemas.microsoft.com/office/drawing/2014/main" id="{BF7EFBE6-E30F-7AFE-367C-4187CA7F8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5656" y="248015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172" name="Rectangle 70">
              <a:extLst>
                <a:ext uri="{FF2B5EF4-FFF2-40B4-BE49-F238E27FC236}">
                  <a16:creationId xmlns:a16="http://schemas.microsoft.com/office/drawing/2014/main" id="{807AD728-38B0-7D8D-93E5-1D6C0FDDB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72" y="3734735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73" name="Rectangle 70">
              <a:extLst>
                <a:ext uri="{FF2B5EF4-FFF2-40B4-BE49-F238E27FC236}">
                  <a16:creationId xmlns:a16="http://schemas.microsoft.com/office/drawing/2014/main" id="{68E7A216-F9A6-307E-6BEA-17C1B1D18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8683" y="4003335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53" name="Line 118">
              <a:extLst>
                <a:ext uri="{FF2B5EF4-FFF2-40B4-BE49-F238E27FC236}">
                  <a16:creationId xmlns:a16="http://schemas.microsoft.com/office/drawing/2014/main" id="{0FA0E142-B820-A5D6-4056-8D05A2A4D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8069" y="4143847"/>
              <a:ext cx="118182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2" name="Line 118">
              <a:extLst>
                <a:ext uri="{FF2B5EF4-FFF2-40B4-BE49-F238E27FC236}">
                  <a16:creationId xmlns:a16="http://schemas.microsoft.com/office/drawing/2014/main" id="{FCA325FD-4210-4C70-198D-E99EDC7C0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78960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72EC27F-0B7B-F9D9-9FC2-E75465E2022C}"/>
                </a:ext>
              </a:extLst>
            </p:cNvPr>
            <p:cNvSpPr/>
            <p:nvPr/>
          </p:nvSpPr>
          <p:spPr>
            <a:xfrm>
              <a:off x="1778065" y="2094312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1001BBC3-8F5E-5382-C401-1639E88C0240}"/>
                </a:ext>
              </a:extLst>
            </p:cNvPr>
            <p:cNvSpPr/>
            <p:nvPr/>
          </p:nvSpPr>
          <p:spPr>
            <a:xfrm>
              <a:off x="5785707" y="2316635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83C1A9C-2009-6CC1-3ECB-6119E9CE03E5}"/>
              </a:ext>
            </a:extLst>
          </p:cNvPr>
          <p:cNvSpPr txBox="1"/>
          <p:nvPr/>
        </p:nvSpPr>
        <p:spPr>
          <a:xfrm>
            <a:off x="219967" y="5843122"/>
            <a:ext cx="6164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SimHei" panose="02010609060101010101" pitchFamily="49" charset="-122"/>
              </a:rPr>
              <a:t>如何获得每个阶段的控制信号？</a:t>
            </a:r>
          </a:p>
        </p:txBody>
      </p:sp>
    </p:spTree>
    <p:extLst>
      <p:ext uri="{BB962C8B-B14F-4D97-AF65-F5344CB8AC3E}">
        <p14:creationId xmlns:p14="http://schemas.microsoft.com/office/powerpoint/2010/main" val="15312374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3036B101-7EA8-74A1-9B3C-FE04E2E6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79" y="4913700"/>
            <a:ext cx="8229600" cy="1722090"/>
          </a:xfrm>
        </p:spPr>
        <p:txBody>
          <a:bodyPr/>
          <a:lstStyle/>
          <a:p>
            <a:r>
              <a:rPr lang="zh-CN" altLang="en-US" sz="2400" dirty="0"/>
              <a:t>控制信号在</a:t>
            </a:r>
            <a:r>
              <a:rPr lang="en-US" altLang="zh-CN" sz="2400" dirty="0"/>
              <a:t>IF</a:t>
            </a:r>
            <a:r>
              <a:rPr lang="zh-CN" altLang="en-US" sz="2400" dirty="0"/>
              <a:t>之后的 </a:t>
            </a:r>
            <a:r>
              <a:rPr lang="en-US" altLang="zh-CN" sz="2400" dirty="0">
                <a:solidFill>
                  <a:srgbClr val="3333FF"/>
                </a:solidFill>
              </a:rPr>
              <a:t>ID/RF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阶段产生</a:t>
            </a:r>
            <a:endParaRPr lang="en-US" altLang="zh-CN" sz="2400" dirty="0"/>
          </a:p>
          <a:p>
            <a:pPr lvl="1"/>
            <a:r>
              <a:rPr lang="zh-CN" altLang="en-US" sz="2000" dirty="0"/>
              <a:t>由控制逻辑电路译码生成</a:t>
            </a:r>
            <a:endParaRPr lang="en-US" altLang="zh-CN" sz="2000" dirty="0"/>
          </a:p>
          <a:p>
            <a:r>
              <a:rPr lang="zh-CN" altLang="en-US" sz="2400" dirty="0"/>
              <a:t>控制信号在流水线中流动</a:t>
            </a:r>
            <a:endParaRPr lang="en-US" altLang="zh-CN" sz="2400" dirty="0"/>
          </a:p>
          <a:p>
            <a:pPr lvl="1"/>
            <a:r>
              <a:rPr lang="zh-CN" altLang="en-US" sz="2000" dirty="0"/>
              <a:t>需要时使用，后面阶段需要时保留，不需要时丢弃</a:t>
            </a:r>
            <a:endParaRPr lang="en-US" altLang="zh-CN" sz="2000" dirty="0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D1B4AFED-3C98-54BB-B9E3-E9176E656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84" y="1244966"/>
            <a:ext cx="6863232" cy="359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883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573" y="4651447"/>
            <a:ext cx="1650999" cy="195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722B04F-0CEE-A87C-64CE-BDE1ACB46DFB}"/>
              </a:ext>
            </a:extLst>
          </p:cNvPr>
          <p:cNvSpPr txBox="1"/>
          <p:nvPr/>
        </p:nvSpPr>
        <p:spPr>
          <a:xfrm>
            <a:off x="2452573" y="6519446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5FBC86F7-50E3-2929-4269-784675EAB0FB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57BC2E4-9B1B-24B2-9164-381CFDEF3D9B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A02E0A-70AA-1E15-2CFC-E91860D59AD4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28553C1-3194-1F7B-60E4-4FDC45F7CC70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7CD387-E447-3CC8-06F5-17B8B5EA14A8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490D5A6-41DA-14F0-ECFD-ECBB6F31CD6B}"/>
                </a:ext>
              </a:extLst>
            </p:cNvPr>
            <p:cNvCxnSpPr>
              <a:stCxn id="3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B2E5BC7-7316-EE62-71A7-A17558196B58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E638B6C-9364-C1EA-75FC-F4E09F014C9C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6E66392-3BDF-5F9B-28DE-A0F4A2DC3A46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0A38CB40-C7D8-EE32-42CC-BEEF987EC18F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4E6EE87-749A-D2B4-413A-E95097206520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6010623C-4E38-CBB9-8A0E-9C5E94E3EE1F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D855B59-F425-3066-EF13-BD9CD5BEFECD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5A9A7F3-E598-9E6A-B612-A97D4FDA5F60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29F1462-9993-9231-5CDD-4CE0A5C2FE30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EEAAB-9E1E-4334-2503-23C643004356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001940B-751A-C747-CE12-3BCF2CECABB4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BFF065F-E212-B90D-B66E-93CAB26D4F79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8A434175-1409-135F-266D-9B46F7E08E89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3E3D2B9A-FA2B-6B9E-391E-4A3581EA4752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EF091AA8-0FAE-B370-4AB2-3DA25E8747BC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073B3849-096C-EF94-A0C4-ED07C7624651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B29FEC1-5425-6DB8-1F88-9D12C157E569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04CBA46-67C5-4FD9-7839-A4722D34E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BAC401F-E216-EE3C-5246-BD774A6086CD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55DA0D9D-E5C3-0A98-676E-2172828A645E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328FA9D-4C7B-ED16-FEBF-841845BC6CE4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52162483-50DA-E754-A2ED-670061AD212F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34FCC9C-C0DA-4B53-0616-D3FF06C1527E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43A7E689-1442-B09B-1F7F-BBF277410E25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74F4356A-ACFA-5FA6-A586-9C4FFF7587C5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1A822388-017F-6EDB-9EF2-F830580DAE6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1AFF6A6-CBC8-064A-F30E-526B7EB591BE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2CC188A7-87E6-C80E-76BA-20FEFC31D591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954A7EF9-C4F2-66E9-2FA3-2A27F09895BA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59E04E08-76A9-4FE1-32F6-D9E11EAE7F5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6EF2DEDF-1D4F-98E6-C282-559F12C902B3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F5013455-AFF5-2DE7-96D9-45E96B0A1347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B8A00C9-8FBF-844F-CC66-2B4279E78399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5C436905-F54B-E86B-5BA3-B016F9172F14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19D602A2-E64F-4B67-3F32-B0AB129721F1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B9AAE68-D535-0730-A223-29ED3ACD13C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9B810BE1-9972-C282-09CB-94DD9175151C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EA321950-CAF3-AC75-57D0-E3E41D9491C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3E949045-C293-749C-3D65-4EB615497293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40CD3102-AD26-EF18-0219-E9D45229BED8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8A608975-1CA9-21B9-597D-22FC34533931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DDC03679-7012-9620-8916-64DE8637A7E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D459FE06-0765-9695-96AB-651D781EC78F}"/>
                </a:ext>
              </a:extLst>
            </p:cNvPr>
            <p:cNvCxnSpPr>
              <a:cxnSpLocks/>
              <a:stCxn id="3" idx="3"/>
              <a:endCxn id="52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CF6B8DD3-5FD1-BF56-94CD-D7D1BD14BEA7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77EBA81A-5B4E-687A-014B-EF89BD9F4E9E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8BAFDD0-FF4A-819F-3683-A765AE9367D7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BD334F1B-00C5-CDA3-6338-A0A56315126C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72FC7A9-2725-7E89-9A2B-9D93AC7089D7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4FDC4D3F-1E2C-4AB6-B496-A9716836CC02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0B77B686-28A8-6E30-C377-FD0E2F607930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5556E95B-C997-9DCD-6607-E07D344C9E74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E434CE0-41D9-1E37-580C-B17EB8F1052E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86D0292D-A398-DCCA-F7D1-0AEBAF246F94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960E2BD6-5C70-4113-C2E9-A1F4F10F4E8A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42CBDA27-23EB-6D9A-5541-CBE229DC397C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79F70E6F-BBB0-F7B0-B355-B58937D38677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B6FA15CF-5670-D4DA-7C04-04DE3442F49E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468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573" y="4651447"/>
            <a:ext cx="16509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722B04F-0CEE-A87C-64CE-BDE1ACB46DFB}"/>
              </a:ext>
            </a:extLst>
          </p:cNvPr>
          <p:cNvSpPr txBox="1"/>
          <p:nvPr/>
        </p:nvSpPr>
        <p:spPr>
          <a:xfrm>
            <a:off x="2452573" y="6519446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FD7B404A-58CF-0C53-8190-4CB2B9C258B9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EA228E17-F1DD-F99A-82B0-2183B5155973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B4AE931E-04DF-8009-0927-F2457F913089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A3CC52F3-E14A-6541-8A7C-3281A15EE684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230CD93C-3836-CEDF-57DA-50CEA5AEAFB6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7687A501-8BAA-BC9B-957D-DFAAF64EA16B}"/>
                </a:ext>
              </a:extLst>
            </p:cNvPr>
            <p:cNvCxnSpPr>
              <a:stCxn id="179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4C4F87DC-161B-B808-5B81-E3B62A2F1DD4}"/>
                </a:ext>
              </a:extLst>
            </p:cNvPr>
            <p:cNvCxnSpPr>
              <a:cxnSpLocks/>
              <a:stCxn id="180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F5833771-F729-9217-C157-D713A77BB4DB}"/>
                </a:ext>
              </a:extLst>
            </p:cNvPr>
            <p:cNvCxnSpPr>
              <a:cxnSpLocks/>
              <a:stCxn id="181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3A35A730-3427-17BE-691A-15C3B200D474}"/>
                </a:ext>
              </a:extLst>
            </p:cNvPr>
            <p:cNvCxnSpPr>
              <a:cxnSpLocks/>
              <a:stCxn id="182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34D9E6AC-F20E-5604-A476-4F6F961FCD41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EC9CB2A3-C854-4A75-9E36-4010AB3D20A1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EADD0DFA-9F91-B88E-3037-9D3BB0EB2617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81E89D98-E31B-CE2A-D233-8A3CBBFBC5AB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63CEFE16-9138-7214-77F7-26D06F80B447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561AACA0-9583-936C-34C3-70180A24B293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A7D579EC-FAE2-2B5E-F0A4-21E3FC9BC8FC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F0E0CA3C-0868-D22F-368C-EF3B5047F55D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622ED97D-3B14-6BED-23D8-04731B04DC03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16DAF320-D63B-E10B-A635-A956E0AE5AC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2F707F1E-50F1-9B69-7C78-76CFD50FA6FB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D360E804-0995-BE21-33C4-20C12C26C725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E8E90F54-1C22-02C8-C6E4-2259CE3E0D39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810948DE-2657-CE28-7D7A-A07AAB496A40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DFD23103-73B5-B49F-B685-3BF11E35C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B028422D-1BE0-19DA-C2F7-3019BCF0D2F9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F4BE1630-FBEB-D88E-0DCF-B600C59D2C77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F94DA29-4532-FCB4-AF09-EBB63831901D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6CB3987E-1961-006D-4373-359C8705AB8B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9B175E73-664E-5E99-95F5-587A8FD58A38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B5FC0DE2-86BB-9710-BF80-069F7E436509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92197C46-0264-87F9-5212-B84CED6336E3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48E46705-2F39-6300-A1BA-744E65761DC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41BE7C07-1AE1-3EAA-6E0D-013C1345E964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D0C18EC9-C19E-A7A8-5187-DA97447FFB2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7D9E2C73-8D8E-F294-61EC-9068EBA16279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9CB1891C-11C2-7B2A-FC94-973BCF0BDD6C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79DC0339-729D-2429-505D-F1E1399D8FD7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0530D7DD-60D4-0D5A-1564-714B24BC71F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2074DA2E-ABAF-C455-0A3B-74BE513C267F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A388C4A8-DE6F-0B77-84E2-460A43472A2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424CEDBB-B652-CB89-43EE-53FB9682BBA5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3EBBDA9B-1D81-56EC-70C9-C8EDDC12398A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337F7772-CFF0-7777-C8C0-DCB245C0E86D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03405031-7FA4-8826-E9ED-835BDD43A35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BFF8A351-A94E-0853-0EF1-D7BECE55A021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7DB1C94B-CAE5-AE3C-DB29-9EE014B2B93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BE9492F1-94FD-C4E8-F7E4-E67139612BCD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8ED4E493-F4B2-A04B-CE11-2BD8AE3F479C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7B3C67A0-F201-AB0A-A670-05491EC06DCD}"/>
                </a:ext>
              </a:extLst>
            </p:cNvPr>
            <p:cNvCxnSpPr>
              <a:cxnSpLocks/>
              <a:stCxn id="179" idx="3"/>
              <a:endCxn id="197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D9F1A34C-AD1E-1EC3-2C07-556DD3F04415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96FB2E5B-F187-1215-C4EB-C6792797BA01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7A89880B-B962-B2BE-23EC-0F650911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E4C0F6C1-2EC8-3715-F8B1-501CF93EAD21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A2D4675D-BECD-7623-0A29-B10086152D91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5AE8B000-AFD0-428E-709E-7C289449B42E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6A4E4D75-3106-3959-9DC5-49C5E5D95B59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895D200E-9974-7F01-C46A-6CFE0987E447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9A202748-2BC0-693A-A0B6-65F9B4BD10F4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96847475-FD0A-8368-6488-1918C2E5A4E0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1366F96D-6403-411F-0A0D-9D6759E86F65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6E7281AC-7C45-FAF5-C150-2692797BBA33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419652BA-3788-C5A7-0181-54B9DA6FD3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BDD47847-E69D-D4D3-0451-2062987030E8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0906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72</a:t>
            </a:fld>
            <a:endParaRPr lang="zh-CN" altLang="en-US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1" y="4651446"/>
            <a:ext cx="1641106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165" y="4651447"/>
            <a:ext cx="1830672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084E9D92-228F-E414-F9C2-2F3577A5D479}"/>
              </a:ext>
            </a:extLst>
          </p:cNvPr>
          <p:cNvSpPr txBox="1"/>
          <p:nvPr/>
        </p:nvSpPr>
        <p:spPr>
          <a:xfrm>
            <a:off x="245016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DFA61624-A7FF-5CAA-FC9D-A06049A59310}"/>
              </a:ext>
            </a:extLst>
          </p:cNvPr>
          <p:cNvSpPr txBox="1"/>
          <p:nvPr/>
        </p:nvSpPr>
        <p:spPr>
          <a:xfrm>
            <a:off x="3949158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DAA9F3C9-D958-93BC-D06C-335B79E872DB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21A48086-D791-2078-7B7E-20D893A7BA83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3FAC25C6-6055-74AD-4E95-FDF43A4B8F36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A5E3EF02-D41B-59E7-71A0-B7E1EC5AD3DB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69AAC92-78D2-6B1D-98F0-95EF78FE4EC8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6E9BD433-4AF6-A5EA-D5F6-B9F4E073E274}"/>
                </a:ext>
              </a:extLst>
            </p:cNvPr>
            <p:cNvCxnSpPr>
              <a:stCxn id="146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9DD8755-23CF-9C92-0090-113AB6326114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632C2BF7-EF7E-5021-A0AE-6FF10ACE3B7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4380BD7C-22C8-C324-F924-CBF0427DA175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1FF2E629-D3E3-EE5F-9BF4-B251119D8BE4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72761114-C431-015B-8935-F7F082D384D9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89D0E1B-7336-9CC8-A3B2-5F83CC53BF81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636EFF75-C866-1B14-1EEC-9632393F00EF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2BB5E943-67F4-828A-DBBE-D6C0ED4C46FC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C20A1438-6026-62E1-1C2F-F465DB40416D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E00F94B3-9FB5-40F6-3B15-99EE81F7F46B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69D42D32-44ED-70B7-E36F-59282D4B09B2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A252671-D5D2-3BDC-2D34-62AC2F2F0474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F38711DA-CF90-F070-2FD9-4EF039C3A5A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9A1DAC89-9063-8AFB-4DAB-CCA6A9B94B4B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E04B8C76-DB5C-50FF-CA18-1E38A0A54506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CFC9FECD-06A0-F8E0-F418-E8076AC8161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A9A4E9B2-FA53-C960-D104-2CF2A68FB900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D9D01982-A971-DCEE-33AA-5F0933D91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FDAB31E9-C743-AA0D-9445-CD07B32E5FE2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CDAFD969-924E-CA29-2884-0B64B40ACDB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F1A5AA88-56FF-B182-C9E0-ED6F36647F33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F5C48FF6-0C1B-E44C-9804-339A86230E7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C1E0C442-DF69-AB0F-25E0-C20BDE18EFDF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A2D6B46D-3E22-E9C2-C11E-4C01821823D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E2526E1A-7C3B-C2BD-9C49-D3D67D6C711C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CD1BF3CC-B887-3896-6B4B-D5FA8D378DB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B39A8FC7-B1E3-F3A9-4141-2F92CFDAD3CC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372F0EF9-3862-D8D6-A1F6-95761C50294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CA0D3C4F-A0D1-723E-15EB-6F649793A0DB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BA4C841F-78A1-0912-9BFD-B71BE260731A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AFC08837-D824-5817-48BB-88579A8D7314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9A4F2D64-04E2-28A9-4A1E-CAC886E818DC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460DC6A1-B55E-5762-65F1-07F71DA18F88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5E7FA1FD-D57C-7AC3-17C5-D06F6868A9DB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F17F253A-90D3-F61A-5B3F-ADC2A3AE94B8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1B3AB09F-AEF8-8E2E-4104-F1A5F5A6301E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0004A29E-45AD-C5D3-AC41-1200818CE015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3ADE7D5C-40E6-8252-DD28-BCE6FF98246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7520C861-ECA0-F2EB-166A-5E7D7DD69F09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BB04E33A-3B0B-D55E-F931-D7288BF7A090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643B7028-7C4B-27B2-F1FD-D727FDEC97A6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D8EC91C3-EC95-61F9-3BD4-09E3295E0A2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D9290624-9672-5E3E-45F7-EE1A97FF3221}"/>
                </a:ext>
              </a:extLst>
            </p:cNvPr>
            <p:cNvCxnSpPr>
              <a:cxnSpLocks/>
              <a:stCxn id="146" idx="3"/>
              <a:endCxn id="164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53509F2E-9C90-9AB6-DD93-8FCF4CE9AAED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A054F449-A9BF-909C-08B9-E2AB68B651F2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DEFA373D-DEAD-8D38-280D-97622C93D78C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D0B31AE8-F5E0-E7EE-7550-A07E3442AE7B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E52F112B-2A8B-6909-002E-ED3792641482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EDD34C87-D9D2-9F5A-211F-090FD4FA3953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0332CEAB-DE3B-CAA3-3187-F9990BBFC23F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0F146DF5-0E67-2CE2-83CB-A255A12D2C2D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28D4563A-3509-D074-D34F-BF57750C861A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61FF97AC-8B32-BF10-0244-4556E6F61164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6678130C-F198-C190-BA78-381229058F76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FDFB8A70-A1BB-7EDC-16F9-430439768765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CECC5AE9-D601-5792-8DE6-836B4C902BD0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7E156D9A-3C67-7867-20EF-446CF61FD38B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43048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73</a:t>
            </a:fld>
            <a:endParaRPr lang="zh-CN" altLang="en-US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1" y="4651446"/>
            <a:ext cx="1641106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165" y="4651447"/>
            <a:ext cx="1830672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B5B37DD-5E61-427A-C71E-7C590CD0F3EA}"/>
              </a:ext>
            </a:extLst>
          </p:cNvPr>
          <p:cNvSpPr txBox="1"/>
          <p:nvPr/>
        </p:nvSpPr>
        <p:spPr>
          <a:xfrm>
            <a:off x="245016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2E39DCA7-81D4-0BEA-B85B-526DA20E7CFA}"/>
              </a:ext>
            </a:extLst>
          </p:cNvPr>
          <p:cNvSpPr txBox="1"/>
          <p:nvPr/>
        </p:nvSpPr>
        <p:spPr>
          <a:xfrm>
            <a:off x="3949158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A6634506-1D23-565D-DE0A-B210C6F206E3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DBFD4C09-9784-5F12-C1E9-5AE711F0092F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174DD56C-E690-E58D-2082-FC49220AA6A5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E632BCC5-55B4-90BB-5105-9EF2E1CFF2CC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79D160E2-4FD6-60E5-090C-84D680F91B55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CFF16896-EAFE-6583-3B8B-D2FEFC4FD0B3}"/>
                </a:ext>
              </a:extLst>
            </p:cNvPr>
            <p:cNvCxnSpPr>
              <a:stCxn id="146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F9238018-51CA-CFCB-00EE-91BB9266A009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0746395C-E91B-EB46-574B-D5EE4AB1D482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6D7316B2-CD20-15C8-7A0E-D97AE4BEB875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AEF3C9B6-2B8B-1E35-8471-6906DFD10C8F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CD7F25E1-9D7F-5C89-CD6B-437E54BF5037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CFD848ED-7389-8178-60AC-BD31CB09EEAF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349BECDC-3C15-0802-6663-C4E639E3881A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396A6707-C6CD-64FA-E5ED-5BA79BBB5845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631E2ACB-9061-DC0E-2166-E4349F3F27A1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7DA4B869-0D03-BA0D-02D1-4903D954C0CD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2655365-6AB1-B184-35EC-B7477680D0DC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8FFD3132-9838-F999-0491-82AF67E03823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1B404E30-7DC3-D80E-9002-1D6F47FFBD34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57D51B9F-CB6C-81F9-EEA3-97D1A95AB0CF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FFA4E227-1B18-DC17-0466-BE5EAEA72F4B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E6329E36-974F-9AD3-37D5-F5C3D54C804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46BFEF7-83D8-6B5F-B073-AC497DD32031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0F983B76-1A60-2671-1516-096263B251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10ED7474-6127-B576-31A9-7F012F5A15A6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C8173877-2DDD-ED36-B8CC-4B7E646B1B2B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2B97CB6E-F5FB-E17C-FD90-B8C6FBB798B0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D4EC362D-6457-CA71-7B96-62EC57929DA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367191FE-06C8-8A7D-11D9-6D3FDE6168D8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DB374AA9-F981-9C27-F93B-9D6D95EC4BC5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122D8DE5-2121-E2C4-BBFC-6EBBAE4272B5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96A3C8FD-6DF5-9E3A-90E5-DD065C66D7FE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39C5AC68-CEA3-4961-70F9-07589D8B9F64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5CCDA371-BFB2-B847-724C-3CFA2273FDFB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62DF2750-0D22-99F1-9A59-4ABC4EF52096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03577408-6E1A-3521-30B7-EC0866C02830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0DA2769B-24C0-4F88-617A-C5F44B23F7D6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43F27101-201E-8E4B-83C7-C7867ADE526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4247DBE2-CDB7-4466-697E-9D6E7970F4FE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3AE3ED56-7534-32C4-1C02-B175846F7E24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A7EA81DA-C95C-0E2D-E280-EADB54F41EAA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036AA6F4-3FD6-4FD5-AA97-7AF00257FCFC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E3A02778-91A3-D1F2-5458-A4957F95102F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8EEF4DDA-7615-CADB-07E8-9A357EBCCC6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51DDFD7C-EAED-CB32-5330-50A66B10A883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6120A492-8E1A-2ECF-5329-B50B08CC700B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35FAFD0B-E3D0-4225-0E8B-FA821DEF6BEB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85C7E430-A0CA-1B49-BF80-D4606CCC0E6D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4EE6D3CE-6752-C4CF-B12A-E895FC0A1CA2}"/>
                </a:ext>
              </a:extLst>
            </p:cNvPr>
            <p:cNvCxnSpPr>
              <a:cxnSpLocks/>
              <a:stCxn id="146" idx="3"/>
              <a:endCxn id="164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2C9D310C-0019-713A-C166-3ADC12E8E45A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0C907A0B-A65F-D08C-C4FF-DE49668B609A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F532DBF2-98C6-3BBC-C791-AA858520742D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A1B2131-25ED-18A9-98E4-411AE3D2D2AE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E3F012CF-8A5A-B7B2-0403-9784BB38099F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37EDDE33-D363-DC25-73B7-EFAD891F0AE8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33116D44-7500-F222-C778-B88AB390651E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41D4639A-60EE-840E-7E14-D3F84C759413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E06298A0-FCF6-5FA5-4730-76B42AF04C20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F64F8336-7897-54E5-73CE-6F777AB1D5B8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0DDA37E0-909B-99B0-55C9-12CCBF51B192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46C915CC-37A0-C8A3-13AC-A4CEDDC633A1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C22694E0-BFDF-969D-3BA1-972C11C6783C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F0F42571-080C-8153-0CEC-5A5E48967398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8723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74</a:t>
            </a:fld>
            <a:endParaRPr lang="zh-CN" altLang="en-US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982" y="4656483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50" y="4651447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 Box 18" descr=" 1798162">
            <a:extLst>
              <a:ext uri="{FF2B5EF4-FFF2-40B4-BE49-F238E27FC236}">
                <a16:creationId xmlns:a16="http://schemas.microsoft.com/office/drawing/2014/main" id="{0D813ACF-4B3A-47D5-BF4C-2A6FC862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3973354-9416-E45F-121F-0A9EE730389C}"/>
              </a:ext>
            </a:extLst>
          </p:cNvPr>
          <p:cNvSpPr txBox="1"/>
          <p:nvPr/>
        </p:nvSpPr>
        <p:spPr>
          <a:xfrm>
            <a:off x="394558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B2C491D8-5232-54D0-62FE-9A58E0D47401}"/>
              </a:ext>
            </a:extLst>
          </p:cNvPr>
          <p:cNvSpPr txBox="1"/>
          <p:nvPr/>
        </p:nvSpPr>
        <p:spPr>
          <a:xfrm>
            <a:off x="58306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3C8628-466D-CDA2-CD35-CD721822C975}"/>
              </a:ext>
            </a:extLst>
          </p:cNvPr>
          <p:cNvSpPr txBox="1"/>
          <p:nvPr/>
        </p:nvSpPr>
        <p:spPr>
          <a:xfrm>
            <a:off x="245016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altLang="zh-CN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4B45140-28BB-FE5B-BD74-6B415C9BBC43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1D80D2E1-5841-CBAF-50A3-8DD83B4B4640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9861C72F-B514-8C22-DC7F-41C8BB2D9452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8266E191-3562-9DAA-3142-07A2CB2E7533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2D083463-7CF5-B7A5-B134-8BA9E915FCFB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93B9FAA-C7CF-EE61-55D0-854E90AD9957}"/>
                </a:ext>
              </a:extLst>
            </p:cNvPr>
            <p:cNvCxnSpPr>
              <a:stCxn id="148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EDBE64EB-71FA-F380-F7CD-E055494D745B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4E05E7F1-6170-DD3F-6BEC-3339EA9D9A99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968E0090-B521-B779-61C0-E2FEB73997A9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F2C1E18F-C924-AE25-7D49-E0D99655B119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844D8F42-809B-67E7-6381-6BB2CA7EC0B2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8672F974-87A2-2F42-3B14-8F9909983BA3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E5A6869D-905E-598B-93A2-CC21DEEEA5C2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32F64ACA-A5CC-58C4-E512-BD31E162509B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D8698031-3150-9A83-E3FA-55C4EBC50A35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D513BFCA-27BC-56DA-AC98-2588D989CDC8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4E81B301-B1D8-611F-9512-02B5256C70C7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B82365F3-2FC4-F971-1BD4-E3998ED950E9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72E92A00-7473-B7E6-FD17-BDF512E715D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7C57BA24-5C5B-E358-B581-EF4A7E0AA81E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309362B-E4CB-0170-BFC0-239202776C0C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7251A4A5-2650-8651-46C0-29A0971FD364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61A804DD-30A6-7A6D-C165-0898721A7C9D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F361B6A0-4D74-C0D2-C80F-9FCB4C4E9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6CBDDF21-0AB8-4BF2-DAD9-8E042BAEEE0E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7956D576-B00E-98C2-998A-4FCE186DACED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8B6407F0-B2EA-F2ED-D947-037FCBB0DFB6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C9396B42-7FE7-B492-F950-1AFF9D57B581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41D879C1-0BE9-9A3B-9FEE-DD3FFA22B515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ECA94267-7DA4-DDB1-B394-5F6186708A7D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7226E42-A7A2-8D28-1177-85C488B138C9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A8E85C5E-CF67-D51C-E705-C7A8DED5FA7B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A56CCFE3-66B2-0255-AA97-9763AA385950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92272F70-9C73-CEB9-6BCF-33BF0946975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B9312A40-9558-80A4-9BE5-3A5D279DA40E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DE86712-EBE7-C9EB-670C-78CFD0F35B2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8C44A862-E066-C9EF-3BDA-87DDE420D2E6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3479C38D-38FF-3648-7BCF-F8E0F04C32D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7ADC68A5-F767-0F2D-8C78-F5907C200D7B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18634F93-58FE-8C94-53B4-597E42939EAE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A6F3A718-DBBE-975D-393C-000290563A3C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3BD9470D-1D46-76F1-2C14-42993F16D01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F56A9418-155D-9CBB-C645-39ED954B2974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F9AD362D-566D-EFC6-11D7-2C460944681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DE7B325D-5C59-01E8-F971-218A86910ED9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6FC5AD08-0148-54C4-217B-87F1D5CB9E6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D4C32EBD-CB3D-5405-2A89-63FF64006FDE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3D791CE2-7A81-C22A-B43E-DBE28D9BFAC0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960F9A0C-F520-8852-BB85-68B2DA1DD66A}"/>
                </a:ext>
              </a:extLst>
            </p:cNvPr>
            <p:cNvCxnSpPr>
              <a:cxnSpLocks/>
              <a:stCxn id="148" idx="3"/>
              <a:endCxn id="166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65AD06E6-1DF0-6CF7-4E5C-0BAEE05F5EDF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7204B7A3-70D4-9664-82EF-3C5EEC01D214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D0793D73-CC1F-E3D4-31FB-20CFCC9AD39F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3AA2D89F-9093-5385-11E0-77A39D38F95C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548C40FB-6D62-9515-416C-5D781B97120F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13D0A9BE-9DDE-3864-4153-8DF618FED46B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562CFE7E-FD60-DC81-6931-548A9AE4ED97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F0AEF5F9-E83A-248B-8F0A-915C780670C0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C96EB92B-5DD7-66A3-C19F-DE2D40D1BBC9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02F4082D-CA94-7418-674B-BC7DA615F45F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4CFEBCD7-F6E5-BA51-8F7B-A7ED7FA86802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5737CA2D-CE51-CCF6-28F5-69FD209E3B97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8B7B3418-B3CA-7101-DF4E-ECBAE4D83047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A9347B8E-A3BD-3231-3F40-0C10B9934B6F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3019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982" y="4656483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50" y="4651447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 Box 18" descr=" 1798162">
            <a:extLst>
              <a:ext uri="{FF2B5EF4-FFF2-40B4-BE49-F238E27FC236}">
                <a16:creationId xmlns:a16="http://schemas.microsoft.com/office/drawing/2014/main" id="{0D813ACF-4B3A-47D5-BF4C-2A6FC862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ExtOp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2FBCAA-FE89-67F9-61FF-79017DA27CB7}"/>
              </a:ext>
            </a:extLst>
          </p:cNvPr>
          <p:cNvSpPr txBox="1"/>
          <p:nvPr/>
        </p:nvSpPr>
        <p:spPr>
          <a:xfrm>
            <a:off x="394558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24E6D1E-D5B2-392C-7F9E-7ED86E1D10BA}"/>
              </a:ext>
            </a:extLst>
          </p:cNvPr>
          <p:cNvSpPr txBox="1"/>
          <p:nvPr/>
        </p:nvSpPr>
        <p:spPr>
          <a:xfrm>
            <a:off x="58306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CB7D4-4425-D6C1-3CBD-713E1CCA1909}"/>
              </a:ext>
            </a:extLst>
          </p:cNvPr>
          <p:cNvSpPr txBox="1"/>
          <p:nvPr/>
        </p:nvSpPr>
        <p:spPr>
          <a:xfrm>
            <a:off x="245016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altLang="zh-CN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209F4831-6049-0B38-C821-E8765A18586D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F3745359-B7F9-E4F1-7F01-CF4CBD9C54D1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2EB6CE9D-DE46-7CB4-7D47-DB8A3571AA80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DA84AFC-F1CF-147E-CA85-4FAC97FB435B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2C03D7F5-A6F7-2363-E8A9-37586ECA495D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D13FB3B0-A197-1583-4EFB-6D7F9BBE4015}"/>
                </a:ext>
              </a:extLst>
            </p:cNvPr>
            <p:cNvCxnSpPr>
              <a:stCxn id="148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43820C96-CFC2-FDE7-5EDD-3109C1A232A7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84C40D4D-820B-30DE-B665-CCAE94B8392C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54CA54D0-DE59-B7D8-5BD0-2A33F7B8F008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76E6F6EF-0BDE-45B0-F0C6-0572039458E6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031272C0-7F11-C250-3971-1566BDD33728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EADBC838-CF31-9419-876A-EB85213C4267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73905A55-DD22-2B2E-BFC8-32B18F33B53E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C7B30A55-C4D0-1AE7-69FE-3316F5F1DDA9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FE4E228F-638D-3033-71B6-40BF8FF7CF6D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242C4E4-BE39-D38B-9F66-9F7DD0A9500C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0D913867-6BAC-BF58-E3B7-B8BF97B924D6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EFE0D541-2260-1B7C-39CB-6FE0F6D3D4EF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B71F95D0-B7F3-FB1B-B059-8C360C50A2E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A06C1EFF-763B-BFF9-1B4A-39F7D7515879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A2B27897-203C-E8D0-D75E-99FEF388B460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81529885-0A3E-44C2-3678-D844EA955E9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308F683F-BAAF-9B43-6783-7F0F688B782C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A576C385-B406-19E7-EC9D-FA49C5CF1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4372EFD0-82A2-AB6A-C05A-19407EAD08F2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16C0DFF8-C8C5-77DF-BE54-A7F98DB670F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8176049F-7AD4-71EB-E2ED-39EDD482BA2B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87147CEC-DEFB-7132-CF42-1E0A0C5590D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0D92C0DC-2F34-1F04-521D-2463FD85CB9E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6F96F8B9-B6E2-995D-BAEC-97305FC9C1B7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A6E96A2-9A45-9413-DD6B-3DED3DB23590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D6FEF43C-FE5D-ECF5-2645-7F10595D60C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31D2738A-8A22-260E-CC21-0B622C78B1ED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C1885EBB-17F8-CF53-61C6-C777F105D67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B9FED15E-4E23-9C52-AB83-60EBCA305ECF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993BE795-3609-F492-6882-7FA58B6A7AAC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A7E9D85A-7E77-BB80-57D5-8CAACABE16CD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ED4BB257-F9A8-C6E9-7531-ECD0F080CB4B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09003F20-F909-8045-3E77-303B865570C0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D6350ABB-C183-BEB4-1B63-721398D9369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66498616-16D2-C60F-F6D5-01F861086230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2D2F3C7A-03F5-9D57-5CA3-190979C9B15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274E3599-769F-2C9E-73D1-3675A00BB46B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0B360B3F-3BBC-2CB6-F8CC-25EB5B1803DE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87314FEB-95AD-795E-0C14-AAE6E0D8FA87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5CEDB41B-FA1F-9B9C-56EA-C5545C8A3B0E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4550BA01-7229-7395-00BD-256A5FBFDF4B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E1083663-E17A-4C6D-8CA0-396D6DAE5D6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8090B2DC-43BC-4A1C-6C7B-4D0158E8CCEA}"/>
                </a:ext>
              </a:extLst>
            </p:cNvPr>
            <p:cNvCxnSpPr>
              <a:cxnSpLocks/>
              <a:stCxn id="148" idx="3"/>
              <a:endCxn id="166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89AD3F7B-FEE4-428B-3161-215C3653F6F3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3ADD180-0154-3E16-622C-A523761460FA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EB1D7B49-1FAD-4862-B46F-74F51283DC0D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673DADA7-D5AE-E0C3-6CB2-F8C3B07004F9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0B75B113-3F22-7D17-9574-25DAAAFA3B64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68AEF2C0-8622-9430-CEA5-213FDAEEC41F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0ECC328B-2B70-2868-183D-9533A82DCC8F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423EFEF6-AEEB-4D03-5FAC-7A9E0A5110C4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4F6FD876-D1B4-ABD7-95A2-1B7556B8C8EF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66965D43-B5C6-EA59-9F02-C6C23CFCD5FC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D0466BE-FCEE-3E3D-1A10-910E0DD3124F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3F3FDAFF-86D0-EC5D-B6D5-4B2ED01C7C36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5BB588CE-7253-5C02-119E-E754C0393FC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F5B3DE27-94B4-D28F-CEA6-A4BB222B754F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66006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4000" y="6245225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055" y="4625014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603" y="4619978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 Box 18" descr=" 1798162">
            <a:extLst>
              <a:ext uri="{FF2B5EF4-FFF2-40B4-BE49-F238E27FC236}">
                <a16:creationId xmlns:a16="http://schemas.microsoft.com/office/drawing/2014/main" id="{0D813ACF-4B3A-47D5-BF4C-2A6FC862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62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FDB9BF4-5A57-A171-255C-0010DDADB8C3}"/>
              </a:ext>
            </a:extLst>
          </p:cNvPr>
          <p:cNvSpPr txBox="1"/>
          <p:nvPr/>
        </p:nvSpPr>
        <p:spPr>
          <a:xfrm>
            <a:off x="581502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02FA83E-A8E3-455E-AA7D-73A291D2FC1C}"/>
              </a:ext>
            </a:extLst>
          </p:cNvPr>
          <p:cNvSpPr txBox="1"/>
          <p:nvPr/>
        </p:nvSpPr>
        <p:spPr>
          <a:xfrm>
            <a:off x="75070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E74AA-345A-B155-F41D-3254309E0FD4}"/>
              </a:ext>
            </a:extLst>
          </p:cNvPr>
          <p:cNvSpPr txBox="1"/>
          <p:nvPr/>
        </p:nvSpPr>
        <p:spPr>
          <a:xfrm>
            <a:off x="395384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altLang="zh-CN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B3E41DB8-FA47-4755-F888-78C85FEAD096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6E083991-787C-317B-5B42-7088701EDF3E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1138934B-8B4C-AE07-C72F-E9E35FF1C7CE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4C45FD74-EDCE-C98A-B6F8-6F7DE591C3AA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1F60B9A6-F256-8EDF-46A3-EBDC584F3CA0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6C606503-BD21-6EA6-B4AB-3DBA7CC34000}"/>
                </a:ext>
              </a:extLst>
            </p:cNvPr>
            <p:cNvCxnSpPr>
              <a:stCxn id="148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2DB29F69-296B-2B1B-BEB9-FA628C05F2D7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6D1D2CD7-3A2C-B360-442C-436B41DF06F5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4AAD3A62-63B7-0CBD-69D6-44A2992DB1CD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F3716E99-B484-EA57-98F1-A53F0E5645AB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935F780D-DA0A-2BF1-33BF-876CB6895B5B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60ADD02C-BB52-30D3-B2AD-A6233E93FFD5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4BB585A3-F979-B781-40A8-105443536A96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1A40F62E-F45B-A31D-BFF9-E1B0697B2983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76022716-4B0F-C187-7C0B-EA4EFB8D78F7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3C25BC76-23BC-CB67-0400-7E973CC5BAC2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E381CB70-AE31-4F33-B7ED-EC69B7E5CFAA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8378E046-CAB5-6178-A314-CA33C13AB1E1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EC68F930-87E8-9096-405A-77910181BB69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E494EDEF-A8D8-69F9-9FD8-798FEAD1CD29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0A62384-5826-7243-1AEE-1C580B24B898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C17627BD-9F85-CD56-361B-2FF138CCC4A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540F4CC1-85F5-1EAB-C89F-393C1017D164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87F9B6A9-ABAD-8A63-A625-875C36661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A88876E9-7077-30E9-3250-454BDB663570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A9B19750-DC39-C12A-2319-82E9850773F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7A8C54B9-9E0F-22A1-627A-12957237275B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D6D5126F-4375-A36A-ED75-F4D1CD58E2F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1158B025-A8EC-96D1-0233-15120D1B319A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59E70DB7-69DD-4D4B-904C-ED9A6CA5196F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ECACA7F7-9B1E-B459-24A3-98F232431779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12FE2DEE-7CC3-6297-4E4D-1B728A72767B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CFF6AD52-E89E-5063-6ABC-4409240A104A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DE37BE9C-1059-CA37-556A-83C175E1F54D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5978DF6D-C837-04B2-A14C-B702141EDA46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C02A1847-AC59-E34C-D038-4EE4654D060E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062CF6AE-7629-988E-F18D-5F86F3728B9D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76058E9E-0FFA-899F-92AF-43E1F6C92107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A2CEF6F2-7D67-A83C-F284-62FDC515E3C0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A7959855-EBCB-8EA9-CFA2-3BDADAE22ECD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BDEC1CFA-7D7B-221B-E3C4-A0477D346BA7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80BA16B8-D6B8-7E34-352C-0743CF976B3A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DA7FE6A0-E8A1-59B7-902B-002012A0B489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F29F94F3-6978-5C5F-E4B9-0E4709607A56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35AD2DB2-E24B-4CDA-43C8-39365DE1C50B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117B1DA0-D3F6-455F-9C67-C03BE8C9ADA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CAC0DA07-07EC-DE6B-0F1C-747F19811394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F7933EC9-6262-82BF-1FBA-C1D4AAFBC19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7B73F95B-80CF-F3F0-750C-CC653E762768}"/>
                </a:ext>
              </a:extLst>
            </p:cNvPr>
            <p:cNvCxnSpPr>
              <a:cxnSpLocks/>
              <a:stCxn id="148" idx="3"/>
              <a:endCxn id="166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0F672ED8-0179-DA31-5270-FF88C45E0A11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800A8E0A-52B9-31A3-BB56-00769C23BAFB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DC124CE3-ED32-C66B-2E94-0442A7C70917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28A5EE41-7970-38E5-399F-604AC841F770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7FF01046-0005-6193-E498-55263A9CAB22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6C4F060C-6673-870E-A3D1-FD2AAE0BA5E9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BBF3A727-B98B-F7BC-530B-EC85BCA1ABBD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34440CB5-E648-FFCF-F3BD-366948F1827A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BC70CDA6-4C30-BB18-EDE8-C587CDB42F19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ABA4145A-7504-4948-D43A-249F8F7703E2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B3F91758-D52B-7E2E-C17F-1202A9C8C7EE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F0327EB4-8D43-13D7-D6C6-8BA53DA2F4A1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590D0EB5-35F7-4110-A1C9-8A37EEF28C1B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25E56F3-5376-264E-F88E-2487EC21EA47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61362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245225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ADD R4,R3,R2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AND R7,R6,R5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LW R1,R9(10)</a:t>
            </a:r>
          </a:p>
        </p:txBody>
      </p:sp>
      <p:sp>
        <p:nvSpPr>
          <p:cNvPr id="16" name="Text Box 16" descr=" 1798160">
            <a:extLst>
              <a:ext uri="{FF2B5EF4-FFF2-40B4-BE49-F238E27FC236}">
                <a16:creationId xmlns:a16="http://schemas.microsoft.com/office/drawing/2014/main" id="{021B55E6-76A0-43B9-BF57-86A473BF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055" y="4625014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7" descr=" 1798161">
            <a:extLst>
              <a:ext uri="{FF2B5EF4-FFF2-40B4-BE49-F238E27FC236}">
                <a16:creationId xmlns:a16="http://schemas.microsoft.com/office/drawing/2014/main" id="{62F68BF4-A4A2-4AAD-AF00-B7678C067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603" y="4619978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、</a:t>
            </a: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 Box 18" descr=" 1798162">
            <a:extLst>
              <a:ext uri="{FF2B5EF4-FFF2-40B4-BE49-F238E27FC236}">
                <a16:creationId xmlns:a16="http://schemas.microsoft.com/office/drawing/2014/main" id="{0D813ACF-4B3A-47D5-BF4C-2A6FC862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62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D5F4FF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FDB9BF4-5A57-A171-255C-0010DDADB8C3}"/>
              </a:ext>
            </a:extLst>
          </p:cNvPr>
          <p:cNvSpPr txBox="1"/>
          <p:nvPr/>
        </p:nvSpPr>
        <p:spPr>
          <a:xfrm>
            <a:off x="581502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I2-AND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02FA83E-A8E3-455E-AA7D-73A291D2FC1C}"/>
              </a:ext>
            </a:extLst>
          </p:cNvPr>
          <p:cNvSpPr txBox="1"/>
          <p:nvPr/>
        </p:nvSpPr>
        <p:spPr>
          <a:xfrm>
            <a:off x="75070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E74AA-345A-B155-F41D-3254309E0FD4}"/>
              </a:ext>
            </a:extLst>
          </p:cNvPr>
          <p:cNvSpPr txBox="1"/>
          <p:nvPr/>
        </p:nvSpPr>
        <p:spPr>
          <a:xfrm>
            <a:off x="395384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altLang="zh-CN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81654C42-7052-C203-0FE8-19E897A3DE4C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F2D7A2A7-0652-FA19-6035-CC240FAF4722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4353A91E-E6BA-72BF-7454-8C7C431A2D81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102985A9-475B-D186-5A03-4DE544011191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65479F3E-4099-0B5E-0F3D-BD4A601144A4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A78E7C3-9956-7999-EADE-4C9BD634D19E}"/>
                </a:ext>
              </a:extLst>
            </p:cNvPr>
            <p:cNvCxnSpPr>
              <a:stCxn id="148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E4D890EE-E396-D3C9-E873-8DEC5A291973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310FAB07-E05F-9B09-DE0F-6D021CABE877}"/>
                </a:ext>
              </a:extLst>
            </p:cNvPr>
            <p:cNvCxnSpPr>
              <a:cxnSpLocks/>
              <a:stCxn id="150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BBB71899-73C1-8A5A-3B95-9365D52C7BED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8A174AF7-37A5-0F62-AD77-788BAE3F99F4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643A65EA-4B9F-EFB9-E8F5-0BA38ACA293A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23F51AAE-49B4-6D9D-4B6B-8CAE7C7FCC04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4730D47C-524B-FEF7-E487-CB3B1D1C080C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564A2B4A-EF2F-BA76-9A7B-1B35970E98BA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84719BC-9662-CA33-3894-7C10CBFEE52B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28115DB7-0247-A5D1-91F2-84D3D5FF5F17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5160DCCC-BB4D-D792-EDA7-EE4460608141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4C216D38-A061-FEFD-9591-31109364E788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89A1CA20-95FB-A9FC-9112-384D86F11AE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701BB9B8-D1F3-0A92-8109-4722F373194C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D4AA2393-87E3-11F8-26BD-65C2FE90C104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E749B875-AEDA-2009-D993-3DFDE2E16C1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668BA513-E4FA-14BD-A192-366B28F3BD83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FB24583E-9067-21A8-CA92-D4CD8C689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CD784BBA-3D07-3635-4E81-771F76B61BFB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9FDFF929-7B60-8409-5FA5-C715E53A292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99F4763F-39C4-B792-8FC6-85BA5BFA3E2E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355F5CD4-8276-A4C7-4DF2-D0AD0A59166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EACB9241-B5F7-709F-F934-4922306516CA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B7DEDF0C-D6AE-E041-2513-D067B5C31A64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6362BE83-EB10-511E-D76F-72FB5CFB397F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8E5AF6DB-2B4C-A318-EE3B-5998A7EC54D4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C0E379D5-2D20-41A0-6E54-02F128562180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B07B00EE-0B66-903D-BED3-E94BEBB3F127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3C721F1D-42A1-BC35-6A0F-5409591D5405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4DD015CF-E53B-584D-11EC-ECFA60E63956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96A3162C-8B45-C0B6-0CB2-EF8D672A958B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1ECCEC19-C911-28A5-9FB5-D5031C3A6924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6C015287-81AA-84B0-71BD-0478A7CB019E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A6DE0CEE-6149-26C6-CB43-711A60887B9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2A09529B-01A8-8244-A040-D4121D9F95AB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A93C8938-6BBE-264F-2AB2-19853677BBD0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86E9551F-E961-BB52-6D5C-D2358D23F0CF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4BB471BB-15B6-F0CA-56B2-85AE28ACAE6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D280395B-7829-F224-607D-588F5BF2CBA0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B8609F10-2C4A-A7C8-F1EA-EB566DD7DE3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B7A09D28-C46F-A1CB-8356-BB45332B9CF8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2DC744AB-573F-1CC1-8BC5-95775CC64D2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A0D2613A-1D33-EA27-A5BE-811300A81735}"/>
                </a:ext>
              </a:extLst>
            </p:cNvPr>
            <p:cNvCxnSpPr>
              <a:cxnSpLocks/>
              <a:stCxn id="148" idx="3"/>
              <a:endCxn id="166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F91E4019-93E8-B401-1761-A31341055673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CC8FDB87-A0CF-936D-0AEB-4EF5C86F4003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D38415DC-C358-6432-7634-19F5D794CB5A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DDC59532-F977-7BCA-6B19-F3DB71529C36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9E02D556-EC07-B314-2ABA-AD62DC736889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948FAAB3-43B6-0807-20DC-66A352292F54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B0EA168F-A43B-4D52-1413-8076654BBD36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2F850B79-76EF-600D-6AB1-4E2563550178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A14F05CF-D8AB-0F4C-BEE0-E6029C26C3E8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E63B0811-8F7D-CB70-0D89-22EFA0EFABBD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C6EAECA-B236-FD17-0680-2952C94957B9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1438573D-0075-6E21-37E3-DE45AD03E48E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A8DC53DD-92E7-4828-AB37-C6122F255FDC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F88B3A7F-A328-9631-8691-12FE4DC52B59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8484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5DAB50-40DC-4A86-937E-AD7290B1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78</a:t>
            </a:fld>
            <a:endParaRPr lang="zh-CN" altLang="en-US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2D41EF3-820F-4199-AD81-2435C3B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606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70C0"/>
                </a:solidFill>
                <a:latin typeface="+mj-lt"/>
                <a:ea typeface="SimHei" panose="02010609060101010101" pitchFamily="49" charset="-122"/>
                <a:sym typeface="Courier" charset="0"/>
              </a:rPr>
              <a:t>控制信号寄存器</a:t>
            </a:r>
            <a:endParaRPr lang="en-US" altLang="zh-CN" sz="1900" dirty="0">
              <a:solidFill>
                <a:srgbClr val="0070C0"/>
              </a:solidFill>
              <a:latin typeface="+mj-lt"/>
              <a:ea typeface="SimHei" panose="02010609060101010101" pitchFamily="49" charset="-122"/>
              <a:sym typeface="Courier" charset="0"/>
            </a:endParaRPr>
          </a:p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+mj-lt"/>
                <a:ea typeface="SimHei" panose="02010609060101010101" pitchFamily="49" charset="-122"/>
                <a:sym typeface="Courier" charset="0"/>
              </a:rPr>
              <a:t>ID/EX </a:t>
            </a:r>
            <a:r>
              <a:rPr lang="zh-CN" altLang="en-US" sz="1900" dirty="0">
                <a:latin typeface="+mj-lt"/>
                <a:ea typeface="SimHei" panose="02010609060101010101" pitchFamily="49" charset="-122"/>
                <a:sym typeface="Courier" charset="0"/>
              </a:rPr>
              <a:t>寄存器</a:t>
            </a:r>
            <a:endParaRPr lang="en-US" altLang="zh-CN" sz="1900" dirty="0">
              <a:latin typeface="+mj-lt"/>
              <a:ea typeface="SimHei" panose="02010609060101010101" pitchFamily="49" charset="-122"/>
              <a:sym typeface="Courier" charset="0"/>
            </a:endParaRPr>
          </a:p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+mj-lt"/>
                <a:ea typeface="SimHei" panose="02010609060101010101" pitchFamily="49" charset="-122"/>
                <a:sym typeface="Courier" charset="0"/>
              </a:rPr>
              <a:t>EX/MEM </a:t>
            </a:r>
            <a:r>
              <a:rPr lang="zh-CN" altLang="en-US" sz="1900" dirty="0">
                <a:latin typeface="+mj-lt"/>
                <a:ea typeface="SimHei" panose="02010609060101010101" pitchFamily="49" charset="-122"/>
                <a:sym typeface="Courier" charset="0"/>
              </a:rPr>
              <a:t>寄存器</a:t>
            </a:r>
            <a:endParaRPr lang="en-US" altLang="zh-CN" sz="1900" dirty="0">
              <a:latin typeface="+mj-lt"/>
              <a:ea typeface="SimHei" panose="02010609060101010101" pitchFamily="49" charset="-122"/>
              <a:sym typeface="Courier" charset="0"/>
            </a:endParaRPr>
          </a:p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en-US" altLang="zh-CN" sz="1900" dirty="0">
                <a:latin typeface="+mj-lt"/>
                <a:ea typeface="SimHei" panose="02010609060101010101" pitchFamily="49" charset="-122"/>
                <a:sym typeface="Courier" charset="0"/>
              </a:rPr>
              <a:t>MEM/WB </a:t>
            </a:r>
            <a:r>
              <a:rPr lang="zh-CN" altLang="en-US" sz="1900" dirty="0">
                <a:latin typeface="+mj-lt"/>
                <a:ea typeface="SimHei" panose="02010609060101010101" pitchFamily="49" charset="-122"/>
                <a:sym typeface="Courier" charset="0"/>
              </a:rPr>
              <a:t>寄存器</a:t>
            </a:r>
            <a:endParaRPr lang="en-US" altLang="zh-CN" sz="1900" dirty="0">
              <a:latin typeface="+mj-lt"/>
              <a:ea typeface="SimHei" panose="02010609060101010101" pitchFamily="49" charset="-122"/>
              <a:sym typeface="Courier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40526AB-F312-4790-80E4-8E166EE90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022" y="5109958"/>
            <a:ext cx="4009278" cy="10075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latin typeface="+mn-lt"/>
                <a:ea typeface="SimHei" panose="02010609060101010101" pitchFamily="49" charset="-122"/>
                <a:sym typeface="Courier" charset="0"/>
              </a:rPr>
              <a:t>记：</a:t>
            </a:r>
            <a:r>
              <a:rPr lang="en-US" altLang="zh-CN" sz="1900" dirty="0">
                <a:latin typeface="+mn-lt"/>
                <a:ea typeface="SimHei" panose="02010609060101010101" pitchFamily="49" charset="-122"/>
                <a:sym typeface="Courier" charset="0"/>
              </a:rPr>
              <a:t>MEM/</a:t>
            </a:r>
            <a:r>
              <a:rPr lang="en-US" altLang="zh-CN" sz="1900" dirty="0" err="1">
                <a:latin typeface="+mn-lt"/>
                <a:ea typeface="SimHei" panose="02010609060101010101" pitchFamily="49" charset="-122"/>
                <a:sym typeface="Courier" charset="0"/>
              </a:rPr>
              <a:t>WB.RegWr</a:t>
            </a:r>
            <a:r>
              <a:rPr lang="en-US" altLang="zh-CN" sz="1900" dirty="0">
                <a:latin typeface="+mn-lt"/>
                <a:ea typeface="SimHei" panose="02010609060101010101" pitchFamily="49" charset="-122"/>
                <a:sym typeface="Courier" charset="0"/>
              </a:rPr>
              <a:t> </a:t>
            </a:r>
            <a:r>
              <a:rPr lang="zh-CN" altLang="en-US" sz="1900" dirty="0">
                <a:latin typeface="+mn-lt"/>
                <a:ea typeface="SimHei" panose="02010609060101010101" pitchFamily="49" charset="-122"/>
                <a:sym typeface="Courier" charset="0"/>
              </a:rPr>
              <a:t>代表访问</a:t>
            </a:r>
            <a:r>
              <a:rPr lang="en-US" altLang="zh-CN" sz="1900" dirty="0">
                <a:latin typeface="+mn-lt"/>
                <a:ea typeface="SimHei" panose="02010609060101010101" pitchFamily="49" charset="-122"/>
                <a:sym typeface="Courier" charset="0"/>
              </a:rPr>
              <a:t>MEM/WB</a:t>
            </a:r>
            <a:r>
              <a:rPr lang="zh-CN" altLang="en-US" sz="1900" dirty="0">
                <a:latin typeface="+mn-lt"/>
                <a:ea typeface="SimHei" panose="02010609060101010101" pitchFamily="49" charset="-122"/>
                <a:sym typeface="Courier" charset="0"/>
              </a:rPr>
              <a:t>寄存器中的</a:t>
            </a:r>
            <a:r>
              <a:rPr lang="en-US" altLang="zh-CN" sz="1900" dirty="0" err="1">
                <a:latin typeface="+mn-lt"/>
                <a:ea typeface="SimHei" panose="02010609060101010101" pitchFamily="49" charset="-122"/>
                <a:sym typeface="Courier" charset="0"/>
              </a:rPr>
              <a:t>RegWr</a:t>
            </a:r>
            <a:r>
              <a:rPr lang="zh-CN" altLang="en-US" sz="1900" dirty="0">
                <a:latin typeface="+mn-lt"/>
                <a:ea typeface="SimHei" panose="02010609060101010101" pitchFamily="49" charset="-122"/>
                <a:sym typeface="Courier" charset="0"/>
              </a:rPr>
              <a:t>控制信号</a:t>
            </a:r>
            <a:endParaRPr lang="en-US" altLang="zh-CN" sz="1900" dirty="0">
              <a:latin typeface="+mn-lt"/>
              <a:ea typeface="SimHei" panose="02010609060101010101" pitchFamily="49" charset="-122"/>
              <a:sym typeface="Courier" charset="0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3B5B00C-BDA3-7CD9-8AE0-49F4D884C2DA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143F7C2-B8D9-F3D7-292E-0A03AFE06765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51EEED0-179D-1977-503D-46349F96B8DA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1A38D04-A590-E158-B3A3-1FADBD6D6B94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8E9F7D3-A006-ED3C-1B7D-DF1F0F7DD539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CAD36B08-C6E4-A164-84E3-29B1505E4A03}"/>
                </a:ext>
              </a:extLst>
            </p:cNvPr>
            <p:cNvCxnSpPr>
              <a:stCxn id="80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05BFFB-A0AE-C9A6-FE0F-93EA5408AD32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19116A4-5C8C-F5B1-7839-D937375F3528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E62E1CDF-306C-F731-5747-34312FD080E9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60FD8462-B927-5EEA-F494-733FF3A67B45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24C69D97-3A22-C6CB-F9A5-1E49F5BC9F4D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EFA49E50-BDE0-6088-65C3-DCA180F80D81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5DA03788-D6A6-7537-9B9C-615D93C58697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76E1E6B-25A3-3DCD-89E1-2FA00384D524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E166B3FF-F0A9-4F86-B1AA-6AF5C6922DD1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675299AF-7C99-2407-10EE-12C60FA98D83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DC07DC67-7EC8-C590-535F-E3FDF4F114DE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CD4D78B-BBFE-BC3D-111F-3A82DFB5E0C9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35D3E2E-54DF-A4FB-250C-F309D1BE4DB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80789324-7A6B-4018-CEA7-3E774C540537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CE5D5CE-1452-62A2-6F7F-FFDF34712290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0AFD33E6-0806-992E-9240-3142DA38924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5594FCF-AB37-E7E3-5F88-445142F4D746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2F971F4-AB9B-F8C7-419C-56977DD39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B78BB5E6-610D-6518-7B93-C2D0D549EABA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46F877CB-AB4D-54E8-716E-D83ACF9C04D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880C53E-685D-B24F-C495-D5515037785F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95C89974-317D-D2CE-5411-AC4265590DA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688C7D7-628D-5F69-3CFA-CF9C64DC51BC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8580F21A-9E81-549A-4ECA-F1132EF045E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0F54BD9-A242-FB64-9D64-BC225C1EBB50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4620886-1AF1-3646-5F8F-2DE79DB643F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D5A6A592-6575-76DA-3EB6-0062213345A6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8B696F1A-BDFF-7C53-7749-C8F332DD284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83409B6A-DBE6-D408-6B4F-7B5894B7F2C7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246B332-931C-FCC0-594F-2F9FA80324C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45A3A75-1D5A-64C8-AA07-F8B6C38460F4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BB54EE23-0446-4AB7-4829-04FA8199CC8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0A1B453-24A2-19ED-9225-909DF4586B91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F0FD9F29-F2C0-0099-48D8-AAC8C05B743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FAB1843-B3F4-6779-0BA3-DD5DC1C90AE1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878E74B-B04F-FEB0-974B-5E00DE48653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A094511-B11A-22E1-C4C9-4400DC17CF0A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C8224547-9E69-BDE0-3686-C44EAC4B3D8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677D6ABC-358C-8B14-0863-2A0EE7626BDD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7023726-AFC3-D284-9BFA-984977EFD71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79669B13-AC88-6173-0E7A-A7B3042CFD6F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E80C2ED0-5263-E774-D6D8-EFD4928971C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EC274E4F-58AE-2AE6-F198-32E26D7C2165}"/>
                </a:ext>
              </a:extLst>
            </p:cNvPr>
            <p:cNvCxnSpPr>
              <a:cxnSpLocks/>
              <a:stCxn id="80" idx="3"/>
              <a:endCxn id="98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90ACC08-87E3-8FFF-970D-9BF8D6059FD9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4D9FF41-F62B-382C-1F64-9A07E2F6B185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CD9290EF-8D10-537D-E3FF-D75B515D9DCB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C275C7E-A053-9FA9-4AA5-4317C99A3CC0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3B7A1A5C-FCFB-71DD-4332-79BD3C1A7E42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CEF1BF6-C8BD-CE38-B2BB-DF09945C6313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1C238B89-5DF1-95A6-0997-C902F9DDDA4C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D85F80FE-32A8-E9DD-C855-B3C5391F7711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549BA82-3BEC-1069-A10B-A87FD1D70823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2F8D2CCF-3E23-9C89-1C71-4350D2A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476CDFC-D036-3726-AC3E-D3B7E8455B4D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DDDC01A6-92DE-87CB-83B8-84C34A0E2901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AD42158D-4A6A-3394-B2E5-B6E2A8DFC02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B03DFB4-0E46-E72A-7D6D-BDC4A5A81798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64813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694" y="3018080"/>
            <a:ext cx="642457" cy="1304822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SW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290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D22FAA8-48E7-EE2D-5780-835DBEF32F23}"/>
              </a:ext>
            </a:extLst>
          </p:cNvPr>
          <p:cNvSpPr txBox="1"/>
          <p:nvPr/>
        </p:nvSpPr>
        <p:spPr>
          <a:xfrm>
            <a:off x="237079" y="6057745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取指令并存入</a:t>
            </a:r>
            <a:r>
              <a:rPr lang="en-US" altLang="zh-CN" dirty="0">
                <a:ea typeface="SimHei" panose="02010609060101010101" pitchFamily="49" charset="-122"/>
              </a:rPr>
              <a:t>IF/ID</a:t>
            </a:r>
          </a:p>
          <a:p>
            <a:pPr algn="ctr"/>
            <a:r>
              <a:rPr lang="en-US" altLang="zh-CN" dirty="0">
                <a:ea typeface="SimHei" panose="02010609060101010101" pitchFamily="49" charset="-122"/>
              </a:rPr>
              <a:t>PC=PC+4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5D545662-1BC7-1F4B-5483-4DDF18A3B72A}"/>
              </a:ext>
            </a:extLst>
          </p:cNvPr>
          <p:cNvCxnSpPr>
            <a:cxnSpLocks/>
          </p:cNvCxnSpPr>
          <p:nvPr/>
        </p:nvCxnSpPr>
        <p:spPr>
          <a:xfrm>
            <a:off x="329006" y="5734975"/>
            <a:ext cx="228244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0CBF751-7B2B-D848-90BE-6A927E9C1BC2}"/>
              </a:ext>
            </a:extLst>
          </p:cNvPr>
          <p:cNvSpPr txBox="1"/>
          <p:nvPr/>
        </p:nvSpPr>
        <p:spPr>
          <a:xfrm>
            <a:off x="979091" y="5356881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SW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F5CC892-FFC5-A6E3-9921-9E991D13C80F}"/>
              </a:ext>
            </a:extLst>
          </p:cNvPr>
          <p:cNvSpPr txBox="1"/>
          <p:nvPr/>
        </p:nvSpPr>
        <p:spPr>
          <a:xfrm>
            <a:off x="567635" y="5736741"/>
            <a:ext cx="1840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87911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04">
            <a:extLst>
              <a:ext uri="{FF2B5EF4-FFF2-40B4-BE49-F238E27FC236}">
                <a16:creationId xmlns:a16="http://schemas.microsoft.com/office/drawing/2014/main" id="{99FB6B43-44C5-D658-C354-8FA51B4E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679" y="2925089"/>
            <a:ext cx="642457" cy="1566000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SW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rgbClr val="A6E2F9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828" y="2329736"/>
            <a:ext cx="68162" cy="1993166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6626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9E87431-6197-9607-1656-3811A4AF438C}"/>
              </a:ext>
            </a:extLst>
          </p:cNvPr>
          <p:cNvSpPr txBox="1"/>
          <p:nvPr/>
        </p:nvSpPr>
        <p:spPr>
          <a:xfrm>
            <a:off x="4117546" y="5850863"/>
            <a:ext cx="2857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寄存器读取 </a:t>
            </a:r>
            <a:r>
              <a:rPr lang="en-US" altLang="zh-CN" dirty="0">
                <a:ea typeface="SimHei" panose="02010609060101010101" pitchFamily="49" charset="-122"/>
              </a:rPr>
              <a:t>&amp; </a:t>
            </a: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立即数扩展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ID/EX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1EB2FFB-EED4-18A3-011C-3007EDA4B79C}"/>
              </a:ext>
            </a:extLst>
          </p:cNvPr>
          <p:cNvCxnSpPr>
            <a:cxnSpLocks/>
          </p:cNvCxnSpPr>
          <p:nvPr/>
        </p:nvCxnSpPr>
        <p:spPr>
          <a:xfrm>
            <a:off x="2569398" y="6143418"/>
            <a:ext cx="2106912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8078E75-3078-DA32-68CD-23B438971D3E}"/>
              </a:ext>
            </a:extLst>
          </p:cNvPr>
          <p:cNvSpPr txBox="1"/>
          <p:nvPr/>
        </p:nvSpPr>
        <p:spPr>
          <a:xfrm>
            <a:off x="3200104" y="577071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SW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33DB6F7-7F1D-23A4-8CE1-F51619B8DC7A}"/>
              </a:ext>
            </a:extLst>
          </p:cNvPr>
          <p:cNvSpPr txBox="1"/>
          <p:nvPr/>
        </p:nvSpPr>
        <p:spPr>
          <a:xfrm>
            <a:off x="2625888" y="6145747"/>
            <a:ext cx="2048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Instruction Decode/</a:t>
            </a:r>
          </a:p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Register Fetch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96E6431-43B9-E2EF-33AA-29D01B881124}"/>
              </a:ext>
            </a:extLst>
          </p:cNvPr>
          <p:cNvSpPr txBox="1"/>
          <p:nvPr/>
        </p:nvSpPr>
        <p:spPr>
          <a:xfrm>
            <a:off x="3803760" y="4434222"/>
            <a:ext cx="886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ExtOp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=1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29120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SW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solidFill>
            <a:srgbClr val="A6E2F9"/>
          </a:solidFill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214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9778" y="1802235"/>
            <a:ext cx="68162" cy="3645365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A10E99D-C05C-79DC-F82A-476FA612FC8C}"/>
              </a:ext>
            </a:extLst>
          </p:cNvPr>
          <p:cNvCxnSpPr>
            <a:cxnSpLocks/>
          </p:cNvCxnSpPr>
          <p:nvPr/>
        </p:nvCxnSpPr>
        <p:spPr>
          <a:xfrm>
            <a:off x="4678454" y="6137159"/>
            <a:ext cx="1648706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7B296FA-289C-C554-A4C1-C7B2C6A5BA9A}"/>
              </a:ext>
            </a:extLst>
          </p:cNvPr>
          <p:cNvSpPr txBox="1"/>
          <p:nvPr/>
        </p:nvSpPr>
        <p:spPr>
          <a:xfrm>
            <a:off x="5013314" y="5767174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SW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BC0D3FC2-9DBA-DEB9-2069-79C2BFF564FC}"/>
              </a:ext>
            </a:extLst>
          </p:cNvPr>
          <p:cNvSpPr txBox="1"/>
          <p:nvPr/>
        </p:nvSpPr>
        <p:spPr>
          <a:xfrm>
            <a:off x="4470770" y="6138467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Execution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EC10233-436D-C6E3-27C2-D2CE61B022C7}"/>
              </a:ext>
            </a:extLst>
          </p:cNvPr>
          <p:cNvSpPr txBox="1"/>
          <p:nvPr/>
        </p:nvSpPr>
        <p:spPr>
          <a:xfrm>
            <a:off x="6345845" y="5808956"/>
            <a:ext cx="236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ALU</a:t>
            </a:r>
            <a:r>
              <a:rPr lang="zh-CN" altLang="en-US" dirty="0">
                <a:ea typeface="SimHei" panose="02010609060101010101" pitchFamily="49" charset="-122"/>
              </a:rPr>
              <a:t>计算访存地址</a:t>
            </a:r>
            <a:endParaRPr lang="en-US" altLang="zh-CN" dirty="0"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ea typeface="SimHei" panose="02010609060101010101" pitchFamily="49" charset="-122"/>
              </a:rPr>
              <a:t>存入</a:t>
            </a:r>
            <a:r>
              <a:rPr lang="en-US" altLang="zh-CN" dirty="0">
                <a:ea typeface="SimHei" panose="02010609060101010101" pitchFamily="49" charset="-122"/>
              </a:rPr>
              <a:t>EX/MEM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E2E1666-F27A-F67E-99F0-A22DB41DBBFD}"/>
              </a:ext>
            </a:extLst>
          </p:cNvPr>
          <p:cNvSpPr txBox="1"/>
          <p:nvPr/>
        </p:nvSpPr>
        <p:spPr>
          <a:xfrm>
            <a:off x="4818970" y="3460744"/>
            <a:ext cx="803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ALUSrc</a:t>
            </a:r>
            <a:endParaRPr lang="en-US" altLang="zh-CN" sz="1400" dirty="0">
              <a:solidFill>
                <a:srgbClr val="ED7D31"/>
              </a:solidFill>
              <a:ea typeface="SimHe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=1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9FC811-B5B5-5F53-6DC7-94B72EEAC0C8}"/>
              </a:ext>
            </a:extLst>
          </p:cNvPr>
          <p:cNvSpPr txBox="1"/>
          <p:nvPr/>
        </p:nvSpPr>
        <p:spPr>
          <a:xfrm>
            <a:off x="5362287" y="4298915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ALUConf</a:t>
            </a:r>
            <a:endParaRPr lang="en-US" altLang="zh-CN" sz="1400" dirty="0">
              <a:solidFill>
                <a:srgbClr val="ED7D31"/>
              </a:solidFill>
              <a:ea typeface="SimHe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=ADD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5997686-892C-A41E-1892-7B6EF0F81BC7}"/>
              </a:ext>
            </a:extLst>
          </p:cNvPr>
          <p:cNvSpPr txBox="1"/>
          <p:nvPr/>
        </p:nvSpPr>
        <p:spPr>
          <a:xfrm>
            <a:off x="5167643" y="4785398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RegDst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=x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364BBA24-0F08-7B6C-C0F9-2F6E8EAF4BFA}"/>
              </a:ext>
            </a:extLst>
          </p:cNvPr>
          <p:cNvSpPr txBox="1"/>
          <p:nvPr/>
        </p:nvSpPr>
        <p:spPr>
          <a:xfrm>
            <a:off x="5167643" y="5146174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ED7D31"/>
                </a:solidFill>
                <a:ea typeface="SimHei" panose="02010609060101010101" pitchFamily="49" charset="-122"/>
              </a:rPr>
              <a:t>为什么是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x ?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44548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04">
            <a:extLst>
              <a:ext uri="{FF2B5EF4-FFF2-40B4-BE49-F238E27FC236}">
                <a16:creationId xmlns:a16="http://schemas.microsoft.com/office/drawing/2014/main" id="{CE27CB42-2A3D-C12C-298C-F8D083BED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415" y="3190078"/>
            <a:ext cx="642457" cy="1107847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SW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82</a:t>
            </a:fld>
            <a:endParaRPr lang="zh-CN" alt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Rectangle 104">
            <a:extLst>
              <a:ext uri="{FF2B5EF4-FFF2-40B4-BE49-F238E27FC236}">
                <a16:creationId xmlns:a16="http://schemas.microsoft.com/office/drawing/2014/main" id="{4C23459F-D1A5-5EED-BB97-B2EFD51D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20" y="1975154"/>
            <a:ext cx="68162" cy="3255859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201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9B42F091-8462-C333-073B-BB833F47C84F}"/>
              </a:ext>
            </a:extLst>
          </p:cNvPr>
          <p:cNvCxnSpPr>
            <a:cxnSpLocks/>
          </p:cNvCxnSpPr>
          <p:nvPr/>
        </p:nvCxnSpPr>
        <p:spPr>
          <a:xfrm flipV="1">
            <a:off x="6353882" y="6093085"/>
            <a:ext cx="1773936" cy="1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09B71F1-1DAF-F89D-030F-27EC2B47D2D9}"/>
              </a:ext>
            </a:extLst>
          </p:cNvPr>
          <p:cNvSpPr txBox="1"/>
          <p:nvPr/>
        </p:nvSpPr>
        <p:spPr>
          <a:xfrm>
            <a:off x="6761596" y="5723753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SW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9BD41F0-F207-4509-6656-AE542D6EE7A7}"/>
              </a:ext>
            </a:extLst>
          </p:cNvPr>
          <p:cNvSpPr txBox="1"/>
          <p:nvPr/>
        </p:nvSpPr>
        <p:spPr>
          <a:xfrm>
            <a:off x="6219052" y="6103793"/>
            <a:ext cx="2048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Memory Access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9D28F21-3341-B8C1-50CA-1F9CAA8286F7}"/>
              </a:ext>
            </a:extLst>
          </p:cNvPr>
          <p:cNvSpPr txBox="1"/>
          <p:nvPr/>
        </p:nvSpPr>
        <p:spPr>
          <a:xfrm>
            <a:off x="4022830" y="5934036"/>
            <a:ext cx="223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数据内存写入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C44F873-9A15-5C65-DE85-8BF33FEDD827}"/>
              </a:ext>
            </a:extLst>
          </p:cNvPr>
          <p:cNvSpPr txBox="1"/>
          <p:nvPr/>
        </p:nvSpPr>
        <p:spPr>
          <a:xfrm>
            <a:off x="6546467" y="4291616"/>
            <a:ext cx="1011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MemWr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=1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984DBE7-8E47-9F77-701C-8F7558BED270}"/>
              </a:ext>
            </a:extLst>
          </p:cNvPr>
          <p:cNvSpPr txBox="1"/>
          <p:nvPr/>
        </p:nvSpPr>
        <p:spPr>
          <a:xfrm>
            <a:off x="279055" y="1166842"/>
            <a:ext cx="955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Branch=0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1755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72EC27F-0B7B-F9D9-9FC2-E75465E2022C}"/>
              </a:ext>
            </a:extLst>
          </p:cNvPr>
          <p:cNvSpPr/>
          <p:nvPr/>
        </p:nvSpPr>
        <p:spPr>
          <a:xfrm>
            <a:off x="1778065" y="2094312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702FEAB-CE3D-CA2B-CE1A-DD63B6FA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流水线的数据通路：</a:t>
            </a:r>
            <a:r>
              <a:rPr lang="en-US" altLang="zh-CN" dirty="0"/>
              <a:t>SW</a:t>
            </a:r>
            <a:r>
              <a:rPr lang="zh-CN" altLang="en-US" dirty="0"/>
              <a:t>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910C8-2D9E-EEC8-63D1-24A1676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00" y="6246000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E27AE386-708E-FF3F-3D0E-C4C7A6CE4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5093530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AA3D82AD-5BC7-4E5E-463B-AC9DC5BA3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5093530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79CA08EC-6C1C-2291-8CBC-33FD44FD0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5093530"/>
            <a:ext cx="167155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01FA2EB-D989-B3A3-F186-9C6FC2FFC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0" cy="27775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9C864AF8-CFD1-9FD6-3CFD-DF1286701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5541548"/>
            <a:ext cx="562251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1CE735E-4F0D-1662-1238-A30FBDF7B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5093530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6412A8D-8C12-9576-2704-5A8D17797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879" y="5093530"/>
            <a:ext cx="0" cy="4480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97639C20-6253-F468-49A4-DDA2DB7B6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0365" y="3899306"/>
            <a:ext cx="0" cy="1642241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F0CFDC4-1570-755A-13E5-7413894C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0365" y="3904769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806C5395-F572-D0AD-129D-C02E158F1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806" y="3010335"/>
            <a:ext cx="1291659" cy="131935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E359A231-9EF5-EEC2-49E3-C0C39A7F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08" y="3357534"/>
            <a:ext cx="243879" cy="763838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+mj-lt"/>
                <a:ea typeface="等线" panose="02010600030101010101" pitchFamily="2" charset="-122"/>
              </a:rPr>
              <a:t>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等线" panose="02010600030101010101" pitchFamily="2" charset="-122"/>
            </a:endParaRP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F60B4D2-D5EA-755C-D52C-11DBBECF8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87" y="3704733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FBD8F2F9-8EE0-6D0A-4EA6-4E0EE565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866232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BFBD9CE-8050-1C5B-8156-E60988523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2802015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16383385-07D7-1682-5592-B6377CC2F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247" y="3473905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DAA3C887-AD9F-24D9-7326-F1373E8DC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940" y="226966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2F8B6321-C512-CCE6-810D-F3C9202A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3704733"/>
            <a:ext cx="21200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9DFB4336-EFB9-9F32-3E31-E5B67C28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786" y="2663136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97CA3F66-EE6E-DD10-D924-B9B43550E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07" y="1482658"/>
            <a:ext cx="0" cy="2222075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6" name="AutoShape 37">
            <a:extLst>
              <a:ext uri="{FF2B5EF4-FFF2-40B4-BE49-F238E27FC236}">
                <a16:creationId xmlns:a16="http://schemas.microsoft.com/office/drawing/2014/main" id="{DC6E1BC9-6B97-A6EF-5397-ECF9994BCF10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966277" y="1403408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46C3802B-86B9-559A-8BC9-D3D3FEE41F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006" y="1482658"/>
            <a:ext cx="8357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EA015B30-84EC-AB56-FE22-B623FBA94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725" y="1343779"/>
            <a:ext cx="5541095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9FDC48DA-0BCA-1E57-15E2-6616DCEB4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2325" y="5715936"/>
            <a:ext cx="592643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A711A4B-AED4-9912-6E75-3B8BA33C7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64" y="2913409"/>
            <a:ext cx="1291659" cy="158707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90BB6D75-7433-6FC3-00C4-C2BE0691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046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E96132F1-3649-9ABB-EA2A-9F8BDF057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4964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0F56481A-9157-9866-7529-42EF0841E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4815770"/>
            <a:ext cx="37990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5F0BF8AA-4F8F-0163-DD6C-63BF3E41C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543" y="4749518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3" name="Line 55">
            <a:extLst>
              <a:ext uri="{FF2B5EF4-FFF2-40B4-BE49-F238E27FC236}">
                <a16:creationId xmlns:a16="http://schemas.microsoft.com/office/drawing/2014/main" id="{D1C9C395-CA5C-44F7-F109-5285A2266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4054" y="4733847"/>
            <a:ext cx="75980" cy="13888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85A318CD-23B8-5A23-1FDE-9CB4B083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32" y="4838245"/>
            <a:ext cx="37988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5" name="Text Box 57">
            <a:extLst>
              <a:ext uri="{FF2B5EF4-FFF2-40B4-BE49-F238E27FC236}">
                <a16:creationId xmlns:a16="http://schemas.microsoft.com/office/drawing/2014/main" id="{029C29B3-C98C-2155-CC5E-B244DE78E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003" y="481577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B659A95A-FA3F-E3C6-06DC-732977FD0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22793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7" name="Line 59">
            <a:extLst>
              <a:ext uri="{FF2B5EF4-FFF2-40B4-BE49-F238E27FC236}">
                <a16:creationId xmlns:a16="http://schemas.microsoft.com/office/drawing/2014/main" id="{EA8E67D8-A69F-BE6A-EAC7-887CD2019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4329692"/>
            <a:ext cx="0" cy="48607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D61446E3-E3F4-D5A3-78AA-09BDA550D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982492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9" name="Line 61">
            <a:extLst>
              <a:ext uri="{FF2B5EF4-FFF2-40B4-BE49-F238E27FC236}">
                <a16:creationId xmlns:a16="http://schemas.microsoft.com/office/drawing/2014/main" id="{F5705B44-0F51-7A32-3D9B-B520ECBDD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0" cy="1666556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687A9150-043D-298F-CB86-9A49902CD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6345" y="3149214"/>
            <a:ext cx="30392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1" name="Line 63">
            <a:extLst>
              <a:ext uri="{FF2B5EF4-FFF2-40B4-BE49-F238E27FC236}">
                <a16:creationId xmlns:a16="http://schemas.microsoft.com/office/drawing/2014/main" id="{25406034-4438-F9BB-9CC2-7C6306ED4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982492"/>
            <a:ext cx="47199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CFDFCBD3-51C8-DC60-AEE2-1ECF0AE1E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483" y="3774173"/>
            <a:ext cx="15151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3" name="Freeform 65">
            <a:extLst>
              <a:ext uri="{FF2B5EF4-FFF2-40B4-BE49-F238E27FC236}">
                <a16:creationId xmlns:a16="http://schemas.microsoft.com/office/drawing/2014/main" id="{81875826-2904-B6BD-B78C-38775DF452BF}"/>
              </a:ext>
            </a:extLst>
          </p:cNvPr>
          <p:cNvSpPr>
            <a:spLocks/>
          </p:cNvSpPr>
          <p:nvPr/>
        </p:nvSpPr>
        <p:spPr bwMode="auto">
          <a:xfrm>
            <a:off x="5571622" y="3149214"/>
            <a:ext cx="531860" cy="1180477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4" name="Rectangle 66">
            <a:extLst>
              <a:ext uri="{FF2B5EF4-FFF2-40B4-BE49-F238E27FC236}">
                <a16:creationId xmlns:a16="http://schemas.microsoft.com/office/drawing/2014/main" id="{4F248D35-88F5-CEC6-A999-459AB8C3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180" y="3626888"/>
            <a:ext cx="473292" cy="19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ALU</a:t>
            </a:r>
          </a:p>
        </p:txBody>
      </p:sp>
      <p:sp>
        <p:nvSpPr>
          <p:cNvPr id="65" name="AutoShape 67">
            <a:extLst>
              <a:ext uri="{FF2B5EF4-FFF2-40B4-BE49-F238E27FC236}">
                <a16:creationId xmlns:a16="http://schemas.microsoft.com/office/drawing/2014/main" id="{E8778C98-357D-79B9-9717-A8A364F49C4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974612" y="4005956"/>
            <a:ext cx="694398" cy="227940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6" name="Line 68">
            <a:extLst>
              <a:ext uri="{FF2B5EF4-FFF2-40B4-BE49-F238E27FC236}">
                <a16:creationId xmlns:a16="http://schemas.microsoft.com/office/drawing/2014/main" id="{E2FD2C93-8EF8-374E-6C26-E27D99D0D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813" y="4121372"/>
            <a:ext cx="1308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94545124-B6AF-0C06-CD83-045D247DE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4" y="4329692"/>
            <a:ext cx="364486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9" name="Line 72">
            <a:extLst>
              <a:ext uri="{FF2B5EF4-FFF2-40B4-BE49-F238E27FC236}">
                <a16:creationId xmlns:a16="http://schemas.microsoft.com/office/drawing/2014/main" id="{F4C5566B-55C4-393C-099B-810D39DAA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3357534"/>
            <a:ext cx="810453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0" name="Oval 73">
            <a:extLst>
              <a:ext uri="{FF2B5EF4-FFF2-40B4-BE49-F238E27FC236}">
                <a16:creationId xmlns:a16="http://schemas.microsoft.com/office/drawing/2014/main" id="{FA4C9470-D00A-EBC0-0E7F-09B9DEBB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743" y="2663136"/>
            <a:ext cx="455880" cy="486079"/>
          </a:xfrm>
          <a:prstGeom prst="ellips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71" name="Rectangle 74">
            <a:extLst>
              <a:ext uri="{FF2B5EF4-FFF2-40B4-BE49-F238E27FC236}">
                <a16:creationId xmlns:a16="http://schemas.microsoft.com/office/drawing/2014/main" id="{943A9958-A332-D613-ADD4-7D623C1BA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714" y="2782822"/>
            <a:ext cx="441936" cy="239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auto" hangingPunc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tabLst>
                <a:tab pos="452438" algn="l"/>
                <a:tab pos="903288" algn="l"/>
                <a:tab pos="13573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&lt;&lt;2</a:t>
            </a: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DE0892F-9824-C384-17EC-9F6903342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3" y="2940895"/>
            <a:ext cx="27239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2" name="Line 85">
            <a:extLst>
              <a:ext uri="{FF2B5EF4-FFF2-40B4-BE49-F238E27FC236}">
                <a16:creationId xmlns:a16="http://schemas.microsoft.com/office/drawing/2014/main" id="{5BECBDB3-7A0F-35E6-2FFF-F7EA685C0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6901" y="294089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3" name="Rectangle 86">
            <a:extLst>
              <a:ext uri="{FF2B5EF4-FFF2-40B4-BE49-F238E27FC236}">
                <a16:creationId xmlns:a16="http://schemas.microsoft.com/office/drawing/2014/main" id="{FF2C69E3-FC08-CFC2-0475-5D71DADB1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341" y="3184998"/>
            <a:ext cx="1291659" cy="1117207"/>
          </a:xfrm>
          <a:prstGeom prst="rect">
            <a:avLst/>
          </a:pr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4" name="Line 87">
            <a:extLst>
              <a:ext uri="{FF2B5EF4-FFF2-40B4-BE49-F238E27FC236}">
                <a16:creationId xmlns:a16="http://schemas.microsoft.com/office/drawing/2014/main" id="{CC366717-6C54-572E-F645-FA153A697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3774173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6" name="Text Box 89">
            <a:extLst>
              <a:ext uri="{FF2B5EF4-FFF2-40B4-BE49-F238E27FC236}">
                <a16:creationId xmlns:a16="http://schemas.microsoft.com/office/drawing/2014/main" id="{EB150BC4-6C6F-2A58-8545-D3AB58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635293"/>
            <a:ext cx="508442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7838ECE6-1364-A505-5F77-23BF47355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1" y="4121372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0" name="Line 93">
            <a:extLst>
              <a:ext uri="{FF2B5EF4-FFF2-40B4-BE49-F238E27FC236}">
                <a16:creationId xmlns:a16="http://schemas.microsoft.com/office/drawing/2014/main" id="{8142F012-9748-5FD4-F65D-95184626A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4121372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1" name="AutoShape 94">
            <a:extLst>
              <a:ext uri="{FF2B5EF4-FFF2-40B4-BE49-F238E27FC236}">
                <a16:creationId xmlns:a16="http://schemas.microsoft.com/office/drawing/2014/main" id="{C0E26AB4-7102-7BB5-15A3-DB9A980F94F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260350" y="3833803"/>
            <a:ext cx="624959" cy="227940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2F9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2" name="Line 98">
            <a:extLst>
              <a:ext uri="{FF2B5EF4-FFF2-40B4-BE49-F238E27FC236}">
                <a16:creationId xmlns:a16="http://schemas.microsoft.com/office/drawing/2014/main" id="{DD3A4DE6-7F49-0E6D-9BFC-E743597C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923" y="3357534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3" name="Line 99">
            <a:extLst>
              <a:ext uri="{FF2B5EF4-FFF2-40B4-BE49-F238E27FC236}">
                <a16:creationId xmlns:a16="http://schemas.microsoft.com/office/drawing/2014/main" id="{49256853-9C80-4F3F-DA0C-4789AA87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2325" y="4190812"/>
            <a:ext cx="0" cy="152512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4" name="Line 100">
            <a:extLst>
              <a:ext uri="{FF2B5EF4-FFF2-40B4-BE49-F238E27FC236}">
                <a16:creationId xmlns:a16="http://schemas.microsoft.com/office/drawing/2014/main" id="{BDB341A6-0659-739F-A77F-CFBAA0248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52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5" name="Line 101">
            <a:extLst>
              <a:ext uri="{FF2B5EF4-FFF2-40B4-BE49-F238E27FC236}">
                <a16:creationId xmlns:a16="http://schemas.microsoft.com/office/drawing/2014/main" id="{53A71A40-554E-4C9C-4D7F-5F7F68FA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2726" y="1621538"/>
            <a:ext cx="9117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6" name="Line 102">
            <a:extLst>
              <a:ext uri="{FF2B5EF4-FFF2-40B4-BE49-F238E27FC236}">
                <a16:creationId xmlns:a16="http://schemas.microsoft.com/office/drawing/2014/main" id="{82636A46-5EF8-6C50-DE60-2F1B25EA1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370473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7" name="Line 103">
            <a:extLst>
              <a:ext uri="{FF2B5EF4-FFF2-40B4-BE49-F238E27FC236}">
                <a16:creationId xmlns:a16="http://schemas.microsoft.com/office/drawing/2014/main" id="{290A03FD-EA07-6F02-CD05-12FC8792B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000" y="3774173"/>
            <a:ext cx="15160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8" name="Rectangle 104">
            <a:extLst>
              <a:ext uri="{FF2B5EF4-FFF2-40B4-BE49-F238E27FC236}">
                <a16:creationId xmlns:a16="http://schemas.microsoft.com/office/drawing/2014/main" id="{FE4E4301-1A3B-32D4-46DC-8F6CCDF8B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425" y="2315936"/>
            <a:ext cx="151960" cy="201375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99" name="Rectangle 105">
            <a:extLst>
              <a:ext uri="{FF2B5EF4-FFF2-40B4-BE49-F238E27FC236}">
                <a16:creationId xmlns:a16="http://schemas.microsoft.com/office/drawing/2014/main" id="{0DDBC3A9-6F41-0A68-1210-8E1B9DA5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82" y="1800567"/>
            <a:ext cx="158319" cy="36483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0" name="Line 106">
            <a:extLst>
              <a:ext uri="{FF2B5EF4-FFF2-40B4-BE49-F238E27FC236}">
                <a16:creationId xmlns:a16="http://schemas.microsoft.com/office/drawing/2014/main" id="{99C67827-6D6A-1E95-5618-81925D28B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2524256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1" name="Line 107">
            <a:extLst>
              <a:ext uri="{FF2B5EF4-FFF2-40B4-BE49-F238E27FC236}">
                <a16:creationId xmlns:a16="http://schemas.microsoft.com/office/drawing/2014/main" id="{CE335AE4-D686-E337-9947-48E11F158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385" y="2524256"/>
            <a:ext cx="189949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2" name="Line 108">
            <a:extLst>
              <a:ext uri="{FF2B5EF4-FFF2-40B4-BE49-F238E27FC236}">
                <a16:creationId xmlns:a16="http://schemas.microsoft.com/office/drawing/2014/main" id="{A5900C28-091D-306D-630C-BEEE9939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718" y="2732575"/>
            <a:ext cx="99724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3" name="Line 109">
            <a:extLst>
              <a:ext uri="{FF2B5EF4-FFF2-40B4-BE49-F238E27FC236}">
                <a16:creationId xmlns:a16="http://schemas.microsoft.com/office/drawing/2014/main" id="{BC109CAE-C108-CAFA-9592-7A207245F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4815770"/>
            <a:ext cx="10751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4" name="Line 110">
            <a:extLst>
              <a:ext uri="{FF2B5EF4-FFF2-40B4-BE49-F238E27FC236}">
                <a16:creationId xmlns:a16="http://schemas.microsoft.com/office/drawing/2014/main" id="{8B84CBAE-0C77-4FCC-6A19-0DD1D9705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3982492"/>
            <a:ext cx="0" cy="83327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5" name="Line 111">
            <a:extLst>
              <a:ext uri="{FF2B5EF4-FFF2-40B4-BE49-F238E27FC236}">
                <a16:creationId xmlns:a16="http://schemas.microsoft.com/office/drawing/2014/main" id="{9E92D52E-58A1-005D-D190-624895D3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3783" y="4815770"/>
            <a:ext cx="129165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6" name="Rectangle 112">
            <a:extLst>
              <a:ext uri="{FF2B5EF4-FFF2-40B4-BE49-F238E27FC236}">
                <a16:creationId xmlns:a16="http://schemas.microsoft.com/office/drawing/2014/main" id="{8CE8E128-DB07-2BA7-7A29-1FB91F28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960" y="2690911"/>
            <a:ext cx="151960" cy="2541498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7" name="Line 113">
            <a:extLst>
              <a:ext uri="{FF2B5EF4-FFF2-40B4-BE49-F238E27FC236}">
                <a16:creationId xmlns:a16="http://schemas.microsoft.com/office/drawing/2014/main" id="{A8D44656-1826-E4DB-D6DF-D0BCFE68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4815770"/>
            <a:ext cx="159557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8" name="Line 114">
            <a:extLst>
              <a:ext uri="{FF2B5EF4-FFF2-40B4-BE49-F238E27FC236}">
                <a16:creationId xmlns:a16="http://schemas.microsoft.com/office/drawing/2014/main" id="{D639506D-72C1-D5FF-A0AF-43292640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0920" y="3774173"/>
            <a:ext cx="227940" cy="144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09" name="Line 115">
            <a:extLst>
              <a:ext uri="{FF2B5EF4-FFF2-40B4-BE49-F238E27FC236}">
                <a16:creationId xmlns:a16="http://schemas.microsoft.com/office/drawing/2014/main" id="{557C5AC9-0946-CB26-BD66-D6B88345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759" y="3913052"/>
            <a:ext cx="0" cy="180288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9D5F6BBC-1EA7-4B4F-407F-059D9ADCC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3821" y="1343777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1" name="Line 117">
            <a:extLst>
              <a:ext uri="{FF2B5EF4-FFF2-40B4-BE49-F238E27FC236}">
                <a16:creationId xmlns:a16="http://schemas.microsoft.com/office/drawing/2014/main" id="{EBFBF49D-8063-B317-C4A4-818A020DC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5441" y="4121372"/>
            <a:ext cx="151960" cy="694398"/>
          </a:xfrm>
          <a:prstGeom prst="line">
            <a:avLst/>
          </a:prstGeom>
          <a:noFill/>
          <a:ln w="28575" cap="rnd">
            <a:solidFill>
              <a:srgbClr val="ED7D3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3" name="Text Box 119">
            <a:extLst>
              <a:ext uri="{FF2B5EF4-FFF2-40B4-BE49-F238E27FC236}">
                <a16:creationId xmlns:a16="http://schemas.microsoft.com/office/drawing/2014/main" id="{4C9A038A-AEE4-D392-F518-748D679F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221" y="1924885"/>
            <a:ext cx="684773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114" name="Line 120">
            <a:extLst>
              <a:ext uri="{FF2B5EF4-FFF2-40B4-BE49-F238E27FC236}">
                <a16:creationId xmlns:a16="http://schemas.microsoft.com/office/drawing/2014/main" id="{28AD2B0E-5EFF-F06E-4F52-A795712D6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3353" y="2940895"/>
            <a:ext cx="0" cy="138879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5" name="Line 121">
            <a:extLst>
              <a:ext uri="{FF2B5EF4-FFF2-40B4-BE49-F238E27FC236}">
                <a16:creationId xmlns:a16="http://schemas.microsoft.com/office/drawing/2014/main" id="{C456D8F4-5FB7-1279-D1C4-5C3E0BB67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473" y="4815770"/>
            <a:ext cx="57041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6" name="Line 122">
            <a:extLst>
              <a:ext uri="{FF2B5EF4-FFF2-40B4-BE49-F238E27FC236}">
                <a16:creationId xmlns:a16="http://schemas.microsoft.com/office/drawing/2014/main" id="{D1D1F92A-00E6-436D-B2DF-2E60B191D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843" y="2524256"/>
            <a:ext cx="10637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7" name="Line 123">
            <a:extLst>
              <a:ext uri="{FF2B5EF4-FFF2-40B4-BE49-F238E27FC236}">
                <a16:creationId xmlns:a16="http://schemas.microsoft.com/office/drawing/2014/main" id="{396F500F-1FA8-8FCF-CFDC-40D7E9F49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4485" y="1621538"/>
            <a:ext cx="0" cy="90271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8" name="Line 124">
            <a:extLst>
              <a:ext uri="{FF2B5EF4-FFF2-40B4-BE49-F238E27FC236}">
                <a16:creationId xmlns:a16="http://schemas.microsoft.com/office/drawing/2014/main" id="{37D8300E-99BD-3866-763F-E255E5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7502" y="3037144"/>
            <a:ext cx="0" cy="389829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19" name="Line 125">
            <a:extLst>
              <a:ext uri="{FF2B5EF4-FFF2-40B4-BE49-F238E27FC236}">
                <a16:creationId xmlns:a16="http://schemas.microsoft.com/office/drawing/2014/main" id="{15F5F541-D37A-79E9-0E09-DA625914C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394" y="2246497"/>
            <a:ext cx="0" cy="145823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0" name="Rectangle 126">
            <a:extLst>
              <a:ext uri="{FF2B5EF4-FFF2-40B4-BE49-F238E27FC236}">
                <a16:creationId xmlns:a16="http://schemas.microsoft.com/office/drawing/2014/main" id="{81C77E3D-3293-7EB8-0900-D6167B9A3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441" y="1966185"/>
            <a:ext cx="151960" cy="3266225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1" name="Oval 127">
            <a:extLst>
              <a:ext uri="{FF2B5EF4-FFF2-40B4-BE49-F238E27FC236}">
                <a16:creationId xmlns:a16="http://schemas.microsoft.com/office/drawing/2014/main" id="{FC74BE5D-0687-49D5-AAB4-1A22A3F3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44" y="4607451"/>
            <a:ext cx="810453" cy="416639"/>
          </a:xfrm>
          <a:prstGeom prst="ellipse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2" name="Rectangle 128">
            <a:extLst>
              <a:ext uri="{FF2B5EF4-FFF2-40B4-BE49-F238E27FC236}">
                <a16:creationId xmlns:a16="http://schemas.microsoft.com/office/drawing/2014/main" id="{670E99B1-8F8A-033F-21CD-13F4C854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04" y="4594606"/>
            <a:ext cx="531860" cy="41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Sign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等线" panose="02010600030101010101" pitchFamily="2" charset="-122"/>
              </a:rPr>
              <a:t>Extend</a:t>
            </a:r>
          </a:p>
        </p:txBody>
      </p:sp>
      <p:sp>
        <p:nvSpPr>
          <p:cNvPr id="123" name="Line 129">
            <a:extLst>
              <a:ext uri="{FF2B5EF4-FFF2-40B4-BE49-F238E27FC236}">
                <a16:creationId xmlns:a16="http://schemas.microsoft.com/office/drawing/2014/main" id="{59E9BA4C-AF21-D428-116B-00F569E1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2732575"/>
            <a:ext cx="526419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4" name="Line 130">
            <a:extLst>
              <a:ext uri="{FF2B5EF4-FFF2-40B4-BE49-F238E27FC236}">
                <a16:creationId xmlns:a16="http://schemas.microsoft.com/office/drawing/2014/main" id="{BA311DCE-4C69-F8F0-FE36-1391040E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502" y="3037145"/>
            <a:ext cx="22794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5" name="Line 131">
            <a:extLst>
              <a:ext uri="{FF2B5EF4-FFF2-40B4-BE49-F238E27FC236}">
                <a16:creationId xmlns:a16="http://schemas.microsoft.com/office/drawing/2014/main" id="{1EBC9B02-BAF5-9A6F-12D4-5EEFFDFA2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400" y="3037145"/>
            <a:ext cx="83578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6" name="Line 132">
            <a:extLst>
              <a:ext uri="{FF2B5EF4-FFF2-40B4-BE49-F238E27FC236}">
                <a16:creationId xmlns:a16="http://schemas.microsoft.com/office/drawing/2014/main" id="{AA3BC222-E3D9-2085-AEF8-048C303AC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81" y="3774173"/>
            <a:ext cx="0" cy="1041598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27" name="Text Box 133">
            <a:extLst>
              <a:ext uri="{FF2B5EF4-FFF2-40B4-BE49-F238E27FC236}">
                <a16:creationId xmlns:a16="http://schemas.microsoft.com/office/drawing/2014/main" id="{A2C95BC2-D9E3-69F6-79DE-D38EC9F94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78" y="1449977"/>
            <a:ext cx="78736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128" name="Text Box 134">
            <a:extLst>
              <a:ext uri="{FF2B5EF4-FFF2-40B4-BE49-F238E27FC236}">
                <a16:creationId xmlns:a16="http://schemas.microsoft.com/office/drawing/2014/main" id="{77F84CA9-0BB9-145A-E0FA-6F2D9AD49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8680" y="1626984"/>
            <a:ext cx="1095141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129" name="Text Box 135">
            <a:extLst>
              <a:ext uri="{FF2B5EF4-FFF2-40B4-BE49-F238E27FC236}">
                <a16:creationId xmlns:a16="http://schemas.microsoft.com/office/drawing/2014/main" id="{B7B7BDF4-D461-90B3-9297-8F802F34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040" y="2394056"/>
            <a:ext cx="1172085" cy="369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154" name="Line 13">
            <a:extLst>
              <a:ext uri="{FF2B5EF4-FFF2-40B4-BE49-F238E27FC236}">
                <a16:creationId xmlns:a16="http://schemas.microsoft.com/office/drawing/2014/main" id="{2FCE4DC9-2389-AE56-4E66-F2C569FC1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799" y="3913053"/>
            <a:ext cx="151960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Line 110">
            <a:extLst>
              <a:ext uri="{FF2B5EF4-FFF2-40B4-BE49-F238E27FC236}">
                <a16:creationId xmlns:a16="http://schemas.microsoft.com/office/drawing/2014/main" id="{125412EB-0058-531A-120F-D6501A8B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093529"/>
            <a:ext cx="0" cy="236873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6" name="Line 8">
            <a:extLst>
              <a:ext uri="{FF2B5EF4-FFF2-40B4-BE49-F238E27FC236}">
                <a16:creationId xmlns:a16="http://schemas.microsoft.com/office/drawing/2014/main" id="{284F9856-FEA0-9912-730D-E60AF89D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723" y="5326892"/>
            <a:ext cx="1747538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Line 9">
            <a:extLst>
              <a:ext uri="{FF2B5EF4-FFF2-40B4-BE49-F238E27FC236}">
                <a16:creationId xmlns:a16="http://schemas.microsoft.com/office/drawing/2014/main" id="{EF50FE4F-426F-034A-176B-AD9CD875C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2201" y="5326892"/>
            <a:ext cx="262057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8" name="AutoShape 67">
            <a:extLst>
              <a:ext uri="{FF2B5EF4-FFF2-40B4-BE49-F238E27FC236}">
                <a16:creationId xmlns:a16="http://schemas.microsoft.com/office/drawing/2014/main" id="{B223882A-1F9C-A302-66BC-108C373376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840498" y="5024784"/>
            <a:ext cx="565593" cy="236773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9" name="Rectangle 70">
            <a:extLst>
              <a:ext uri="{FF2B5EF4-FFF2-40B4-BE49-F238E27FC236}">
                <a16:creationId xmlns:a16="http://schemas.microsoft.com/office/drawing/2014/main" id="{8BF9BEFE-6D26-7E08-B667-3D085B66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139" y="5177696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0" name="Line 10">
            <a:extLst>
              <a:ext uri="{FF2B5EF4-FFF2-40B4-BE49-F238E27FC236}">
                <a16:creationId xmlns:a16="http://schemas.microsoft.com/office/drawing/2014/main" id="{54CDD31E-E476-A86A-5A20-61473448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753" y="5093529"/>
            <a:ext cx="1008061" cy="0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3" name="Text Box 30">
            <a:extLst>
              <a:ext uri="{FF2B5EF4-FFF2-40B4-BE49-F238E27FC236}">
                <a16:creationId xmlns:a16="http://schemas.microsoft.com/office/drawing/2014/main" id="{281B46CD-E4D4-9843-C9E9-B063CE2F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014" y="3367716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164" name="Line 124">
            <a:extLst>
              <a:ext uri="{FF2B5EF4-FFF2-40B4-BE49-F238E27FC236}">
                <a16:creationId xmlns:a16="http://schemas.microsoft.com/office/drawing/2014/main" id="{D6C77003-B91D-292A-D0ED-28834BAE00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3180" y="1794328"/>
            <a:ext cx="0" cy="1236577"/>
          </a:xfrm>
          <a:prstGeom prst="line">
            <a:avLst/>
          </a:prstGeom>
          <a:noFill/>
          <a:ln w="1905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6" name="Rectangle 70">
            <a:extLst>
              <a:ext uri="{FF2B5EF4-FFF2-40B4-BE49-F238E27FC236}">
                <a16:creationId xmlns:a16="http://schemas.microsoft.com/office/drawing/2014/main" id="{B6F9E2BD-EC7F-9EA6-D2F5-99165ECA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050" y="4958616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7" name="Rectangle 70">
            <a:extLst>
              <a:ext uri="{FF2B5EF4-FFF2-40B4-BE49-F238E27FC236}">
                <a16:creationId xmlns:a16="http://schemas.microsoft.com/office/drawing/2014/main" id="{029FD17A-58B6-584E-AA22-CB91D12F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380" y="4190812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68" name="Rectangle 70">
            <a:extLst>
              <a:ext uri="{FF2B5EF4-FFF2-40B4-BE49-F238E27FC236}">
                <a16:creationId xmlns:a16="http://schemas.microsoft.com/office/drawing/2014/main" id="{BCC79F90-FB79-A995-3187-AB565107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37" y="3913052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69" name="Rectangle 70">
            <a:extLst>
              <a:ext uri="{FF2B5EF4-FFF2-40B4-BE49-F238E27FC236}">
                <a16:creationId xmlns:a16="http://schemas.microsoft.com/office/drawing/2014/main" id="{666865C7-399F-10BD-9AB1-82D7A26D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67" y="1292554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0" name="Rectangle 70">
            <a:extLst>
              <a:ext uri="{FF2B5EF4-FFF2-40B4-BE49-F238E27FC236}">
                <a16:creationId xmlns:a16="http://schemas.microsoft.com/office/drawing/2014/main" id="{2EB333AE-CD6F-4E7C-C89C-7281BEE1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678" y="1561154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71" name="Text Box 32">
            <a:extLst>
              <a:ext uri="{FF2B5EF4-FFF2-40B4-BE49-F238E27FC236}">
                <a16:creationId xmlns:a16="http://schemas.microsoft.com/office/drawing/2014/main" id="{BF7EFBE6-E30F-7AFE-367C-4187CA7F8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656" y="2480153"/>
            <a:ext cx="314479" cy="55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72" name="Rectangle 70">
            <a:extLst>
              <a:ext uri="{FF2B5EF4-FFF2-40B4-BE49-F238E27FC236}">
                <a16:creationId xmlns:a16="http://schemas.microsoft.com/office/drawing/2014/main" id="{807AD728-38B0-7D8D-93E5-1D6C0FDD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72" y="3734735"/>
            <a:ext cx="137639" cy="20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1</a:t>
            </a:r>
          </a:p>
        </p:txBody>
      </p:sp>
      <p:sp>
        <p:nvSpPr>
          <p:cNvPr id="173" name="Rectangle 70">
            <a:extLst>
              <a:ext uri="{FF2B5EF4-FFF2-40B4-BE49-F238E27FC236}">
                <a16:creationId xmlns:a16="http://schemas.microsoft.com/office/drawing/2014/main" id="{68E7A216-F9A6-307E-6BEA-17C1B1D1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8683" y="4003335"/>
            <a:ext cx="137639" cy="18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auto" hangingPunct="0">
              <a:lnSpc>
                <a:spcPct val="7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rial" pitchFamily="34" charset="0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1001BBC3-8F5E-5382-C401-1639E88C0240}"/>
              </a:ext>
            </a:extLst>
          </p:cNvPr>
          <p:cNvSpPr/>
          <p:nvPr/>
        </p:nvSpPr>
        <p:spPr>
          <a:xfrm>
            <a:off x="5785707" y="2316635"/>
            <a:ext cx="372209" cy="842010"/>
          </a:xfrm>
          <a:custGeom>
            <a:avLst/>
            <a:gdLst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3810 w 386715"/>
              <a:gd name="connsiteY6" fmla="*/ 320040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3810 w 386715"/>
              <a:gd name="connsiteY4" fmla="*/ 49720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9525 w 386715"/>
              <a:gd name="connsiteY0" fmla="*/ 0 h 830580"/>
              <a:gd name="connsiteX1" fmla="*/ 386715 w 386715"/>
              <a:gd name="connsiteY1" fmla="*/ 245745 h 830580"/>
              <a:gd name="connsiteX2" fmla="*/ 384810 w 386715"/>
              <a:gd name="connsiteY2" fmla="*/ 579120 h 830580"/>
              <a:gd name="connsiteX3" fmla="*/ 0 w 386715"/>
              <a:gd name="connsiteY3" fmla="*/ 830580 h 830580"/>
              <a:gd name="connsiteX4" fmla="*/ 0 w 386715"/>
              <a:gd name="connsiteY4" fmla="*/ 508635 h 830580"/>
              <a:gd name="connsiteX5" fmla="*/ 70485 w 386715"/>
              <a:gd name="connsiteY5" fmla="*/ 409575 h 830580"/>
              <a:gd name="connsiteX6" fmla="*/ 7620 w 386715"/>
              <a:gd name="connsiteY6" fmla="*/ 318135 h 830580"/>
              <a:gd name="connsiteX7" fmla="*/ 9525 w 386715"/>
              <a:gd name="connsiteY7" fmla="*/ 0 h 83058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7620 w 386715"/>
              <a:gd name="connsiteY6" fmla="*/ 329565 h 842010"/>
              <a:gd name="connsiteX7" fmla="*/ 1905 w 386715"/>
              <a:gd name="connsiteY7" fmla="*/ 0 h 842010"/>
              <a:gd name="connsiteX0" fmla="*/ 5715 w 390525"/>
              <a:gd name="connsiteY0" fmla="*/ 0 h 842010"/>
              <a:gd name="connsiteX1" fmla="*/ 390525 w 390525"/>
              <a:gd name="connsiteY1" fmla="*/ 257175 h 842010"/>
              <a:gd name="connsiteX2" fmla="*/ 388620 w 390525"/>
              <a:gd name="connsiteY2" fmla="*/ 590550 h 842010"/>
              <a:gd name="connsiteX3" fmla="*/ 3810 w 390525"/>
              <a:gd name="connsiteY3" fmla="*/ 842010 h 842010"/>
              <a:gd name="connsiteX4" fmla="*/ 3810 w 390525"/>
              <a:gd name="connsiteY4" fmla="*/ 520065 h 842010"/>
              <a:gd name="connsiteX5" fmla="*/ 74295 w 390525"/>
              <a:gd name="connsiteY5" fmla="*/ 421005 h 842010"/>
              <a:gd name="connsiteX6" fmla="*/ 0 w 390525"/>
              <a:gd name="connsiteY6" fmla="*/ 327660 h 842010"/>
              <a:gd name="connsiteX7" fmla="*/ 5715 w 39052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5715 w 386715"/>
              <a:gd name="connsiteY6" fmla="*/ 327660 h 842010"/>
              <a:gd name="connsiteX7" fmla="*/ 1905 w 386715"/>
              <a:gd name="connsiteY7" fmla="*/ 0 h 842010"/>
              <a:gd name="connsiteX0" fmla="*/ 1905 w 386715"/>
              <a:gd name="connsiteY0" fmla="*/ 0 h 842010"/>
              <a:gd name="connsiteX1" fmla="*/ 386715 w 386715"/>
              <a:gd name="connsiteY1" fmla="*/ 257175 h 842010"/>
              <a:gd name="connsiteX2" fmla="*/ 384810 w 386715"/>
              <a:gd name="connsiteY2" fmla="*/ 590550 h 842010"/>
              <a:gd name="connsiteX3" fmla="*/ 0 w 386715"/>
              <a:gd name="connsiteY3" fmla="*/ 842010 h 842010"/>
              <a:gd name="connsiteX4" fmla="*/ 0 w 386715"/>
              <a:gd name="connsiteY4" fmla="*/ 520065 h 842010"/>
              <a:gd name="connsiteX5" fmla="*/ 70485 w 386715"/>
              <a:gd name="connsiteY5" fmla="*/ 421005 h 842010"/>
              <a:gd name="connsiteX6" fmla="*/ 1905 w 386715"/>
              <a:gd name="connsiteY6" fmla="*/ 327660 h 842010"/>
              <a:gd name="connsiteX7" fmla="*/ 1905 w 386715"/>
              <a:gd name="connsiteY7" fmla="*/ 0 h 84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15" h="842010">
                <a:moveTo>
                  <a:pt x="1905" y="0"/>
                </a:moveTo>
                <a:lnTo>
                  <a:pt x="386715" y="257175"/>
                </a:lnTo>
                <a:lnTo>
                  <a:pt x="384810" y="590550"/>
                </a:lnTo>
                <a:lnTo>
                  <a:pt x="0" y="842010"/>
                </a:lnTo>
                <a:lnTo>
                  <a:pt x="0" y="520065"/>
                </a:lnTo>
                <a:lnTo>
                  <a:pt x="70485" y="421005"/>
                </a:lnTo>
                <a:lnTo>
                  <a:pt x="1905" y="327660"/>
                </a:lnTo>
                <a:lnTo>
                  <a:pt x="1905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1" name="Rectangle 104">
            <a:extLst>
              <a:ext uri="{FF2B5EF4-FFF2-40B4-BE49-F238E27FC236}">
                <a16:creationId xmlns:a16="http://schemas.microsoft.com/office/drawing/2014/main" id="{4429B67E-D8D3-9810-E1A3-0952CF60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686" y="2695900"/>
            <a:ext cx="68162" cy="2535114"/>
          </a:xfrm>
          <a:prstGeom prst="rect">
            <a:avLst/>
          </a:prstGeom>
          <a:solidFill>
            <a:srgbClr val="A6E2F9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DBCC198D-8F05-B0D7-867F-34D478CF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631" y="2960993"/>
            <a:ext cx="1132010" cy="58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C91276F-4CAF-88F5-CED5-BE0DC74C9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972" y="3523895"/>
            <a:ext cx="684773" cy="33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FADA9C8D-EF5D-4087-C882-7175560E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047" y="3141428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1BF4C2A2-DA51-A3F2-66B1-C10748E71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411" y="3892751"/>
            <a:ext cx="679963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112" name="Line 118">
            <a:extLst>
              <a:ext uri="{FF2B5EF4-FFF2-40B4-BE49-F238E27FC236}">
                <a16:creationId xmlns:a16="http://schemas.microsoft.com/office/drawing/2014/main" id="{FCA325FD-4210-4C70-198D-E99EDC7C0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78960" y="4121372"/>
            <a:ext cx="151960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3" name="Line 118">
            <a:extLst>
              <a:ext uri="{FF2B5EF4-FFF2-40B4-BE49-F238E27FC236}">
                <a16:creationId xmlns:a16="http://schemas.microsoft.com/office/drawing/2014/main" id="{0FA0E142-B820-A5D6-4056-8D05A2A4D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8069" y="4143847"/>
            <a:ext cx="118182" cy="694398"/>
          </a:xfrm>
          <a:prstGeom prst="line">
            <a:avLst/>
          </a:prstGeom>
          <a:noFill/>
          <a:ln w="28575" cap="rnd">
            <a:solidFill>
              <a:sysClr val="windowText" lastClr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85" name="Text Box 88">
            <a:extLst>
              <a:ext uri="{FF2B5EF4-FFF2-40B4-BE49-F238E27FC236}">
                <a16:creationId xmlns:a16="http://schemas.microsoft.com/office/drawing/2014/main" id="{9A487E53-391C-9A52-8D21-7A3FF891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3363" y="3164294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447A0FD1-961A-40EE-D937-65E985236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80" y="398249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C93938C3-F62B-5F9F-C112-878EBC1E8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45" y="3630802"/>
            <a:ext cx="91720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Data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9C453617-4F3C-7E7B-05E7-27A3570F6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26" y="4069515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8AA49D62-398F-E1BB-8FBE-7F2BBB3D1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642" y="2967621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883B4F85-0058-724F-C198-22807FA7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2" y="3329446"/>
            <a:ext cx="63668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4DF9940-1A51-EE47-706B-174F3714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375" y="3715251"/>
            <a:ext cx="540952" cy="40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Write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 err="1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prstClr val="black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BFE22003-237E-9258-5A91-E2812761303D}"/>
              </a:ext>
            </a:extLst>
          </p:cNvPr>
          <p:cNvCxnSpPr>
            <a:cxnSpLocks/>
          </p:cNvCxnSpPr>
          <p:nvPr/>
        </p:nvCxnSpPr>
        <p:spPr>
          <a:xfrm>
            <a:off x="8133571" y="6152756"/>
            <a:ext cx="800481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C73B19C-AC49-01AC-A713-8BBAA8BA681F}"/>
              </a:ext>
            </a:extLst>
          </p:cNvPr>
          <p:cNvSpPr txBox="1"/>
          <p:nvPr/>
        </p:nvSpPr>
        <p:spPr>
          <a:xfrm>
            <a:off x="8052227" y="5745292"/>
            <a:ext cx="96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SimHei" panose="02010609060101010101" pitchFamily="49" charset="-122"/>
              </a:rPr>
              <a:t>SW</a:t>
            </a:r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2C2829D-AFDB-EB15-EA76-3421EDC68286}"/>
              </a:ext>
            </a:extLst>
          </p:cNvPr>
          <p:cNvSpPr txBox="1"/>
          <p:nvPr/>
        </p:nvSpPr>
        <p:spPr>
          <a:xfrm>
            <a:off x="6555894" y="5898935"/>
            <a:ext cx="118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ea typeface="SimHei" panose="02010609060101010101" pitchFamily="49" charset="-122"/>
              </a:rPr>
              <a:t>Write Back</a:t>
            </a:r>
            <a:endParaRPr lang="zh-CN" altLang="en-US" sz="1600" dirty="0">
              <a:ea typeface="SimHei" panose="02010609060101010101" pitchFamily="49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AC5F5EE-9145-7345-8F9D-2AB65D065F35}"/>
              </a:ext>
            </a:extLst>
          </p:cNvPr>
          <p:cNvSpPr txBox="1"/>
          <p:nvPr/>
        </p:nvSpPr>
        <p:spPr>
          <a:xfrm>
            <a:off x="5971811" y="6161929"/>
            <a:ext cx="233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ea typeface="SimHei" panose="02010609060101010101" pitchFamily="49" charset="-122"/>
              </a:rPr>
              <a:t>无数据写回寄存器堆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095941B-CAA9-5DE2-7FAE-162D55EF514B}"/>
              </a:ext>
            </a:extLst>
          </p:cNvPr>
          <p:cNvSpPr txBox="1"/>
          <p:nvPr/>
        </p:nvSpPr>
        <p:spPr>
          <a:xfrm>
            <a:off x="8237606" y="3135799"/>
            <a:ext cx="770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MemTo</a:t>
            </a:r>
            <a:endParaRPr lang="en-US" altLang="zh-CN" sz="1400" dirty="0">
              <a:solidFill>
                <a:srgbClr val="ED7D31"/>
              </a:solidFill>
              <a:ea typeface="SimHei" panose="02010609060101010101" pitchFamily="49" charset="-122"/>
            </a:endParaRPr>
          </a:p>
          <a:p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Reg=x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F7D8167-259A-C6EC-E9ED-BFF0E6780AE4}"/>
              </a:ext>
            </a:extLst>
          </p:cNvPr>
          <p:cNvSpPr txBox="1"/>
          <p:nvPr/>
        </p:nvSpPr>
        <p:spPr>
          <a:xfrm>
            <a:off x="3021342" y="2594822"/>
            <a:ext cx="942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solidFill>
                  <a:srgbClr val="ED7D31"/>
                </a:solidFill>
                <a:ea typeface="SimHei" panose="02010609060101010101" pitchFamily="49" charset="-122"/>
              </a:rPr>
              <a:t>RegWr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=0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19572A3-6DED-6DC9-5D58-1F204E9BB525}"/>
              </a:ext>
            </a:extLst>
          </p:cNvPr>
          <p:cNvSpPr txBox="1"/>
          <p:nvPr/>
        </p:nvSpPr>
        <p:spPr>
          <a:xfrm>
            <a:off x="8184620" y="2918623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ED7D31"/>
                </a:solidFill>
                <a:ea typeface="SimHei" panose="02010609060101010101" pitchFamily="49" charset="-122"/>
              </a:rPr>
              <a:t>为什么是</a:t>
            </a:r>
            <a:r>
              <a:rPr lang="en-US" altLang="zh-CN" sz="1400" dirty="0">
                <a:solidFill>
                  <a:srgbClr val="ED7D31"/>
                </a:solidFill>
                <a:ea typeface="SimHei" panose="02010609060101010101" pitchFamily="49" charset="-122"/>
              </a:rPr>
              <a:t>x</a:t>
            </a:r>
            <a:endParaRPr lang="zh-CN" altLang="en-US" sz="1400" dirty="0">
              <a:solidFill>
                <a:srgbClr val="ED7D31"/>
              </a:solidFill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7245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另一个例子：结果正确吗？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3B5B00C-BDA3-7CD9-8AE0-49F4D884C2DA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143F7C2-B8D9-F3D7-292E-0A03AFE06765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51EEED0-179D-1977-503D-46349F96B8DA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1A38D04-A590-E158-B3A3-1FADBD6D6B94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8E9F7D3-A006-ED3C-1B7D-DF1F0F7DD539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CAD36B08-C6E4-A164-84E3-29B1505E4A03}"/>
                </a:ext>
              </a:extLst>
            </p:cNvPr>
            <p:cNvCxnSpPr>
              <a:stCxn id="80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05BFFB-A0AE-C9A6-FE0F-93EA5408AD32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19116A4-5C8C-F5B1-7839-D937375F3528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E62E1CDF-306C-F731-5747-34312FD080E9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60FD8462-B927-5EEA-F494-733FF3A67B45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24C69D97-3A22-C6CB-F9A5-1E49F5BC9F4D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EFA49E50-BDE0-6088-65C3-DCA180F80D81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5DA03788-D6A6-7537-9B9C-615D93C58697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76E1E6B-25A3-3DCD-89E1-2FA00384D524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E166B3FF-F0A9-4F86-B1AA-6AF5C6922DD1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675299AF-7C99-2407-10EE-12C60FA98D83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DC07DC67-7EC8-C590-535F-E3FDF4F114DE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CD4D78B-BBFE-BC3D-111F-3A82DFB5E0C9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35D3E2E-54DF-A4FB-250C-F309D1BE4DB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80789324-7A6B-4018-CEA7-3E774C540537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CE5D5CE-1452-62A2-6F7F-FFDF34712290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0AFD33E6-0806-992E-9240-3142DA38924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5594FCF-AB37-E7E3-5F88-445142F4D746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2F971F4-AB9B-F8C7-419C-56977DD39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B78BB5E6-610D-6518-7B93-C2D0D549EABA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46F877CB-AB4D-54E8-716E-D83ACF9C04D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880C53E-685D-B24F-C495-D5515037785F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95C89974-317D-D2CE-5411-AC4265590DA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688C7D7-628D-5F69-3CFA-CF9C64DC51BC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8580F21A-9E81-549A-4ECA-F1132EF045E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0F54BD9-A242-FB64-9D64-BC225C1EBB50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4620886-1AF1-3646-5F8F-2DE79DB643F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D5A6A592-6575-76DA-3EB6-0062213345A6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8B696F1A-BDFF-7C53-7749-C8F332DD284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83409B6A-DBE6-D408-6B4F-7B5894B7F2C7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246B332-931C-FCC0-594F-2F9FA80324C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45A3A75-1D5A-64C8-AA07-F8B6C38460F4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BB54EE23-0446-4AB7-4829-04FA8199CC8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0A1B453-24A2-19ED-9225-909DF4586B91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F0FD9F29-F2C0-0099-48D8-AAC8C05B743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FAB1843-B3F4-6779-0BA3-DD5DC1C90AE1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878E74B-B04F-FEB0-974B-5E00DE48653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A094511-B11A-22E1-C4C9-4400DC17CF0A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C8224547-9E69-BDE0-3686-C44EAC4B3D8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677D6ABC-358C-8B14-0863-2A0EE7626BDD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7023726-AFC3-D284-9BFA-984977EFD71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79669B13-AC88-6173-0E7A-A7B3042CFD6F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E80C2ED0-5263-E774-D6D8-EFD4928971C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EC274E4F-58AE-2AE6-F198-32E26D7C2165}"/>
                </a:ext>
              </a:extLst>
            </p:cNvPr>
            <p:cNvCxnSpPr>
              <a:cxnSpLocks/>
              <a:stCxn id="80" idx="3"/>
              <a:endCxn id="98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90ACC08-87E3-8FFF-970D-9BF8D6059FD9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4D9FF41-F62B-382C-1F64-9A07E2F6B185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CD9290EF-8D10-537D-E3FF-D75B515D9DCB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C275C7E-A053-9FA9-4AA5-4317C99A3CC0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3B7A1A5C-FCFB-71DD-4332-79BD3C1A7E42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CEF1BF6-C8BD-CE38-B2BB-DF09945C6313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1C238B89-5DF1-95A6-0997-C902F9DDDA4C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D85F80FE-32A8-E9DD-C855-B3C5391F7711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549BA82-3BEC-1069-A10B-A87FD1D70823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2F8D2CCF-3E23-9C89-1C71-4350D2A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476CDFC-D036-3726-AC3E-D3B7E8455B4D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DDDC01A6-92DE-87CB-83B8-84C34A0E2901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AD42158D-4A6A-3394-B2E5-B6E2A8DFC02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B03DFB4-0E46-E72A-7D6D-BDC4A5A81798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" name="Rectangle 5">
            <a:extLst>
              <a:ext uri="{FF2B5EF4-FFF2-40B4-BE49-F238E27FC236}">
                <a16:creationId xmlns:a16="http://schemas.microsoft.com/office/drawing/2014/main" id="{09B96C47-F7F1-6C55-7B8D-AA9439A31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LW </a:t>
            </a:r>
            <a:r>
              <a:rPr lang="pt-BR" altLang="zh-CN" sz="1900" dirty="0">
                <a:solidFill>
                  <a:srgbClr val="C0000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R2</a:t>
            </a: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,R9(10)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ADD </a:t>
            </a:r>
            <a:r>
              <a:rPr lang="pt-BR" altLang="zh-CN" sz="1900" dirty="0">
                <a:solidFill>
                  <a:srgbClr val="7030A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R4</a:t>
            </a: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,R3,</a:t>
            </a:r>
            <a:r>
              <a:rPr lang="pt-BR" altLang="zh-CN" sz="1900" dirty="0">
                <a:solidFill>
                  <a:srgbClr val="C0000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AND R6,R5,</a:t>
            </a:r>
            <a:r>
              <a:rPr lang="pt-BR" altLang="zh-CN" sz="1900" dirty="0">
                <a:solidFill>
                  <a:srgbClr val="7030A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R4</a:t>
            </a:r>
          </a:p>
        </p:txBody>
      </p:sp>
      <p:sp>
        <p:nvSpPr>
          <p:cNvPr id="5" name="Text Box 16" descr=" 1798160">
            <a:extLst>
              <a:ext uri="{FF2B5EF4-FFF2-40B4-BE49-F238E27FC236}">
                <a16:creationId xmlns:a16="http://schemas.microsoft.com/office/drawing/2014/main" id="{88FF73F1-0EC9-973C-DCA5-6A90CC86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055" y="4625014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C0000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C0000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6" name="Text Box 17" descr=" 1798161">
            <a:extLst>
              <a:ext uri="{FF2B5EF4-FFF2-40B4-BE49-F238E27FC236}">
                <a16:creationId xmlns:a16="http://schemas.microsoft.com/office/drawing/2014/main" id="{FDBD1646-EAD8-8173-B767-F4D043331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603" y="4619978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8" descr=" 1798162">
            <a:extLst>
              <a:ext uri="{FF2B5EF4-FFF2-40B4-BE49-F238E27FC236}">
                <a16:creationId xmlns:a16="http://schemas.microsoft.com/office/drawing/2014/main" id="{CEB499BD-4A00-40DC-62EF-9EA02613E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62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3950645-6286-920E-CC1B-33A282192F08}"/>
              </a:ext>
            </a:extLst>
          </p:cNvPr>
          <p:cNvSpPr txBox="1"/>
          <p:nvPr/>
        </p:nvSpPr>
        <p:spPr>
          <a:xfrm>
            <a:off x="581502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</a:t>
            </a:r>
            <a:r>
              <a:rPr lang="en-US" sz="1600" dirty="0">
                <a:ea typeface="SimHei" panose="02010609060101010101" pitchFamily="49" charset="-122"/>
              </a:rPr>
              <a:t>D</a:t>
            </a:r>
            <a:r>
              <a:rPr lang="en-CN" sz="1600" dirty="0">
                <a:ea typeface="SimHei" panose="02010609060101010101" pitchFamily="49" charset="-122"/>
              </a:rPr>
              <a:t>D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24C40CF-0D91-B1E8-82E3-2990B17A748C}"/>
              </a:ext>
            </a:extLst>
          </p:cNvPr>
          <p:cNvSpPr txBox="1"/>
          <p:nvPr/>
        </p:nvSpPr>
        <p:spPr>
          <a:xfrm>
            <a:off x="75070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</a:t>
            </a:r>
            <a:r>
              <a:rPr lang="en-US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9DF2AF-AAFE-E820-4F0B-8195504D1D18}"/>
              </a:ext>
            </a:extLst>
          </p:cNvPr>
          <p:cNvSpPr txBox="1"/>
          <p:nvPr/>
        </p:nvSpPr>
        <p:spPr>
          <a:xfrm>
            <a:off x="395384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sz="1600" dirty="0">
                <a:ea typeface="SimHei" panose="02010609060101010101" pitchFamily="49" charset="-122"/>
              </a:rPr>
              <a:t>AND</a:t>
            </a:r>
            <a:endParaRPr lang="en-CN" sz="1600" dirty="0">
              <a:ea typeface="SimHei" panose="02010609060101010101" pitchFamily="49" charset="-122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F1C1FD-E5E4-6AE4-7405-8E244B29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245225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84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3559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3661A-0851-4B0A-9A0F-CE4DB6B5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另一个例子：结果正确吗？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3B5B00C-BDA3-7CD9-8AE0-49F4D884C2DA}"/>
              </a:ext>
            </a:extLst>
          </p:cNvPr>
          <p:cNvGrpSpPr/>
          <p:nvPr/>
        </p:nvGrpSpPr>
        <p:grpSpPr>
          <a:xfrm>
            <a:off x="228600" y="1184434"/>
            <a:ext cx="8766531" cy="3455020"/>
            <a:chOff x="228600" y="1184434"/>
            <a:chExt cx="8766531" cy="345502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143F7C2-B8D9-F3D7-292E-0A03AFE06765}"/>
                </a:ext>
              </a:extLst>
            </p:cNvPr>
            <p:cNvSpPr/>
            <p:nvPr/>
          </p:nvSpPr>
          <p:spPr>
            <a:xfrm>
              <a:off x="765048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IF/ID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51EEED0-179D-1977-503D-46349F96B8DA}"/>
                </a:ext>
              </a:extLst>
            </p:cNvPr>
            <p:cNvSpPr/>
            <p:nvPr/>
          </p:nvSpPr>
          <p:spPr>
            <a:xfrm>
              <a:off x="3553273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ID/EX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71A38D04-A590-E158-B3A3-1FADBD6D6B94}"/>
                </a:ext>
              </a:extLst>
            </p:cNvPr>
            <p:cNvSpPr/>
            <p:nvPr/>
          </p:nvSpPr>
          <p:spPr>
            <a:xfrm>
              <a:off x="5416565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EX/MEM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8E9F7D3-A006-ED3C-1B7D-DF1F0F7DD539}"/>
                </a:ext>
              </a:extLst>
            </p:cNvPr>
            <p:cNvSpPr/>
            <p:nvPr/>
          </p:nvSpPr>
          <p:spPr>
            <a:xfrm>
              <a:off x="7274430" y="1691640"/>
              <a:ext cx="386454" cy="29478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MEM/WB Registers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CAD36B08-C6E4-A164-84E3-29B1505E4A03}"/>
                </a:ext>
              </a:extLst>
            </p:cNvPr>
            <p:cNvCxnSpPr>
              <a:stCxn id="80" idx="0"/>
            </p:cNvCxnSpPr>
            <p:nvPr/>
          </p:nvCxnSpPr>
          <p:spPr>
            <a:xfrm flipV="1">
              <a:off x="958275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5A05BFFB-A0AE-C9A6-FE0F-93EA5408AD32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3746500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19116A4-5C8C-F5B1-7839-D937375F3528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5609792" y="1242693"/>
              <a:ext cx="0" cy="448947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E62E1CDF-306C-F731-5747-34312FD080E9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V="1">
              <a:off x="7467657" y="1242692"/>
              <a:ext cx="0" cy="448948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60FD8462-B927-5EEA-F494-733FF3A67B45}"/>
                </a:ext>
              </a:extLst>
            </p:cNvPr>
            <p:cNvCxnSpPr>
              <a:cxnSpLocks/>
            </p:cNvCxnSpPr>
            <p:nvPr/>
          </p:nvCxnSpPr>
          <p:spPr>
            <a:xfrm>
              <a:off x="958275" y="1564702"/>
              <a:ext cx="278822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24C69D97-3A22-C6CB-F9A5-1E49F5BC9F4D}"/>
                </a:ext>
              </a:extLst>
            </p:cNvPr>
            <p:cNvCxnSpPr>
              <a:cxnSpLocks/>
            </p:cNvCxnSpPr>
            <p:nvPr/>
          </p:nvCxnSpPr>
          <p:spPr>
            <a:xfrm>
              <a:off x="3746500" y="1564702"/>
              <a:ext cx="1863292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EFA49E50-BDE0-6088-65C3-DCA180F80D81}"/>
                </a:ext>
              </a:extLst>
            </p:cNvPr>
            <p:cNvCxnSpPr>
              <a:cxnSpLocks/>
            </p:cNvCxnSpPr>
            <p:nvPr/>
          </p:nvCxnSpPr>
          <p:spPr>
            <a:xfrm>
              <a:off x="5609792" y="1564702"/>
              <a:ext cx="185786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5DA03788-D6A6-7537-9B9C-615D93C58697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57" y="1564702"/>
              <a:ext cx="1379227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B76E1E6B-25A3-3DCD-89E1-2FA00384D524}"/>
                </a:ext>
              </a:extLst>
            </p:cNvPr>
            <p:cNvSpPr txBox="1"/>
            <p:nvPr/>
          </p:nvSpPr>
          <p:spPr>
            <a:xfrm>
              <a:off x="5615222" y="1184434"/>
              <a:ext cx="1863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MEM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E166B3FF-F0A9-4F86-B1AA-6AF5C6922DD1}"/>
                </a:ext>
              </a:extLst>
            </p:cNvPr>
            <p:cNvSpPr txBox="1"/>
            <p:nvPr/>
          </p:nvSpPr>
          <p:spPr>
            <a:xfrm>
              <a:off x="3746500" y="1185198"/>
              <a:ext cx="1857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EX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675299AF-7C99-2407-10EE-12C60FA98D83}"/>
                </a:ext>
              </a:extLst>
            </p:cNvPr>
            <p:cNvSpPr txBox="1"/>
            <p:nvPr/>
          </p:nvSpPr>
          <p:spPr>
            <a:xfrm>
              <a:off x="7467656" y="1187377"/>
              <a:ext cx="1379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WB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DC07DC67-7EC8-C590-535F-E3FDF4F114DE}"/>
                </a:ext>
              </a:extLst>
            </p:cNvPr>
            <p:cNvSpPr txBox="1"/>
            <p:nvPr/>
          </p:nvSpPr>
          <p:spPr>
            <a:xfrm>
              <a:off x="947418" y="1194895"/>
              <a:ext cx="2799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ID/RF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CD4D78B-BBFE-BC3D-111F-3A82DFB5E0C9}"/>
                </a:ext>
              </a:extLst>
            </p:cNvPr>
            <p:cNvSpPr txBox="1"/>
            <p:nvPr/>
          </p:nvSpPr>
          <p:spPr>
            <a:xfrm>
              <a:off x="2287937" y="163229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ExtOp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35D3E2E-54DF-A4FB-250C-F309D1BE4DB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1935689"/>
              <a:ext cx="862079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80789324-7A6B-4018-CEA7-3E774C540537}"/>
                </a:ext>
              </a:extLst>
            </p:cNvPr>
            <p:cNvSpPr/>
            <p:nvPr/>
          </p:nvSpPr>
          <p:spPr>
            <a:xfrm>
              <a:off x="1392873" y="1734680"/>
              <a:ext cx="940368" cy="2864698"/>
            </a:xfrm>
            <a:prstGeom prst="roundRect">
              <a:avLst>
                <a:gd name="adj" fmla="val 190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Unit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CE5D5CE-1452-62A2-6F7F-FFDF34712290}"/>
                </a:ext>
              </a:extLst>
            </p:cNvPr>
            <p:cNvSpPr txBox="1"/>
            <p:nvPr/>
          </p:nvSpPr>
          <p:spPr>
            <a:xfrm>
              <a:off x="2287937" y="199163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0AFD33E6-0806-992E-9240-3142DA389243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22950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5594FCF-AB37-E7E3-5F88-445142F4D746}"/>
                </a:ext>
              </a:extLst>
            </p:cNvPr>
            <p:cNvSpPr txBox="1"/>
            <p:nvPr/>
          </p:nvSpPr>
          <p:spPr>
            <a:xfrm>
              <a:off x="2287937" y="235097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2F971F4-AB9B-F8C7-419C-56977DD39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241" y="2654369"/>
              <a:ext cx="1220032" cy="2862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B78BB5E6-610D-6518-7B93-C2D0D549EABA}"/>
                </a:ext>
              </a:extLst>
            </p:cNvPr>
            <p:cNvSpPr txBox="1"/>
            <p:nvPr/>
          </p:nvSpPr>
          <p:spPr>
            <a:xfrm>
              <a:off x="2287937" y="271031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46F877CB-AB4D-54E8-716E-D83ACF9C04D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02132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880C53E-685D-B24F-C495-D5515037785F}"/>
                </a:ext>
              </a:extLst>
            </p:cNvPr>
            <p:cNvSpPr txBox="1"/>
            <p:nvPr/>
          </p:nvSpPr>
          <p:spPr>
            <a:xfrm>
              <a:off x="2287937" y="3069655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95C89974-317D-D2CE-5411-AC4265590DA8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38066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688C7D7-628D-5F69-3CFA-CF9C64DC51BC}"/>
                </a:ext>
              </a:extLst>
            </p:cNvPr>
            <p:cNvSpPr txBox="1"/>
            <p:nvPr/>
          </p:nvSpPr>
          <p:spPr>
            <a:xfrm>
              <a:off x="2287936" y="3428995"/>
              <a:ext cx="12309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8580F21A-9E81-549A-4ECA-F1132EF045EA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374000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0F54BD9-A242-FB64-9D64-BC225C1EBB50}"/>
                </a:ext>
              </a:extLst>
            </p:cNvPr>
            <p:cNvSpPr txBox="1"/>
            <p:nvPr/>
          </p:nvSpPr>
          <p:spPr>
            <a:xfrm>
              <a:off x="2287937" y="3788335"/>
              <a:ext cx="1309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4620886-1AF1-3646-5F8F-2DE79DB643F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099349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D5A6A592-6575-76DA-3EB6-0062213345A6}"/>
                </a:ext>
              </a:extLst>
            </p:cNvPr>
            <p:cNvSpPr txBox="1"/>
            <p:nvPr/>
          </p:nvSpPr>
          <p:spPr>
            <a:xfrm>
              <a:off x="2287937" y="41476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8B696F1A-BDFF-7C53-7749-C8F332DD2842}"/>
                </a:ext>
              </a:extLst>
            </p:cNvPr>
            <p:cNvCxnSpPr>
              <a:cxnSpLocks/>
            </p:cNvCxnSpPr>
            <p:nvPr/>
          </p:nvCxnSpPr>
          <p:spPr>
            <a:xfrm>
              <a:off x="2333241" y="4458691"/>
              <a:ext cx="122003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83409B6A-DBE6-D408-6B4F-7B5894B7F2C7}"/>
                </a:ext>
              </a:extLst>
            </p:cNvPr>
            <p:cNvSpPr txBox="1"/>
            <p:nvPr/>
          </p:nvSpPr>
          <p:spPr>
            <a:xfrm>
              <a:off x="3900520" y="199449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ALUSrc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246B332-931C-FCC0-594F-2F9FA80324C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2978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45A3A75-1D5A-64C8-AA07-F8B6C38460F4}"/>
                </a:ext>
              </a:extLst>
            </p:cNvPr>
            <p:cNvSpPr txBox="1"/>
            <p:nvPr/>
          </p:nvSpPr>
          <p:spPr>
            <a:xfrm>
              <a:off x="3900520" y="235383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ALUOp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BB54EE23-0446-4AB7-4829-04FA8199CC89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265723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0A1B453-24A2-19ED-9225-909DF4586B91}"/>
                </a:ext>
              </a:extLst>
            </p:cNvPr>
            <p:cNvSpPr txBox="1"/>
            <p:nvPr/>
          </p:nvSpPr>
          <p:spPr>
            <a:xfrm>
              <a:off x="3900520" y="271317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RegDst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F0FD9F29-F2C0-0099-48D8-AAC8C05B7433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024191"/>
              <a:ext cx="1110304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FAB1843-B3F4-6779-0BA3-DD5DC1C90AE1}"/>
                </a:ext>
              </a:extLst>
            </p:cNvPr>
            <p:cNvSpPr txBox="1"/>
            <p:nvPr/>
          </p:nvSpPr>
          <p:spPr>
            <a:xfrm>
              <a:off x="3900520" y="3072517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878E74B-B04F-FEB0-974B-5E00DE48653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38353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DA094511-B11A-22E1-C4C9-4400DC17CF0A}"/>
                </a:ext>
              </a:extLst>
            </p:cNvPr>
            <p:cNvSpPr txBox="1"/>
            <p:nvPr/>
          </p:nvSpPr>
          <p:spPr>
            <a:xfrm>
              <a:off x="3899280" y="3431856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C8224547-9E69-BDE0-3686-C44EAC4B3D85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374287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677D6ABC-358C-8B14-0863-2A0EE7626BDD}"/>
                </a:ext>
              </a:extLst>
            </p:cNvPr>
            <p:cNvSpPr txBox="1"/>
            <p:nvPr/>
          </p:nvSpPr>
          <p:spPr>
            <a:xfrm>
              <a:off x="3900519" y="3791197"/>
              <a:ext cx="1303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7023726-AFC3-D284-9BFA-984977EFD712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102211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79669B13-AC88-6173-0E7A-A7B3042CFD6F}"/>
                </a:ext>
              </a:extLst>
            </p:cNvPr>
            <p:cNvSpPr txBox="1"/>
            <p:nvPr/>
          </p:nvSpPr>
          <p:spPr>
            <a:xfrm>
              <a:off x="3900520" y="4150539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E80C2ED0-5263-E774-D6D8-EFD4928971C1}"/>
                </a:ext>
              </a:extLst>
            </p:cNvPr>
            <p:cNvCxnSpPr>
              <a:cxnSpLocks/>
            </p:cNvCxnSpPr>
            <p:nvPr/>
          </p:nvCxnSpPr>
          <p:spPr>
            <a:xfrm>
              <a:off x="3939728" y="4461553"/>
              <a:ext cx="1476837" cy="0"/>
            </a:xfrm>
            <a:prstGeom prst="straightConnector1">
              <a:avLst/>
            </a:prstGeom>
            <a:ln>
              <a:solidFill>
                <a:srgbClr val="ED7D31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EC274E4F-58AE-2AE6-F198-32E26D7C2165}"/>
                </a:ext>
              </a:extLst>
            </p:cNvPr>
            <p:cNvCxnSpPr>
              <a:cxnSpLocks/>
              <a:stCxn id="80" idx="3"/>
              <a:endCxn id="98" idx="1"/>
            </p:cNvCxnSpPr>
            <p:nvPr/>
          </p:nvCxnSpPr>
          <p:spPr>
            <a:xfrm>
              <a:off x="1151502" y="3165547"/>
              <a:ext cx="241371" cy="1482"/>
            </a:xfrm>
            <a:prstGeom prst="straightConnector1">
              <a:avLst/>
            </a:prstGeom>
            <a:ln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90ACC08-87E3-8FFF-970D-9BF8D6059FD9}"/>
                </a:ext>
              </a:extLst>
            </p:cNvPr>
            <p:cNvSpPr txBox="1"/>
            <p:nvPr/>
          </p:nvSpPr>
          <p:spPr>
            <a:xfrm>
              <a:off x="5758928" y="3090441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4D9FF41-F62B-382C-1F64-9A07E2F6B185}"/>
                </a:ext>
              </a:extLst>
            </p:cNvPr>
            <p:cNvSpPr txBox="1"/>
            <p:nvPr/>
          </p:nvSpPr>
          <p:spPr>
            <a:xfrm>
              <a:off x="5757688" y="3449780"/>
              <a:ext cx="1273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ea typeface="SimHei" panose="02010609060101010101" pitchFamily="49" charset="-122"/>
                </a:rPr>
                <a:t>Branch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CD9290EF-8D10-537D-E3FF-D75B515D9DCB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760795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C275C7E-A053-9FA9-4AA5-4317C99A3CC0}"/>
                </a:ext>
              </a:extLst>
            </p:cNvPr>
            <p:cNvSpPr txBox="1"/>
            <p:nvPr/>
          </p:nvSpPr>
          <p:spPr>
            <a:xfrm>
              <a:off x="5758927" y="3809121"/>
              <a:ext cx="14732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3B7A1A5C-FCFB-71DD-4332-79BD3C1A7E42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120135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CEF1BF6-C8BD-CE38-B2BB-DF09945C6313}"/>
                </a:ext>
              </a:extLst>
            </p:cNvPr>
            <p:cNvSpPr txBox="1"/>
            <p:nvPr/>
          </p:nvSpPr>
          <p:spPr>
            <a:xfrm>
              <a:off x="5758928" y="4168463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1C238B89-5DF1-95A6-0997-C902F9DDDA4C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4479477"/>
              <a:ext cx="1476837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D85F80FE-32A8-E9DD-C855-B3C5391F7711}"/>
                </a:ext>
              </a:extLst>
            </p:cNvPr>
            <p:cNvCxnSpPr>
              <a:cxnSpLocks/>
            </p:cNvCxnSpPr>
            <p:nvPr/>
          </p:nvCxnSpPr>
          <p:spPr>
            <a:xfrm>
              <a:off x="5798136" y="3392621"/>
              <a:ext cx="1110304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549BA82-3BEC-1069-A10B-A87FD1D70823}"/>
                </a:ext>
              </a:extLst>
            </p:cNvPr>
            <p:cNvSpPr txBox="1"/>
            <p:nvPr/>
          </p:nvSpPr>
          <p:spPr>
            <a:xfrm>
              <a:off x="7615905" y="3809120"/>
              <a:ext cx="1379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MemToReg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2F8D2CCF-3E23-9C89-1C71-4350D2A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120134"/>
              <a:ext cx="1191771" cy="1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476CDFC-D036-3726-AC3E-D3B7E8455B4D}"/>
                </a:ext>
              </a:extLst>
            </p:cNvPr>
            <p:cNvSpPr txBox="1"/>
            <p:nvPr/>
          </p:nvSpPr>
          <p:spPr>
            <a:xfrm>
              <a:off x="7615905" y="4168462"/>
              <a:ext cx="1188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ea typeface="SimHei" panose="02010609060101010101" pitchFamily="49" charset="-122"/>
                </a:rPr>
                <a:t>RegWr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DDDC01A6-92DE-87CB-83B8-84C34A0E2901}"/>
                </a:ext>
              </a:extLst>
            </p:cNvPr>
            <p:cNvCxnSpPr>
              <a:cxnSpLocks/>
            </p:cNvCxnSpPr>
            <p:nvPr/>
          </p:nvCxnSpPr>
          <p:spPr>
            <a:xfrm>
              <a:off x="7655113" y="4479476"/>
              <a:ext cx="1191771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AD42158D-4A6A-3394-B2E5-B6E2A8DFC02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" y="1570334"/>
              <a:ext cx="729675" cy="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B03DFB4-0E46-E72A-7D6D-BDC4A5A81798}"/>
                </a:ext>
              </a:extLst>
            </p:cNvPr>
            <p:cNvSpPr txBox="1"/>
            <p:nvPr/>
          </p:nvSpPr>
          <p:spPr>
            <a:xfrm>
              <a:off x="228600" y="1197595"/>
              <a:ext cx="718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ea typeface="SimHei" panose="02010609060101010101" pitchFamily="49" charset="-122"/>
                </a:rPr>
                <a:t>IF</a:t>
              </a:r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" name="Rectangle 5">
            <a:extLst>
              <a:ext uri="{FF2B5EF4-FFF2-40B4-BE49-F238E27FC236}">
                <a16:creationId xmlns:a16="http://schemas.microsoft.com/office/drawing/2014/main" id="{09B96C47-F7F1-6C55-7B8D-AA9439A31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8" y="4982210"/>
            <a:ext cx="2488883" cy="126301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例子程序</a:t>
            </a:r>
            <a:endParaRPr lang="en-US" altLang="zh-CN" sz="1900" dirty="0">
              <a:solidFill>
                <a:srgbClr val="00B0F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I1: LW </a:t>
            </a:r>
            <a:r>
              <a:rPr lang="pt-BR" altLang="zh-CN" sz="1900" dirty="0">
                <a:solidFill>
                  <a:srgbClr val="C0000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R2</a:t>
            </a: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,R9(10)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I2: ADD </a:t>
            </a:r>
            <a:r>
              <a:rPr lang="pt-BR" altLang="zh-CN" sz="1900" dirty="0">
                <a:solidFill>
                  <a:srgbClr val="7030A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R4</a:t>
            </a: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,R3,</a:t>
            </a:r>
            <a:r>
              <a:rPr lang="pt-BR" altLang="zh-CN" sz="1900" dirty="0">
                <a:solidFill>
                  <a:srgbClr val="C0000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R2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pt-BR" altLang="zh-CN" sz="1900" dirty="0">
                <a:solidFill>
                  <a:srgbClr val="00B0F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I3: AND R6,R5,</a:t>
            </a:r>
            <a:r>
              <a:rPr lang="pt-BR" altLang="zh-CN" sz="1900" dirty="0">
                <a:solidFill>
                  <a:srgbClr val="7030A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R4</a:t>
            </a:r>
          </a:p>
          <a:p>
            <a:pPr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endParaRPr lang="pt-BR" altLang="zh-CN" sz="1900" dirty="0">
              <a:solidFill>
                <a:srgbClr val="7030A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</p:txBody>
      </p:sp>
      <p:sp>
        <p:nvSpPr>
          <p:cNvPr id="5" name="Text Box 16" descr=" 1798160">
            <a:extLst>
              <a:ext uri="{FF2B5EF4-FFF2-40B4-BE49-F238E27FC236}">
                <a16:creationId xmlns:a16="http://schemas.microsoft.com/office/drawing/2014/main" id="{88FF73F1-0EC9-973C-DCA5-6A90CC86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055" y="4625014"/>
            <a:ext cx="1498599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C0000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C0000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6" name="Text Box 17" descr=" 1798161">
            <a:extLst>
              <a:ext uri="{FF2B5EF4-FFF2-40B4-BE49-F238E27FC236}">
                <a16:creationId xmlns:a16="http://schemas.microsoft.com/office/drawing/2014/main" id="{FDBD1646-EAD8-8173-B767-F4D043331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603" y="4619978"/>
            <a:ext cx="170815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D5F4FF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7" name="Text Box 18" descr=" 1798162">
            <a:extLst>
              <a:ext uri="{FF2B5EF4-FFF2-40B4-BE49-F238E27FC236}">
                <a16:creationId xmlns:a16="http://schemas.microsoft.com/office/drawing/2014/main" id="{CEB499BD-4A00-40DC-62EF-9EA02613E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621" y="4657388"/>
            <a:ext cx="1701800" cy="220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59" tIns="46031" rIns="92059" bIns="46031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ALUSrc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ALUOp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RegDst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Branch=0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MemToReg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600" b="0" dirty="0" err="1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RegWr</a:t>
            </a:r>
            <a:r>
              <a:rPr lang="en-US" altLang="zh-CN" sz="1600" b="0" dirty="0">
                <a:solidFill>
                  <a:srgbClr val="00B0F0"/>
                </a:solidFill>
                <a:latin typeface="+mj-lt"/>
                <a:ea typeface="SimHei" panose="02010609060101010101" pitchFamily="49" charset="-122"/>
              </a:rPr>
              <a:t>=1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sz="1600" b="0" dirty="0">
              <a:solidFill>
                <a:srgbClr val="00B0F0"/>
              </a:solidFill>
              <a:latin typeface="+mj-lt"/>
              <a:ea typeface="SimHei" panose="02010609060101010101" pitchFamily="49" charset="-122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3950645-6286-920E-CC1B-33A282192F08}"/>
              </a:ext>
            </a:extLst>
          </p:cNvPr>
          <p:cNvSpPr txBox="1"/>
          <p:nvPr/>
        </p:nvSpPr>
        <p:spPr>
          <a:xfrm>
            <a:off x="5815022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I2-A</a:t>
            </a:r>
            <a:r>
              <a:rPr lang="en-US" sz="1600" dirty="0">
                <a:ea typeface="SimHei" panose="02010609060101010101" pitchFamily="49" charset="-122"/>
              </a:rPr>
              <a:t>DD</a:t>
            </a:r>
            <a:endParaRPr lang="en-CN" sz="1600" dirty="0">
              <a:ea typeface="SimHei" panose="02010609060101010101" pitchFamily="49" charset="-122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24C40CF-0D91-B1E8-82E3-2990B17A748C}"/>
              </a:ext>
            </a:extLst>
          </p:cNvPr>
          <p:cNvSpPr txBox="1"/>
          <p:nvPr/>
        </p:nvSpPr>
        <p:spPr>
          <a:xfrm>
            <a:off x="750705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I1-</a:t>
            </a:r>
            <a:r>
              <a:rPr lang="en-US" sz="1600" dirty="0">
                <a:ea typeface="SimHei" panose="02010609060101010101" pitchFamily="49" charset="-122"/>
              </a:rPr>
              <a:t>LW</a:t>
            </a:r>
            <a:endParaRPr lang="en-CN" sz="1600" dirty="0">
              <a:ea typeface="SimHei" panose="02010609060101010101" pitchFamily="49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9DF2AF-AAFE-E820-4F0B-8195504D1D18}"/>
              </a:ext>
            </a:extLst>
          </p:cNvPr>
          <p:cNvSpPr txBox="1"/>
          <p:nvPr/>
        </p:nvSpPr>
        <p:spPr>
          <a:xfrm>
            <a:off x="3953845" y="6519446"/>
            <a:ext cx="861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ea typeface="SimHei" panose="02010609060101010101" pitchFamily="49" charset="-122"/>
              </a:rPr>
              <a:t>I</a:t>
            </a:r>
            <a:r>
              <a:rPr lang="en-US" sz="1600" dirty="0">
                <a:ea typeface="SimHei" panose="02010609060101010101" pitchFamily="49" charset="-122"/>
              </a:rPr>
              <a:t>3</a:t>
            </a:r>
            <a:r>
              <a:rPr lang="en-CN" sz="1600" dirty="0">
                <a:ea typeface="SimHei" panose="02010609060101010101" pitchFamily="49" charset="-122"/>
              </a:rPr>
              <a:t>-</a:t>
            </a:r>
            <a:r>
              <a:rPr lang="en-US" sz="1600" dirty="0">
                <a:ea typeface="SimHei" panose="02010609060101010101" pitchFamily="49" charset="-122"/>
              </a:rPr>
              <a:t>AND</a:t>
            </a:r>
            <a:endParaRPr lang="en-CN" sz="1600" dirty="0">
              <a:ea typeface="SimHei" panose="02010609060101010101" pitchFamily="49" charset="-122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F1C1FD-E5E4-6AE4-7405-8E244B29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600" y="6245225"/>
            <a:ext cx="2133600" cy="476250"/>
          </a:xfrm>
        </p:spPr>
        <p:txBody>
          <a:bodyPr/>
          <a:lstStyle/>
          <a:p>
            <a:fld id="{0626FCE3-5FF9-430D-BA0B-DE80AAE71673}" type="slidenum">
              <a:rPr lang="zh-CN" altLang="en-US" smtClean="0"/>
              <a:t>85</a:t>
            </a:fld>
            <a:endParaRPr lang="zh-CN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6F719A-63A9-D7CB-A9B8-718B2EF8C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72" y="6189978"/>
            <a:ext cx="1844174" cy="5060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828675">
              <a:tabLst>
                <a:tab pos="322263" algn="l"/>
                <a:tab pos="644525" algn="l"/>
                <a:tab pos="965200" algn="l"/>
                <a:tab pos="1287463" algn="l"/>
                <a:tab pos="1609725" algn="l"/>
                <a:tab pos="1931988" algn="l"/>
                <a:tab pos="2254250" algn="l"/>
                <a:tab pos="2574925" algn="l"/>
                <a:tab pos="2895600" algn="l"/>
                <a:tab pos="3219450" algn="l"/>
                <a:tab pos="3541713" algn="l"/>
                <a:tab pos="3863975" algn="l"/>
              </a:tabLst>
            </a:pPr>
            <a:r>
              <a:rPr lang="zh-CN" altLang="en-US" sz="1900" dirty="0">
                <a:solidFill>
                  <a:srgbClr val="C00000"/>
                </a:solidFill>
                <a:latin typeface="Courier" charset="0"/>
                <a:ea typeface="SimHei" panose="02010609060101010101" pitchFamily="49" charset="-122"/>
                <a:sym typeface="Courier" charset="0"/>
              </a:rPr>
              <a:t>寄存器值还未被更新就被取出！</a:t>
            </a:r>
            <a:endParaRPr lang="pt-BR" altLang="zh-CN" sz="1900" dirty="0">
              <a:solidFill>
                <a:srgbClr val="C00000"/>
              </a:solidFill>
              <a:latin typeface="Courier" charset="0"/>
              <a:ea typeface="SimHei" panose="02010609060101010101" pitchFamily="49" charset="-122"/>
              <a:sym typeface="Courier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CE7A75B-F15B-0236-680F-89BF83791B9D}"/>
                  </a:ext>
                </a:extLst>
              </p14:cNvPr>
              <p14:cNvContentPartPr/>
              <p14:nvPr/>
            </p14:nvContentPartPr>
            <p14:xfrm>
              <a:off x="6792120" y="1115640"/>
              <a:ext cx="360" cy="3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CE7A75B-F15B-0236-680F-89BF83791B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82760" y="11062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447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 hidden="1">
            <a:extLst>
              <a:ext uri="{FF2B5EF4-FFF2-40B4-BE49-F238E27FC236}">
                <a16:creationId xmlns:a16="http://schemas.microsoft.com/office/drawing/2014/main" id="{894E3923-CACD-67DB-2624-F513C5A064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B73A4B-64C0-570C-8EEA-4DA162E1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015D61-51B2-8167-C05B-78800CF5C9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以下关于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MIPS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流水线处理器的描述错误的是？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38273-49D9-1B92-AB60-CC401A9D6F5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相比于单周期设计，流水线设计不能提高单条指令的执行速度，但可以提高吞吐率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89C043-FEFC-4EEE-36C7-35A0B79CDE4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虽然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指令不需要写入寄存器堆，但是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指令也需要进行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WB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阶段的处理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FCB0D4-2E09-AFAD-9A93-54118DE299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799" y="4500563"/>
            <a:ext cx="674277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段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的计算结果写入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EX/MEM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寄存器而不是直接写回寄存器堆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26D9E9-6930-0A02-2ACB-C9ED5A2CDFB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MEM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阶段时，使用的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MemWr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信号是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控制单元此刻输出的</a:t>
            </a:r>
            <a:r>
              <a:rPr lang="en-US" altLang="zh-CN" sz="2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MemWr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970402C-1B38-6847-5076-4E3FE82BE29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A4CD81B-E01A-2DBC-E41D-71B14905484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4F9D5AD-4048-6528-3722-4DF58C9BBB6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27C0983-15AA-9710-8DD6-5DB6E4B7CD7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4960AC-F502-7E14-D375-A0B4E5BF039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8" name="文本框 27" hidden="1">
            <a:extLst>
              <a:ext uri="{FF2B5EF4-FFF2-40B4-BE49-F238E27FC236}">
                <a16:creationId xmlns:a16="http://schemas.microsoft.com/office/drawing/2014/main" id="{176F6423-044C-A07B-568D-44BD25FEC70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9" name="文本框 28" hidden="1">
            <a:extLst>
              <a:ext uri="{FF2B5EF4-FFF2-40B4-BE49-F238E27FC236}">
                <a16:creationId xmlns:a16="http://schemas.microsoft.com/office/drawing/2014/main" id="{406AEEB5-DC1B-3093-FAFF-A91DF4EF46E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27" name="组合 26" hidden="1">
            <a:extLst>
              <a:ext uri="{FF2B5EF4-FFF2-40B4-BE49-F238E27FC236}">
                <a16:creationId xmlns:a16="http://schemas.microsoft.com/office/drawing/2014/main" id="{946F287C-1FF8-FBC7-0F42-FB8D34CB88B0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4" name="RemarkBack" hidden="1">
              <a:extLst>
                <a:ext uri="{FF2B5EF4-FFF2-40B4-BE49-F238E27FC236}">
                  <a16:creationId xmlns:a16="http://schemas.microsoft.com/office/drawing/2014/main" id="{30493AF9-A268-4FAB-56B9-0F3793F58BE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Block" hidden="1">
              <a:extLst>
                <a:ext uri="{FF2B5EF4-FFF2-40B4-BE49-F238E27FC236}">
                  <a16:creationId xmlns:a16="http://schemas.microsoft.com/office/drawing/2014/main" id="{9DA58201-1DC0-F1AF-A637-DA8F70DDEF6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RemarkTitleText" hidden="1">
              <a:extLst>
                <a:ext uri="{FF2B5EF4-FFF2-40B4-BE49-F238E27FC236}">
                  <a16:creationId xmlns:a16="http://schemas.microsoft.com/office/drawing/2014/main" id="{E5FD1137-F914-074E-DCAD-07F68EF33482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8AB9E58-2A42-CF0B-02FB-E866BCE80518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9254EADD-286E-EA74-5990-A974D954CA1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306FE330-F638-D9FF-D199-109DB54DD74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DE35208-6626-9858-CB72-FB472AF21750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66FED03C-D240-C68B-893F-ADE4C5BF34D3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F6CCBF7-AD0D-8106-0CE5-E4869D8C7D9E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85876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4B068-F726-4EB6-9296-7AC313C4C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A9442-65A6-4BA2-BA1B-6B134B3FC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852" y="1166018"/>
            <a:ext cx="8879305" cy="4525963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以下关于</a:t>
            </a:r>
            <a:r>
              <a:rPr lang="en-US" altLang="zh-CN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MIPS</a:t>
            </a: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流水线处理器的描述错误的是？</a:t>
            </a:r>
          </a:p>
          <a:p>
            <a:pPr marL="514350" indent="-514350">
              <a:buAutoNum type="alphaUcPeriod"/>
            </a:pPr>
            <a:r>
              <a:rPr lang="zh-CN" altLang="en-US" sz="2000" dirty="0"/>
              <a:t>相比于单周期设计，流水线设计不能提高单条指令的执行速度，但可以提高吞吐率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zh-CN" altLang="en-US" sz="2000" dirty="0"/>
              <a:t>虽然</a:t>
            </a:r>
            <a:r>
              <a:rPr lang="en-US" altLang="zh-CN" sz="2000" dirty="0" err="1"/>
              <a:t>sw</a:t>
            </a:r>
            <a:r>
              <a:rPr lang="zh-CN" altLang="en-US" sz="2000" dirty="0"/>
              <a:t>指令不需要写入寄存器堆，但是</a:t>
            </a:r>
            <a:r>
              <a:rPr lang="en-US" altLang="zh-CN" sz="2000" dirty="0" err="1"/>
              <a:t>sw</a:t>
            </a:r>
            <a:r>
              <a:rPr lang="zh-CN" altLang="en-US" sz="2000" dirty="0"/>
              <a:t>指令也需要进行</a:t>
            </a:r>
            <a:r>
              <a:rPr lang="en-US" altLang="zh-CN" sz="2000" dirty="0"/>
              <a:t>WB</a:t>
            </a:r>
            <a:r>
              <a:rPr lang="zh-CN" altLang="en-US" sz="2000" dirty="0"/>
              <a:t>阶段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en-US" altLang="zh-CN" sz="2000" dirty="0"/>
              <a:t>ADD</a:t>
            </a:r>
            <a:r>
              <a:rPr lang="zh-CN" altLang="en-US" sz="2000" dirty="0"/>
              <a:t>指令</a:t>
            </a:r>
            <a:r>
              <a:rPr lang="en-US" altLang="zh-CN" sz="2000" dirty="0"/>
              <a:t>EX</a:t>
            </a:r>
            <a:r>
              <a:rPr lang="zh-CN" altLang="en-US" sz="2000" dirty="0"/>
              <a:t>段</a:t>
            </a:r>
            <a:r>
              <a:rPr lang="en-US" altLang="zh-CN" sz="2000" dirty="0"/>
              <a:t>ALU</a:t>
            </a:r>
            <a:r>
              <a:rPr lang="zh-CN" altLang="en-US" sz="2000" dirty="0"/>
              <a:t>的计算结果写入</a:t>
            </a:r>
            <a:r>
              <a:rPr lang="en-US" altLang="zh-CN" sz="2000" dirty="0"/>
              <a:t>EX/MEM</a:t>
            </a:r>
            <a:r>
              <a:rPr lang="zh-CN" altLang="en-US" sz="2000" dirty="0"/>
              <a:t>寄存器而不是直接写回寄存器堆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en-US" altLang="zh-CN" sz="2000" dirty="0">
                <a:solidFill>
                  <a:srgbClr val="3333FF"/>
                </a:solidFill>
              </a:rPr>
              <a:t>MEM</a:t>
            </a:r>
            <a:r>
              <a:rPr lang="zh-CN" altLang="en-US" sz="2000" dirty="0">
                <a:solidFill>
                  <a:srgbClr val="3333FF"/>
                </a:solidFill>
              </a:rPr>
              <a:t>阶段时，使用的</a:t>
            </a:r>
            <a:r>
              <a:rPr lang="en-US" altLang="zh-CN" sz="2000" dirty="0" err="1">
                <a:solidFill>
                  <a:srgbClr val="3333FF"/>
                </a:solidFill>
              </a:rPr>
              <a:t>MemWr</a:t>
            </a:r>
            <a:r>
              <a:rPr lang="zh-CN" altLang="en-US" sz="2000" dirty="0">
                <a:solidFill>
                  <a:srgbClr val="3333FF"/>
                </a:solidFill>
              </a:rPr>
              <a:t>信号是</a:t>
            </a:r>
            <a:r>
              <a:rPr lang="en-US" altLang="zh-CN" sz="2000" dirty="0">
                <a:solidFill>
                  <a:srgbClr val="3333FF"/>
                </a:solidFill>
              </a:rPr>
              <a:t>ID</a:t>
            </a:r>
            <a:r>
              <a:rPr lang="zh-CN" altLang="en-US" sz="2000" dirty="0">
                <a:solidFill>
                  <a:srgbClr val="3333FF"/>
                </a:solidFill>
              </a:rPr>
              <a:t>控制单元此刻输出的</a:t>
            </a:r>
            <a:r>
              <a:rPr lang="en-US" altLang="zh-CN" sz="2000" dirty="0" err="1">
                <a:solidFill>
                  <a:srgbClr val="3333FF"/>
                </a:solidFill>
              </a:rPr>
              <a:t>MemWr</a:t>
            </a:r>
            <a:r>
              <a:rPr lang="zh-CN" altLang="en-US" sz="2000" dirty="0">
                <a:solidFill>
                  <a:srgbClr val="3333FF"/>
                </a:solidFill>
              </a:rPr>
              <a:t>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B6029-7F08-42EA-860F-9B65B50D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87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E14915C-7545-9319-667C-6F07C699AC70}"/>
              </a:ext>
            </a:extLst>
          </p:cNvPr>
          <p:cNvSpPr txBox="1">
            <a:spLocks/>
          </p:cNvSpPr>
          <p:nvPr/>
        </p:nvSpPr>
        <p:spPr bwMode="auto">
          <a:xfrm>
            <a:off x="324852" y="3697285"/>
            <a:ext cx="8686800" cy="2786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zh-CN" altLang="en-US" sz="2400" kern="0" dirty="0">
                <a:solidFill>
                  <a:srgbClr val="3333FF"/>
                </a:solidFill>
              </a:rPr>
              <a:t>解答：</a:t>
            </a:r>
            <a:r>
              <a:rPr kumimoji="1" lang="en-US" altLang="zh-CN" sz="2400" kern="0" dirty="0">
                <a:solidFill>
                  <a:srgbClr val="3333FF"/>
                </a:solidFill>
              </a:rPr>
              <a:t>D</a:t>
            </a:r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A</a:t>
            </a:r>
            <a:r>
              <a:rPr lang="zh-CN" altLang="en-US" sz="2000" dirty="0"/>
              <a:t>项，流水线并不能加速单条指令，但可以通过指令间并行提高吞吐率</a:t>
            </a:r>
            <a:endParaRPr lang="en-US" altLang="zh-CN" sz="2000" dirty="0"/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B</a:t>
            </a:r>
            <a:r>
              <a:rPr lang="zh-CN" altLang="en-US" sz="2000" dirty="0"/>
              <a:t>项，流水线设计中指令即使不需要访问</a:t>
            </a:r>
            <a:r>
              <a:rPr lang="en-US" altLang="zh-CN" sz="2000" dirty="0"/>
              <a:t>Mem</a:t>
            </a:r>
            <a:r>
              <a:rPr lang="zh-CN" altLang="en-US" sz="2000" dirty="0"/>
              <a:t>或写回寄存器堆，也要经过</a:t>
            </a:r>
            <a:r>
              <a:rPr lang="en-US" altLang="zh-CN" sz="2000" dirty="0"/>
              <a:t>MEM</a:t>
            </a:r>
            <a:r>
              <a:rPr lang="zh-CN" altLang="en-US" sz="2000" dirty="0"/>
              <a:t>和</a:t>
            </a:r>
            <a:r>
              <a:rPr lang="en-US" altLang="zh-CN" sz="2000" dirty="0"/>
              <a:t>WB</a:t>
            </a:r>
            <a:r>
              <a:rPr lang="zh-CN" altLang="en-US" sz="2000" dirty="0"/>
              <a:t>阶段</a:t>
            </a:r>
            <a:endParaRPr kumimoji="1" lang="en-US" altLang="zh-CN" sz="2000" kern="0" dirty="0"/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C</a:t>
            </a:r>
            <a:r>
              <a:rPr lang="zh-CN" altLang="en-US" sz="2000" dirty="0"/>
              <a:t>项，</a:t>
            </a:r>
            <a:r>
              <a:rPr lang="en-US" altLang="zh-CN" sz="2000" dirty="0"/>
              <a:t>ADD</a:t>
            </a:r>
            <a:r>
              <a:rPr lang="zh-CN" altLang="en-US" sz="2000" dirty="0"/>
              <a:t>指令计算结果写入</a:t>
            </a:r>
            <a:r>
              <a:rPr lang="en-US" altLang="zh-CN" sz="2000" dirty="0"/>
              <a:t>EX/MEM</a:t>
            </a:r>
            <a:r>
              <a:rPr lang="zh-CN" altLang="en-US" sz="2000" dirty="0"/>
              <a:t>寄存器中，在</a:t>
            </a:r>
            <a:r>
              <a:rPr lang="en-US" altLang="zh-CN" sz="2000" dirty="0"/>
              <a:t>WB</a:t>
            </a:r>
            <a:r>
              <a:rPr lang="zh-CN" altLang="en-US" sz="2000" dirty="0"/>
              <a:t>阶段才会写回寄存器堆</a:t>
            </a:r>
            <a:endParaRPr kumimoji="1" lang="zh-CN" altLang="en-US" sz="2000" kern="0" dirty="0"/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D</a:t>
            </a:r>
            <a:r>
              <a:rPr lang="zh-CN" altLang="en-US" sz="2000" dirty="0"/>
              <a:t>项，</a:t>
            </a:r>
            <a:r>
              <a:rPr lang="en-US" altLang="zh-CN" sz="2000" dirty="0"/>
              <a:t>MEM</a:t>
            </a:r>
            <a:r>
              <a:rPr lang="zh-CN" altLang="en-US" sz="2000" dirty="0"/>
              <a:t>阶段使用的控制信号是</a:t>
            </a:r>
            <a:r>
              <a:rPr lang="en-US" altLang="zh-CN" sz="2000" dirty="0"/>
              <a:t>EX/MEM</a:t>
            </a:r>
            <a:r>
              <a:rPr lang="zh-CN" altLang="en-US" sz="2000" dirty="0"/>
              <a:t>寄存器中存储的控制信号而不是此刻</a:t>
            </a:r>
            <a:r>
              <a:rPr lang="en-US" altLang="zh-CN" sz="2000" dirty="0"/>
              <a:t>ID</a:t>
            </a:r>
            <a:r>
              <a:rPr lang="zh-CN" altLang="en-US" sz="2000" dirty="0"/>
              <a:t>阶段解析出来的控制信号</a:t>
            </a:r>
            <a:endParaRPr kumimoji="1"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0724375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sz="3200" dirty="0"/>
              <a:t>复习回顾与流水线基本概念 </a:t>
            </a:r>
            <a:r>
              <a:rPr lang="en-US" altLang="zh-CN" sz="3200" dirty="0"/>
              <a:t>P4</a:t>
            </a:r>
          </a:p>
          <a:p>
            <a:r>
              <a:rPr lang="zh-CN" altLang="en-US" sz="3200" b="0" dirty="0">
                <a:cs typeface="+mn-cs"/>
              </a:rPr>
              <a:t>流水线数据通路</a:t>
            </a:r>
            <a:r>
              <a:rPr lang="en-US" altLang="zh-CN" sz="3200" b="0" dirty="0">
                <a:cs typeface="+mn-cs"/>
              </a:rPr>
              <a:t> P41</a:t>
            </a:r>
            <a:endParaRPr lang="en-US" altLang="zh-CN" sz="3200" b="0" dirty="0"/>
          </a:p>
          <a:p>
            <a:r>
              <a:rPr lang="zh-CN" altLang="en-US" sz="3200" b="0" dirty="0">
                <a:solidFill>
                  <a:srgbClr val="3333FF"/>
                </a:solidFill>
                <a:cs typeface="+mn-cs"/>
              </a:rPr>
              <a:t>流水线的冒险</a:t>
            </a:r>
            <a:r>
              <a:rPr lang="en-US" altLang="zh-CN" sz="3200" b="0" dirty="0">
                <a:solidFill>
                  <a:srgbClr val="3333FF"/>
                </a:solidFill>
                <a:cs typeface="+mn-cs"/>
              </a:rPr>
              <a:t> P88</a:t>
            </a:r>
          </a:p>
          <a:p>
            <a:pPr lvl="1"/>
            <a:r>
              <a:rPr lang="zh-CN" altLang="en-US" sz="2800" b="0" dirty="0">
                <a:cs typeface="+mn-cs"/>
              </a:rPr>
              <a:t>结构冒险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数据冒险</a:t>
            </a:r>
            <a:endParaRPr lang="en-US" altLang="zh-CN" sz="2800" b="0" dirty="0">
              <a:cs typeface="+mn-cs"/>
            </a:endParaRPr>
          </a:p>
          <a:p>
            <a:pPr lvl="1"/>
            <a:r>
              <a:rPr lang="zh-CN" altLang="en-US" sz="2800" b="0" dirty="0">
                <a:cs typeface="+mn-cs"/>
              </a:rPr>
              <a:t>控制冒险</a:t>
            </a:r>
            <a:endParaRPr lang="en-US" altLang="zh-CN" sz="2800" b="0" dirty="0">
              <a:cs typeface="+mn-cs"/>
            </a:endParaRPr>
          </a:p>
          <a:p>
            <a:r>
              <a:rPr lang="zh-CN" altLang="en-US" sz="3200" b="0" dirty="0"/>
              <a:t>数据通路的实现（考虑冒险）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88</a:t>
            </a:fld>
            <a:endParaRPr lang="en-US" altLang="zh-CN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</p:spTree>
    <p:extLst>
      <p:ext uri="{BB962C8B-B14F-4D97-AF65-F5344CB8AC3E}">
        <p14:creationId xmlns:p14="http://schemas.microsoft.com/office/powerpoint/2010/main" val="410318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625EF-DC33-48F4-921B-7FA935ED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9C29C-1426-450E-A458-08A02894D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各个指令、流水线的各个阶段之间可能存在关联</a:t>
            </a:r>
            <a:endParaRPr lang="en-US" altLang="zh-CN" dirty="0"/>
          </a:p>
          <a:p>
            <a:pPr lvl="1"/>
            <a:r>
              <a:rPr lang="zh-CN" altLang="en-US" dirty="0"/>
              <a:t>前面的指令或运行阶段会影响后续的指令或运行阶段</a:t>
            </a:r>
            <a:endParaRPr lang="en-US" altLang="zh-CN" dirty="0"/>
          </a:p>
          <a:p>
            <a:r>
              <a:rPr lang="zh-CN" altLang="en-US" dirty="0"/>
              <a:t>下一条指令可能某些无法获得的资源</a:t>
            </a:r>
            <a:endParaRPr lang="en-US" altLang="zh-CN" dirty="0"/>
          </a:p>
          <a:p>
            <a:pPr lvl="1"/>
            <a:r>
              <a:rPr lang="zh-CN" altLang="en-US" dirty="0"/>
              <a:t>访问权？新的数据？下一个执行步骤？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这些限制就是：</a:t>
            </a:r>
            <a:r>
              <a:rPr lang="zh-CN" altLang="en-US" dirty="0">
                <a:solidFill>
                  <a:srgbClr val="C00000"/>
                </a:solidFill>
              </a:rPr>
              <a:t>流水线的冒险（</a:t>
            </a:r>
            <a:r>
              <a:rPr lang="en-US" altLang="zh-CN" dirty="0">
                <a:solidFill>
                  <a:srgbClr val="C00000"/>
                </a:solidFill>
              </a:rPr>
              <a:t>Pipeline Hazards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CA79B0-F05F-4872-B730-47F78C7C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879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625EF-DC33-48F4-921B-7FA935ED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9C29C-1426-450E-A458-08A02894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37840"/>
            <a:ext cx="8229600" cy="2654141"/>
          </a:xfrm>
        </p:spPr>
        <p:txBody>
          <a:bodyPr/>
          <a:lstStyle/>
          <a:p>
            <a:r>
              <a:rPr lang="zh-CN" altLang="en-US" dirty="0"/>
              <a:t>冒险如何影响流水线化的运算？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CA79B0-F05F-4872-B730-47F78C7C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0457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64971-87B9-4A39-8873-CD6A2E83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7AA9F-088E-432B-A70E-DD4D98DFA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结构冒险（</a:t>
            </a:r>
            <a:r>
              <a:rPr lang="en-US" altLang="zh-CN" dirty="0"/>
              <a:t>Structural Hazard or Resource Conflict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两条指令需要使用同样的硬件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数据关联冒险（</a:t>
            </a:r>
            <a:r>
              <a:rPr lang="en-US" altLang="zh-CN" dirty="0"/>
              <a:t>Data Hazard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指令数据依赖于流水线中运行的其他指令结果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控制冒险（</a:t>
            </a:r>
            <a:r>
              <a:rPr lang="en-US" altLang="zh-CN" dirty="0"/>
              <a:t>Control Hazard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取指令的</a:t>
            </a:r>
            <a:r>
              <a:rPr lang="en-US" altLang="zh-CN" dirty="0"/>
              <a:t>PC</a:t>
            </a:r>
            <a:r>
              <a:rPr lang="zh-CN" altLang="en-US" dirty="0"/>
              <a:t>依赖于流水线中指令的结果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DA19B-33E5-4B74-AA32-DDBC3C23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7366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64971-87B9-4A39-8873-CD6A2E83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7AA9F-088E-432B-A70E-DD4D98DFA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结构冒险（</a:t>
            </a:r>
            <a:r>
              <a:rPr lang="en-US" altLang="zh-CN" dirty="0"/>
              <a:t>Structural Hazard or Resource Conflict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两条指令需要使用同样的硬件</a:t>
            </a:r>
            <a:endParaRPr lang="en-US" altLang="zh-CN" dirty="0"/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数据关联冒险（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Data Hazard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指令依赖于流水线中运行的其他指令结果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控制冒险（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Control Hazard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取指令依赖于流水线中指令的结果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DA19B-33E5-4B74-AA32-DDBC3C23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093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3049B-C312-496E-969C-2111E386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资源使用冲突</a:t>
            </a:r>
            <a:endParaRPr lang="en-US" altLang="zh-CN" dirty="0"/>
          </a:p>
          <a:p>
            <a:pPr lvl="1"/>
            <a:r>
              <a:rPr lang="zh-CN" altLang="en-US" dirty="0"/>
              <a:t>定义为：两条指令需要同时访问相同的硬件资源</a:t>
            </a:r>
            <a:endParaRPr lang="en-US" altLang="zh-CN" dirty="0"/>
          </a:p>
          <a:p>
            <a:r>
              <a:rPr lang="zh-CN" altLang="en-US" dirty="0"/>
              <a:t>结构冒险的例子</a:t>
            </a:r>
            <a:endParaRPr lang="en-US" altLang="zh-CN" dirty="0"/>
          </a:p>
          <a:p>
            <a:pPr lvl="1"/>
            <a:r>
              <a:rPr lang="zh-CN" altLang="en-US" dirty="0"/>
              <a:t>如果对</a:t>
            </a:r>
            <a:r>
              <a:rPr lang="en-US" altLang="zh-CN" dirty="0"/>
              <a:t>load</a:t>
            </a:r>
            <a:r>
              <a:rPr lang="zh-CN" altLang="en-US" dirty="0"/>
              <a:t>指令采用</a:t>
            </a:r>
            <a:r>
              <a:rPr lang="en-US" altLang="zh-CN" dirty="0"/>
              <a:t>5</a:t>
            </a:r>
            <a:r>
              <a:rPr lang="zh-CN" altLang="en-US" dirty="0"/>
              <a:t>级流水，第</a:t>
            </a:r>
            <a:r>
              <a:rPr lang="en-US" altLang="zh-CN" dirty="0"/>
              <a:t>5</a:t>
            </a:r>
            <a:r>
              <a:rPr lang="zh-CN" altLang="en-US" dirty="0"/>
              <a:t>级写回寄存器</a:t>
            </a:r>
            <a:endParaRPr lang="en-US" altLang="zh-CN" dirty="0"/>
          </a:p>
          <a:p>
            <a:pPr lvl="1"/>
            <a:r>
              <a:rPr lang="zh-CN" altLang="en-US" dirty="0"/>
              <a:t>如果对</a:t>
            </a:r>
            <a:r>
              <a:rPr lang="en-US" altLang="zh-CN" dirty="0"/>
              <a:t>R</a:t>
            </a:r>
            <a:r>
              <a:rPr lang="zh-CN" altLang="en-US" dirty="0"/>
              <a:t>型指令采用</a:t>
            </a:r>
            <a:r>
              <a:rPr lang="en-US" altLang="zh-CN" dirty="0"/>
              <a:t>4</a:t>
            </a:r>
            <a:r>
              <a:rPr lang="zh-CN" altLang="en-US" dirty="0"/>
              <a:t>级流水，第</a:t>
            </a:r>
            <a:r>
              <a:rPr lang="en-US" altLang="zh-CN" dirty="0"/>
              <a:t>4</a:t>
            </a:r>
            <a:r>
              <a:rPr lang="zh-CN" altLang="en-US" dirty="0"/>
              <a:t>级写回寄存器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Write Back</a:t>
            </a:r>
            <a:r>
              <a:rPr lang="zh-CN" altLang="en-US" dirty="0"/>
              <a:t>阶段产生冲突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A09B95-40F1-48AE-B902-62BB2F4C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192792-8370-4CE8-B61C-C556BBE8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93</a:t>
            </a:fld>
            <a:endParaRPr lang="zh-CN" altLang="en-US" dirty="0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6254225B-EA0C-4D58-AF3E-59AD80E64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927" y="4779055"/>
            <a:ext cx="580258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Load</a:t>
            </a:r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771FA033-B70E-4138-93AD-D026C895F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951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6358B5DB-B7BC-4140-854A-3873086A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635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6726B9BF-7A4A-4C65-990B-B7F8DBFD5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319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6465C0D6-41DD-42AA-8724-50FEAFC43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003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808986AE-002E-470E-97E3-2C208B379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86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3B734A3-369C-4C6A-8E17-3BA1E4D84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821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78" name="Rectangle 7">
            <a:extLst>
              <a:ext uri="{FF2B5EF4-FFF2-40B4-BE49-F238E27FC236}">
                <a16:creationId xmlns:a16="http://schemas.microsoft.com/office/drawing/2014/main" id="{1EAE23E3-9487-463E-A56C-0C389DB7D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025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2BCE191E-2329-4858-94EA-04C17D2C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410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E3F28130-12BB-4CBE-9037-D9461261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795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MEM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1" name="Rectangle 7">
            <a:extLst>
              <a:ext uri="{FF2B5EF4-FFF2-40B4-BE49-F238E27FC236}">
                <a16:creationId xmlns:a16="http://schemas.microsoft.com/office/drawing/2014/main" id="{704ADCA2-413A-41FE-A665-DF50C8EEA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180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4" name="Rectangle 21">
            <a:extLst>
              <a:ext uri="{FF2B5EF4-FFF2-40B4-BE49-F238E27FC236}">
                <a16:creationId xmlns:a16="http://schemas.microsoft.com/office/drawing/2014/main" id="{BA801A53-FB80-4C66-8D47-77652A40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395" y="5478413"/>
            <a:ext cx="710102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R-type</a:t>
            </a:r>
          </a:p>
        </p:txBody>
      </p:sp>
      <p:sp>
        <p:nvSpPr>
          <p:cNvPr id="85" name="Rectangle 22">
            <a:extLst>
              <a:ext uri="{FF2B5EF4-FFF2-40B4-BE49-F238E27FC236}">
                <a16:creationId xmlns:a16="http://schemas.microsoft.com/office/drawing/2014/main" id="{3129462B-B4EC-4D58-A057-BAA09B44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419" y="5154553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86" name="Rectangle 23">
            <a:extLst>
              <a:ext uri="{FF2B5EF4-FFF2-40B4-BE49-F238E27FC236}">
                <a16:creationId xmlns:a16="http://schemas.microsoft.com/office/drawing/2014/main" id="{E4DA56AB-8FAB-4BBE-A149-61690F9BF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103" y="5154553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87" name="Rectangle 24">
            <a:extLst>
              <a:ext uri="{FF2B5EF4-FFF2-40B4-BE49-F238E27FC236}">
                <a16:creationId xmlns:a16="http://schemas.microsoft.com/office/drawing/2014/main" id="{0A1A0B63-2AC3-4BF0-B82E-8197C3E3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787" y="5154553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88" name="Rectangle 25">
            <a:extLst>
              <a:ext uri="{FF2B5EF4-FFF2-40B4-BE49-F238E27FC236}">
                <a16:creationId xmlns:a16="http://schemas.microsoft.com/office/drawing/2014/main" id="{08FA6F51-487E-40C9-B72B-FF1C86300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71" y="5154553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90" name="Rectangle 7">
            <a:extLst>
              <a:ext uri="{FF2B5EF4-FFF2-40B4-BE49-F238E27FC236}">
                <a16:creationId xmlns:a16="http://schemas.microsoft.com/office/drawing/2014/main" id="{BD45A40D-DD6E-4D13-837A-4ABB8927E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289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1" name="Rectangle 7">
            <a:extLst>
              <a:ext uri="{FF2B5EF4-FFF2-40B4-BE49-F238E27FC236}">
                <a16:creationId xmlns:a16="http://schemas.microsoft.com/office/drawing/2014/main" id="{D69F8FA6-F241-4870-BFA8-69916B962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493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2" name="Rectangle 7">
            <a:extLst>
              <a:ext uri="{FF2B5EF4-FFF2-40B4-BE49-F238E27FC236}">
                <a16:creationId xmlns:a16="http://schemas.microsoft.com/office/drawing/2014/main" id="{0A285907-1F91-4942-AADC-949BD305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878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3" name="Rectangle 7">
            <a:extLst>
              <a:ext uri="{FF2B5EF4-FFF2-40B4-BE49-F238E27FC236}">
                <a16:creationId xmlns:a16="http://schemas.microsoft.com/office/drawing/2014/main" id="{70E90C8B-7DAF-4BBD-93AF-B480F3DA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263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73025AA-882E-F47A-7A76-CFDB59799FFE}"/>
              </a:ext>
            </a:extLst>
          </p:cNvPr>
          <p:cNvSpPr/>
          <p:nvPr/>
        </p:nvSpPr>
        <p:spPr>
          <a:xfrm>
            <a:off x="5633562" y="4455195"/>
            <a:ext cx="854602" cy="1439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8AC2B9-445B-B74E-595A-7E714FE64ED5}"/>
              </a:ext>
            </a:extLst>
          </p:cNvPr>
          <p:cNvSpPr txBox="1"/>
          <p:nvPr/>
        </p:nvSpPr>
        <p:spPr>
          <a:xfrm>
            <a:off x="6525762" y="49748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ea typeface="SimHei" panose="02010609060101010101" pitchFamily="49" charset="-122"/>
              </a:rPr>
              <a:t>冲突！</a:t>
            </a:r>
          </a:p>
        </p:txBody>
      </p:sp>
    </p:spTree>
    <p:extLst>
      <p:ext uri="{BB962C8B-B14F-4D97-AF65-F5344CB8AC3E}">
        <p14:creationId xmlns:p14="http://schemas.microsoft.com/office/powerpoint/2010/main" val="14621648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3049B-C312-496E-969C-2111E386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资源使用冲突</a:t>
            </a:r>
            <a:endParaRPr lang="en-US" altLang="zh-CN" dirty="0"/>
          </a:p>
          <a:p>
            <a:pPr lvl="1"/>
            <a:r>
              <a:rPr lang="zh-CN" altLang="en-US" dirty="0"/>
              <a:t>定义为：两条指令需要同时访问相同的硬件资源</a:t>
            </a:r>
            <a:endParaRPr lang="en-US" altLang="zh-CN" dirty="0"/>
          </a:p>
          <a:p>
            <a:r>
              <a:rPr lang="zh-CN" altLang="en-US" dirty="0"/>
              <a:t>结构冒险的例子</a:t>
            </a:r>
            <a:endParaRPr lang="en-US" altLang="zh-CN" dirty="0"/>
          </a:p>
          <a:p>
            <a:pPr lvl="1"/>
            <a:r>
              <a:rPr lang="zh-CN" altLang="en-US" dirty="0"/>
              <a:t>如果对</a:t>
            </a:r>
            <a:r>
              <a:rPr lang="en-US" altLang="zh-CN" dirty="0"/>
              <a:t>load</a:t>
            </a:r>
            <a:r>
              <a:rPr lang="zh-CN" altLang="en-US" dirty="0"/>
              <a:t>指令采用</a:t>
            </a:r>
            <a:r>
              <a:rPr lang="en-US" altLang="zh-CN" dirty="0"/>
              <a:t>5</a:t>
            </a:r>
            <a:r>
              <a:rPr lang="zh-CN" altLang="en-US" dirty="0"/>
              <a:t>级流水，第</a:t>
            </a:r>
            <a:r>
              <a:rPr lang="en-US" altLang="zh-CN" dirty="0"/>
              <a:t>5</a:t>
            </a:r>
            <a:r>
              <a:rPr lang="zh-CN" altLang="en-US" dirty="0"/>
              <a:t>级写回寄存器</a:t>
            </a:r>
            <a:endParaRPr lang="en-US" altLang="zh-CN" dirty="0"/>
          </a:p>
          <a:p>
            <a:pPr lvl="1"/>
            <a:r>
              <a:rPr lang="zh-CN" altLang="en-US" dirty="0"/>
              <a:t>如果对</a:t>
            </a:r>
            <a:r>
              <a:rPr lang="en-US" altLang="zh-CN" dirty="0"/>
              <a:t>R</a:t>
            </a:r>
            <a:r>
              <a:rPr lang="zh-CN" altLang="en-US" dirty="0"/>
              <a:t>型指令采用</a:t>
            </a:r>
            <a:r>
              <a:rPr lang="en-US" altLang="zh-CN" dirty="0"/>
              <a:t>4</a:t>
            </a:r>
            <a:r>
              <a:rPr lang="zh-CN" altLang="en-US" dirty="0"/>
              <a:t>级流水，第</a:t>
            </a:r>
            <a:r>
              <a:rPr lang="en-US" altLang="zh-CN" dirty="0"/>
              <a:t>4</a:t>
            </a:r>
            <a:r>
              <a:rPr lang="zh-CN" altLang="en-US" dirty="0"/>
              <a:t>级写回寄存器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Write Back</a:t>
            </a:r>
            <a:r>
              <a:rPr lang="zh-CN" altLang="en-US" dirty="0"/>
              <a:t>阶段产生冲突</a:t>
            </a:r>
            <a:endParaRPr lang="en-US" altLang="zh-CN" dirty="0"/>
          </a:p>
          <a:p>
            <a:pPr marL="342900" lvl="1" indent="0">
              <a:buNone/>
            </a:pP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A09B95-40F1-48AE-B902-62BB2F4C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192792-8370-4CE8-B61C-C556BBE8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94</a:t>
            </a:fld>
            <a:endParaRPr lang="zh-CN" altLang="en-US" dirty="0"/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6254225B-EA0C-4D58-AF3E-59AD80E64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927" y="4779055"/>
            <a:ext cx="580258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Load</a:t>
            </a:r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771FA033-B70E-4138-93AD-D026C895F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951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6358B5DB-B7BC-4140-854A-3873086A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635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6726B9BF-7A4A-4C65-990B-B7F8DBFD5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319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6465C0D6-41DD-42AA-8724-50FEAFC43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003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808986AE-002E-470E-97E3-2C208B379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86" y="4455195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3B734A3-369C-4C6A-8E17-3BA1E4D84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821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78" name="Rectangle 7">
            <a:extLst>
              <a:ext uri="{FF2B5EF4-FFF2-40B4-BE49-F238E27FC236}">
                <a16:creationId xmlns:a16="http://schemas.microsoft.com/office/drawing/2014/main" id="{1EAE23E3-9487-463E-A56C-0C389DB7D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025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2BCE191E-2329-4858-94EA-04C17D2C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410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E3F28130-12BB-4CBE-9037-D9461261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795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MEM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1" name="Rectangle 7">
            <a:extLst>
              <a:ext uri="{FF2B5EF4-FFF2-40B4-BE49-F238E27FC236}">
                <a16:creationId xmlns:a16="http://schemas.microsoft.com/office/drawing/2014/main" id="{704ADCA2-413A-41FE-A665-DF50C8EEA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180" y="4760812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84" name="Rectangle 21">
            <a:extLst>
              <a:ext uri="{FF2B5EF4-FFF2-40B4-BE49-F238E27FC236}">
                <a16:creationId xmlns:a16="http://schemas.microsoft.com/office/drawing/2014/main" id="{BA801A53-FB80-4C66-8D47-77652A40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395" y="5478413"/>
            <a:ext cx="710102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R-type</a:t>
            </a:r>
          </a:p>
        </p:txBody>
      </p:sp>
      <p:sp>
        <p:nvSpPr>
          <p:cNvPr id="85" name="Rectangle 22">
            <a:extLst>
              <a:ext uri="{FF2B5EF4-FFF2-40B4-BE49-F238E27FC236}">
                <a16:creationId xmlns:a16="http://schemas.microsoft.com/office/drawing/2014/main" id="{3129462B-B4EC-4D58-A057-BAA09B44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419" y="5155980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86" name="Rectangle 23">
            <a:extLst>
              <a:ext uri="{FF2B5EF4-FFF2-40B4-BE49-F238E27FC236}">
                <a16:creationId xmlns:a16="http://schemas.microsoft.com/office/drawing/2014/main" id="{E4DA56AB-8FAB-4BBE-A149-61690F9BF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103" y="5155980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87" name="Rectangle 24">
            <a:extLst>
              <a:ext uri="{FF2B5EF4-FFF2-40B4-BE49-F238E27FC236}">
                <a16:creationId xmlns:a16="http://schemas.microsoft.com/office/drawing/2014/main" id="{0A1A0B63-2AC3-4BF0-B82E-8197C3E3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787" y="5155980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88" name="Rectangle 25">
            <a:extLst>
              <a:ext uri="{FF2B5EF4-FFF2-40B4-BE49-F238E27FC236}">
                <a16:creationId xmlns:a16="http://schemas.microsoft.com/office/drawing/2014/main" id="{08FA6F51-487E-40C9-B72B-FF1C86300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71" y="5155980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90" name="Rectangle 7">
            <a:extLst>
              <a:ext uri="{FF2B5EF4-FFF2-40B4-BE49-F238E27FC236}">
                <a16:creationId xmlns:a16="http://schemas.microsoft.com/office/drawing/2014/main" id="{BD45A40D-DD6E-4D13-837A-4ABB8927E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289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1" name="Rectangle 7">
            <a:extLst>
              <a:ext uri="{FF2B5EF4-FFF2-40B4-BE49-F238E27FC236}">
                <a16:creationId xmlns:a16="http://schemas.microsoft.com/office/drawing/2014/main" id="{D69F8FA6-F241-4870-BFA8-69916B962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493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2" name="Rectangle 7">
            <a:extLst>
              <a:ext uri="{FF2B5EF4-FFF2-40B4-BE49-F238E27FC236}">
                <a16:creationId xmlns:a16="http://schemas.microsoft.com/office/drawing/2014/main" id="{0A285907-1F91-4942-AADC-949BD305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878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93" name="Rectangle 7">
            <a:extLst>
              <a:ext uri="{FF2B5EF4-FFF2-40B4-BE49-F238E27FC236}">
                <a16:creationId xmlns:a16="http://schemas.microsoft.com/office/drawing/2014/main" id="{70E90C8B-7DAF-4BBD-93AF-B480F3DA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263" y="5460170"/>
            <a:ext cx="846387" cy="343305"/>
          </a:xfrm>
          <a:prstGeom prst="rect">
            <a:avLst/>
          </a:prstGeom>
          <a:solidFill>
            <a:srgbClr val="D9D9D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MEM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ea typeface="SimHei" panose="02010609060101010101" pitchFamily="49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EDA5D28-0BF5-E252-DC7F-981ED6D3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049" y="5460170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D5EAF50F-0A15-10B6-8AFE-641841AF7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0155" y="5154553"/>
            <a:ext cx="282099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20742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89866D-10E8-495A-B2B6-9B1C4AE39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552688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dirty="0"/>
              <a:t>如果将</a:t>
            </a:r>
            <a:r>
              <a:rPr lang="en-US" altLang="zh-CN" dirty="0"/>
              <a:t>R</a:t>
            </a:r>
            <a:r>
              <a:rPr lang="zh-CN" altLang="en-US" dirty="0"/>
              <a:t>型指令的</a:t>
            </a:r>
            <a:r>
              <a:rPr lang="en-US" altLang="zh-CN" dirty="0"/>
              <a:t>WB</a:t>
            </a:r>
            <a:r>
              <a:rPr lang="zh-CN" altLang="en-US" dirty="0"/>
              <a:t>阶段延迟一个周期，采用</a:t>
            </a:r>
            <a:r>
              <a:rPr lang="en-US" altLang="zh-CN" dirty="0"/>
              <a:t>5</a:t>
            </a:r>
            <a:r>
              <a:rPr lang="zh-CN" altLang="en-US" dirty="0"/>
              <a:t>级流水，</a:t>
            </a:r>
            <a:r>
              <a:rPr lang="en-US" altLang="zh-CN" dirty="0"/>
              <a:t>MEM</a:t>
            </a:r>
            <a:r>
              <a:rPr lang="zh-CN" altLang="en-US" dirty="0"/>
              <a:t>阶段对于</a:t>
            </a:r>
            <a:r>
              <a:rPr lang="en-US" altLang="zh-CN" dirty="0"/>
              <a:t>R</a:t>
            </a:r>
            <a:r>
              <a:rPr lang="zh-CN" altLang="en-US" dirty="0"/>
              <a:t>型指令来说是空的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1700F7-768B-426A-91A9-F4087A2C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DCCD3-FF70-44BB-A367-3CD8D857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95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E66D09D-E0E7-3F01-BFC3-BA368EC29948}"/>
              </a:ext>
            </a:extLst>
          </p:cNvPr>
          <p:cNvGrpSpPr/>
          <p:nvPr/>
        </p:nvGrpSpPr>
        <p:grpSpPr>
          <a:xfrm>
            <a:off x="0" y="2089152"/>
            <a:ext cx="8905752" cy="4716095"/>
            <a:chOff x="0" y="2089152"/>
            <a:chExt cx="8905752" cy="4716095"/>
          </a:xfrm>
        </p:grpSpPr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EA92FE9C-975B-495B-A27E-FD1E3E71E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952871"/>
              <a:ext cx="522550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Load</a:t>
              </a:r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2F51C843-7854-42ED-969A-0F10A9A72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103" y="569480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1</a:t>
              </a:r>
            </a:p>
          </p:txBody>
        </p: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06B545D6-A6E4-4185-AA29-B280C3F55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297" y="569480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2</a:t>
              </a:r>
            </a:p>
          </p:txBody>
        </p:sp>
        <p:sp>
          <p:nvSpPr>
            <p:cNvPr id="36" name="Rectangle 24">
              <a:extLst>
                <a:ext uri="{FF2B5EF4-FFF2-40B4-BE49-F238E27FC236}">
                  <a16:creationId xmlns:a16="http://schemas.microsoft.com/office/drawing/2014/main" id="{7EBAA976-E600-47BE-BD06-D3C994498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492" y="569480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3</a:t>
              </a: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D46F8402-4360-4288-B645-8E6DF61AB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686" y="569480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38" name="Rectangle 26">
              <a:extLst>
                <a:ext uri="{FF2B5EF4-FFF2-40B4-BE49-F238E27FC236}">
                  <a16:creationId xmlns:a16="http://schemas.microsoft.com/office/drawing/2014/main" id="{4520E8C5-3748-4E89-AA20-76D5C9B06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879" y="569480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5</a:t>
              </a:r>
            </a:p>
          </p:txBody>
        </p:sp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89C7D573-17EF-497D-A370-B60ACF5FF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37" y="593833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IF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66744A4A-8CCE-4D52-88CF-67A92EBA9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824" y="593833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ID/Reg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C3523F60-12F8-4D8A-A0BC-2DE955375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529" y="593833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EX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ACC22D01-3D7F-43DF-B168-038031A90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233" y="593833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MEM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D927383B-1534-4E21-8F3B-D6CB77D94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938" y="593833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WB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A580D503-22CC-437C-B585-D0A3AD1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92" y="6439273"/>
              <a:ext cx="634760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R-type</a:t>
              </a:r>
            </a:p>
          </p:txBody>
        </p:sp>
        <p:sp>
          <p:nvSpPr>
            <p:cNvPr id="46" name="Rectangle 22">
              <a:extLst>
                <a:ext uri="{FF2B5EF4-FFF2-40B4-BE49-F238E27FC236}">
                  <a16:creationId xmlns:a16="http://schemas.microsoft.com/office/drawing/2014/main" id="{05B1368C-635F-491F-AF6F-7E82181C1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807" y="621189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1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F1A0BE6-0B66-4777-A1C1-93562F80F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001" y="621189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2</a:t>
              </a:r>
            </a:p>
          </p:txBody>
        </p:sp>
        <p:sp>
          <p:nvSpPr>
            <p:cNvPr id="48" name="Rectangle 24">
              <a:extLst>
                <a:ext uri="{FF2B5EF4-FFF2-40B4-BE49-F238E27FC236}">
                  <a16:creationId xmlns:a16="http://schemas.microsoft.com/office/drawing/2014/main" id="{45FB8CA4-9581-469D-AE02-03F6F8812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196" y="621189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3</a:t>
              </a:r>
            </a:p>
          </p:txBody>
        </p:sp>
        <p:sp>
          <p:nvSpPr>
            <p:cNvPr id="49" name="Rectangle 25">
              <a:extLst>
                <a:ext uri="{FF2B5EF4-FFF2-40B4-BE49-F238E27FC236}">
                  <a16:creationId xmlns:a16="http://schemas.microsoft.com/office/drawing/2014/main" id="{DA038155-F5E1-4DF7-A6FF-260E2FAEB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9390" y="6211894"/>
              <a:ext cx="267673" cy="274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3" tIns="44442" rIns="90473" bIns="44442">
              <a:spAutoFit/>
            </a:bodyPr>
            <a:lstStyle/>
            <a:p>
              <a:r>
                <a:rPr lang="en-US" altLang="en-US" sz="1200" dirty="0"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50" name="Rectangle 7">
              <a:extLst>
                <a:ext uri="{FF2B5EF4-FFF2-40B4-BE49-F238E27FC236}">
                  <a16:creationId xmlns:a16="http://schemas.microsoft.com/office/drawing/2014/main" id="{199CE386-7152-4C69-A8EA-4FACAFF12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942" y="645542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IF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51" name="Rectangle 7">
              <a:extLst>
                <a:ext uri="{FF2B5EF4-FFF2-40B4-BE49-F238E27FC236}">
                  <a16:creationId xmlns:a16="http://schemas.microsoft.com/office/drawing/2014/main" id="{88889D41-A3A9-4D41-8991-59F322A27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528" y="645542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ID/Reg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52" name="Rectangle 7">
              <a:extLst>
                <a:ext uri="{FF2B5EF4-FFF2-40B4-BE49-F238E27FC236}">
                  <a16:creationId xmlns:a16="http://schemas.microsoft.com/office/drawing/2014/main" id="{9B41E03D-31E6-4D90-A0E4-66155AEDC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233" y="645542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EX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53" name="Rectangle 7">
              <a:extLst>
                <a:ext uri="{FF2B5EF4-FFF2-40B4-BE49-F238E27FC236}">
                  <a16:creationId xmlns:a16="http://schemas.microsoft.com/office/drawing/2014/main" id="{D002DAE3-F866-47DD-A730-CAA68DE99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938" y="6455424"/>
              <a:ext cx="638706" cy="2735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dirty="0">
                  <a:ea typeface="SimHei" panose="02010609060101010101" pitchFamily="49" charset="-122"/>
                </a:rPr>
                <a:t>WB</a:t>
              </a:r>
              <a:endParaRPr lang="zh-CN" altLang="en-US" sz="1200" dirty="0">
                <a:ea typeface="SimHei" panose="02010609060101010101" pitchFamily="49" charset="-122"/>
              </a:endParaRPr>
            </a:p>
          </p:txBody>
        </p:sp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A5651700-DC4E-1700-DB7D-6E0E1A35109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44700" y="2089152"/>
              <a:ext cx="5054600" cy="703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08AE6533-0750-70F3-8AAC-4008E3490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6863" y="2441577"/>
              <a:ext cx="833438" cy="2921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76511F-2F18-B225-269A-581410899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2441577"/>
              <a:ext cx="833438" cy="2921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67F6855C-9A78-8C7F-517F-31A13F985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63" y="2441577"/>
              <a:ext cx="833438" cy="2921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9340C68F-AB61-22C4-7C80-AC813B52E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725" y="2441577"/>
              <a:ext cx="833438" cy="2921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A15BF8B-FB28-A3F5-5320-1524D227F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938" y="2474914"/>
              <a:ext cx="1394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8E7C245-FD2D-0105-3E25-4E0F8DCC8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3938" y="2474914"/>
              <a:ext cx="6412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-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FFABA73-E3EB-E780-DDC1-87CD8BA33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675" y="2474914"/>
              <a:ext cx="36388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type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CB1F5B19-A94B-A5AB-275B-E6E8C8D19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2420939"/>
              <a:ext cx="617538" cy="322262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090A06EB-FA11-48BF-505E-7B6460446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113" y="2197102"/>
              <a:ext cx="1074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557A8DD3-D06D-2AFC-006F-5A553E5CE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138" y="2197102"/>
              <a:ext cx="1074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931CD34D-DF60-299F-DE51-22D739A6A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163" y="2197102"/>
              <a:ext cx="1074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3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C07FAF91-6C6C-53D8-F38B-5590ACC35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963" y="2147889"/>
              <a:ext cx="303213" cy="322262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D6F7297-CB5C-E76A-DC6F-0D640F11E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2195514"/>
              <a:ext cx="1074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4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CA1A4BDC-0453-D4A1-34FD-D60D6990C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6213" y="2197102"/>
              <a:ext cx="10740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5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D9D634B-BE51-6F70-A5B8-0ADD8F866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00" y="3467100"/>
              <a:ext cx="48250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Clock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022FB280-7E88-D00E-DA95-E52578799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810" y="3649981"/>
              <a:ext cx="457200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48DBB509-FDCE-6B9E-1453-EFF2C9481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510" y="3397250"/>
              <a:ext cx="0" cy="255588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4" name="Line 31">
              <a:extLst>
                <a:ext uri="{FF2B5EF4-FFF2-40B4-BE49-F238E27FC236}">
                  <a16:creationId xmlns:a16="http://schemas.microsoft.com/office/drawing/2014/main" id="{DB949889-B04F-7B31-52F4-A8AD11904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6983" y="339725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5" name="Line 32">
              <a:extLst>
                <a:ext uri="{FF2B5EF4-FFF2-40B4-BE49-F238E27FC236}">
                  <a16:creationId xmlns:a16="http://schemas.microsoft.com/office/drawing/2014/main" id="{175F34AF-4802-A725-12F4-69D8E4596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258" y="3410268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8" name="Line 61">
              <a:extLst>
                <a:ext uri="{FF2B5EF4-FFF2-40B4-BE49-F238E27FC236}">
                  <a16:creationId xmlns:a16="http://schemas.microsoft.com/office/drawing/2014/main" id="{0C644875-2F89-174E-A47D-54C4F1A13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797" y="3402329"/>
              <a:ext cx="37623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4" name="Freeform 67">
              <a:extLst>
                <a:ext uri="{FF2B5EF4-FFF2-40B4-BE49-F238E27FC236}">
                  <a16:creationId xmlns:a16="http://schemas.microsoft.com/office/drawing/2014/main" id="{6AF2E743-B68C-C806-16A1-7B11C21A84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810" y="3001963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5" name="Freeform 68">
              <a:extLst>
                <a:ext uri="{FF2B5EF4-FFF2-40B4-BE49-F238E27FC236}">
                  <a16:creationId xmlns:a16="http://schemas.microsoft.com/office/drawing/2014/main" id="{2CBE9C76-CDF1-904D-C967-7FBA6F4457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9610" y="3001963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6" name="Rectangle 69">
              <a:extLst>
                <a:ext uri="{FF2B5EF4-FFF2-40B4-BE49-F238E27FC236}">
                  <a16:creationId xmlns:a16="http://schemas.microsoft.com/office/drawing/2014/main" id="{8BF4124D-5ED5-A64B-1525-3242BCD55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272" y="3062742"/>
              <a:ext cx="87080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74" name="Rectangle 86">
              <a:extLst>
                <a:ext uri="{FF2B5EF4-FFF2-40B4-BE49-F238E27FC236}">
                  <a16:creationId xmlns:a16="http://schemas.microsoft.com/office/drawing/2014/main" id="{C185E23B-6EB8-3C37-A3A2-6FCAB91DF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183" y="391636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76" name="Rectangle 88">
              <a:extLst>
                <a:ext uri="{FF2B5EF4-FFF2-40B4-BE49-F238E27FC236}">
                  <a16:creationId xmlns:a16="http://schemas.microsoft.com/office/drawing/2014/main" id="{6CC2CD96-0DEA-6433-6A9C-634C96C71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362" y="391636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78" name="Rectangle 90">
              <a:extLst>
                <a:ext uri="{FF2B5EF4-FFF2-40B4-BE49-F238E27FC236}">
                  <a16:creationId xmlns:a16="http://schemas.microsoft.com/office/drawing/2014/main" id="{0F0521EB-6927-EA43-B269-032FFFBC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268" y="3916363"/>
              <a:ext cx="863600" cy="30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65000"/>
                    </a:schemeClr>
                  </a:solidFill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180" name="Rectangle 92">
              <a:extLst>
                <a:ext uri="{FF2B5EF4-FFF2-40B4-BE49-F238E27FC236}">
                  <a16:creationId xmlns:a16="http://schemas.microsoft.com/office/drawing/2014/main" id="{CE48538B-F09B-EA71-EFDE-4822FCB52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861" y="391636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82" name="Rectangle 94">
              <a:extLst>
                <a:ext uri="{FF2B5EF4-FFF2-40B4-BE49-F238E27FC236}">
                  <a16:creationId xmlns:a16="http://schemas.microsoft.com/office/drawing/2014/main" id="{2B358551-B248-934B-1308-C09D484AE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03" y="3954463"/>
              <a:ext cx="1394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84" name="Rectangle 95">
              <a:extLst>
                <a:ext uri="{FF2B5EF4-FFF2-40B4-BE49-F238E27FC236}">
                  <a16:creationId xmlns:a16="http://schemas.microsoft.com/office/drawing/2014/main" id="{B5A50CB0-CD4F-E64A-2344-8ECDF2CCA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" y="3954463"/>
              <a:ext cx="6412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-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85" name="Rectangle 96">
              <a:extLst>
                <a:ext uri="{FF2B5EF4-FFF2-40B4-BE49-F238E27FC236}">
                  <a16:creationId xmlns:a16="http://schemas.microsoft.com/office/drawing/2014/main" id="{70C2129B-31F4-79BE-3CD7-30E7348EC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78" y="3954463"/>
              <a:ext cx="36388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type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86" name="Rectangle 97">
              <a:extLst>
                <a:ext uri="{FF2B5EF4-FFF2-40B4-BE49-F238E27FC236}">
                  <a16:creationId xmlns:a16="http://schemas.microsoft.com/office/drawing/2014/main" id="{8881FCF6-EF31-0026-A363-A4E3CB911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362" y="440531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88" name="Rectangle 99">
              <a:extLst>
                <a:ext uri="{FF2B5EF4-FFF2-40B4-BE49-F238E27FC236}">
                  <a16:creationId xmlns:a16="http://schemas.microsoft.com/office/drawing/2014/main" id="{54B380C5-9384-5D71-13CE-F9DA53BAE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815" y="440531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0" name="Rectangle 101">
              <a:extLst>
                <a:ext uri="{FF2B5EF4-FFF2-40B4-BE49-F238E27FC236}">
                  <a16:creationId xmlns:a16="http://schemas.microsoft.com/office/drawing/2014/main" id="{0783AB7A-4AC5-D399-0B52-DB857B8DA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861" y="4405313"/>
              <a:ext cx="863600" cy="30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65000"/>
                    </a:schemeClr>
                  </a:solidFill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192" name="Rectangle 103">
              <a:extLst>
                <a:ext uri="{FF2B5EF4-FFF2-40B4-BE49-F238E27FC236}">
                  <a16:creationId xmlns:a16="http://schemas.microsoft.com/office/drawing/2014/main" id="{65460506-81F8-FA32-8A01-A0A9254A1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453" y="440531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4" name="Rectangle 105">
              <a:extLst>
                <a:ext uri="{FF2B5EF4-FFF2-40B4-BE49-F238E27FC236}">
                  <a16:creationId xmlns:a16="http://schemas.microsoft.com/office/drawing/2014/main" id="{5E172D44-444D-9A4B-4C75-C0C546453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563" y="4440238"/>
              <a:ext cx="1394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5" name="Rectangle 106">
              <a:extLst>
                <a:ext uri="{FF2B5EF4-FFF2-40B4-BE49-F238E27FC236}">
                  <a16:creationId xmlns:a16="http://schemas.microsoft.com/office/drawing/2014/main" id="{1E04AA5D-9BC1-DA86-A7DD-A5E4D3952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25" y="4440238"/>
              <a:ext cx="6412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-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6" name="Rectangle 107">
              <a:extLst>
                <a:ext uri="{FF2B5EF4-FFF2-40B4-BE49-F238E27FC236}">
                  <a16:creationId xmlns:a16="http://schemas.microsoft.com/office/drawing/2014/main" id="{D22BE89D-AE5D-5DA4-76F6-8C5C45150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238" y="4440238"/>
              <a:ext cx="36388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type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7" name="Rectangle 108">
              <a:extLst>
                <a:ext uri="{FF2B5EF4-FFF2-40B4-BE49-F238E27FC236}">
                  <a16:creationId xmlns:a16="http://schemas.microsoft.com/office/drawing/2014/main" id="{D21A9A8A-CB5A-C7B6-393A-78CE526D8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815" y="489267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199" name="Rectangle 110">
              <a:extLst>
                <a:ext uri="{FF2B5EF4-FFF2-40B4-BE49-F238E27FC236}">
                  <a16:creationId xmlns:a16="http://schemas.microsoft.com/office/drawing/2014/main" id="{EA6A99B4-5848-DD7B-3A3D-71C0DB2C5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268" y="489267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01" name="Rectangle 112">
              <a:extLst>
                <a:ext uri="{FF2B5EF4-FFF2-40B4-BE49-F238E27FC236}">
                  <a16:creationId xmlns:a16="http://schemas.microsoft.com/office/drawing/2014/main" id="{7DCACEE1-86FA-2EB3-E739-7FD65BDFA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861" y="489267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03" name="Rectangle 114">
              <a:extLst>
                <a:ext uri="{FF2B5EF4-FFF2-40B4-BE49-F238E27FC236}">
                  <a16:creationId xmlns:a16="http://schemas.microsoft.com/office/drawing/2014/main" id="{F95EC68A-A80F-061B-A5C2-E85B3113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453" y="489267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05" name="Rectangle 116">
              <a:extLst>
                <a:ext uri="{FF2B5EF4-FFF2-40B4-BE49-F238E27FC236}">
                  <a16:creationId xmlns:a16="http://schemas.microsoft.com/office/drawing/2014/main" id="{703C3C56-677A-010A-4381-9871E0EB0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493" y="489267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07" name="Rectangle 118">
              <a:extLst>
                <a:ext uri="{FF2B5EF4-FFF2-40B4-BE49-F238E27FC236}">
                  <a16:creationId xmlns:a16="http://schemas.microsoft.com/office/drawing/2014/main" id="{2AE9B0C6-4070-73DF-F9D2-9D9571347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6638" y="4930775"/>
              <a:ext cx="42960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Load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08" name="Rectangle 119">
              <a:extLst>
                <a:ext uri="{FF2B5EF4-FFF2-40B4-BE49-F238E27FC236}">
                  <a16:creationId xmlns:a16="http://schemas.microsoft.com/office/drawing/2014/main" id="{7F530651-03B6-B44B-6EE1-132663BB6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268" y="538162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10" name="Rectangle 121">
              <a:extLst>
                <a:ext uri="{FF2B5EF4-FFF2-40B4-BE49-F238E27FC236}">
                  <a16:creationId xmlns:a16="http://schemas.microsoft.com/office/drawing/2014/main" id="{B05D4825-5EB9-49D0-2213-44D5DE8C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861" y="538162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12" name="Rectangle 123">
              <a:extLst>
                <a:ext uri="{FF2B5EF4-FFF2-40B4-BE49-F238E27FC236}">
                  <a16:creationId xmlns:a16="http://schemas.microsoft.com/office/drawing/2014/main" id="{288A033E-86BC-16D7-6735-367FD637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493" y="5381625"/>
              <a:ext cx="863600" cy="30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65000"/>
                    </a:schemeClr>
                  </a:solidFill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214" name="Rectangle 125">
              <a:extLst>
                <a:ext uri="{FF2B5EF4-FFF2-40B4-BE49-F238E27FC236}">
                  <a16:creationId xmlns:a16="http://schemas.microsoft.com/office/drawing/2014/main" id="{58F85D20-5012-88C2-0319-75E6EEBAA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947" y="538162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16" name="Rectangle 127">
              <a:extLst>
                <a:ext uri="{FF2B5EF4-FFF2-40B4-BE49-F238E27FC236}">
                  <a16:creationId xmlns:a16="http://schemas.microsoft.com/office/drawing/2014/main" id="{C0FA0ACF-A5D6-5F48-7370-1471BA5C2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378" y="5416550"/>
              <a:ext cx="1394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17" name="Rectangle 128">
              <a:extLst>
                <a:ext uri="{FF2B5EF4-FFF2-40B4-BE49-F238E27FC236}">
                  <a16:creationId xmlns:a16="http://schemas.microsoft.com/office/drawing/2014/main" id="{3BB1C85E-D636-9AF4-7FA9-1A02B7C1B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140" y="5416550"/>
              <a:ext cx="6412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-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18" name="Rectangle 129">
              <a:extLst>
                <a:ext uri="{FF2B5EF4-FFF2-40B4-BE49-F238E27FC236}">
                  <a16:creationId xmlns:a16="http://schemas.microsoft.com/office/drawing/2014/main" id="{EB055B58-1E11-E6E4-A570-C5A36677B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465" y="5416550"/>
              <a:ext cx="36388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type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19" name="Rectangle 130">
              <a:extLst>
                <a:ext uri="{FF2B5EF4-FFF2-40B4-BE49-F238E27FC236}">
                  <a16:creationId xmlns:a16="http://schemas.microsoft.com/office/drawing/2014/main" id="{8475EDFC-EC22-0DBE-6962-537C669D1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861" y="5868988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IF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21" name="Rectangle 132">
              <a:extLst>
                <a:ext uri="{FF2B5EF4-FFF2-40B4-BE49-F238E27FC236}">
                  <a16:creationId xmlns:a16="http://schemas.microsoft.com/office/drawing/2014/main" id="{CD001CD6-4C73-F612-3C07-9FA993ADD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453" y="5868988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ID/Reg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23" name="Rectangle 134">
              <a:extLst>
                <a:ext uri="{FF2B5EF4-FFF2-40B4-BE49-F238E27FC236}">
                  <a16:creationId xmlns:a16="http://schemas.microsoft.com/office/drawing/2014/main" id="{7124DB95-439E-3A43-A042-CB54F0B0B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947" y="5868988"/>
              <a:ext cx="863600" cy="30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65000"/>
                    </a:schemeClr>
                  </a:solidFill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225" name="Rectangle 136">
              <a:extLst>
                <a:ext uri="{FF2B5EF4-FFF2-40B4-BE49-F238E27FC236}">
                  <a16:creationId xmlns:a16="http://schemas.microsoft.com/office/drawing/2014/main" id="{3B88DDFF-6A86-B3BD-DABA-42BF75607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6400" y="5868988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WB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27" name="Rectangle 138">
              <a:extLst>
                <a:ext uri="{FF2B5EF4-FFF2-40B4-BE49-F238E27FC236}">
                  <a16:creationId xmlns:a16="http://schemas.microsoft.com/office/drawing/2014/main" id="{6D31D17A-DDEA-C5C3-0FFB-F134DA275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140" y="5907088"/>
              <a:ext cx="1394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28" name="Rectangle 139">
              <a:extLst>
                <a:ext uri="{FF2B5EF4-FFF2-40B4-BE49-F238E27FC236}">
                  <a16:creationId xmlns:a16="http://schemas.microsoft.com/office/drawing/2014/main" id="{DAD7696D-DF1A-8D67-FD34-A8CEF54B2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903" y="5907088"/>
              <a:ext cx="6412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-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29" name="Rectangle 140">
              <a:extLst>
                <a:ext uri="{FF2B5EF4-FFF2-40B4-BE49-F238E27FC236}">
                  <a16:creationId xmlns:a16="http://schemas.microsoft.com/office/drawing/2014/main" id="{F81D217B-4DD8-A239-AEB3-625D7D074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815" y="5907088"/>
              <a:ext cx="36388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type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30" name="Freeform 141">
              <a:extLst>
                <a:ext uri="{FF2B5EF4-FFF2-40B4-BE49-F238E27FC236}">
                  <a16:creationId xmlns:a16="http://schemas.microsoft.com/office/drawing/2014/main" id="{62D840EC-EF46-CDD5-1DA7-9BED25ED3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39305" y="3754438"/>
              <a:ext cx="26988" cy="1057275"/>
            </a:xfrm>
            <a:custGeom>
              <a:avLst/>
              <a:gdLst>
                <a:gd name="T0" fmla="*/ 17 w 17"/>
                <a:gd name="T1" fmla="*/ 649 h 666"/>
                <a:gd name="T2" fmla="*/ 0 w 17"/>
                <a:gd name="T3" fmla="*/ 666 h 666"/>
                <a:gd name="T4" fmla="*/ 17 w 17"/>
                <a:gd name="T5" fmla="*/ 632 h 666"/>
                <a:gd name="T6" fmla="*/ 0 w 17"/>
                <a:gd name="T7" fmla="*/ 615 h 666"/>
                <a:gd name="T8" fmla="*/ 17 w 17"/>
                <a:gd name="T9" fmla="*/ 632 h 666"/>
                <a:gd name="T10" fmla="*/ 17 w 17"/>
                <a:gd name="T11" fmla="*/ 581 h 666"/>
                <a:gd name="T12" fmla="*/ 0 w 17"/>
                <a:gd name="T13" fmla="*/ 598 h 666"/>
                <a:gd name="T14" fmla="*/ 17 w 17"/>
                <a:gd name="T15" fmla="*/ 563 h 666"/>
                <a:gd name="T16" fmla="*/ 0 w 17"/>
                <a:gd name="T17" fmla="*/ 547 h 666"/>
                <a:gd name="T18" fmla="*/ 17 w 17"/>
                <a:gd name="T19" fmla="*/ 563 h 666"/>
                <a:gd name="T20" fmla="*/ 17 w 17"/>
                <a:gd name="T21" fmla="*/ 512 h 666"/>
                <a:gd name="T22" fmla="*/ 0 w 17"/>
                <a:gd name="T23" fmla="*/ 529 h 666"/>
                <a:gd name="T24" fmla="*/ 17 w 17"/>
                <a:gd name="T25" fmla="*/ 495 h 666"/>
                <a:gd name="T26" fmla="*/ 0 w 17"/>
                <a:gd name="T27" fmla="*/ 478 h 666"/>
                <a:gd name="T28" fmla="*/ 17 w 17"/>
                <a:gd name="T29" fmla="*/ 495 h 666"/>
                <a:gd name="T30" fmla="*/ 17 w 17"/>
                <a:gd name="T31" fmla="*/ 444 h 666"/>
                <a:gd name="T32" fmla="*/ 0 w 17"/>
                <a:gd name="T33" fmla="*/ 461 h 666"/>
                <a:gd name="T34" fmla="*/ 17 w 17"/>
                <a:gd name="T35" fmla="*/ 427 h 666"/>
                <a:gd name="T36" fmla="*/ 0 w 17"/>
                <a:gd name="T37" fmla="*/ 410 h 666"/>
                <a:gd name="T38" fmla="*/ 17 w 17"/>
                <a:gd name="T39" fmla="*/ 427 h 666"/>
                <a:gd name="T40" fmla="*/ 17 w 17"/>
                <a:gd name="T41" fmla="*/ 376 h 666"/>
                <a:gd name="T42" fmla="*/ 0 w 17"/>
                <a:gd name="T43" fmla="*/ 393 h 666"/>
                <a:gd name="T44" fmla="*/ 17 w 17"/>
                <a:gd name="T45" fmla="*/ 358 h 666"/>
                <a:gd name="T46" fmla="*/ 0 w 17"/>
                <a:gd name="T47" fmla="*/ 342 h 666"/>
                <a:gd name="T48" fmla="*/ 17 w 17"/>
                <a:gd name="T49" fmla="*/ 358 h 666"/>
                <a:gd name="T50" fmla="*/ 17 w 17"/>
                <a:gd name="T51" fmla="*/ 307 h 666"/>
                <a:gd name="T52" fmla="*/ 0 w 17"/>
                <a:gd name="T53" fmla="*/ 324 h 666"/>
                <a:gd name="T54" fmla="*/ 17 w 17"/>
                <a:gd name="T55" fmla="*/ 290 h 666"/>
                <a:gd name="T56" fmla="*/ 0 w 17"/>
                <a:gd name="T57" fmla="*/ 273 h 666"/>
                <a:gd name="T58" fmla="*/ 17 w 17"/>
                <a:gd name="T59" fmla="*/ 290 h 666"/>
                <a:gd name="T60" fmla="*/ 17 w 17"/>
                <a:gd name="T61" fmla="*/ 239 h 666"/>
                <a:gd name="T62" fmla="*/ 0 w 17"/>
                <a:gd name="T63" fmla="*/ 256 h 666"/>
                <a:gd name="T64" fmla="*/ 17 w 17"/>
                <a:gd name="T65" fmla="*/ 222 h 666"/>
                <a:gd name="T66" fmla="*/ 0 w 17"/>
                <a:gd name="T67" fmla="*/ 205 h 666"/>
                <a:gd name="T68" fmla="*/ 17 w 17"/>
                <a:gd name="T69" fmla="*/ 222 h 666"/>
                <a:gd name="T70" fmla="*/ 17 w 17"/>
                <a:gd name="T71" fmla="*/ 171 h 666"/>
                <a:gd name="T72" fmla="*/ 0 w 17"/>
                <a:gd name="T73" fmla="*/ 188 h 666"/>
                <a:gd name="T74" fmla="*/ 17 w 17"/>
                <a:gd name="T75" fmla="*/ 154 h 666"/>
                <a:gd name="T76" fmla="*/ 0 w 17"/>
                <a:gd name="T77" fmla="*/ 137 h 666"/>
                <a:gd name="T78" fmla="*/ 17 w 17"/>
                <a:gd name="T79" fmla="*/ 154 h 666"/>
                <a:gd name="T80" fmla="*/ 17 w 17"/>
                <a:gd name="T81" fmla="*/ 102 h 666"/>
                <a:gd name="T82" fmla="*/ 0 w 17"/>
                <a:gd name="T83" fmla="*/ 119 h 666"/>
                <a:gd name="T84" fmla="*/ 17 w 17"/>
                <a:gd name="T85" fmla="*/ 85 h 666"/>
                <a:gd name="T86" fmla="*/ 0 w 17"/>
                <a:gd name="T87" fmla="*/ 68 h 666"/>
                <a:gd name="T88" fmla="*/ 17 w 17"/>
                <a:gd name="T89" fmla="*/ 85 h 666"/>
                <a:gd name="T90" fmla="*/ 17 w 17"/>
                <a:gd name="T91" fmla="*/ 34 h 666"/>
                <a:gd name="T92" fmla="*/ 0 w 17"/>
                <a:gd name="T93" fmla="*/ 51 h 666"/>
                <a:gd name="T94" fmla="*/ 17 w 17"/>
                <a:gd name="T95" fmla="*/ 17 h 666"/>
                <a:gd name="T96" fmla="*/ 0 w 17"/>
                <a:gd name="T97" fmla="*/ 0 h 666"/>
                <a:gd name="T98" fmla="*/ 17 w 17"/>
                <a:gd name="T99" fmla="*/ 17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" h="666">
                  <a:moveTo>
                    <a:pt x="17" y="666"/>
                  </a:moveTo>
                  <a:lnTo>
                    <a:pt x="17" y="649"/>
                  </a:lnTo>
                  <a:lnTo>
                    <a:pt x="0" y="649"/>
                  </a:lnTo>
                  <a:lnTo>
                    <a:pt x="0" y="666"/>
                  </a:lnTo>
                  <a:lnTo>
                    <a:pt x="17" y="666"/>
                  </a:lnTo>
                  <a:close/>
                  <a:moveTo>
                    <a:pt x="17" y="632"/>
                  </a:moveTo>
                  <a:lnTo>
                    <a:pt x="17" y="615"/>
                  </a:lnTo>
                  <a:lnTo>
                    <a:pt x="0" y="615"/>
                  </a:lnTo>
                  <a:lnTo>
                    <a:pt x="0" y="632"/>
                  </a:lnTo>
                  <a:lnTo>
                    <a:pt x="17" y="632"/>
                  </a:lnTo>
                  <a:close/>
                  <a:moveTo>
                    <a:pt x="17" y="598"/>
                  </a:moveTo>
                  <a:lnTo>
                    <a:pt x="17" y="581"/>
                  </a:lnTo>
                  <a:lnTo>
                    <a:pt x="0" y="581"/>
                  </a:lnTo>
                  <a:lnTo>
                    <a:pt x="0" y="598"/>
                  </a:lnTo>
                  <a:lnTo>
                    <a:pt x="17" y="598"/>
                  </a:lnTo>
                  <a:close/>
                  <a:moveTo>
                    <a:pt x="17" y="563"/>
                  </a:moveTo>
                  <a:lnTo>
                    <a:pt x="17" y="547"/>
                  </a:lnTo>
                  <a:lnTo>
                    <a:pt x="0" y="547"/>
                  </a:lnTo>
                  <a:lnTo>
                    <a:pt x="0" y="563"/>
                  </a:lnTo>
                  <a:lnTo>
                    <a:pt x="17" y="563"/>
                  </a:lnTo>
                  <a:close/>
                  <a:moveTo>
                    <a:pt x="17" y="529"/>
                  </a:moveTo>
                  <a:lnTo>
                    <a:pt x="17" y="512"/>
                  </a:lnTo>
                  <a:lnTo>
                    <a:pt x="0" y="512"/>
                  </a:lnTo>
                  <a:lnTo>
                    <a:pt x="0" y="529"/>
                  </a:lnTo>
                  <a:lnTo>
                    <a:pt x="17" y="529"/>
                  </a:lnTo>
                  <a:close/>
                  <a:moveTo>
                    <a:pt x="17" y="495"/>
                  </a:moveTo>
                  <a:lnTo>
                    <a:pt x="17" y="478"/>
                  </a:lnTo>
                  <a:lnTo>
                    <a:pt x="0" y="478"/>
                  </a:lnTo>
                  <a:lnTo>
                    <a:pt x="0" y="495"/>
                  </a:lnTo>
                  <a:lnTo>
                    <a:pt x="17" y="495"/>
                  </a:lnTo>
                  <a:close/>
                  <a:moveTo>
                    <a:pt x="17" y="461"/>
                  </a:moveTo>
                  <a:lnTo>
                    <a:pt x="17" y="444"/>
                  </a:lnTo>
                  <a:lnTo>
                    <a:pt x="0" y="444"/>
                  </a:lnTo>
                  <a:lnTo>
                    <a:pt x="0" y="461"/>
                  </a:lnTo>
                  <a:lnTo>
                    <a:pt x="17" y="461"/>
                  </a:lnTo>
                  <a:close/>
                  <a:moveTo>
                    <a:pt x="17" y="427"/>
                  </a:moveTo>
                  <a:lnTo>
                    <a:pt x="17" y="410"/>
                  </a:lnTo>
                  <a:lnTo>
                    <a:pt x="0" y="410"/>
                  </a:lnTo>
                  <a:lnTo>
                    <a:pt x="0" y="427"/>
                  </a:lnTo>
                  <a:lnTo>
                    <a:pt x="17" y="427"/>
                  </a:lnTo>
                  <a:close/>
                  <a:moveTo>
                    <a:pt x="17" y="393"/>
                  </a:moveTo>
                  <a:lnTo>
                    <a:pt x="17" y="376"/>
                  </a:lnTo>
                  <a:lnTo>
                    <a:pt x="0" y="376"/>
                  </a:lnTo>
                  <a:lnTo>
                    <a:pt x="0" y="393"/>
                  </a:lnTo>
                  <a:lnTo>
                    <a:pt x="17" y="393"/>
                  </a:lnTo>
                  <a:close/>
                  <a:moveTo>
                    <a:pt x="17" y="358"/>
                  </a:moveTo>
                  <a:lnTo>
                    <a:pt x="17" y="342"/>
                  </a:lnTo>
                  <a:lnTo>
                    <a:pt x="0" y="342"/>
                  </a:lnTo>
                  <a:lnTo>
                    <a:pt x="0" y="358"/>
                  </a:lnTo>
                  <a:lnTo>
                    <a:pt x="17" y="358"/>
                  </a:lnTo>
                  <a:close/>
                  <a:moveTo>
                    <a:pt x="17" y="324"/>
                  </a:moveTo>
                  <a:lnTo>
                    <a:pt x="17" y="307"/>
                  </a:lnTo>
                  <a:lnTo>
                    <a:pt x="0" y="307"/>
                  </a:lnTo>
                  <a:lnTo>
                    <a:pt x="0" y="324"/>
                  </a:lnTo>
                  <a:lnTo>
                    <a:pt x="17" y="324"/>
                  </a:lnTo>
                  <a:close/>
                  <a:moveTo>
                    <a:pt x="17" y="290"/>
                  </a:moveTo>
                  <a:lnTo>
                    <a:pt x="17" y="273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17" y="290"/>
                  </a:lnTo>
                  <a:close/>
                  <a:moveTo>
                    <a:pt x="17" y="256"/>
                  </a:moveTo>
                  <a:lnTo>
                    <a:pt x="17" y="239"/>
                  </a:lnTo>
                  <a:lnTo>
                    <a:pt x="0" y="239"/>
                  </a:lnTo>
                  <a:lnTo>
                    <a:pt x="0" y="256"/>
                  </a:lnTo>
                  <a:lnTo>
                    <a:pt x="17" y="256"/>
                  </a:lnTo>
                  <a:close/>
                  <a:moveTo>
                    <a:pt x="17" y="222"/>
                  </a:moveTo>
                  <a:lnTo>
                    <a:pt x="17" y="205"/>
                  </a:lnTo>
                  <a:lnTo>
                    <a:pt x="0" y="205"/>
                  </a:lnTo>
                  <a:lnTo>
                    <a:pt x="0" y="222"/>
                  </a:lnTo>
                  <a:lnTo>
                    <a:pt x="17" y="222"/>
                  </a:lnTo>
                  <a:close/>
                  <a:moveTo>
                    <a:pt x="17" y="188"/>
                  </a:moveTo>
                  <a:lnTo>
                    <a:pt x="17" y="171"/>
                  </a:lnTo>
                  <a:lnTo>
                    <a:pt x="0" y="171"/>
                  </a:lnTo>
                  <a:lnTo>
                    <a:pt x="0" y="188"/>
                  </a:lnTo>
                  <a:lnTo>
                    <a:pt x="17" y="188"/>
                  </a:lnTo>
                  <a:close/>
                  <a:moveTo>
                    <a:pt x="17" y="154"/>
                  </a:moveTo>
                  <a:lnTo>
                    <a:pt x="17" y="137"/>
                  </a:lnTo>
                  <a:lnTo>
                    <a:pt x="0" y="137"/>
                  </a:lnTo>
                  <a:lnTo>
                    <a:pt x="0" y="154"/>
                  </a:lnTo>
                  <a:lnTo>
                    <a:pt x="17" y="154"/>
                  </a:lnTo>
                  <a:close/>
                  <a:moveTo>
                    <a:pt x="17" y="119"/>
                  </a:moveTo>
                  <a:lnTo>
                    <a:pt x="17" y="102"/>
                  </a:lnTo>
                  <a:lnTo>
                    <a:pt x="0" y="102"/>
                  </a:lnTo>
                  <a:lnTo>
                    <a:pt x="0" y="119"/>
                  </a:lnTo>
                  <a:lnTo>
                    <a:pt x="17" y="119"/>
                  </a:lnTo>
                  <a:close/>
                  <a:moveTo>
                    <a:pt x="17" y="85"/>
                  </a:moveTo>
                  <a:lnTo>
                    <a:pt x="17" y="68"/>
                  </a:lnTo>
                  <a:lnTo>
                    <a:pt x="0" y="68"/>
                  </a:lnTo>
                  <a:lnTo>
                    <a:pt x="0" y="85"/>
                  </a:lnTo>
                  <a:lnTo>
                    <a:pt x="17" y="85"/>
                  </a:lnTo>
                  <a:close/>
                  <a:moveTo>
                    <a:pt x="17" y="51"/>
                  </a:moveTo>
                  <a:lnTo>
                    <a:pt x="17" y="34"/>
                  </a:lnTo>
                  <a:lnTo>
                    <a:pt x="0" y="34"/>
                  </a:lnTo>
                  <a:lnTo>
                    <a:pt x="0" y="51"/>
                  </a:lnTo>
                  <a:lnTo>
                    <a:pt x="17" y="51"/>
                  </a:lnTo>
                  <a:close/>
                  <a:moveTo>
                    <a:pt x="17" y="17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1" name="Freeform 142">
              <a:extLst>
                <a:ext uri="{FF2B5EF4-FFF2-40B4-BE49-F238E27FC236}">
                  <a16:creationId xmlns:a16="http://schemas.microsoft.com/office/drawing/2014/main" id="{49966792-6016-100B-8F0F-57FEC8465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78764" y="3754438"/>
              <a:ext cx="26988" cy="2033588"/>
            </a:xfrm>
            <a:custGeom>
              <a:avLst/>
              <a:gdLst>
                <a:gd name="T0" fmla="*/ 0 w 17"/>
                <a:gd name="T1" fmla="*/ 1264 h 1281"/>
                <a:gd name="T2" fmla="*/ 17 w 17"/>
                <a:gd name="T3" fmla="*/ 1247 h 1281"/>
                <a:gd name="T4" fmla="*/ 0 w 17"/>
                <a:gd name="T5" fmla="*/ 1247 h 1281"/>
                <a:gd name="T6" fmla="*/ 17 w 17"/>
                <a:gd name="T7" fmla="*/ 1195 h 1281"/>
                <a:gd name="T8" fmla="*/ 17 w 17"/>
                <a:gd name="T9" fmla="*/ 1213 h 1281"/>
                <a:gd name="T10" fmla="*/ 0 w 17"/>
                <a:gd name="T11" fmla="*/ 1161 h 1281"/>
                <a:gd name="T12" fmla="*/ 17 w 17"/>
                <a:gd name="T13" fmla="*/ 1144 h 1281"/>
                <a:gd name="T14" fmla="*/ 0 w 17"/>
                <a:gd name="T15" fmla="*/ 1144 h 1281"/>
                <a:gd name="T16" fmla="*/ 17 w 17"/>
                <a:gd name="T17" fmla="*/ 1093 h 1281"/>
                <a:gd name="T18" fmla="*/ 17 w 17"/>
                <a:gd name="T19" fmla="*/ 1110 h 1281"/>
                <a:gd name="T20" fmla="*/ 0 w 17"/>
                <a:gd name="T21" fmla="*/ 1059 h 1281"/>
                <a:gd name="T22" fmla="*/ 17 w 17"/>
                <a:gd name="T23" fmla="*/ 1042 h 1281"/>
                <a:gd name="T24" fmla="*/ 0 w 17"/>
                <a:gd name="T25" fmla="*/ 1042 h 1281"/>
                <a:gd name="T26" fmla="*/ 17 w 17"/>
                <a:gd name="T27" fmla="*/ 991 h 1281"/>
                <a:gd name="T28" fmla="*/ 17 w 17"/>
                <a:gd name="T29" fmla="*/ 1008 h 1281"/>
                <a:gd name="T30" fmla="*/ 0 w 17"/>
                <a:gd name="T31" fmla="*/ 957 h 1281"/>
                <a:gd name="T32" fmla="*/ 17 w 17"/>
                <a:gd name="T33" fmla="*/ 939 h 1281"/>
                <a:gd name="T34" fmla="*/ 0 w 17"/>
                <a:gd name="T35" fmla="*/ 939 h 1281"/>
                <a:gd name="T36" fmla="*/ 17 w 17"/>
                <a:gd name="T37" fmla="*/ 888 h 1281"/>
                <a:gd name="T38" fmla="*/ 17 w 17"/>
                <a:gd name="T39" fmla="*/ 905 h 1281"/>
                <a:gd name="T40" fmla="*/ 0 w 17"/>
                <a:gd name="T41" fmla="*/ 854 h 1281"/>
                <a:gd name="T42" fmla="*/ 17 w 17"/>
                <a:gd name="T43" fmla="*/ 837 h 1281"/>
                <a:gd name="T44" fmla="*/ 0 w 17"/>
                <a:gd name="T45" fmla="*/ 837 h 1281"/>
                <a:gd name="T46" fmla="*/ 17 w 17"/>
                <a:gd name="T47" fmla="*/ 786 h 1281"/>
                <a:gd name="T48" fmla="*/ 17 w 17"/>
                <a:gd name="T49" fmla="*/ 803 h 1281"/>
                <a:gd name="T50" fmla="*/ 0 w 17"/>
                <a:gd name="T51" fmla="*/ 752 h 1281"/>
                <a:gd name="T52" fmla="*/ 17 w 17"/>
                <a:gd name="T53" fmla="*/ 734 h 1281"/>
                <a:gd name="T54" fmla="*/ 0 w 17"/>
                <a:gd name="T55" fmla="*/ 734 h 1281"/>
                <a:gd name="T56" fmla="*/ 17 w 17"/>
                <a:gd name="T57" fmla="*/ 683 h 1281"/>
                <a:gd name="T58" fmla="*/ 17 w 17"/>
                <a:gd name="T59" fmla="*/ 700 h 1281"/>
                <a:gd name="T60" fmla="*/ 0 w 17"/>
                <a:gd name="T61" fmla="*/ 649 h 1281"/>
                <a:gd name="T62" fmla="*/ 17 w 17"/>
                <a:gd name="T63" fmla="*/ 632 h 1281"/>
                <a:gd name="T64" fmla="*/ 0 w 17"/>
                <a:gd name="T65" fmla="*/ 632 h 1281"/>
                <a:gd name="T66" fmla="*/ 17 w 17"/>
                <a:gd name="T67" fmla="*/ 581 h 1281"/>
                <a:gd name="T68" fmla="*/ 17 w 17"/>
                <a:gd name="T69" fmla="*/ 598 h 1281"/>
                <a:gd name="T70" fmla="*/ 0 w 17"/>
                <a:gd name="T71" fmla="*/ 547 h 1281"/>
                <a:gd name="T72" fmla="*/ 17 w 17"/>
                <a:gd name="T73" fmla="*/ 529 h 1281"/>
                <a:gd name="T74" fmla="*/ 0 w 17"/>
                <a:gd name="T75" fmla="*/ 529 h 1281"/>
                <a:gd name="T76" fmla="*/ 17 w 17"/>
                <a:gd name="T77" fmla="*/ 478 h 1281"/>
                <a:gd name="T78" fmla="*/ 17 w 17"/>
                <a:gd name="T79" fmla="*/ 495 h 1281"/>
                <a:gd name="T80" fmla="*/ 0 w 17"/>
                <a:gd name="T81" fmla="*/ 444 h 1281"/>
                <a:gd name="T82" fmla="*/ 17 w 17"/>
                <a:gd name="T83" fmla="*/ 427 h 1281"/>
                <a:gd name="T84" fmla="*/ 0 w 17"/>
                <a:gd name="T85" fmla="*/ 427 h 1281"/>
                <a:gd name="T86" fmla="*/ 17 w 17"/>
                <a:gd name="T87" fmla="*/ 376 h 1281"/>
                <a:gd name="T88" fmla="*/ 17 w 17"/>
                <a:gd name="T89" fmla="*/ 393 h 1281"/>
                <a:gd name="T90" fmla="*/ 0 w 17"/>
                <a:gd name="T91" fmla="*/ 342 h 1281"/>
                <a:gd name="T92" fmla="*/ 17 w 17"/>
                <a:gd name="T93" fmla="*/ 324 h 1281"/>
                <a:gd name="T94" fmla="*/ 0 w 17"/>
                <a:gd name="T95" fmla="*/ 324 h 1281"/>
                <a:gd name="T96" fmla="*/ 17 w 17"/>
                <a:gd name="T97" fmla="*/ 273 h 1281"/>
                <a:gd name="T98" fmla="*/ 17 w 17"/>
                <a:gd name="T99" fmla="*/ 290 h 1281"/>
                <a:gd name="T100" fmla="*/ 0 w 17"/>
                <a:gd name="T101" fmla="*/ 239 h 1281"/>
                <a:gd name="T102" fmla="*/ 17 w 17"/>
                <a:gd name="T103" fmla="*/ 222 h 1281"/>
                <a:gd name="T104" fmla="*/ 0 w 17"/>
                <a:gd name="T105" fmla="*/ 222 h 1281"/>
                <a:gd name="T106" fmla="*/ 17 w 17"/>
                <a:gd name="T107" fmla="*/ 171 h 1281"/>
                <a:gd name="T108" fmla="*/ 17 w 17"/>
                <a:gd name="T109" fmla="*/ 188 h 1281"/>
                <a:gd name="T110" fmla="*/ 0 w 17"/>
                <a:gd name="T111" fmla="*/ 137 h 1281"/>
                <a:gd name="T112" fmla="*/ 17 w 17"/>
                <a:gd name="T113" fmla="*/ 119 h 1281"/>
                <a:gd name="T114" fmla="*/ 0 w 17"/>
                <a:gd name="T115" fmla="*/ 119 h 1281"/>
                <a:gd name="T116" fmla="*/ 17 w 17"/>
                <a:gd name="T117" fmla="*/ 68 h 1281"/>
                <a:gd name="T118" fmla="*/ 17 w 17"/>
                <a:gd name="T119" fmla="*/ 85 h 1281"/>
                <a:gd name="T120" fmla="*/ 0 w 17"/>
                <a:gd name="T121" fmla="*/ 34 h 1281"/>
                <a:gd name="T122" fmla="*/ 17 w 17"/>
                <a:gd name="T123" fmla="*/ 17 h 1281"/>
                <a:gd name="T124" fmla="*/ 0 w 17"/>
                <a:gd name="T125" fmla="*/ 17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" h="1281">
                  <a:moveTo>
                    <a:pt x="17" y="1281"/>
                  </a:moveTo>
                  <a:lnTo>
                    <a:pt x="17" y="1264"/>
                  </a:lnTo>
                  <a:lnTo>
                    <a:pt x="0" y="1264"/>
                  </a:lnTo>
                  <a:lnTo>
                    <a:pt x="0" y="1281"/>
                  </a:lnTo>
                  <a:lnTo>
                    <a:pt x="17" y="1281"/>
                  </a:lnTo>
                  <a:close/>
                  <a:moveTo>
                    <a:pt x="17" y="1247"/>
                  </a:moveTo>
                  <a:lnTo>
                    <a:pt x="17" y="1230"/>
                  </a:lnTo>
                  <a:lnTo>
                    <a:pt x="0" y="1230"/>
                  </a:lnTo>
                  <a:lnTo>
                    <a:pt x="0" y="1247"/>
                  </a:lnTo>
                  <a:lnTo>
                    <a:pt x="17" y="1247"/>
                  </a:lnTo>
                  <a:close/>
                  <a:moveTo>
                    <a:pt x="17" y="1213"/>
                  </a:moveTo>
                  <a:lnTo>
                    <a:pt x="17" y="1195"/>
                  </a:lnTo>
                  <a:lnTo>
                    <a:pt x="0" y="1195"/>
                  </a:lnTo>
                  <a:lnTo>
                    <a:pt x="0" y="1213"/>
                  </a:lnTo>
                  <a:lnTo>
                    <a:pt x="17" y="1213"/>
                  </a:lnTo>
                  <a:close/>
                  <a:moveTo>
                    <a:pt x="17" y="1178"/>
                  </a:moveTo>
                  <a:lnTo>
                    <a:pt x="17" y="1161"/>
                  </a:lnTo>
                  <a:lnTo>
                    <a:pt x="0" y="1161"/>
                  </a:lnTo>
                  <a:lnTo>
                    <a:pt x="0" y="1178"/>
                  </a:lnTo>
                  <a:lnTo>
                    <a:pt x="17" y="1178"/>
                  </a:lnTo>
                  <a:close/>
                  <a:moveTo>
                    <a:pt x="17" y="1144"/>
                  </a:moveTo>
                  <a:lnTo>
                    <a:pt x="17" y="1127"/>
                  </a:lnTo>
                  <a:lnTo>
                    <a:pt x="0" y="1127"/>
                  </a:lnTo>
                  <a:lnTo>
                    <a:pt x="0" y="1144"/>
                  </a:lnTo>
                  <a:lnTo>
                    <a:pt x="17" y="1144"/>
                  </a:lnTo>
                  <a:close/>
                  <a:moveTo>
                    <a:pt x="17" y="1110"/>
                  </a:moveTo>
                  <a:lnTo>
                    <a:pt x="17" y="1093"/>
                  </a:lnTo>
                  <a:lnTo>
                    <a:pt x="0" y="1093"/>
                  </a:lnTo>
                  <a:lnTo>
                    <a:pt x="0" y="1110"/>
                  </a:lnTo>
                  <a:lnTo>
                    <a:pt x="17" y="1110"/>
                  </a:lnTo>
                  <a:close/>
                  <a:moveTo>
                    <a:pt x="17" y="1076"/>
                  </a:moveTo>
                  <a:lnTo>
                    <a:pt x="17" y="1059"/>
                  </a:lnTo>
                  <a:lnTo>
                    <a:pt x="0" y="1059"/>
                  </a:lnTo>
                  <a:lnTo>
                    <a:pt x="0" y="1076"/>
                  </a:lnTo>
                  <a:lnTo>
                    <a:pt x="17" y="1076"/>
                  </a:lnTo>
                  <a:close/>
                  <a:moveTo>
                    <a:pt x="17" y="1042"/>
                  </a:moveTo>
                  <a:lnTo>
                    <a:pt x="17" y="1025"/>
                  </a:lnTo>
                  <a:lnTo>
                    <a:pt x="0" y="1025"/>
                  </a:lnTo>
                  <a:lnTo>
                    <a:pt x="0" y="1042"/>
                  </a:lnTo>
                  <a:lnTo>
                    <a:pt x="17" y="1042"/>
                  </a:lnTo>
                  <a:close/>
                  <a:moveTo>
                    <a:pt x="17" y="1008"/>
                  </a:moveTo>
                  <a:lnTo>
                    <a:pt x="17" y="991"/>
                  </a:lnTo>
                  <a:lnTo>
                    <a:pt x="0" y="991"/>
                  </a:lnTo>
                  <a:lnTo>
                    <a:pt x="0" y="1008"/>
                  </a:lnTo>
                  <a:lnTo>
                    <a:pt x="17" y="1008"/>
                  </a:lnTo>
                  <a:close/>
                  <a:moveTo>
                    <a:pt x="17" y="973"/>
                  </a:moveTo>
                  <a:lnTo>
                    <a:pt x="17" y="957"/>
                  </a:lnTo>
                  <a:lnTo>
                    <a:pt x="0" y="957"/>
                  </a:lnTo>
                  <a:lnTo>
                    <a:pt x="0" y="973"/>
                  </a:lnTo>
                  <a:lnTo>
                    <a:pt x="17" y="973"/>
                  </a:lnTo>
                  <a:close/>
                  <a:moveTo>
                    <a:pt x="17" y="939"/>
                  </a:moveTo>
                  <a:lnTo>
                    <a:pt x="17" y="922"/>
                  </a:lnTo>
                  <a:lnTo>
                    <a:pt x="0" y="922"/>
                  </a:lnTo>
                  <a:lnTo>
                    <a:pt x="0" y="939"/>
                  </a:lnTo>
                  <a:lnTo>
                    <a:pt x="17" y="939"/>
                  </a:lnTo>
                  <a:close/>
                  <a:moveTo>
                    <a:pt x="17" y="905"/>
                  </a:moveTo>
                  <a:lnTo>
                    <a:pt x="17" y="888"/>
                  </a:lnTo>
                  <a:lnTo>
                    <a:pt x="0" y="888"/>
                  </a:lnTo>
                  <a:lnTo>
                    <a:pt x="0" y="905"/>
                  </a:lnTo>
                  <a:lnTo>
                    <a:pt x="17" y="905"/>
                  </a:lnTo>
                  <a:close/>
                  <a:moveTo>
                    <a:pt x="17" y="871"/>
                  </a:moveTo>
                  <a:lnTo>
                    <a:pt x="17" y="854"/>
                  </a:lnTo>
                  <a:lnTo>
                    <a:pt x="0" y="854"/>
                  </a:lnTo>
                  <a:lnTo>
                    <a:pt x="0" y="871"/>
                  </a:lnTo>
                  <a:lnTo>
                    <a:pt x="17" y="871"/>
                  </a:lnTo>
                  <a:close/>
                  <a:moveTo>
                    <a:pt x="17" y="837"/>
                  </a:moveTo>
                  <a:lnTo>
                    <a:pt x="17" y="820"/>
                  </a:lnTo>
                  <a:lnTo>
                    <a:pt x="0" y="820"/>
                  </a:lnTo>
                  <a:lnTo>
                    <a:pt x="0" y="837"/>
                  </a:lnTo>
                  <a:lnTo>
                    <a:pt x="17" y="837"/>
                  </a:lnTo>
                  <a:close/>
                  <a:moveTo>
                    <a:pt x="17" y="803"/>
                  </a:moveTo>
                  <a:lnTo>
                    <a:pt x="17" y="786"/>
                  </a:lnTo>
                  <a:lnTo>
                    <a:pt x="0" y="786"/>
                  </a:lnTo>
                  <a:lnTo>
                    <a:pt x="0" y="803"/>
                  </a:lnTo>
                  <a:lnTo>
                    <a:pt x="17" y="803"/>
                  </a:lnTo>
                  <a:close/>
                  <a:moveTo>
                    <a:pt x="17" y="768"/>
                  </a:moveTo>
                  <a:lnTo>
                    <a:pt x="17" y="752"/>
                  </a:lnTo>
                  <a:lnTo>
                    <a:pt x="0" y="752"/>
                  </a:lnTo>
                  <a:lnTo>
                    <a:pt x="0" y="768"/>
                  </a:lnTo>
                  <a:lnTo>
                    <a:pt x="17" y="768"/>
                  </a:lnTo>
                  <a:close/>
                  <a:moveTo>
                    <a:pt x="17" y="734"/>
                  </a:moveTo>
                  <a:lnTo>
                    <a:pt x="17" y="717"/>
                  </a:lnTo>
                  <a:lnTo>
                    <a:pt x="0" y="717"/>
                  </a:lnTo>
                  <a:lnTo>
                    <a:pt x="0" y="734"/>
                  </a:lnTo>
                  <a:lnTo>
                    <a:pt x="17" y="734"/>
                  </a:lnTo>
                  <a:close/>
                  <a:moveTo>
                    <a:pt x="17" y="700"/>
                  </a:moveTo>
                  <a:lnTo>
                    <a:pt x="17" y="683"/>
                  </a:lnTo>
                  <a:lnTo>
                    <a:pt x="0" y="683"/>
                  </a:lnTo>
                  <a:lnTo>
                    <a:pt x="0" y="700"/>
                  </a:lnTo>
                  <a:lnTo>
                    <a:pt x="17" y="700"/>
                  </a:lnTo>
                  <a:close/>
                  <a:moveTo>
                    <a:pt x="17" y="666"/>
                  </a:moveTo>
                  <a:lnTo>
                    <a:pt x="17" y="649"/>
                  </a:lnTo>
                  <a:lnTo>
                    <a:pt x="0" y="649"/>
                  </a:lnTo>
                  <a:lnTo>
                    <a:pt x="0" y="666"/>
                  </a:lnTo>
                  <a:lnTo>
                    <a:pt x="17" y="666"/>
                  </a:lnTo>
                  <a:close/>
                  <a:moveTo>
                    <a:pt x="17" y="632"/>
                  </a:moveTo>
                  <a:lnTo>
                    <a:pt x="17" y="615"/>
                  </a:lnTo>
                  <a:lnTo>
                    <a:pt x="0" y="615"/>
                  </a:lnTo>
                  <a:lnTo>
                    <a:pt x="0" y="632"/>
                  </a:lnTo>
                  <a:lnTo>
                    <a:pt x="17" y="632"/>
                  </a:lnTo>
                  <a:close/>
                  <a:moveTo>
                    <a:pt x="17" y="598"/>
                  </a:moveTo>
                  <a:lnTo>
                    <a:pt x="17" y="581"/>
                  </a:lnTo>
                  <a:lnTo>
                    <a:pt x="0" y="581"/>
                  </a:lnTo>
                  <a:lnTo>
                    <a:pt x="0" y="598"/>
                  </a:lnTo>
                  <a:lnTo>
                    <a:pt x="17" y="598"/>
                  </a:lnTo>
                  <a:close/>
                  <a:moveTo>
                    <a:pt x="17" y="563"/>
                  </a:moveTo>
                  <a:lnTo>
                    <a:pt x="17" y="547"/>
                  </a:lnTo>
                  <a:lnTo>
                    <a:pt x="0" y="547"/>
                  </a:lnTo>
                  <a:lnTo>
                    <a:pt x="0" y="563"/>
                  </a:lnTo>
                  <a:lnTo>
                    <a:pt x="17" y="563"/>
                  </a:lnTo>
                  <a:close/>
                  <a:moveTo>
                    <a:pt x="17" y="529"/>
                  </a:moveTo>
                  <a:lnTo>
                    <a:pt x="17" y="512"/>
                  </a:lnTo>
                  <a:lnTo>
                    <a:pt x="0" y="512"/>
                  </a:lnTo>
                  <a:lnTo>
                    <a:pt x="0" y="529"/>
                  </a:lnTo>
                  <a:lnTo>
                    <a:pt x="17" y="529"/>
                  </a:lnTo>
                  <a:close/>
                  <a:moveTo>
                    <a:pt x="17" y="495"/>
                  </a:moveTo>
                  <a:lnTo>
                    <a:pt x="17" y="478"/>
                  </a:lnTo>
                  <a:lnTo>
                    <a:pt x="0" y="478"/>
                  </a:lnTo>
                  <a:lnTo>
                    <a:pt x="0" y="495"/>
                  </a:lnTo>
                  <a:lnTo>
                    <a:pt x="17" y="495"/>
                  </a:lnTo>
                  <a:close/>
                  <a:moveTo>
                    <a:pt x="17" y="461"/>
                  </a:moveTo>
                  <a:lnTo>
                    <a:pt x="17" y="444"/>
                  </a:lnTo>
                  <a:lnTo>
                    <a:pt x="0" y="444"/>
                  </a:lnTo>
                  <a:lnTo>
                    <a:pt x="0" y="461"/>
                  </a:lnTo>
                  <a:lnTo>
                    <a:pt x="17" y="461"/>
                  </a:lnTo>
                  <a:close/>
                  <a:moveTo>
                    <a:pt x="17" y="427"/>
                  </a:moveTo>
                  <a:lnTo>
                    <a:pt x="17" y="410"/>
                  </a:lnTo>
                  <a:lnTo>
                    <a:pt x="0" y="410"/>
                  </a:lnTo>
                  <a:lnTo>
                    <a:pt x="0" y="427"/>
                  </a:lnTo>
                  <a:lnTo>
                    <a:pt x="17" y="427"/>
                  </a:lnTo>
                  <a:close/>
                  <a:moveTo>
                    <a:pt x="17" y="393"/>
                  </a:moveTo>
                  <a:lnTo>
                    <a:pt x="17" y="376"/>
                  </a:lnTo>
                  <a:lnTo>
                    <a:pt x="0" y="376"/>
                  </a:lnTo>
                  <a:lnTo>
                    <a:pt x="0" y="393"/>
                  </a:lnTo>
                  <a:lnTo>
                    <a:pt x="17" y="393"/>
                  </a:lnTo>
                  <a:close/>
                  <a:moveTo>
                    <a:pt x="17" y="358"/>
                  </a:moveTo>
                  <a:lnTo>
                    <a:pt x="17" y="342"/>
                  </a:lnTo>
                  <a:lnTo>
                    <a:pt x="0" y="342"/>
                  </a:lnTo>
                  <a:lnTo>
                    <a:pt x="0" y="358"/>
                  </a:lnTo>
                  <a:lnTo>
                    <a:pt x="17" y="358"/>
                  </a:lnTo>
                  <a:close/>
                  <a:moveTo>
                    <a:pt x="17" y="324"/>
                  </a:moveTo>
                  <a:lnTo>
                    <a:pt x="17" y="307"/>
                  </a:lnTo>
                  <a:lnTo>
                    <a:pt x="0" y="307"/>
                  </a:lnTo>
                  <a:lnTo>
                    <a:pt x="0" y="324"/>
                  </a:lnTo>
                  <a:lnTo>
                    <a:pt x="17" y="324"/>
                  </a:lnTo>
                  <a:close/>
                  <a:moveTo>
                    <a:pt x="17" y="290"/>
                  </a:moveTo>
                  <a:lnTo>
                    <a:pt x="17" y="273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17" y="290"/>
                  </a:lnTo>
                  <a:close/>
                  <a:moveTo>
                    <a:pt x="17" y="256"/>
                  </a:moveTo>
                  <a:lnTo>
                    <a:pt x="17" y="239"/>
                  </a:lnTo>
                  <a:lnTo>
                    <a:pt x="0" y="239"/>
                  </a:lnTo>
                  <a:lnTo>
                    <a:pt x="0" y="256"/>
                  </a:lnTo>
                  <a:lnTo>
                    <a:pt x="17" y="256"/>
                  </a:lnTo>
                  <a:close/>
                  <a:moveTo>
                    <a:pt x="17" y="222"/>
                  </a:moveTo>
                  <a:lnTo>
                    <a:pt x="17" y="205"/>
                  </a:lnTo>
                  <a:lnTo>
                    <a:pt x="0" y="205"/>
                  </a:lnTo>
                  <a:lnTo>
                    <a:pt x="0" y="222"/>
                  </a:lnTo>
                  <a:lnTo>
                    <a:pt x="17" y="222"/>
                  </a:lnTo>
                  <a:close/>
                  <a:moveTo>
                    <a:pt x="17" y="188"/>
                  </a:moveTo>
                  <a:lnTo>
                    <a:pt x="17" y="171"/>
                  </a:lnTo>
                  <a:lnTo>
                    <a:pt x="0" y="171"/>
                  </a:lnTo>
                  <a:lnTo>
                    <a:pt x="0" y="188"/>
                  </a:lnTo>
                  <a:lnTo>
                    <a:pt x="17" y="188"/>
                  </a:lnTo>
                  <a:close/>
                  <a:moveTo>
                    <a:pt x="17" y="154"/>
                  </a:moveTo>
                  <a:lnTo>
                    <a:pt x="17" y="137"/>
                  </a:lnTo>
                  <a:lnTo>
                    <a:pt x="0" y="137"/>
                  </a:lnTo>
                  <a:lnTo>
                    <a:pt x="0" y="154"/>
                  </a:lnTo>
                  <a:lnTo>
                    <a:pt x="17" y="154"/>
                  </a:lnTo>
                  <a:close/>
                  <a:moveTo>
                    <a:pt x="17" y="119"/>
                  </a:moveTo>
                  <a:lnTo>
                    <a:pt x="17" y="102"/>
                  </a:lnTo>
                  <a:lnTo>
                    <a:pt x="0" y="102"/>
                  </a:lnTo>
                  <a:lnTo>
                    <a:pt x="0" y="119"/>
                  </a:lnTo>
                  <a:lnTo>
                    <a:pt x="17" y="119"/>
                  </a:lnTo>
                  <a:close/>
                  <a:moveTo>
                    <a:pt x="17" y="85"/>
                  </a:moveTo>
                  <a:lnTo>
                    <a:pt x="17" y="68"/>
                  </a:lnTo>
                  <a:lnTo>
                    <a:pt x="0" y="68"/>
                  </a:lnTo>
                  <a:lnTo>
                    <a:pt x="0" y="85"/>
                  </a:lnTo>
                  <a:lnTo>
                    <a:pt x="17" y="85"/>
                  </a:lnTo>
                  <a:close/>
                  <a:moveTo>
                    <a:pt x="17" y="51"/>
                  </a:moveTo>
                  <a:lnTo>
                    <a:pt x="17" y="34"/>
                  </a:lnTo>
                  <a:lnTo>
                    <a:pt x="0" y="34"/>
                  </a:lnTo>
                  <a:lnTo>
                    <a:pt x="0" y="51"/>
                  </a:lnTo>
                  <a:lnTo>
                    <a:pt x="17" y="51"/>
                  </a:lnTo>
                  <a:close/>
                  <a:moveTo>
                    <a:pt x="17" y="17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2" name="Freeform 143">
              <a:extLst>
                <a:ext uri="{FF2B5EF4-FFF2-40B4-BE49-F238E27FC236}">
                  <a16:creationId xmlns:a16="http://schemas.microsoft.com/office/drawing/2014/main" id="{D0853A3E-0473-A050-6FE0-A0F4DF96D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2546" y="3758089"/>
              <a:ext cx="26988" cy="568325"/>
            </a:xfrm>
            <a:custGeom>
              <a:avLst/>
              <a:gdLst>
                <a:gd name="T0" fmla="*/ 17 w 17"/>
                <a:gd name="T1" fmla="*/ 358 h 358"/>
                <a:gd name="T2" fmla="*/ 17 w 17"/>
                <a:gd name="T3" fmla="*/ 342 h 358"/>
                <a:gd name="T4" fmla="*/ 0 w 17"/>
                <a:gd name="T5" fmla="*/ 342 h 358"/>
                <a:gd name="T6" fmla="*/ 0 w 17"/>
                <a:gd name="T7" fmla="*/ 358 h 358"/>
                <a:gd name="T8" fmla="*/ 17 w 17"/>
                <a:gd name="T9" fmla="*/ 358 h 358"/>
                <a:gd name="T10" fmla="*/ 17 w 17"/>
                <a:gd name="T11" fmla="*/ 324 h 358"/>
                <a:gd name="T12" fmla="*/ 17 w 17"/>
                <a:gd name="T13" fmla="*/ 307 h 358"/>
                <a:gd name="T14" fmla="*/ 0 w 17"/>
                <a:gd name="T15" fmla="*/ 307 h 358"/>
                <a:gd name="T16" fmla="*/ 0 w 17"/>
                <a:gd name="T17" fmla="*/ 324 h 358"/>
                <a:gd name="T18" fmla="*/ 17 w 17"/>
                <a:gd name="T19" fmla="*/ 324 h 358"/>
                <a:gd name="T20" fmla="*/ 17 w 17"/>
                <a:gd name="T21" fmla="*/ 290 h 358"/>
                <a:gd name="T22" fmla="*/ 17 w 17"/>
                <a:gd name="T23" fmla="*/ 273 h 358"/>
                <a:gd name="T24" fmla="*/ 0 w 17"/>
                <a:gd name="T25" fmla="*/ 273 h 358"/>
                <a:gd name="T26" fmla="*/ 0 w 17"/>
                <a:gd name="T27" fmla="*/ 290 h 358"/>
                <a:gd name="T28" fmla="*/ 17 w 17"/>
                <a:gd name="T29" fmla="*/ 290 h 358"/>
                <a:gd name="T30" fmla="*/ 17 w 17"/>
                <a:gd name="T31" fmla="*/ 256 h 358"/>
                <a:gd name="T32" fmla="*/ 17 w 17"/>
                <a:gd name="T33" fmla="*/ 239 h 358"/>
                <a:gd name="T34" fmla="*/ 0 w 17"/>
                <a:gd name="T35" fmla="*/ 239 h 358"/>
                <a:gd name="T36" fmla="*/ 0 w 17"/>
                <a:gd name="T37" fmla="*/ 256 h 358"/>
                <a:gd name="T38" fmla="*/ 17 w 17"/>
                <a:gd name="T39" fmla="*/ 256 h 358"/>
                <a:gd name="T40" fmla="*/ 17 w 17"/>
                <a:gd name="T41" fmla="*/ 222 h 358"/>
                <a:gd name="T42" fmla="*/ 17 w 17"/>
                <a:gd name="T43" fmla="*/ 205 h 358"/>
                <a:gd name="T44" fmla="*/ 0 w 17"/>
                <a:gd name="T45" fmla="*/ 205 h 358"/>
                <a:gd name="T46" fmla="*/ 0 w 17"/>
                <a:gd name="T47" fmla="*/ 222 h 358"/>
                <a:gd name="T48" fmla="*/ 17 w 17"/>
                <a:gd name="T49" fmla="*/ 222 h 358"/>
                <a:gd name="T50" fmla="*/ 17 w 17"/>
                <a:gd name="T51" fmla="*/ 188 h 358"/>
                <a:gd name="T52" fmla="*/ 17 w 17"/>
                <a:gd name="T53" fmla="*/ 171 h 358"/>
                <a:gd name="T54" fmla="*/ 0 w 17"/>
                <a:gd name="T55" fmla="*/ 171 h 358"/>
                <a:gd name="T56" fmla="*/ 0 w 17"/>
                <a:gd name="T57" fmla="*/ 188 h 358"/>
                <a:gd name="T58" fmla="*/ 17 w 17"/>
                <a:gd name="T59" fmla="*/ 188 h 358"/>
                <a:gd name="T60" fmla="*/ 17 w 17"/>
                <a:gd name="T61" fmla="*/ 154 h 358"/>
                <a:gd name="T62" fmla="*/ 17 w 17"/>
                <a:gd name="T63" fmla="*/ 137 h 358"/>
                <a:gd name="T64" fmla="*/ 0 w 17"/>
                <a:gd name="T65" fmla="*/ 137 h 358"/>
                <a:gd name="T66" fmla="*/ 0 w 17"/>
                <a:gd name="T67" fmla="*/ 154 h 358"/>
                <a:gd name="T68" fmla="*/ 17 w 17"/>
                <a:gd name="T69" fmla="*/ 154 h 358"/>
                <a:gd name="T70" fmla="*/ 17 w 17"/>
                <a:gd name="T71" fmla="*/ 119 h 358"/>
                <a:gd name="T72" fmla="*/ 17 w 17"/>
                <a:gd name="T73" fmla="*/ 102 h 358"/>
                <a:gd name="T74" fmla="*/ 0 w 17"/>
                <a:gd name="T75" fmla="*/ 102 h 358"/>
                <a:gd name="T76" fmla="*/ 0 w 17"/>
                <a:gd name="T77" fmla="*/ 119 h 358"/>
                <a:gd name="T78" fmla="*/ 17 w 17"/>
                <a:gd name="T79" fmla="*/ 119 h 358"/>
                <a:gd name="T80" fmla="*/ 17 w 17"/>
                <a:gd name="T81" fmla="*/ 85 h 358"/>
                <a:gd name="T82" fmla="*/ 17 w 17"/>
                <a:gd name="T83" fmla="*/ 68 h 358"/>
                <a:gd name="T84" fmla="*/ 0 w 17"/>
                <a:gd name="T85" fmla="*/ 68 h 358"/>
                <a:gd name="T86" fmla="*/ 0 w 17"/>
                <a:gd name="T87" fmla="*/ 85 h 358"/>
                <a:gd name="T88" fmla="*/ 17 w 17"/>
                <a:gd name="T89" fmla="*/ 85 h 358"/>
                <a:gd name="T90" fmla="*/ 17 w 17"/>
                <a:gd name="T91" fmla="*/ 51 h 358"/>
                <a:gd name="T92" fmla="*/ 17 w 17"/>
                <a:gd name="T93" fmla="*/ 34 h 358"/>
                <a:gd name="T94" fmla="*/ 0 w 17"/>
                <a:gd name="T95" fmla="*/ 34 h 358"/>
                <a:gd name="T96" fmla="*/ 0 w 17"/>
                <a:gd name="T97" fmla="*/ 51 h 358"/>
                <a:gd name="T98" fmla="*/ 17 w 17"/>
                <a:gd name="T99" fmla="*/ 51 h 358"/>
                <a:gd name="T100" fmla="*/ 17 w 17"/>
                <a:gd name="T101" fmla="*/ 17 h 358"/>
                <a:gd name="T102" fmla="*/ 17 w 17"/>
                <a:gd name="T103" fmla="*/ 0 h 358"/>
                <a:gd name="T104" fmla="*/ 0 w 17"/>
                <a:gd name="T105" fmla="*/ 0 h 358"/>
                <a:gd name="T106" fmla="*/ 0 w 17"/>
                <a:gd name="T107" fmla="*/ 17 h 358"/>
                <a:gd name="T108" fmla="*/ 17 w 17"/>
                <a:gd name="T109" fmla="*/ 17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" h="358">
                  <a:moveTo>
                    <a:pt x="17" y="358"/>
                  </a:moveTo>
                  <a:lnTo>
                    <a:pt x="17" y="342"/>
                  </a:lnTo>
                  <a:lnTo>
                    <a:pt x="0" y="342"/>
                  </a:lnTo>
                  <a:lnTo>
                    <a:pt x="0" y="358"/>
                  </a:lnTo>
                  <a:lnTo>
                    <a:pt x="17" y="358"/>
                  </a:lnTo>
                  <a:close/>
                  <a:moveTo>
                    <a:pt x="17" y="324"/>
                  </a:moveTo>
                  <a:lnTo>
                    <a:pt x="17" y="307"/>
                  </a:lnTo>
                  <a:lnTo>
                    <a:pt x="0" y="307"/>
                  </a:lnTo>
                  <a:lnTo>
                    <a:pt x="0" y="324"/>
                  </a:lnTo>
                  <a:lnTo>
                    <a:pt x="17" y="324"/>
                  </a:lnTo>
                  <a:close/>
                  <a:moveTo>
                    <a:pt x="17" y="290"/>
                  </a:moveTo>
                  <a:lnTo>
                    <a:pt x="17" y="273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17" y="290"/>
                  </a:lnTo>
                  <a:close/>
                  <a:moveTo>
                    <a:pt x="17" y="256"/>
                  </a:moveTo>
                  <a:lnTo>
                    <a:pt x="17" y="239"/>
                  </a:lnTo>
                  <a:lnTo>
                    <a:pt x="0" y="239"/>
                  </a:lnTo>
                  <a:lnTo>
                    <a:pt x="0" y="256"/>
                  </a:lnTo>
                  <a:lnTo>
                    <a:pt x="17" y="256"/>
                  </a:lnTo>
                  <a:close/>
                  <a:moveTo>
                    <a:pt x="17" y="222"/>
                  </a:moveTo>
                  <a:lnTo>
                    <a:pt x="17" y="205"/>
                  </a:lnTo>
                  <a:lnTo>
                    <a:pt x="0" y="205"/>
                  </a:lnTo>
                  <a:lnTo>
                    <a:pt x="0" y="222"/>
                  </a:lnTo>
                  <a:lnTo>
                    <a:pt x="17" y="222"/>
                  </a:lnTo>
                  <a:close/>
                  <a:moveTo>
                    <a:pt x="17" y="188"/>
                  </a:moveTo>
                  <a:lnTo>
                    <a:pt x="17" y="171"/>
                  </a:lnTo>
                  <a:lnTo>
                    <a:pt x="0" y="171"/>
                  </a:lnTo>
                  <a:lnTo>
                    <a:pt x="0" y="188"/>
                  </a:lnTo>
                  <a:lnTo>
                    <a:pt x="17" y="188"/>
                  </a:lnTo>
                  <a:close/>
                  <a:moveTo>
                    <a:pt x="17" y="154"/>
                  </a:moveTo>
                  <a:lnTo>
                    <a:pt x="17" y="137"/>
                  </a:lnTo>
                  <a:lnTo>
                    <a:pt x="0" y="137"/>
                  </a:lnTo>
                  <a:lnTo>
                    <a:pt x="0" y="154"/>
                  </a:lnTo>
                  <a:lnTo>
                    <a:pt x="17" y="154"/>
                  </a:lnTo>
                  <a:close/>
                  <a:moveTo>
                    <a:pt x="17" y="119"/>
                  </a:moveTo>
                  <a:lnTo>
                    <a:pt x="17" y="102"/>
                  </a:lnTo>
                  <a:lnTo>
                    <a:pt x="0" y="102"/>
                  </a:lnTo>
                  <a:lnTo>
                    <a:pt x="0" y="119"/>
                  </a:lnTo>
                  <a:lnTo>
                    <a:pt x="17" y="119"/>
                  </a:lnTo>
                  <a:close/>
                  <a:moveTo>
                    <a:pt x="17" y="85"/>
                  </a:moveTo>
                  <a:lnTo>
                    <a:pt x="17" y="68"/>
                  </a:lnTo>
                  <a:lnTo>
                    <a:pt x="0" y="68"/>
                  </a:lnTo>
                  <a:lnTo>
                    <a:pt x="0" y="85"/>
                  </a:lnTo>
                  <a:lnTo>
                    <a:pt x="17" y="85"/>
                  </a:lnTo>
                  <a:close/>
                  <a:moveTo>
                    <a:pt x="17" y="51"/>
                  </a:moveTo>
                  <a:lnTo>
                    <a:pt x="17" y="34"/>
                  </a:lnTo>
                  <a:lnTo>
                    <a:pt x="0" y="34"/>
                  </a:lnTo>
                  <a:lnTo>
                    <a:pt x="0" y="51"/>
                  </a:lnTo>
                  <a:lnTo>
                    <a:pt x="17" y="51"/>
                  </a:lnTo>
                  <a:close/>
                  <a:moveTo>
                    <a:pt x="17" y="17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3" name="Freeform 144">
              <a:extLst>
                <a:ext uri="{FF2B5EF4-FFF2-40B4-BE49-F238E27FC236}">
                  <a16:creationId xmlns:a16="http://schemas.microsoft.com/office/drawing/2014/main" id="{232576A3-B058-EEC7-FF1B-19F5EAB217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2588" y="3754438"/>
              <a:ext cx="26988" cy="1544638"/>
            </a:xfrm>
            <a:custGeom>
              <a:avLst/>
              <a:gdLst>
                <a:gd name="T0" fmla="*/ 0 w 17"/>
                <a:gd name="T1" fmla="*/ 957 h 973"/>
                <a:gd name="T2" fmla="*/ 17 w 17"/>
                <a:gd name="T3" fmla="*/ 939 h 973"/>
                <a:gd name="T4" fmla="*/ 0 w 17"/>
                <a:gd name="T5" fmla="*/ 939 h 973"/>
                <a:gd name="T6" fmla="*/ 17 w 17"/>
                <a:gd name="T7" fmla="*/ 888 h 973"/>
                <a:gd name="T8" fmla="*/ 17 w 17"/>
                <a:gd name="T9" fmla="*/ 905 h 973"/>
                <a:gd name="T10" fmla="*/ 0 w 17"/>
                <a:gd name="T11" fmla="*/ 854 h 973"/>
                <a:gd name="T12" fmla="*/ 17 w 17"/>
                <a:gd name="T13" fmla="*/ 837 h 973"/>
                <a:gd name="T14" fmla="*/ 0 w 17"/>
                <a:gd name="T15" fmla="*/ 837 h 973"/>
                <a:gd name="T16" fmla="*/ 17 w 17"/>
                <a:gd name="T17" fmla="*/ 786 h 973"/>
                <a:gd name="T18" fmla="*/ 17 w 17"/>
                <a:gd name="T19" fmla="*/ 803 h 973"/>
                <a:gd name="T20" fmla="*/ 0 w 17"/>
                <a:gd name="T21" fmla="*/ 752 h 973"/>
                <a:gd name="T22" fmla="*/ 17 w 17"/>
                <a:gd name="T23" fmla="*/ 734 h 973"/>
                <a:gd name="T24" fmla="*/ 0 w 17"/>
                <a:gd name="T25" fmla="*/ 734 h 973"/>
                <a:gd name="T26" fmla="*/ 17 w 17"/>
                <a:gd name="T27" fmla="*/ 683 h 973"/>
                <a:gd name="T28" fmla="*/ 17 w 17"/>
                <a:gd name="T29" fmla="*/ 700 h 973"/>
                <a:gd name="T30" fmla="*/ 0 w 17"/>
                <a:gd name="T31" fmla="*/ 649 h 973"/>
                <a:gd name="T32" fmla="*/ 17 w 17"/>
                <a:gd name="T33" fmla="*/ 632 h 973"/>
                <a:gd name="T34" fmla="*/ 0 w 17"/>
                <a:gd name="T35" fmla="*/ 632 h 973"/>
                <a:gd name="T36" fmla="*/ 17 w 17"/>
                <a:gd name="T37" fmla="*/ 581 h 973"/>
                <a:gd name="T38" fmla="*/ 17 w 17"/>
                <a:gd name="T39" fmla="*/ 598 h 973"/>
                <a:gd name="T40" fmla="*/ 0 w 17"/>
                <a:gd name="T41" fmla="*/ 547 h 973"/>
                <a:gd name="T42" fmla="*/ 17 w 17"/>
                <a:gd name="T43" fmla="*/ 529 h 973"/>
                <a:gd name="T44" fmla="*/ 0 w 17"/>
                <a:gd name="T45" fmla="*/ 529 h 973"/>
                <a:gd name="T46" fmla="*/ 17 w 17"/>
                <a:gd name="T47" fmla="*/ 478 h 973"/>
                <a:gd name="T48" fmla="*/ 17 w 17"/>
                <a:gd name="T49" fmla="*/ 495 h 973"/>
                <a:gd name="T50" fmla="*/ 0 w 17"/>
                <a:gd name="T51" fmla="*/ 444 h 973"/>
                <a:gd name="T52" fmla="*/ 17 w 17"/>
                <a:gd name="T53" fmla="*/ 427 h 973"/>
                <a:gd name="T54" fmla="*/ 0 w 17"/>
                <a:gd name="T55" fmla="*/ 427 h 973"/>
                <a:gd name="T56" fmla="*/ 17 w 17"/>
                <a:gd name="T57" fmla="*/ 376 h 973"/>
                <a:gd name="T58" fmla="*/ 17 w 17"/>
                <a:gd name="T59" fmla="*/ 393 h 973"/>
                <a:gd name="T60" fmla="*/ 0 w 17"/>
                <a:gd name="T61" fmla="*/ 342 h 973"/>
                <a:gd name="T62" fmla="*/ 17 w 17"/>
                <a:gd name="T63" fmla="*/ 324 h 973"/>
                <a:gd name="T64" fmla="*/ 0 w 17"/>
                <a:gd name="T65" fmla="*/ 324 h 973"/>
                <a:gd name="T66" fmla="*/ 17 w 17"/>
                <a:gd name="T67" fmla="*/ 273 h 973"/>
                <a:gd name="T68" fmla="*/ 17 w 17"/>
                <a:gd name="T69" fmla="*/ 290 h 973"/>
                <a:gd name="T70" fmla="*/ 0 w 17"/>
                <a:gd name="T71" fmla="*/ 239 h 973"/>
                <a:gd name="T72" fmla="*/ 17 w 17"/>
                <a:gd name="T73" fmla="*/ 222 h 973"/>
                <a:gd name="T74" fmla="*/ 0 w 17"/>
                <a:gd name="T75" fmla="*/ 222 h 973"/>
                <a:gd name="T76" fmla="*/ 17 w 17"/>
                <a:gd name="T77" fmla="*/ 171 h 973"/>
                <a:gd name="T78" fmla="*/ 17 w 17"/>
                <a:gd name="T79" fmla="*/ 188 h 973"/>
                <a:gd name="T80" fmla="*/ 0 w 17"/>
                <a:gd name="T81" fmla="*/ 137 h 973"/>
                <a:gd name="T82" fmla="*/ 17 w 17"/>
                <a:gd name="T83" fmla="*/ 119 h 973"/>
                <a:gd name="T84" fmla="*/ 0 w 17"/>
                <a:gd name="T85" fmla="*/ 119 h 973"/>
                <a:gd name="T86" fmla="*/ 17 w 17"/>
                <a:gd name="T87" fmla="*/ 68 h 973"/>
                <a:gd name="T88" fmla="*/ 17 w 17"/>
                <a:gd name="T89" fmla="*/ 85 h 973"/>
                <a:gd name="T90" fmla="*/ 0 w 17"/>
                <a:gd name="T91" fmla="*/ 34 h 973"/>
                <a:gd name="T92" fmla="*/ 17 w 17"/>
                <a:gd name="T93" fmla="*/ 17 h 973"/>
                <a:gd name="T94" fmla="*/ 0 w 17"/>
                <a:gd name="T95" fmla="*/ 17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" h="973">
                  <a:moveTo>
                    <a:pt x="17" y="973"/>
                  </a:moveTo>
                  <a:lnTo>
                    <a:pt x="17" y="957"/>
                  </a:lnTo>
                  <a:lnTo>
                    <a:pt x="0" y="957"/>
                  </a:lnTo>
                  <a:lnTo>
                    <a:pt x="0" y="973"/>
                  </a:lnTo>
                  <a:lnTo>
                    <a:pt x="17" y="973"/>
                  </a:lnTo>
                  <a:close/>
                  <a:moveTo>
                    <a:pt x="17" y="939"/>
                  </a:moveTo>
                  <a:lnTo>
                    <a:pt x="17" y="922"/>
                  </a:lnTo>
                  <a:lnTo>
                    <a:pt x="0" y="922"/>
                  </a:lnTo>
                  <a:lnTo>
                    <a:pt x="0" y="939"/>
                  </a:lnTo>
                  <a:lnTo>
                    <a:pt x="17" y="939"/>
                  </a:lnTo>
                  <a:close/>
                  <a:moveTo>
                    <a:pt x="17" y="905"/>
                  </a:moveTo>
                  <a:lnTo>
                    <a:pt x="17" y="888"/>
                  </a:lnTo>
                  <a:lnTo>
                    <a:pt x="0" y="888"/>
                  </a:lnTo>
                  <a:lnTo>
                    <a:pt x="0" y="905"/>
                  </a:lnTo>
                  <a:lnTo>
                    <a:pt x="17" y="905"/>
                  </a:lnTo>
                  <a:close/>
                  <a:moveTo>
                    <a:pt x="17" y="871"/>
                  </a:moveTo>
                  <a:lnTo>
                    <a:pt x="17" y="854"/>
                  </a:lnTo>
                  <a:lnTo>
                    <a:pt x="0" y="854"/>
                  </a:lnTo>
                  <a:lnTo>
                    <a:pt x="0" y="871"/>
                  </a:lnTo>
                  <a:lnTo>
                    <a:pt x="17" y="871"/>
                  </a:lnTo>
                  <a:close/>
                  <a:moveTo>
                    <a:pt x="17" y="837"/>
                  </a:moveTo>
                  <a:lnTo>
                    <a:pt x="17" y="820"/>
                  </a:lnTo>
                  <a:lnTo>
                    <a:pt x="0" y="820"/>
                  </a:lnTo>
                  <a:lnTo>
                    <a:pt x="0" y="837"/>
                  </a:lnTo>
                  <a:lnTo>
                    <a:pt x="17" y="837"/>
                  </a:lnTo>
                  <a:close/>
                  <a:moveTo>
                    <a:pt x="17" y="803"/>
                  </a:moveTo>
                  <a:lnTo>
                    <a:pt x="17" y="786"/>
                  </a:lnTo>
                  <a:lnTo>
                    <a:pt x="0" y="786"/>
                  </a:lnTo>
                  <a:lnTo>
                    <a:pt x="0" y="803"/>
                  </a:lnTo>
                  <a:lnTo>
                    <a:pt x="17" y="803"/>
                  </a:lnTo>
                  <a:close/>
                  <a:moveTo>
                    <a:pt x="17" y="768"/>
                  </a:moveTo>
                  <a:lnTo>
                    <a:pt x="17" y="752"/>
                  </a:lnTo>
                  <a:lnTo>
                    <a:pt x="0" y="752"/>
                  </a:lnTo>
                  <a:lnTo>
                    <a:pt x="0" y="768"/>
                  </a:lnTo>
                  <a:lnTo>
                    <a:pt x="17" y="768"/>
                  </a:lnTo>
                  <a:close/>
                  <a:moveTo>
                    <a:pt x="17" y="734"/>
                  </a:moveTo>
                  <a:lnTo>
                    <a:pt x="17" y="717"/>
                  </a:lnTo>
                  <a:lnTo>
                    <a:pt x="0" y="717"/>
                  </a:lnTo>
                  <a:lnTo>
                    <a:pt x="0" y="734"/>
                  </a:lnTo>
                  <a:lnTo>
                    <a:pt x="17" y="734"/>
                  </a:lnTo>
                  <a:close/>
                  <a:moveTo>
                    <a:pt x="17" y="700"/>
                  </a:moveTo>
                  <a:lnTo>
                    <a:pt x="17" y="683"/>
                  </a:lnTo>
                  <a:lnTo>
                    <a:pt x="0" y="683"/>
                  </a:lnTo>
                  <a:lnTo>
                    <a:pt x="0" y="700"/>
                  </a:lnTo>
                  <a:lnTo>
                    <a:pt x="17" y="700"/>
                  </a:lnTo>
                  <a:close/>
                  <a:moveTo>
                    <a:pt x="17" y="666"/>
                  </a:moveTo>
                  <a:lnTo>
                    <a:pt x="17" y="649"/>
                  </a:lnTo>
                  <a:lnTo>
                    <a:pt x="0" y="649"/>
                  </a:lnTo>
                  <a:lnTo>
                    <a:pt x="0" y="666"/>
                  </a:lnTo>
                  <a:lnTo>
                    <a:pt x="17" y="666"/>
                  </a:lnTo>
                  <a:close/>
                  <a:moveTo>
                    <a:pt x="17" y="632"/>
                  </a:moveTo>
                  <a:lnTo>
                    <a:pt x="17" y="615"/>
                  </a:lnTo>
                  <a:lnTo>
                    <a:pt x="0" y="615"/>
                  </a:lnTo>
                  <a:lnTo>
                    <a:pt x="0" y="632"/>
                  </a:lnTo>
                  <a:lnTo>
                    <a:pt x="17" y="632"/>
                  </a:lnTo>
                  <a:close/>
                  <a:moveTo>
                    <a:pt x="17" y="598"/>
                  </a:moveTo>
                  <a:lnTo>
                    <a:pt x="17" y="581"/>
                  </a:lnTo>
                  <a:lnTo>
                    <a:pt x="0" y="581"/>
                  </a:lnTo>
                  <a:lnTo>
                    <a:pt x="0" y="598"/>
                  </a:lnTo>
                  <a:lnTo>
                    <a:pt x="17" y="598"/>
                  </a:lnTo>
                  <a:close/>
                  <a:moveTo>
                    <a:pt x="17" y="563"/>
                  </a:moveTo>
                  <a:lnTo>
                    <a:pt x="17" y="547"/>
                  </a:lnTo>
                  <a:lnTo>
                    <a:pt x="0" y="547"/>
                  </a:lnTo>
                  <a:lnTo>
                    <a:pt x="0" y="563"/>
                  </a:lnTo>
                  <a:lnTo>
                    <a:pt x="17" y="563"/>
                  </a:lnTo>
                  <a:close/>
                  <a:moveTo>
                    <a:pt x="17" y="529"/>
                  </a:moveTo>
                  <a:lnTo>
                    <a:pt x="17" y="512"/>
                  </a:lnTo>
                  <a:lnTo>
                    <a:pt x="0" y="512"/>
                  </a:lnTo>
                  <a:lnTo>
                    <a:pt x="0" y="529"/>
                  </a:lnTo>
                  <a:lnTo>
                    <a:pt x="17" y="529"/>
                  </a:lnTo>
                  <a:close/>
                  <a:moveTo>
                    <a:pt x="17" y="495"/>
                  </a:moveTo>
                  <a:lnTo>
                    <a:pt x="17" y="478"/>
                  </a:lnTo>
                  <a:lnTo>
                    <a:pt x="0" y="478"/>
                  </a:lnTo>
                  <a:lnTo>
                    <a:pt x="0" y="495"/>
                  </a:lnTo>
                  <a:lnTo>
                    <a:pt x="17" y="495"/>
                  </a:lnTo>
                  <a:close/>
                  <a:moveTo>
                    <a:pt x="17" y="461"/>
                  </a:moveTo>
                  <a:lnTo>
                    <a:pt x="17" y="444"/>
                  </a:lnTo>
                  <a:lnTo>
                    <a:pt x="0" y="444"/>
                  </a:lnTo>
                  <a:lnTo>
                    <a:pt x="0" y="461"/>
                  </a:lnTo>
                  <a:lnTo>
                    <a:pt x="17" y="461"/>
                  </a:lnTo>
                  <a:close/>
                  <a:moveTo>
                    <a:pt x="17" y="427"/>
                  </a:moveTo>
                  <a:lnTo>
                    <a:pt x="17" y="410"/>
                  </a:lnTo>
                  <a:lnTo>
                    <a:pt x="0" y="410"/>
                  </a:lnTo>
                  <a:lnTo>
                    <a:pt x="0" y="427"/>
                  </a:lnTo>
                  <a:lnTo>
                    <a:pt x="17" y="427"/>
                  </a:lnTo>
                  <a:close/>
                  <a:moveTo>
                    <a:pt x="17" y="393"/>
                  </a:moveTo>
                  <a:lnTo>
                    <a:pt x="17" y="376"/>
                  </a:lnTo>
                  <a:lnTo>
                    <a:pt x="0" y="376"/>
                  </a:lnTo>
                  <a:lnTo>
                    <a:pt x="0" y="393"/>
                  </a:lnTo>
                  <a:lnTo>
                    <a:pt x="17" y="393"/>
                  </a:lnTo>
                  <a:close/>
                  <a:moveTo>
                    <a:pt x="17" y="358"/>
                  </a:moveTo>
                  <a:lnTo>
                    <a:pt x="17" y="342"/>
                  </a:lnTo>
                  <a:lnTo>
                    <a:pt x="0" y="342"/>
                  </a:lnTo>
                  <a:lnTo>
                    <a:pt x="0" y="358"/>
                  </a:lnTo>
                  <a:lnTo>
                    <a:pt x="17" y="358"/>
                  </a:lnTo>
                  <a:close/>
                  <a:moveTo>
                    <a:pt x="17" y="324"/>
                  </a:moveTo>
                  <a:lnTo>
                    <a:pt x="17" y="307"/>
                  </a:lnTo>
                  <a:lnTo>
                    <a:pt x="0" y="307"/>
                  </a:lnTo>
                  <a:lnTo>
                    <a:pt x="0" y="324"/>
                  </a:lnTo>
                  <a:lnTo>
                    <a:pt x="17" y="324"/>
                  </a:lnTo>
                  <a:close/>
                  <a:moveTo>
                    <a:pt x="17" y="290"/>
                  </a:moveTo>
                  <a:lnTo>
                    <a:pt x="17" y="273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17" y="290"/>
                  </a:lnTo>
                  <a:close/>
                  <a:moveTo>
                    <a:pt x="17" y="256"/>
                  </a:moveTo>
                  <a:lnTo>
                    <a:pt x="17" y="239"/>
                  </a:lnTo>
                  <a:lnTo>
                    <a:pt x="0" y="239"/>
                  </a:lnTo>
                  <a:lnTo>
                    <a:pt x="0" y="256"/>
                  </a:lnTo>
                  <a:lnTo>
                    <a:pt x="17" y="256"/>
                  </a:lnTo>
                  <a:close/>
                  <a:moveTo>
                    <a:pt x="17" y="222"/>
                  </a:moveTo>
                  <a:lnTo>
                    <a:pt x="17" y="205"/>
                  </a:lnTo>
                  <a:lnTo>
                    <a:pt x="0" y="205"/>
                  </a:lnTo>
                  <a:lnTo>
                    <a:pt x="0" y="222"/>
                  </a:lnTo>
                  <a:lnTo>
                    <a:pt x="17" y="222"/>
                  </a:lnTo>
                  <a:close/>
                  <a:moveTo>
                    <a:pt x="17" y="188"/>
                  </a:moveTo>
                  <a:lnTo>
                    <a:pt x="17" y="171"/>
                  </a:lnTo>
                  <a:lnTo>
                    <a:pt x="0" y="171"/>
                  </a:lnTo>
                  <a:lnTo>
                    <a:pt x="0" y="188"/>
                  </a:lnTo>
                  <a:lnTo>
                    <a:pt x="17" y="188"/>
                  </a:lnTo>
                  <a:close/>
                  <a:moveTo>
                    <a:pt x="17" y="154"/>
                  </a:moveTo>
                  <a:lnTo>
                    <a:pt x="17" y="137"/>
                  </a:lnTo>
                  <a:lnTo>
                    <a:pt x="0" y="137"/>
                  </a:lnTo>
                  <a:lnTo>
                    <a:pt x="0" y="154"/>
                  </a:lnTo>
                  <a:lnTo>
                    <a:pt x="17" y="154"/>
                  </a:lnTo>
                  <a:close/>
                  <a:moveTo>
                    <a:pt x="17" y="119"/>
                  </a:moveTo>
                  <a:lnTo>
                    <a:pt x="17" y="102"/>
                  </a:lnTo>
                  <a:lnTo>
                    <a:pt x="0" y="102"/>
                  </a:lnTo>
                  <a:lnTo>
                    <a:pt x="0" y="119"/>
                  </a:lnTo>
                  <a:lnTo>
                    <a:pt x="17" y="119"/>
                  </a:lnTo>
                  <a:close/>
                  <a:moveTo>
                    <a:pt x="17" y="85"/>
                  </a:moveTo>
                  <a:lnTo>
                    <a:pt x="17" y="68"/>
                  </a:lnTo>
                  <a:lnTo>
                    <a:pt x="0" y="68"/>
                  </a:lnTo>
                  <a:lnTo>
                    <a:pt x="0" y="85"/>
                  </a:lnTo>
                  <a:lnTo>
                    <a:pt x="17" y="85"/>
                  </a:lnTo>
                  <a:close/>
                  <a:moveTo>
                    <a:pt x="17" y="51"/>
                  </a:moveTo>
                  <a:lnTo>
                    <a:pt x="17" y="34"/>
                  </a:lnTo>
                  <a:lnTo>
                    <a:pt x="0" y="34"/>
                  </a:lnTo>
                  <a:lnTo>
                    <a:pt x="0" y="51"/>
                  </a:lnTo>
                  <a:lnTo>
                    <a:pt x="17" y="51"/>
                  </a:lnTo>
                  <a:close/>
                  <a:moveTo>
                    <a:pt x="17" y="17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7" y="17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4" name="Rectangle 145">
              <a:extLst>
                <a:ext uri="{FF2B5EF4-FFF2-40B4-BE49-F238E27FC236}">
                  <a16:creationId xmlns:a16="http://schemas.microsoft.com/office/drawing/2014/main" id="{C04CC423-F2E3-A163-76A7-FA3B943CE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453" y="5381625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36" name="Rectangle 147">
              <a:extLst>
                <a:ext uri="{FF2B5EF4-FFF2-40B4-BE49-F238E27FC236}">
                  <a16:creationId xmlns:a16="http://schemas.microsoft.com/office/drawing/2014/main" id="{C913C21C-D17C-5790-5842-F669EA031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493" y="5868988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38" name="Rectangle 149">
              <a:extLst>
                <a:ext uri="{FF2B5EF4-FFF2-40B4-BE49-F238E27FC236}">
                  <a16:creationId xmlns:a16="http://schemas.microsoft.com/office/drawing/2014/main" id="{797086CA-7307-1A58-99AE-7A15D5347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815" y="391636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40" name="Rectangle 151">
              <a:extLst>
                <a:ext uri="{FF2B5EF4-FFF2-40B4-BE49-F238E27FC236}">
                  <a16:creationId xmlns:a16="http://schemas.microsoft.com/office/drawing/2014/main" id="{486C9A34-5005-DBBC-7145-90F258D1F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268" y="4405313"/>
              <a:ext cx="863600" cy="304800"/>
            </a:xfrm>
            <a:prstGeom prst="rect">
              <a:avLst/>
            </a:prstGeom>
            <a:noFill/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ea typeface="SimHei" panose="02010609060101010101" pitchFamily="49" charset="-122"/>
                </a:rPr>
                <a:t>EX</a:t>
              </a:r>
              <a:endParaRPr lang="zh-CN" altLang="en-US" sz="1600" dirty="0">
                <a:ea typeface="SimHei" panose="02010609060101010101" pitchFamily="49" charset="-122"/>
              </a:endParaRPr>
            </a:p>
          </p:txBody>
        </p:sp>
        <p:sp>
          <p:nvSpPr>
            <p:cNvPr id="242" name="Rectangle 11">
              <a:extLst>
                <a:ext uri="{FF2B5EF4-FFF2-40B4-BE49-F238E27FC236}">
                  <a16:creationId xmlns:a16="http://schemas.microsoft.com/office/drawing/2014/main" id="{38789F14-5992-8C23-4D0A-2E8768292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922" y="2441577"/>
              <a:ext cx="833438" cy="2921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69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65000"/>
                    </a:schemeClr>
                  </a:solidFill>
                  <a:ea typeface="SimHei" panose="02010609060101010101" pitchFamily="49" charset="-122"/>
                </a:rPr>
                <a:t>MEM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endParaRPr>
            </a:p>
          </p:txBody>
        </p:sp>
        <p:sp>
          <p:nvSpPr>
            <p:cNvPr id="261" name="Line 31">
              <a:extLst>
                <a:ext uri="{FF2B5EF4-FFF2-40B4-BE49-F238E27FC236}">
                  <a16:creationId xmlns:a16="http://schemas.microsoft.com/office/drawing/2014/main" id="{7AB247AE-5FC9-FC0C-D4BB-0674A64B2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1969" y="3396932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Line 29">
              <a:extLst>
                <a:ext uri="{FF2B5EF4-FFF2-40B4-BE49-F238E27FC236}">
                  <a16:creationId xmlns:a16="http://schemas.microsoft.com/office/drawing/2014/main" id="{17A0E5C3-BC23-B0F6-494E-0972E96AD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136" y="3649981"/>
              <a:ext cx="457200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0" name="Line 31">
              <a:extLst>
                <a:ext uri="{FF2B5EF4-FFF2-40B4-BE49-F238E27FC236}">
                  <a16:creationId xmlns:a16="http://schemas.microsoft.com/office/drawing/2014/main" id="{E54770FF-7390-FB34-1E81-2DBBE1C49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309" y="339725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1" name="Line 32">
              <a:extLst>
                <a:ext uri="{FF2B5EF4-FFF2-40B4-BE49-F238E27FC236}">
                  <a16:creationId xmlns:a16="http://schemas.microsoft.com/office/drawing/2014/main" id="{47681AD8-6958-B652-38D8-2B6D3A7CE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584" y="3410268"/>
              <a:ext cx="428231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2" name="Freeform 68">
              <a:extLst>
                <a:ext uri="{FF2B5EF4-FFF2-40B4-BE49-F238E27FC236}">
                  <a16:creationId xmlns:a16="http://schemas.microsoft.com/office/drawing/2014/main" id="{AF8EED05-141F-3801-1D0B-26540C9AB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9616" y="3001963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3" name="Rectangle 69">
              <a:extLst>
                <a:ext uri="{FF2B5EF4-FFF2-40B4-BE49-F238E27FC236}">
                  <a16:creationId xmlns:a16="http://schemas.microsoft.com/office/drawing/2014/main" id="{4679C830-2A86-2044-C449-F986364E8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598" y="3062742"/>
              <a:ext cx="87080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94" name="Line 31">
              <a:extLst>
                <a:ext uri="{FF2B5EF4-FFF2-40B4-BE49-F238E27FC236}">
                  <a16:creationId xmlns:a16="http://schemas.microsoft.com/office/drawing/2014/main" id="{6672180E-5CBC-6DA9-6363-0E34FA5BD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1975" y="3396932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5" name="Line 29">
              <a:extLst>
                <a:ext uri="{FF2B5EF4-FFF2-40B4-BE49-F238E27FC236}">
                  <a16:creationId xmlns:a16="http://schemas.microsoft.com/office/drawing/2014/main" id="{EBD3C29F-E93B-A8E6-C38F-FA633636C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353" y="3649981"/>
              <a:ext cx="457200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6" name="Line 31">
              <a:extLst>
                <a:ext uri="{FF2B5EF4-FFF2-40B4-BE49-F238E27FC236}">
                  <a16:creationId xmlns:a16="http://schemas.microsoft.com/office/drawing/2014/main" id="{D605F07D-0E74-1A6E-2751-99102853F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1526" y="339725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7" name="Line 32">
              <a:extLst>
                <a:ext uri="{FF2B5EF4-FFF2-40B4-BE49-F238E27FC236}">
                  <a16:creationId xmlns:a16="http://schemas.microsoft.com/office/drawing/2014/main" id="{979A3D09-C54D-EAC1-4739-5E2DBC76E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801" y="3410268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8" name="Freeform 68">
              <a:extLst>
                <a:ext uri="{FF2B5EF4-FFF2-40B4-BE49-F238E27FC236}">
                  <a16:creationId xmlns:a16="http://schemas.microsoft.com/office/drawing/2014/main" id="{34451CEE-8B6B-6176-C94E-BA0347E32E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281" y="3005981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9" name="Rectangle 69">
              <a:extLst>
                <a:ext uri="{FF2B5EF4-FFF2-40B4-BE49-F238E27FC236}">
                  <a16:creationId xmlns:a16="http://schemas.microsoft.com/office/drawing/2014/main" id="{64E9E4BA-EC2B-F30F-76C3-86BAFB75C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815" y="3062742"/>
              <a:ext cx="87080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3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0" name="Line 31">
              <a:extLst>
                <a:ext uri="{FF2B5EF4-FFF2-40B4-BE49-F238E27FC236}">
                  <a16:creationId xmlns:a16="http://schemas.microsoft.com/office/drawing/2014/main" id="{CE4C162A-D9B6-67B0-3095-D01A634188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512" y="3396932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1" name="Line 29">
              <a:extLst>
                <a:ext uri="{FF2B5EF4-FFF2-40B4-BE49-F238E27FC236}">
                  <a16:creationId xmlns:a16="http://schemas.microsoft.com/office/drawing/2014/main" id="{C775CC8C-D6EF-2D8A-D491-F2AB91EF3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067" y="3649981"/>
              <a:ext cx="42468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2" name="Line 31">
              <a:extLst>
                <a:ext uri="{FF2B5EF4-FFF2-40B4-BE49-F238E27FC236}">
                  <a16:creationId xmlns:a16="http://schemas.microsoft.com/office/drawing/2014/main" id="{615BC848-3E71-490A-6382-76231EF72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8755" y="3391507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3" name="Line 32">
              <a:extLst>
                <a:ext uri="{FF2B5EF4-FFF2-40B4-BE49-F238E27FC236}">
                  <a16:creationId xmlns:a16="http://schemas.microsoft.com/office/drawing/2014/main" id="{477FB723-0850-3840-41BF-DF78C396D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7342" y="3406457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4" name="Freeform 68">
              <a:extLst>
                <a:ext uri="{FF2B5EF4-FFF2-40B4-BE49-F238E27FC236}">
                  <a16:creationId xmlns:a16="http://schemas.microsoft.com/office/drawing/2014/main" id="{9837DB8F-F4F6-EE4B-3B46-D9C79328A1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5498" y="3001963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5" name="Rectangle 69">
              <a:extLst>
                <a:ext uri="{FF2B5EF4-FFF2-40B4-BE49-F238E27FC236}">
                  <a16:creationId xmlns:a16="http://schemas.microsoft.com/office/drawing/2014/main" id="{BCB0D023-698F-9D99-4EB0-7C4240938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530" y="3062742"/>
              <a:ext cx="84055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4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06" name="Line 31">
              <a:extLst>
                <a:ext uri="{FF2B5EF4-FFF2-40B4-BE49-F238E27FC236}">
                  <a16:creationId xmlns:a16="http://schemas.microsoft.com/office/drawing/2014/main" id="{AC24F2F3-7D46-4FB0-DA1B-FF35A22A0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746" y="3396932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7" name="Line 29">
              <a:extLst>
                <a:ext uri="{FF2B5EF4-FFF2-40B4-BE49-F238E27FC236}">
                  <a16:creationId xmlns:a16="http://schemas.microsoft.com/office/drawing/2014/main" id="{1A1C47E7-380C-0CB6-2A9C-ADF4BBA03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6293" y="3649981"/>
              <a:ext cx="457200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8" name="Line 31">
              <a:extLst>
                <a:ext uri="{FF2B5EF4-FFF2-40B4-BE49-F238E27FC236}">
                  <a16:creationId xmlns:a16="http://schemas.microsoft.com/office/drawing/2014/main" id="{0201E1CD-1C73-58B7-A73D-2DFD0D865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4466" y="339725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9" name="Line 32">
              <a:extLst>
                <a:ext uri="{FF2B5EF4-FFF2-40B4-BE49-F238E27FC236}">
                  <a16:creationId xmlns:a16="http://schemas.microsoft.com/office/drawing/2014/main" id="{91F25660-9A29-3934-99EC-5F16BE8FF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741" y="3410268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0" name="Freeform 68">
              <a:extLst>
                <a:ext uri="{FF2B5EF4-FFF2-40B4-BE49-F238E27FC236}">
                  <a16:creationId xmlns:a16="http://schemas.microsoft.com/office/drawing/2014/main" id="{1E2BF80B-A52A-CA6F-B083-2D1A742EE4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6484" y="2990877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1" name="Rectangle 69">
              <a:extLst>
                <a:ext uri="{FF2B5EF4-FFF2-40B4-BE49-F238E27FC236}">
                  <a16:creationId xmlns:a16="http://schemas.microsoft.com/office/drawing/2014/main" id="{74981AD1-BAD6-E357-EB40-559FDC1EC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7869" y="3062742"/>
              <a:ext cx="87080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5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12" name="Line 31">
              <a:extLst>
                <a:ext uri="{FF2B5EF4-FFF2-40B4-BE49-F238E27FC236}">
                  <a16:creationId xmlns:a16="http://schemas.microsoft.com/office/drawing/2014/main" id="{50843B94-241F-0F33-5E89-5EBE3494C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42376" y="3396745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3" name="Line 29">
              <a:extLst>
                <a:ext uri="{FF2B5EF4-FFF2-40B4-BE49-F238E27FC236}">
                  <a16:creationId xmlns:a16="http://schemas.microsoft.com/office/drawing/2014/main" id="{6BE5A5F1-BA67-AC41-AA1D-E941E9C68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5274" y="3649981"/>
              <a:ext cx="427979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4" name="Line 31">
              <a:extLst>
                <a:ext uri="{FF2B5EF4-FFF2-40B4-BE49-F238E27FC236}">
                  <a16:creationId xmlns:a16="http://schemas.microsoft.com/office/drawing/2014/main" id="{0CDD55DC-ADBA-AC89-FB05-7CDD5212F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8047" y="339725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5" name="Line 32">
              <a:extLst>
                <a:ext uri="{FF2B5EF4-FFF2-40B4-BE49-F238E27FC236}">
                  <a16:creationId xmlns:a16="http://schemas.microsoft.com/office/drawing/2014/main" id="{630F3B86-18E7-B4DE-F09C-3652E33A8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322" y="3410268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6" name="Freeform 68">
              <a:extLst>
                <a:ext uri="{FF2B5EF4-FFF2-40B4-BE49-F238E27FC236}">
                  <a16:creationId xmlns:a16="http://schemas.microsoft.com/office/drawing/2014/main" id="{4733C74D-1598-3DD6-E25B-0BA466183E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399" y="2988281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7" name="Rectangle 69">
              <a:extLst>
                <a:ext uri="{FF2B5EF4-FFF2-40B4-BE49-F238E27FC236}">
                  <a16:creationId xmlns:a16="http://schemas.microsoft.com/office/drawing/2014/main" id="{D2F1E313-F9CE-D752-C214-2760D3EAB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5274" y="3072593"/>
              <a:ext cx="85610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6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18" name="Line 31">
              <a:extLst>
                <a:ext uri="{FF2B5EF4-FFF2-40B4-BE49-F238E27FC236}">
                  <a16:creationId xmlns:a16="http://schemas.microsoft.com/office/drawing/2014/main" id="{F9C7DE8A-7A99-1077-2F40-01AEFC7E6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5053" y="3401031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3" name="Line 29">
              <a:extLst>
                <a:ext uri="{FF2B5EF4-FFF2-40B4-BE49-F238E27FC236}">
                  <a16:creationId xmlns:a16="http://schemas.microsoft.com/office/drawing/2014/main" id="{3B1FDAE3-51ED-19F8-9BD6-6B6295855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5581" y="3643993"/>
              <a:ext cx="427979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4" name="Line 31">
              <a:extLst>
                <a:ext uri="{FF2B5EF4-FFF2-40B4-BE49-F238E27FC236}">
                  <a16:creationId xmlns:a16="http://schemas.microsoft.com/office/drawing/2014/main" id="{2A43A4EE-0958-8346-244E-76D4162BE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8354" y="3391262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5" name="Line 32">
              <a:extLst>
                <a:ext uri="{FF2B5EF4-FFF2-40B4-BE49-F238E27FC236}">
                  <a16:creationId xmlns:a16="http://schemas.microsoft.com/office/drawing/2014/main" id="{3D1A1B2F-0DA8-6265-2D83-BA0931510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629" y="3404280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6" name="Freeform 68">
              <a:extLst>
                <a:ext uri="{FF2B5EF4-FFF2-40B4-BE49-F238E27FC236}">
                  <a16:creationId xmlns:a16="http://schemas.microsoft.com/office/drawing/2014/main" id="{D1A9BCE1-6BA4-7154-15AE-5BE3CB9AE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9706" y="2982293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7" name="Rectangle 69">
              <a:extLst>
                <a:ext uri="{FF2B5EF4-FFF2-40B4-BE49-F238E27FC236}">
                  <a16:creationId xmlns:a16="http://schemas.microsoft.com/office/drawing/2014/main" id="{99469407-A953-67BC-2EA5-D0B84F7E4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5581" y="3066605"/>
              <a:ext cx="85610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7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38" name="Line 31">
              <a:extLst>
                <a:ext uri="{FF2B5EF4-FFF2-40B4-BE49-F238E27FC236}">
                  <a16:creationId xmlns:a16="http://schemas.microsoft.com/office/drawing/2014/main" id="{36FF8336-81CF-BDE8-3C4D-D479CF658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5360" y="3395043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1" name="Line 29">
              <a:extLst>
                <a:ext uri="{FF2B5EF4-FFF2-40B4-BE49-F238E27FC236}">
                  <a16:creationId xmlns:a16="http://schemas.microsoft.com/office/drawing/2014/main" id="{4EBF2CE1-ECDA-850C-F008-556A4BEEC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1687" y="3637630"/>
              <a:ext cx="427979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2" name="Line 31">
              <a:extLst>
                <a:ext uri="{FF2B5EF4-FFF2-40B4-BE49-F238E27FC236}">
                  <a16:creationId xmlns:a16="http://schemas.microsoft.com/office/drawing/2014/main" id="{3242BDD6-CFA7-0188-54AA-0EA027C39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64460" y="3384899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3" name="Line 32">
              <a:extLst>
                <a:ext uri="{FF2B5EF4-FFF2-40B4-BE49-F238E27FC236}">
                  <a16:creationId xmlns:a16="http://schemas.microsoft.com/office/drawing/2014/main" id="{65DCFA14-1915-9F6C-69D7-301BAA985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9734" y="3397917"/>
              <a:ext cx="469841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4" name="Freeform 68">
              <a:extLst>
                <a:ext uri="{FF2B5EF4-FFF2-40B4-BE49-F238E27FC236}">
                  <a16:creationId xmlns:a16="http://schemas.microsoft.com/office/drawing/2014/main" id="{83FFFE46-E420-7773-9C56-A71985CE1D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1052" y="2975930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5" name="Rectangle 69">
              <a:extLst>
                <a:ext uri="{FF2B5EF4-FFF2-40B4-BE49-F238E27FC236}">
                  <a16:creationId xmlns:a16="http://schemas.microsoft.com/office/drawing/2014/main" id="{59EAB848-BEA0-7C78-37DB-1775B7047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1687" y="3060242"/>
              <a:ext cx="85610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8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56" name="Line 31">
              <a:extLst>
                <a:ext uri="{FF2B5EF4-FFF2-40B4-BE49-F238E27FC236}">
                  <a16:creationId xmlns:a16="http://schemas.microsoft.com/office/drawing/2014/main" id="{1E2E4ACD-9EB0-AAE0-F990-A7994A29E8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12800" y="3387725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7" name="Line 29">
              <a:extLst>
                <a:ext uri="{FF2B5EF4-FFF2-40B4-BE49-F238E27FC236}">
                  <a16:creationId xmlns:a16="http://schemas.microsoft.com/office/drawing/2014/main" id="{DD1625D0-E4A9-7A98-9AC9-511C62382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1340" y="3637630"/>
              <a:ext cx="427979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8" name="Line 31">
              <a:extLst>
                <a:ext uri="{FF2B5EF4-FFF2-40B4-BE49-F238E27FC236}">
                  <a16:creationId xmlns:a16="http://schemas.microsoft.com/office/drawing/2014/main" id="{781E6718-6C1A-EF0C-4727-3CFC8CF16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44113" y="3384899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9" name="Line 32">
              <a:extLst>
                <a:ext uri="{FF2B5EF4-FFF2-40B4-BE49-F238E27FC236}">
                  <a16:creationId xmlns:a16="http://schemas.microsoft.com/office/drawing/2014/main" id="{7D933EA1-4AE8-C7BA-1166-E77F490E2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9388" y="3397917"/>
              <a:ext cx="444818" cy="0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0" name="Freeform 68">
              <a:extLst>
                <a:ext uri="{FF2B5EF4-FFF2-40B4-BE49-F238E27FC236}">
                  <a16:creationId xmlns:a16="http://schemas.microsoft.com/office/drawing/2014/main" id="{1260576E-04E0-45C1-4F7E-E9C914B8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73085" y="2975930"/>
              <a:ext cx="26988" cy="346075"/>
            </a:xfrm>
            <a:custGeom>
              <a:avLst/>
              <a:gdLst>
                <a:gd name="T0" fmla="*/ 17 w 17"/>
                <a:gd name="T1" fmla="*/ 218 h 218"/>
                <a:gd name="T2" fmla="*/ 17 w 17"/>
                <a:gd name="T3" fmla="*/ 201 h 218"/>
                <a:gd name="T4" fmla="*/ 0 w 17"/>
                <a:gd name="T5" fmla="*/ 201 h 218"/>
                <a:gd name="T6" fmla="*/ 0 w 17"/>
                <a:gd name="T7" fmla="*/ 218 h 218"/>
                <a:gd name="T8" fmla="*/ 17 w 17"/>
                <a:gd name="T9" fmla="*/ 218 h 218"/>
                <a:gd name="T10" fmla="*/ 17 w 17"/>
                <a:gd name="T11" fmla="*/ 184 h 218"/>
                <a:gd name="T12" fmla="*/ 17 w 17"/>
                <a:gd name="T13" fmla="*/ 166 h 218"/>
                <a:gd name="T14" fmla="*/ 0 w 17"/>
                <a:gd name="T15" fmla="*/ 166 h 218"/>
                <a:gd name="T16" fmla="*/ 0 w 17"/>
                <a:gd name="T17" fmla="*/ 184 h 218"/>
                <a:gd name="T18" fmla="*/ 17 w 17"/>
                <a:gd name="T19" fmla="*/ 184 h 218"/>
                <a:gd name="T20" fmla="*/ 17 w 17"/>
                <a:gd name="T21" fmla="*/ 150 h 218"/>
                <a:gd name="T22" fmla="*/ 17 w 17"/>
                <a:gd name="T23" fmla="*/ 132 h 218"/>
                <a:gd name="T24" fmla="*/ 0 w 17"/>
                <a:gd name="T25" fmla="*/ 132 h 218"/>
                <a:gd name="T26" fmla="*/ 0 w 17"/>
                <a:gd name="T27" fmla="*/ 150 h 218"/>
                <a:gd name="T28" fmla="*/ 17 w 17"/>
                <a:gd name="T29" fmla="*/ 150 h 218"/>
                <a:gd name="T30" fmla="*/ 17 w 17"/>
                <a:gd name="T31" fmla="*/ 115 h 218"/>
                <a:gd name="T32" fmla="*/ 17 w 17"/>
                <a:gd name="T33" fmla="*/ 98 h 218"/>
                <a:gd name="T34" fmla="*/ 0 w 17"/>
                <a:gd name="T35" fmla="*/ 98 h 218"/>
                <a:gd name="T36" fmla="*/ 0 w 17"/>
                <a:gd name="T37" fmla="*/ 115 h 218"/>
                <a:gd name="T38" fmla="*/ 17 w 17"/>
                <a:gd name="T39" fmla="*/ 115 h 218"/>
                <a:gd name="T40" fmla="*/ 17 w 17"/>
                <a:gd name="T41" fmla="*/ 81 h 218"/>
                <a:gd name="T42" fmla="*/ 17 w 17"/>
                <a:gd name="T43" fmla="*/ 64 h 218"/>
                <a:gd name="T44" fmla="*/ 0 w 17"/>
                <a:gd name="T45" fmla="*/ 64 h 218"/>
                <a:gd name="T46" fmla="*/ 0 w 17"/>
                <a:gd name="T47" fmla="*/ 81 h 218"/>
                <a:gd name="T48" fmla="*/ 17 w 17"/>
                <a:gd name="T49" fmla="*/ 81 h 218"/>
                <a:gd name="T50" fmla="*/ 17 w 17"/>
                <a:gd name="T51" fmla="*/ 47 h 218"/>
                <a:gd name="T52" fmla="*/ 17 w 17"/>
                <a:gd name="T53" fmla="*/ 30 h 218"/>
                <a:gd name="T54" fmla="*/ 0 w 17"/>
                <a:gd name="T55" fmla="*/ 30 h 218"/>
                <a:gd name="T56" fmla="*/ 0 w 17"/>
                <a:gd name="T57" fmla="*/ 47 h 218"/>
                <a:gd name="T58" fmla="*/ 17 w 17"/>
                <a:gd name="T59" fmla="*/ 47 h 218"/>
                <a:gd name="T60" fmla="*/ 17 w 17"/>
                <a:gd name="T61" fmla="*/ 13 h 218"/>
                <a:gd name="T62" fmla="*/ 17 w 17"/>
                <a:gd name="T63" fmla="*/ 0 h 218"/>
                <a:gd name="T64" fmla="*/ 0 w 17"/>
                <a:gd name="T65" fmla="*/ 0 h 218"/>
                <a:gd name="T66" fmla="*/ 0 w 17"/>
                <a:gd name="T67" fmla="*/ 13 h 218"/>
                <a:gd name="T68" fmla="*/ 17 w 17"/>
                <a:gd name="T69" fmla="*/ 1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218">
                  <a:moveTo>
                    <a:pt x="17" y="218"/>
                  </a:moveTo>
                  <a:lnTo>
                    <a:pt x="17" y="20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17" y="218"/>
                  </a:lnTo>
                  <a:close/>
                  <a:moveTo>
                    <a:pt x="17" y="184"/>
                  </a:moveTo>
                  <a:lnTo>
                    <a:pt x="17" y="166"/>
                  </a:lnTo>
                  <a:lnTo>
                    <a:pt x="0" y="166"/>
                  </a:lnTo>
                  <a:lnTo>
                    <a:pt x="0" y="184"/>
                  </a:lnTo>
                  <a:lnTo>
                    <a:pt x="17" y="184"/>
                  </a:lnTo>
                  <a:close/>
                  <a:moveTo>
                    <a:pt x="17" y="150"/>
                  </a:moveTo>
                  <a:lnTo>
                    <a:pt x="17" y="132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17" y="150"/>
                  </a:lnTo>
                  <a:close/>
                  <a:moveTo>
                    <a:pt x="17" y="115"/>
                  </a:moveTo>
                  <a:lnTo>
                    <a:pt x="17" y="98"/>
                  </a:lnTo>
                  <a:lnTo>
                    <a:pt x="0" y="98"/>
                  </a:lnTo>
                  <a:lnTo>
                    <a:pt x="0" y="115"/>
                  </a:lnTo>
                  <a:lnTo>
                    <a:pt x="17" y="115"/>
                  </a:lnTo>
                  <a:close/>
                  <a:moveTo>
                    <a:pt x="17" y="81"/>
                  </a:moveTo>
                  <a:lnTo>
                    <a:pt x="17" y="64"/>
                  </a:lnTo>
                  <a:lnTo>
                    <a:pt x="0" y="64"/>
                  </a:lnTo>
                  <a:lnTo>
                    <a:pt x="0" y="81"/>
                  </a:lnTo>
                  <a:lnTo>
                    <a:pt x="17" y="81"/>
                  </a:lnTo>
                  <a:close/>
                  <a:moveTo>
                    <a:pt x="17" y="47"/>
                  </a:moveTo>
                  <a:lnTo>
                    <a:pt x="17" y="30"/>
                  </a:lnTo>
                  <a:lnTo>
                    <a:pt x="0" y="30"/>
                  </a:lnTo>
                  <a:lnTo>
                    <a:pt x="0" y="47"/>
                  </a:lnTo>
                  <a:lnTo>
                    <a:pt x="17" y="47"/>
                  </a:lnTo>
                  <a:close/>
                  <a:moveTo>
                    <a:pt x="17" y="13"/>
                  </a:moveTo>
                  <a:lnTo>
                    <a:pt x="1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1" name="Rectangle 69">
              <a:extLst>
                <a:ext uri="{FF2B5EF4-FFF2-40B4-BE49-F238E27FC236}">
                  <a16:creationId xmlns:a16="http://schemas.microsoft.com/office/drawing/2014/main" id="{FD2CA0F8-E9B8-E0D3-CAC5-775C182A2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340" y="3060242"/>
              <a:ext cx="85610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Cycle </a:t>
              </a:r>
              <a:r>
                <a:rPr kumimoji="0" lang="en-US" altLang="zh-CN" sz="15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9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62" name="Line 31">
              <a:extLst>
                <a:ext uri="{FF2B5EF4-FFF2-40B4-BE49-F238E27FC236}">
                  <a16:creationId xmlns:a16="http://schemas.microsoft.com/office/drawing/2014/main" id="{F4E7747C-6B88-234D-9A25-800E16593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1119" y="3388680"/>
              <a:ext cx="0" cy="265113"/>
            </a:xfrm>
            <a:prstGeom prst="line">
              <a:avLst/>
            </a:prstGeom>
            <a:noFill/>
            <a:ln w="26988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3" name="矩形: 圆角 362">
              <a:extLst>
                <a:ext uri="{FF2B5EF4-FFF2-40B4-BE49-F238E27FC236}">
                  <a16:creationId xmlns:a16="http://schemas.microsoft.com/office/drawing/2014/main" id="{093AF0AA-58AB-2D43-E30D-622020E5DF85}"/>
                </a:ext>
              </a:extLst>
            </p:cNvPr>
            <p:cNvSpPr/>
            <p:nvPr/>
          </p:nvSpPr>
          <p:spPr>
            <a:xfrm>
              <a:off x="3062923" y="5740083"/>
              <a:ext cx="633719" cy="106516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01464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E15C5-06D0-4E63-912B-03972610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70811B-5D0E-49F9-BF6A-06849CEB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如果只有一个存储器和一个读取接口：</a:t>
            </a:r>
            <a:r>
              <a:rPr lang="en-US" altLang="zh-CN" dirty="0"/>
              <a:t>LW</a:t>
            </a:r>
            <a:r>
              <a:rPr lang="zh-CN" altLang="en-US" dirty="0"/>
              <a:t>访存与</a:t>
            </a:r>
            <a:r>
              <a:rPr lang="en-US" altLang="zh-CN" dirty="0"/>
              <a:t>IF</a:t>
            </a:r>
            <a:r>
              <a:rPr lang="zh-CN" altLang="en-US" dirty="0"/>
              <a:t>访存也会冲突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52B17-3058-4CCA-8D07-7D00B620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96</a:t>
            </a:fld>
            <a:endParaRPr lang="zh-CN" alt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CEA0CD53-AA33-43C5-BC13-C7F86B12996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7875" y="1841500"/>
            <a:ext cx="7366000" cy="5016500"/>
            <a:chOff x="490" y="1160"/>
            <a:chExt cx="4640" cy="316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3E5944E-ED6B-42E5-8029-C82F537657A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" y="1160"/>
              <a:ext cx="4640" cy="3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5E32469-6ECC-4DA3-86B7-F0782D29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3172"/>
              <a:ext cx="303" cy="260"/>
            </a:xfrm>
            <a:prstGeom prst="rect">
              <a:avLst/>
            </a:prstGeom>
            <a:solidFill>
              <a:srgbClr val="DE25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47CA7138-5D65-4A1F-99F5-71DBE3E05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3173"/>
              <a:ext cx="303" cy="260"/>
            </a:xfrm>
            <a:prstGeom prst="rect">
              <a:avLst/>
            </a:prstGeom>
            <a:noFill/>
            <a:ln w="111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9524FF9-4EFD-4B90-8BD2-9AB5F69C6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1744"/>
              <a:ext cx="303" cy="260"/>
            </a:xfrm>
            <a:prstGeom prst="rect">
              <a:avLst/>
            </a:prstGeom>
            <a:solidFill>
              <a:srgbClr val="DE25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0BB221E6-E421-47FA-AF3C-DA15ED45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1819"/>
              <a:ext cx="3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I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2F1DE0F4-D16D-4D50-B701-6CD96288E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1976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n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1AF400FA-B10E-4843-B110-EE81A5336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133"/>
              <a:ext cx="6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s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194EDAA0-98A2-4481-BAC7-66A2E0E2A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290"/>
              <a:ext cx="3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7EBEC1C2-8394-4633-8E65-F1725C6A3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447"/>
              <a:ext cx="7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r.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2435BBE7-F8D0-4B1C-A05A-BF795C34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" y="2755"/>
              <a:ext cx="10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O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B6485334-8570-4BCE-9A2A-254146FE4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" y="2912"/>
              <a:ext cx="4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7EB2DCB2-C9C7-4F23-A9A5-68D8ED1C9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3069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d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C714A90B-57BE-4F19-9F69-AD7B5EBCA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3226"/>
              <a:ext cx="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e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544A405F-DB72-4CCC-B7EB-D13B90C4E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" y="3378"/>
              <a:ext cx="4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7A531AB6-6203-408F-B009-5EC523DCDE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55" y="1425"/>
              <a:ext cx="3586" cy="43"/>
            </a:xfrm>
            <a:custGeom>
              <a:avLst/>
              <a:gdLst>
                <a:gd name="T0" fmla="*/ 0 w 3586"/>
                <a:gd name="T1" fmla="*/ 15 h 43"/>
                <a:gd name="T2" fmla="*/ 3550 w 3586"/>
                <a:gd name="T3" fmla="*/ 15 h 43"/>
                <a:gd name="T4" fmla="*/ 3550 w 3586"/>
                <a:gd name="T5" fmla="*/ 29 h 43"/>
                <a:gd name="T6" fmla="*/ 0 w 3586"/>
                <a:gd name="T7" fmla="*/ 29 h 43"/>
                <a:gd name="T8" fmla="*/ 0 w 3586"/>
                <a:gd name="T9" fmla="*/ 15 h 43"/>
                <a:gd name="T10" fmla="*/ 3542 w 3586"/>
                <a:gd name="T11" fmla="*/ 0 h 43"/>
                <a:gd name="T12" fmla="*/ 3586 w 3586"/>
                <a:gd name="T13" fmla="*/ 22 h 43"/>
                <a:gd name="T14" fmla="*/ 3542 w 3586"/>
                <a:gd name="T15" fmla="*/ 43 h 43"/>
                <a:gd name="T16" fmla="*/ 3542 w 3586"/>
                <a:gd name="T1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6" h="43">
                  <a:moveTo>
                    <a:pt x="0" y="15"/>
                  </a:moveTo>
                  <a:lnTo>
                    <a:pt x="3550" y="15"/>
                  </a:lnTo>
                  <a:lnTo>
                    <a:pt x="3550" y="29"/>
                  </a:lnTo>
                  <a:lnTo>
                    <a:pt x="0" y="29"/>
                  </a:lnTo>
                  <a:lnTo>
                    <a:pt x="0" y="15"/>
                  </a:lnTo>
                  <a:close/>
                  <a:moveTo>
                    <a:pt x="3542" y="0"/>
                  </a:moveTo>
                  <a:lnTo>
                    <a:pt x="3586" y="22"/>
                  </a:lnTo>
                  <a:lnTo>
                    <a:pt x="3542" y="43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EAE0F9C6-4A55-40CA-ACA0-EE2D3ACB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1212"/>
              <a:ext cx="109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Time (clock cycles)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1AB4839E-3F50-4FDD-AF7B-975B0D594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737"/>
              <a:ext cx="1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lw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F2001FFC-4B37-45F5-BFA2-B17D25E71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13"/>
              <a:ext cx="43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Inst 1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BF2F1F5-BD27-4C6D-A56F-C0FA4C866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714"/>
              <a:ext cx="43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Inst 2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9BC0A67D-2DA2-4075-A81D-48A792289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685"/>
              <a:ext cx="43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Inst 4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B825A21B-0BD8-4E01-8119-4AEC16613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4" y="1517"/>
              <a:ext cx="11" cy="2525"/>
            </a:xfrm>
            <a:custGeom>
              <a:avLst/>
              <a:gdLst>
                <a:gd name="T0" fmla="*/ 14 w 14"/>
                <a:gd name="T1" fmla="*/ 43 h 2525"/>
                <a:gd name="T2" fmla="*/ 0 w 14"/>
                <a:gd name="T3" fmla="*/ 58 h 2525"/>
                <a:gd name="T4" fmla="*/ 14 w 14"/>
                <a:gd name="T5" fmla="*/ 116 h 2525"/>
                <a:gd name="T6" fmla="*/ 0 w 14"/>
                <a:gd name="T7" fmla="*/ 159 h 2525"/>
                <a:gd name="T8" fmla="*/ 14 w 14"/>
                <a:gd name="T9" fmla="*/ 173 h 2525"/>
                <a:gd name="T10" fmla="*/ 14 w 14"/>
                <a:gd name="T11" fmla="*/ 246 h 2525"/>
                <a:gd name="T12" fmla="*/ 0 w 14"/>
                <a:gd name="T13" fmla="*/ 260 h 2525"/>
                <a:gd name="T14" fmla="*/ 14 w 14"/>
                <a:gd name="T15" fmla="*/ 318 h 2525"/>
                <a:gd name="T16" fmla="*/ 0 w 14"/>
                <a:gd name="T17" fmla="*/ 361 h 2525"/>
                <a:gd name="T18" fmla="*/ 14 w 14"/>
                <a:gd name="T19" fmla="*/ 376 h 2525"/>
                <a:gd name="T20" fmla="*/ 14 w 14"/>
                <a:gd name="T21" fmla="*/ 448 h 2525"/>
                <a:gd name="T22" fmla="*/ 0 w 14"/>
                <a:gd name="T23" fmla="*/ 462 h 2525"/>
                <a:gd name="T24" fmla="*/ 14 w 14"/>
                <a:gd name="T25" fmla="*/ 520 h 2525"/>
                <a:gd name="T26" fmla="*/ 0 w 14"/>
                <a:gd name="T27" fmla="*/ 563 h 2525"/>
                <a:gd name="T28" fmla="*/ 14 w 14"/>
                <a:gd name="T29" fmla="*/ 577 h 2525"/>
                <a:gd name="T30" fmla="*/ 14 w 14"/>
                <a:gd name="T31" fmla="*/ 649 h 2525"/>
                <a:gd name="T32" fmla="*/ 0 w 14"/>
                <a:gd name="T33" fmla="*/ 664 h 2525"/>
                <a:gd name="T34" fmla="*/ 14 w 14"/>
                <a:gd name="T35" fmla="*/ 722 h 2525"/>
                <a:gd name="T36" fmla="*/ 0 w 14"/>
                <a:gd name="T37" fmla="*/ 765 h 2525"/>
                <a:gd name="T38" fmla="*/ 14 w 14"/>
                <a:gd name="T39" fmla="*/ 779 h 2525"/>
                <a:gd name="T40" fmla="*/ 14 w 14"/>
                <a:gd name="T41" fmla="*/ 852 h 2525"/>
                <a:gd name="T42" fmla="*/ 0 w 14"/>
                <a:gd name="T43" fmla="*/ 866 h 2525"/>
                <a:gd name="T44" fmla="*/ 14 w 14"/>
                <a:gd name="T45" fmla="*/ 924 h 2525"/>
                <a:gd name="T46" fmla="*/ 0 w 14"/>
                <a:gd name="T47" fmla="*/ 967 h 2525"/>
                <a:gd name="T48" fmla="*/ 14 w 14"/>
                <a:gd name="T49" fmla="*/ 982 h 2525"/>
                <a:gd name="T50" fmla="*/ 14 w 14"/>
                <a:gd name="T51" fmla="*/ 1054 h 2525"/>
                <a:gd name="T52" fmla="*/ 0 w 14"/>
                <a:gd name="T53" fmla="*/ 1068 h 2525"/>
                <a:gd name="T54" fmla="*/ 14 w 14"/>
                <a:gd name="T55" fmla="*/ 1126 h 2525"/>
                <a:gd name="T56" fmla="*/ 0 w 14"/>
                <a:gd name="T57" fmla="*/ 1169 h 2525"/>
                <a:gd name="T58" fmla="*/ 14 w 14"/>
                <a:gd name="T59" fmla="*/ 1183 h 2525"/>
                <a:gd name="T60" fmla="*/ 14 w 14"/>
                <a:gd name="T61" fmla="*/ 1255 h 2525"/>
                <a:gd name="T62" fmla="*/ 0 w 14"/>
                <a:gd name="T63" fmla="*/ 1270 h 2525"/>
                <a:gd name="T64" fmla="*/ 14 w 14"/>
                <a:gd name="T65" fmla="*/ 1328 h 2525"/>
                <a:gd name="T66" fmla="*/ 0 w 14"/>
                <a:gd name="T67" fmla="*/ 1371 h 2525"/>
                <a:gd name="T68" fmla="*/ 14 w 14"/>
                <a:gd name="T69" fmla="*/ 1385 h 2525"/>
                <a:gd name="T70" fmla="*/ 14 w 14"/>
                <a:gd name="T71" fmla="*/ 1458 h 2525"/>
                <a:gd name="T72" fmla="*/ 0 w 14"/>
                <a:gd name="T73" fmla="*/ 1472 h 2525"/>
                <a:gd name="T74" fmla="*/ 14 w 14"/>
                <a:gd name="T75" fmla="*/ 1530 h 2525"/>
                <a:gd name="T76" fmla="*/ 0 w 14"/>
                <a:gd name="T77" fmla="*/ 1573 h 2525"/>
                <a:gd name="T78" fmla="*/ 14 w 14"/>
                <a:gd name="T79" fmla="*/ 1588 h 2525"/>
                <a:gd name="T80" fmla="*/ 14 w 14"/>
                <a:gd name="T81" fmla="*/ 1660 h 2525"/>
                <a:gd name="T82" fmla="*/ 0 w 14"/>
                <a:gd name="T83" fmla="*/ 1674 h 2525"/>
                <a:gd name="T84" fmla="*/ 14 w 14"/>
                <a:gd name="T85" fmla="*/ 1732 h 2525"/>
                <a:gd name="T86" fmla="*/ 0 w 14"/>
                <a:gd name="T87" fmla="*/ 1775 h 2525"/>
                <a:gd name="T88" fmla="*/ 14 w 14"/>
                <a:gd name="T89" fmla="*/ 1789 h 2525"/>
                <a:gd name="T90" fmla="*/ 14 w 14"/>
                <a:gd name="T91" fmla="*/ 1861 h 2525"/>
                <a:gd name="T92" fmla="*/ 0 w 14"/>
                <a:gd name="T93" fmla="*/ 1876 h 2525"/>
                <a:gd name="T94" fmla="*/ 14 w 14"/>
                <a:gd name="T95" fmla="*/ 1934 h 2525"/>
                <a:gd name="T96" fmla="*/ 0 w 14"/>
                <a:gd name="T97" fmla="*/ 1977 h 2525"/>
                <a:gd name="T98" fmla="*/ 14 w 14"/>
                <a:gd name="T99" fmla="*/ 1991 h 2525"/>
                <a:gd name="T100" fmla="*/ 14 w 14"/>
                <a:gd name="T101" fmla="*/ 2064 h 2525"/>
                <a:gd name="T102" fmla="*/ 0 w 14"/>
                <a:gd name="T103" fmla="*/ 2078 h 2525"/>
                <a:gd name="T104" fmla="*/ 14 w 14"/>
                <a:gd name="T105" fmla="*/ 2136 h 2525"/>
                <a:gd name="T106" fmla="*/ 0 w 14"/>
                <a:gd name="T107" fmla="*/ 2179 h 2525"/>
                <a:gd name="T108" fmla="*/ 14 w 14"/>
                <a:gd name="T109" fmla="*/ 2194 h 2525"/>
                <a:gd name="T110" fmla="*/ 14 w 14"/>
                <a:gd name="T111" fmla="*/ 2266 h 2525"/>
                <a:gd name="T112" fmla="*/ 0 w 14"/>
                <a:gd name="T113" fmla="*/ 2280 h 2525"/>
                <a:gd name="T114" fmla="*/ 14 w 14"/>
                <a:gd name="T115" fmla="*/ 2338 h 2525"/>
                <a:gd name="T116" fmla="*/ 0 w 14"/>
                <a:gd name="T117" fmla="*/ 2381 h 2525"/>
                <a:gd name="T118" fmla="*/ 14 w 14"/>
                <a:gd name="T119" fmla="*/ 2395 h 2525"/>
                <a:gd name="T120" fmla="*/ 14 w 14"/>
                <a:gd name="T121" fmla="*/ 2468 h 2525"/>
                <a:gd name="T122" fmla="*/ 0 w 14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" h="2525">
                  <a:moveTo>
                    <a:pt x="14" y="0"/>
                  </a:moveTo>
                  <a:lnTo>
                    <a:pt x="14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4" y="0"/>
                  </a:lnTo>
                  <a:close/>
                  <a:moveTo>
                    <a:pt x="14" y="29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4" y="29"/>
                  </a:lnTo>
                  <a:close/>
                  <a:moveTo>
                    <a:pt x="14" y="58"/>
                  </a:moveTo>
                  <a:lnTo>
                    <a:pt x="14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4" y="58"/>
                  </a:lnTo>
                  <a:close/>
                  <a:moveTo>
                    <a:pt x="14" y="87"/>
                  </a:moveTo>
                  <a:lnTo>
                    <a:pt x="14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4" y="87"/>
                  </a:lnTo>
                  <a:close/>
                  <a:moveTo>
                    <a:pt x="14" y="116"/>
                  </a:moveTo>
                  <a:lnTo>
                    <a:pt x="14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4" y="116"/>
                  </a:lnTo>
                  <a:close/>
                  <a:moveTo>
                    <a:pt x="14" y="145"/>
                  </a:moveTo>
                  <a:lnTo>
                    <a:pt x="14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4" y="145"/>
                  </a:lnTo>
                  <a:close/>
                  <a:moveTo>
                    <a:pt x="14" y="173"/>
                  </a:moveTo>
                  <a:lnTo>
                    <a:pt x="14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4" y="173"/>
                  </a:lnTo>
                  <a:close/>
                  <a:moveTo>
                    <a:pt x="14" y="202"/>
                  </a:moveTo>
                  <a:lnTo>
                    <a:pt x="14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4" y="202"/>
                  </a:lnTo>
                  <a:close/>
                  <a:moveTo>
                    <a:pt x="14" y="231"/>
                  </a:moveTo>
                  <a:lnTo>
                    <a:pt x="14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4" y="231"/>
                  </a:lnTo>
                  <a:close/>
                  <a:moveTo>
                    <a:pt x="14" y="260"/>
                  </a:moveTo>
                  <a:lnTo>
                    <a:pt x="14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4" y="260"/>
                  </a:lnTo>
                  <a:close/>
                  <a:moveTo>
                    <a:pt x="14" y="289"/>
                  </a:moveTo>
                  <a:lnTo>
                    <a:pt x="14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4" y="289"/>
                  </a:lnTo>
                  <a:close/>
                  <a:moveTo>
                    <a:pt x="14" y="318"/>
                  </a:moveTo>
                  <a:lnTo>
                    <a:pt x="14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4" y="318"/>
                  </a:lnTo>
                  <a:close/>
                  <a:moveTo>
                    <a:pt x="14" y="346"/>
                  </a:moveTo>
                  <a:lnTo>
                    <a:pt x="14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4" y="346"/>
                  </a:lnTo>
                  <a:close/>
                  <a:moveTo>
                    <a:pt x="14" y="376"/>
                  </a:moveTo>
                  <a:lnTo>
                    <a:pt x="14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4" y="376"/>
                  </a:lnTo>
                  <a:close/>
                  <a:moveTo>
                    <a:pt x="14" y="404"/>
                  </a:moveTo>
                  <a:lnTo>
                    <a:pt x="14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4" y="404"/>
                  </a:lnTo>
                  <a:close/>
                  <a:moveTo>
                    <a:pt x="14" y="433"/>
                  </a:moveTo>
                  <a:lnTo>
                    <a:pt x="14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4" y="433"/>
                  </a:lnTo>
                  <a:close/>
                  <a:moveTo>
                    <a:pt x="14" y="462"/>
                  </a:moveTo>
                  <a:lnTo>
                    <a:pt x="14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4" y="462"/>
                  </a:lnTo>
                  <a:close/>
                  <a:moveTo>
                    <a:pt x="14" y="491"/>
                  </a:moveTo>
                  <a:lnTo>
                    <a:pt x="14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4" y="491"/>
                  </a:lnTo>
                  <a:close/>
                  <a:moveTo>
                    <a:pt x="14" y="520"/>
                  </a:moveTo>
                  <a:lnTo>
                    <a:pt x="14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4" y="520"/>
                  </a:lnTo>
                  <a:close/>
                  <a:moveTo>
                    <a:pt x="14" y="549"/>
                  </a:moveTo>
                  <a:lnTo>
                    <a:pt x="14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4" y="549"/>
                  </a:lnTo>
                  <a:close/>
                  <a:moveTo>
                    <a:pt x="14" y="577"/>
                  </a:moveTo>
                  <a:lnTo>
                    <a:pt x="14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4" y="577"/>
                  </a:lnTo>
                  <a:close/>
                  <a:moveTo>
                    <a:pt x="14" y="606"/>
                  </a:moveTo>
                  <a:lnTo>
                    <a:pt x="14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4" y="606"/>
                  </a:lnTo>
                  <a:close/>
                  <a:moveTo>
                    <a:pt x="14" y="635"/>
                  </a:moveTo>
                  <a:lnTo>
                    <a:pt x="14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4" y="635"/>
                  </a:lnTo>
                  <a:close/>
                  <a:moveTo>
                    <a:pt x="14" y="664"/>
                  </a:moveTo>
                  <a:lnTo>
                    <a:pt x="14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4" y="664"/>
                  </a:lnTo>
                  <a:close/>
                  <a:moveTo>
                    <a:pt x="14" y="693"/>
                  </a:moveTo>
                  <a:lnTo>
                    <a:pt x="14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4" y="693"/>
                  </a:lnTo>
                  <a:close/>
                  <a:moveTo>
                    <a:pt x="14" y="722"/>
                  </a:moveTo>
                  <a:lnTo>
                    <a:pt x="14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4" y="722"/>
                  </a:lnTo>
                  <a:close/>
                  <a:moveTo>
                    <a:pt x="14" y="751"/>
                  </a:moveTo>
                  <a:lnTo>
                    <a:pt x="14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4" y="751"/>
                  </a:lnTo>
                  <a:close/>
                  <a:moveTo>
                    <a:pt x="14" y="779"/>
                  </a:moveTo>
                  <a:lnTo>
                    <a:pt x="14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4" y="779"/>
                  </a:lnTo>
                  <a:close/>
                  <a:moveTo>
                    <a:pt x="14" y="808"/>
                  </a:moveTo>
                  <a:lnTo>
                    <a:pt x="14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4" y="808"/>
                  </a:lnTo>
                  <a:close/>
                  <a:moveTo>
                    <a:pt x="14" y="837"/>
                  </a:moveTo>
                  <a:lnTo>
                    <a:pt x="14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4" y="837"/>
                  </a:lnTo>
                  <a:close/>
                  <a:moveTo>
                    <a:pt x="14" y="866"/>
                  </a:moveTo>
                  <a:lnTo>
                    <a:pt x="14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4" y="866"/>
                  </a:lnTo>
                  <a:close/>
                  <a:moveTo>
                    <a:pt x="14" y="895"/>
                  </a:moveTo>
                  <a:lnTo>
                    <a:pt x="14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4" y="895"/>
                  </a:lnTo>
                  <a:close/>
                  <a:moveTo>
                    <a:pt x="14" y="924"/>
                  </a:moveTo>
                  <a:lnTo>
                    <a:pt x="14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4" y="924"/>
                  </a:lnTo>
                  <a:close/>
                  <a:moveTo>
                    <a:pt x="14" y="952"/>
                  </a:moveTo>
                  <a:lnTo>
                    <a:pt x="14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4" y="952"/>
                  </a:lnTo>
                  <a:close/>
                  <a:moveTo>
                    <a:pt x="14" y="982"/>
                  </a:moveTo>
                  <a:lnTo>
                    <a:pt x="14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4" y="982"/>
                  </a:lnTo>
                  <a:close/>
                  <a:moveTo>
                    <a:pt x="14" y="1010"/>
                  </a:moveTo>
                  <a:lnTo>
                    <a:pt x="14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4" y="1010"/>
                  </a:lnTo>
                  <a:close/>
                  <a:moveTo>
                    <a:pt x="14" y="1039"/>
                  </a:moveTo>
                  <a:lnTo>
                    <a:pt x="14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4" y="1039"/>
                  </a:lnTo>
                  <a:close/>
                  <a:moveTo>
                    <a:pt x="14" y="1068"/>
                  </a:moveTo>
                  <a:lnTo>
                    <a:pt x="14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4" y="1068"/>
                  </a:lnTo>
                  <a:close/>
                  <a:moveTo>
                    <a:pt x="14" y="1097"/>
                  </a:moveTo>
                  <a:lnTo>
                    <a:pt x="14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4" y="1097"/>
                  </a:lnTo>
                  <a:close/>
                  <a:moveTo>
                    <a:pt x="14" y="1126"/>
                  </a:moveTo>
                  <a:lnTo>
                    <a:pt x="14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4" y="1126"/>
                  </a:lnTo>
                  <a:close/>
                  <a:moveTo>
                    <a:pt x="14" y="1155"/>
                  </a:moveTo>
                  <a:lnTo>
                    <a:pt x="14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4" y="1155"/>
                  </a:lnTo>
                  <a:close/>
                  <a:moveTo>
                    <a:pt x="14" y="1183"/>
                  </a:moveTo>
                  <a:lnTo>
                    <a:pt x="14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4" y="1183"/>
                  </a:lnTo>
                  <a:close/>
                  <a:moveTo>
                    <a:pt x="14" y="1212"/>
                  </a:moveTo>
                  <a:lnTo>
                    <a:pt x="14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4" y="1212"/>
                  </a:lnTo>
                  <a:close/>
                  <a:moveTo>
                    <a:pt x="14" y="1241"/>
                  </a:moveTo>
                  <a:lnTo>
                    <a:pt x="14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4" y="1241"/>
                  </a:lnTo>
                  <a:close/>
                  <a:moveTo>
                    <a:pt x="14" y="1270"/>
                  </a:moveTo>
                  <a:lnTo>
                    <a:pt x="14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4" y="1270"/>
                  </a:lnTo>
                  <a:close/>
                  <a:moveTo>
                    <a:pt x="14" y="1299"/>
                  </a:moveTo>
                  <a:lnTo>
                    <a:pt x="14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4" y="1299"/>
                  </a:lnTo>
                  <a:close/>
                  <a:moveTo>
                    <a:pt x="14" y="1328"/>
                  </a:moveTo>
                  <a:lnTo>
                    <a:pt x="14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4" y="1328"/>
                  </a:lnTo>
                  <a:close/>
                  <a:moveTo>
                    <a:pt x="14" y="1357"/>
                  </a:moveTo>
                  <a:lnTo>
                    <a:pt x="14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4" y="1357"/>
                  </a:lnTo>
                  <a:close/>
                  <a:moveTo>
                    <a:pt x="14" y="1385"/>
                  </a:moveTo>
                  <a:lnTo>
                    <a:pt x="14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4" y="1385"/>
                  </a:lnTo>
                  <a:close/>
                  <a:moveTo>
                    <a:pt x="14" y="1414"/>
                  </a:moveTo>
                  <a:lnTo>
                    <a:pt x="14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4" y="1414"/>
                  </a:lnTo>
                  <a:close/>
                  <a:moveTo>
                    <a:pt x="14" y="1443"/>
                  </a:moveTo>
                  <a:lnTo>
                    <a:pt x="14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4" y="1443"/>
                  </a:lnTo>
                  <a:close/>
                  <a:moveTo>
                    <a:pt x="14" y="1472"/>
                  </a:moveTo>
                  <a:lnTo>
                    <a:pt x="14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4" y="1472"/>
                  </a:lnTo>
                  <a:close/>
                  <a:moveTo>
                    <a:pt x="14" y="1501"/>
                  </a:moveTo>
                  <a:lnTo>
                    <a:pt x="14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4" y="1501"/>
                  </a:lnTo>
                  <a:close/>
                  <a:moveTo>
                    <a:pt x="14" y="1530"/>
                  </a:moveTo>
                  <a:lnTo>
                    <a:pt x="14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4" y="1530"/>
                  </a:lnTo>
                  <a:close/>
                  <a:moveTo>
                    <a:pt x="14" y="1558"/>
                  </a:moveTo>
                  <a:lnTo>
                    <a:pt x="14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4" y="1558"/>
                  </a:lnTo>
                  <a:close/>
                  <a:moveTo>
                    <a:pt x="14" y="1588"/>
                  </a:moveTo>
                  <a:lnTo>
                    <a:pt x="14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4" y="1588"/>
                  </a:lnTo>
                  <a:close/>
                  <a:moveTo>
                    <a:pt x="14" y="1616"/>
                  </a:moveTo>
                  <a:lnTo>
                    <a:pt x="14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4" y="1616"/>
                  </a:lnTo>
                  <a:close/>
                  <a:moveTo>
                    <a:pt x="14" y="1645"/>
                  </a:moveTo>
                  <a:lnTo>
                    <a:pt x="14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4" y="1645"/>
                  </a:lnTo>
                  <a:close/>
                  <a:moveTo>
                    <a:pt x="14" y="1674"/>
                  </a:moveTo>
                  <a:lnTo>
                    <a:pt x="14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4" y="1674"/>
                  </a:lnTo>
                  <a:close/>
                  <a:moveTo>
                    <a:pt x="14" y="1703"/>
                  </a:moveTo>
                  <a:lnTo>
                    <a:pt x="14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4" y="1703"/>
                  </a:lnTo>
                  <a:close/>
                  <a:moveTo>
                    <a:pt x="14" y="1732"/>
                  </a:moveTo>
                  <a:lnTo>
                    <a:pt x="14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4" y="1732"/>
                  </a:lnTo>
                  <a:close/>
                  <a:moveTo>
                    <a:pt x="14" y="1761"/>
                  </a:moveTo>
                  <a:lnTo>
                    <a:pt x="14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4" y="1761"/>
                  </a:lnTo>
                  <a:close/>
                  <a:moveTo>
                    <a:pt x="14" y="1789"/>
                  </a:moveTo>
                  <a:lnTo>
                    <a:pt x="14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4" y="1789"/>
                  </a:lnTo>
                  <a:close/>
                  <a:moveTo>
                    <a:pt x="14" y="1818"/>
                  </a:moveTo>
                  <a:lnTo>
                    <a:pt x="14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4" y="1818"/>
                  </a:lnTo>
                  <a:close/>
                  <a:moveTo>
                    <a:pt x="14" y="1847"/>
                  </a:moveTo>
                  <a:lnTo>
                    <a:pt x="14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4" y="1847"/>
                  </a:lnTo>
                  <a:close/>
                  <a:moveTo>
                    <a:pt x="14" y="1876"/>
                  </a:moveTo>
                  <a:lnTo>
                    <a:pt x="14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4" y="1876"/>
                  </a:lnTo>
                  <a:close/>
                  <a:moveTo>
                    <a:pt x="14" y="1905"/>
                  </a:moveTo>
                  <a:lnTo>
                    <a:pt x="14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4" y="1905"/>
                  </a:lnTo>
                  <a:close/>
                  <a:moveTo>
                    <a:pt x="14" y="1934"/>
                  </a:moveTo>
                  <a:lnTo>
                    <a:pt x="14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4" y="1934"/>
                  </a:lnTo>
                  <a:close/>
                  <a:moveTo>
                    <a:pt x="14" y="1963"/>
                  </a:moveTo>
                  <a:lnTo>
                    <a:pt x="14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4" y="1963"/>
                  </a:lnTo>
                  <a:close/>
                  <a:moveTo>
                    <a:pt x="14" y="1991"/>
                  </a:moveTo>
                  <a:lnTo>
                    <a:pt x="14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4" y="1991"/>
                  </a:lnTo>
                  <a:close/>
                  <a:moveTo>
                    <a:pt x="14" y="2020"/>
                  </a:moveTo>
                  <a:lnTo>
                    <a:pt x="14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4" y="2020"/>
                  </a:lnTo>
                  <a:close/>
                  <a:moveTo>
                    <a:pt x="14" y="2049"/>
                  </a:moveTo>
                  <a:lnTo>
                    <a:pt x="14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4" y="2049"/>
                  </a:lnTo>
                  <a:close/>
                  <a:moveTo>
                    <a:pt x="14" y="2078"/>
                  </a:moveTo>
                  <a:lnTo>
                    <a:pt x="14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4" y="2078"/>
                  </a:lnTo>
                  <a:close/>
                  <a:moveTo>
                    <a:pt x="14" y="2107"/>
                  </a:moveTo>
                  <a:lnTo>
                    <a:pt x="14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4" y="2107"/>
                  </a:lnTo>
                  <a:close/>
                  <a:moveTo>
                    <a:pt x="14" y="2136"/>
                  </a:moveTo>
                  <a:lnTo>
                    <a:pt x="14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4" y="2136"/>
                  </a:lnTo>
                  <a:close/>
                  <a:moveTo>
                    <a:pt x="14" y="2164"/>
                  </a:moveTo>
                  <a:lnTo>
                    <a:pt x="14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4" y="2164"/>
                  </a:lnTo>
                  <a:close/>
                  <a:moveTo>
                    <a:pt x="14" y="2194"/>
                  </a:moveTo>
                  <a:lnTo>
                    <a:pt x="14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4" y="2194"/>
                  </a:lnTo>
                  <a:close/>
                  <a:moveTo>
                    <a:pt x="14" y="2222"/>
                  </a:moveTo>
                  <a:lnTo>
                    <a:pt x="14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4" y="2222"/>
                  </a:lnTo>
                  <a:close/>
                  <a:moveTo>
                    <a:pt x="14" y="2251"/>
                  </a:moveTo>
                  <a:lnTo>
                    <a:pt x="14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4" y="2251"/>
                  </a:lnTo>
                  <a:close/>
                  <a:moveTo>
                    <a:pt x="14" y="2280"/>
                  </a:moveTo>
                  <a:lnTo>
                    <a:pt x="14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4" y="2280"/>
                  </a:lnTo>
                  <a:close/>
                  <a:moveTo>
                    <a:pt x="14" y="2309"/>
                  </a:moveTo>
                  <a:lnTo>
                    <a:pt x="14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4" y="2309"/>
                  </a:lnTo>
                  <a:close/>
                  <a:moveTo>
                    <a:pt x="14" y="2338"/>
                  </a:moveTo>
                  <a:lnTo>
                    <a:pt x="14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4" y="2338"/>
                  </a:lnTo>
                  <a:close/>
                  <a:moveTo>
                    <a:pt x="14" y="2367"/>
                  </a:moveTo>
                  <a:lnTo>
                    <a:pt x="14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4" y="2367"/>
                  </a:lnTo>
                  <a:close/>
                  <a:moveTo>
                    <a:pt x="14" y="2395"/>
                  </a:moveTo>
                  <a:lnTo>
                    <a:pt x="14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4" y="2395"/>
                  </a:lnTo>
                  <a:close/>
                  <a:moveTo>
                    <a:pt x="14" y="2424"/>
                  </a:moveTo>
                  <a:lnTo>
                    <a:pt x="14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4" y="2424"/>
                  </a:lnTo>
                  <a:close/>
                  <a:moveTo>
                    <a:pt x="14" y="2453"/>
                  </a:moveTo>
                  <a:lnTo>
                    <a:pt x="14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4" y="2453"/>
                  </a:lnTo>
                  <a:close/>
                  <a:moveTo>
                    <a:pt x="14" y="2482"/>
                  </a:moveTo>
                  <a:lnTo>
                    <a:pt x="14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4" y="2482"/>
                  </a:lnTo>
                  <a:close/>
                  <a:moveTo>
                    <a:pt x="14" y="2511"/>
                  </a:moveTo>
                  <a:lnTo>
                    <a:pt x="14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4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8829CAA7-9CE8-4064-A1BF-6367D13D15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3" y="1517"/>
              <a:ext cx="11" cy="2525"/>
            </a:xfrm>
            <a:custGeom>
              <a:avLst/>
              <a:gdLst>
                <a:gd name="T0" fmla="*/ 15 w 15"/>
                <a:gd name="T1" fmla="*/ 43 h 2525"/>
                <a:gd name="T2" fmla="*/ 0 w 15"/>
                <a:gd name="T3" fmla="*/ 58 h 2525"/>
                <a:gd name="T4" fmla="*/ 15 w 15"/>
                <a:gd name="T5" fmla="*/ 116 h 2525"/>
                <a:gd name="T6" fmla="*/ 0 w 15"/>
                <a:gd name="T7" fmla="*/ 159 h 2525"/>
                <a:gd name="T8" fmla="*/ 15 w 15"/>
                <a:gd name="T9" fmla="*/ 173 h 2525"/>
                <a:gd name="T10" fmla="*/ 15 w 15"/>
                <a:gd name="T11" fmla="*/ 246 h 2525"/>
                <a:gd name="T12" fmla="*/ 0 w 15"/>
                <a:gd name="T13" fmla="*/ 260 h 2525"/>
                <a:gd name="T14" fmla="*/ 15 w 15"/>
                <a:gd name="T15" fmla="*/ 318 h 2525"/>
                <a:gd name="T16" fmla="*/ 0 w 15"/>
                <a:gd name="T17" fmla="*/ 361 h 2525"/>
                <a:gd name="T18" fmla="*/ 15 w 15"/>
                <a:gd name="T19" fmla="*/ 376 h 2525"/>
                <a:gd name="T20" fmla="*/ 15 w 15"/>
                <a:gd name="T21" fmla="*/ 448 h 2525"/>
                <a:gd name="T22" fmla="*/ 0 w 15"/>
                <a:gd name="T23" fmla="*/ 462 h 2525"/>
                <a:gd name="T24" fmla="*/ 15 w 15"/>
                <a:gd name="T25" fmla="*/ 520 h 2525"/>
                <a:gd name="T26" fmla="*/ 0 w 15"/>
                <a:gd name="T27" fmla="*/ 563 h 2525"/>
                <a:gd name="T28" fmla="*/ 15 w 15"/>
                <a:gd name="T29" fmla="*/ 577 h 2525"/>
                <a:gd name="T30" fmla="*/ 15 w 15"/>
                <a:gd name="T31" fmla="*/ 649 h 2525"/>
                <a:gd name="T32" fmla="*/ 0 w 15"/>
                <a:gd name="T33" fmla="*/ 664 h 2525"/>
                <a:gd name="T34" fmla="*/ 15 w 15"/>
                <a:gd name="T35" fmla="*/ 722 h 2525"/>
                <a:gd name="T36" fmla="*/ 0 w 15"/>
                <a:gd name="T37" fmla="*/ 765 h 2525"/>
                <a:gd name="T38" fmla="*/ 15 w 15"/>
                <a:gd name="T39" fmla="*/ 779 h 2525"/>
                <a:gd name="T40" fmla="*/ 15 w 15"/>
                <a:gd name="T41" fmla="*/ 852 h 2525"/>
                <a:gd name="T42" fmla="*/ 0 w 15"/>
                <a:gd name="T43" fmla="*/ 866 h 2525"/>
                <a:gd name="T44" fmla="*/ 15 w 15"/>
                <a:gd name="T45" fmla="*/ 924 h 2525"/>
                <a:gd name="T46" fmla="*/ 0 w 15"/>
                <a:gd name="T47" fmla="*/ 967 h 2525"/>
                <a:gd name="T48" fmla="*/ 15 w 15"/>
                <a:gd name="T49" fmla="*/ 982 h 2525"/>
                <a:gd name="T50" fmla="*/ 15 w 15"/>
                <a:gd name="T51" fmla="*/ 1054 h 2525"/>
                <a:gd name="T52" fmla="*/ 0 w 15"/>
                <a:gd name="T53" fmla="*/ 1068 h 2525"/>
                <a:gd name="T54" fmla="*/ 15 w 15"/>
                <a:gd name="T55" fmla="*/ 1126 h 2525"/>
                <a:gd name="T56" fmla="*/ 0 w 15"/>
                <a:gd name="T57" fmla="*/ 1169 h 2525"/>
                <a:gd name="T58" fmla="*/ 15 w 15"/>
                <a:gd name="T59" fmla="*/ 1183 h 2525"/>
                <a:gd name="T60" fmla="*/ 15 w 15"/>
                <a:gd name="T61" fmla="*/ 1255 h 2525"/>
                <a:gd name="T62" fmla="*/ 0 w 15"/>
                <a:gd name="T63" fmla="*/ 1270 h 2525"/>
                <a:gd name="T64" fmla="*/ 15 w 15"/>
                <a:gd name="T65" fmla="*/ 1328 h 2525"/>
                <a:gd name="T66" fmla="*/ 0 w 15"/>
                <a:gd name="T67" fmla="*/ 1371 h 2525"/>
                <a:gd name="T68" fmla="*/ 15 w 15"/>
                <a:gd name="T69" fmla="*/ 1385 h 2525"/>
                <a:gd name="T70" fmla="*/ 15 w 15"/>
                <a:gd name="T71" fmla="*/ 1458 h 2525"/>
                <a:gd name="T72" fmla="*/ 0 w 15"/>
                <a:gd name="T73" fmla="*/ 1472 h 2525"/>
                <a:gd name="T74" fmla="*/ 15 w 15"/>
                <a:gd name="T75" fmla="*/ 1530 h 2525"/>
                <a:gd name="T76" fmla="*/ 0 w 15"/>
                <a:gd name="T77" fmla="*/ 1573 h 2525"/>
                <a:gd name="T78" fmla="*/ 15 w 15"/>
                <a:gd name="T79" fmla="*/ 1588 h 2525"/>
                <a:gd name="T80" fmla="*/ 15 w 15"/>
                <a:gd name="T81" fmla="*/ 1660 h 2525"/>
                <a:gd name="T82" fmla="*/ 0 w 15"/>
                <a:gd name="T83" fmla="*/ 1674 h 2525"/>
                <a:gd name="T84" fmla="*/ 15 w 15"/>
                <a:gd name="T85" fmla="*/ 1732 h 2525"/>
                <a:gd name="T86" fmla="*/ 0 w 15"/>
                <a:gd name="T87" fmla="*/ 1775 h 2525"/>
                <a:gd name="T88" fmla="*/ 15 w 15"/>
                <a:gd name="T89" fmla="*/ 1789 h 2525"/>
                <a:gd name="T90" fmla="*/ 15 w 15"/>
                <a:gd name="T91" fmla="*/ 1861 h 2525"/>
                <a:gd name="T92" fmla="*/ 0 w 15"/>
                <a:gd name="T93" fmla="*/ 1876 h 2525"/>
                <a:gd name="T94" fmla="*/ 15 w 15"/>
                <a:gd name="T95" fmla="*/ 1934 h 2525"/>
                <a:gd name="T96" fmla="*/ 0 w 15"/>
                <a:gd name="T97" fmla="*/ 1977 h 2525"/>
                <a:gd name="T98" fmla="*/ 15 w 15"/>
                <a:gd name="T99" fmla="*/ 1991 h 2525"/>
                <a:gd name="T100" fmla="*/ 15 w 15"/>
                <a:gd name="T101" fmla="*/ 2064 h 2525"/>
                <a:gd name="T102" fmla="*/ 0 w 15"/>
                <a:gd name="T103" fmla="*/ 2078 h 2525"/>
                <a:gd name="T104" fmla="*/ 15 w 15"/>
                <a:gd name="T105" fmla="*/ 2136 h 2525"/>
                <a:gd name="T106" fmla="*/ 0 w 15"/>
                <a:gd name="T107" fmla="*/ 2179 h 2525"/>
                <a:gd name="T108" fmla="*/ 15 w 15"/>
                <a:gd name="T109" fmla="*/ 2194 h 2525"/>
                <a:gd name="T110" fmla="*/ 15 w 15"/>
                <a:gd name="T111" fmla="*/ 2266 h 2525"/>
                <a:gd name="T112" fmla="*/ 0 w 15"/>
                <a:gd name="T113" fmla="*/ 2280 h 2525"/>
                <a:gd name="T114" fmla="*/ 15 w 15"/>
                <a:gd name="T115" fmla="*/ 2338 h 2525"/>
                <a:gd name="T116" fmla="*/ 0 w 15"/>
                <a:gd name="T117" fmla="*/ 2381 h 2525"/>
                <a:gd name="T118" fmla="*/ 15 w 15"/>
                <a:gd name="T119" fmla="*/ 2395 h 2525"/>
                <a:gd name="T120" fmla="*/ 15 w 15"/>
                <a:gd name="T121" fmla="*/ 2468 h 2525"/>
                <a:gd name="T122" fmla="*/ 0 w 15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" h="2525">
                  <a:moveTo>
                    <a:pt x="15" y="0"/>
                  </a:moveTo>
                  <a:lnTo>
                    <a:pt x="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5" y="0"/>
                  </a:lnTo>
                  <a:close/>
                  <a:moveTo>
                    <a:pt x="15" y="29"/>
                  </a:moveTo>
                  <a:lnTo>
                    <a:pt x="15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5" y="29"/>
                  </a:lnTo>
                  <a:close/>
                  <a:moveTo>
                    <a:pt x="15" y="58"/>
                  </a:moveTo>
                  <a:lnTo>
                    <a:pt x="15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5" y="58"/>
                  </a:lnTo>
                  <a:close/>
                  <a:moveTo>
                    <a:pt x="15" y="87"/>
                  </a:moveTo>
                  <a:lnTo>
                    <a:pt x="15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5" y="87"/>
                  </a:lnTo>
                  <a:close/>
                  <a:moveTo>
                    <a:pt x="15" y="116"/>
                  </a:moveTo>
                  <a:lnTo>
                    <a:pt x="15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5" y="116"/>
                  </a:lnTo>
                  <a:close/>
                  <a:moveTo>
                    <a:pt x="15" y="145"/>
                  </a:moveTo>
                  <a:lnTo>
                    <a:pt x="15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5" y="145"/>
                  </a:lnTo>
                  <a:close/>
                  <a:moveTo>
                    <a:pt x="15" y="173"/>
                  </a:moveTo>
                  <a:lnTo>
                    <a:pt x="15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5" y="173"/>
                  </a:lnTo>
                  <a:close/>
                  <a:moveTo>
                    <a:pt x="15" y="202"/>
                  </a:moveTo>
                  <a:lnTo>
                    <a:pt x="15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5" y="202"/>
                  </a:lnTo>
                  <a:close/>
                  <a:moveTo>
                    <a:pt x="15" y="231"/>
                  </a:moveTo>
                  <a:lnTo>
                    <a:pt x="15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5" y="231"/>
                  </a:lnTo>
                  <a:close/>
                  <a:moveTo>
                    <a:pt x="15" y="260"/>
                  </a:moveTo>
                  <a:lnTo>
                    <a:pt x="15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5" y="260"/>
                  </a:lnTo>
                  <a:close/>
                  <a:moveTo>
                    <a:pt x="15" y="289"/>
                  </a:moveTo>
                  <a:lnTo>
                    <a:pt x="15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5" y="289"/>
                  </a:lnTo>
                  <a:close/>
                  <a:moveTo>
                    <a:pt x="15" y="318"/>
                  </a:moveTo>
                  <a:lnTo>
                    <a:pt x="15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5" y="318"/>
                  </a:lnTo>
                  <a:close/>
                  <a:moveTo>
                    <a:pt x="15" y="346"/>
                  </a:moveTo>
                  <a:lnTo>
                    <a:pt x="15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5" y="346"/>
                  </a:lnTo>
                  <a:close/>
                  <a:moveTo>
                    <a:pt x="15" y="376"/>
                  </a:moveTo>
                  <a:lnTo>
                    <a:pt x="15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5" y="376"/>
                  </a:lnTo>
                  <a:close/>
                  <a:moveTo>
                    <a:pt x="15" y="404"/>
                  </a:moveTo>
                  <a:lnTo>
                    <a:pt x="15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5" y="404"/>
                  </a:lnTo>
                  <a:close/>
                  <a:moveTo>
                    <a:pt x="15" y="433"/>
                  </a:moveTo>
                  <a:lnTo>
                    <a:pt x="15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5" y="433"/>
                  </a:lnTo>
                  <a:close/>
                  <a:moveTo>
                    <a:pt x="15" y="462"/>
                  </a:moveTo>
                  <a:lnTo>
                    <a:pt x="15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5" y="462"/>
                  </a:lnTo>
                  <a:close/>
                  <a:moveTo>
                    <a:pt x="15" y="491"/>
                  </a:moveTo>
                  <a:lnTo>
                    <a:pt x="15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5" y="491"/>
                  </a:lnTo>
                  <a:close/>
                  <a:moveTo>
                    <a:pt x="15" y="520"/>
                  </a:moveTo>
                  <a:lnTo>
                    <a:pt x="15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5" y="520"/>
                  </a:lnTo>
                  <a:close/>
                  <a:moveTo>
                    <a:pt x="15" y="549"/>
                  </a:moveTo>
                  <a:lnTo>
                    <a:pt x="15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5" y="549"/>
                  </a:lnTo>
                  <a:close/>
                  <a:moveTo>
                    <a:pt x="15" y="577"/>
                  </a:moveTo>
                  <a:lnTo>
                    <a:pt x="15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5" y="577"/>
                  </a:lnTo>
                  <a:close/>
                  <a:moveTo>
                    <a:pt x="15" y="606"/>
                  </a:moveTo>
                  <a:lnTo>
                    <a:pt x="15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5" y="606"/>
                  </a:lnTo>
                  <a:close/>
                  <a:moveTo>
                    <a:pt x="15" y="635"/>
                  </a:moveTo>
                  <a:lnTo>
                    <a:pt x="15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5" y="635"/>
                  </a:lnTo>
                  <a:close/>
                  <a:moveTo>
                    <a:pt x="15" y="664"/>
                  </a:moveTo>
                  <a:lnTo>
                    <a:pt x="15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5" y="664"/>
                  </a:lnTo>
                  <a:close/>
                  <a:moveTo>
                    <a:pt x="15" y="693"/>
                  </a:moveTo>
                  <a:lnTo>
                    <a:pt x="15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5" y="693"/>
                  </a:lnTo>
                  <a:close/>
                  <a:moveTo>
                    <a:pt x="15" y="722"/>
                  </a:moveTo>
                  <a:lnTo>
                    <a:pt x="15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5" y="722"/>
                  </a:lnTo>
                  <a:close/>
                  <a:moveTo>
                    <a:pt x="15" y="751"/>
                  </a:moveTo>
                  <a:lnTo>
                    <a:pt x="15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5" y="751"/>
                  </a:lnTo>
                  <a:close/>
                  <a:moveTo>
                    <a:pt x="15" y="779"/>
                  </a:moveTo>
                  <a:lnTo>
                    <a:pt x="15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5" y="779"/>
                  </a:lnTo>
                  <a:close/>
                  <a:moveTo>
                    <a:pt x="15" y="808"/>
                  </a:moveTo>
                  <a:lnTo>
                    <a:pt x="15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5" y="808"/>
                  </a:lnTo>
                  <a:close/>
                  <a:moveTo>
                    <a:pt x="15" y="837"/>
                  </a:moveTo>
                  <a:lnTo>
                    <a:pt x="15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5" y="837"/>
                  </a:lnTo>
                  <a:close/>
                  <a:moveTo>
                    <a:pt x="15" y="866"/>
                  </a:moveTo>
                  <a:lnTo>
                    <a:pt x="15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5" y="866"/>
                  </a:lnTo>
                  <a:close/>
                  <a:moveTo>
                    <a:pt x="15" y="895"/>
                  </a:moveTo>
                  <a:lnTo>
                    <a:pt x="15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5" y="895"/>
                  </a:lnTo>
                  <a:close/>
                  <a:moveTo>
                    <a:pt x="15" y="924"/>
                  </a:moveTo>
                  <a:lnTo>
                    <a:pt x="15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5" y="924"/>
                  </a:lnTo>
                  <a:close/>
                  <a:moveTo>
                    <a:pt x="15" y="952"/>
                  </a:moveTo>
                  <a:lnTo>
                    <a:pt x="15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5" y="952"/>
                  </a:lnTo>
                  <a:close/>
                  <a:moveTo>
                    <a:pt x="15" y="982"/>
                  </a:moveTo>
                  <a:lnTo>
                    <a:pt x="15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5" y="982"/>
                  </a:lnTo>
                  <a:close/>
                  <a:moveTo>
                    <a:pt x="15" y="1010"/>
                  </a:moveTo>
                  <a:lnTo>
                    <a:pt x="15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5" y="1010"/>
                  </a:lnTo>
                  <a:close/>
                  <a:moveTo>
                    <a:pt x="15" y="1039"/>
                  </a:moveTo>
                  <a:lnTo>
                    <a:pt x="15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5" y="1039"/>
                  </a:lnTo>
                  <a:close/>
                  <a:moveTo>
                    <a:pt x="15" y="1068"/>
                  </a:moveTo>
                  <a:lnTo>
                    <a:pt x="15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5" y="1068"/>
                  </a:lnTo>
                  <a:close/>
                  <a:moveTo>
                    <a:pt x="15" y="1097"/>
                  </a:moveTo>
                  <a:lnTo>
                    <a:pt x="15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5" y="1097"/>
                  </a:lnTo>
                  <a:close/>
                  <a:moveTo>
                    <a:pt x="15" y="1126"/>
                  </a:moveTo>
                  <a:lnTo>
                    <a:pt x="15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5" y="1126"/>
                  </a:lnTo>
                  <a:close/>
                  <a:moveTo>
                    <a:pt x="15" y="1155"/>
                  </a:moveTo>
                  <a:lnTo>
                    <a:pt x="15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5" y="1155"/>
                  </a:lnTo>
                  <a:close/>
                  <a:moveTo>
                    <a:pt x="15" y="1183"/>
                  </a:moveTo>
                  <a:lnTo>
                    <a:pt x="15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5" y="1183"/>
                  </a:lnTo>
                  <a:close/>
                  <a:moveTo>
                    <a:pt x="15" y="1212"/>
                  </a:moveTo>
                  <a:lnTo>
                    <a:pt x="15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5" y="1212"/>
                  </a:lnTo>
                  <a:close/>
                  <a:moveTo>
                    <a:pt x="15" y="1241"/>
                  </a:moveTo>
                  <a:lnTo>
                    <a:pt x="15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5" y="1241"/>
                  </a:lnTo>
                  <a:close/>
                  <a:moveTo>
                    <a:pt x="15" y="1270"/>
                  </a:moveTo>
                  <a:lnTo>
                    <a:pt x="15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5" y="1270"/>
                  </a:lnTo>
                  <a:close/>
                  <a:moveTo>
                    <a:pt x="15" y="1299"/>
                  </a:moveTo>
                  <a:lnTo>
                    <a:pt x="15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5" y="1299"/>
                  </a:lnTo>
                  <a:close/>
                  <a:moveTo>
                    <a:pt x="15" y="1328"/>
                  </a:moveTo>
                  <a:lnTo>
                    <a:pt x="15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5" y="1328"/>
                  </a:lnTo>
                  <a:close/>
                  <a:moveTo>
                    <a:pt x="15" y="1357"/>
                  </a:moveTo>
                  <a:lnTo>
                    <a:pt x="15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5" y="1357"/>
                  </a:lnTo>
                  <a:close/>
                  <a:moveTo>
                    <a:pt x="15" y="1385"/>
                  </a:moveTo>
                  <a:lnTo>
                    <a:pt x="15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5" y="1385"/>
                  </a:lnTo>
                  <a:close/>
                  <a:moveTo>
                    <a:pt x="15" y="1414"/>
                  </a:moveTo>
                  <a:lnTo>
                    <a:pt x="15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5" y="1414"/>
                  </a:lnTo>
                  <a:close/>
                  <a:moveTo>
                    <a:pt x="15" y="1443"/>
                  </a:moveTo>
                  <a:lnTo>
                    <a:pt x="15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5" y="1443"/>
                  </a:lnTo>
                  <a:close/>
                  <a:moveTo>
                    <a:pt x="15" y="1472"/>
                  </a:moveTo>
                  <a:lnTo>
                    <a:pt x="15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5" y="1472"/>
                  </a:lnTo>
                  <a:close/>
                  <a:moveTo>
                    <a:pt x="15" y="1501"/>
                  </a:moveTo>
                  <a:lnTo>
                    <a:pt x="15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5" y="1501"/>
                  </a:lnTo>
                  <a:close/>
                  <a:moveTo>
                    <a:pt x="15" y="1530"/>
                  </a:moveTo>
                  <a:lnTo>
                    <a:pt x="15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5" y="1530"/>
                  </a:lnTo>
                  <a:close/>
                  <a:moveTo>
                    <a:pt x="15" y="1558"/>
                  </a:moveTo>
                  <a:lnTo>
                    <a:pt x="15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5" y="1558"/>
                  </a:lnTo>
                  <a:close/>
                  <a:moveTo>
                    <a:pt x="15" y="1588"/>
                  </a:moveTo>
                  <a:lnTo>
                    <a:pt x="15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5" y="1588"/>
                  </a:lnTo>
                  <a:close/>
                  <a:moveTo>
                    <a:pt x="15" y="1616"/>
                  </a:moveTo>
                  <a:lnTo>
                    <a:pt x="15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5" y="1616"/>
                  </a:lnTo>
                  <a:close/>
                  <a:moveTo>
                    <a:pt x="15" y="1645"/>
                  </a:moveTo>
                  <a:lnTo>
                    <a:pt x="15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5" y="1645"/>
                  </a:lnTo>
                  <a:close/>
                  <a:moveTo>
                    <a:pt x="15" y="1674"/>
                  </a:moveTo>
                  <a:lnTo>
                    <a:pt x="15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5" y="1674"/>
                  </a:lnTo>
                  <a:close/>
                  <a:moveTo>
                    <a:pt x="15" y="1703"/>
                  </a:moveTo>
                  <a:lnTo>
                    <a:pt x="15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5" y="1703"/>
                  </a:lnTo>
                  <a:close/>
                  <a:moveTo>
                    <a:pt x="15" y="1732"/>
                  </a:moveTo>
                  <a:lnTo>
                    <a:pt x="15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5" y="1732"/>
                  </a:lnTo>
                  <a:close/>
                  <a:moveTo>
                    <a:pt x="15" y="1761"/>
                  </a:moveTo>
                  <a:lnTo>
                    <a:pt x="15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5" y="1761"/>
                  </a:lnTo>
                  <a:close/>
                  <a:moveTo>
                    <a:pt x="15" y="1789"/>
                  </a:moveTo>
                  <a:lnTo>
                    <a:pt x="15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5" y="1789"/>
                  </a:lnTo>
                  <a:close/>
                  <a:moveTo>
                    <a:pt x="15" y="1818"/>
                  </a:moveTo>
                  <a:lnTo>
                    <a:pt x="15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5" y="1818"/>
                  </a:lnTo>
                  <a:close/>
                  <a:moveTo>
                    <a:pt x="15" y="1847"/>
                  </a:moveTo>
                  <a:lnTo>
                    <a:pt x="15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5" y="1847"/>
                  </a:lnTo>
                  <a:close/>
                  <a:moveTo>
                    <a:pt x="15" y="1876"/>
                  </a:moveTo>
                  <a:lnTo>
                    <a:pt x="15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5" y="1876"/>
                  </a:lnTo>
                  <a:close/>
                  <a:moveTo>
                    <a:pt x="15" y="1905"/>
                  </a:moveTo>
                  <a:lnTo>
                    <a:pt x="15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5" y="1905"/>
                  </a:lnTo>
                  <a:close/>
                  <a:moveTo>
                    <a:pt x="15" y="1934"/>
                  </a:moveTo>
                  <a:lnTo>
                    <a:pt x="15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5" y="1934"/>
                  </a:lnTo>
                  <a:close/>
                  <a:moveTo>
                    <a:pt x="15" y="1963"/>
                  </a:moveTo>
                  <a:lnTo>
                    <a:pt x="15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5" y="1963"/>
                  </a:lnTo>
                  <a:close/>
                  <a:moveTo>
                    <a:pt x="15" y="1991"/>
                  </a:moveTo>
                  <a:lnTo>
                    <a:pt x="15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5" y="1991"/>
                  </a:lnTo>
                  <a:close/>
                  <a:moveTo>
                    <a:pt x="15" y="2020"/>
                  </a:moveTo>
                  <a:lnTo>
                    <a:pt x="15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5" y="2020"/>
                  </a:lnTo>
                  <a:close/>
                  <a:moveTo>
                    <a:pt x="15" y="2049"/>
                  </a:moveTo>
                  <a:lnTo>
                    <a:pt x="15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5" y="2049"/>
                  </a:lnTo>
                  <a:close/>
                  <a:moveTo>
                    <a:pt x="15" y="2078"/>
                  </a:moveTo>
                  <a:lnTo>
                    <a:pt x="15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5" y="2078"/>
                  </a:lnTo>
                  <a:close/>
                  <a:moveTo>
                    <a:pt x="15" y="2107"/>
                  </a:moveTo>
                  <a:lnTo>
                    <a:pt x="15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5" y="2107"/>
                  </a:lnTo>
                  <a:close/>
                  <a:moveTo>
                    <a:pt x="15" y="2136"/>
                  </a:moveTo>
                  <a:lnTo>
                    <a:pt x="15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5" y="2136"/>
                  </a:lnTo>
                  <a:close/>
                  <a:moveTo>
                    <a:pt x="15" y="2164"/>
                  </a:moveTo>
                  <a:lnTo>
                    <a:pt x="15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5" y="2164"/>
                  </a:lnTo>
                  <a:close/>
                  <a:moveTo>
                    <a:pt x="15" y="2194"/>
                  </a:moveTo>
                  <a:lnTo>
                    <a:pt x="15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5" y="2194"/>
                  </a:lnTo>
                  <a:close/>
                  <a:moveTo>
                    <a:pt x="15" y="2222"/>
                  </a:moveTo>
                  <a:lnTo>
                    <a:pt x="15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5" y="2222"/>
                  </a:lnTo>
                  <a:close/>
                  <a:moveTo>
                    <a:pt x="15" y="2251"/>
                  </a:moveTo>
                  <a:lnTo>
                    <a:pt x="15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5" y="2251"/>
                  </a:lnTo>
                  <a:close/>
                  <a:moveTo>
                    <a:pt x="15" y="2280"/>
                  </a:moveTo>
                  <a:lnTo>
                    <a:pt x="15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5" y="2280"/>
                  </a:lnTo>
                  <a:close/>
                  <a:moveTo>
                    <a:pt x="15" y="2309"/>
                  </a:moveTo>
                  <a:lnTo>
                    <a:pt x="15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5" y="2309"/>
                  </a:lnTo>
                  <a:close/>
                  <a:moveTo>
                    <a:pt x="15" y="2338"/>
                  </a:moveTo>
                  <a:lnTo>
                    <a:pt x="15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5" y="2338"/>
                  </a:lnTo>
                  <a:close/>
                  <a:moveTo>
                    <a:pt x="15" y="2367"/>
                  </a:moveTo>
                  <a:lnTo>
                    <a:pt x="15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5" y="2367"/>
                  </a:lnTo>
                  <a:close/>
                  <a:moveTo>
                    <a:pt x="15" y="2395"/>
                  </a:moveTo>
                  <a:lnTo>
                    <a:pt x="15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5" y="2395"/>
                  </a:lnTo>
                  <a:close/>
                  <a:moveTo>
                    <a:pt x="15" y="2424"/>
                  </a:moveTo>
                  <a:lnTo>
                    <a:pt x="15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5" y="2424"/>
                  </a:lnTo>
                  <a:close/>
                  <a:moveTo>
                    <a:pt x="15" y="2453"/>
                  </a:moveTo>
                  <a:lnTo>
                    <a:pt x="15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5" y="2453"/>
                  </a:lnTo>
                  <a:close/>
                  <a:moveTo>
                    <a:pt x="15" y="2482"/>
                  </a:moveTo>
                  <a:lnTo>
                    <a:pt x="15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5" y="2482"/>
                  </a:lnTo>
                  <a:close/>
                  <a:moveTo>
                    <a:pt x="15" y="2511"/>
                  </a:moveTo>
                  <a:lnTo>
                    <a:pt x="15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5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07FC27FC-3E1F-47C5-9D32-076671B778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2" y="1517"/>
              <a:ext cx="11" cy="2525"/>
            </a:xfrm>
            <a:custGeom>
              <a:avLst/>
              <a:gdLst>
                <a:gd name="T0" fmla="*/ 15 w 15"/>
                <a:gd name="T1" fmla="*/ 43 h 2525"/>
                <a:gd name="T2" fmla="*/ 0 w 15"/>
                <a:gd name="T3" fmla="*/ 58 h 2525"/>
                <a:gd name="T4" fmla="*/ 15 w 15"/>
                <a:gd name="T5" fmla="*/ 116 h 2525"/>
                <a:gd name="T6" fmla="*/ 0 w 15"/>
                <a:gd name="T7" fmla="*/ 159 h 2525"/>
                <a:gd name="T8" fmla="*/ 15 w 15"/>
                <a:gd name="T9" fmla="*/ 173 h 2525"/>
                <a:gd name="T10" fmla="*/ 15 w 15"/>
                <a:gd name="T11" fmla="*/ 246 h 2525"/>
                <a:gd name="T12" fmla="*/ 0 w 15"/>
                <a:gd name="T13" fmla="*/ 260 h 2525"/>
                <a:gd name="T14" fmla="*/ 15 w 15"/>
                <a:gd name="T15" fmla="*/ 318 h 2525"/>
                <a:gd name="T16" fmla="*/ 0 w 15"/>
                <a:gd name="T17" fmla="*/ 361 h 2525"/>
                <a:gd name="T18" fmla="*/ 15 w 15"/>
                <a:gd name="T19" fmla="*/ 376 h 2525"/>
                <a:gd name="T20" fmla="*/ 15 w 15"/>
                <a:gd name="T21" fmla="*/ 448 h 2525"/>
                <a:gd name="T22" fmla="*/ 0 w 15"/>
                <a:gd name="T23" fmla="*/ 462 h 2525"/>
                <a:gd name="T24" fmla="*/ 15 w 15"/>
                <a:gd name="T25" fmla="*/ 520 h 2525"/>
                <a:gd name="T26" fmla="*/ 0 w 15"/>
                <a:gd name="T27" fmla="*/ 563 h 2525"/>
                <a:gd name="T28" fmla="*/ 15 w 15"/>
                <a:gd name="T29" fmla="*/ 577 h 2525"/>
                <a:gd name="T30" fmla="*/ 15 w 15"/>
                <a:gd name="T31" fmla="*/ 649 h 2525"/>
                <a:gd name="T32" fmla="*/ 0 w 15"/>
                <a:gd name="T33" fmla="*/ 664 h 2525"/>
                <a:gd name="T34" fmla="*/ 15 w 15"/>
                <a:gd name="T35" fmla="*/ 722 h 2525"/>
                <a:gd name="T36" fmla="*/ 0 w 15"/>
                <a:gd name="T37" fmla="*/ 765 h 2525"/>
                <a:gd name="T38" fmla="*/ 15 w 15"/>
                <a:gd name="T39" fmla="*/ 779 h 2525"/>
                <a:gd name="T40" fmla="*/ 15 w 15"/>
                <a:gd name="T41" fmla="*/ 852 h 2525"/>
                <a:gd name="T42" fmla="*/ 0 w 15"/>
                <a:gd name="T43" fmla="*/ 866 h 2525"/>
                <a:gd name="T44" fmla="*/ 15 w 15"/>
                <a:gd name="T45" fmla="*/ 924 h 2525"/>
                <a:gd name="T46" fmla="*/ 0 w 15"/>
                <a:gd name="T47" fmla="*/ 967 h 2525"/>
                <a:gd name="T48" fmla="*/ 15 w 15"/>
                <a:gd name="T49" fmla="*/ 982 h 2525"/>
                <a:gd name="T50" fmla="*/ 15 w 15"/>
                <a:gd name="T51" fmla="*/ 1054 h 2525"/>
                <a:gd name="T52" fmla="*/ 0 w 15"/>
                <a:gd name="T53" fmla="*/ 1068 h 2525"/>
                <a:gd name="T54" fmla="*/ 15 w 15"/>
                <a:gd name="T55" fmla="*/ 1126 h 2525"/>
                <a:gd name="T56" fmla="*/ 0 w 15"/>
                <a:gd name="T57" fmla="*/ 1169 h 2525"/>
                <a:gd name="T58" fmla="*/ 15 w 15"/>
                <a:gd name="T59" fmla="*/ 1183 h 2525"/>
                <a:gd name="T60" fmla="*/ 15 w 15"/>
                <a:gd name="T61" fmla="*/ 1255 h 2525"/>
                <a:gd name="T62" fmla="*/ 0 w 15"/>
                <a:gd name="T63" fmla="*/ 1270 h 2525"/>
                <a:gd name="T64" fmla="*/ 15 w 15"/>
                <a:gd name="T65" fmla="*/ 1328 h 2525"/>
                <a:gd name="T66" fmla="*/ 0 w 15"/>
                <a:gd name="T67" fmla="*/ 1371 h 2525"/>
                <a:gd name="T68" fmla="*/ 15 w 15"/>
                <a:gd name="T69" fmla="*/ 1385 h 2525"/>
                <a:gd name="T70" fmla="*/ 15 w 15"/>
                <a:gd name="T71" fmla="*/ 1458 h 2525"/>
                <a:gd name="T72" fmla="*/ 0 w 15"/>
                <a:gd name="T73" fmla="*/ 1472 h 2525"/>
                <a:gd name="T74" fmla="*/ 15 w 15"/>
                <a:gd name="T75" fmla="*/ 1530 h 2525"/>
                <a:gd name="T76" fmla="*/ 0 w 15"/>
                <a:gd name="T77" fmla="*/ 1573 h 2525"/>
                <a:gd name="T78" fmla="*/ 15 w 15"/>
                <a:gd name="T79" fmla="*/ 1588 h 2525"/>
                <a:gd name="T80" fmla="*/ 15 w 15"/>
                <a:gd name="T81" fmla="*/ 1660 h 2525"/>
                <a:gd name="T82" fmla="*/ 0 w 15"/>
                <a:gd name="T83" fmla="*/ 1674 h 2525"/>
                <a:gd name="T84" fmla="*/ 15 w 15"/>
                <a:gd name="T85" fmla="*/ 1732 h 2525"/>
                <a:gd name="T86" fmla="*/ 0 w 15"/>
                <a:gd name="T87" fmla="*/ 1775 h 2525"/>
                <a:gd name="T88" fmla="*/ 15 w 15"/>
                <a:gd name="T89" fmla="*/ 1789 h 2525"/>
                <a:gd name="T90" fmla="*/ 15 w 15"/>
                <a:gd name="T91" fmla="*/ 1861 h 2525"/>
                <a:gd name="T92" fmla="*/ 0 w 15"/>
                <a:gd name="T93" fmla="*/ 1876 h 2525"/>
                <a:gd name="T94" fmla="*/ 15 w 15"/>
                <a:gd name="T95" fmla="*/ 1934 h 2525"/>
                <a:gd name="T96" fmla="*/ 0 w 15"/>
                <a:gd name="T97" fmla="*/ 1977 h 2525"/>
                <a:gd name="T98" fmla="*/ 15 w 15"/>
                <a:gd name="T99" fmla="*/ 1991 h 2525"/>
                <a:gd name="T100" fmla="*/ 15 w 15"/>
                <a:gd name="T101" fmla="*/ 2064 h 2525"/>
                <a:gd name="T102" fmla="*/ 0 w 15"/>
                <a:gd name="T103" fmla="*/ 2078 h 2525"/>
                <a:gd name="T104" fmla="*/ 15 w 15"/>
                <a:gd name="T105" fmla="*/ 2136 h 2525"/>
                <a:gd name="T106" fmla="*/ 0 w 15"/>
                <a:gd name="T107" fmla="*/ 2179 h 2525"/>
                <a:gd name="T108" fmla="*/ 15 w 15"/>
                <a:gd name="T109" fmla="*/ 2194 h 2525"/>
                <a:gd name="T110" fmla="*/ 15 w 15"/>
                <a:gd name="T111" fmla="*/ 2266 h 2525"/>
                <a:gd name="T112" fmla="*/ 0 w 15"/>
                <a:gd name="T113" fmla="*/ 2280 h 2525"/>
                <a:gd name="T114" fmla="*/ 15 w 15"/>
                <a:gd name="T115" fmla="*/ 2338 h 2525"/>
                <a:gd name="T116" fmla="*/ 0 w 15"/>
                <a:gd name="T117" fmla="*/ 2381 h 2525"/>
                <a:gd name="T118" fmla="*/ 15 w 15"/>
                <a:gd name="T119" fmla="*/ 2395 h 2525"/>
                <a:gd name="T120" fmla="*/ 15 w 15"/>
                <a:gd name="T121" fmla="*/ 2468 h 2525"/>
                <a:gd name="T122" fmla="*/ 0 w 15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" h="2525">
                  <a:moveTo>
                    <a:pt x="15" y="0"/>
                  </a:moveTo>
                  <a:lnTo>
                    <a:pt x="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5" y="0"/>
                  </a:lnTo>
                  <a:close/>
                  <a:moveTo>
                    <a:pt x="15" y="29"/>
                  </a:moveTo>
                  <a:lnTo>
                    <a:pt x="15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5" y="29"/>
                  </a:lnTo>
                  <a:close/>
                  <a:moveTo>
                    <a:pt x="15" y="58"/>
                  </a:moveTo>
                  <a:lnTo>
                    <a:pt x="15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5" y="58"/>
                  </a:lnTo>
                  <a:close/>
                  <a:moveTo>
                    <a:pt x="15" y="87"/>
                  </a:moveTo>
                  <a:lnTo>
                    <a:pt x="15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5" y="87"/>
                  </a:lnTo>
                  <a:close/>
                  <a:moveTo>
                    <a:pt x="15" y="116"/>
                  </a:moveTo>
                  <a:lnTo>
                    <a:pt x="15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5" y="116"/>
                  </a:lnTo>
                  <a:close/>
                  <a:moveTo>
                    <a:pt x="15" y="145"/>
                  </a:moveTo>
                  <a:lnTo>
                    <a:pt x="15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5" y="145"/>
                  </a:lnTo>
                  <a:close/>
                  <a:moveTo>
                    <a:pt x="15" y="173"/>
                  </a:moveTo>
                  <a:lnTo>
                    <a:pt x="15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5" y="173"/>
                  </a:lnTo>
                  <a:close/>
                  <a:moveTo>
                    <a:pt x="15" y="202"/>
                  </a:moveTo>
                  <a:lnTo>
                    <a:pt x="15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5" y="202"/>
                  </a:lnTo>
                  <a:close/>
                  <a:moveTo>
                    <a:pt x="15" y="231"/>
                  </a:moveTo>
                  <a:lnTo>
                    <a:pt x="15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5" y="231"/>
                  </a:lnTo>
                  <a:close/>
                  <a:moveTo>
                    <a:pt x="15" y="260"/>
                  </a:moveTo>
                  <a:lnTo>
                    <a:pt x="15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5" y="260"/>
                  </a:lnTo>
                  <a:close/>
                  <a:moveTo>
                    <a:pt x="15" y="289"/>
                  </a:moveTo>
                  <a:lnTo>
                    <a:pt x="15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5" y="289"/>
                  </a:lnTo>
                  <a:close/>
                  <a:moveTo>
                    <a:pt x="15" y="318"/>
                  </a:moveTo>
                  <a:lnTo>
                    <a:pt x="15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5" y="318"/>
                  </a:lnTo>
                  <a:close/>
                  <a:moveTo>
                    <a:pt x="15" y="346"/>
                  </a:moveTo>
                  <a:lnTo>
                    <a:pt x="15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5" y="346"/>
                  </a:lnTo>
                  <a:close/>
                  <a:moveTo>
                    <a:pt x="15" y="376"/>
                  </a:moveTo>
                  <a:lnTo>
                    <a:pt x="15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5" y="376"/>
                  </a:lnTo>
                  <a:close/>
                  <a:moveTo>
                    <a:pt x="15" y="404"/>
                  </a:moveTo>
                  <a:lnTo>
                    <a:pt x="15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5" y="404"/>
                  </a:lnTo>
                  <a:close/>
                  <a:moveTo>
                    <a:pt x="15" y="433"/>
                  </a:moveTo>
                  <a:lnTo>
                    <a:pt x="15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5" y="433"/>
                  </a:lnTo>
                  <a:close/>
                  <a:moveTo>
                    <a:pt x="15" y="462"/>
                  </a:moveTo>
                  <a:lnTo>
                    <a:pt x="15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5" y="462"/>
                  </a:lnTo>
                  <a:close/>
                  <a:moveTo>
                    <a:pt x="15" y="491"/>
                  </a:moveTo>
                  <a:lnTo>
                    <a:pt x="15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5" y="491"/>
                  </a:lnTo>
                  <a:close/>
                  <a:moveTo>
                    <a:pt x="15" y="520"/>
                  </a:moveTo>
                  <a:lnTo>
                    <a:pt x="15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5" y="520"/>
                  </a:lnTo>
                  <a:close/>
                  <a:moveTo>
                    <a:pt x="15" y="549"/>
                  </a:moveTo>
                  <a:lnTo>
                    <a:pt x="15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5" y="549"/>
                  </a:lnTo>
                  <a:close/>
                  <a:moveTo>
                    <a:pt x="15" y="577"/>
                  </a:moveTo>
                  <a:lnTo>
                    <a:pt x="15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5" y="577"/>
                  </a:lnTo>
                  <a:close/>
                  <a:moveTo>
                    <a:pt x="15" y="606"/>
                  </a:moveTo>
                  <a:lnTo>
                    <a:pt x="15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5" y="606"/>
                  </a:lnTo>
                  <a:close/>
                  <a:moveTo>
                    <a:pt x="15" y="635"/>
                  </a:moveTo>
                  <a:lnTo>
                    <a:pt x="15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5" y="635"/>
                  </a:lnTo>
                  <a:close/>
                  <a:moveTo>
                    <a:pt x="15" y="664"/>
                  </a:moveTo>
                  <a:lnTo>
                    <a:pt x="15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5" y="664"/>
                  </a:lnTo>
                  <a:close/>
                  <a:moveTo>
                    <a:pt x="15" y="693"/>
                  </a:moveTo>
                  <a:lnTo>
                    <a:pt x="15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5" y="693"/>
                  </a:lnTo>
                  <a:close/>
                  <a:moveTo>
                    <a:pt x="15" y="722"/>
                  </a:moveTo>
                  <a:lnTo>
                    <a:pt x="15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5" y="722"/>
                  </a:lnTo>
                  <a:close/>
                  <a:moveTo>
                    <a:pt x="15" y="751"/>
                  </a:moveTo>
                  <a:lnTo>
                    <a:pt x="15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5" y="751"/>
                  </a:lnTo>
                  <a:close/>
                  <a:moveTo>
                    <a:pt x="15" y="779"/>
                  </a:moveTo>
                  <a:lnTo>
                    <a:pt x="15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5" y="779"/>
                  </a:lnTo>
                  <a:close/>
                  <a:moveTo>
                    <a:pt x="15" y="808"/>
                  </a:moveTo>
                  <a:lnTo>
                    <a:pt x="15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5" y="808"/>
                  </a:lnTo>
                  <a:close/>
                  <a:moveTo>
                    <a:pt x="15" y="837"/>
                  </a:moveTo>
                  <a:lnTo>
                    <a:pt x="15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5" y="837"/>
                  </a:lnTo>
                  <a:close/>
                  <a:moveTo>
                    <a:pt x="15" y="866"/>
                  </a:moveTo>
                  <a:lnTo>
                    <a:pt x="15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5" y="866"/>
                  </a:lnTo>
                  <a:close/>
                  <a:moveTo>
                    <a:pt x="15" y="895"/>
                  </a:moveTo>
                  <a:lnTo>
                    <a:pt x="15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5" y="895"/>
                  </a:lnTo>
                  <a:close/>
                  <a:moveTo>
                    <a:pt x="15" y="924"/>
                  </a:moveTo>
                  <a:lnTo>
                    <a:pt x="15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5" y="924"/>
                  </a:lnTo>
                  <a:close/>
                  <a:moveTo>
                    <a:pt x="15" y="952"/>
                  </a:moveTo>
                  <a:lnTo>
                    <a:pt x="15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5" y="952"/>
                  </a:lnTo>
                  <a:close/>
                  <a:moveTo>
                    <a:pt x="15" y="982"/>
                  </a:moveTo>
                  <a:lnTo>
                    <a:pt x="15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5" y="982"/>
                  </a:lnTo>
                  <a:close/>
                  <a:moveTo>
                    <a:pt x="15" y="1010"/>
                  </a:moveTo>
                  <a:lnTo>
                    <a:pt x="15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5" y="1010"/>
                  </a:lnTo>
                  <a:close/>
                  <a:moveTo>
                    <a:pt x="15" y="1039"/>
                  </a:moveTo>
                  <a:lnTo>
                    <a:pt x="15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5" y="1039"/>
                  </a:lnTo>
                  <a:close/>
                  <a:moveTo>
                    <a:pt x="15" y="1068"/>
                  </a:moveTo>
                  <a:lnTo>
                    <a:pt x="15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5" y="1068"/>
                  </a:lnTo>
                  <a:close/>
                  <a:moveTo>
                    <a:pt x="15" y="1097"/>
                  </a:moveTo>
                  <a:lnTo>
                    <a:pt x="15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5" y="1097"/>
                  </a:lnTo>
                  <a:close/>
                  <a:moveTo>
                    <a:pt x="15" y="1126"/>
                  </a:moveTo>
                  <a:lnTo>
                    <a:pt x="15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5" y="1126"/>
                  </a:lnTo>
                  <a:close/>
                  <a:moveTo>
                    <a:pt x="15" y="1155"/>
                  </a:moveTo>
                  <a:lnTo>
                    <a:pt x="15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5" y="1155"/>
                  </a:lnTo>
                  <a:close/>
                  <a:moveTo>
                    <a:pt x="15" y="1183"/>
                  </a:moveTo>
                  <a:lnTo>
                    <a:pt x="15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5" y="1183"/>
                  </a:lnTo>
                  <a:close/>
                  <a:moveTo>
                    <a:pt x="15" y="1212"/>
                  </a:moveTo>
                  <a:lnTo>
                    <a:pt x="15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5" y="1212"/>
                  </a:lnTo>
                  <a:close/>
                  <a:moveTo>
                    <a:pt x="15" y="1241"/>
                  </a:moveTo>
                  <a:lnTo>
                    <a:pt x="15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5" y="1241"/>
                  </a:lnTo>
                  <a:close/>
                  <a:moveTo>
                    <a:pt x="15" y="1270"/>
                  </a:moveTo>
                  <a:lnTo>
                    <a:pt x="15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5" y="1270"/>
                  </a:lnTo>
                  <a:close/>
                  <a:moveTo>
                    <a:pt x="15" y="1299"/>
                  </a:moveTo>
                  <a:lnTo>
                    <a:pt x="15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5" y="1299"/>
                  </a:lnTo>
                  <a:close/>
                  <a:moveTo>
                    <a:pt x="15" y="1328"/>
                  </a:moveTo>
                  <a:lnTo>
                    <a:pt x="15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5" y="1328"/>
                  </a:lnTo>
                  <a:close/>
                  <a:moveTo>
                    <a:pt x="15" y="1357"/>
                  </a:moveTo>
                  <a:lnTo>
                    <a:pt x="15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5" y="1357"/>
                  </a:lnTo>
                  <a:close/>
                  <a:moveTo>
                    <a:pt x="15" y="1385"/>
                  </a:moveTo>
                  <a:lnTo>
                    <a:pt x="15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5" y="1385"/>
                  </a:lnTo>
                  <a:close/>
                  <a:moveTo>
                    <a:pt x="15" y="1414"/>
                  </a:moveTo>
                  <a:lnTo>
                    <a:pt x="15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5" y="1414"/>
                  </a:lnTo>
                  <a:close/>
                  <a:moveTo>
                    <a:pt x="15" y="1443"/>
                  </a:moveTo>
                  <a:lnTo>
                    <a:pt x="15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5" y="1443"/>
                  </a:lnTo>
                  <a:close/>
                  <a:moveTo>
                    <a:pt x="15" y="1472"/>
                  </a:moveTo>
                  <a:lnTo>
                    <a:pt x="15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5" y="1472"/>
                  </a:lnTo>
                  <a:close/>
                  <a:moveTo>
                    <a:pt x="15" y="1501"/>
                  </a:moveTo>
                  <a:lnTo>
                    <a:pt x="15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5" y="1501"/>
                  </a:lnTo>
                  <a:close/>
                  <a:moveTo>
                    <a:pt x="15" y="1530"/>
                  </a:moveTo>
                  <a:lnTo>
                    <a:pt x="15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5" y="1530"/>
                  </a:lnTo>
                  <a:close/>
                  <a:moveTo>
                    <a:pt x="15" y="1558"/>
                  </a:moveTo>
                  <a:lnTo>
                    <a:pt x="15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5" y="1558"/>
                  </a:lnTo>
                  <a:close/>
                  <a:moveTo>
                    <a:pt x="15" y="1588"/>
                  </a:moveTo>
                  <a:lnTo>
                    <a:pt x="15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5" y="1588"/>
                  </a:lnTo>
                  <a:close/>
                  <a:moveTo>
                    <a:pt x="15" y="1616"/>
                  </a:moveTo>
                  <a:lnTo>
                    <a:pt x="15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5" y="1616"/>
                  </a:lnTo>
                  <a:close/>
                  <a:moveTo>
                    <a:pt x="15" y="1645"/>
                  </a:moveTo>
                  <a:lnTo>
                    <a:pt x="15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5" y="1645"/>
                  </a:lnTo>
                  <a:close/>
                  <a:moveTo>
                    <a:pt x="15" y="1674"/>
                  </a:moveTo>
                  <a:lnTo>
                    <a:pt x="15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5" y="1674"/>
                  </a:lnTo>
                  <a:close/>
                  <a:moveTo>
                    <a:pt x="15" y="1703"/>
                  </a:moveTo>
                  <a:lnTo>
                    <a:pt x="15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5" y="1703"/>
                  </a:lnTo>
                  <a:close/>
                  <a:moveTo>
                    <a:pt x="15" y="1732"/>
                  </a:moveTo>
                  <a:lnTo>
                    <a:pt x="15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5" y="1732"/>
                  </a:lnTo>
                  <a:close/>
                  <a:moveTo>
                    <a:pt x="15" y="1761"/>
                  </a:moveTo>
                  <a:lnTo>
                    <a:pt x="15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5" y="1761"/>
                  </a:lnTo>
                  <a:close/>
                  <a:moveTo>
                    <a:pt x="15" y="1789"/>
                  </a:moveTo>
                  <a:lnTo>
                    <a:pt x="15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5" y="1789"/>
                  </a:lnTo>
                  <a:close/>
                  <a:moveTo>
                    <a:pt x="15" y="1818"/>
                  </a:moveTo>
                  <a:lnTo>
                    <a:pt x="15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5" y="1818"/>
                  </a:lnTo>
                  <a:close/>
                  <a:moveTo>
                    <a:pt x="15" y="1847"/>
                  </a:moveTo>
                  <a:lnTo>
                    <a:pt x="15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5" y="1847"/>
                  </a:lnTo>
                  <a:close/>
                  <a:moveTo>
                    <a:pt x="15" y="1876"/>
                  </a:moveTo>
                  <a:lnTo>
                    <a:pt x="15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5" y="1876"/>
                  </a:lnTo>
                  <a:close/>
                  <a:moveTo>
                    <a:pt x="15" y="1905"/>
                  </a:moveTo>
                  <a:lnTo>
                    <a:pt x="15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5" y="1905"/>
                  </a:lnTo>
                  <a:close/>
                  <a:moveTo>
                    <a:pt x="15" y="1934"/>
                  </a:moveTo>
                  <a:lnTo>
                    <a:pt x="15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5" y="1934"/>
                  </a:lnTo>
                  <a:close/>
                  <a:moveTo>
                    <a:pt x="15" y="1963"/>
                  </a:moveTo>
                  <a:lnTo>
                    <a:pt x="15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5" y="1963"/>
                  </a:lnTo>
                  <a:close/>
                  <a:moveTo>
                    <a:pt x="15" y="1991"/>
                  </a:moveTo>
                  <a:lnTo>
                    <a:pt x="15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5" y="1991"/>
                  </a:lnTo>
                  <a:close/>
                  <a:moveTo>
                    <a:pt x="15" y="2020"/>
                  </a:moveTo>
                  <a:lnTo>
                    <a:pt x="15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5" y="2020"/>
                  </a:lnTo>
                  <a:close/>
                  <a:moveTo>
                    <a:pt x="15" y="2049"/>
                  </a:moveTo>
                  <a:lnTo>
                    <a:pt x="15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5" y="2049"/>
                  </a:lnTo>
                  <a:close/>
                  <a:moveTo>
                    <a:pt x="15" y="2078"/>
                  </a:moveTo>
                  <a:lnTo>
                    <a:pt x="15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5" y="2078"/>
                  </a:lnTo>
                  <a:close/>
                  <a:moveTo>
                    <a:pt x="15" y="2107"/>
                  </a:moveTo>
                  <a:lnTo>
                    <a:pt x="15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5" y="2107"/>
                  </a:lnTo>
                  <a:close/>
                  <a:moveTo>
                    <a:pt x="15" y="2136"/>
                  </a:moveTo>
                  <a:lnTo>
                    <a:pt x="15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5" y="2136"/>
                  </a:lnTo>
                  <a:close/>
                  <a:moveTo>
                    <a:pt x="15" y="2164"/>
                  </a:moveTo>
                  <a:lnTo>
                    <a:pt x="15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5" y="2164"/>
                  </a:lnTo>
                  <a:close/>
                  <a:moveTo>
                    <a:pt x="15" y="2194"/>
                  </a:moveTo>
                  <a:lnTo>
                    <a:pt x="15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5" y="2194"/>
                  </a:lnTo>
                  <a:close/>
                  <a:moveTo>
                    <a:pt x="15" y="2222"/>
                  </a:moveTo>
                  <a:lnTo>
                    <a:pt x="15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5" y="2222"/>
                  </a:lnTo>
                  <a:close/>
                  <a:moveTo>
                    <a:pt x="15" y="2251"/>
                  </a:moveTo>
                  <a:lnTo>
                    <a:pt x="15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5" y="2251"/>
                  </a:lnTo>
                  <a:close/>
                  <a:moveTo>
                    <a:pt x="15" y="2280"/>
                  </a:moveTo>
                  <a:lnTo>
                    <a:pt x="15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5" y="2280"/>
                  </a:lnTo>
                  <a:close/>
                  <a:moveTo>
                    <a:pt x="15" y="2309"/>
                  </a:moveTo>
                  <a:lnTo>
                    <a:pt x="15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5" y="2309"/>
                  </a:lnTo>
                  <a:close/>
                  <a:moveTo>
                    <a:pt x="15" y="2338"/>
                  </a:moveTo>
                  <a:lnTo>
                    <a:pt x="15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5" y="2338"/>
                  </a:lnTo>
                  <a:close/>
                  <a:moveTo>
                    <a:pt x="15" y="2367"/>
                  </a:moveTo>
                  <a:lnTo>
                    <a:pt x="15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5" y="2367"/>
                  </a:lnTo>
                  <a:close/>
                  <a:moveTo>
                    <a:pt x="15" y="2395"/>
                  </a:moveTo>
                  <a:lnTo>
                    <a:pt x="15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5" y="2395"/>
                  </a:lnTo>
                  <a:close/>
                  <a:moveTo>
                    <a:pt x="15" y="2424"/>
                  </a:moveTo>
                  <a:lnTo>
                    <a:pt x="15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5" y="2424"/>
                  </a:lnTo>
                  <a:close/>
                  <a:moveTo>
                    <a:pt x="15" y="2453"/>
                  </a:moveTo>
                  <a:lnTo>
                    <a:pt x="15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5" y="2453"/>
                  </a:lnTo>
                  <a:close/>
                  <a:moveTo>
                    <a:pt x="15" y="2482"/>
                  </a:moveTo>
                  <a:lnTo>
                    <a:pt x="15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5" y="2482"/>
                  </a:lnTo>
                  <a:close/>
                  <a:moveTo>
                    <a:pt x="15" y="2511"/>
                  </a:moveTo>
                  <a:lnTo>
                    <a:pt x="15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5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DF874370-61AF-4222-8875-E7E0BF42F9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2" y="1517"/>
              <a:ext cx="11" cy="2525"/>
            </a:xfrm>
            <a:custGeom>
              <a:avLst/>
              <a:gdLst>
                <a:gd name="T0" fmla="*/ 14 w 14"/>
                <a:gd name="T1" fmla="*/ 43 h 2525"/>
                <a:gd name="T2" fmla="*/ 0 w 14"/>
                <a:gd name="T3" fmla="*/ 58 h 2525"/>
                <a:gd name="T4" fmla="*/ 14 w 14"/>
                <a:gd name="T5" fmla="*/ 116 h 2525"/>
                <a:gd name="T6" fmla="*/ 0 w 14"/>
                <a:gd name="T7" fmla="*/ 159 h 2525"/>
                <a:gd name="T8" fmla="*/ 14 w 14"/>
                <a:gd name="T9" fmla="*/ 173 h 2525"/>
                <a:gd name="T10" fmla="*/ 14 w 14"/>
                <a:gd name="T11" fmla="*/ 246 h 2525"/>
                <a:gd name="T12" fmla="*/ 0 w 14"/>
                <a:gd name="T13" fmla="*/ 260 h 2525"/>
                <a:gd name="T14" fmla="*/ 14 w 14"/>
                <a:gd name="T15" fmla="*/ 318 h 2525"/>
                <a:gd name="T16" fmla="*/ 0 w 14"/>
                <a:gd name="T17" fmla="*/ 361 h 2525"/>
                <a:gd name="T18" fmla="*/ 14 w 14"/>
                <a:gd name="T19" fmla="*/ 376 h 2525"/>
                <a:gd name="T20" fmla="*/ 14 w 14"/>
                <a:gd name="T21" fmla="*/ 448 h 2525"/>
                <a:gd name="T22" fmla="*/ 0 w 14"/>
                <a:gd name="T23" fmla="*/ 462 h 2525"/>
                <a:gd name="T24" fmla="*/ 14 w 14"/>
                <a:gd name="T25" fmla="*/ 520 h 2525"/>
                <a:gd name="T26" fmla="*/ 0 w 14"/>
                <a:gd name="T27" fmla="*/ 563 h 2525"/>
                <a:gd name="T28" fmla="*/ 14 w 14"/>
                <a:gd name="T29" fmla="*/ 577 h 2525"/>
                <a:gd name="T30" fmla="*/ 14 w 14"/>
                <a:gd name="T31" fmla="*/ 649 h 2525"/>
                <a:gd name="T32" fmla="*/ 0 w 14"/>
                <a:gd name="T33" fmla="*/ 664 h 2525"/>
                <a:gd name="T34" fmla="*/ 14 w 14"/>
                <a:gd name="T35" fmla="*/ 722 h 2525"/>
                <a:gd name="T36" fmla="*/ 0 w 14"/>
                <a:gd name="T37" fmla="*/ 765 h 2525"/>
                <a:gd name="T38" fmla="*/ 14 w 14"/>
                <a:gd name="T39" fmla="*/ 779 h 2525"/>
                <a:gd name="T40" fmla="*/ 14 w 14"/>
                <a:gd name="T41" fmla="*/ 852 h 2525"/>
                <a:gd name="T42" fmla="*/ 0 w 14"/>
                <a:gd name="T43" fmla="*/ 866 h 2525"/>
                <a:gd name="T44" fmla="*/ 14 w 14"/>
                <a:gd name="T45" fmla="*/ 924 h 2525"/>
                <a:gd name="T46" fmla="*/ 0 w 14"/>
                <a:gd name="T47" fmla="*/ 967 h 2525"/>
                <a:gd name="T48" fmla="*/ 14 w 14"/>
                <a:gd name="T49" fmla="*/ 982 h 2525"/>
                <a:gd name="T50" fmla="*/ 14 w 14"/>
                <a:gd name="T51" fmla="*/ 1054 h 2525"/>
                <a:gd name="T52" fmla="*/ 0 w 14"/>
                <a:gd name="T53" fmla="*/ 1068 h 2525"/>
                <a:gd name="T54" fmla="*/ 14 w 14"/>
                <a:gd name="T55" fmla="*/ 1126 h 2525"/>
                <a:gd name="T56" fmla="*/ 0 w 14"/>
                <a:gd name="T57" fmla="*/ 1169 h 2525"/>
                <a:gd name="T58" fmla="*/ 14 w 14"/>
                <a:gd name="T59" fmla="*/ 1183 h 2525"/>
                <a:gd name="T60" fmla="*/ 14 w 14"/>
                <a:gd name="T61" fmla="*/ 1255 h 2525"/>
                <a:gd name="T62" fmla="*/ 0 w 14"/>
                <a:gd name="T63" fmla="*/ 1270 h 2525"/>
                <a:gd name="T64" fmla="*/ 14 w 14"/>
                <a:gd name="T65" fmla="*/ 1328 h 2525"/>
                <a:gd name="T66" fmla="*/ 0 w 14"/>
                <a:gd name="T67" fmla="*/ 1371 h 2525"/>
                <a:gd name="T68" fmla="*/ 14 w 14"/>
                <a:gd name="T69" fmla="*/ 1385 h 2525"/>
                <a:gd name="T70" fmla="*/ 14 w 14"/>
                <a:gd name="T71" fmla="*/ 1458 h 2525"/>
                <a:gd name="T72" fmla="*/ 0 w 14"/>
                <a:gd name="T73" fmla="*/ 1472 h 2525"/>
                <a:gd name="T74" fmla="*/ 14 w 14"/>
                <a:gd name="T75" fmla="*/ 1530 h 2525"/>
                <a:gd name="T76" fmla="*/ 0 w 14"/>
                <a:gd name="T77" fmla="*/ 1573 h 2525"/>
                <a:gd name="T78" fmla="*/ 14 w 14"/>
                <a:gd name="T79" fmla="*/ 1588 h 2525"/>
                <a:gd name="T80" fmla="*/ 14 w 14"/>
                <a:gd name="T81" fmla="*/ 1660 h 2525"/>
                <a:gd name="T82" fmla="*/ 0 w 14"/>
                <a:gd name="T83" fmla="*/ 1674 h 2525"/>
                <a:gd name="T84" fmla="*/ 14 w 14"/>
                <a:gd name="T85" fmla="*/ 1732 h 2525"/>
                <a:gd name="T86" fmla="*/ 0 w 14"/>
                <a:gd name="T87" fmla="*/ 1775 h 2525"/>
                <a:gd name="T88" fmla="*/ 14 w 14"/>
                <a:gd name="T89" fmla="*/ 1789 h 2525"/>
                <a:gd name="T90" fmla="*/ 14 w 14"/>
                <a:gd name="T91" fmla="*/ 1861 h 2525"/>
                <a:gd name="T92" fmla="*/ 0 w 14"/>
                <a:gd name="T93" fmla="*/ 1876 h 2525"/>
                <a:gd name="T94" fmla="*/ 14 w 14"/>
                <a:gd name="T95" fmla="*/ 1934 h 2525"/>
                <a:gd name="T96" fmla="*/ 0 w 14"/>
                <a:gd name="T97" fmla="*/ 1977 h 2525"/>
                <a:gd name="T98" fmla="*/ 14 w 14"/>
                <a:gd name="T99" fmla="*/ 1991 h 2525"/>
                <a:gd name="T100" fmla="*/ 14 w 14"/>
                <a:gd name="T101" fmla="*/ 2064 h 2525"/>
                <a:gd name="T102" fmla="*/ 0 w 14"/>
                <a:gd name="T103" fmla="*/ 2078 h 2525"/>
                <a:gd name="T104" fmla="*/ 14 w 14"/>
                <a:gd name="T105" fmla="*/ 2136 h 2525"/>
                <a:gd name="T106" fmla="*/ 0 w 14"/>
                <a:gd name="T107" fmla="*/ 2179 h 2525"/>
                <a:gd name="T108" fmla="*/ 14 w 14"/>
                <a:gd name="T109" fmla="*/ 2194 h 2525"/>
                <a:gd name="T110" fmla="*/ 14 w 14"/>
                <a:gd name="T111" fmla="*/ 2266 h 2525"/>
                <a:gd name="T112" fmla="*/ 0 w 14"/>
                <a:gd name="T113" fmla="*/ 2280 h 2525"/>
                <a:gd name="T114" fmla="*/ 14 w 14"/>
                <a:gd name="T115" fmla="*/ 2338 h 2525"/>
                <a:gd name="T116" fmla="*/ 0 w 14"/>
                <a:gd name="T117" fmla="*/ 2381 h 2525"/>
                <a:gd name="T118" fmla="*/ 14 w 14"/>
                <a:gd name="T119" fmla="*/ 2395 h 2525"/>
                <a:gd name="T120" fmla="*/ 14 w 14"/>
                <a:gd name="T121" fmla="*/ 2468 h 2525"/>
                <a:gd name="T122" fmla="*/ 0 w 14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" h="2525">
                  <a:moveTo>
                    <a:pt x="14" y="0"/>
                  </a:moveTo>
                  <a:lnTo>
                    <a:pt x="14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4" y="0"/>
                  </a:lnTo>
                  <a:close/>
                  <a:moveTo>
                    <a:pt x="14" y="29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4" y="29"/>
                  </a:lnTo>
                  <a:close/>
                  <a:moveTo>
                    <a:pt x="14" y="58"/>
                  </a:moveTo>
                  <a:lnTo>
                    <a:pt x="14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4" y="58"/>
                  </a:lnTo>
                  <a:close/>
                  <a:moveTo>
                    <a:pt x="14" y="87"/>
                  </a:moveTo>
                  <a:lnTo>
                    <a:pt x="14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4" y="87"/>
                  </a:lnTo>
                  <a:close/>
                  <a:moveTo>
                    <a:pt x="14" y="116"/>
                  </a:moveTo>
                  <a:lnTo>
                    <a:pt x="14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4" y="116"/>
                  </a:lnTo>
                  <a:close/>
                  <a:moveTo>
                    <a:pt x="14" y="145"/>
                  </a:moveTo>
                  <a:lnTo>
                    <a:pt x="14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4" y="145"/>
                  </a:lnTo>
                  <a:close/>
                  <a:moveTo>
                    <a:pt x="14" y="173"/>
                  </a:moveTo>
                  <a:lnTo>
                    <a:pt x="14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4" y="173"/>
                  </a:lnTo>
                  <a:close/>
                  <a:moveTo>
                    <a:pt x="14" y="202"/>
                  </a:moveTo>
                  <a:lnTo>
                    <a:pt x="14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4" y="202"/>
                  </a:lnTo>
                  <a:close/>
                  <a:moveTo>
                    <a:pt x="14" y="231"/>
                  </a:moveTo>
                  <a:lnTo>
                    <a:pt x="14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4" y="231"/>
                  </a:lnTo>
                  <a:close/>
                  <a:moveTo>
                    <a:pt x="14" y="260"/>
                  </a:moveTo>
                  <a:lnTo>
                    <a:pt x="14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4" y="260"/>
                  </a:lnTo>
                  <a:close/>
                  <a:moveTo>
                    <a:pt x="14" y="289"/>
                  </a:moveTo>
                  <a:lnTo>
                    <a:pt x="14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4" y="289"/>
                  </a:lnTo>
                  <a:close/>
                  <a:moveTo>
                    <a:pt x="14" y="318"/>
                  </a:moveTo>
                  <a:lnTo>
                    <a:pt x="14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4" y="318"/>
                  </a:lnTo>
                  <a:close/>
                  <a:moveTo>
                    <a:pt x="14" y="346"/>
                  </a:moveTo>
                  <a:lnTo>
                    <a:pt x="14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4" y="346"/>
                  </a:lnTo>
                  <a:close/>
                  <a:moveTo>
                    <a:pt x="14" y="376"/>
                  </a:moveTo>
                  <a:lnTo>
                    <a:pt x="14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4" y="376"/>
                  </a:lnTo>
                  <a:close/>
                  <a:moveTo>
                    <a:pt x="14" y="404"/>
                  </a:moveTo>
                  <a:lnTo>
                    <a:pt x="14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4" y="404"/>
                  </a:lnTo>
                  <a:close/>
                  <a:moveTo>
                    <a:pt x="14" y="433"/>
                  </a:moveTo>
                  <a:lnTo>
                    <a:pt x="14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4" y="433"/>
                  </a:lnTo>
                  <a:close/>
                  <a:moveTo>
                    <a:pt x="14" y="462"/>
                  </a:moveTo>
                  <a:lnTo>
                    <a:pt x="14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4" y="462"/>
                  </a:lnTo>
                  <a:close/>
                  <a:moveTo>
                    <a:pt x="14" y="491"/>
                  </a:moveTo>
                  <a:lnTo>
                    <a:pt x="14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4" y="491"/>
                  </a:lnTo>
                  <a:close/>
                  <a:moveTo>
                    <a:pt x="14" y="520"/>
                  </a:moveTo>
                  <a:lnTo>
                    <a:pt x="14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4" y="520"/>
                  </a:lnTo>
                  <a:close/>
                  <a:moveTo>
                    <a:pt x="14" y="549"/>
                  </a:moveTo>
                  <a:lnTo>
                    <a:pt x="14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4" y="549"/>
                  </a:lnTo>
                  <a:close/>
                  <a:moveTo>
                    <a:pt x="14" y="577"/>
                  </a:moveTo>
                  <a:lnTo>
                    <a:pt x="14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4" y="577"/>
                  </a:lnTo>
                  <a:close/>
                  <a:moveTo>
                    <a:pt x="14" y="606"/>
                  </a:moveTo>
                  <a:lnTo>
                    <a:pt x="14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4" y="606"/>
                  </a:lnTo>
                  <a:close/>
                  <a:moveTo>
                    <a:pt x="14" y="635"/>
                  </a:moveTo>
                  <a:lnTo>
                    <a:pt x="14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4" y="635"/>
                  </a:lnTo>
                  <a:close/>
                  <a:moveTo>
                    <a:pt x="14" y="664"/>
                  </a:moveTo>
                  <a:lnTo>
                    <a:pt x="14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4" y="664"/>
                  </a:lnTo>
                  <a:close/>
                  <a:moveTo>
                    <a:pt x="14" y="693"/>
                  </a:moveTo>
                  <a:lnTo>
                    <a:pt x="14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4" y="693"/>
                  </a:lnTo>
                  <a:close/>
                  <a:moveTo>
                    <a:pt x="14" y="722"/>
                  </a:moveTo>
                  <a:lnTo>
                    <a:pt x="14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4" y="722"/>
                  </a:lnTo>
                  <a:close/>
                  <a:moveTo>
                    <a:pt x="14" y="751"/>
                  </a:moveTo>
                  <a:lnTo>
                    <a:pt x="14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4" y="751"/>
                  </a:lnTo>
                  <a:close/>
                  <a:moveTo>
                    <a:pt x="14" y="779"/>
                  </a:moveTo>
                  <a:lnTo>
                    <a:pt x="14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4" y="779"/>
                  </a:lnTo>
                  <a:close/>
                  <a:moveTo>
                    <a:pt x="14" y="808"/>
                  </a:moveTo>
                  <a:lnTo>
                    <a:pt x="14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4" y="808"/>
                  </a:lnTo>
                  <a:close/>
                  <a:moveTo>
                    <a:pt x="14" y="837"/>
                  </a:moveTo>
                  <a:lnTo>
                    <a:pt x="14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4" y="837"/>
                  </a:lnTo>
                  <a:close/>
                  <a:moveTo>
                    <a:pt x="14" y="866"/>
                  </a:moveTo>
                  <a:lnTo>
                    <a:pt x="14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4" y="866"/>
                  </a:lnTo>
                  <a:close/>
                  <a:moveTo>
                    <a:pt x="14" y="895"/>
                  </a:moveTo>
                  <a:lnTo>
                    <a:pt x="14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4" y="895"/>
                  </a:lnTo>
                  <a:close/>
                  <a:moveTo>
                    <a:pt x="14" y="924"/>
                  </a:moveTo>
                  <a:lnTo>
                    <a:pt x="14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4" y="924"/>
                  </a:lnTo>
                  <a:close/>
                  <a:moveTo>
                    <a:pt x="14" y="952"/>
                  </a:moveTo>
                  <a:lnTo>
                    <a:pt x="14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4" y="952"/>
                  </a:lnTo>
                  <a:close/>
                  <a:moveTo>
                    <a:pt x="14" y="982"/>
                  </a:moveTo>
                  <a:lnTo>
                    <a:pt x="14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4" y="982"/>
                  </a:lnTo>
                  <a:close/>
                  <a:moveTo>
                    <a:pt x="14" y="1010"/>
                  </a:moveTo>
                  <a:lnTo>
                    <a:pt x="14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4" y="1010"/>
                  </a:lnTo>
                  <a:close/>
                  <a:moveTo>
                    <a:pt x="14" y="1039"/>
                  </a:moveTo>
                  <a:lnTo>
                    <a:pt x="14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4" y="1039"/>
                  </a:lnTo>
                  <a:close/>
                  <a:moveTo>
                    <a:pt x="14" y="1068"/>
                  </a:moveTo>
                  <a:lnTo>
                    <a:pt x="14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4" y="1068"/>
                  </a:lnTo>
                  <a:close/>
                  <a:moveTo>
                    <a:pt x="14" y="1097"/>
                  </a:moveTo>
                  <a:lnTo>
                    <a:pt x="14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4" y="1097"/>
                  </a:lnTo>
                  <a:close/>
                  <a:moveTo>
                    <a:pt x="14" y="1126"/>
                  </a:moveTo>
                  <a:lnTo>
                    <a:pt x="14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4" y="1126"/>
                  </a:lnTo>
                  <a:close/>
                  <a:moveTo>
                    <a:pt x="14" y="1155"/>
                  </a:moveTo>
                  <a:lnTo>
                    <a:pt x="14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4" y="1155"/>
                  </a:lnTo>
                  <a:close/>
                  <a:moveTo>
                    <a:pt x="14" y="1183"/>
                  </a:moveTo>
                  <a:lnTo>
                    <a:pt x="14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4" y="1183"/>
                  </a:lnTo>
                  <a:close/>
                  <a:moveTo>
                    <a:pt x="14" y="1212"/>
                  </a:moveTo>
                  <a:lnTo>
                    <a:pt x="14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4" y="1212"/>
                  </a:lnTo>
                  <a:close/>
                  <a:moveTo>
                    <a:pt x="14" y="1241"/>
                  </a:moveTo>
                  <a:lnTo>
                    <a:pt x="14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4" y="1241"/>
                  </a:lnTo>
                  <a:close/>
                  <a:moveTo>
                    <a:pt x="14" y="1270"/>
                  </a:moveTo>
                  <a:lnTo>
                    <a:pt x="14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4" y="1270"/>
                  </a:lnTo>
                  <a:close/>
                  <a:moveTo>
                    <a:pt x="14" y="1299"/>
                  </a:moveTo>
                  <a:lnTo>
                    <a:pt x="14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4" y="1299"/>
                  </a:lnTo>
                  <a:close/>
                  <a:moveTo>
                    <a:pt x="14" y="1328"/>
                  </a:moveTo>
                  <a:lnTo>
                    <a:pt x="14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4" y="1328"/>
                  </a:lnTo>
                  <a:close/>
                  <a:moveTo>
                    <a:pt x="14" y="1357"/>
                  </a:moveTo>
                  <a:lnTo>
                    <a:pt x="14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4" y="1357"/>
                  </a:lnTo>
                  <a:close/>
                  <a:moveTo>
                    <a:pt x="14" y="1385"/>
                  </a:moveTo>
                  <a:lnTo>
                    <a:pt x="14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4" y="1385"/>
                  </a:lnTo>
                  <a:close/>
                  <a:moveTo>
                    <a:pt x="14" y="1414"/>
                  </a:moveTo>
                  <a:lnTo>
                    <a:pt x="14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4" y="1414"/>
                  </a:lnTo>
                  <a:close/>
                  <a:moveTo>
                    <a:pt x="14" y="1443"/>
                  </a:moveTo>
                  <a:lnTo>
                    <a:pt x="14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4" y="1443"/>
                  </a:lnTo>
                  <a:close/>
                  <a:moveTo>
                    <a:pt x="14" y="1472"/>
                  </a:moveTo>
                  <a:lnTo>
                    <a:pt x="14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4" y="1472"/>
                  </a:lnTo>
                  <a:close/>
                  <a:moveTo>
                    <a:pt x="14" y="1501"/>
                  </a:moveTo>
                  <a:lnTo>
                    <a:pt x="14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4" y="1501"/>
                  </a:lnTo>
                  <a:close/>
                  <a:moveTo>
                    <a:pt x="14" y="1530"/>
                  </a:moveTo>
                  <a:lnTo>
                    <a:pt x="14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4" y="1530"/>
                  </a:lnTo>
                  <a:close/>
                  <a:moveTo>
                    <a:pt x="14" y="1558"/>
                  </a:moveTo>
                  <a:lnTo>
                    <a:pt x="14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4" y="1558"/>
                  </a:lnTo>
                  <a:close/>
                  <a:moveTo>
                    <a:pt x="14" y="1588"/>
                  </a:moveTo>
                  <a:lnTo>
                    <a:pt x="14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4" y="1588"/>
                  </a:lnTo>
                  <a:close/>
                  <a:moveTo>
                    <a:pt x="14" y="1616"/>
                  </a:moveTo>
                  <a:lnTo>
                    <a:pt x="14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4" y="1616"/>
                  </a:lnTo>
                  <a:close/>
                  <a:moveTo>
                    <a:pt x="14" y="1645"/>
                  </a:moveTo>
                  <a:lnTo>
                    <a:pt x="14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4" y="1645"/>
                  </a:lnTo>
                  <a:close/>
                  <a:moveTo>
                    <a:pt x="14" y="1674"/>
                  </a:moveTo>
                  <a:lnTo>
                    <a:pt x="14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4" y="1674"/>
                  </a:lnTo>
                  <a:close/>
                  <a:moveTo>
                    <a:pt x="14" y="1703"/>
                  </a:moveTo>
                  <a:lnTo>
                    <a:pt x="14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4" y="1703"/>
                  </a:lnTo>
                  <a:close/>
                  <a:moveTo>
                    <a:pt x="14" y="1732"/>
                  </a:moveTo>
                  <a:lnTo>
                    <a:pt x="14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4" y="1732"/>
                  </a:lnTo>
                  <a:close/>
                  <a:moveTo>
                    <a:pt x="14" y="1761"/>
                  </a:moveTo>
                  <a:lnTo>
                    <a:pt x="14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4" y="1761"/>
                  </a:lnTo>
                  <a:close/>
                  <a:moveTo>
                    <a:pt x="14" y="1789"/>
                  </a:moveTo>
                  <a:lnTo>
                    <a:pt x="14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4" y="1789"/>
                  </a:lnTo>
                  <a:close/>
                  <a:moveTo>
                    <a:pt x="14" y="1818"/>
                  </a:moveTo>
                  <a:lnTo>
                    <a:pt x="14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4" y="1818"/>
                  </a:lnTo>
                  <a:close/>
                  <a:moveTo>
                    <a:pt x="14" y="1847"/>
                  </a:moveTo>
                  <a:lnTo>
                    <a:pt x="14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4" y="1847"/>
                  </a:lnTo>
                  <a:close/>
                  <a:moveTo>
                    <a:pt x="14" y="1876"/>
                  </a:moveTo>
                  <a:lnTo>
                    <a:pt x="14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4" y="1876"/>
                  </a:lnTo>
                  <a:close/>
                  <a:moveTo>
                    <a:pt x="14" y="1905"/>
                  </a:moveTo>
                  <a:lnTo>
                    <a:pt x="14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4" y="1905"/>
                  </a:lnTo>
                  <a:close/>
                  <a:moveTo>
                    <a:pt x="14" y="1934"/>
                  </a:moveTo>
                  <a:lnTo>
                    <a:pt x="14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4" y="1934"/>
                  </a:lnTo>
                  <a:close/>
                  <a:moveTo>
                    <a:pt x="14" y="1963"/>
                  </a:moveTo>
                  <a:lnTo>
                    <a:pt x="14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4" y="1963"/>
                  </a:lnTo>
                  <a:close/>
                  <a:moveTo>
                    <a:pt x="14" y="1991"/>
                  </a:moveTo>
                  <a:lnTo>
                    <a:pt x="14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4" y="1991"/>
                  </a:lnTo>
                  <a:close/>
                  <a:moveTo>
                    <a:pt x="14" y="2020"/>
                  </a:moveTo>
                  <a:lnTo>
                    <a:pt x="14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4" y="2020"/>
                  </a:lnTo>
                  <a:close/>
                  <a:moveTo>
                    <a:pt x="14" y="2049"/>
                  </a:moveTo>
                  <a:lnTo>
                    <a:pt x="14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4" y="2049"/>
                  </a:lnTo>
                  <a:close/>
                  <a:moveTo>
                    <a:pt x="14" y="2078"/>
                  </a:moveTo>
                  <a:lnTo>
                    <a:pt x="14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4" y="2078"/>
                  </a:lnTo>
                  <a:close/>
                  <a:moveTo>
                    <a:pt x="14" y="2107"/>
                  </a:moveTo>
                  <a:lnTo>
                    <a:pt x="14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4" y="2107"/>
                  </a:lnTo>
                  <a:close/>
                  <a:moveTo>
                    <a:pt x="14" y="2136"/>
                  </a:moveTo>
                  <a:lnTo>
                    <a:pt x="14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4" y="2136"/>
                  </a:lnTo>
                  <a:close/>
                  <a:moveTo>
                    <a:pt x="14" y="2164"/>
                  </a:moveTo>
                  <a:lnTo>
                    <a:pt x="14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4" y="2164"/>
                  </a:lnTo>
                  <a:close/>
                  <a:moveTo>
                    <a:pt x="14" y="2194"/>
                  </a:moveTo>
                  <a:lnTo>
                    <a:pt x="14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4" y="2194"/>
                  </a:lnTo>
                  <a:close/>
                  <a:moveTo>
                    <a:pt x="14" y="2222"/>
                  </a:moveTo>
                  <a:lnTo>
                    <a:pt x="14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4" y="2222"/>
                  </a:lnTo>
                  <a:close/>
                  <a:moveTo>
                    <a:pt x="14" y="2251"/>
                  </a:moveTo>
                  <a:lnTo>
                    <a:pt x="14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4" y="2251"/>
                  </a:lnTo>
                  <a:close/>
                  <a:moveTo>
                    <a:pt x="14" y="2280"/>
                  </a:moveTo>
                  <a:lnTo>
                    <a:pt x="14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4" y="2280"/>
                  </a:lnTo>
                  <a:close/>
                  <a:moveTo>
                    <a:pt x="14" y="2309"/>
                  </a:moveTo>
                  <a:lnTo>
                    <a:pt x="14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4" y="2309"/>
                  </a:lnTo>
                  <a:close/>
                  <a:moveTo>
                    <a:pt x="14" y="2338"/>
                  </a:moveTo>
                  <a:lnTo>
                    <a:pt x="14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4" y="2338"/>
                  </a:lnTo>
                  <a:close/>
                  <a:moveTo>
                    <a:pt x="14" y="2367"/>
                  </a:moveTo>
                  <a:lnTo>
                    <a:pt x="14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4" y="2367"/>
                  </a:lnTo>
                  <a:close/>
                  <a:moveTo>
                    <a:pt x="14" y="2395"/>
                  </a:moveTo>
                  <a:lnTo>
                    <a:pt x="14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4" y="2395"/>
                  </a:lnTo>
                  <a:close/>
                  <a:moveTo>
                    <a:pt x="14" y="2424"/>
                  </a:moveTo>
                  <a:lnTo>
                    <a:pt x="14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4" y="2424"/>
                  </a:lnTo>
                  <a:close/>
                  <a:moveTo>
                    <a:pt x="14" y="2453"/>
                  </a:moveTo>
                  <a:lnTo>
                    <a:pt x="14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4" y="2453"/>
                  </a:lnTo>
                  <a:close/>
                  <a:moveTo>
                    <a:pt x="14" y="2482"/>
                  </a:moveTo>
                  <a:lnTo>
                    <a:pt x="14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4" y="2482"/>
                  </a:lnTo>
                  <a:close/>
                  <a:moveTo>
                    <a:pt x="14" y="2511"/>
                  </a:moveTo>
                  <a:lnTo>
                    <a:pt x="14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4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35BA58CE-FB94-45C4-9F40-AB103663D8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1" y="1517"/>
              <a:ext cx="11" cy="2525"/>
            </a:xfrm>
            <a:custGeom>
              <a:avLst/>
              <a:gdLst>
                <a:gd name="T0" fmla="*/ 15 w 15"/>
                <a:gd name="T1" fmla="*/ 43 h 2525"/>
                <a:gd name="T2" fmla="*/ 0 w 15"/>
                <a:gd name="T3" fmla="*/ 58 h 2525"/>
                <a:gd name="T4" fmla="*/ 15 w 15"/>
                <a:gd name="T5" fmla="*/ 116 h 2525"/>
                <a:gd name="T6" fmla="*/ 0 w 15"/>
                <a:gd name="T7" fmla="*/ 159 h 2525"/>
                <a:gd name="T8" fmla="*/ 15 w 15"/>
                <a:gd name="T9" fmla="*/ 173 h 2525"/>
                <a:gd name="T10" fmla="*/ 15 w 15"/>
                <a:gd name="T11" fmla="*/ 246 h 2525"/>
                <a:gd name="T12" fmla="*/ 0 w 15"/>
                <a:gd name="T13" fmla="*/ 260 h 2525"/>
                <a:gd name="T14" fmla="*/ 15 w 15"/>
                <a:gd name="T15" fmla="*/ 318 h 2525"/>
                <a:gd name="T16" fmla="*/ 0 w 15"/>
                <a:gd name="T17" fmla="*/ 361 h 2525"/>
                <a:gd name="T18" fmla="*/ 15 w 15"/>
                <a:gd name="T19" fmla="*/ 376 h 2525"/>
                <a:gd name="T20" fmla="*/ 15 w 15"/>
                <a:gd name="T21" fmla="*/ 448 h 2525"/>
                <a:gd name="T22" fmla="*/ 0 w 15"/>
                <a:gd name="T23" fmla="*/ 462 h 2525"/>
                <a:gd name="T24" fmla="*/ 15 w 15"/>
                <a:gd name="T25" fmla="*/ 520 h 2525"/>
                <a:gd name="T26" fmla="*/ 0 w 15"/>
                <a:gd name="T27" fmla="*/ 563 h 2525"/>
                <a:gd name="T28" fmla="*/ 15 w 15"/>
                <a:gd name="T29" fmla="*/ 577 h 2525"/>
                <a:gd name="T30" fmla="*/ 15 w 15"/>
                <a:gd name="T31" fmla="*/ 649 h 2525"/>
                <a:gd name="T32" fmla="*/ 0 w 15"/>
                <a:gd name="T33" fmla="*/ 664 h 2525"/>
                <a:gd name="T34" fmla="*/ 15 w 15"/>
                <a:gd name="T35" fmla="*/ 722 h 2525"/>
                <a:gd name="T36" fmla="*/ 0 w 15"/>
                <a:gd name="T37" fmla="*/ 765 h 2525"/>
                <a:gd name="T38" fmla="*/ 15 w 15"/>
                <a:gd name="T39" fmla="*/ 779 h 2525"/>
                <a:gd name="T40" fmla="*/ 15 w 15"/>
                <a:gd name="T41" fmla="*/ 852 h 2525"/>
                <a:gd name="T42" fmla="*/ 0 w 15"/>
                <a:gd name="T43" fmla="*/ 866 h 2525"/>
                <a:gd name="T44" fmla="*/ 15 w 15"/>
                <a:gd name="T45" fmla="*/ 924 h 2525"/>
                <a:gd name="T46" fmla="*/ 0 w 15"/>
                <a:gd name="T47" fmla="*/ 967 h 2525"/>
                <a:gd name="T48" fmla="*/ 15 w 15"/>
                <a:gd name="T49" fmla="*/ 982 h 2525"/>
                <a:gd name="T50" fmla="*/ 15 w 15"/>
                <a:gd name="T51" fmla="*/ 1054 h 2525"/>
                <a:gd name="T52" fmla="*/ 0 w 15"/>
                <a:gd name="T53" fmla="*/ 1068 h 2525"/>
                <a:gd name="T54" fmla="*/ 15 w 15"/>
                <a:gd name="T55" fmla="*/ 1126 h 2525"/>
                <a:gd name="T56" fmla="*/ 0 w 15"/>
                <a:gd name="T57" fmla="*/ 1169 h 2525"/>
                <a:gd name="T58" fmla="*/ 15 w 15"/>
                <a:gd name="T59" fmla="*/ 1183 h 2525"/>
                <a:gd name="T60" fmla="*/ 15 w 15"/>
                <a:gd name="T61" fmla="*/ 1255 h 2525"/>
                <a:gd name="T62" fmla="*/ 0 w 15"/>
                <a:gd name="T63" fmla="*/ 1270 h 2525"/>
                <a:gd name="T64" fmla="*/ 15 w 15"/>
                <a:gd name="T65" fmla="*/ 1328 h 2525"/>
                <a:gd name="T66" fmla="*/ 0 w 15"/>
                <a:gd name="T67" fmla="*/ 1371 h 2525"/>
                <a:gd name="T68" fmla="*/ 15 w 15"/>
                <a:gd name="T69" fmla="*/ 1385 h 2525"/>
                <a:gd name="T70" fmla="*/ 15 w 15"/>
                <a:gd name="T71" fmla="*/ 1458 h 2525"/>
                <a:gd name="T72" fmla="*/ 0 w 15"/>
                <a:gd name="T73" fmla="*/ 1472 h 2525"/>
                <a:gd name="T74" fmla="*/ 15 w 15"/>
                <a:gd name="T75" fmla="*/ 1530 h 2525"/>
                <a:gd name="T76" fmla="*/ 0 w 15"/>
                <a:gd name="T77" fmla="*/ 1573 h 2525"/>
                <a:gd name="T78" fmla="*/ 15 w 15"/>
                <a:gd name="T79" fmla="*/ 1588 h 2525"/>
                <a:gd name="T80" fmla="*/ 15 w 15"/>
                <a:gd name="T81" fmla="*/ 1660 h 2525"/>
                <a:gd name="T82" fmla="*/ 0 w 15"/>
                <a:gd name="T83" fmla="*/ 1674 h 2525"/>
                <a:gd name="T84" fmla="*/ 15 w 15"/>
                <a:gd name="T85" fmla="*/ 1732 h 2525"/>
                <a:gd name="T86" fmla="*/ 0 w 15"/>
                <a:gd name="T87" fmla="*/ 1775 h 2525"/>
                <a:gd name="T88" fmla="*/ 15 w 15"/>
                <a:gd name="T89" fmla="*/ 1789 h 2525"/>
                <a:gd name="T90" fmla="*/ 15 w 15"/>
                <a:gd name="T91" fmla="*/ 1861 h 2525"/>
                <a:gd name="T92" fmla="*/ 0 w 15"/>
                <a:gd name="T93" fmla="*/ 1876 h 2525"/>
                <a:gd name="T94" fmla="*/ 15 w 15"/>
                <a:gd name="T95" fmla="*/ 1934 h 2525"/>
                <a:gd name="T96" fmla="*/ 0 w 15"/>
                <a:gd name="T97" fmla="*/ 1977 h 2525"/>
                <a:gd name="T98" fmla="*/ 15 w 15"/>
                <a:gd name="T99" fmla="*/ 1991 h 2525"/>
                <a:gd name="T100" fmla="*/ 15 w 15"/>
                <a:gd name="T101" fmla="*/ 2064 h 2525"/>
                <a:gd name="T102" fmla="*/ 0 w 15"/>
                <a:gd name="T103" fmla="*/ 2078 h 2525"/>
                <a:gd name="T104" fmla="*/ 15 w 15"/>
                <a:gd name="T105" fmla="*/ 2136 h 2525"/>
                <a:gd name="T106" fmla="*/ 0 w 15"/>
                <a:gd name="T107" fmla="*/ 2179 h 2525"/>
                <a:gd name="T108" fmla="*/ 15 w 15"/>
                <a:gd name="T109" fmla="*/ 2194 h 2525"/>
                <a:gd name="T110" fmla="*/ 15 w 15"/>
                <a:gd name="T111" fmla="*/ 2266 h 2525"/>
                <a:gd name="T112" fmla="*/ 0 w 15"/>
                <a:gd name="T113" fmla="*/ 2280 h 2525"/>
                <a:gd name="T114" fmla="*/ 15 w 15"/>
                <a:gd name="T115" fmla="*/ 2338 h 2525"/>
                <a:gd name="T116" fmla="*/ 0 w 15"/>
                <a:gd name="T117" fmla="*/ 2381 h 2525"/>
                <a:gd name="T118" fmla="*/ 15 w 15"/>
                <a:gd name="T119" fmla="*/ 2395 h 2525"/>
                <a:gd name="T120" fmla="*/ 15 w 15"/>
                <a:gd name="T121" fmla="*/ 2468 h 2525"/>
                <a:gd name="T122" fmla="*/ 0 w 15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" h="2525">
                  <a:moveTo>
                    <a:pt x="15" y="0"/>
                  </a:moveTo>
                  <a:lnTo>
                    <a:pt x="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5" y="0"/>
                  </a:lnTo>
                  <a:close/>
                  <a:moveTo>
                    <a:pt x="15" y="29"/>
                  </a:moveTo>
                  <a:lnTo>
                    <a:pt x="15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5" y="29"/>
                  </a:lnTo>
                  <a:close/>
                  <a:moveTo>
                    <a:pt x="15" y="58"/>
                  </a:moveTo>
                  <a:lnTo>
                    <a:pt x="15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5" y="58"/>
                  </a:lnTo>
                  <a:close/>
                  <a:moveTo>
                    <a:pt x="15" y="87"/>
                  </a:moveTo>
                  <a:lnTo>
                    <a:pt x="15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5" y="87"/>
                  </a:lnTo>
                  <a:close/>
                  <a:moveTo>
                    <a:pt x="15" y="116"/>
                  </a:moveTo>
                  <a:lnTo>
                    <a:pt x="15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5" y="116"/>
                  </a:lnTo>
                  <a:close/>
                  <a:moveTo>
                    <a:pt x="15" y="145"/>
                  </a:moveTo>
                  <a:lnTo>
                    <a:pt x="15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5" y="145"/>
                  </a:lnTo>
                  <a:close/>
                  <a:moveTo>
                    <a:pt x="15" y="173"/>
                  </a:moveTo>
                  <a:lnTo>
                    <a:pt x="15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5" y="173"/>
                  </a:lnTo>
                  <a:close/>
                  <a:moveTo>
                    <a:pt x="15" y="202"/>
                  </a:moveTo>
                  <a:lnTo>
                    <a:pt x="15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5" y="202"/>
                  </a:lnTo>
                  <a:close/>
                  <a:moveTo>
                    <a:pt x="15" y="231"/>
                  </a:moveTo>
                  <a:lnTo>
                    <a:pt x="15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5" y="231"/>
                  </a:lnTo>
                  <a:close/>
                  <a:moveTo>
                    <a:pt x="15" y="260"/>
                  </a:moveTo>
                  <a:lnTo>
                    <a:pt x="15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5" y="260"/>
                  </a:lnTo>
                  <a:close/>
                  <a:moveTo>
                    <a:pt x="15" y="289"/>
                  </a:moveTo>
                  <a:lnTo>
                    <a:pt x="15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5" y="289"/>
                  </a:lnTo>
                  <a:close/>
                  <a:moveTo>
                    <a:pt x="15" y="318"/>
                  </a:moveTo>
                  <a:lnTo>
                    <a:pt x="15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5" y="318"/>
                  </a:lnTo>
                  <a:close/>
                  <a:moveTo>
                    <a:pt x="15" y="346"/>
                  </a:moveTo>
                  <a:lnTo>
                    <a:pt x="15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5" y="346"/>
                  </a:lnTo>
                  <a:close/>
                  <a:moveTo>
                    <a:pt x="15" y="376"/>
                  </a:moveTo>
                  <a:lnTo>
                    <a:pt x="15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5" y="376"/>
                  </a:lnTo>
                  <a:close/>
                  <a:moveTo>
                    <a:pt x="15" y="404"/>
                  </a:moveTo>
                  <a:lnTo>
                    <a:pt x="15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5" y="404"/>
                  </a:lnTo>
                  <a:close/>
                  <a:moveTo>
                    <a:pt x="15" y="433"/>
                  </a:moveTo>
                  <a:lnTo>
                    <a:pt x="15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5" y="433"/>
                  </a:lnTo>
                  <a:close/>
                  <a:moveTo>
                    <a:pt x="15" y="462"/>
                  </a:moveTo>
                  <a:lnTo>
                    <a:pt x="15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5" y="462"/>
                  </a:lnTo>
                  <a:close/>
                  <a:moveTo>
                    <a:pt x="15" y="491"/>
                  </a:moveTo>
                  <a:lnTo>
                    <a:pt x="15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5" y="491"/>
                  </a:lnTo>
                  <a:close/>
                  <a:moveTo>
                    <a:pt x="15" y="520"/>
                  </a:moveTo>
                  <a:lnTo>
                    <a:pt x="15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5" y="520"/>
                  </a:lnTo>
                  <a:close/>
                  <a:moveTo>
                    <a:pt x="15" y="549"/>
                  </a:moveTo>
                  <a:lnTo>
                    <a:pt x="15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5" y="549"/>
                  </a:lnTo>
                  <a:close/>
                  <a:moveTo>
                    <a:pt x="15" y="577"/>
                  </a:moveTo>
                  <a:lnTo>
                    <a:pt x="15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5" y="577"/>
                  </a:lnTo>
                  <a:close/>
                  <a:moveTo>
                    <a:pt x="15" y="606"/>
                  </a:moveTo>
                  <a:lnTo>
                    <a:pt x="15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5" y="606"/>
                  </a:lnTo>
                  <a:close/>
                  <a:moveTo>
                    <a:pt x="15" y="635"/>
                  </a:moveTo>
                  <a:lnTo>
                    <a:pt x="15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5" y="635"/>
                  </a:lnTo>
                  <a:close/>
                  <a:moveTo>
                    <a:pt x="15" y="664"/>
                  </a:moveTo>
                  <a:lnTo>
                    <a:pt x="15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5" y="664"/>
                  </a:lnTo>
                  <a:close/>
                  <a:moveTo>
                    <a:pt x="15" y="693"/>
                  </a:moveTo>
                  <a:lnTo>
                    <a:pt x="15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5" y="693"/>
                  </a:lnTo>
                  <a:close/>
                  <a:moveTo>
                    <a:pt x="15" y="722"/>
                  </a:moveTo>
                  <a:lnTo>
                    <a:pt x="15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5" y="722"/>
                  </a:lnTo>
                  <a:close/>
                  <a:moveTo>
                    <a:pt x="15" y="751"/>
                  </a:moveTo>
                  <a:lnTo>
                    <a:pt x="15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5" y="751"/>
                  </a:lnTo>
                  <a:close/>
                  <a:moveTo>
                    <a:pt x="15" y="779"/>
                  </a:moveTo>
                  <a:lnTo>
                    <a:pt x="15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5" y="779"/>
                  </a:lnTo>
                  <a:close/>
                  <a:moveTo>
                    <a:pt x="15" y="808"/>
                  </a:moveTo>
                  <a:lnTo>
                    <a:pt x="15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5" y="808"/>
                  </a:lnTo>
                  <a:close/>
                  <a:moveTo>
                    <a:pt x="15" y="837"/>
                  </a:moveTo>
                  <a:lnTo>
                    <a:pt x="15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5" y="837"/>
                  </a:lnTo>
                  <a:close/>
                  <a:moveTo>
                    <a:pt x="15" y="866"/>
                  </a:moveTo>
                  <a:lnTo>
                    <a:pt x="15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5" y="866"/>
                  </a:lnTo>
                  <a:close/>
                  <a:moveTo>
                    <a:pt x="15" y="895"/>
                  </a:moveTo>
                  <a:lnTo>
                    <a:pt x="15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5" y="895"/>
                  </a:lnTo>
                  <a:close/>
                  <a:moveTo>
                    <a:pt x="15" y="924"/>
                  </a:moveTo>
                  <a:lnTo>
                    <a:pt x="15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5" y="924"/>
                  </a:lnTo>
                  <a:close/>
                  <a:moveTo>
                    <a:pt x="15" y="952"/>
                  </a:moveTo>
                  <a:lnTo>
                    <a:pt x="15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5" y="952"/>
                  </a:lnTo>
                  <a:close/>
                  <a:moveTo>
                    <a:pt x="15" y="982"/>
                  </a:moveTo>
                  <a:lnTo>
                    <a:pt x="15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5" y="982"/>
                  </a:lnTo>
                  <a:close/>
                  <a:moveTo>
                    <a:pt x="15" y="1010"/>
                  </a:moveTo>
                  <a:lnTo>
                    <a:pt x="15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5" y="1010"/>
                  </a:lnTo>
                  <a:close/>
                  <a:moveTo>
                    <a:pt x="15" y="1039"/>
                  </a:moveTo>
                  <a:lnTo>
                    <a:pt x="15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5" y="1039"/>
                  </a:lnTo>
                  <a:close/>
                  <a:moveTo>
                    <a:pt x="15" y="1068"/>
                  </a:moveTo>
                  <a:lnTo>
                    <a:pt x="15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5" y="1068"/>
                  </a:lnTo>
                  <a:close/>
                  <a:moveTo>
                    <a:pt x="15" y="1097"/>
                  </a:moveTo>
                  <a:lnTo>
                    <a:pt x="15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5" y="1097"/>
                  </a:lnTo>
                  <a:close/>
                  <a:moveTo>
                    <a:pt x="15" y="1126"/>
                  </a:moveTo>
                  <a:lnTo>
                    <a:pt x="15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5" y="1126"/>
                  </a:lnTo>
                  <a:close/>
                  <a:moveTo>
                    <a:pt x="15" y="1155"/>
                  </a:moveTo>
                  <a:lnTo>
                    <a:pt x="15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5" y="1155"/>
                  </a:lnTo>
                  <a:close/>
                  <a:moveTo>
                    <a:pt x="15" y="1183"/>
                  </a:moveTo>
                  <a:lnTo>
                    <a:pt x="15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5" y="1183"/>
                  </a:lnTo>
                  <a:close/>
                  <a:moveTo>
                    <a:pt x="15" y="1212"/>
                  </a:moveTo>
                  <a:lnTo>
                    <a:pt x="15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5" y="1212"/>
                  </a:lnTo>
                  <a:close/>
                  <a:moveTo>
                    <a:pt x="15" y="1241"/>
                  </a:moveTo>
                  <a:lnTo>
                    <a:pt x="15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5" y="1241"/>
                  </a:lnTo>
                  <a:close/>
                  <a:moveTo>
                    <a:pt x="15" y="1270"/>
                  </a:moveTo>
                  <a:lnTo>
                    <a:pt x="15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5" y="1270"/>
                  </a:lnTo>
                  <a:close/>
                  <a:moveTo>
                    <a:pt x="15" y="1299"/>
                  </a:moveTo>
                  <a:lnTo>
                    <a:pt x="15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5" y="1299"/>
                  </a:lnTo>
                  <a:close/>
                  <a:moveTo>
                    <a:pt x="15" y="1328"/>
                  </a:moveTo>
                  <a:lnTo>
                    <a:pt x="15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5" y="1328"/>
                  </a:lnTo>
                  <a:close/>
                  <a:moveTo>
                    <a:pt x="15" y="1357"/>
                  </a:moveTo>
                  <a:lnTo>
                    <a:pt x="15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5" y="1357"/>
                  </a:lnTo>
                  <a:close/>
                  <a:moveTo>
                    <a:pt x="15" y="1385"/>
                  </a:moveTo>
                  <a:lnTo>
                    <a:pt x="15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5" y="1385"/>
                  </a:lnTo>
                  <a:close/>
                  <a:moveTo>
                    <a:pt x="15" y="1414"/>
                  </a:moveTo>
                  <a:lnTo>
                    <a:pt x="15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5" y="1414"/>
                  </a:lnTo>
                  <a:close/>
                  <a:moveTo>
                    <a:pt x="15" y="1443"/>
                  </a:moveTo>
                  <a:lnTo>
                    <a:pt x="15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5" y="1443"/>
                  </a:lnTo>
                  <a:close/>
                  <a:moveTo>
                    <a:pt x="15" y="1472"/>
                  </a:moveTo>
                  <a:lnTo>
                    <a:pt x="15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5" y="1472"/>
                  </a:lnTo>
                  <a:close/>
                  <a:moveTo>
                    <a:pt x="15" y="1501"/>
                  </a:moveTo>
                  <a:lnTo>
                    <a:pt x="15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5" y="1501"/>
                  </a:lnTo>
                  <a:close/>
                  <a:moveTo>
                    <a:pt x="15" y="1530"/>
                  </a:moveTo>
                  <a:lnTo>
                    <a:pt x="15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5" y="1530"/>
                  </a:lnTo>
                  <a:close/>
                  <a:moveTo>
                    <a:pt x="15" y="1558"/>
                  </a:moveTo>
                  <a:lnTo>
                    <a:pt x="15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5" y="1558"/>
                  </a:lnTo>
                  <a:close/>
                  <a:moveTo>
                    <a:pt x="15" y="1588"/>
                  </a:moveTo>
                  <a:lnTo>
                    <a:pt x="15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5" y="1588"/>
                  </a:lnTo>
                  <a:close/>
                  <a:moveTo>
                    <a:pt x="15" y="1616"/>
                  </a:moveTo>
                  <a:lnTo>
                    <a:pt x="15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5" y="1616"/>
                  </a:lnTo>
                  <a:close/>
                  <a:moveTo>
                    <a:pt x="15" y="1645"/>
                  </a:moveTo>
                  <a:lnTo>
                    <a:pt x="15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5" y="1645"/>
                  </a:lnTo>
                  <a:close/>
                  <a:moveTo>
                    <a:pt x="15" y="1674"/>
                  </a:moveTo>
                  <a:lnTo>
                    <a:pt x="15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5" y="1674"/>
                  </a:lnTo>
                  <a:close/>
                  <a:moveTo>
                    <a:pt x="15" y="1703"/>
                  </a:moveTo>
                  <a:lnTo>
                    <a:pt x="15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5" y="1703"/>
                  </a:lnTo>
                  <a:close/>
                  <a:moveTo>
                    <a:pt x="15" y="1732"/>
                  </a:moveTo>
                  <a:lnTo>
                    <a:pt x="15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5" y="1732"/>
                  </a:lnTo>
                  <a:close/>
                  <a:moveTo>
                    <a:pt x="15" y="1761"/>
                  </a:moveTo>
                  <a:lnTo>
                    <a:pt x="15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5" y="1761"/>
                  </a:lnTo>
                  <a:close/>
                  <a:moveTo>
                    <a:pt x="15" y="1789"/>
                  </a:moveTo>
                  <a:lnTo>
                    <a:pt x="15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5" y="1789"/>
                  </a:lnTo>
                  <a:close/>
                  <a:moveTo>
                    <a:pt x="15" y="1818"/>
                  </a:moveTo>
                  <a:lnTo>
                    <a:pt x="15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5" y="1818"/>
                  </a:lnTo>
                  <a:close/>
                  <a:moveTo>
                    <a:pt x="15" y="1847"/>
                  </a:moveTo>
                  <a:lnTo>
                    <a:pt x="15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5" y="1847"/>
                  </a:lnTo>
                  <a:close/>
                  <a:moveTo>
                    <a:pt x="15" y="1876"/>
                  </a:moveTo>
                  <a:lnTo>
                    <a:pt x="15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5" y="1876"/>
                  </a:lnTo>
                  <a:close/>
                  <a:moveTo>
                    <a:pt x="15" y="1905"/>
                  </a:moveTo>
                  <a:lnTo>
                    <a:pt x="15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5" y="1905"/>
                  </a:lnTo>
                  <a:close/>
                  <a:moveTo>
                    <a:pt x="15" y="1934"/>
                  </a:moveTo>
                  <a:lnTo>
                    <a:pt x="15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5" y="1934"/>
                  </a:lnTo>
                  <a:close/>
                  <a:moveTo>
                    <a:pt x="15" y="1963"/>
                  </a:moveTo>
                  <a:lnTo>
                    <a:pt x="15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5" y="1963"/>
                  </a:lnTo>
                  <a:close/>
                  <a:moveTo>
                    <a:pt x="15" y="1991"/>
                  </a:moveTo>
                  <a:lnTo>
                    <a:pt x="15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5" y="1991"/>
                  </a:lnTo>
                  <a:close/>
                  <a:moveTo>
                    <a:pt x="15" y="2020"/>
                  </a:moveTo>
                  <a:lnTo>
                    <a:pt x="15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5" y="2020"/>
                  </a:lnTo>
                  <a:close/>
                  <a:moveTo>
                    <a:pt x="15" y="2049"/>
                  </a:moveTo>
                  <a:lnTo>
                    <a:pt x="15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5" y="2049"/>
                  </a:lnTo>
                  <a:close/>
                  <a:moveTo>
                    <a:pt x="15" y="2078"/>
                  </a:moveTo>
                  <a:lnTo>
                    <a:pt x="15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5" y="2078"/>
                  </a:lnTo>
                  <a:close/>
                  <a:moveTo>
                    <a:pt x="15" y="2107"/>
                  </a:moveTo>
                  <a:lnTo>
                    <a:pt x="15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5" y="2107"/>
                  </a:lnTo>
                  <a:close/>
                  <a:moveTo>
                    <a:pt x="15" y="2136"/>
                  </a:moveTo>
                  <a:lnTo>
                    <a:pt x="15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5" y="2136"/>
                  </a:lnTo>
                  <a:close/>
                  <a:moveTo>
                    <a:pt x="15" y="2164"/>
                  </a:moveTo>
                  <a:lnTo>
                    <a:pt x="15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5" y="2164"/>
                  </a:lnTo>
                  <a:close/>
                  <a:moveTo>
                    <a:pt x="15" y="2194"/>
                  </a:moveTo>
                  <a:lnTo>
                    <a:pt x="15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5" y="2194"/>
                  </a:lnTo>
                  <a:close/>
                  <a:moveTo>
                    <a:pt x="15" y="2222"/>
                  </a:moveTo>
                  <a:lnTo>
                    <a:pt x="15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5" y="2222"/>
                  </a:lnTo>
                  <a:close/>
                  <a:moveTo>
                    <a:pt x="15" y="2251"/>
                  </a:moveTo>
                  <a:lnTo>
                    <a:pt x="15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5" y="2251"/>
                  </a:lnTo>
                  <a:close/>
                  <a:moveTo>
                    <a:pt x="15" y="2280"/>
                  </a:moveTo>
                  <a:lnTo>
                    <a:pt x="15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5" y="2280"/>
                  </a:lnTo>
                  <a:close/>
                  <a:moveTo>
                    <a:pt x="15" y="2309"/>
                  </a:moveTo>
                  <a:lnTo>
                    <a:pt x="15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5" y="2309"/>
                  </a:lnTo>
                  <a:close/>
                  <a:moveTo>
                    <a:pt x="15" y="2338"/>
                  </a:moveTo>
                  <a:lnTo>
                    <a:pt x="15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5" y="2338"/>
                  </a:lnTo>
                  <a:close/>
                  <a:moveTo>
                    <a:pt x="15" y="2367"/>
                  </a:moveTo>
                  <a:lnTo>
                    <a:pt x="15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5" y="2367"/>
                  </a:lnTo>
                  <a:close/>
                  <a:moveTo>
                    <a:pt x="15" y="2395"/>
                  </a:moveTo>
                  <a:lnTo>
                    <a:pt x="15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5" y="2395"/>
                  </a:lnTo>
                  <a:close/>
                  <a:moveTo>
                    <a:pt x="15" y="2424"/>
                  </a:moveTo>
                  <a:lnTo>
                    <a:pt x="15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5" y="2424"/>
                  </a:lnTo>
                  <a:close/>
                  <a:moveTo>
                    <a:pt x="15" y="2453"/>
                  </a:moveTo>
                  <a:lnTo>
                    <a:pt x="15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5" y="2453"/>
                  </a:lnTo>
                  <a:close/>
                  <a:moveTo>
                    <a:pt x="15" y="2482"/>
                  </a:moveTo>
                  <a:lnTo>
                    <a:pt x="15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5" y="2482"/>
                  </a:lnTo>
                  <a:close/>
                  <a:moveTo>
                    <a:pt x="15" y="2511"/>
                  </a:moveTo>
                  <a:lnTo>
                    <a:pt x="15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5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2EC981B9-8881-4BA5-8989-43D4C0EF7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1" y="1517"/>
              <a:ext cx="11" cy="2525"/>
            </a:xfrm>
            <a:custGeom>
              <a:avLst/>
              <a:gdLst>
                <a:gd name="T0" fmla="*/ 14 w 14"/>
                <a:gd name="T1" fmla="*/ 43 h 2525"/>
                <a:gd name="T2" fmla="*/ 0 w 14"/>
                <a:gd name="T3" fmla="*/ 58 h 2525"/>
                <a:gd name="T4" fmla="*/ 14 w 14"/>
                <a:gd name="T5" fmla="*/ 116 h 2525"/>
                <a:gd name="T6" fmla="*/ 0 w 14"/>
                <a:gd name="T7" fmla="*/ 159 h 2525"/>
                <a:gd name="T8" fmla="*/ 14 w 14"/>
                <a:gd name="T9" fmla="*/ 173 h 2525"/>
                <a:gd name="T10" fmla="*/ 14 w 14"/>
                <a:gd name="T11" fmla="*/ 246 h 2525"/>
                <a:gd name="T12" fmla="*/ 0 w 14"/>
                <a:gd name="T13" fmla="*/ 260 h 2525"/>
                <a:gd name="T14" fmla="*/ 14 w 14"/>
                <a:gd name="T15" fmla="*/ 318 h 2525"/>
                <a:gd name="T16" fmla="*/ 0 w 14"/>
                <a:gd name="T17" fmla="*/ 361 h 2525"/>
                <a:gd name="T18" fmla="*/ 14 w 14"/>
                <a:gd name="T19" fmla="*/ 376 h 2525"/>
                <a:gd name="T20" fmla="*/ 14 w 14"/>
                <a:gd name="T21" fmla="*/ 448 h 2525"/>
                <a:gd name="T22" fmla="*/ 0 w 14"/>
                <a:gd name="T23" fmla="*/ 462 h 2525"/>
                <a:gd name="T24" fmla="*/ 14 w 14"/>
                <a:gd name="T25" fmla="*/ 520 h 2525"/>
                <a:gd name="T26" fmla="*/ 0 w 14"/>
                <a:gd name="T27" fmla="*/ 563 h 2525"/>
                <a:gd name="T28" fmla="*/ 14 w 14"/>
                <a:gd name="T29" fmla="*/ 577 h 2525"/>
                <a:gd name="T30" fmla="*/ 14 w 14"/>
                <a:gd name="T31" fmla="*/ 649 h 2525"/>
                <a:gd name="T32" fmla="*/ 0 w 14"/>
                <a:gd name="T33" fmla="*/ 664 h 2525"/>
                <a:gd name="T34" fmla="*/ 14 w 14"/>
                <a:gd name="T35" fmla="*/ 722 h 2525"/>
                <a:gd name="T36" fmla="*/ 0 w 14"/>
                <a:gd name="T37" fmla="*/ 765 h 2525"/>
                <a:gd name="T38" fmla="*/ 14 w 14"/>
                <a:gd name="T39" fmla="*/ 779 h 2525"/>
                <a:gd name="T40" fmla="*/ 14 w 14"/>
                <a:gd name="T41" fmla="*/ 852 h 2525"/>
                <a:gd name="T42" fmla="*/ 0 w 14"/>
                <a:gd name="T43" fmla="*/ 866 h 2525"/>
                <a:gd name="T44" fmla="*/ 14 w 14"/>
                <a:gd name="T45" fmla="*/ 924 h 2525"/>
                <a:gd name="T46" fmla="*/ 0 w 14"/>
                <a:gd name="T47" fmla="*/ 967 h 2525"/>
                <a:gd name="T48" fmla="*/ 14 w 14"/>
                <a:gd name="T49" fmla="*/ 982 h 2525"/>
                <a:gd name="T50" fmla="*/ 14 w 14"/>
                <a:gd name="T51" fmla="*/ 1054 h 2525"/>
                <a:gd name="T52" fmla="*/ 0 w 14"/>
                <a:gd name="T53" fmla="*/ 1068 h 2525"/>
                <a:gd name="T54" fmla="*/ 14 w 14"/>
                <a:gd name="T55" fmla="*/ 1126 h 2525"/>
                <a:gd name="T56" fmla="*/ 0 w 14"/>
                <a:gd name="T57" fmla="*/ 1169 h 2525"/>
                <a:gd name="T58" fmla="*/ 14 w 14"/>
                <a:gd name="T59" fmla="*/ 1183 h 2525"/>
                <a:gd name="T60" fmla="*/ 14 w 14"/>
                <a:gd name="T61" fmla="*/ 1255 h 2525"/>
                <a:gd name="T62" fmla="*/ 0 w 14"/>
                <a:gd name="T63" fmla="*/ 1270 h 2525"/>
                <a:gd name="T64" fmla="*/ 14 w 14"/>
                <a:gd name="T65" fmla="*/ 1328 h 2525"/>
                <a:gd name="T66" fmla="*/ 0 w 14"/>
                <a:gd name="T67" fmla="*/ 1371 h 2525"/>
                <a:gd name="T68" fmla="*/ 14 w 14"/>
                <a:gd name="T69" fmla="*/ 1385 h 2525"/>
                <a:gd name="T70" fmla="*/ 14 w 14"/>
                <a:gd name="T71" fmla="*/ 1458 h 2525"/>
                <a:gd name="T72" fmla="*/ 0 w 14"/>
                <a:gd name="T73" fmla="*/ 1472 h 2525"/>
                <a:gd name="T74" fmla="*/ 14 w 14"/>
                <a:gd name="T75" fmla="*/ 1530 h 2525"/>
                <a:gd name="T76" fmla="*/ 0 w 14"/>
                <a:gd name="T77" fmla="*/ 1573 h 2525"/>
                <a:gd name="T78" fmla="*/ 14 w 14"/>
                <a:gd name="T79" fmla="*/ 1588 h 2525"/>
                <a:gd name="T80" fmla="*/ 14 w 14"/>
                <a:gd name="T81" fmla="*/ 1660 h 2525"/>
                <a:gd name="T82" fmla="*/ 0 w 14"/>
                <a:gd name="T83" fmla="*/ 1674 h 2525"/>
                <a:gd name="T84" fmla="*/ 14 w 14"/>
                <a:gd name="T85" fmla="*/ 1732 h 2525"/>
                <a:gd name="T86" fmla="*/ 0 w 14"/>
                <a:gd name="T87" fmla="*/ 1775 h 2525"/>
                <a:gd name="T88" fmla="*/ 14 w 14"/>
                <a:gd name="T89" fmla="*/ 1789 h 2525"/>
                <a:gd name="T90" fmla="*/ 14 w 14"/>
                <a:gd name="T91" fmla="*/ 1861 h 2525"/>
                <a:gd name="T92" fmla="*/ 0 w 14"/>
                <a:gd name="T93" fmla="*/ 1876 h 2525"/>
                <a:gd name="T94" fmla="*/ 14 w 14"/>
                <a:gd name="T95" fmla="*/ 1934 h 2525"/>
                <a:gd name="T96" fmla="*/ 0 w 14"/>
                <a:gd name="T97" fmla="*/ 1977 h 2525"/>
                <a:gd name="T98" fmla="*/ 14 w 14"/>
                <a:gd name="T99" fmla="*/ 1991 h 2525"/>
                <a:gd name="T100" fmla="*/ 14 w 14"/>
                <a:gd name="T101" fmla="*/ 2064 h 2525"/>
                <a:gd name="T102" fmla="*/ 0 w 14"/>
                <a:gd name="T103" fmla="*/ 2078 h 2525"/>
                <a:gd name="T104" fmla="*/ 14 w 14"/>
                <a:gd name="T105" fmla="*/ 2136 h 2525"/>
                <a:gd name="T106" fmla="*/ 0 w 14"/>
                <a:gd name="T107" fmla="*/ 2179 h 2525"/>
                <a:gd name="T108" fmla="*/ 14 w 14"/>
                <a:gd name="T109" fmla="*/ 2194 h 2525"/>
                <a:gd name="T110" fmla="*/ 14 w 14"/>
                <a:gd name="T111" fmla="*/ 2266 h 2525"/>
                <a:gd name="T112" fmla="*/ 0 w 14"/>
                <a:gd name="T113" fmla="*/ 2280 h 2525"/>
                <a:gd name="T114" fmla="*/ 14 w 14"/>
                <a:gd name="T115" fmla="*/ 2338 h 2525"/>
                <a:gd name="T116" fmla="*/ 0 w 14"/>
                <a:gd name="T117" fmla="*/ 2381 h 2525"/>
                <a:gd name="T118" fmla="*/ 14 w 14"/>
                <a:gd name="T119" fmla="*/ 2395 h 2525"/>
                <a:gd name="T120" fmla="*/ 14 w 14"/>
                <a:gd name="T121" fmla="*/ 2468 h 2525"/>
                <a:gd name="T122" fmla="*/ 0 w 14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" h="2525">
                  <a:moveTo>
                    <a:pt x="14" y="0"/>
                  </a:moveTo>
                  <a:lnTo>
                    <a:pt x="14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4" y="0"/>
                  </a:lnTo>
                  <a:close/>
                  <a:moveTo>
                    <a:pt x="14" y="29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4" y="29"/>
                  </a:lnTo>
                  <a:close/>
                  <a:moveTo>
                    <a:pt x="14" y="58"/>
                  </a:moveTo>
                  <a:lnTo>
                    <a:pt x="14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4" y="58"/>
                  </a:lnTo>
                  <a:close/>
                  <a:moveTo>
                    <a:pt x="14" y="87"/>
                  </a:moveTo>
                  <a:lnTo>
                    <a:pt x="14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4" y="87"/>
                  </a:lnTo>
                  <a:close/>
                  <a:moveTo>
                    <a:pt x="14" y="116"/>
                  </a:moveTo>
                  <a:lnTo>
                    <a:pt x="14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4" y="116"/>
                  </a:lnTo>
                  <a:close/>
                  <a:moveTo>
                    <a:pt x="14" y="145"/>
                  </a:moveTo>
                  <a:lnTo>
                    <a:pt x="14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4" y="145"/>
                  </a:lnTo>
                  <a:close/>
                  <a:moveTo>
                    <a:pt x="14" y="173"/>
                  </a:moveTo>
                  <a:lnTo>
                    <a:pt x="14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4" y="173"/>
                  </a:lnTo>
                  <a:close/>
                  <a:moveTo>
                    <a:pt x="14" y="202"/>
                  </a:moveTo>
                  <a:lnTo>
                    <a:pt x="14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4" y="202"/>
                  </a:lnTo>
                  <a:close/>
                  <a:moveTo>
                    <a:pt x="14" y="231"/>
                  </a:moveTo>
                  <a:lnTo>
                    <a:pt x="14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4" y="231"/>
                  </a:lnTo>
                  <a:close/>
                  <a:moveTo>
                    <a:pt x="14" y="260"/>
                  </a:moveTo>
                  <a:lnTo>
                    <a:pt x="14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4" y="260"/>
                  </a:lnTo>
                  <a:close/>
                  <a:moveTo>
                    <a:pt x="14" y="289"/>
                  </a:moveTo>
                  <a:lnTo>
                    <a:pt x="14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4" y="289"/>
                  </a:lnTo>
                  <a:close/>
                  <a:moveTo>
                    <a:pt x="14" y="318"/>
                  </a:moveTo>
                  <a:lnTo>
                    <a:pt x="14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4" y="318"/>
                  </a:lnTo>
                  <a:close/>
                  <a:moveTo>
                    <a:pt x="14" y="346"/>
                  </a:moveTo>
                  <a:lnTo>
                    <a:pt x="14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4" y="346"/>
                  </a:lnTo>
                  <a:close/>
                  <a:moveTo>
                    <a:pt x="14" y="376"/>
                  </a:moveTo>
                  <a:lnTo>
                    <a:pt x="14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4" y="376"/>
                  </a:lnTo>
                  <a:close/>
                  <a:moveTo>
                    <a:pt x="14" y="404"/>
                  </a:moveTo>
                  <a:lnTo>
                    <a:pt x="14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4" y="404"/>
                  </a:lnTo>
                  <a:close/>
                  <a:moveTo>
                    <a:pt x="14" y="433"/>
                  </a:moveTo>
                  <a:lnTo>
                    <a:pt x="14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4" y="433"/>
                  </a:lnTo>
                  <a:close/>
                  <a:moveTo>
                    <a:pt x="14" y="462"/>
                  </a:moveTo>
                  <a:lnTo>
                    <a:pt x="14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4" y="462"/>
                  </a:lnTo>
                  <a:close/>
                  <a:moveTo>
                    <a:pt x="14" y="491"/>
                  </a:moveTo>
                  <a:lnTo>
                    <a:pt x="14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4" y="491"/>
                  </a:lnTo>
                  <a:close/>
                  <a:moveTo>
                    <a:pt x="14" y="520"/>
                  </a:moveTo>
                  <a:lnTo>
                    <a:pt x="14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4" y="520"/>
                  </a:lnTo>
                  <a:close/>
                  <a:moveTo>
                    <a:pt x="14" y="549"/>
                  </a:moveTo>
                  <a:lnTo>
                    <a:pt x="14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4" y="549"/>
                  </a:lnTo>
                  <a:close/>
                  <a:moveTo>
                    <a:pt x="14" y="577"/>
                  </a:moveTo>
                  <a:lnTo>
                    <a:pt x="14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4" y="577"/>
                  </a:lnTo>
                  <a:close/>
                  <a:moveTo>
                    <a:pt x="14" y="606"/>
                  </a:moveTo>
                  <a:lnTo>
                    <a:pt x="14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4" y="606"/>
                  </a:lnTo>
                  <a:close/>
                  <a:moveTo>
                    <a:pt x="14" y="635"/>
                  </a:moveTo>
                  <a:lnTo>
                    <a:pt x="14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4" y="635"/>
                  </a:lnTo>
                  <a:close/>
                  <a:moveTo>
                    <a:pt x="14" y="664"/>
                  </a:moveTo>
                  <a:lnTo>
                    <a:pt x="14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4" y="664"/>
                  </a:lnTo>
                  <a:close/>
                  <a:moveTo>
                    <a:pt x="14" y="693"/>
                  </a:moveTo>
                  <a:lnTo>
                    <a:pt x="14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4" y="693"/>
                  </a:lnTo>
                  <a:close/>
                  <a:moveTo>
                    <a:pt x="14" y="722"/>
                  </a:moveTo>
                  <a:lnTo>
                    <a:pt x="14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4" y="722"/>
                  </a:lnTo>
                  <a:close/>
                  <a:moveTo>
                    <a:pt x="14" y="751"/>
                  </a:moveTo>
                  <a:lnTo>
                    <a:pt x="14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4" y="751"/>
                  </a:lnTo>
                  <a:close/>
                  <a:moveTo>
                    <a:pt x="14" y="779"/>
                  </a:moveTo>
                  <a:lnTo>
                    <a:pt x="14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4" y="779"/>
                  </a:lnTo>
                  <a:close/>
                  <a:moveTo>
                    <a:pt x="14" y="808"/>
                  </a:moveTo>
                  <a:lnTo>
                    <a:pt x="14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4" y="808"/>
                  </a:lnTo>
                  <a:close/>
                  <a:moveTo>
                    <a:pt x="14" y="837"/>
                  </a:moveTo>
                  <a:lnTo>
                    <a:pt x="14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4" y="837"/>
                  </a:lnTo>
                  <a:close/>
                  <a:moveTo>
                    <a:pt x="14" y="866"/>
                  </a:moveTo>
                  <a:lnTo>
                    <a:pt x="14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4" y="866"/>
                  </a:lnTo>
                  <a:close/>
                  <a:moveTo>
                    <a:pt x="14" y="895"/>
                  </a:moveTo>
                  <a:lnTo>
                    <a:pt x="14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4" y="895"/>
                  </a:lnTo>
                  <a:close/>
                  <a:moveTo>
                    <a:pt x="14" y="924"/>
                  </a:moveTo>
                  <a:lnTo>
                    <a:pt x="14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4" y="924"/>
                  </a:lnTo>
                  <a:close/>
                  <a:moveTo>
                    <a:pt x="14" y="952"/>
                  </a:moveTo>
                  <a:lnTo>
                    <a:pt x="14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4" y="952"/>
                  </a:lnTo>
                  <a:close/>
                  <a:moveTo>
                    <a:pt x="14" y="982"/>
                  </a:moveTo>
                  <a:lnTo>
                    <a:pt x="14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4" y="982"/>
                  </a:lnTo>
                  <a:close/>
                  <a:moveTo>
                    <a:pt x="14" y="1010"/>
                  </a:moveTo>
                  <a:lnTo>
                    <a:pt x="14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4" y="1010"/>
                  </a:lnTo>
                  <a:close/>
                  <a:moveTo>
                    <a:pt x="14" y="1039"/>
                  </a:moveTo>
                  <a:lnTo>
                    <a:pt x="14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4" y="1039"/>
                  </a:lnTo>
                  <a:close/>
                  <a:moveTo>
                    <a:pt x="14" y="1068"/>
                  </a:moveTo>
                  <a:lnTo>
                    <a:pt x="14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4" y="1068"/>
                  </a:lnTo>
                  <a:close/>
                  <a:moveTo>
                    <a:pt x="14" y="1097"/>
                  </a:moveTo>
                  <a:lnTo>
                    <a:pt x="14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4" y="1097"/>
                  </a:lnTo>
                  <a:close/>
                  <a:moveTo>
                    <a:pt x="14" y="1126"/>
                  </a:moveTo>
                  <a:lnTo>
                    <a:pt x="14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4" y="1126"/>
                  </a:lnTo>
                  <a:close/>
                  <a:moveTo>
                    <a:pt x="14" y="1155"/>
                  </a:moveTo>
                  <a:lnTo>
                    <a:pt x="14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4" y="1155"/>
                  </a:lnTo>
                  <a:close/>
                  <a:moveTo>
                    <a:pt x="14" y="1183"/>
                  </a:moveTo>
                  <a:lnTo>
                    <a:pt x="14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4" y="1183"/>
                  </a:lnTo>
                  <a:close/>
                  <a:moveTo>
                    <a:pt x="14" y="1212"/>
                  </a:moveTo>
                  <a:lnTo>
                    <a:pt x="14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4" y="1212"/>
                  </a:lnTo>
                  <a:close/>
                  <a:moveTo>
                    <a:pt x="14" y="1241"/>
                  </a:moveTo>
                  <a:lnTo>
                    <a:pt x="14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4" y="1241"/>
                  </a:lnTo>
                  <a:close/>
                  <a:moveTo>
                    <a:pt x="14" y="1270"/>
                  </a:moveTo>
                  <a:lnTo>
                    <a:pt x="14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4" y="1270"/>
                  </a:lnTo>
                  <a:close/>
                  <a:moveTo>
                    <a:pt x="14" y="1299"/>
                  </a:moveTo>
                  <a:lnTo>
                    <a:pt x="14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4" y="1299"/>
                  </a:lnTo>
                  <a:close/>
                  <a:moveTo>
                    <a:pt x="14" y="1328"/>
                  </a:moveTo>
                  <a:lnTo>
                    <a:pt x="14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4" y="1328"/>
                  </a:lnTo>
                  <a:close/>
                  <a:moveTo>
                    <a:pt x="14" y="1357"/>
                  </a:moveTo>
                  <a:lnTo>
                    <a:pt x="14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4" y="1357"/>
                  </a:lnTo>
                  <a:close/>
                  <a:moveTo>
                    <a:pt x="14" y="1385"/>
                  </a:moveTo>
                  <a:lnTo>
                    <a:pt x="14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4" y="1385"/>
                  </a:lnTo>
                  <a:close/>
                  <a:moveTo>
                    <a:pt x="14" y="1414"/>
                  </a:moveTo>
                  <a:lnTo>
                    <a:pt x="14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4" y="1414"/>
                  </a:lnTo>
                  <a:close/>
                  <a:moveTo>
                    <a:pt x="14" y="1443"/>
                  </a:moveTo>
                  <a:lnTo>
                    <a:pt x="14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4" y="1443"/>
                  </a:lnTo>
                  <a:close/>
                  <a:moveTo>
                    <a:pt x="14" y="1472"/>
                  </a:moveTo>
                  <a:lnTo>
                    <a:pt x="14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4" y="1472"/>
                  </a:lnTo>
                  <a:close/>
                  <a:moveTo>
                    <a:pt x="14" y="1501"/>
                  </a:moveTo>
                  <a:lnTo>
                    <a:pt x="14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4" y="1501"/>
                  </a:lnTo>
                  <a:close/>
                  <a:moveTo>
                    <a:pt x="14" y="1530"/>
                  </a:moveTo>
                  <a:lnTo>
                    <a:pt x="14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4" y="1530"/>
                  </a:lnTo>
                  <a:close/>
                  <a:moveTo>
                    <a:pt x="14" y="1558"/>
                  </a:moveTo>
                  <a:lnTo>
                    <a:pt x="14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4" y="1558"/>
                  </a:lnTo>
                  <a:close/>
                  <a:moveTo>
                    <a:pt x="14" y="1588"/>
                  </a:moveTo>
                  <a:lnTo>
                    <a:pt x="14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4" y="1588"/>
                  </a:lnTo>
                  <a:close/>
                  <a:moveTo>
                    <a:pt x="14" y="1616"/>
                  </a:moveTo>
                  <a:lnTo>
                    <a:pt x="14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4" y="1616"/>
                  </a:lnTo>
                  <a:close/>
                  <a:moveTo>
                    <a:pt x="14" y="1645"/>
                  </a:moveTo>
                  <a:lnTo>
                    <a:pt x="14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4" y="1645"/>
                  </a:lnTo>
                  <a:close/>
                  <a:moveTo>
                    <a:pt x="14" y="1674"/>
                  </a:moveTo>
                  <a:lnTo>
                    <a:pt x="14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4" y="1674"/>
                  </a:lnTo>
                  <a:close/>
                  <a:moveTo>
                    <a:pt x="14" y="1703"/>
                  </a:moveTo>
                  <a:lnTo>
                    <a:pt x="14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4" y="1703"/>
                  </a:lnTo>
                  <a:close/>
                  <a:moveTo>
                    <a:pt x="14" y="1732"/>
                  </a:moveTo>
                  <a:lnTo>
                    <a:pt x="14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4" y="1732"/>
                  </a:lnTo>
                  <a:close/>
                  <a:moveTo>
                    <a:pt x="14" y="1761"/>
                  </a:moveTo>
                  <a:lnTo>
                    <a:pt x="14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4" y="1761"/>
                  </a:lnTo>
                  <a:close/>
                  <a:moveTo>
                    <a:pt x="14" y="1789"/>
                  </a:moveTo>
                  <a:lnTo>
                    <a:pt x="14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4" y="1789"/>
                  </a:lnTo>
                  <a:close/>
                  <a:moveTo>
                    <a:pt x="14" y="1818"/>
                  </a:moveTo>
                  <a:lnTo>
                    <a:pt x="14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4" y="1818"/>
                  </a:lnTo>
                  <a:close/>
                  <a:moveTo>
                    <a:pt x="14" y="1847"/>
                  </a:moveTo>
                  <a:lnTo>
                    <a:pt x="14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4" y="1847"/>
                  </a:lnTo>
                  <a:close/>
                  <a:moveTo>
                    <a:pt x="14" y="1876"/>
                  </a:moveTo>
                  <a:lnTo>
                    <a:pt x="14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4" y="1876"/>
                  </a:lnTo>
                  <a:close/>
                  <a:moveTo>
                    <a:pt x="14" y="1905"/>
                  </a:moveTo>
                  <a:lnTo>
                    <a:pt x="14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4" y="1905"/>
                  </a:lnTo>
                  <a:close/>
                  <a:moveTo>
                    <a:pt x="14" y="1934"/>
                  </a:moveTo>
                  <a:lnTo>
                    <a:pt x="14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4" y="1934"/>
                  </a:lnTo>
                  <a:close/>
                  <a:moveTo>
                    <a:pt x="14" y="1963"/>
                  </a:moveTo>
                  <a:lnTo>
                    <a:pt x="14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4" y="1963"/>
                  </a:lnTo>
                  <a:close/>
                  <a:moveTo>
                    <a:pt x="14" y="1991"/>
                  </a:moveTo>
                  <a:lnTo>
                    <a:pt x="14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4" y="1991"/>
                  </a:lnTo>
                  <a:close/>
                  <a:moveTo>
                    <a:pt x="14" y="2020"/>
                  </a:moveTo>
                  <a:lnTo>
                    <a:pt x="14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4" y="2020"/>
                  </a:lnTo>
                  <a:close/>
                  <a:moveTo>
                    <a:pt x="14" y="2049"/>
                  </a:moveTo>
                  <a:lnTo>
                    <a:pt x="14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4" y="2049"/>
                  </a:lnTo>
                  <a:close/>
                  <a:moveTo>
                    <a:pt x="14" y="2078"/>
                  </a:moveTo>
                  <a:lnTo>
                    <a:pt x="14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4" y="2078"/>
                  </a:lnTo>
                  <a:close/>
                  <a:moveTo>
                    <a:pt x="14" y="2107"/>
                  </a:moveTo>
                  <a:lnTo>
                    <a:pt x="14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4" y="2107"/>
                  </a:lnTo>
                  <a:close/>
                  <a:moveTo>
                    <a:pt x="14" y="2136"/>
                  </a:moveTo>
                  <a:lnTo>
                    <a:pt x="14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4" y="2136"/>
                  </a:lnTo>
                  <a:close/>
                  <a:moveTo>
                    <a:pt x="14" y="2164"/>
                  </a:moveTo>
                  <a:lnTo>
                    <a:pt x="14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4" y="2164"/>
                  </a:lnTo>
                  <a:close/>
                  <a:moveTo>
                    <a:pt x="14" y="2194"/>
                  </a:moveTo>
                  <a:lnTo>
                    <a:pt x="14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4" y="2194"/>
                  </a:lnTo>
                  <a:close/>
                  <a:moveTo>
                    <a:pt x="14" y="2222"/>
                  </a:moveTo>
                  <a:lnTo>
                    <a:pt x="14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4" y="2222"/>
                  </a:lnTo>
                  <a:close/>
                  <a:moveTo>
                    <a:pt x="14" y="2251"/>
                  </a:moveTo>
                  <a:lnTo>
                    <a:pt x="14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4" y="2251"/>
                  </a:lnTo>
                  <a:close/>
                  <a:moveTo>
                    <a:pt x="14" y="2280"/>
                  </a:moveTo>
                  <a:lnTo>
                    <a:pt x="14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4" y="2280"/>
                  </a:lnTo>
                  <a:close/>
                  <a:moveTo>
                    <a:pt x="14" y="2309"/>
                  </a:moveTo>
                  <a:lnTo>
                    <a:pt x="14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4" y="2309"/>
                  </a:lnTo>
                  <a:close/>
                  <a:moveTo>
                    <a:pt x="14" y="2338"/>
                  </a:moveTo>
                  <a:lnTo>
                    <a:pt x="14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4" y="2338"/>
                  </a:lnTo>
                  <a:close/>
                  <a:moveTo>
                    <a:pt x="14" y="2367"/>
                  </a:moveTo>
                  <a:lnTo>
                    <a:pt x="14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4" y="2367"/>
                  </a:lnTo>
                  <a:close/>
                  <a:moveTo>
                    <a:pt x="14" y="2395"/>
                  </a:moveTo>
                  <a:lnTo>
                    <a:pt x="14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4" y="2395"/>
                  </a:lnTo>
                  <a:close/>
                  <a:moveTo>
                    <a:pt x="14" y="2424"/>
                  </a:moveTo>
                  <a:lnTo>
                    <a:pt x="14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4" y="2424"/>
                  </a:lnTo>
                  <a:close/>
                  <a:moveTo>
                    <a:pt x="14" y="2453"/>
                  </a:moveTo>
                  <a:lnTo>
                    <a:pt x="14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4" y="2453"/>
                  </a:lnTo>
                  <a:close/>
                  <a:moveTo>
                    <a:pt x="14" y="2482"/>
                  </a:moveTo>
                  <a:lnTo>
                    <a:pt x="14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4" y="2482"/>
                  </a:lnTo>
                  <a:close/>
                  <a:moveTo>
                    <a:pt x="14" y="2511"/>
                  </a:moveTo>
                  <a:lnTo>
                    <a:pt x="14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4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65E9E368-12C2-425D-B160-77361E281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0" y="1517"/>
              <a:ext cx="11" cy="2525"/>
            </a:xfrm>
            <a:custGeom>
              <a:avLst/>
              <a:gdLst>
                <a:gd name="T0" fmla="*/ 14 w 14"/>
                <a:gd name="T1" fmla="*/ 43 h 2525"/>
                <a:gd name="T2" fmla="*/ 0 w 14"/>
                <a:gd name="T3" fmla="*/ 58 h 2525"/>
                <a:gd name="T4" fmla="*/ 14 w 14"/>
                <a:gd name="T5" fmla="*/ 116 h 2525"/>
                <a:gd name="T6" fmla="*/ 0 w 14"/>
                <a:gd name="T7" fmla="*/ 159 h 2525"/>
                <a:gd name="T8" fmla="*/ 14 w 14"/>
                <a:gd name="T9" fmla="*/ 173 h 2525"/>
                <a:gd name="T10" fmla="*/ 14 w 14"/>
                <a:gd name="T11" fmla="*/ 246 h 2525"/>
                <a:gd name="T12" fmla="*/ 0 w 14"/>
                <a:gd name="T13" fmla="*/ 260 h 2525"/>
                <a:gd name="T14" fmla="*/ 14 w 14"/>
                <a:gd name="T15" fmla="*/ 318 h 2525"/>
                <a:gd name="T16" fmla="*/ 0 w 14"/>
                <a:gd name="T17" fmla="*/ 361 h 2525"/>
                <a:gd name="T18" fmla="*/ 14 w 14"/>
                <a:gd name="T19" fmla="*/ 376 h 2525"/>
                <a:gd name="T20" fmla="*/ 14 w 14"/>
                <a:gd name="T21" fmla="*/ 448 h 2525"/>
                <a:gd name="T22" fmla="*/ 0 w 14"/>
                <a:gd name="T23" fmla="*/ 462 h 2525"/>
                <a:gd name="T24" fmla="*/ 14 w 14"/>
                <a:gd name="T25" fmla="*/ 520 h 2525"/>
                <a:gd name="T26" fmla="*/ 0 w 14"/>
                <a:gd name="T27" fmla="*/ 563 h 2525"/>
                <a:gd name="T28" fmla="*/ 14 w 14"/>
                <a:gd name="T29" fmla="*/ 577 h 2525"/>
                <a:gd name="T30" fmla="*/ 14 w 14"/>
                <a:gd name="T31" fmla="*/ 649 h 2525"/>
                <a:gd name="T32" fmla="*/ 0 w 14"/>
                <a:gd name="T33" fmla="*/ 664 h 2525"/>
                <a:gd name="T34" fmla="*/ 14 w 14"/>
                <a:gd name="T35" fmla="*/ 722 h 2525"/>
                <a:gd name="T36" fmla="*/ 0 w 14"/>
                <a:gd name="T37" fmla="*/ 765 h 2525"/>
                <a:gd name="T38" fmla="*/ 14 w 14"/>
                <a:gd name="T39" fmla="*/ 779 h 2525"/>
                <a:gd name="T40" fmla="*/ 14 w 14"/>
                <a:gd name="T41" fmla="*/ 852 h 2525"/>
                <a:gd name="T42" fmla="*/ 0 w 14"/>
                <a:gd name="T43" fmla="*/ 866 h 2525"/>
                <a:gd name="T44" fmla="*/ 14 w 14"/>
                <a:gd name="T45" fmla="*/ 924 h 2525"/>
                <a:gd name="T46" fmla="*/ 0 w 14"/>
                <a:gd name="T47" fmla="*/ 967 h 2525"/>
                <a:gd name="T48" fmla="*/ 14 w 14"/>
                <a:gd name="T49" fmla="*/ 982 h 2525"/>
                <a:gd name="T50" fmla="*/ 14 w 14"/>
                <a:gd name="T51" fmla="*/ 1054 h 2525"/>
                <a:gd name="T52" fmla="*/ 0 w 14"/>
                <a:gd name="T53" fmla="*/ 1068 h 2525"/>
                <a:gd name="T54" fmla="*/ 14 w 14"/>
                <a:gd name="T55" fmla="*/ 1126 h 2525"/>
                <a:gd name="T56" fmla="*/ 0 w 14"/>
                <a:gd name="T57" fmla="*/ 1169 h 2525"/>
                <a:gd name="T58" fmla="*/ 14 w 14"/>
                <a:gd name="T59" fmla="*/ 1183 h 2525"/>
                <a:gd name="T60" fmla="*/ 14 w 14"/>
                <a:gd name="T61" fmla="*/ 1255 h 2525"/>
                <a:gd name="T62" fmla="*/ 0 w 14"/>
                <a:gd name="T63" fmla="*/ 1270 h 2525"/>
                <a:gd name="T64" fmla="*/ 14 w 14"/>
                <a:gd name="T65" fmla="*/ 1328 h 2525"/>
                <a:gd name="T66" fmla="*/ 0 w 14"/>
                <a:gd name="T67" fmla="*/ 1371 h 2525"/>
                <a:gd name="T68" fmla="*/ 14 w 14"/>
                <a:gd name="T69" fmla="*/ 1385 h 2525"/>
                <a:gd name="T70" fmla="*/ 14 w 14"/>
                <a:gd name="T71" fmla="*/ 1458 h 2525"/>
                <a:gd name="T72" fmla="*/ 0 w 14"/>
                <a:gd name="T73" fmla="*/ 1472 h 2525"/>
                <a:gd name="T74" fmla="*/ 14 w 14"/>
                <a:gd name="T75" fmla="*/ 1530 h 2525"/>
                <a:gd name="T76" fmla="*/ 0 w 14"/>
                <a:gd name="T77" fmla="*/ 1573 h 2525"/>
                <a:gd name="T78" fmla="*/ 14 w 14"/>
                <a:gd name="T79" fmla="*/ 1588 h 2525"/>
                <a:gd name="T80" fmla="*/ 14 w 14"/>
                <a:gd name="T81" fmla="*/ 1660 h 2525"/>
                <a:gd name="T82" fmla="*/ 0 w 14"/>
                <a:gd name="T83" fmla="*/ 1674 h 2525"/>
                <a:gd name="T84" fmla="*/ 14 w 14"/>
                <a:gd name="T85" fmla="*/ 1732 h 2525"/>
                <a:gd name="T86" fmla="*/ 0 w 14"/>
                <a:gd name="T87" fmla="*/ 1775 h 2525"/>
                <a:gd name="T88" fmla="*/ 14 w 14"/>
                <a:gd name="T89" fmla="*/ 1789 h 2525"/>
                <a:gd name="T90" fmla="*/ 14 w 14"/>
                <a:gd name="T91" fmla="*/ 1861 h 2525"/>
                <a:gd name="T92" fmla="*/ 0 w 14"/>
                <a:gd name="T93" fmla="*/ 1876 h 2525"/>
                <a:gd name="T94" fmla="*/ 14 w 14"/>
                <a:gd name="T95" fmla="*/ 1934 h 2525"/>
                <a:gd name="T96" fmla="*/ 0 w 14"/>
                <a:gd name="T97" fmla="*/ 1977 h 2525"/>
                <a:gd name="T98" fmla="*/ 14 w 14"/>
                <a:gd name="T99" fmla="*/ 1991 h 2525"/>
                <a:gd name="T100" fmla="*/ 14 w 14"/>
                <a:gd name="T101" fmla="*/ 2064 h 2525"/>
                <a:gd name="T102" fmla="*/ 0 w 14"/>
                <a:gd name="T103" fmla="*/ 2078 h 2525"/>
                <a:gd name="T104" fmla="*/ 14 w 14"/>
                <a:gd name="T105" fmla="*/ 2136 h 2525"/>
                <a:gd name="T106" fmla="*/ 0 w 14"/>
                <a:gd name="T107" fmla="*/ 2179 h 2525"/>
                <a:gd name="T108" fmla="*/ 14 w 14"/>
                <a:gd name="T109" fmla="*/ 2194 h 2525"/>
                <a:gd name="T110" fmla="*/ 14 w 14"/>
                <a:gd name="T111" fmla="*/ 2266 h 2525"/>
                <a:gd name="T112" fmla="*/ 0 w 14"/>
                <a:gd name="T113" fmla="*/ 2280 h 2525"/>
                <a:gd name="T114" fmla="*/ 14 w 14"/>
                <a:gd name="T115" fmla="*/ 2338 h 2525"/>
                <a:gd name="T116" fmla="*/ 0 w 14"/>
                <a:gd name="T117" fmla="*/ 2381 h 2525"/>
                <a:gd name="T118" fmla="*/ 14 w 14"/>
                <a:gd name="T119" fmla="*/ 2395 h 2525"/>
                <a:gd name="T120" fmla="*/ 14 w 14"/>
                <a:gd name="T121" fmla="*/ 2468 h 2525"/>
                <a:gd name="T122" fmla="*/ 0 w 14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" h="2525">
                  <a:moveTo>
                    <a:pt x="14" y="0"/>
                  </a:moveTo>
                  <a:lnTo>
                    <a:pt x="14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4" y="0"/>
                  </a:lnTo>
                  <a:close/>
                  <a:moveTo>
                    <a:pt x="14" y="29"/>
                  </a:moveTo>
                  <a:lnTo>
                    <a:pt x="14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4" y="29"/>
                  </a:lnTo>
                  <a:close/>
                  <a:moveTo>
                    <a:pt x="14" y="58"/>
                  </a:moveTo>
                  <a:lnTo>
                    <a:pt x="14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4" y="58"/>
                  </a:lnTo>
                  <a:close/>
                  <a:moveTo>
                    <a:pt x="14" y="87"/>
                  </a:moveTo>
                  <a:lnTo>
                    <a:pt x="14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4" y="87"/>
                  </a:lnTo>
                  <a:close/>
                  <a:moveTo>
                    <a:pt x="14" y="116"/>
                  </a:moveTo>
                  <a:lnTo>
                    <a:pt x="14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4" y="116"/>
                  </a:lnTo>
                  <a:close/>
                  <a:moveTo>
                    <a:pt x="14" y="145"/>
                  </a:moveTo>
                  <a:lnTo>
                    <a:pt x="14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4" y="145"/>
                  </a:lnTo>
                  <a:close/>
                  <a:moveTo>
                    <a:pt x="14" y="173"/>
                  </a:moveTo>
                  <a:lnTo>
                    <a:pt x="14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4" y="173"/>
                  </a:lnTo>
                  <a:close/>
                  <a:moveTo>
                    <a:pt x="14" y="202"/>
                  </a:moveTo>
                  <a:lnTo>
                    <a:pt x="14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4" y="202"/>
                  </a:lnTo>
                  <a:close/>
                  <a:moveTo>
                    <a:pt x="14" y="231"/>
                  </a:moveTo>
                  <a:lnTo>
                    <a:pt x="14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4" y="231"/>
                  </a:lnTo>
                  <a:close/>
                  <a:moveTo>
                    <a:pt x="14" y="260"/>
                  </a:moveTo>
                  <a:lnTo>
                    <a:pt x="14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4" y="260"/>
                  </a:lnTo>
                  <a:close/>
                  <a:moveTo>
                    <a:pt x="14" y="289"/>
                  </a:moveTo>
                  <a:lnTo>
                    <a:pt x="14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4" y="289"/>
                  </a:lnTo>
                  <a:close/>
                  <a:moveTo>
                    <a:pt x="14" y="318"/>
                  </a:moveTo>
                  <a:lnTo>
                    <a:pt x="14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4" y="318"/>
                  </a:lnTo>
                  <a:close/>
                  <a:moveTo>
                    <a:pt x="14" y="346"/>
                  </a:moveTo>
                  <a:lnTo>
                    <a:pt x="14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4" y="346"/>
                  </a:lnTo>
                  <a:close/>
                  <a:moveTo>
                    <a:pt x="14" y="376"/>
                  </a:moveTo>
                  <a:lnTo>
                    <a:pt x="14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4" y="376"/>
                  </a:lnTo>
                  <a:close/>
                  <a:moveTo>
                    <a:pt x="14" y="404"/>
                  </a:moveTo>
                  <a:lnTo>
                    <a:pt x="14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4" y="404"/>
                  </a:lnTo>
                  <a:close/>
                  <a:moveTo>
                    <a:pt x="14" y="433"/>
                  </a:moveTo>
                  <a:lnTo>
                    <a:pt x="14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4" y="433"/>
                  </a:lnTo>
                  <a:close/>
                  <a:moveTo>
                    <a:pt x="14" y="462"/>
                  </a:moveTo>
                  <a:lnTo>
                    <a:pt x="14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4" y="462"/>
                  </a:lnTo>
                  <a:close/>
                  <a:moveTo>
                    <a:pt x="14" y="491"/>
                  </a:moveTo>
                  <a:lnTo>
                    <a:pt x="14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4" y="491"/>
                  </a:lnTo>
                  <a:close/>
                  <a:moveTo>
                    <a:pt x="14" y="520"/>
                  </a:moveTo>
                  <a:lnTo>
                    <a:pt x="14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4" y="520"/>
                  </a:lnTo>
                  <a:close/>
                  <a:moveTo>
                    <a:pt x="14" y="549"/>
                  </a:moveTo>
                  <a:lnTo>
                    <a:pt x="14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4" y="549"/>
                  </a:lnTo>
                  <a:close/>
                  <a:moveTo>
                    <a:pt x="14" y="577"/>
                  </a:moveTo>
                  <a:lnTo>
                    <a:pt x="14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4" y="577"/>
                  </a:lnTo>
                  <a:close/>
                  <a:moveTo>
                    <a:pt x="14" y="606"/>
                  </a:moveTo>
                  <a:lnTo>
                    <a:pt x="14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4" y="606"/>
                  </a:lnTo>
                  <a:close/>
                  <a:moveTo>
                    <a:pt x="14" y="635"/>
                  </a:moveTo>
                  <a:lnTo>
                    <a:pt x="14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4" y="635"/>
                  </a:lnTo>
                  <a:close/>
                  <a:moveTo>
                    <a:pt x="14" y="664"/>
                  </a:moveTo>
                  <a:lnTo>
                    <a:pt x="14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4" y="664"/>
                  </a:lnTo>
                  <a:close/>
                  <a:moveTo>
                    <a:pt x="14" y="693"/>
                  </a:moveTo>
                  <a:lnTo>
                    <a:pt x="14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4" y="693"/>
                  </a:lnTo>
                  <a:close/>
                  <a:moveTo>
                    <a:pt x="14" y="722"/>
                  </a:moveTo>
                  <a:lnTo>
                    <a:pt x="14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4" y="722"/>
                  </a:lnTo>
                  <a:close/>
                  <a:moveTo>
                    <a:pt x="14" y="751"/>
                  </a:moveTo>
                  <a:lnTo>
                    <a:pt x="14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4" y="751"/>
                  </a:lnTo>
                  <a:close/>
                  <a:moveTo>
                    <a:pt x="14" y="779"/>
                  </a:moveTo>
                  <a:lnTo>
                    <a:pt x="14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4" y="779"/>
                  </a:lnTo>
                  <a:close/>
                  <a:moveTo>
                    <a:pt x="14" y="808"/>
                  </a:moveTo>
                  <a:lnTo>
                    <a:pt x="14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4" y="808"/>
                  </a:lnTo>
                  <a:close/>
                  <a:moveTo>
                    <a:pt x="14" y="837"/>
                  </a:moveTo>
                  <a:lnTo>
                    <a:pt x="14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4" y="837"/>
                  </a:lnTo>
                  <a:close/>
                  <a:moveTo>
                    <a:pt x="14" y="866"/>
                  </a:moveTo>
                  <a:lnTo>
                    <a:pt x="14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4" y="866"/>
                  </a:lnTo>
                  <a:close/>
                  <a:moveTo>
                    <a:pt x="14" y="895"/>
                  </a:moveTo>
                  <a:lnTo>
                    <a:pt x="14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4" y="895"/>
                  </a:lnTo>
                  <a:close/>
                  <a:moveTo>
                    <a:pt x="14" y="924"/>
                  </a:moveTo>
                  <a:lnTo>
                    <a:pt x="14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4" y="924"/>
                  </a:lnTo>
                  <a:close/>
                  <a:moveTo>
                    <a:pt x="14" y="952"/>
                  </a:moveTo>
                  <a:lnTo>
                    <a:pt x="14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4" y="952"/>
                  </a:lnTo>
                  <a:close/>
                  <a:moveTo>
                    <a:pt x="14" y="982"/>
                  </a:moveTo>
                  <a:lnTo>
                    <a:pt x="14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4" y="982"/>
                  </a:lnTo>
                  <a:close/>
                  <a:moveTo>
                    <a:pt x="14" y="1010"/>
                  </a:moveTo>
                  <a:lnTo>
                    <a:pt x="14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4" y="1010"/>
                  </a:lnTo>
                  <a:close/>
                  <a:moveTo>
                    <a:pt x="14" y="1039"/>
                  </a:moveTo>
                  <a:lnTo>
                    <a:pt x="14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4" y="1039"/>
                  </a:lnTo>
                  <a:close/>
                  <a:moveTo>
                    <a:pt x="14" y="1068"/>
                  </a:moveTo>
                  <a:lnTo>
                    <a:pt x="14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4" y="1068"/>
                  </a:lnTo>
                  <a:close/>
                  <a:moveTo>
                    <a:pt x="14" y="1097"/>
                  </a:moveTo>
                  <a:lnTo>
                    <a:pt x="14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4" y="1097"/>
                  </a:lnTo>
                  <a:close/>
                  <a:moveTo>
                    <a:pt x="14" y="1126"/>
                  </a:moveTo>
                  <a:lnTo>
                    <a:pt x="14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4" y="1126"/>
                  </a:lnTo>
                  <a:close/>
                  <a:moveTo>
                    <a:pt x="14" y="1155"/>
                  </a:moveTo>
                  <a:lnTo>
                    <a:pt x="14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4" y="1155"/>
                  </a:lnTo>
                  <a:close/>
                  <a:moveTo>
                    <a:pt x="14" y="1183"/>
                  </a:moveTo>
                  <a:lnTo>
                    <a:pt x="14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4" y="1183"/>
                  </a:lnTo>
                  <a:close/>
                  <a:moveTo>
                    <a:pt x="14" y="1212"/>
                  </a:moveTo>
                  <a:lnTo>
                    <a:pt x="14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4" y="1212"/>
                  </a:lnTo>
                  <a:close/>
                  <a:moveTo>
                    <a:pt x="14" y="1241"/>
                  </a:moveTo>
                  <a:lnTo>
                    <a:pt x="14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4" y="1241"/>
                  </a:lnTo>
                  <a:close/>
                  <a:moveTo>
                    <a:pt x="14" y="1270"/>
                  </a:moveTo>
                  <a:lnTo>
                    <a:pt x="14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4" y="1270"/>
                  </a:lnTo>
                  <a:close/>
                  <a:moveTo>
                    <a:pt x="14" y="1299"/>
                  </a:moveTo>
                  <a:lnTo>
                    <a:pt x="14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4" y="1299"/>
                  </a:lnTo>
                  <a:close/>
                  <a:moveTo>
                    <a:pt x="14" y="1328"/>
                  </a:moveTo>
                  <a:lnTo>
                    <a:pt x="14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4" y="1328"/>
                  </a:lnTo>
                  <a:close/>
                  <a:moveTo>
                    <a:pt x="14" y="1357"/>
                  </a:moveTo>
                  <a:lnTo>
                    <a:pt x="14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4" y="1357"/>
                  </a:lnTo>
                  <a:close/>
                  <a:moveTo>
                    <a:pt x="14" y="1385"/>
                  </a:moveTo>
                  <a:lnTo>
                    <a:pt x="14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4" y="1385"/>
                  </a:lnTo>
                  <a:close/>
                  <a:moveTo>
                    <a:pt x="14" y="1414"/>
                  </a:moveTo>
                  <a:lnTo>
                    <a:pt x="14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4" y="1414"/>
                  </a:lnTo>
                  <a:close/>
                  <a:moveTo>
                    <a:pt x="14" y="1443"/>
                  </a:moveTo>
                  <a:lnTo>
                    <a:pt x="14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4" y="1443"/>
                  </a:lnTo>
                  <a:close/>
                  <a:moveTo>
                    <a:pt x="14" y="1472"/>
                  </a:moveTo>
                  <a:lnTo>
                    <a:pt x="14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4" y="1472"/>
                  </a:lnTo>
                  <a:close/>
                  <a:moveTo>
                    <a:pt x="14" y="1501"/>
                  </a:moveTo>
                  <a:lnTo>
                    <a:pt x="14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4" y="1501"/>
                  </a:lnTo>
                  <a:close/>
                  <a:moveTo>
                    <a:pt x="14" y="1530"/>
                  </a:moveTo>
                  <a:lnTo>
                    <a:pt x="14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4" y="1530"/>
                  </a:lnTo>
                  <a:close/>
                  <a:moveTo>
                    <a:pt x="14" y="1558"/>
                  </a:moveTo>
                  <a:lnTo>
                    <a:pt x="14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4" y="1558"/>
                  </a:lnTo>
                  <a:close/>
                  <a:moveTo>
                    <a:pt x="14" y="1588"/>
                  </a:moveTo>
                  <a:lnTo>
                    <a:pt x="14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4" y="1588"/>
                  </a:lnTo>
                  <a:close/>
                  <a:moveTo>
                    <a:pt x="14" y="1616"/>
                  </a:moveTo>
                  <a:lnTo>
                    <a:pt x="14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4" y="1616"/>
                  </a:lnTo>
                  <a:close/>
                  <a:moveTo>
                    <a:pt x="14" y="1645"/>
                  </a:moveTo>
                  <a:lnTo>
                    <a:pt x="14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4" y="1645"/>
                  </a:lnTo>
                  <a:close/>
                  <a:moveTo>
                    <a:pt x="14" y="1674"/>
                  </a:moveTo>
                  <a:lnTo>
                    <a:pt x="14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4" y="1674"/>
                  </a:lnTo>
                  <a:close/>
                  <a:moveTo>
                    <a:pt x="14" y="1703"/>
                  </a:moveTo>
                  <a:lnTo>
                    <a:pt x="14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4" y="1703"/>
                  </a:lnTo>
                  <a:close/>
                  <a:moveTo>
                    <a:pt x="14" y="1732"/>
                  </a:moveTo>
                  <a:lnTo>
                    <a:pt x="14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4" y="1732"/>
                  </a:lnTo>
                  <a:close/>
                  <a:moveTo>
                    <a:pt x="14" y="1761"/>
                  </a:moveTo>
                  <a:lnTo>
                    <a:pt x="14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4" y="1761"/>
                  </a:lnTo>
                  <a:close/>
                  <a:moveTo>
                    <a:pt x="14" y="1789"/>
                  </a:moveTo>
                  <a:lnTo>
                    <a:pt x="14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4" y="1789"/>
                  </a:lnTo>
                  <a:close/>
                  <a:moveTo>
                    <a:pt x="14" y="1818"/>
                  </a:moveTo>
                  <a:lnTo>
                    <a:pt x="14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4" y="1818"/>
                  </a:lnTo>
                  <a:close/>
                  <a:moveTo>
                    <a:pt x="14" y="1847"/>
                  </a:moveTo>
                  <a:lnTo>
                    <a:pt x="14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4" y="1847"/>
                  </a:lnTo>
                  <a:close/>
                  <a:moveTo>
                    <a:pt x="14" y="1876"/>
                  </a:moveTo>
                  <a:lnTo>
                    <a:pt x="14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4" y="1876"/>
                  </a:lnTo>
                  <a:close/>
                  <a:moveTo>
                    <a:pt x="14" y="1905"/>
                  </a:moveTo>
                  <a:lnTo>
                    <a:pt x="14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4" y="1905"/>
                  </a:lnTo>
                  <a:close/>
                  <a:moveTo>
                    <a:pt x="14" y="1934"/>
                  </a:moveTo>
                  <a:lnTo>
                    <a:pt x="14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4" y="1934"/>
                  </a:lnTo>
                  <a:close/>
                  <a:moveTo>
                    <a:pt x="14" y="1963"/>
                  </a:moveTo>
                  <a:lnTo>
                    <a:pt x="14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4" y="1963"/>
                  </a:lnTo>
                  <a:close/>
                  <a:moveTo>
                    <a:pt x="14" y="1991"/>
                  </a:moveTo>
                  <a:lnTo>
                    <a:pt x="14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4" y="1991"/>
                  </a:lnTo>
                  <a:close/>
                  <a:moveTo>
                    <a:pt x="14" y="2020"/>
                  </a:moveTo>
                  <a:lnTo>
                    <a:pt x="14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4" y="2020"/>
                  </a:lnTo>
                  <a:close/>
                  <a:moveTo>
                    <a:pt x="14" y="2049"/>
                  </a:moveTo>
                  <a:lnTo>
                    <a:pt x="14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4" y="2049"/>
                  </a:lnTo>
                  <a:close/>
                  <a:moveTo>
                    <a:pt x="14" y="2078"/>
                  </a:moveTo>
                  <a:lnTo>
                    <a:pt x="14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4" y="2078"/>
                  </a:lnTo>
                  <a:close/>
                  <a:moveTo>
                    <a:pt x="14" y="2107"/>
                  </a:moveTo>
                  <a:lnTo>
                    <a:pt x="14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4" y="2107"/>
                  </a:lnTo>
                  <a:close/>
                  <a:moveTo>
                    <a:pt x="14" y="2136"/>
                  </a:moveTo>
                  <a:lnTo>
                    <a:pt x="14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4" y="2136"/>
                  </a:lnTo>
                  <a:close/>
                  <a:moveTo>
                    <a:pt x="14" y="2164"/>
                  </a:moveTo>
                  <a:lnTo>
                    <a:pt x="14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4" y="2164"/>
                  </a:lnTo>
                  <a:close/>
                  <a:moveTo>
                    <a:pt x="14" y="2194"/>
                  </a:moveTo>
                  <a:lnTo>
                    <a:pt x="14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4" y="2194"/>
                  </a:lnTo>
                  <a:close/>
                  <a:moveTo>
                    <a:pt x="14" y="2222"/>
                  </a:moveTo>
                  <a:lnTo>
                    <a:pt x="14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4" y="2222"/>
                  </a:lnTo>
                  <a:close/>
                  <a:moveTo>
                    <a:pt x="14" y="2251"/>
                  </a:moveTo>
                  <a:lnTo>
                    <a:pt x="14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4" y="2251"/>
                  </a:lnTo>
                  <a:close/>
                  <a:moveTo>
                    <a:pt x="14" y="2280"/>
                  </a:moveTo>
                  <a:lnTo>
                    <a:pt x="14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4" y="2280"/>
                  </a:lnTo>
                  <a:close/>
                  <a:moveTo>
                    <a:pt x="14" y="2309"/>
                  </a:moveTo>
                  <a:lnTo>
                    <a:pt x="14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4" y="2309"/>
                  </a:lnTo>
                  <a:close/>
                  <a:moveTo>
                    <a:pt x="14" y="2338"/>
                  </a:moveTo>
                  <a:lnTo>
                    <a:pt x="14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4" y="2338"/>
                  </a:lnTo>
                  <a:close/>
                  <a:moveTo>
                    <a:pt x="14" y="2367"/>
                  </a:moveTo>
                  <a:lnTo>
                    <a:pt x="14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4" y="2367"/>
                  </a:lnTo>
                  <a:close/>
                  <a:moveTo>
                    <a:pt x="14" y="2395"/>
                  </a:moveTo>
                  <a:lnTo>
                    <a:pt x="14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4" y="2395"/>
                  </a:lnTo>
                  <a:close/>
                  <a:moveTo>
                    <a:pt x="14" y="2424"/>
                  </a:moveTo>
                  <a:lnTo>
                    <a:pt x="14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4" y="2424"/>
                  </a:lnTo>
                  <a:close/>
                  <a:moveTo>
                    <a:pt x="14" y="2453"/>
                  </a:moveTo>
                  <a:lnTo>
                    <a:pt x="14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4" y="2453"/>
                  </a:lnTo>
                  <a:close/>
                  <a:moveTo>
                    <a:pt x="14" y="2482"/>
                  </a:moveTo>
                  <a:lnTo>
                    <a:pt x="14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4" y="2482"/>
                  </a:lnTo>
                  <a:close/>
                  <a:moveTo>
                    <a:pt x="14" y="2511"/>
                  </a:moveTo>
                  <a:lnTo>
                    <a:pt x="14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4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F51019C4-4B6A-4CF7-BE86-797757148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9" y="1517"/>
              <a:ext cx="11" cy="2525"/>
            </a:xfrm>
            <a:custGeom>
              <a:avLst/>
              <a:gdLst>
                <a:gd name="T0" fmla="*/ 15 w 15"/>
                <a:gd name="T1" fmla="*/ 43 h 2525"/>
                <a:gd name="T2" fmla="*/ 0 w 15"/>
                <a:gd name="T3" fmla="*/ 58 h 2525"/>
                <a:gd name="T4" fmla="*/ 15 w 15"/>
                <a:gd name="T5" fmla="*/ 116 h 2525"/>
                <a:gd name="T6" fmla="*/ 0 w 15"/>
                <a:gd name="T7" fmla="*/ 159 h 2525"/>
                <a:gd name="T8" fmla="*/ 15 w 15"/>
                <a:gd name="T9" fmla="*/ 173 h 2525"/>
                <a:gd name="T10" fmla="*/ 15 w 15"/>
                <a:gd name="T11" fmla="*/ 246 h 2525"/>
                <a:gd name="T12" fmla="*/ 0 w 15"/>
                <a:gd name="T13" fmla="*/ 260 h 2525"/>
                <a:gd name="T14" fmla="*/ 15 w 15"/>
                <a:gd name="T15" fmla="*/ 318 h 2525"/>
                <a:gd name="T16" fmla="*/ 0 w 15"/>
                <a:gd name="T17" fmla="*/ 361 h 2525"/>
                <a:gd name="T18" fmla="*/ 15 w 15"/>
                <a:gd name="T19" fmla="*/ 376 h 2525"/>
                <a:gd name="T20" fmla="*/ 15 w 15"/>
                <a:gd name="T21" fmla="*/ 448 h 2525"/>
                <a:gd name="T22" fmla="*/ 0 w 15"/>
                <a:gd name="T23" fmla="*/ 462 h 2525"/>
                <a:gd name="T24" fmla="*/ 15 w 15"/>
                <a:gd name="T25" fmla="*/ 520 h 2525"/>
                <a:gd name="T26" fmla="*/ 0 w 15"/>
                <a:gd name="T27" fmla="*/ 563 h 2525"/>
                <a:gd name="T28" fmla="*/ 15 w 15"/>
                <a:gd name="T29" fmla="*/ 577 h 2525"/>
                <a:gd name="T30" fmla="*/ 15 w 15"/>
                <a:gd name="T31" fmla="*/ 649 h 2525"/>
                <a:gd name="T32" fmla="*/ 0 w 15"/>
                <a:gd name="T33" fmla="*/ 664 h 2525"/>
                <a:gd name="T34" fmla="*/ 15 w 15"/>
                <a:gd name="T35" fmla="*/ 722 h 2525"/>
                <a:gd name="T36" fmla="*/ 0 w 15"/>
                <a:gd name="T37" fmla="*/ 765 h 2525"/>
                <a:gd name="T38" fmla="*/ 15 w 15"/>
                <a:gd name="T39" fmla="*/ 779 h 2525"/>
                <a:gd name="T40" fmla="*/ 15 w 15"/>
                <a:gd name="T41" fmla="*/ 852 h 2525"/>
                <a:gd name="T42" fmla="*/ 0 w 15"/>
                <a:gd name="T43" fmla="*/ 866 h 2525"/>
                <a:gd name="T44" fmla="*/ 15 w 15"/>
                <a:gd name="T45" fmla="*/ 924 h 2525"/>
                <a:gd name="T46" fmla="*/ 0 w 15"/>
                <a:gd name="T47" fmla="*/ 967 h 2525"/>
                <a:gd name="T48" fmla="*/ 15 w 15"/>
                <a:gd name="T49" fmla="*/ 982 h 2525"/>
                <a:gd name="T50" fmla="*/ 15 w 15"/>
                <a:gd name="T51" fmla="*/ 1054 h 2525"/>
                <a:gd name="T52" fmla="*/ 0 w 15"/>
                <a:gd name="T53" fmla="*/ 1068 h 2525"/>
                <a:gd name="T54" fmla="*/ 15 w 15"/>
                <a:gd name="T55" fmla="*/ 1126 h 2525"/>
                <a:gd name="T56" fmla="*/ 0 w 15"/>
                <a:gd name="T57" fmla="*/ 1169 h 2525"/>
                <a:gd name="T58" fmla="*/ 15 w 15"/>
                <a:gd name="T59" fmla="*/ 1183 h 2525"/>
                <a:gd name="T60" fmla="*/ 15 w 15"/>
                <a:gd name="T61" fmla="*/ 1255 h 2525"/>
                <a:gd name="T62" fmla="*/ 0 w 15"/>
                <a:gd name="T63" fmla="*/ 1270 h 2525"/>
                <a:gd name="T64" fmla="*/ 15 w 15"/>
                <a:gd name="T65" fmla="*/ 1328 h 2525"/>
                <a:gd name="T66" fmla="*/ 0 w 15"/>
                <a:gd name="T67" fmla="*/ 1371 h 2525"/>
                <a:gd name="T68" fmla="*/ 15 w 15"/>
                <a:gd name="T69" fmla="*/ 1385 h 2525"/>
                <a:gd name="T70" fmla="*/ 15 w 15"/>
                <a:gd name="T71" fmla="*/ 1458 h 2525"/>
                <a:gd name="T72" fmla="*/ 0 w 15"/>
                <a:gd name="T73" fmla="*/ 1472 h 2525"/>
                <a:gd name="T74" fmla="*/ 15 w 15"/>
                <a:gd name="T75" fmla="*/ 1530 h 2525"/>
                <a:gd name="T76" fmla="*/ 0 w 15"/>
                <a:gd name="T77" fmla="*/ 1573 h 2525"/>
                <a:gd name="T78" fmla="*/ 15 w 15"/>
                <a:gd name="T79" fmla="*/ 1588 h 2525"/>
                <a:gd name="T80" fmla="*/ 15 w 15"/>
                <a:gd name="T81" fmla="*/ 1660 h 2525"/>
                <a:gd name="T82" fmla="*/ 0 w 15"/>
                <a:gd name="T83" fmla="*/ 1674 h 2525"/>
                <a:gd name="T84" fmla="*/ 15 w 15"/>
                <a:gd name="T85" fmla="*/ 1732 h 2525"/>
                <a:gd name="T86" fmla="*/ 0 w 15"/>
                <a:gd name="T87" fmla="*/ 1775 h 2525"/>
                <a:gd name="T88" fmla="*/ 15 w 15"/>
                <a:gd name="T89" fmla="*/ 1789 h 2525"/>
                <a:gd name="T90" fmla="*/ 15 w 15"/>
                <a:gd name="T91" fmla="*/ 1861 h 2525"/>
                <a:gd name="T92" fmla="*/ 0 w 15"/>
                <a:gd name="T93" fmla="*/ 1876 h 2525"/>
                <a:gd name="T94" fmla="*/ 15 w 15"/>
                <a:gd name="T95" fmla="*/ 1934 h 2525"/>
                <a:gd name="T96" fmla="*/ 0 w 15"/>
                <a:gd name="T97" fmla="*/ 1977 h 2525"/>
                <a:gd name="T98" fmla="*/ 15 w 15"/>
                <a:gd name="T99" fmla="*/ 1991 h 2525"/>
                <a:gd name="T100" fmla="*/ 15 w 15"/>
                <a:gd name="T101" fmla="*/ 2064 h 2525"/>
                <a:gd name="T102" fmla="*/ 0 w 15"/>
                <a:gd name="T103" fmla="*/ 2078 h 2525"/>
                <a:gd name="T104" fmla="*/ 15 w 15"/>
                <a:gd name="T105" fmla="*/ 2136 h 2525"/>
                <a:gd name="T106" fmla="*/ 0 w 15"/>
                <a:gd name="T107" fmla="*/ 2179 h 2525"/>
                <a:gd name="T108" fmla="*/ 15 w 15"/>
                <a:gd name="T109" fmla="*/ 2194 h 2525"/>
                <a:gd name="T110" fmla="*/ 15 w 15"/>
                <a:gd name="T111" fmla="*/ 2266 h 2525"/>
                <a:gd name="T112" fmla="*/ 0 w 15"/>
                <a:gd name="T113" fmla="*/ 2280 h 2525"/>
                <a:gd name="T114" fmla="*/ 15 w 15"/>
                <a:gd name="T115" fmla="*/ 2338 h 2525"/>
                <a:gd name="T116" fmla="*/ 0 w 15"/>
                <a:gd name="T117" fmla="*/ 2381 h 2525"/>
                <a:gd name="T118" fmla="*/ 15 w 15"/>
                <a:gd name="T119" fmla="*/ 2395 h 2525"/>
                <a:gd name="T120" fmla="*/ 15 w 15"/>
                <a:gd name="T121" fmla="*/ 2468 h 2525"/>
                <a:gd name="T122" fmla="*/ 0 w 15"/>
                <a:gd name="T123" fmla="*/ 2482 h 2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" h="2525">
                  <a:moveTo>
                    <a:pt x="15" y="0"/>
                  </a:moveTo>
                  <a:lnTo>
                    <a:pt x="1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15" y="0"/>
                  </a:lnTo>
                  <a:close/>
                  <a:moveTo>
                    <a:pt x="15" y="29"/>
                  </a:moveTo>
                  <a:lnTo>
                    <a:pt x="15" y="43"/>
                  </a:lnTo>
                  <a:lnTo>
                    <a:pt x="0" y="43"/>
                  </a:lnTo>
                  <a:lnTo>
                    <a:pt x="0" y="29"/>
                  </a:lnTo>
                  <a:lnTo>
                    <a:pt x="15" y="29"/>
                  </a:lnTo>
                  <a:close/>
                  <a:moveTo>
                    <a:pt x="15" y="58"/>
                  </a:moveTo>
                  <a:lnTo>
                    <a:pt x="15" y="72"/>
                  </a:lnTo>
                  <a:lnTo>
                    <a:pt x="0" y="72"/>
                  </a:lnTo>
                  <a:lnTo>
                    <a:pt x="0" y="58"/>
                  </a:lnTo>
                  <a:lnTo>
                    <a:pt x="15" y="58"/>
                  </a:lnTo>
                  <a:close/>
                  <a:moveTo>
                    <a:pt x="15" y="87"/>
                  </a:moveTo>
                  <a:lnTo>
                    <a:pt x="15" y="101"/>
                  </a:lnTo>
                  <a:lnTo>
                    <a:pt x="0" y="101"/>
                  </a:lnTo>
                  <a:lnTo>
                    <a:pt x="0" y="87"/>
                  </a:lnTo>
                  <a:lnTo>
                    <a:pt x="15" y="87"/>
                  </a:lnTo>
                  <a:close/>
                  <a:moveTo>
                    <a:pt x="15" y="116"/>
                  </a:moveTo>
                  <a:lnTo>
                    <a:pt x="15" y="130"/>
                  </a:lnTo>
                  <a:lnTo>
                    <a:pt x="0" y="130"/>
                  </a:lnTo>
                  <a:lnTo>
                    <a:pt x="0" y="116"/>
                  </a:lnTo>
                  <a:lnTo>
                    <a:pt x="15" y="116"/>
                  </a:lnTo>
                  <a:close/>
                  <a:moveTo>
                    <a:pt x="15" y="145"/>
                  </a:moveTo>
                  <a:lnTo>
                    <a:pt x="15" y="159"/>
                  </a:lnTo>
                  <a:lnTo>
                    <a:pt x="0" y="159"/>
                  </a:lnTo>
                  <a:lnTo>
                    <a:pt x="0" y="145"/>
                  </a:lnTo>
                  <a:lnTo>
                    <a:pt x="15" y="145"/>
                  </a:lnTo>
                  <a:close/>
                  <a:moveTo>
                    <a:pt x="15" y="173"/>
                  </a:moveTo>
                  <a:lnTo>
                    <a:pt x="15" y="188"/>
                  </a:lnTo>
                  <a:lnTo>
                    <a:pt x="0" y="188"/>
                  </a:lnTo>
                  <a:lnTo>
                    <a:pt x="0" y="173"/>
                  </a:lnTo>
                  <a:lnTo>
                    <a:pt x="15" y="173"/>
                  </a:lnTo>
                  <a:close/>
                  <a:moveTo>
                    <a:pt x="15" y="202"/>
                  </a:moveTo>
                  <a:lnTo>
                    <a:pt x="15" y="217"/>
                  </a:lnTo>
                  <a:lnTo>
                    <a:pt x="0" y="217"/>
                  </a:lnTo>
                  <a:lnTo>
                    <a:pt x="0" y="202"/>
                  </a:lnTo>
                  <a:lnTo>
                    <a:pt x="15" y="202"/>
                  </a:lnTo>
                  <a:close/>
                  <a:moveTo>
                    <a:pt x="15" y="231"/>
                  </a:moveTo>
                  <a:lnTo>
                    <a:pt x="15" y="246"/>
                  </a:lnTo>
                  <a:lnTo>
                    <a:pt x="0" y="246"/>
                  </a:lnTo>
                  <a:lnTo>
                    <a:pt x="0" y="231"/>
                  </a:lnTo>
                  <a:lnTo>
                    <a:pt x="15" y="231"/>
                  </a:lnTo>
                  <a:close/>
                  <a:moveTo>
                    <a:pt x="15" y="260"/>
                  </a:moveTo>
                  <a:lnTo>
                    <a:pt x="15" y="274"/>
                  </a:lnTo>
                  <a:lnTo>
                    <a:pt x="0" y="274"/>
                  </a:lnTo>
                  <a:lnTo>
                    <a:pt x="0" y="260"/>
                  </a:lnTo>
                  <a:lnTo>
                    <a:pt x="15" y="260"/>
                  </a:lnTo>
                  <a:close/>
                  <a:moveTo>
                    <a:pt x="15" y="289"/>
                  </a:moveTo>
                  <a:lnTo>
                    <a:pt x="15" y="303"/>
                  </a:lnTo>
                  <a:lnTo>
                    <a:pt x="0" y="303"/>
                  </a:lnTo>
                  <a:lnTo>
                    <a:pt x="0" y="289"/>
                  </a:lnTo>
                  <a:lnTo>
                    <a:pt x="15" y="289"/>
                  </a:lnTo>
                  <a:close/>
                  <a:moveTo>
                    <a:pt x="15" y="318"/>
                  </a:moveTo>
                  <a:lnTo>
                    <a:pt x="15" y="332"/>
                  </a:lnTo>
                  <a:lnTo>
                    <a:pt x="0" y="332"/>
                  </a:lnTo>
                  <a:lnTo>
                    <a:pt x="0" y="318"/>
                  </a:lnTo>
                  <a:lnTo>
                    <a:pt x="15" y="318"/>
                  </a:lnTo>
                  <a:close/>
                  <a:moveTo>
                    <a:pt x="15" y="346"/>
                  </a:moveTo>
                  <a:lnTo>
                    <a:pt x="15" y="361"/>
                  </a:lnTo>
                  <a:lnTo>
                    <a:pt x="0" y="361"/>
                  </a:lnTo>
                  <a:lnTo>
                    <a:pt x="0" y="346"/>
                  </a:lnTo>
                  <a:lnTo>
                    <a:pt x="15" y="346"/>
                  </a:lnTo>
                  <a:close/>
                  <a:moveTo>
                    <a:pt x="15" y="376"/>
                  </a:moveTo>
                  <a:lnTo>
                    <a:pt x="15" y="390"/>
                  </a:lnTo>
                  <a:lnTo>
                    <a:pt x="0" y="390"/>
                  </a:lnTo>
                  <a:lnTo>
                    <a:pt x="0" y="376"/>
                  </a:lnTo>
                  <a:lnTo>
                    <a:pt x="15" y="376"/>
                  </a:lnTo>
                  <a:close/>
                  <a:moveTo>
                    <a:pt x="15" y="404"/>
                  </a:moveTo>
                  <a:lnTo>
                    <a:pt x="15" y="419"/>
                  </a:lnTo>
                  <a:lnTo>
                    <a:pt x="0" y="419"/>
                  </a:lnTo>
                  <a:lnTo>
                    <a:pt x="0" y="404"/>
                  </a:lnTo>
                  <a:lnTo>
                    <a:pt x="15" y="404"/>
                  </a:lnTo>
                  <a:close/>
                  <a:moveTo>
                    <a:pt x="15" y="433"/>
                  </a:moveTo>
                  <a:lnTo>
                    <a:pt x="15" y="448"/>
                  </a:lnTo>
                  <a:lnTo>
                    <a:pt x="0" y="448"/>
                  </a:lnTo>
                  <a:lnTo>
                    <a:pt x="0" y="433"/>
                  </a:lnTo>
                  <a:lnTo>
                    <a:pt x="15" y="433"/>
                  </a:lnTo>
                  <a:close/>
                  <a:moveTo>
                    <a:pt x="15" y="462"/>
                  </a:moveTo>
                  <a:lnTo>
                    <a:pt x="15" y="476"/>
                  </a:lnTo>
                  <a:lnTo>
                    <a:pt x="0" y="476"/>
                  </a:lnTo>
                  <a:lnTo>
                    <a:pt x="0" y="462"/>
                  </a:lnTo>
                  <a:lnTo>
                    <a:pt x="15" y="462"/>
                  </a:lnTo>
                  <a:close/>
                  <a:moveTo>
                    <a:pt x="15" y="491"/>
                  </a:moveTo>
                  <a:lnTo>
                    <a:pt x="15" y="505"/>
                  </a:lnTo>
                  <a:lnTo>
                    <a:pt x="0" y="505"/>
                  </a:lnTo>
                  <a:lnTo>
                    <a:pt x="0" y="491"/>
                  </a:lnTo>
                  <a:lnTo>
                    <a:pt x="15" y="491"/>
                  </a:lnTo>
                  <a:close/>
                  <a:moveTo>
                    <a:pt x="15" y="520"/>
                  </a:moveTo>
                  <a:lnTo>
                    <a:pt x="15" y="534"/>
                  </a:lnTo>
                  <a:lnTo>
                    <a:pt x="0" y="534"/>
                  </a:lnTo>
                  <a:lnTo>
                    <a:pt x="0" y="520"/>
                  </a:lnTo>
                  <a:lnTo>
                    <a:pt x="15" y="520"/>
                  </a:lnTo>
                  <a:close/>
                  <a:moveTo>
                    <a:pt x="15" y="549"/>
                  </a:moveTo>
                  <a:lnTo>
                    <a:pt x="15" y="563"/>
                  </a:lnTo>
                  <a:lnTo>
                    <a:pt x="0" y="563"/>
                  </a:lnTo>
                  <a:lnTo>
                    <a:pt x="0" y="549"/>
                  </a:lnTo>
                  <a:lnTo>
                    <a:pt x="15" y="549"/>
                  </a:lnTo>
                  <a:close/>
                  <a:moveTo>
                    <a:pt x="15" y="577"/>
                  </a:moveTo>
                  <a:lnTo>
                    <a:pt x="15" y="592"/>
                  </a:lnTo>
                  <a:lnTo>
                    <a:pt x="0" y="592"/>
                  </a:lnTo>
                  <a:lnTo>
                    <a:pt x="0" y="577"/>
                  </a:lnTo>
                  <a:lnTo>
                    <a:pt x="15" y="577"/>
                  </a:lnTo>
                  <a:close/>
                  <a:moveTo>
                    <a:pt x="15" y="606"/>
                  </a:moveTo>
                  <a:lnTo>
                    <a:pt x="15" y="621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15" y="606"/>
                  </a:lnTo>
                  <a:close/>
                  <a:moveTo>
                    <a:pt x="15" y="635"/>
                  </a:moveTo>
                  <a:lnTo>
                    <a:pt x="15" y="649"/>
                  </a:lnTo>
                  <a:lnTo>
                    <a:pt x="0" y="649"/>
                  </a:lnTo>
                  <a:lnTo>
                    <a:pt x="0" y="635"/>
                  </a:lnTo>
                  <a:lnTo>
                    <a:pt x="15" y="635"/>
                  </a:lnTo>
                  <a:close/>
                  <a:moveTo>
                    <a:pt x="15" y="664"/>
                  </a:moveTo>
                  <a:lnTo>
                    <a:pt x="15" y="679"/>
                  </a:lnTo>
                  <a:lnTo>
                    <a:pt x="0" y="679"/>
                  </a:lnTo>
                  <a:lnTo>
                    <a:pt x="0" y="664"/>
                  </a:lnTo>
                  <a:lnTo>
                    <a:pt x="15" y="664"/>
                  </a:lnTo>
                  <a:close/>
                  <a:moveTo>
                    <a:pt x="15" y="693"/>
                  </a:moveTo>
                  <a:lnTo>
                    <a:pt x="15" y="707"/>
                  </a:lnTo>
                  <a:lnTo>
                    <a:pt x="0" y="707"/>
                  </a:lnTo>
                  <a:lnTo>
                    <a:pt x="0" y="693"/>
                  </a:lnTo>
                  <a:lnTo>
                    <a:pt x="15" y="693"/>
                  </a:lnTo>
                  <a:close/>
                  <a:moveTo>
                    <a:pt x="15" y="722"/>
                  </a:moveTo>
                  <a:lnTo>
                    <a:pt x="15" y="736"/>
                  </a:lnTo>
                  <a:lnTo>
                    <a:pt x="0" y="736"/>
                  </a:lnTo>
                  <a:lnTo>
                    <a:pt x="0" y="722"/>
                  </a:lnTo>
                  <a:lnTo>
                    <a:pt x="15" y="722"/>
                  </a:lnTo>
                  <a:close/>
                  <a:moveTo>
                    <a:pt x="15" y="751"/>
                  </a:moveTo>
                  <a:lnTo>
                    <a:pt x="15" y="765"/>
                  </a:lnTo>
                  <a:lnTo>
                    <a:pt x="0" y="765"/>
                  </a:lnTo>
                  <a:lnTo>
                    <a:pt x="0" y="751"/>
                  </a:lnTo>
                  <a:lnTo>
                    <a:pt x="15" y="751"/>
                  </a:lnTo>
                  <a:close/>
                  <a:moveTo>
                    <a:pt x="15" y="779"/>
                  </a:moveTo>
                  <a:lnTo>
                    <a:pt x="15" y="794"/>
                  </a:lnTo>
                  <a:lnTo>
                    <a:pt x="0" y="794"/>
                  </a:lnTo>
                  <a:lnTo>
                    <a:pt x="0" y="779"/>
                  </a:lnTo>
                  <a:lnTo>
                    <a:pt x="15" y="779"/>
                  </a:lnTo>
                  <a:close/>
                  <a:moveTo>
                    <a:pt x="15" y="808"/>
                  </a:moveTo>
                  <a:lnTo>
                    <a:pt x="15" y="823"/>
                  </a:lnTo>
                  <a:lnTo>
                    <a:pt x="0" y="823"/>
                  </a:lnTo>
                  <a:lnTo>
                    <a:pt x="0" y="808"/>
                  </a:lnTo>
                  <a:lnTo>
                    <a:pt x="15" y="808"/>
                  </a:lnTo>
                  <a:close/>
                  <a:moveTo>
                    <a:pt x="15" y="837"/>
                  </a:moveTo>
                  <a:lnTo>
                    <a:pt x="15" y="852"/>
                  </a:lnTo>
                  <a:lnTo>
                    <a:pt x="0" y="852"/>
                  </a:lnTo>
                  <a:lnTo>
                    <a:pt x="0" y="837"/>
                  </a:lnTo>
                  <a:lnTo>
                    <a:pt x="15" y="837"/>
                  </a:lnTo>
                  <a:close/>
                  <a:moveTo>
                    <a:pt x="15" y="866"/>
                  </a:moveTo>
                  <a:lnTo>
                    <a:pt x="15" y="880"/>
                  </a:lnTo>
                  <a:lnTo>
                    <a:pt x="0" y="880"/>
                  </a:lnTo>
                  <a:lnTo>
                    <a:pt x="0" y="866"/>
                  </a:lnTo>
                  <a:lnTo>
                    <a:pt x="15" y="866"/>
                  </a:lnTo>
                  <a:close/>
                  <a:moveTo>
                    <a:pt x="15" y="895"/>
                  </a:moveTo>
                  <a:lnTo>
                    <a:pt x="15" y="909"/>
                  </a:lnTo>
                  <a:lnTo>
                    <a:pt x="0" y="909"/>
                  </a:lnTo>
                  <a:lnTo>
                    <a:pt x="0" y="895"/>
                  </a:lnTo>
                  <a:lnTo>
                    <a:pt x="15" y="895"/>
                  </a:lnTo>
                  <a:close/>
                  <a:moveTo>
                    <a:pt x="15" y="924"/>
                  </a:moveTo>
                  <a:lnTo>
                    <a:pt x="15" y="938"/>
                  </a:lnTo>
                  <a:lnTo>
                    <a:pt x="0" y="938"/>
                  </a:lnTo>
                  <a:lnTo>
                    <a:pt x="0" y="924"/>
                  </a:lnTo>
                  <a:lnTo>
                    <a:pt x="15" y="924"/>
                  </a:lnTo>
                  <a:close/>
                  <a:moveTo>
                    <a:pt x="15" y="952"/>
                  </a:moveTo>
                  <a:lnTo>
                    <a:pt x="15" y="967"/>
                  </a:lnTo>
                  <a:lnTo>
                    <a:pt x="0" y="967"/>
                  </a:lnTo>
                  <a:lnTo>
                    <a:pt x="0" y="952"/>
                  </a:lnTo>
                  <a:lnTo>
                    <a:pt x="15" y="952"/>
                  </a:lnTo>
                  <a:close/>
                  <a:moveTo>
                    <a:pt x="15" y="982"/>
                  </a:moveTo>
                  <a:lnTo>
                    <a:pt x="15" y="996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15" y="982"/>
                  </a:lnTo>
                  <a:close/>
                  <a:moveTo>
                    <a:pt x="15" y="1010"/>
                  </a:moveTo>
                  <a:lnTo>
                    <a:pt x="15" y="1025"/>
                  </a:lnTo>
                  <a:lnTo>
                    <a:pt x="0" y="1025"/>
                  </a:lnTo>
                  <a:lnTo>
                    <a:pt x="0" y="1010"/>
                  </a:lnTo>
                  <a:lnTo>
                    <a:pt x="15" y="1010"/>
                  </a:lnTo>
                  <a:close/>
                  <a:moveTo>
                    <a:pt x="15" y="1039"/>
                  </a:moveTo>
                  <a:lnTo>
                    <a:pt x="15" y="1054"/>
                  </a:lnTo>
                  <a:lnTo>
                    <a:pt x="0" y="1054"/>
                  </a:lnTo>
                  <a:lnTo>
                    <a:pt x="0" y="1039"/>
                  </a:lnTo>
                  <a:lnTo>
                    <a:pt x="15" y="1039"/>
                  </a:lnTo>
                  <a:close/>
                  <a:moveTo>
                    <a:pt x="15" y="1068"/>
                  </a:moveTo>
                  <a:lnTo>
                    <a:pt x="15" y="1082"/>
                  </a:lnTo>
                  <a:lnTo>
                    <a:pt x="0" y="1082"/>
                  </a:lnTo>
                  <a:lnTo>
                    <a:pt x="0" y="1068"/>
                  </a:lnTo>
                  <a:lnTo>
                    <a:pt x="15" y="1068"/>
                  </a:lnTo>
                  <a:close/>
                  <a:moveTo>
                    <a:pt x="15" y="1097"/>
                  </a:moveTo>
                  <a:lnTo>
                    <a:pt x="15" y="1111"/>
                  </a:lnTo>
                  <a:lnTo>
                    <a:pt x="0" y="1111"/>
                  </a:lnTo>
                  <a:lnTo>
                    <a:pt x="0" y="1097"/>
                  </a:lnTo>
                  <a:lnTo>
                    <a:pt x="15" y="1097"/>
                  </a:lnTo>
                  <a:close/>
                  <a:moveTo>
                    <a:pt x="15" y="1126"/>
                  </a:moveTo>
                  <a:lnTo>
                    <a:pt x="15" y="1140"/>
                  </a:lnTo>
                  <a:lnTo>
                    <a:pt x="0" y="1140"/>
                  </a:lnTo>
                  <a:lnTo>
                    <a:pt x="0" y="1126"/>
                  </a:lnTo>
                  <a:lnTo>
                    <a:pt x="15" y="1126"/>
                  </a:lnTo>
                  <a:close/>
                  <a:moveTo>
                    <a:pt x="15" y="1155"/>
                  </a:moveTo>
                  <a:lnTo>
                    <a:pt x="15" y="1169"/>
                  </a:lnTo>
                  <a:lnTo>
                    <a:pt x="0" y="1169"/>
                  </a:lnTo>
                  <a:lnTo>
                    <a:pt x="0" y="1155"/>
                  </a:lnTo>
                  <a:lnTo>
                    <a:pt x="15" y="1155"/>
                  </a:lnTo>
                  <a:close/>
                  <a:moveTo>
                    <a:pt x="15" y="1183"/>
                  </a:moveTo>
                  <a:lnTo>
                    <a:pt x="15" y="1198"/>
                  </a:lnTo>
                  <a:lnTo>
                    <a:pt x="0" y="1198"/>
                  </a:lnTo>
                  <a:lnTo>
                    <a:pt x="0" y="1183"/>
                  </a:lnTo>
                  <a:lnTo>
                    <a:pt x="15" y="1183"/>
                  </a:lnTo>
                  <a:close/>
                  <a:moveTo>
                    <a:pt x="15" y="1212"/>
                  </a:moveTo>
                  <a:lnTo>
                    <a:pt x="15" y="1227"/>
                  </a:lnTo>
                  <a:lnTo>
                    <a:pt x="0" y="1227"/>
                  </a:lnTo>
                  <a:lnTo>
                    <a:pt x="0" y="1212"/>
                  </a:lnTo>
                  <a:lnTo>
                    <a:pt x="15" y="1212"/>
                  </a:lnTo>
                  <a:close/>
                  <a:moveTo>
                    <a:pt x="15" y="1241"/>
                  </a:moveTo>
                  <a:lnTo>
                    <a:pt x="15" y="1255"/>
                  </a:lnTo>
                  <a:lnTo>
                    <a:pt x="0" y="1255"/>
                  </a:lnTo>
                  <a:lnTo>
                    <a:pt x="0" y="1241"/>
                  </a:lnTo>
                  <a:lnTo>
                    <a:pt x="15" y="1241"/>
                  </a:lnTo>
                  <a:close/>
                  <a:moveTo>
                    <a:pt x="15" y="1270"/>
                  </a:moveTo>
                  <a:lnTo>
                    <a:pt x="15" y="1285"/>
                  </a:lnTo>
                  <a:lnTo>
                    <a:pt x="0" y="1285"/>
                  </a:lnTo>
                  <a:lnTo>
                    <a:pt x="0" y="1270"/>
                  </a:lnTo>
                  <a:lnTo>
                    <a:pt x="15" y="1270"/>
                  </a:lnTo>
                  <a:close/>
                  <a:moveTo>
                    <a:pt x="15" y="1299"/>
                  </a:moveTo>
                  <a:lnTo>
                    <a:pt x="15" y="1313"/>
                  </a:lnTo>
                  <a:lnTo>
                    <a:pt x="0" y="1313"/>
                  </a:lnTo>
                  <a:lnTo>
                    <a:pt x="0" y="1299"/>
                  </a:lnTo>
                  <a:lnTo>
                    <a:pt x="15" y="1299"/>
                  </a:lnTo>
                  <a:close/>
                  <a:moveTo>
                    <a:pt x="15" y="1328"/>
                  </a:moveTo>
                  <a:lnTo>
                    <a:pt x="15" y="1342"/>
                  </a:lnTo>
                  <a:lnTo>
                    <a:pt x="0" y="1342"/>
                  </a:lnTo>
                  <a:lnTo>
                    <a:pt x="0" y="1328"/>
                  </a:lnTo>
                  <a:lnTo>
                    <a:pt x="15" y="1328"/>
                  </a:lnTo>
                  <a:close/>
                  <a:moveTo>
                    <a:pt x="15" y="1357"/>
                  </a:moveTo>
                  <a:lnTo>
                    <a:pt x="15" y="1371"/>
                  </a:lnTo>
                  <a:lnTo>
                    <a:pt x="0" y="1371"/>
                  </a:lnTo>
                  <a:lnTo>
                    <a:pt x="0" y="1357"/>
                  </a:lnTo>
                  <a:lnTo>
                    <a:pt x="15" y="1357"/>
                  </a:lnTo>
                  <a:close/>
                  <a:moveTo>
                    <a:pt x="15" y="1385"/>
                  </a:moveTo>
                  <a:lnTo>
                    <a:pt x="15" y="1400"/>
                  </a:lnTo>
                  <a:lnTo>
                    <a:pt x="0" y="1400"/>
                  </a:lnTo>
                  <a:lnTo>
                    <a:pt x="0" y="1385"/>
                  </a:lnTo>
                  <a:lnTo>
                    <a:pt x="15" y="1385"/>
                  </a:lnTo>
                  <a:close/>
                  <a:moveTo>
                    <a:pt x="15" y="1414"/>
                  </a:moveTo>
                  <a:lnTo>
                    <a:pt x="15" y="1429"/>
                  </a:lnTo>
                  <a:lnTo>
                    <a:pt x="0" y="1429"/>
                  </a:lnTo>
                  <a:lnTo>
                    <a:pt x="0" y="1414"/>
                  </a:lnTo>
                  <a:lnTo>
                    <a:pt x="15" y="1414"/>
                  </a:lnTo>
                  <a:close/>
                  <a:moveTo>
                    <a:pt x="15" y="1443"/>
                  </a:moveTo>
                  <a:lnTo>
                    <a:pt x="15" y="1458"/>
                  </a:lnTo>
                  <a:lnTo>
                    <a:pt x="0" y="1458"/>
                  </a:lnTo>
                  <a:lnTo>
                    <a:pt x="0" y="1443"/>
                  </a:lnTo>
                  <a:lnTo>
                    <a:pt x="15" y="1443"/>
                  </a:lnTo>
                  <a:close/>
                  <a:moveTo>
                    <a:pt x="15" y="1472"/>
                  </a:moveTo>
                  <a:lnTo>
                    <a:pt x="15" y="1486"/>
                  </a:lnTo>
                  <a:lnTo>
                    <a:pt x="0" y="1486"/>
                  </a:lnTo>
                  <a:lnTo>
                    <a:pt x="0" y="1472"/>
                  </a:lnTo>
                  <a:lnTo>
                    <a:pt x="15" y="1472"/>
                  </a:lnTo>
                  <a:close/>
                  <a:moveTo>
                    <a:pt x="15" y="1501"/>
                  </a:moveTo>
                  <a:lnTo>
                    <a:pt x="15" y="1515"/>
                  </a:lnTo>
                  <a:lnTo>
                    <a:pt x="0" y="1515"/>
                  </a:lnTo>
                  <a:lnTo>
                    <a:pt x="0" y="1501"/>
                  </a:lnTo>
                  <a:lnTo>
                    <a:pt x="15" y="1501"/>
                  </a:lnTo>
                  <a:close/>
                  <a:moveTo>
                    <a:pt x="15" y="1530"/>
                  </a:moveTo>
                  <a:lnTo>
                    <a:pt x="15" y="1544"/>
                  </a:lnTo>
                  <a:lnTo>
                    <a:pt x="0" y="1544"/>
                  </a:lnTo>
                  <a:lnTo>
                    <a:pt x="0" y="1530"/>
                  </a:lnTo>
                  <a:lnTo>
                    <a:pt x="15" y="1530"/>
                  </a:lnTo>
                  <a:close/>
                  <a:moveTo>
                    <a:pt x="15" y="1558"/>
                  </a:moveTo>
                  <a:lnTo>
                    <a:pt x="15" y="1573"/>
                  </a:lnTo>
                  <a:lnTo>
                    <a:pt x="0" y="1573"/>
                  </a:lnTo>
                  <a:lnTo>
                    <a:pt x="0" y="1558"/>
                  </a:lnTo>
                  <a:lnTo>
                    <a:pt x="15" y="1558"/>
                  </a:lnTo>
                  <a:close/>
                  <a:moveTo>
                    <a:pt x="15" y="1588"/>
                  </a:moveTo>
                  <a:lnTo>
                    <a:pt x="15" y="1602"/>
                  </a:lnTo>
                  <a:lnTo>
                    <a:pt x="0" y="1602"/>
                  </a:lnTo>
                  <a:lnTo>
                    <a:pt x="0" y="1588"/>
                  </a:lnTo>
                  <a:lnTo>
                    <a:pt x="15" y="1588"/>
                  </a:lnTo>
                  <a:close/>
                  <a:moveTo>
                    <a:pt x="15" y="1616"/>
                  </a:moveTo>
                  <a:lnTo>
                    <a:pt x="15" y="1631"/>
                  </a:lnTo>
                  <a:lnTo>
                    <a:pt x="0" y="1631"/>
                  </a:lnTo>
                  <a:lnTo>
                    <a:pt x="0" y="1616"/>
                  </a:lnTo>
                  <a:lnTo>
                    <a:pt x="15" y="1616"/>
                  </a:lnTo>
                  <a:close/>
                  <a:moveTo>
                    <a:pt x="15" y="1645"/>
                  </a:moveTo>
                  <a:lnTo>
                    <a:pt x="15" y="1660"/>
                  </a:lnTo>
                  <a:lnTo>
                    <a:pt x="0" y="1660"/>
                  </a:lnTo>
                  <a:lnTo>
                    <a:pt x="0" y="1645"/>
                  </a:lnTo>
                  <a:lnTo>
                    <a:pt x="15" y="1645"/>
                  </a:lnTo>
                  <a:close/>
                  <a:moveTo>
                    <a:pt x="15" y="1674"/>
                  </a:moveTo>
                  <a:lnTo>
                    <a:pt x="15" y="1688"/>
                  </a:lnTo>
                  <a:lnTo>
                    <a:pt x="0" y="1688"/>
                  </a:lnTo>
                  <a:lnTo>
                    <a:pt x="0" y="1674"/>
                  </a:lnTo>
                  <a:lnTo>
                    <a:pt x="15" y="1674"/>
                  </a:lnTo>
                  <a:close/>
                  <a:moveTo>
                    <a:pt x="15" y="1703"/>
                  </a:moveTo>
                  <a:lnTo>
                    <a:pt x="15" y="1717"/>
                  </a:lnTo>
                  <a:lnTo>
                    <a:pt x="0" y="1717"/>
                  </a:lnTo>
                  <a:lnTo>
                    <a:pt x="0" y="1703"/>
                  </a:lnTo>
                  <a:lnTo>
                    <a:pt x="15" y="1703"/>
                  </a:lnTo>
                  <a:close/>
                  <a:moveTo>
                    <a:pt x="15" y="1732"/>
                  </a:moveTo>
                  <a:lnTo>
                    <a:pt x="15" y="1746"/>
                  </a:lnTo>
                  <a:lnTo>
                    <a:pt x="0" y="1746"/>
                  </a:lnTo>
                  <a:lnTo>
                    <a:pt x="0" y="1732"/>
                  </a:lnTo>
                  <a:lnTo>
                    <a:pt x="15" y="1732"/>
                  </a:lnTo>
                  <a:close/>
                  <a:moveTo>
                    <a:pt x="15" y="1761"/>
                  </a:moveTo>
                  <a:lnTo>
                    <a:pt x="15" y="1775"/>
                  </a:lnTo>
                  <a:lnTo>
                    <a:pt x="0" y="1775"/>
                  </a:lnTo>
                  <a:lnTo>
                    <a:pt x="0" y="1761"/>
                  </a:lnTo>
                  <a:lnTo>
                    <a:pt x="15" y="1761"/>
                  </a:lnTo>
                  <a:close/>
                  <a:moveTo>
                    <a:pt x="15" y="1789"/>
                  </a:moveTo>
                  <a:lnTo>
                    <a:pt x="15" y="1804"/>
                  </a:lnTo>
                  <a:lnTo>
                    <a:pt x="0" y="1804"/>
                  </a:lnTo>
                  <a:lnTo>
                    <a:pt x="0" y="1789"/>
                  </a:lnTo>
                  <a:lnTo>
                    <a:pt x="15" y="1789"/>
                  </a:lnTo>
                  <a:close/>
                  <a:moveTo>
                    <a:pt x="15" y="1818"/>
                  </a:moveTo>
                  <a:lnTo>
                    <a:pt x="15" y="1833"/>
                  </a:lnTo>
                  <a:lnTo>
                    <a:pt x="0" y="1833"/>
                  </a:lnTo>
                  <a:lnTo>
                    <a:pt x="0" y="1818"/>
                  </a:lnTo>
                  <a:lnTo>
                    <a:pt x="15" y="1818"/>
                  </a:lnTo>
                  <a:close/>
                  <a:moveTo>
                    <a:pt x="15" y="1847"/>
                  </a:moveTo>
                  <a:lnTo>
                    <a:pt x="15" y="1861"/>
                  </a:lnTo>
                  <a:lnTo>
                    <a:pt x="0" y="1861"/>
                  </a:lnTo>
                  <a:lnTo>
                    <a:pt x="0" y="1847"/>
                  </a:lnTo>
                  <a:lnTo>
                    <a:pt x="15" y="1847"/>
                  </a:lnTo>
                  <a:close/>
                  <a:moveTo>
                    <a:pt x="15" y="1876"/>
                  </a:moveTo>
                  <a:lnTo>
                    <a:pt x="15" y="1891"/>
                  </a:lnTo>
                  <a:lnTo>
                    <a:pt x="0" y="1891"/>
                  </a:lnTo>
                  <a:lnTo>
                    <a:pt x="0" y="1876"/>
                  </a:lnTo>
                  <a:lnTo>
                    <a:pt x="15" y="1876"/>
                  </a:lnTo>
                  <a:close/>
                  <a:moveTo>
                    <a:pt x="15" y="1905"/>
                  </a:moveTo>
                  <a:lnTo>
                    <a:pt x="15" y="1919"/>
                  </a:lnTo>
                  <a:lnTo>
                    <a:pt x="0" y="1919"/>
                  </a:lnTo>
                  <a:lnTo>
                    <a:pt x="0" y="1905"/>
                  </a:lnTo>
                  <a:lnTo>
                    <a:pt x="15" y="1905"/>
                  </a:lnTo>
                  <a:close/>
                  <a:moveTo>
                    <a:pt x="15" y="1934"/>
                  </a:moveTo>
                  <a:lnTo>
                    <a:pt x="15" y="1948"/>
                  </a:lnTo>
                  <a:lnTo>
                    <a:pt x="0" y="1948"/>
                  </a:lnTo>
                  <a:lnTo>
                    <a:pt x="0" y="1934"/>
                  </a:lnTo>
                  <a:lnTo>
                    <a:pt x="15" y="1934"/>
                  </a:lnTo>
                  <a:close/>
                  <a:moveTo>
                    <a:pt x="15" y="1963"/>
                  </a:moveTo>
                  <a:lnTo>
                    <a:pt x="15" y="1977"/>
                  </a:lnTo>
                  <a:lnTo>
                    <a:pt x="0" y="1977"/>
                  </a:lnTo>
                  <a:lnTo>
                    <a:pt x="0" y="1963"/>
                  </a:lnTo>
                  <a:lnTo>
                    <a:pt x="15" y="1963"/>
                  </a:lnTo>
                  <a:close/>
                  <a:moveTo>
                    <a:pt x="15" y="1991"/>
                  </a:moveTo>
                  <a:lnTo>
                    <a:pt x="15" y="2006"/>
                  </a:lnTo>
                  <a:lnTo>
                    <a:pt x="0" y="2006"/>
                  </a:lnTo>
                  <a:lnTo>
                    <a:pt x="0" y="1991"/>
                  </a:lnTo>
                  <a:lnTo>
                    <a:pt x="15" y="1991"/>
                  </a:lnTo>
                  <a:close/>
                  <a:moveTo>
                    <a:pt x="15" y="2020"/>
                  </a:moveTo>
                  <a:lnTo>
                    <a:pt x="15" y="2035"/>
                  </a:lnTo>
                  <a:lnTo>
                    <a:pt x="0" y="2035"/>
                  </a:lnTo>
                  <a:lnTo>
                    <a:pt x="0" y="2020"/>
                  </a:lnTo>
                  <a:lnTo>
                    <a:pt x="15" y="2020"/>
                  </a:lnTo>
                  <a:close/>
                  <a:moveTo>
                    <a:pt x="15" y="2049"/>
                  </a:moveTo>
                  <a:lnTo>
                    <a:pt x="15" y="2064"/>
                  </a:lnTo>
                  <a:lnTo>
                    <a:pt x="0" y="2064"/>
                  </a:lnTo>
                  <a:lnTo>
                    <a:pt x="0" y="2049"/>
                  </a:lnTo>
                  <a:lnTo>
                    <a:pt x="15" y="2049"/>
                  </a:lnTo>
                  <a:close/>
                  <a:moveTo>
                    <a:pt x="15" y="2078"/>
                  </a:moveTo>
                  <a:lnTo>
                    <a:pt x="15" y="2092"/>
                  </a:lnTo>
                  <a:lnTo>
                    <a:pt x="0" y="2092"/>
                  </a:lnTo>
                  <a:lnTo>
                    <a:pt x="0" y="2078"/>
                  </a:lnTo>
                  <a:lnTo>
                    <a:pt x="15" y="2078"/>
                  </a:lnTo>
                  <a:close/>
                  <a:moveTo>
                    <a:pt x="15" y="2107"/>
                  </a:moveTo>
                  <a:lnTo>
                    <a:pt x="15" y="2121"/>
                  </a:lnTo>
                  <a:lnTo>
                    <a:pt x="0" y="2121"/>
                  </a:lnTo>
                  <a:lnTo>
                    <a:pt x="0" y="2107"/>
                  </a:lnTo>
                  <a:lnTo>
                    <a:pt x="15" y="2107"/>
                  </a:lnTo>
                  <a:close/>
                  <a:moveTo>
                    <a:pt x="15" y="2136"/>
                  </a:moveTo>
                  <a:lnTo>
                    <a:pt x="15" y="2150"/>
                  </a:lnTo>
                  <a:lnTo>
                    <a:pt x="0" y="2150"/>
                  </a:lnTo>
                  <a:lnTo>
                    <a:pt x="0" y="2136"/>
                  </a:lnTo>
                  <a:lnTo>
                    <a:pt x="15" y="2136"/>
                  </a:lnTo>
                  <a:close/>
                  <a:moveTo>
                    <a:pt x="15" y="2164"/>
                  </a:moveTo>
                  <a:lnTo>
                    <a:pt x="15" y="2179"/>
                  </a:lnTo>
                  <a:lnTo>
                    <a:pt x="0" y="2179"/>
                  </a:lnTo>
                  <a:lnTo>
                    <a:pt x="0" y="2164"/>
                  </a:lnTo>
                  <a:lnTo>
                    <a:pt x="15" y="2164"/>
                  </a:lnTo>
                  <a:close/>
                  <a:moveTo>
                    <a:pt x="15" y="2194"/>
                  </a:moveTo>
                  <a:lnTo>
                    <a:pt x="15" y="2208"/>
                  </a:lnTo>
                  <a:lnTo>
                    <a:pt x="0" y="2208"/>
                  </a:lnTo>
                  <a:lnTo>
                    <a:pt x="0" y="2194"/>
                  </a:lnTo>
                  <a:lnTo>
                    <a:pt x="15" y="2194"/>
                  </a:lnTo>
                  <a:close/>
                  <a:moveTo>
                    <a:pt x="15" y="2222"/>
                  </a:moveTo>
                  <a:lnTo>
                    <a:pt x="15" y="2237"/>
                  </a:lnTo>
                  <a:lnTo>
                    <a:pt x="0" y="2237"/>
                  </a:lnTo>
                  <a:lnTo>
                    <a:pt x="0" y="2222"/>
                  </a:lnTo>
                  <a:lnTo>
                    <a:pt x="15" y="2222"/>
                  </a:lnTo>
                  <a:close/>
                  <a:moveTo>
                    <a:pt x="15" y="2251"/>
                  </a:moveTo>
                  <a:lnTo>
                    <a:pt x="15" y="2266"/>
                  </a:lnTo>
                  <a:lnTo>
                    <a:pt x="0" y="2266"/>
                  </a:lnTo>
                  <a:lnTo>
                    <a:pt x="0" y="2251"/>
                  </a:lnTo>
                  <a:lnTo>
                    <a:pt x="15" y="2251"/>
                  </a:lnTo>
                  <a:close/>
                  <a:moveTo>
                    <a:pt x="15" y="2280"/>
                  </a:moveTo>
                  <a:lnTo>
                    <a:pt x="15" y="2294"/>
                  </a:lnTo>
                  <a:lnTo>
                    <a:pt x="0" y="2294"/>
                  </a:lnTo>
                  <a:lnTo>
                    <a:pt x="0" y="2280"/>
                  </a:lnTo>
                  <a:lnTo>
                    <a:pt x="15" y="2280"/>
                  </a:lnTo>
                  <a:close/>
                  <a:moveTo>
                    <a:pt x="15" y="2309"/>
                  </a:moveTo>
                  <a:lnTo>
                    <a:pt x="15" y="2323"/>
                  </a:lnTo>
                  <a:lnTo>
                    <a:pt x="0" y="2323"/>
                  </a:lnTo>
                  <a:lnTo>
                    <a:pt x="0" y="2309"/>
                  </a:lnTo>
                  <a:lnTo>
                    <a:pt x="15" y="2309"/>
                  </a:lnTo>
                  <a:close/>
                  <a:moveTo>
                    <a:pt x="15" y="2338"/>
                  </a:moveTo>
                  <a:lnTo>
                    <a:pt x="15" y="2352"/>
                  </a:lnTo>
                  <a:lnTo>
                    <a:pt x="0" y="2352"/>
                  </a:lnTo>
                  <a:lnTo>
                    <a:pt x="0" y="2338"/>
                  </a:lnTo>
                  <a:lnTo>
                    <a:pt x="15" y="2338"/>
                  </a:lnTo>
                  <a:close/>
                  <a:moveTo>
                    <a:pt x="15" y="2367"/>
                  </a:moveTo>
                  <a:lnTo>
                    <a:pt x="15" y="2381"/>
                  </a:lnTo>
                  <a:lnTo>
                    <a:pt x="0" y="2381"/>
                  </a:lnTo>
                  <a:lnTo>
                    <a:pt x="0" y="2367"/>
                  </a:lnTo>
                  <a:lnTo>
                    <a:pt x="15" y="2367"/>
                  </a:lnTo>
                  <a:close/>
                  <a:moveTo>
                    <a:pt x="15" y="2395"/>
                  </a:moveTo>
                  <a:lnTo>
                    <a:pt x="15" y="2410"/>
                  </a:lnTo>
                  <a:lnTo>
                    <a:pt x="0" y="2410"/>
                  </a:lnTo>
                  <a:lnTo>
                    <a:pt x="0" y="2395"/>
                  </a:lnTo>
                  <a:lnTo>
                    <a:pt x="15" y="2395"/>
                  </a:lnTo>
                  <a:close/>
                  <a:moveTo>
                    <a:pt x="15" y="2424"/>
                  </a:moveTo>
                  <a:lnTo>
                    <a:pt x="15" y="2439"/>
                  </a:lnTo>
                  <a:lnTo>
                    <a:pt x="0" y="2439"/>
                  </a:lnTo>
                  <a:lnTo>
                    <a:pt x="0" y="2424"/>
                  </a:lnTo>
                  <a:lnTo>
                    <a:pt x="15" y="2424"/>
                  </a:lnTo>
                  <a:close/>
                  <a:moveTo>
                    <a:pt x="15" y="2453"/>
                  </a:moveTo>
                  <a:lnTo>
                    <a:pt x="15" y="2468"/>
                  </a:lnTo>
                  <a:lnTo>
                    <a:pt x="0" y="2468"/>
                  </a:lnTo>
                  <a:lnTo>
                    <a:pt x="0" y="2453"/>
                  </a:lnTo>
                  <a:lnTo>
                    <a:pt x="15" y="2453"/>
                  </a:lnTo>
                  <a:close/>
                  <a:moveTo>
                    <a:pt x="15" y="2482"/>
                  </a:moveTo>
                  <a:lnTo>
                    <a:pt x="15" y="2497"/>
                  </a:lnTo>
                  <a:lnTo>
                    <a:pt x="0" y="2497"/>
                  </a:lnTo>
                  <a:lnTo>
                    <a:pt x="0" y="2482"/>
                  </a:lnTo>
                  <a:lnTo>
                    <a:pt x="15" y="2482"/>
                  </a:lnTo>
                  <a:close/>
                  <a:moveTo>
                    <a:pt x="15" y="2511"/>
                  </a:moveTo>
                  <a:lnTo>
                    <a:pt x="15" y="2525"/>
                  </a:lnTo>
                  <a:lnTo>
                    <a:pt x="0" y="2525"/>
                  </a:lnTo>
                  <a:lnTo>
                    <a:pt x="0" y="2511"/>
                  </a:lnTo>
                  <a:lnTo>
                    <a:pt x="15" y="2511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F9C1B040-6974-4BF5-95BC-B4BCA96D9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90"/>
              <a:ext cx="43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Inst 3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EEC11BBB-AC34-47EE-B303-DA36DB9ED2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" y="1744"/>
              <a:ext cx="49" cy="2208"/>
            </a:xfrm>
            <a:custGeom>
              <a:avLst/>
              <a:gdLst>
                <a:gd name="T0" fmla="*/ 33 w 49"/>
                <a:gd name="T1" fmla="*/ 0 h 2208"/>
                <a:gd name="T2" fmla="*/ 33 w 49"/>
                <a:gd name="T3" fmla="*/ 2167 h 2208"/>
                <a:gd name="T4" fmla="*/ 16 w 49"/>
                <a:gd name="T5" fmla="*/ 2167 h 2208"/>
                <a:gd name="T6" fmla="*/ 16 w 49"/>
                <a:gd name="T7" fmla="*/ 0 h 2208"/>
                <a:gd name="T8" fmla="*/ 33 w 49"/>
                <a:gd name="T9" fmla="*/ 0 h 2208"/>
                <a:gd name="T10" fmla="*/ 49 w 49"/>
                <a:gd name="T11" fmla="*/ 2159 h 2208"/>
                <a:gd name="T12" fmla="*/ 25 w 49"/>
                <a:gd name="T13" fmla="*/ 2208 h 2208"/>
                <a:gd name="T14" fmla="*/ 0 w 49"/>
                <a:gd name="T15" fmla="*/ 2159 h 2208"/>
                <a:gd name="T16" fmla="*/ 49 w 49"/>
                <a:gd name="T17" fmla="*/ 2159 h 2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2208">
                  <a:moveTo>
                    <a:pt x="33" y="0"/>
                  </a:moveTo>
                  <a:lnTo>
                    <a:pt x="33" y="2167"/>
                  </a:lnTo>
                  <a:lnTo>
                    <a:pt x="16" y="2167"/>
                  </a:lnTo>
                  <a:lnTo>
                    <a:pt x="16" y="0"/>
                  </a:lnTo>
                  <a:lnTo>
                    <a:pt x="33" y="0"/>
                  </a:lnTo>
                  <a:close/>
                  <a:moveTo>
                    <a:pt x="49" y="2159"/>
                  </a:moveTo>
                  <a:lnTo>
                    <a:pt x="25" y="2208"/>
                  </a:lnTo>
                  <a:lnTo>
                    <a:pt x="0" y="2159"/>
                  </a:lnTo>
                  <a:lnTo>
                    <a:pt x="49" y="2159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EC94D578-1066-49CA-BBE8-F0381A735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1658"/>
              <a:ext cx="189" cy="432"/>
            </a:xfrm>
            <a:custGeom>
              <a:avLst/>
              <a:gdLst>
                <a:gd name="T0" fmla="*/ 0 w 189"/>
                <a:gd name="T1" fmla="*/ 288 h 432"/>
                <a:gd name="T2" fmla="*/ 63 w 189"/>
                <a:gd name="T3" fmla="*/ 216 h 432"/>
                <a:gd name="T4" fmla="*/ 0 w 189"/>
                <a:gd name="T5" fmla="*/ 144 h 432"/>
                <a:gd name="T6" fmla="*/ 0 w 189"/>
                <a:gd name="T7" fmla="*/ 0 h 432"/>
                <a:gd name="T8" fmla="*/ 189 w 189"/>
                <a:gd name="T9" fmla="*/ 144 h 432"/>
                <a:gd name="T10" fmla="*/ 189 w 189"/>
                <a:gd name="T11" fmla="*/ 288 h 432"/>
                <a:gd name="T12" fmla="*/ 0 w 189"/>
                <a:gd name="T13" fmla="*/ 432 h 432"/>
                <a:gd name="T14" fmla="*/ 0 w 189"/>
                <a:gd name="T15" fmla="*/ 28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432">
                  <a:moveTo>
                    <a:pt x="0" y="288"/>
                  </a:moveTo>
                  <a:lnTo>
                    <a:pt x="63" y="216"/>
                  </a:lnTo>
                  <a:lnTo>
                    <a:pt x="0" y="144"/>
                  </a:lnTo>
                  <a:lnTo>
                    <a:pt x="0" y="0"/>
                  </a:lnTo>
                  <a:lnTo>
                    <a:pt x="189" y="144"/>
                  </a:lnTo>
                  <a:lnTo>
                    <a:pt x="189" y="288"/>
                  </a:lnTo>
                  <a:lnTo>
                    <a:pt x="0" y="432"/>
                  </a:lnTo>
                  <a:lnTo>
                    <a:pt x="0" y="288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1BFE3FA2-3C16-4003-90C2-4DFD06A3F5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83" y="1806"/>
              <a:ext cx="36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ALU</a:t>
              </a:r>
              <a:endPara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B580FE0E-4E70-493C-87EA-BEE71A7AC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" y="1802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5EFFF843-E954-4905-BDC3-7609ACD3C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744"/>
              <a:ext cx="156" cy="259"/>
            </a:xfrm>
            <a:custGeom>
              <a:avLst/>
              <a:gdLst>
                <a:gd name="T0" fmla="*/ 156 w 156"/>
                <a:gd name="T1" fmla="*/ 0 h 259"/>
                <a:gd name="T2" fmla="*/ 0 w 156"/>
                <a:gd name="T3" fmla="*/ 0 h 259"/>
                <a:gd name="T4" fmla="*/ 0 w 156"/>
                <a:gd name="T5" fmla="*/ 259 h 259"/>
                <a:gd name="T6" fmla="*/ 156 w 156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259">
                  <a:moveTo>
                    <a:pt x="156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56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D6E7D139-1A7E-44D1-BB7C-8CBDDA7FD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744"/>
              <a:ext cx="150" cy="259"/>
            </a:xfrm>
            <a:custGeom>
              <a:avLst/>
              <a:gdLst>
                <a:gd name="T0" fmla="*/ 0 w 150"/>
                <a:gd name="T1" fmla="*/ 0 h 259"/>
                <a:gd name="T2" fmla="*/ 150 w 150"/>
                <a:gd name="T3" fmla="*/ 0 h 259"/>
                <a:gd name="T4" fmla="*/ 150 w 150"/>
                <a:gd name="T5" fmla="*/ 259 h 259"/>
                <a:gd name="T6" fmla="*/ 0 w 15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" h="259">
                  <a:moveTo>
                    <a:pt x="0" y="0"/>
                  </a:moveTo>
                  <a:lnTo>
                    <a:pt x="150" y="0"/>
                  </a:lnTo>
                  <a:lnTo>
                    <a:pt x="150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A84DEBF8-4042-4FA6-A966-12134938F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3" y="1792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887814B0-B7B6-47D0-8CCE-C7E22158D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744"/>
              <a:ext cx="135" cy="259"/>
            </a:xfrm>
            <a:custGeom>
              <a:avLst/>
              <a:gdLst>
                <a:gd name="T0" fmla="*/ 135 w 135"/>
                <a:gd name="T1" fmla="*/ 0 h 259"/>
                <a:gd name="T2" fmla="*/ 0 w 135"/>
                <a:gd name="T3" fmla="*/ 0 h 259"/>
                <a:gd name="T4" fmla="*/ 0 w 135"/>
                <a:gd name="T5" fmla="*/ 259 h 259"/>
                <a:gd name="T6" fmla="*/ 135 w 13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259">
                  <a:moveTo>
                    <a:pt x="13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F0F5FE24-C8B7-4DFC-A677-97A49CD0F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1744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3F526255-7886-4D36-BE76-C81F8EB8A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1874"/>
              <a:ext cx="103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5CF0EFEE-8698-49BA-83BF-47EE8A55A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1788"/>
              <a:ext cx="42" cy="86"/>
            </a:xfrm>
            <a:custGeom>
              <a:avLst/>
              <a:gdLst>
                <a:gd name="T0" fmla="*/ 0 w 42"/>
                <a:gd name="T1" fmla="*/ 86 h 86"/>
                <a:gd name="T2" fmla="*/ 0 w 42"/>
                <a:gd name="T3" fmla="*/ 0 h 86"/>
                <a:gd name="T4" fmla="*/ 42 w 42"/>
                <a:gd name="T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86">
                  <a:moveTo>
                    <a:pt x="0" y="86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AAFE0FB1-35DF-4061-BE62-A6D228DA2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1788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3A1FB4EB-483C-4E6E-A069-B8B347D88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1797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AE502DE7-34B4-4925-88E1-4F7400158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744"/>
              <a:ext cx="145" cy="259"/>
            </a:xfrm>
            <a:custGeom>
              <a:avLst/>
              <a:gdLst>
                <a:gd name="T0" fmla="*/ 145 w 145"/>
                <a:gd name="T1" fmla="*/ 0 h 259"/>
                <a:gd name="T2" fmla="*/ 0 w 145"/>
                <a:gd name="T3" fmla="*/ 0 h 259"/>
                <a:gd name="T4" fmla="*/ 0 w 145"/>
                <a:gd name="T5" fmla="*/ 259 h 259"/>
                <a:gd name="T6" fmla="*/ 145 w 14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59">
                  <a:moveTo>
                    <a:pt x="14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4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554DAF78-349A-4766-8333-15A13EC17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744"/>
              <a:ext cx="150" cy="259"/>
            </a:xfrm>
            <a:custGeom>
              <a:avLst/>
              <a:gdLst>
                <a:gd name="T0" fmla="*/ 0 w 150"/>
                <a:gd name="T1" fmla="*/ 0 h 259"/>
                <a:gd name="T2" fmla="*/ 150 w 150"/>
                <a:gd name="T3" fmla="*/ 0 h 259"/>
                <a:gd name="T4" fmla="*/ 150 w 150"/>
                <a:gd name="T5" fmla="*/ 259 h 259"/>
                <a:gd name="T6" fmla="*/ 0 w 15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" h="259">
                  <a:moveTo>
                    <a:pt x="0" y="0"/>
                  </a:moveTo>
                  <a:lnTo>
                    <a:pt x="150" y="0"/>
                  </a:lnTo>
                  <a:lnTo>
                    <a:pt x="150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1F76B439-0519-4693-911B-710EEA0BE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7" y="1792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045EA351-29CB-4ED7-8419-B52E4B636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744"/>
              <a:ext cx="130" cy="259"/>
            </a:xfrm>
            <a:custGeom>
              <a:avLst/>
              <a:gdLst>
                <a:gd name="T0" fmla="*/ 130 w 130"/>
                <a:gd name="T1" fmla="*/ 0 h 259"/>
                <a:gd name="T2" fmla="*/ 0 w 130"/>
                <a:gd name="T3" fmla="*/ 0 h 259"/>
                <a:gd name="T4" fmla="*/ 0 w 130"/>
                <a:gd name="T5" fmla="*/ 259 h 259"/>
                <a:gd name="T6" fmla="*/ 130 w 13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59">
                  <a:moveTo>
                    <a:pt x="130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0D019888-D46C-435F-A6AA-50FE9EAF2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44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A04D2BD2-746E-4F54-A603-12DE7D2FF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3" y="1863"/>
              <a:ext cx="124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1B2300EA-0856-46F6-9A34-72583D572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1874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5E637D67-5E46-4A5F-853B-2FAE9EBB2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1961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16D70732-A7AE-46AF-9271-C7E884D7C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9" y="1961"/>
              <a:ext cx="0" cy="1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52878BC1-D052-4B04-8F43-6B2731DFB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9" y="2134"/>
              <a:ext cx="303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C9C8D807-5E2C-4BFB-B35E-A13782A39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874"/>
              <a:ext cx="0" cy="26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2AD9B49C-4BF0-4F4F-A9C7-E21AF7352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2" y="1874"/>
              <a:ext cx="0" cy="21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36A683CF-2856-4D78-8C8E-2407661EA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2" y="2091"/>
              <a:ext cx="390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F6778FA4-2174-43BD-BD55-3ADAAA536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1874"/>
              <a:ext cx="0" cy="21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6926817E-4BD1-4AEA-9700-15096733C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2134"/>
              <a:ext cx="189" cy="432"/>
            </a:xfrm>
            <a:custGeom>
              <a:avLst/>
              <a:gdLst>
                <a:gd name="T0" fmla="*/ 0 w 189"/>
                <a:gd name="T1" fmla="*/ 288 h 432"/>
                <a:gd name="T2" fmla="*/ 64 w 189"/>
                <a:gd name="T3" fmla="*/ 216 h 432"/>
                <a:gd name="T4" fmla="*/ 0 w 189"/>
                <a:gd name="T5" fmla="*/ 144 h 432"/>
                <a:gd name="T6" fmla="*/ 0 w 189"/>
                <a:gd name="T7" fmla="*/ 0 h 432"/>
                <a:gd name="T8" fmla="*/ 189 w 189"/>
                <a:gd name="T9" fmla="*/ 144 h 432"/>
                <a:gd name="T10" fmla="*/ 189 w 189"/>
                <a:gd name="T11" fmla="*/ 288 h 432"/>
                <a:gd name="T12" fmla="*/ 0 w 189"/>
                <a:gd name="T13" fmla="*/ 432 h 432"/>
                <a:gd name="T14" fmla="*/ 0 w 189"/>
                <a:gd name="T15" fmla="*/ 28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432">
                  <a:moveTo>
                    <a:pt x="0" y="288"/>
                  </a:moveTo>
                  <a:lnTo>
                    <a:pt x="64" y="216"/>
                  </a:lnTo>
                  <a:lnTo>
                    <a:pt x="0" y="144"/>
                  </a:lnTo>
                  <a:lnTo>
                    <a:pt x="0" y="0"/>
                  </a:lnTo>
                  <a:lnTo>
                    <a:pt x="189" y="144"/>
                  </a:lnTo>
                  <a:lnTo>
                    <a:pt x="189" y="288"/>
                  </a:lnTo>
                  <a:lnTo>
                    <a:pt x="0" y="432"/>
                  </a:lnTo>
                  <a:lnTo>
                    <a:pt x="0" y="288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CD1E15B9-E1C8-4E89-A36B-B2F95B6170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50" y="2282"/>
              <a:ext cx="40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ALU</a:t>
              </a:r>
              <a:endPara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8233548D-A8B1-433E-8C24-0FADA2604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" y="2268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6C2D6164-8BCB-48D0-9EE8-9EDB030CA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221"/>
              <a:ext cx="156" cy="259"/>
            </a:xfrm>
            <a:custGeom>
              <a:avLst/>
              <a:gdLst>
                <a:gd name="T0" fmla="*/ 156 w 156"/>
                <a:gd name="T1" fmla="*/ 0 h 259"/>
                <a:gd name="T2" fmla="*/ 0 w 156"/>
                <a:gd name="T3" fmla="*/ 0 h 259"/>
                <a:gd name="T4" fmla="*/ 0 w 156"/>
                <a:gd name="T5" fmla="*/ 259 h 259"/>
                <a:gd name="T6" fmla="*/ 156 w 156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259">
                  <a:moveTo>
                    <a:pt x="156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56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1F11E30A-A2F3-4605-9684-AC55E40B0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221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9" name="Rectangle 66">
              <a:extLst>
                <a:ext uri="{FF2B5EF4-FFF2-40B4-BE49-F238E27FC236}">
                  <a16:creationId xmlns:a16="http://schemas.microsoft.com/office/drawing/2014/main" id="{E60ECAFB-6880-4901-9550-77A03863F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" y="2278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742287C6-B13F-4DB5-A8E7-74FC22BAF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2221"/>
              <a:ext cx="135" cy="259"/>
            </a:xfrm>
            <a:custGeom>
              <a:avLst/>
              <a:gdLst>
                <a:gd name="T0" fmla="*/ 135 w 135"/>
                <a:gd name="T1" fmla="*/ 0 h 259"/>
                <a:gd name="T2" fmla="*/ 0 w 135"/>
                <a:gd name="T3" fmla="*/ 0 h 259"/>
                <a:gd name="T4" fmla="*/ 0 w 135"/>
                <a:gd name="T5" fmla="*/ 259 h 259"/>
                <a:gd name="T6" fmla="*/ 135 w 13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259">
                  <a:moveTo>
                    <a:pt x="13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7F618DBA-7496-4328-A059-B7ABB6EF0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2221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B55AA427-7318-43E9-8E09-13E64F27B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2350"/>
              <a:ext cx="102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48ACD539-8A26-4536-A0C3-F2FD9FCDC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264"/>
              <a:ext cx="43" cy="86"/>
            </a:xfrm>
            <a:custGeom>
              <a:avLst/>
              <a:gdLst>
                <a:gd name="T0" fmla="*/ 0 w 43"/>
                <a:gd name="T1" fmla="*/ 86 h 86"/>
                <a:gd name="T2" fmla="*/ 0 w 43"/>
                <a:gd name="T3" fmla="*/ 0 h 86"/>
                <a:gd name="T4" fmla="*/ 43 w 43"/>
                <a:gd name="T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86">
                  <a:moveTo>
                    <a:pt x="0" y="86"/>
                  </a:moveTo>
                  <a:lnTo>
                    <a:pt x="0" y="0"/>
                  </a:lnTo>
                  <a:lnTo>
                    <a:pt x="43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C98A2130-EED7-4F75-8ED0-BC7DC555A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2264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id="{98EA97CC-EEF7-4522-B497-461B958DD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" y="2268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30D41B72-2712-42D2-83E3-A1D113D08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221"/>
              <a:ext cx="146" cy="259"/>
            </a:xfrm>
            <a:custGeom>
              <a:avLst/>
              <a:gdLst>
                <a:gd name="T0" fmla="*/ 146 w 146"/>
                <a:gd name="T1" fmla="*/ 0 h 259"/>
                <a:gd name="T2" fmla="*/ 0 w 146"/>
                <a:gd name="T3" fmla="*/ 0 h 259"/>
                <a:gd name="T4" fmla="*/ 0 w 146"/>
                <a:gd name="T5" fmla="*/ 259 h 259"/>
                <a:gd name="T6" fmla="*/ 146 w 146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" h="259">
                  <a:moveTo>
                    <a:pt x="146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46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7345A1C1-C357-4A96-9EA6-9CB4FC102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221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78" name="Rectangle 75">
              <a:extLst>
                <a:ext uri="{FF2B5EF4-FFF2-40B4-BE49-F238E27FC236}">
                  <a16:creationId xmlns:a16="http://schemas.microsoft.com/office/drawing/2014/main" id="{B7C880DF-E829-4CF0-BD0E-7FD50B20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" y="2268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EA4AF2AF-3686-42D7-B1DE-3D9BCEC67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2221"/>
              <a:ext cx="124" cy="259"/>
            </a:xfrm>
            <a:custGeom>
              <a:avLst/>
              <a:gdLst>
                <a:gd name="T0" fmla="*/ 124 w 124"/>
                <a:gd name="T1" fmla="*/ 0 h 259"/>
                <a:gd name="T2" fmla="*/ 0 w 124"/>
                <a:gd name="T3" fmla="*/ 0 h 259"/>
                <a:gd name="T4" fmla="*/ 0 w 124"/>
                <a:gd name="T5" fmla="*/ 259 h 259"/>
                <a:gd name="T6" fmla="*/ 124 w 124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59">
                  <a:moveTo>
                    <a:pt x="124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24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DE93A303-56B2-4712-ADDE-BD94F07C9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221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E1B0B245-9530-4052-93AD-B378D3BD1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" y="2350"/>
              <a:ext cx="124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0FF1961A-864A-4137-AD05-059F7859A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350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EC2B679F-6F8C-426B-9576-6E77270AE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2437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84B9DE00-F9C5-4D0D-9DCB-CBDDFB8A7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" y="2437"/>
              <a:ext cx="0" cy="1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C0918482-3E80-42E5-BEF6-C97F36FFD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" y="2610"/>
              <a:ext cx="302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9D90A25B-EC6A-420F-991F-AB00D1DDB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350"/>
              <a:ext cx="0" cy="26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9317780C-6685-4344-9CD9-3279A070C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350"/>
              <a:ext cx="0" cy="21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C3048F26-A453-42CC-92A6-5F90DC1A1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567"/>
              <a:ext cx="390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45B70FDA-E0E0-4720-9D8D-7140BD42B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" y="2350"/>
              <a:ext cx="0" cy="21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FCE1AAD4-084A-4D35-81E3-F4541D96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610"/>
              <a:ext cx="188" cy="432"/>
            </a:xfrm>
            <a:custGeom>
              <a:avLst/>
              <a:gdLst>
                <a:gd name="T0" fmla="*/ 0 w 188"/>
                <a:gd name="T1" fmla="*/ 288 h 432"/>
                <a:gd name="T2" fmla="*/ 63 w 188"/>
                <a:gd name="T3" fmla="*/ 216 h 432"/>
                <a:gd name="T4" fmla="*/ 0 w 188"/>
                <a:gd name="T5" fmla="*/ 144 h 432"/>
                <a:gd name="T6" fmla="*/ 0 w 188"/>
                <a:gd name="T7" fmla="*/ 0 h 432"/>
                <a:gd name="T8" fmla="*/ 188 w 188"/>
                <a:gd name="T9" fmla="*/ 144 h 432"/>
                <a:gd name="T10" fmla="*/ 188 w 188"/>
                <a:gd name="T11" fmla="*/ 288 h 432"/>
                <a:gd name="T12" fmla="*/ 0 w 188"/>
                <a:gd name="T13" fmla="*/ 432 h 432"/>
                <a:gd name="T14" fmla="*/ 0 w 188"/>
                <a:gd name="T15" fmla="*/ 28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432">
                  <a:moveTo>
                    <a:pt x="0" y="288"/>
                  </a:moveTo>
                  <a:lnTo>
                    <a:pt x="63" y="216"/>
                  </a:lnTo>
                  <a:lnTo>
                    <a:pt x="0" y="144"/>
                  </a:lnTo>
                  <a:lnTo>
                    <a:pt x="0" y="0"/>
                  </a:lnTo>
                  <a:lnTo>
                    <a:pt x="188" y="144"/>
                  </a:lnTo>
                  <a:lnTo>
                    <a:pt x="188" y="288"/>
                  </a:lnTo>
                  <a:lnTo>
                    <a:pt x="0" y="432"/>
                  </a:lnTo>
                  <a:lnTo>
                    <a:pt x="0" y="288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1" name="Rectangle 88">
              <a:extLst>
                <a:ext uri="{FF2B5EF4-FFF2-40B4-BE49-F238E27FC236}">
                  <a16:creationId xmlns:a16="http://schemas.microsoft.com/office/drawing/2014/main" id="{B47C7E91-F263-4AE8-B2F4-B8A35509AF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39" y="2758"/>
              <a:ext cx="40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ALU</a:t>
              </a:r>
              <a:endPara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2" name="Rectangle 89">
              <a:extLst>
                <a:ext uri="{FF2B5EF4-FFF2-40B4-BE49-F238E27FC236}">
                  <a16:creationId xmlns:a16="http://schemas.microsoft.com/office/drawing/2014/main" id="{577C52FE-9FA6-41B4-B2F9-D5467D55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2743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A7B7A31C-FD43-414F-AB65-BABDC22E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2697"/>
              <a:ext cx="157" cy="259"/>
            </a:xfrm>
            <a:custGeom>
              <a:avLst/>
              <a:gdLst>
                <a:gd name="T0" fmla="*/ 157 w 157"/>
                <a:gd name="T1" fmla="*/ 0 h 259"/>
                <a:gd name="T2" fmla="*/ 0 w 157"/>
                <a:gd name="T3" fmla="*/ 0 h 259"/>
                <a:gd name="T4" fmla="*/ 0 w 157"/>
                <a:gd name="T5" fmla="*/ 259 h 259"/>
                <a:gd name="T6" fmla="*/ 157 w 157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259">
                  <a:moveTo>
                    <a:pt x="157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57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E118DE60-3E47-427E-9757-0D3C3BA00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2697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5" name="Rectangle 92">
              <a:extLst>
                <a:ext uri="{FF2B5EF4-FFF2-40B4-BE49-F238E27FC236}">
                  <a16:creationId xmlns:a16="http://schemas.microsoft.com/office/drawing/2014/main" id="{F1763039-702D-45C0-9D7D-A04790D28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744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155D87CF-67F4-4F5E-B2FF-D46D5DD37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697"/>
              <a:ext cx="134" cy="259"/>
            </a:xfrm>
            <a:custGeom>
              <a:avLst/>
              <a:gdLst>
                <a:gd name="T0" fmla="*/ 134 w 134"/>
                <a:gd name="T1" fmla="*/ 0 h 259"/>
                <a:gd name="T2" fmla="*/ 0 w 134"/>
                <a:gd name="T3" fmla="*/ 0 h 259"/>
                <a:gd name="T4" fmla="*/ 0 w 134"/>
                <a:gd name="T5" fmla="*/ 259 h 259"/>
                <a:gd name="T6" fmla="*/ 134 w 134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" h="259">
                  <a:moveTo>
                    <a:pt x="134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4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3067F718-689C-4F2A-A05A-8122591A8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2697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8" name="Line 95">
              <a:extLst>
                <a:ext uri="{FF2B5EF4-FFF2-40B4-BE49-F238E27FC236}">
                  <a16:creationId xmlns:a16="http://schemas.microsoft.com/office/drawing/2014/main" id="{98E92EBF-19C7-4AED-852E-A0913B066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27"/>
              <a:ext cx="103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2B538D21-C1D5-4915-9FE1-DE1A355B5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" y="2740"/>
              <a:ext cx="42" cy="86"/>
            </a:xfrm>
            <a:custGeom>
              <a:avLst/>
              <a:gdLst>
                <a:gd name="T0" fmla="*/ 0 w 42"/>
                <a:gd name="T1" fmla="*/ 86 h 86"/>
                <a:gd name="T2" fmla="*/ 0 w 42"/>
                <a:gd name="T3" fmla="*/ 0 h 86"/>
                <a:gd name="T4" fmla="*/ 42 w 42"/>
                <a:gd name="T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86">
                  <a:moveTo>
                    <a:pt x="0" y="86"/>
                  </a:move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26C78A79-3DCD-496C-8DCD-AB16C92E0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2" y="2740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1" name="Rectangle 98">
              <a:extLst>
                <a:ext uri="{FF2B5EF4-FFF2-40B4-BE49-F238E27FC236}">
                  <a16:creationId xmlns:a16="http://schemas.microsoft.com/office/drawing/2014/main" id="{3F0017CA-7535-4D50-AD45-2EFD4692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2748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02" name="Freeform 99">
              <a:extLst>
                <a:ext uri="{FF2B5EF4-FFF2-40B4-BE49-F238E27FC236}">
                  <a16:creationId xmlns:a16="http://schemas.microsoft.com/office/drawing/2014/main" id="{152B559B-F9A2-4A0C-927F-4A90C35B6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697"/>
              <a:ext cx="145" cy="259"/>
            </a:xfrm>
            <a:custGeom>
              <a:avLst/>
              <a:gdLst>
                <a:gd name="T0" fmla="*/ 145 w 145"/>
                <a:gd name="T1" fmla="*/ 0 h 259"/>
                <a:gd name="T2" fmla="*/ 0 w 145"/>
                <a:gd name="T3" fmla="*/ 0 h 259"/>
                <a:gd name="T4" fmla="*/ 0 w 145"/>
                <a:gd name="T5" fmla="*/ 259 h 259"/>
                <a:gd name="T6" fmla="*/ 145 w 14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59">
                  <a:moveTo>
                    <a:pt x="14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4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1C29BD5D-A7BC-4EEE-A1E3-22AEC4D18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697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4" name="Rectangle 101">
              <a:extLst>
                <a:ext uri="{FF2B5EF4-FFF2-40B4-BE49-F238E27FC236}">
                  <a16:creationId xmlns:a16="http://schemas.microsoft.com/office/drawing/2014/main" id="{3B29D1AA-80D5-4B6E-8B23-3517BA720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743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40903129-F1A3-40B4-923F-011405F3E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697"/>
              <a:ext cx="123" cy="259"/>
            </a:xfrm>
            <a:custGeom>
              <a:avLst/>
              <a:gdLst>
                <a:gd name="T0" fmla="*/ 123 w 123"/>
                <a:gd name="T1" fmla="*/ 0 h 259"/>
                <a:gd name="T2" fmla="*/ 0 w 123"/>
                <a:gd name="T3" fmla="*/ 0 h 259"/>
                <a:gd name="T4" fmla="*/ 0 w 123"/>
                <a:gd name="T5" fmla="*/ 259 h 259"/>
                <a:gd name="T6" fmla="*/ 123 w 123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259">
                  <a:moveTo>
                    <a:pt x="123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23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73FF1B76-B64A-42EF-AC35-36D71330C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697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7" name="Line 104">
              <a:extLst>
                <a:ext uri="{FF2B5EF4-FFF2-40B4-BE49-F238E27FC236}">
                  <a16:creationId xmlns:a16="http://schemas.microsoft.com/office/drawing/2014/main" id="{AC419026-FF6E-4297-9E4E-78DD48A37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2827"/>
              <a:ext cx="125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8" name="Line 105">
              <a:extLst>
                <a:ext uri="{FF2B5EF4-FFF2-40B4-BE49-F238E27FC236}">
                  <a16:creationId xmlns:a16="http://schemas.microsoft.com/office/drawing/2014/main" id="{2C5FC2FC-2083-404A-834C-3F86B8A89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2827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09" name="Line 106">
              <a:extLst>
                <a:ext uri="{FF2B5EF4-FFF2-40B4-BE49-F238E27FC236}">
                  <a16:creationId xmlns:a16="http://schemas.microsoft.com/office/drawing/2014/main" id="{77F2F184-8C02-4303-8351-B4B274E26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2" y="2913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9C529D23-5019-4DBA-BA99-23324F1DF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" y="2913"/>
              <a:ext cx="0" cy="1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1" name="Line 108">
              <a:extLst>
                <a:ext uri="{FF2B5EF4-FFF2-40B4-BE49-F238E27FC236}">
                  <a16:creationId xmlns:a16="http://schemas.microsoft.com/office/drawing/2014/main" id="{BB970029-3106-4A29-B278-E5C27190F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" y="3086"/>
              <a:ext cx="303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2" name="Line 109">
              <a:extLst>
                <a:ext uri="{FF2B5EF4-FFF2-40B4-BE49-F238E27FC236}">
                  <a16:creationId xmlns:a16="http://schemas.microsoft.com/office/drawing/2014/main" id="{29FFA141-0406-4DE1-B3D3-84A24A60A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1" y="2827"/>
              <a:ext cx="0" cy="2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06A36133-F127-499A-AEBC-118DB3CCB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" y="2827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4" name="Line 111">
              <a:extLst>
                <a:ext uri="{FF2B5EF4-FFF2-40B4-BE49-F238E27FC236}">
                  <a16:creationId xmlns:a16="http://schemas.microsoft.com/office/drawing/2014/main" id="{7AFEC01F-AD26-465E-9F85-2A7530232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" y="3043"/>
              <a:ext cx="389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5" name="Line 112">
              <a:extLst>
                <a:ext uri="{FF2B5EF4-FFF2-40B4-BE49-F238E27FC236}">
                  <a16:creationId xmlns:a16="http://schemas.microsoft.com/office/drawing/2014/main" id="{DE78B7FB-2765-4EBF-8FAA-7691F4F0A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2827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6" name="Freeform 113">
              <a:extLst>
                <a:ext uri="{FF2B5EF4-FFF2-40B4-BE49-F238E27FC236}">
                  <a16:creationId xmlns:a16="http://schemas.microsoft.com/office/drawing/2014/main" id="{A5F408B8-D315-4EDC-94F4-F5689D6BC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3086"/>
              <a:ext cx="189" cy="432"/>
            </a:xfrm>
            <a:custGeom>
              <a:avLst/>
              <a:gdLst>
                <a:gd name="T0" fmla="*/ 0 w 189"/>
                <a:gd name="T1" fmla="*/ 288 h 432"/>
                <a:gd name="T2" fmla="*/ 63 w 189"/>
                <a:gd name="T3" fmla="*/ 216 h 432"/>
                <a:gd name="T4" fmla="*/ 0 w 189"/>
                <a:gd name="T5" fmla="*/ 144 h 432"/>
                <a:gd name="T6" fmla="*/ 0 w 189"/>
                <a:gd name="T7" fmla="*/ 0 h 432"/>
                <a:gd name="T8" fmla="*/ 189 w 189"/>
                <a:gd name="T9" fmla="*/ 144 h 432"/>
                <a:gd name="T10" fmla="*/ 189 w 189"/>
                <a:gd name="T11" fmla="*/ 288 h 432"/>
                <a:gd name="T12" fmla="*/ 0 w 189"/>
                <a:gd name="T13" fmla="*/ 432 h 432"/>
                <a:gd name="T14" fmla="*/ 0 w 189"/>
                <a:gd name="T15" fmla="*/ 288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432">
                  <a:moveTo>
                    <a:pt x="0" y="288"/>
                  </a:moveTo>
                  <a:lnTo>
                    <a:pt x="63" y="216"/>
                  </a:lnTo>
                  <a:lnTo>
                    <a:pt x="0" y="144"/>
                  </a:lnTo>
                  <a:lnTo>
                    <a:pt x="0" y="0"/>
                  </a:lnTo>
                  <a:lnTo>
                    <a:pt x="189" y="144"/>
                  </a:lnTo>
                  <a:lnTo>
                    <a:pt x="189" y="288"/>
                  </a:lnTo>
                  <a:lnTo>
                    <a:pt x="0" y="432"/>
                  </a:lnTo>
                  <a:lnTo>
                    <a:pt x="0" y="288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7" name="Rectangle 114">
              <a:extLst>
                <a:ext uri="{FF2B5EF4-FFF2-40B4-BE49-F238E27FC236}">
                  <a16:creationId xmlns:a16="http://schemas.microsoft.com/office/drawing/2014/main" id="{F365A360-7D86-4F72-8ACE-609EBE5D44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9" y="3234"/>
              <a:ext cx="40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ALU</a:t>
              </a:r>
              <a:endPara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18" name="Rectangle 115">
              <a:extLst>
                <a:ext uri="{FF2B5EF4-FFF2-40B4-BE49-F238E27FC236}">
                  <a16:creationId xmlns:a16="http://schemas.microsoft.com/office/drawing/2014/main" id="{978EF748-D10C-4FB1-BCF6-1A9EFFB61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" y="3226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19" name="Freeform 116">
              <a:extLst>
                <a:ext uri="{FF2B5EF4-FFF2-40B4-BE49-F238E27FC236}">
                  <a16:creationId xmlns:a16="http://schemas.microsoft.com/office/drawing/2014/main" id="{C6D68671-F2C4-49B4-BD09-44C203FAD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3173"/>
              <a:ext cx="156" cy="259"/>
            </a:xfrm>
            <a:custGeom>
              <a:avLst/>
              <a:gdLst>
                <a:gd name="T0" fmla="*/ 156 w 156"/>
                <a:gd name="T1" fmla="*/ 0 h 259"/>
                <a:gd name="T2" fmla="*/ 0 w 156"/>
                <a:gd name="T3" fmla="*/ 0 h 259"/>
                <a:gd name="T4" fmla="*/ 0 w 156"/>
                <a:gd name="T5" fmla="*/ 259 h 259"/>
                <a:gd name="T6" fmla="*/ 156 w 156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259">
                  <a:moveTo>
                    <a:pt x="156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56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0" name="Freeform 117">
              <a:extLst>
                <a:ext uri="{FF2B5EF4-FFF2-40B4-BE49-F238E27FC236}">
                  <a16:creationId xmlns:a16="http://schemas.microsoft.com/office/drawing/2014/main" id="{92EE1389-5730-450B-9CA7-7AA0399CC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173"/>
              <a:ext cx="150" cy="259"/>
            </a:xfrm>
            <a:custGeom>
              <a:avLst/>
              <a:gdLst>
                <a:gd name="T0" fmla="*/ 0 w 150"/>
                <a:gd name="T1" fmla="*/ 0 h 259"/>
                <a:gd name="T2" fmla="*/ 150 w 150"/>
                <a:gd name="T3" fmla="*/ 0 h 259"/>
                <a:gd name="T4" fmla="*/ 150 w 150"/>
                <a:gd name="T5" fmla="*/ 259 h 259"/>
                <a:gd name="T6" fmla="*/ 0 w 15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" h="259">
                  <a:moveTo>
                    <a:pt x="0" y="0"/>
                  </a:moveTo>
                  <a:lnTo>
                    <a:pt x="150" y="0"/>
                  </a:lnTo>
                  <a:lnTo>
                    <a:pt x="150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1" name="Rectangle 118">
              <a:extLst>
                <a:ext uri="{FF2B5EF4-FFF2-40B4-BE49-F238E27FC236}">
                  <a16:creationId xmlns:a16="http://schemas.microsoft.com/office/drawing/2014/main" id="{BC118BCC-4F8C-4263-863D-6241CFFDD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3220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22" name="Freeform 119">
              <a:extLst>
                <a:ext uri="{FF2B5EF4-FFF2-40B4-BE49-F238E27FC236}">
                  <a16:creationId xmlns:a16="http://schemas.microsoft.com/office/drawing/2014/main" id="{56FD861E-AB46-4DE0-9941-2B0F70FAE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3173"/>
              <a:ext cx="135" cy="259"/>
            </a:xfrm>
            <a:custGeom>
              <a:avLst/>
              <a:gdLst>
                <a:gd name="T0" fmla="*/ 135 w 135"/>
                <a:gd name="T1" fmla="*/ 0 h 259"/>
                <a:gd name="T2" fmla="*/ 0 w 135"/>
                <a:gd name="T3" fmla="*/ 0 h 259"/>
                <a:gd name="T4" fmla="*/ 0 w 135"/>
                <a:gd name="T5" fmla="*/ 259 h 259"/>
                <a:gd name="T6" fmla="*/ 135 w 13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259">
                  <a:moveTo>
                    <a:pt x="13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3" name="Freeform 120">
              <a:extLst>
                <a:ext uri="{FF2B5EF4-FFF2-40B4-BE49-F238E27FC236}">
                  <a16:creationId xmlns:a16="http://schemas.microsoft.com/office/drawing/2014/main" id="{C24CEEAB-DCBC-4AB3-AD82-2CCD16E43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3173"/>
              <a:ext cx="130" cy="259"/>
            </a:xfrm>
            <a:custGeom>
              <a:avLst/>
              <a:gdLst>
                <a:gd name="T0" fmla="*/ 0 w 130"/>
                <a:gd name="T1" fmla="*/ 0 h 259"/>
                <a:gd name="T2" fmla="*/ 130 w 130"/>
                <a:gd name="T3" fmla="*/ 0 h 259"/>
                <a:gd name="T4" fmla="*/ 130 w 130"/>
                <a:gd name="T5" fmla="*/ 259 h 259"/>
                <a:gd name="T6" fmla="*/ 0 w 13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59">
                  <a:moveTo>
                    <a:pt x="0" y="0"/>
                  </a:moveTo>
                  <a:lnTo>
                    <a:pt x="130" y="0"/>
                  </a:lnTo>
                  <a:lnTo>
                    <a:pt x="130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4" name="Line 121">
              <a:extLst>
                <a:ext uri="{FF2B5EF4-FFF2-40B4-BE49-F238E27FC236}">
                  <a16:creationId xmlns:a16="http://schemas.microsoft.com/office/drawing/2014/main" id="{B288EC42-2BC4-41E6-98BE-DB961309F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8" y="3303"/>
              <a:ext cx="103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5" name="Freeform 122">
              <a:extLst>
                <a:ext uri="{FF2B5EF4-FFF2-40B4-BE49-F238E27FC236}">
                  <a16:creationId xmlns:a16="http://schemas.microsoft.com/office/drawing/2014/main" id="{DBD7A6D8-FAA3-4E36-A743-DDB15456A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3216"/>
              <a:ext cx="43" cy="86"/>
            </a:xfrm>
            <a:custGeom>
              <a:avLst/>
              <a:gdLst>
                <a:gd name="T0" fmla="*/ 0 w 43"/>
                <a:gd name="T1" fmla="*/ 86 h 86"/>
                <a:gd name="T2" fmla="*/ 0 w 43"/>
                <a:gd name="T3" fmla="*/ 0 h 86"/>
                <a:gd name="T4" fmla="*/ 43 w 43"/>
                <a:gd name="T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86">
                  <a:moveTo>
                    <a:pt x="0" y="86"/>
                  </a:moveTo>
                  <a:lnTo>
                    <a:pt x="0" y="0"/>
                  </a:lnTo>
                  <a:lnTo>
                    <a:pt x="43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6" name="Line 123">
              <a:extLst>
                <a:ext uri="{FF2B5EF4-FFF2-40B4-BE49-F238E27FC236}">
                  <a16:creationId xmlns:a16="http://schemas.microsoft.com/office/drawing/2014/main" id="{11742C44-2A68-455F-B836-E31D76F21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3216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7" name="Rectangle 124">
              <a:extLst>
                <a:ext uri="{FF2B5EF4-FFF2-40B4-BE49-F238E27FC236}">
                  <a16:creationId xmlns:a16="http://schemas.microsoft.com/office/drawing/2014/main" id="{697F3C4D-35E8-4634-9290-6D10F10B0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2" y="3231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28" name="Freeform 125">
              <a:extLst>
                <a:ext uri="{FF2B5EF4-FFF2-40B4-BE49-F238E27FC236}">
                  <a16:creationId xmlns:a16="http://schemas.microsoft.com/office/drawing/2014/main" id="{FE83C092-C6F0-4701-B3EA-0B67C9183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3173"/>
              <a:ext cx="145" cy="259"/>
            </a:xfrm>
            <a:custGeom>
              <a:avLst/>
              <a:gdLst>
                <a:gd name="T0" fmla="*/ 145 w 145"/>
                <a:gd name="T1" fmla="*/ 0 h 259"/>
                <a:gd name="T2" fmla="*/ 0 w 145"/>
                <a:gd name="T3" fmla="*/ 0 h 259"/>
                <a:gd name="T4" fmla="*/ 0 w 145"/>
                <a:gd name="T5" fmla="*/ 259 h 259"/>
                <a:gd name="T6" fmla="*/ 145 w 14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59">
                  <a:moveTo>
                    <a:pt x="14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4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708F3E8D-6B8D-4DDB-BC9E-04D6F35AD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3173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0" name="Rectangle 127">
              <a:extLst>
                <a:ext uri="{FF2B5EF4-FFF2-40B4-BE49-F238E27FC236}">
                  <a16:creationId xmlns:a16="http://schemas.microsoft.com/office/drawing/2014/main" id="{593050CC-0081-4B10-8EE1-A2663814C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3221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31" name="Freeform 128">
              <a:extLst>
                <a:ext uri="{FF2B5EF4-FFF2-40B4-BE49-F238E27FC236}">
                  <a16:creationId xmlns:a16="http://schemas.microsoft.com/office/drawing/2014/main" id="{E34E167A-EFD9-4EC3-9B59-FEA848B90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173"/>
              <a:ext cx="129" cy="259"/>
            </a:xfrm>
            <a:custGeom>
              <a:avLst/>
              <a:gdLst>
                <a:gd name="T0" fmla="*/ 129 w 129"/>
                <a:gd name="T1" fmla="*/ 0 h 259"/>
                <a:gd name="T2" fmla="*/ 0 w 129"/>
                <a:gd name="T3" fmla="*/ 0 h 259"/>
                <a:gd name="T4" fmla="*/ 0 w 129"/>
                <a:gd name="T5" fmla="*/ 259 h 259"/>
                <a:gd name="T6" fmla="*/ 129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129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29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89A260FE-11C5-4608-B37E-402201A22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3173"/>
              <a:ext cx="130" cy="259"/>
            </a:xfrm>
            <a:custGeom>
              <a:avLst/>
              <a:gdLst>
                <a:gd name="T0" fmla="*/ 0 w 130"/>
                <a:gd name="T1" fmla="*/ 0 h 259"/>
                <a:gd name="T2" fmla="*/ 130 w 130"/>
                <a:gd name="T3" fmla="*/ 0 h 259"/>
                <a:gd name="T4" fmla="*/ 130 w 130"/>
                <a:gd name="T5" fmla="*/ 259 h 259"/>
                <a:gd name="T6" fmla="*/ 0 w 130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59">
                  <a:moveTo>
                    <a:pt x="0" y="0"/>
                  </a:moveTo>
                  <a:lnTo>
                    <a:pt x="130" y="0"/>
                  </a:lnTo>
                  <a:lnTo>
                    <a:pt x="130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3" name="Line 130">
              <a:extLst>
                <a:ext uri="{FF2B5EF4-FFF2-40B4-BE49-F238E27FC236}">
                  <a16:creationId xmlns:a16="http://schemas.microsoft.com/office/drawing/2014/main" id="{6D2D828F-0A3A-4230-9532-B254BA7B5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" y="3303"/>
              <a:ext cx="124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4" name="Line 131">
              <a:extLst>
                <a:ext uri="{FF2B5EF4-FFF2-40B4-BE49-F238E27FC236}">
                  <a16:creationId xmlns:a16="http://schemas.microsoft.com/office/drawing/2014/main" id="{6D60B007-DAD7-416E-947E-93C5151A1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3303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5" name="Line 132">
              <a:extLst>
                <a:ext uri="{FF2B5EF4-FFF2-40B4-BE49-F238E27FC236}">
                  <a16:creationId xmlns:a16="http://schemas.microsoft.com/office/drawing/2014/main" id="{2AE86BCB-A7A0-46CD-A442-040D17510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3389"/>
              <a:ext cx="140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6" name="Line 133">
              <a:extLst>
                <a:ext uri="{FF2B5EF4-FFF2-40B4-BE49-F238E27FC236}">
                  <a16:creationId xmlns:a16="http://schemas.microsoft.com/office/drawing/2014/main" id="{DE35A1BB-04F3-42CB-906E-7B21BB8B3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7" y="3389"/>
              <a:ext cx="0" cy="1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7" name="Line 134">
              <a:extLst>
                <a:ext uri="{FF2B5EF4-FFF2-40B4-BE49-F238E27FC236}">
                  <a16:creationId xmlns:a16="http://schemas.microsoft.com/office/drawing/2014/main" id="{D9A5D784-BB6D-4097-A667-50C2E548F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7" y="3562"/>
              <a:ext cx="303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8" name="Line 135">
              <a:extLst>
                <a:ext uri="{FF2B5EF4-FFF2-40B4-BE49-F238E27FC236}">
                  <a16:creationId xmlns:a16="http://schemas.microsoft.com/office/drawing/2014/main" id="{C796F913-BFE4-4287-A6B8-6DB6384D8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3303"/>
              <a:ext cx="0" cy="2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9" name="Line 136">
              <a:extLst>
                <a:ext uri="{FF2B5EF4-FFF2-40B4-BE49-F238E27FC236}">
                  <a16:creationId xmlns:a16="http://schemas.microsoft.com/office/drawing/2014/main" id="{B28D930C-3FA6-4F19-A837-A3DC5C631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" y="3303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0" name="Line 137">
              <a:extLst>
                <a:ext uri="{FF2B5EF4-FFF2-40B4-BE49-F238E27FC236}">
                  <a16:creationId xmlns:a16="http://schemas.microsoft.com/office/drawing/2014/main" id="{46757D62-1BD9-406F-820B-D13033FC9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" y="3519"/>
              <a:ext cx="389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1" name="Line 138">
              <a:extLst>
                <a:ext uri="{FF2B5EF4-FFF2-40B4-BE49-F238E27FC236}">
                  <a16:creationId xmlns:a16="http://schemas.microsoft.com/office/drawing/2014/main" id="{F3D298C1-4949-42EA-8BDF-F75C9CC4C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" y="3303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2" name="Freeform 139">
              <a:extLst>
                <a:ext uri="{FF2B5EF4-FFF2-40B4-BE49-F238E27FC236}">
                  <a16:creationId xmlns:a16="http://schemas.microsoft.com/office/drawing/2014/main" id="{A4B4B2B3-851B-4226-A59C-03CCE00EB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3562"/>
              <a:ext cx="189" cy="433"/>
            </a:xfrm>
            <a:custGeom>
              <a:avLst/>
              <a:gdLst>
                <a:gd name="T0" fmla="*/ 0 w 189"/>
                <a:gd name="T1" fmla="*/ 289 h 433"/>
                <a:gd name="T2" fmla="*/ 64 w 189"/>
                <a:gd name="T3" fmla="*/ 217 h 433"/>
                <a:gd name="T4" fmla="*/ 0 w 189"/>
                <a:gd name="T5" fmla="*/ 145 h 433"/>
                <a:gd name="T6" fmla="*/ 0 w 189"/>
                <a:gd name="T7" fmla="*/ 0 h 433"/>
                <a:gd name="T8" fmla="*/ 189 w 189"/>
                <a:gd name="T9" fmla="*/ 145 h 433"/>
                <a:gd name="T10" fmla="*/ 189 w 189"/>
                <a:gd name="T11" fmla="*/ 289 h 433"/>
                <a:gd name="T12" fmla="*/ 0 w 189"/>
                <a:gd name="T13" fmla="*/ 433 h 433"/>
                <a:gd name="T14" fmla="*/ 0 w 189"/>
                <a:gd name="T15" fmla="*/ 289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9" h="433">
                  <a:moveTo>
                    <a:pt x="0" y="289"/>
                  </a:moveTo>
                  <a:lnTo>
                    <a:pt x="64" y="217"/>
                  </a:lnTo>
                  <a:lnTo>
                    <a:pt x="0" y="145"/>
                  </a:lnTo>
                  <a:lnTo>
                    <a:pt x="0" y="0"/>
                  </a:lnTo>
                  <a:lnTo>
                    <a:pt x="189" y="145"/>
                  </a:lnTo>
                  <a:lnTo>
                    <a:pt x="189" y="289"/>
                  </a:lnTo>
                  <a:lnTo>
                    <a:pt x="0" y="433"/>
                  </a:lnTo>
                  <a:lnTo>
                    <a:pt x="0" y="28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3" name="Rectangle 140">
              <a:extLst>
                <a:ext uri="{FF2B5EF4-FFF2-40B4-BE49-F238E27FC236}">
                  <a16:creationId xmlns:a16="http://schemas.microsoft.com/office/drawing/2014/main" id="{633BDE3B-8D49-4A59-B18E-B2C2829A1F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8" y="3710"/>
              <a:ext cx="40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ALU</a:t>
              </a:r>
              <a:endPara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44" name="Rectangle 141">
              <a:extLst>
                <a:ext uri="{FF2B5EF4-FFF2-40B4-BE49-F238E27FC236}">
                  <a16:creationId xmlns:a16="http://schemas.microsoft.com/office/drawing/2014/main" id="{9A579C0A-6200-48F8-B1E3-9F703E2F9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" y="3697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45" name="Freeform 142">
              <a:extLst>
                <a:ext uri="{FF2B5EF4-FFF2-40B4-BE49-F238E27FC236}">
                  <a16:creationId xmlns:a16="http://schemas.microsoft.com/office/drawing/2014/main" id="{D8C5197C-3146-4EE4-93CF-9D3AF47FC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3649"/>
              <a:ext cx="156" cy="259"/>
            </a:xfrm>
            <a:custGeom>
              <a:avLst/>
              <a:gdLst>
                <a:gd name="T0" fmla="*/ 156 w 156"/>
                <a:gd name="T1" fmla="*/ 0 h 259"/>
                <a:gd name="T2" fmla="*/ 0 w 156"/>
                <a:gd name="T3" fmla="*/ 0 h 259"/>
                <a:gd name="T4" fmla="*/ 0 w 156"/>
                <a:gd name="T5" fmla="*/ 259 h 259"/>
                <a:gd name="T6" fmla="*/ 156 w 156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259">
                  <a:moveTo>
                    <a:pt x="156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56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6" name="Freeform 143">
              <a:extLst>
                <a:ext uri="{FF2B5EF4-FFF2-40B4-BE49-F238E27FC236}">
                  <a16:creationId xmlns:a16="http://schemas.microsoft.com/office/drawing/2014/main" id="{796E16E4-0DA3-4B6F-AAB2-6C3CCFF0E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649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7" name="Rectangle 144">
              <a:extLst>
                <a:ext uri="{FF2B5EF4-FFF2-40B4-BE49-F238E27FC236}">
                  <a16:creationId xmlns:a16="http://schemas.microsoft.com/office/drawing/2014/main" id="{F2A1DC00-2F50-4FBE-9B7D-783AA0087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3696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48" name="Freeform 145">
              <a:extLst>
                <a:ext uri="{FF2B5EF4-FFF2-40B4-BE49-F238E27FC236}">
                  <a16:creationId xmlns:a16="http://schemas.microsoft.com/office/drawing/2014/main" id="{E8DF51D2-2C13-484A-BD1B-CB211F769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3649"/>
              <a:ext cx="134" cy="259"/>
            </a:xfrm>
            <a:custGeom>
              <a:avLst/>
              <a:gdLst>
                <a:gd name="T0" fmla="*/ 134 w 134"/>
                <a:gd name="T1" fmla="*/ 0 h 259"/>
                <a:gd name="T2" fmla="*/ 0 w 134"/>
                <a:gd name="T3" fmla="*/ 0 h 259"/>
                <a:gd name="T4" fmla="*/ 0 w 134"/>
                <a:gd name="T5" fmla="*/ 259 h 259"/>
                <a:gd name="T6" fmla="*/ 134 w 134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" h="259">
                  <a:moveTo>
                    <a:pt x="134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34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49" name="Freeform 146">
              <a:extLst>
                <a:ext uri="{FF2B5EF4-FFF2-40B4-BE49-F238E27FC236}">
                  <a16:creationId xmlns:a16="http://schemas.microsoft.com/office/drawing/2014/main" id="{AE04D508-4C5A-49BC-8266-3D3F09FB3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3649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0" name="Line 147">
              <a:extLst>
                <a:ext uri="{FF2B5EF4-FFF2-40B4-BE49-F238E27FC236}">
                  <a16:creationId xmlns:a16="http://schemas.microsoft.com/office/drawing/2014/main" id="{32554DA8-9423-4F33-9803-0DCAC8FE0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8" y="3779"/>
              <a:ext cx="103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1" name="Freeform 148">
              <a:extLst>
                <a:ext uri="{FF2B5EF4-FFF2-40B4-BE49-F238E27FC236}">
                  <a16:creationId xmlns:a16="http://schemas.microsoft.com/office/drawing/2014/main" id="{25B38FD4-31AF-4111-9746-702C8B26C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3692"/>
              <a:ext cx="43" cy="86"/>
            </a:xfrm>
            <a:custGeom>
              <a:avLst/>
              <a:gdLst>
                <a:gd name="T0" fmla="*/ 0 w 43"/>
                <a:gd name="T1" fmla="*/ 86 h 86"/>
                <a:gd name="T2" fmla="*/ 0 w 43"/>
                <a:gd name="T3" fmla="*/ 0 h 86"/>
                <a:gd name="T4" fmla="*/ 43 w 43"/>
                <a:gd name="T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86">
                  <a:moveTo>
                    <a:pt x="0" y="86"/>
                  </a:moveTo>
                  <a:lnTo>
                    <a:pt x="0" y="0"/>
                  </a:lnTo>
                  <a:lnTo>
                    <a:pt x="43" y="0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2" name="Line 149">
              <a:extLst>
                <a:ext uri="{FF2B5EF4-FFF2-40B4-BE49-F238E27FC236}">
                  <a16:creationId xmlns:a16="http://schemas.microsoft.com/office/drawing/2014/main" id="{7C0FCE95-5BC1-4443-9404-51ABEBF13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3692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3" name="Rectangle 150">
              <a:extLst>
                <a:ext uri="{FF2B5EF4-FFF2-40B4-BE49-F238E27FC236}">
                  <a16:creationId xmlns:a16="http://schemas.microsoft.com/office/drawing/2014/main" id="{7D6D63C3-78C5-43EC-A940-63AB7C1A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1" y="3702"/>
              <a:ext cx="25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Mem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54" name="Freeform 151">
              <a:extLst>
                <a:ext uri="{FF2B5EF4-FFF2-40B4-BE49-F238E27FC236}">
                  <a16:creationId xmlns:a16="http://schemas.microsoft.com/office/drawing/2014/main" id="{2139BF1D-584F-4FB1-AF5C-D2737FC61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" y="3649"/>
              <a:ext cx="145" cy="259"/>
            </a:xfrm>
            <a:custGeom>
              <a:avLst/>
              <a:gdLst>
                <a:gd name="T0" fmla="*/ 145 w 145"/>
                <a:gd name="T1" fmla="*/ 0 h 259"/>
                <a:gd name="T2" fmla="*/ 0 w 145"/>
                <a:gd name="T3" fmla="*/ 0 h 259"/>
                <a:gd name="T4" fmla="*/ 0 w 145"/>
                <a:gd name="T5" fmla="*/ 259 h 259"/>
                <a:gd name="T6" fmla="*/ 145 w 145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59">
                  <a:moveTo>
                    <a:pt x="145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45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5" name="Freeform 152">
              <a:extLst>
                <a:ext uri="{FF2B5EF4-FFF2-40B4-BE49-F238E27FC236}">
                  <a16:creationId xmlns:a16="http://schemas.microsoft.com/office/drawing/2014/main" id="{26E85FDF-96F2-4E7A-B4DD-E820A6544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649"/>
              <a:ext cx="151" cy="259"/>
            </a:xfrm>
            <a:custGeom>
              <a:avLst/>
              <a:gdLst>
                <a:gd name="T0" fmla="*/ 0 w 151"/>
                <a:gd name="T1" fmla="*/ 0 h 259"/>
                <a:gd name="T2" fmla="*/ 151 w 151"/>
                <a:gd name="T3" fmla="*/ 0 h 259"/>
                <a:gd name="T4" fmla="*/ 151 w 151"/>
                <a:gd name="T5" fmla="*/ 259 h 259"/>
                <a:gd name="T6" fmla="*/ 0 w 151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259">
                  <a:moveTo>
                    <a:pt x="0" y="0"/>
                  </a:moveTo>
                  <a:lnTo>
                    <a:pt x="151" y="0"/>
                  </a:lnTo>
                  <a:lnTo>
                    <a:pt x="151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6" name="Rectangle 153">
              <a:extLst>
                <a:ext uri="{FF2B5EF4-FFF2-40B4-BE49-F238E27FC236}">
                  <a16:creationId xmlns:a16="http://schemas.microsoft.com/office/drawing/2014/main" id="{0CC6D696-573A-4A4D-8196-CCEF45C9B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3697"/>
              <a:ext cx="20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</a:rPr>
                <a:t>Reg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57" name="Freeform 154">
              <a:extLst>
                <a:ext uri="{FF2B5EF4-FFF2-40B4-BE49-F238E27FC236}">
                  <a16:creationId xmlns:a16="http://schemas.microsoft.com/office/drawing/2014/main" id="{66D7173F-7F92-4457-A179-26105F94F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3649"/>
              <a:ext cx="124" cy="259"/>
            </a:xfrm>
            <a:custGeom>
              <a:avLst/>
              <a:gdLst>
                <a:gd name="T0" fmla="*/ 124 w 124"/>
                <a:gd name="T1" fmla="*/ 0 h 259"/>
                <a:gd name="T2" fmla="*/ 0 w 124"/>
                <a:gd name="T3" fmla="*/ 0 h 259"/>
                <a:gd name="T4" fmla="*/ 0 w 124"/>
                <a:gd name="T5" fmla="*/ 259 h 259"/>
                <a:gd name="T6" fmla="*/ 124 w 124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59">
                  <a:moveTo>
                    <a:pt x="124" y="0"/>
                  </a:moveTo>
                  <a:lnTo>
                    <a:pt x="0" y="0"/>
                  </a:lnTo>
                  <a:lnTo>
                    <a:pt x="0" y="259"/>
                  </a:lnTo>
                  <a:lnTo>
                    <a:pt x="124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8" name="Freeform 155">
              <a:extLst>
                <a:ext uri="{FF2B5EF4-FFF2-40B4-BE49-F238E27FC236}">
                  <a16:creationId xmlns:a16="http://schemas.microsoft.com/office/drawing/2014/main" id="{66695180-2B9B-4A51-BE2C-65F58E345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3649"/>
              <a:ext cx="129" cy="259"/>
            </a:xfrm>
            <a:custGeom>
              <a:avLst/>
              <a:gdLst>
                <a:gd name="T0" fmla="*/ 0 w 129"/>
                <a:gd name="T1" fmla="*/ 0 h 259"/>
                <a:gd name="T2" fmla="*/ 129 w 129"/>
                <a:gd name="T3" fmla="*/ 0 h 259"/>
                <a:gd name="T4" fmla="*/ 129 w 129"/>
                <a:gd name="T5" fmla="*/ 259 h 259"/>
                <a:gd name="T6" fmla="*/ 0 w 129"/>
                <a:gd name="T7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259">
                  <a:moveTo>
                    <a:pt x="0" y="0"/>
                  </a:moveTo>
                  <a:lnTo>
                    <a:pt x="129" y="0"/>
                  </a:lnTo>
                  <a:lnTo>
                    <a:pt x="129" y="259"/>
                  </a:lnTo>
                  <a:lnTo>
                    <a:pt x="0" y="259"/>
                  </a:ln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59" name="Line 156">
              <a:extLst>
                <a:ext uri="{FF2B5EF4-FFF2-40B4-BE49-F238E27FC236}">
                  <a16:creationId xmlns:a16="http://schemas.microsoft.com/office/drawing/2014/main" id="{C14F1D43-049B-463C-BD73-B71F47761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" y="3779"/>
              <a:ext cx="125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0" name="Line 157">
              <a:extLst>
                <a:ext uri="{FF2B5EF4-FFF2-40B4-BE49-F238E27FC236}">
                  <a16:creationId xmlns:a16="http://schemas.microsoft.com/office/drawing/2014/main" id="{43F6BF7D-C31F-4277-BCAA-384C52256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7" y="3779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1" name="Line 158">
              <a:extLst>
                <a:ext uri="{FF2B5EF4-FFF2-40B4-BE49-F238E27FC236}">
                  <a16:creationId xmlns:a16="http://schemas.microsoft.com/office/drawing/2014/main" id="{79AE503B-F4EF-41FE-B359-DB9EAECF7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3865"/>
              <a:ext cx="141" cy="0"/>
            </a:xfrm>
            <a:prstGeom prst="line">
              <a:avLst/>
            </a:prstGeom>
            <a:noFill/>
            <a:ln w="238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2" name="Line 159">
              <a:extLst>
                <a:ext uri="{FF2B5EF4-FFF2-40B4-BE49-F238E27FC236}">
                  <a16:creationId xmlns:a16="http://schemas.microsoft.com/office/drawing/2014/main" id="{1D138966-69CA-4A45-803D-40121392D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3865"/>
              <a:ext cx="0" cy="17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3" name="Line 160">
              <a:extLst>
                <a:ext uri="{FF2B5EF4-FFF2-40B4-BE49-F238E27FC236}">
                  <a16:creationId xmlns:a16="http://schemas.microsoft.com/office/drawing/2014/main" id="{E707A7AF-A13F-41D1-AC50-B951422E3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4039"/>
              <a:ext cx="303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4" name="Line 161">
              <a:extLst>
                <a:ext uri="{FF2B5EF4-FFF2-40B4-BE49-F238E27FC236}">
                  <a16:creationId xmlns:a16="http://schemas.microsoft.com/office/drawing/2014/main" id="{4EAAA6B2-50CC-412F-9F5D-ED620204C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0" y="3779"/>
              <a:ext cx="0" cy="26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5" name="Line 162">
              <a:extLst>
                <a:ext uri="{FF2B5EF4-FFF2-40B4-BE49-F238E27FC236}">
                  <a16:creationId xmlns:a16="http://schemas.microsoft.com/office/drawing/2014/main" id="{0519214B-5E87-43F2-A00C-0098A5D01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3779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6" name="Line 163">
              <a:extLst>
                <a:ext uri="{FF2B5EF4-FFF2-40B4-BE49-F238E27FC236}">
                  <a16:creationId xmlns:a16="http://schemas.microsoft.com/office/drawing/2014/main" id="{A5CE2927-EED0-4CBA-87E3-0CA6FC564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3995"/>
              <a:ext cx="390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7" name="Line 164">
              <a:extLst>
                <a:ext uri="{FF2B5EF4-FFF2-40B4-BE49-F238E27FC236}">
                  <a16:creationId xmlns:a16="http://schemas.microsoft.com/office/drawing/2014/main" id="{D745B041-2459-4F3B-A611-CB800945E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3779"/>
              <a:ext cx="0" cy="21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68" name="Rectangle 165">
              <a:extLst>
                <a:ext uri="{FF2B5EF4-FFF2-40B4-BE49-F238E27FC236}">
                  <a16:creationId xmlns:a16="http://schemas.microsoft.com/office/drawing/2014/main" id="{08D0927A-C344-4769-88BE-F8DCCA165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" y="1655"/>
              <a:ext cx="101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u="none" strike="noStrike" cap="none" normalizeH="0" baseline="0" dirty="0">
                  <a:ln>
                    <a:noFill/>
                  </a:ln>
                  <a:solidFill>
                    <a:srgbClr val="DE2506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从存储器读数据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69" name="Freeform 166">
              <a:extLst>
                <a:ext uri="{FF2B5EF4-FFF2-40B4-BE49-F238E27FC236}">
                  <a16:creationId xmlns:a16="http://schemas.microsoft.com/office/drawing/2014/main" id="{278B1EB0-FD1D-4E26-891B-7C57E0A4B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8" y="1611"/>
              <a:ext cx="933" cy="206"/>
            </a:xfrm>
            <a:custGeom>
              <a:avLst/>
              <a:gdLst>
                <a:gd name="T0" fmla="*/ 2546 w 2762"/>
                <a:gd name="T1" fmla="*/ 601 h 608"/>
                <a:gd name="T2" fmla="*/ 2142 w 2762"/>
                <a:gd name="T3" fmla="*/ 554 h 608"/>
                <a:gd name="T4" fmla="*/ 1967 w 2762"/>
                <a:gd name="T5" fmla="*/ 516 h 608"/>
                <a:gd name="T6" fmla="*/ 1819 w 2762"/>
                <a:gd name="T7" fmla="*/ 472 h 608"/>
                <a:gd name="T8" fmla="*/ 1704 w 2762"/>
                <a:gd name="T9" fmla="*/ 421 h 608"/>
                <a:gd name="T10" fmla="*/ 1660 w 2762"/>
                <a:gd name="T11" fmla="*/ 394 h 608"/>
                <a:gd name="T12" fmla="*/ 1627 w 2762"/>
                <a:gd name="T13" fmla="*/ 365 h 608"/>
                <a:gd name="T14" fmla="*/ 1606 w 2762"/>
                <a:gd name="T15" fmla="*/ 334 h 608"/>
                <a:gd name="T16" fmla="*/ 1594 w 2762"/>
                <a:gd name="T17" fmla="*/ 278 h 608"/>
                <a:gd name="T18" fmla="*/ 1582 w 2762"/>
                <a:gd name="T19" fmla="*/ 254 h 608"/>
                <a:gd name="T20" fmla="*/ 1561 w 2762"/>
                <a:gd name="T21" fmla="*/ 229 h 608"/>
                <a:gd name="T22" fmla="*/ 1533 w 2762"/>
                <a:gd name="T23" fmla="*/ 204 h 608"/>
                <a:gd name="T24" fmla="*/ 1456 w 2762"/>
                <a:gd name="T25" fmla="*/ 156 h 608"/>
                <a:gd name="T26" fmla="*/ 1235 w 2762"/>
                <a:gd name="T27" fmla="*/ 75 h 608"/>
                <a:gd name="T28" fmla="*/ 957 w 2762"/>
                <a:gd name="T29" fmla="*/ 28 h 608"/>
                <a:gd name="T30" fmla="*/ 661 w 2762"/>
                <a:gd name="T31" fmla="*/ 30 h 608"/>
                <a:gd name="T32" fmla="*/ 383 w 2762"/>
                <a:gd name="T33" fmla="*/ 92 h 608"/>
                <a:gd name="T34" fmla="*/ 163 w 2762"/>
                <a:gd name="T35" fmla="*/ 198 h 608"/>
                <a:gd name="T36" fmla="*/ 86 w 2762"/>
                <a:gd name="T37" fmla="*/ 261 h 608"/>
                <a:gd name="T38" fmla="*/ 60 w 2762"/>
                <a:gd name="T39" fmla="*/ 302 h 608"/>
                <a:gd name="T40" fmla="*/ 70 w 2762"/>
                <a:gd name="T41" fmla="*/ 248 h 608"/>
                <a:gd name="T42" fmla="*/ 108 w 2762"/>
                <a:gd name="T43" fmla="*/ 212 h 608"/>
                <a:gd name="T44" fmla="*/ 255 w 2762"/>
                <a:gd name="T45" fmla="*/ 121 h 608"/>
                <a:gd name="T46" fmla="*/ 514 w 2762"/>
                <a:gd name="T47" fmla="*/ 33 h 608"/>
                <a:gd name="T48" fmla="*/ 810 w 2762"/>
                <a:gd name="T49" fmla="*/ 0 h 608"/>
                <a:gd name="T50" fmla="*/ 1106 w 2762"/>
                <a:gd name="T51" fmla="*/ 25 h 608"/>
                <a:gd name="T52" fmla="*/ 1364 w 2762"/>
                <a:gd name="T53" fmla="*/ 93 h 608"/>
                <a:gd name="T54" fmla="*/ 1511 w 2762"/>
                <a:gd name="T55" fmla="*/ 163 h 608"/>
                <a:gd name="T56" fmla="*/ 1577 w 2762"/>
                <a:gd name="T57" fmla="*/ 215 h 608"/>
                <a:gd name="T58" fmla="*/ 1600 w 2762"/>
                <a:gd name="T59" fmla="*/ 243 h 608"/>
                <a:gd name="T60" fmla="*/ 1614 w 2762"/>
                <a:gd name="T61" fmla="*/ 272 h 608"/>
                <a:gd name="T62" fmla="*/ 1620 w 2762"/>
                <a:gd name="T63" fmla="*/ 302 h 608"/>
                <a:gd name="T64" fmla="*/ 1625 w 2762"/>
                <a:gd name="T65" fmla="*/ 325 h 608"/>
                <a:gd name="T66" fmla="*/ 1642 w 2762"/>
                <a:gd name="T67" fmla="*/ 351 h 608"/>
                <a:gd name="T68" fmla="*/ 1672 w 2762"/>
                <a:gd name="T69" fmla="*/ 376 h 608"/>
                <a:gd name="T70" fmla="*/ 1764 w 2762"/>
                <a:gd name="T71" fmla="*/ 428 h 608"/>
                <a:gd name="T72" fmla="*/ 1895 w 2762"/>
                <a:gd name="T73" fmla="*/ 474 h 608"/>
                <a:gd name="T74" fmla="*/ 2056 w 2762"/>
                <a:gd name="T75" fmla="*/ 515 h 608"/>
                <a:gd name="T76" fmla="*/ 2339 w 2762"/>
                <a:gd name="T77" fmla="*/ 562 h 608"/>
                <a:gd name="T78" fmla="*/ 2762 w 2762"/>
                <a:gd name="T79" fmla="*/ 587 h 608"/>
                <a:gd name="T80" fmla="*/ 118 w 2762"/>
                <a:gd name="T81" fmla="*/ 301 h 608"/>
                <a:gd name="T82" fmla="*/ 0 w 2762"/>
                <a:gd name="T83" fmla="*/ 25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762" h="608">
                  <a:moveTo>
                    <a:pt x="2761" y="608"/>
                  </a:moveTo>
                  <a:lnTo>
                    <a:pt x="2546" y="601"/>
                  </a:lnTo>
                  <a:lnTo>
                    <a:pt x="2338" y="583"/>
                  </a:lnTo>
                  <a:lnTo>
                    <a:pt x="2142" y="554"/>
                  </a:lnTo>
                  <a:lnTo>
                    <a:pt x="2051" y="536"/>
                  </a:lnTo>
                  <a:lnTo>
                    <a:pt x="1967" y="516"/>
                  </a:lnTo>
                  <a:lnTo>
                    <a:pt x="1890" y="495"/>
                  </a:lnTo>
                  <a:lnTo>
                    <a:pt x="1819" y="472"/>
                  </a:lnTo>
                  <a:lnTo>
                    <a:pt x="1757" y="447"/>
                  </a:lnTo>
                  <a:lnTo>
                    <a:pt x="1704" y="421"/>
                  </a:lnTo>
                  <a:lnTo>
                    <a:pt x="1661" y="395"/>
                  </a:lnTo>
                  <a:cubicBezTo>
                    <a:pt x="1660" y="394"/>
                    <a:pt x="1660" y="394"/>
                    <a:pt x="1660" y="394"/>
                  </a:cubicBezTo>
                  <a:lnTo>
                    <a:pt x="1629" y="368"/>
                  </a:lnTo>
                  <a:cubicBezTo>
                    <a:pt x="1628" y="367"/>
                    <a:pt x="1627" y="366"/>
                    <a:pt x="1627" y="365"/>
                  </a:cubicBezTo>
                  <a:lnTo>
                    <a:pt x="1608" y="337"/>
                  </a:lnTo>
                  <a:cubicBezTo>
                    <a:pt x="1607" y="336"/>
                    <a:pt x="1606" y="335"/>
                    <a:pt x="1606" y="334"/>
                  </a:cubicBezTo>
                  <a:lnTo>
                    <a:pt x="1599" y="307"/>
                  </a:lnTo>
                  <a:lnTo>
                    <a:pt x="1594" y="278"/>
                  </a:lnTo>
                  <a:lnTo>
                    <a:pt x="1595" y="281"/>
                  </a:lnTo>
                  <a:lnTo>
                    <a:pt x="1582" y="254"/>
                  </a:lnTo>
                  <a:lnTo>
                    <a:pt x="1583" y="256"/>
                  </a:lnTo>
                  <a:lnTo>
                    <a:pt x="1561" y="229"/>
                  </a:lnTo>
                  <a:lnTo>
                    <a:pt x="1562" y="230"/>
                  </a:lnTo>
                  <a:lnTo>
                    <a:pt x="1533" y="204"/>
                  </a:lnTo>
                  <a:lnTo>
                    <a:pt x="1498" y="180"/>
                  </a:lnTo>
                  <a:lnTo>
                    <a:pt x="1456" y="156"/>
                  </a:lnTo>
                  <a:lnTo>
                    <a:pt x="1355" y="112"/>
                  </a:lnTo>
                  <a:lnTo>
                    <a:pt x="1235" y="75"/>
                  </a:lnTo>
                  <a:lnTo>
                    <a:pt x="1101" y="46"/>
                  </a:lnTo>
                  <a:lnTo>
                    <a:pt x="957" y="28"/>
                  </a:lnTo>
                  <a:lnTo>
                    <a:pt x="809" y="21"/>
                  </a:lnTo>
                  <a:lnTo>
                    <a:pt x="661" y="30"/>
                  </a:lnTo>
                  <a:lnTo>
                    <a:pt x="517" y="54"/>
                  </a:lnTo>
                  <a:lnTo>
                    <a:pt x="383" y="92"/>
                  </a:lnTo>
                  <a:lnTo>
                    <a:pt x="263" y="140"/>
                  </a:lnTo>
                  <a:lnTo>
                    <a:pt x="163" y="198"/>
                  </a:lnTo>
                  <a:lnTo>
                    <a:pt x="121" y="229"/>
                  </a:lnTo>
                  <a:lnTo>
                    <a:pt x="86" y="261"/>
                  </a:lnTo>
                  <a:lnTo>
                    <a:pt x="87" y="259"/>
                  </a:lnTo>
                  <a:lnTo>
                    <a:pt x="60" y="302"/>
                  </a:lnTo>
                  <a:lnTo>
                    <a:pt x="42" y="290"/>
                  </a:lnTo>
                  <a:lnTo>
                    <a:pt x="70" y="248"/>
                  </a:lnTo>
                  <a:cubicBezTo>
                    <a:pt x="70" y="247"/>
                    <a:pt x="71" y="246"/>
                    <a:pt x="71" y="246"/>
                  </a:cubicBezTo>
                  <a:lnTo>
                    <a:pt x="108" y="212"/>
                  </a:lnTo>
                  <a:lnTo>
                    <a:pt x="152" y="179"/>
                  </a:lnTo>
                  <a:lnTo>
                    <a:pt x="255" y="121"/>
                  </a:lnTo>
                  <a:lnTo>
                    <a:pt x="378" y="71"/>
                  </a:lnTo>
                  <a:lnTo>
                    <a:pt x="514" y="33"/>
                  </a:lnTo>
                  <a:lnTo>
                    <a:pt x="660" y="9"/>
                  </a:lnTo>
                  <a:lnTo>
                    <a:pt x="810" y="0"/>
                  </a:lnTo>
                  <a:lnTo>
                    <a:pt x="960" y="7"/>
                  </a:lnTo>
                  <a:lnTo>
                    <a:pt x="1106" y="25"/>
                  </a:lnTo>
                  <a:lnTo>
                    <a:pt x="1242" y="54"/>
                  </a:lnTo>
                  <a:lnTo>
                    <a:pt x="1364" y="93"/>
                  </a:lnTo>
                  <a:lnTo>
                    <a:pt x="1467" y="137"/>
                  </a:lnTo>
                  <a:lnTo>
                    <a:pt x="1511" y="163"/>
                  </a:lnTo>
                  <a:lnTo>
                    <a:pt x="1548" y="189"/>
                  </a:lnTo>
                  <a:lnTo>
                    <a:pt x="1577" y="215"/>
                  </a:lnTo>
                  <a:cubicBezTo>
                    <a:pt x="1577" y="215"/>
                    <a:pt x="1577" y="215"/>
                    <a:pt x="1578" y="216"/>
                  </a:cubicBezTo>
                  <a:lnTo>
                    <a:pt x="1600" y="243"/>
                  </a:lnTo>
                  <a:cubicBezTo>
                    <a:pt x="1600" y="243"/>
                    <a:pt x="1601" y="244"/>
                    <a:pt x="1601" y="245"/>
                  </a:cubicBezTo>
                  <a:lnTo>
                    <a:pt x="1614" y="272"/>
                  </a:lnTo>
                  <a:cubicBezTo>
                    <a:pt x="1615" y="273"/>
                    <a:pt x="1615" y="274"/>
                    <a:pt x="1615" y="275"/>
                  </a:cubicBezTo>
                  <a:lnTo>
                    <a:pt x="1620" y="302"/>
                  </a:lnTo>
                  <a:lnTo>
                    <a:pt x="1627" y="329"/>
                  </a:lnTo>
                  <a:lnTo>
                    <a:pt x="1625" y="325"/>
                  </a:lnTo>
                  <a:lnTo>
                    <a:pt x="1644" y="353"/>
                  </a:lnTo>
                  <a:lnTo>
                    <a:pt x="1642" y="351"/>
                  </a:lnTo>
                  <a:lnTo>
                    <a:pt x="1673" y="377"/>
                  </a:lnTo>
                  <a:lnTo>
                    <a:pt x="1672" y="376"/>
                  </a:lnTo>
                  <a:lnTo>
                    <a:pt x="1713" y="402"/>
                  </a:lnTo>
                  <a:lnTo>
                    <a:pt x="1764" y="428"/>
                  </a:lnTo>
                  <a:lnTo>
                    <a:pt x="1826" y="451"/>
                  </a:lnTo>
                  <a:lnTo>
                    <a:pt x="1895" y="474"/>
                  </a:lnTo>
                  <a:lnTo>
                    <a:pt x="1972" y="495"/>
                  </a:lnTo>
                  <a:lnTo>
                    <a:pt x="2056" y="515"/>
                  </a:lnTo>
                  <a:lnTo>
                    <a:pt x="2145" y="533"/>
                  </a:lnTo>
                  <a:lnTo>
                    <a:pt x="2339" y="562"/>
                  </a:lnTo>
                  <a:lnTo>
                    <a:pt x="2547" y="580"/>
                  </a:lnTo>
                  <a:lnTo>
                    <a:pt x="2762" y="587"/>
                  </a:lnTo>
                  <a:lnTo>
                    <a:pt x="2761" y="608"/>
                  </a:lnTo>
                  <a:close/>
                  <a:moveTo>
                    <a:pt x="118" y="301"/>
                  </a:moveTo>
                  <a:lnTo>
                    <a:pt x="9" y="394"/>
                  </a:lnTo>
                  <a:lnTo>
                    <a:pt x="0" y="252"/>
                  </a:lnTo>
                  <a:lnTo>
                    <a:pt x="118" y="301"/>
                  </a:lnTo>
                  <a:close/>
                </a:path>
              </a:pathLst>
            </a:custGeom>
            <a:solidFill>
              <a:srgbClr val="DE2506"/>
            </a:solidFill>
            <a:ln w="0" cap="flat">
              <a:solidFill>
                <a:srgbClr val="DE25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0" name="Rectangle 167">
              <a:extLst>
                <a:ext uri="{FF2B5EF4-FFF2-40B4-BE49-F238E27FC236}">
                  <a16:creationId xmlns:a16="http://schemas.microsoft.com/office/drawing/2014/main" id="{E40EEC52-46C4-4160-A2AA-EFF607F27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3733"/>
              <a:ext cx="101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u="none" strike="noStrike" cap="none" normalizeH="0" baseline="0" dirty="0">
                  <a:ln>
                    <a:noFill/>
                  </a:ln>
                  <a:solidFill>
                    <a:srgbClr val="DE2506"/>
                  </a:solidFill>
                  <a:effectLst/>
                  <a:latin typeface="SimHei" panose="02010609060101010101" pitchFamily="49" charset="-122"/>
                  <a:ea typeface="SimHei" panose="02010609060101010101" pitchFamily="49" charset="-122"/>
                </a:rPr>
                <a:t>从存储器读指令</a:t>
              </a:r>
              <a:endParaRPr kumimoji="0" lang="zh-CN" altLang="zh-CN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171" name="Freeform 168">
              <a:extLst>
                <a:ext uri="{FF2B5EF4-FFF2-40B4-BE49-F238E27FC236}">
                  <a16:creationId xmlns:a16="http://schemas.microsoft.com/office/drawing/2014/main" id="{09968DCD-20EA-4DA5-A3E3-774D925542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0" y="3438"/>
              <a:ext cx="491" cy="253"/>
            </a:xfrm>
            <a:custGeom>
              <a:avLst/>
              <a:gdLst>
                <a:gd name="T0" fmla="*/ 0 w 1453"/>
                <a:gd name="T1" fmla="*/ 746 h 749"/>
                <a:gd name="T2" fmla="*/ 4 w 1453"/>
                <a:gd name="T3" fmla="*/ 710 h 749"/>
                <a:gd name="T4" fmla="*/ 4 w 1453"/>
                <a:gd name="T5" fmla="*/ 708 h 749"/>
                <a:gd name="T6" fmla="*/ 16 w 1453"/>
                <a:gd name="T7" fmla="*/ 673 h 749"/>
                <a:gd name="T8" fmla="*/ 17 w 1453"/>
                <a:gd name="T9" fmla="*/ 671 h 749"/>
                <a:gd name="T10" fmla="*/ 36 w 1453"/>
                <a:gd name="T11" fmla="*/ 636 h 749"/>
                <a:gd name="T12" fmla="*/ 37 w 1453"/>
                <a:gd name="T13" fmla="*/ 635 h 749"/>
                <a:gd name="T14" fmla="*/ 64 w 1453"/>
                <a:gd name="T15" fmla="*/ 601 h 749"/>
                <a:gd name="T16" fmla="*/ 97 w 1453"/>
                <a:gd name="T17" fmla="*/ 567 h 749"/>
                <a:gd name="T18" fmla="*/ 136 w 1453"/>
                <a:gd name="T19" fmla="*/ 535 h 749"/>
                <a:gd name="T20" fmla="*/ 229 w 1453"/>
                <a:gd name="T21" fmla="*/ 476 h 749"/>
                <a:gd name="T22" fmla="*/ 338 w 1453"/>
                <a:gd name="T23" fmla="*/ 427 h 749"/>
                <a:gd name="T24" fmla="*/ 460 w 1453"/>
                <a:gd name="T25" fmla="*/ 389 h 749"/>
                <a:gd name="T26" fmla="*/ 591 w 1453"/>
                <a:gd name="T27" fmla="*/ 365 h 749"/>
                <a:gd name="T28" fmla="*/ 726 w 1453"/>
                <a:gd name="T29" fmla="*/ 356 h 749"/>
                <a:gd name="T30" fmla="*/ 860 w 1453"/>
                <a:gd name="T31" fmla="*/ 348 h 749"/>
                <a:gd name="T32" fmla="*/ 988 w 1453"/>
                <a:gd name="T33" fmla="*/ 325 h 749"/>
                <a:gd name="T34" fmla="*/ 1107 w 1453"/>
                <a:gd name="T35" fmla="*/ 288 h 749"/>
                <a:gd name="T36" fmla="*/ 1214 w 1453"/>
                <a:gd name="T37" fmla="*/ 243 h 749"/>
                <a:gd name="T38" fmla="*/ 1213 w 1453"/>
                <a:gd name="T39" fmla="*/ 243 h 749"/>
                <a:gd name="T40" fmla="*/ 1305 w 1453"/>
                <a:gd name="T41" fmla="*/ 187 h 749"/>
                <a:gd name="T42" fmla="*/ 1342 w 1453"/>
                <a:gd name="T43" fmla="*/ 158 h 749"/>
                <a:gd name="T44" fmla="*/ 1373 w 1453"/>
                <a:gd name="T45" fmla="*/ 127 h 749"/>
                <a:gd name="T46" fmla="*/ 1371 w 1453"/>
                <a:gd name="T47" fmla="*/ 129 h 749"/>
                <a:gd name="T48" fmla="*/ 1393 w 1453"/>
                <a:gd name="T49" fmla="*/ 94 h 749"/>
                <a:gd name="T50" fmla="*/ 1411 w 1453"/>
                <a:gd name="T51" fmla="*/ 105 h 749"/>
                <a:gd name="T52" fmla="*/ 1390 w 1453"/>
                <a:gd name="T53" fmla="*/ 140 h 749"/>
                <a:gd name="T54" fmla="*/ 1388 w 1453"/>
                <a:gd name="T55" fmla="*/ 142 h 749"/>
                <a:gd name="T56" fmla="*/ 1355 w 1453"/>
                <a:gd name="T57" fmla="*/ 175 h 749"/>
                <a:gd name="T58" fmla="*/ 1316 w 1453"/>
                <a:gd name="T59" fmla="*/ 206 h 749"/>
                <a:gd name="T60" fmla="*/ 1224 w 1453"/>
                <a:gd name="T61" fmla="*/ 262 h 749"/>
                <a:gd name="T62" fmla="*/ 1223 w 1453"/>
                <a:gd name="T63" fmla="*/ 262 h 749"/>
                <a:gd name="T64" fmla="*/ 1114 w 1453"/>
                <a:gd name="T65" fmla="*/ 309 h 749"/>
                <a:gd name="T66" fmla="*/ 991 w 1453"/>
                <a:gd name="T67" fmla="*/ 346 h 749"/>
                <a:gd name="T68" fmla="*/ 861 w 1453"/>
                <a:gd name="T69" fmla="*/ 369 h 749"/>
                <a:gd name="T70" fmla="*/ 727 w 1453"/>
                <a:gd name="T71" fmla="*/ 377 h 749"/>
                <a:gd name="T72" fmla="*/ 594 w 1453"/>
                <a:gd name="T73" fmla="*/ 386 h 749"/>
                <a:gd name="T74" fmla="*/ 467 w 1453"/>
                <a:gd name="T75" fmla="*/ 410 h 749"/>
                <a:gd name="T76" fmla="*/ 347 w 1453"/>
                <a:gd name="T77" fmla="*/ 446 h 749"/>
                <a:gd name="T78" fmla="*/ 240 w 1453"/>
                <a:gd name="T79" fmla="*/ 494 h 749"/>
                <a:gd name="T80" fmla="*/ 149 w 1453"/>
                <a:gd name="T81" fmla="*/ 552 h 749"/>
                <a:gd name="T82" fmla="*/ 112 w 1453"/>
                <a:gd name="T83" fmla="*/ 582 h 749"/>
                <a:gd name="T84" fmla="*/ 81 w 1453"/>
                <a:gd name="T85" fmla="*/ 614 h 749"/>
                <a:gd name="T86" fmla="*/ 54 w 1453"/>
                <a:gd name="T87" fmla="*/ 648 h 749"/>
                <a:gd name="T88" fmla="*/ 55 w 1453"/>
                <a:gd name="T89" fmla="*/ 647 h 749"/>
                <a:gd name="T90" fmla="*/ 36 w 1453"/>
                <a:gd name="T91" fmla="*/ 682 h 749"/>
                <a:gd name="T92" fmla="*/ 37 w 1453"/>
                <a:gd name="T93" fmla="*/ 680 h 749"/>
                <a:gd name="T94" fmla="*/ 25 w 1453"/>
                <a:gd name="T95" fmla="*/ 715 h 749"/>
                <a:gd name="T96" fmla="*/ 25 w 1453"/>
                <a:gd name="T97" fmla="*/ 713 h 749"/>
                <a:gd name="T98" fmla="*/ 21 w 1453"/>
                <a:gd name="T99" fmla="*/ 749 h 749"/>
                <a:gd name="T100" fmla="*/ 0 w 1453"/>
                <a:gd name="T101" fmla="*/ 746 h 749"/>
                <a:gd name="T102" fmla="*/ 1335 w 1453"/>
                <a:gd name="T103" fmla="*/ 94 h 749"/>
                <a:gd name="T104" fmla="*/ 1442 w 1453"/>
                <a:gd name="T105" fmla="*/ 0 h 749"/>
                <a:gd name="T106" fmla="*/ 1453 w 1453"/>
                <a:gd name="T107" fmla="*/ 143 h 749"/>
                <a:gd name="T108" fmla="*/ 1335 w 1453"/>
                <a:gd name="T109" fmla="*/ 9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53" h="749">
                  <a:moveTo>
                    <a:pt x="0" y="746"/>
                  </a:moveTo>
                  <a:lnTo>
                    <a:pt x="4" y="710"/>
                  </a:lnTo>
                  <a:cubicBezTo>
                    <a:pt x="4" y="710"/>
                    <a:pt x="4" y="709"/>
                    <a:pt x="4" y="708"/>
                  </a:cubicBezTo>
                  <a:lnTo>
                    <a:pt x="16" y="673"/>
                  </a:lnTo>
                  <a:cubicBezTo>
                    <a:pt x="17" y="672"/>
                    <a:pt x="17" y="672"/>
                    <a:pt x="17" y="671"/>
                  </a:cubicBezTo>
                  <a:lnTo>
                    <a:pt x="36" y="636"/>
                  </a:lnTo>
                  <a:cubicBezTo>
                    <a:pt x="36" y="636"/>
                    <a:pt x="37" y="635"/>
                    <a:pt x="37" y="635"/>
                  </a:cubicBezTo>
                  <a:lnTo>
                    <a:pt x="64" y="601"/>
                  </a:lnTo>
                  <a:lnTo>
                    <a:pt x="97" y="567"/>
                  </a:lnTo>
                  <a:lnTo>
                    <a:pt x="136" y="535"/>
                  </a:lnTo>
                  <a:lnTo>
                    <a:pt x="229" y="476"/>
                  </a:lnTo>
                  <a:lnTo>
                    <a:pt x="338" y="427"/>
                  </a:lnTo>
                  <a:lnTo>
                    <a:pt x="460" y="389"/>
                  </a:lnTo>
                  <a:lnTo>
                    <a:pt x="591" y="365"/>
                  </a:lnTo>
                  <a:lnTo>
                    <a:pt x="726" y="356"/>
                  </a:lnTo>
                  <a:lnTo>
                    <a:pt x="860" y="348"/>
                  </a:lnTo>
                  <a:lnTo>
                    <a:pt x="988" y="325"/>
                  </a:lnTo>
                  <a:lnTo>
                    <a:pt x="1107" y="288"/>
                  </a:lnTo>
                  <a:lnTo>
                    <a:pt x="1214" y="243"/>
                  </a:lnTo>
                  <a:lnTo>
                    <a:pt x="1213" y="243"/>
                  </a:lnTo>
                  <a:lnTo>
                    <a:pt x="1305" y="187"/>
                  </a:lnTo>
                  <a:lnTo>
                    <a:pt x="1342" y="158"/>
                  </a:lnTo>
                  <a:lnTo>
                    <a:pt x="1373" y="127"/>
                  </a:lnTo>
                  <a:lnTo>
                    <a:pt x="1371" y="129"/>
                  </a:lnTo>
                  <a:lnTo>
                    <a:pt x="1393" y="94"/>
                  </a:lnTo>
                  <a:lnTo>
                    <a:pt x="1411" y="105"/>
                  </a:lnTo>
                  <a:lnTo>
                    <a:pt x="1390" y="140"/>
                  </a:lnTo>
                  <a:cubicBezTo>
                    <a:pt x="1389" y="141"/>
                    <a:pt x="1389" y="141"/>
                    <a:pt x="1388" y="142"/>
                  </a:cubicBezTo>
                  <a:lnTo>
                    <a:pt x="1355" y="175"/>
                  </a:lnTo>
                  <a:lnTo>
                    <a:pt x="1316" y="206"/>
                  </a:lnTo>
                  <a:lnTo>
                    <a:pt x="1224" y="262"/>
                  </a:lnTo>
                  <a:cubicBezTo>
                    <a:pt x="1224" y="262"/>
                    <a:pt x="1223" y="262"/>
                    <a:pt x="1223" y="262"/>
                  </a:cubicBezTo>
                  <a:lnTo>
                    <a:pt x="1114" y="309"/>
                  </a:lnTo>
                  <a:lnTo>
                    <a:pt x="991" y="346"/>
                  </a:lnTo>
                  <a:lnTo>
                    <a:pt x="861" y="369"/>
                  </a:lnTo>
                  <a:lnTo>
                    <a:pt x="727" y="377"/>
                  </a:lnTo>
                  <a:lnTo>
                    <a:pt x="594" y="386"/>
                  </a:lnTo>
                  <a:lnTo>
                    <a:pt x="467" y="410"/>
                  </a:lnTo>
                  <a:lnTo>
                    <a:pt x="347" y="446"/>
                  </a:lnTo>
                  <a:lnTo>
                    <a:pt x="240" y="494"/>
                  </a:lnTo>
                  <a:lnTo>
                    <a:pt x="149" y="552"/>
                  </a:lnTo>
                  <a:lnTo>
                    <a:pt x="112" y="582"/>
                  </a:lnTo>
                  <a:lnTo>
                    <a:pt x="81" y="614"/>
                  </a:lnTo>
                  <a:lnTo>
                    <a:pt x="54" y="648"/>
                  </a:lnTo>
                  <a:lnTo>
                    <a:pt x="55" y="647"/>
                  </a:lnTo>
                  <a:lnTo>
                    <a:pt x="36" y="682"/>
                  </a:lnTo>
                  <a:lnTo>
                    <a:pt x="37" y="680"/>
                  </a:lnTo>
                  <a:lnTo>
                    <a:pt x="25" y="715"/>
                  </a:lnTo>
                  <a:lnTo>
                    <a:pt x="25" y="713"/>
                  </a:lnTo>
                  <a:lnTo>
                    <a:pt x="21" y="749"/>
                  </a:lnTo>
                  <a:lnTo>
                    <a:pt x="0" y="746"/>
                  </a:lnTo>
                  <a:close/>
                  <a:moveTo>
                    <a:pt x="1335" y="94"/>
                  </a:moveTo>
                  <a:lnTo>
                    <a:pt x="1442" y="0"/>
                  </a:lnTo>
                  <a:lnTo>
                    <a:pt x="1453" y="143"/>
                  </a:lnTo>
                  <a:lnTo>
                    <a:pt x="1335" y="94"/>
                  </a:lnTo>
                  <a:close/>
                </a:path>
              </a:pathLst>
            </a:custGeom>
            <a:solidFill>
              <a:srgbClr val="DE2506"/>
            </a:solidFill>
            <a:ln w="0" cap="flat">
              <a:solidFill>
                <a:srgbClr val="DE25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2" name="Rectangle 169">
              <a:extLst>
                <a:ext uri="{FF2B5EF4-FFF2-40B4-BE49-F238E27FC236}">
                  <a16:creationId xmlns:a16="http://schemas.microsoft.com/office/drawing/2014/main" id="{DD706C9D-6CB8-4D4E-8925-CD13BD2B7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4233"/>
              <a:ext cx="1385" cy="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73" name="Rectangle 170">
              <a:extLst>
                <a:ext uri="{FF2B5EF4-FFF2-40B4-BE49-F238E27FC236}">
                  <a16:creationId xmlns:a16="http://schemas.microsoft.com/office/drawing/2014/main" id="{07D52BAA-922F-4F30-B659-91B18D50E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4233"/>
              <a:ext cx="1385" cy="87"/>
            </a:xfrm>
            <a:prstGeom prst="rect">
              <a:avLst/>
            </a:prstGeom>
            <a:noFill/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8B0FCD3-39B5-A499-C13A-A9BE194E1D9E}"/>
                  </a:ext>
                </a:extLst>
              </p14:cNvPr>
              <p14:cNvContentPartPr/>
              <p14:nvPr/>
            </p14:nvContentPartPr>
            <p14:xfrm>
              <a:off x="4849560" y="2323800"/>
              <a:ext cx="622800" cy="41655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8B0FCD3-39B5-A499-C13A-A9BE194E1D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0200" y="2314440"/>
                <a:ext cx="641520" cy="418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232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3F9B4-F6F8-426F-A970-97A2665A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39D6C-EDC7-4B33-9CA2-DEED61A5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321040" cy="4525963"/>
          </a:xfrm>
        </p:spPr>
        <p:txBody>
          <a:bodyPr/>
          <a:lstStyle/>
          <a:p>
            <a:r>
              <a:rPr lang="zh-CN" altLang="en-US" dirty="0"/>
              <a:t>产生的原因</a:t>
            </a:r>
            <a:endParaRPr lang="en-US" altLang="zh-CN" dirty="0"/>
          </a:p>
          <a:p>
            <a:pPr lvl="1"/>
            <a:r>
              <a:rPr lang="zh-CN" altLang="en-US" dirty="0"/>
              <a:t>流水执行的</a:t>
            </a:r>
            <a:r>
              <a:rPr lang="zh-CN" altLang="en-US" dirty="0">
                <a:solidFill>
                  <a:srgbClr val="3333FF"/>
                </a:solidFill>
              </a:rPr>
              <a:t>多条</a:t>
            </a:r>
            <a:r>
              <a:rPr lang="zh-CN" altLang="en-US" dirty="0"/>
              <a:t>指令在</a:t>
            </a:r>
            <a:r>
              <a:rPr lang="zh-CN" altLang="en-US" dirty="0">
                <a:solidFill>
                  <a:srgbClr val="3333FF"/>
                </a:solidFill>
              </a:rPr>
              <a:t>同一个周期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3333FF"/>
                </a:solidFill>
              </a:rPr>
              <a:t>同一个硬件资源</a:t>
            </a:r>
            <a:endParaRPr lang="en-US" altLang="zh-CN" dirty="0">
              <a:solidFill>
                <a:srgbClr val="3333FF"/>
              </a:solidFill>
            </a:endParaRPr>
          </a:p>
          <a:p>
            <a:r>
              <a:rPr lang="zh-CN" altLang="en-US" dirty="0"/>
              <a:t>解决方法：</a:t>
            </a:r>
            <a:endParaRPr lang="en-US" altLang="zh-CN" dirty="0"/>
          </a:p>
          <a:p>
            <a:pPr lvl="1"/>
            <a:r>
              <a:rPr lang="zh-CN" altLang="en-US" dirty="0"/>
              <a:t>增加资源</a:t>
            </a:r>
            <a:endParaRPr lang="en-US" altLang="zh-CN" dirty="0"/>
          </a:p>
          <a:p>
            <a:pPr lvl="2"/>
            <a:r>
              <a:rPr lang="zh-CN" altLang="en-US" dirty="0"/>
              <a:t>增加运算单元：例如</a:t>
            </a:r>
            <a:r>
              <a:rPr lang="en-US" altLang="zh-CN" dirty="0"/>
              <a:t>PC+4</a:t>
            </a:r>
            <a:r>
              <a:rPr lang="zh-CN" altLang="en-US" dirty="0"/>
              <a:t>和</a:t>
            </a:r>
            <a:r>
              <a:rPr lang="en-US" altLang="zh-CN" dirty="0"/>
              <a:t>ALU</a:t>
            </a:r>
            <a:r>
              <a:rPr lang="zh-CN" altLang="en-US" dirty="0"/>
              <a:t>运算分离</a:t>
            </a:r>
            <a:endParaRPr lang="en-US" altLang="zh-CN" dirty="0"/>
          </a:p>
          <a:p>
            <a:pPr lvl="2"/>
            <a:r>
              <a:rPr lang="zh-CN" altLang="en-US" dirty="0"/>
              <a:t>采用指令存储器和数据存储器分离的哈佛体系结构</a:t>
            </a:r>
            <a:endParaRPr lang="en-US" altLang="zh-CN" dirty="0"/>
          </a:p>
          <a:p>
            <a:pPr lvl="1"/>
            <a:r>
              <a:rPr lang="zh-CN" altLang="en-US" dirty="0"/>
              <a:t>调整指令对资源占用的周期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3DF553-A9D0-46E1-A561-995236D0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97</a:t>
            </a:fld>
            <a:endParaRPr lang="zh-CN" altLang="en-US"/>
          </a:p>
        </p:txBody>
      </p:sp>
      <p:sp>
        <p:nvSpPr>
          <p:cNvPr id="27" name="Rectangle 21">
            <a:extLst>
              <a:ext uri="{FF2B5EF4-FFF2-40B4-BE49-F238E27FC236}">
                <a16:creationId xmlns:a16="http://schemas.microsoft.com/office/drawing/2014/main" id="{DDE0E52F-F849-023F-0BCB-6DF46F126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378" y="4969401"/>
            <a:ext cx="580258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Load</a:t>
            </a: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EB1D2D8E-B762-D4C7-7BF4-C647BD09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402" y="4645541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9CD92999-754A-FA9A-A160-B5E87F19E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3086" y="4645541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70487BB7-3D1F-7128-3998-AC1428D6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770" y="4645541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AC97A9B6-611E-27D4-8190-D00FD4968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454" y="4645541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C74AF4F6-0636-6FB5-1ACD-A989BCB4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137" y="4645541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27C8996F-8AF3-BB01-E437-852B4333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272" y="4951158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D682452B-4110-9883-602A-1D30BE07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476" y="4951158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41A53551-DA1C-E683-F4BD-2B757705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5861" y="4951158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8B0D29CE-5BA9-8449-FEDF-1435B2A2F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246" y="4951158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MEM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585D70E6-E38E-1290-63EC-E3E5E4DD8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631" y="4951158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63FE96DA-1471-9216-858E-FA7A7F938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846" y="5668759"/>
            <a:ext cx="710102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R-type</a:t>
            </a:r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A7B2696A-7EAA-3C80-F303-F4B6691D1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870" y="5346326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8C82D355-CF41-BE5B-CB24-20C950298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554" y="5346326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E73201A1-51F6-466A-5B7F-1C206DBAE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238" y="5346326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DCA21BC6-1B98-C92D-8103-41C35FF22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922" y="5346326"/>
            <a:ext cx="279374" cy="302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43" name="Rectangle 7">
            <a:extLst>
              <a:ext uri="{FF2B5EF4-FFF2-40B4-BE49-F238E27FC236}">
                <a16:creationId xmlns:a16="http://schemas.microsoft.com/office/drawing/2014/main" id="{B7DD9DB1-0D63-4347-E080-553BBC3F0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740" y="5650516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IF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1ED8B624-2CB2-D350-EA82-3B109A687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944" y="5650516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ID/Reg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45" name="Rectangle 7">
            <a:extLst>
              <a:ext uri="{FF2B5EF4-FFF2-40B4-BE49-F238E27FC236}">
                <a16:creationId xmlns:a16="http://schemas.microsoft.com/office/drawing/2014/main" id="{89D41F1D-A4E1-EC20-B634-A4609C31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329" y="5650516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EX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46" name="Rectangle 7">
            <a:extLst>
              <a:ext uri="{FF2B5EF4-FFF2-40B4-BE49-F238E27FC236}">
                <a16:creationId xmlns:a16="http://schemas.microsoft.com/office/drawing/2014/main" id="{F62C69C6-A25C-378E-E86A-B38D22D88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714" y="5650516"/>
            <a:ext cx="846387" cy="343305"/>
          </a:xfrm>
          <a:prstGeom prst="rect">
            <a:avLst/>
          </a:prstGeom>
          <a:solidFill>
            <a:srgbClr val="D9D9D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a typeface="SimHei" panose="02010609060101010101" pitchFamily="49" charset="-122"/>
              </a:rPr>
              <a:t>MEM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ea typeface="SimHei" panose="02010609060101010101" pitchFamily="49" charset="-122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0EA959B9-387B-02E7-D201-4A00C9A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500" y="5650516"/>
            <a:ext cx="846387" cy="34330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400" dirty="0">
                <a:ea typeface="SimHei" panose="02010609060101010101" pitchFamily="49" charset="-122"/>
              </a:rPr>
              <a:t>WB</a:t>
            </a:r>
            <a:endParaRPr lang="zh-CN" altLang="en-US" sz="1400" dirty="0">
              <a:ea typeface="SimHei" panose="02010609060101010101" pitchFamily="49" charset="-122"/>
            </a:endParaRPr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E03ED72E-6AD0-F7A0-DE4D-4A557F679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606" y="5344899"/>
            <a:ext cx="282099" cy="305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3" tIns="44442" rIns="90473" bIns="44442">
            <a:spAutoFit/>
          </a:bodyPr>
          <a:lstStyle/>
          <a:p>
            <a:r>
              <a:rPr lang="en-US" altLang="en-US" sz="1400" dirty="0">
                <a:latin typeface="Arial" pitchFamily="34" charset="0"/>
                <a:ea typeface="SimHei" panose="02010609060101010101" pitchFamily="49" charset="-122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10328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6F339-2566-41FB-A653-5B23202A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63643-BB7C-4702-AB28-7DCFFB75B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547164" cy="4525963"/>
          </a:xfrm>
        </p:spPr>
        <p:txBody>
          <a:bodyPr/>
          <a:lstStyle/>
          <a:p>
            <a:r>
              <a:rPr lang="zh-CN" altLang="en-US" dirty="0"/>
              <a:t>转化为流水线，结构冒险有哪些</a:t>
            </a:r>
            <a:endParaRPr lang="en-US" altLang="zh-CN" dirty="0"/>
          </a:p>
          <a:p>
            <a:pPr lvl="1"/>
            <a:r>
              <a:rPr lang="zh-CN" altLang="en-US" dirty="0"/>
              <a:t>表格中不在同一行，却使用相同资源就可能引起结构冒险</a:t>
            </a: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ALU</a:t>
            </a:r>
            <a:r>
              <a:rPr lang="zh-CN" altLang="en-US" dirty="0">
                <a:solidFill>
                  <a:srgbClr val="00B050"/>
                </a:solidFill>
              </a:rPr>
              <a:t>使用冲突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寄存器堆写入冲突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0A2E0D-856D-4F0F-868B-D564E412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98</a:t>
            </a:fld>
            <a:endParaRPr lang="zh-CN" altLang="en-US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23DED671-C7CC-477E-8D36-FA83A39AD9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251585"/>
              </p:ext>
            </p:extLst>
          </p:nvPr>
        </p:nvGraphicFramePr>
        <p:xfrm>
          <a:off x="413956" y="3003784"/>
          <a:ext cx="8547164" cy="3387049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9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5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</a:t>
                      </a:r>
                      <a:r>
                        <a:rPr lang="zh-CN" altLang="en-US" sz="2000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存储器访问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8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ym typeface="Symbol"/>
                        </a:rPr>
                        <a:t>IR &lt;= </a:t>
                      </a:r>
                      <a:r>
                        <a:rPr lang="en-US" altLang="zh-CN" sz="1600" dirty="0" err="1"/>
                        <a:t>MemInst</a:t>
                      </a:r>
                      <a:r>
                        <a:rPr lang="en-US" altLang="zh-CN" sz="1600" dirty="0"/>
                        <a:t>[PC];  PC </a:t>
                      </a:r>
                      <a:r>
                        <a:rPr lang="en-US" altLang="zh-CN" sz="1600" dirty="0">
                          <a:sym typeface="Symbol"/>
                        </a:rPr>
                        <a:t>&lt;= PC + 4</a:t>
                      </a:r>
                      <a:endParaRPr lang="en-US" altLang="zh-C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512">
                <a:tc gridSpan="3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op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IR[31:26]; A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Reg[IR[25:21]];  B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Reg[IR[20:16]];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solidFill>
                            <a:srgbClr val="00B050"/>
                          </a:solidFill>
                        </a:rPr>
                        <a:t>ALUOut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PC + </a:t>
                      </a:r>
                      <a:r>
                        <a:rPr lang="en-US" altLang="zh-CN" sz="1600" dirty="0" err="1">
                          <a:solidFill>
                            <a:srgbClr val="00B050"/>
                          </a:solidFill>
                        </a:rPr>
                        <a:t>signext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(IR[15:0]) &lt;&lt;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0B050"/>
                          </a:solidFill>
                        </a:rPr>
                        <a:t>ALUOut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A op B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solidFill>
                            <a:srgbClr val="00B050"/>
                          </a:solidFill>
                        </a:rPr>
                        <a:t>ALUOut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A + </a:t>
                      </a:r>
                      <a:r>
                        <a:rPr lang="en-US" altLang="zh-CN" sz="1600" dirty="0" err="1">
                          <a:solidFill>
                            <a:srgbClr val="00B050"/>
                          </a:solidFill>
                        </a:rPr>
                        <a:t>signext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(IR[15:0])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if (A = B)</a:t>
                      </a:r>
                    </a:p>
                    <a:p>
                      <a:pPr algn="ctr"/>
                      <a:r>
                        <a:rPr lang="en-US" altLang="zh-CN" sz="1600" dirty="0"/>
                        <a:t>PC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8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Reg[IR[15:11]]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 &lt;=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solidFill>
                            <a:srgbClr val="00B0F0"/>
                          </a:solidFill>
                        </a:rPr>
                        <a:t>ALUOut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Lw:MDR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];</a:t>
                      </a:r>
                    </a:p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Sw:MemData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 &lt;= B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273"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Reg[IR[20:16]]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MDR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2085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ACDB9-4EB8-4A55-BA79-D03025A1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96BEC-CE80-44AF-BF77-6012CC19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增加硬件资源：</a:t>
            </a:r>
            <a:endParaRPr lang="en-US" altLang="zh-CN" dirty="0"/>
          </a:p>
          <a:p>
            <a:pPr lvl="1"/>
            <a:r>
              <a:rPr lang="en-US" altLang="zh-CN" dirty="0" err="1"/>
              <a:t>ALUOut</a:t>
            </a:r>
            <a:r>
              <a:rPr lang="zh-CN" altLang="en-US" dirty="0"/>
              <a:t>计算分解为</a:t>
            </a:r>
            <a:r>
              <a:rPr lang="en-US" altLang="zh-CN" dirty="0"/>
              <a:t>ALU</a:t>
            </a:r>
            <a:r>
              <a:rPr lang="zh-CN" altLang="en-US" dirty="0"/>
              <a:t>和</a:t>
            </a:r>
            <a:r>
              <a:rPr lang="en-US" altLang="zh-CN" dirty="0" err="1"/>
              <a:t>PCAdd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E2C79C-6BF9-4339-80D5-745D9B1A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99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6E7C619-26D4-4D17-B65D-23E19B622D8E}"/>
              </a:ext>
            </a:extLst>
          </p:cNvPr>
          <p:cNvSpPr/>
          <p:nvPr/>
        </p:nvSpPr>
        <p:spPr>
          <a:xfrm>
            <a:off x="5616038" y="3257218"/>
            <a:ext cx="538389" cy="7603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4C30FB3-9810-2053-A6B4-709BBF5C5BA5}"/>
              </a:ext>
            </a:extLst>
          </p:cNvPr>
          <p:cNvGrpSpPr/>
          <p:nvPr/>
        </p:nvGrpSpPr>
        <p:grpSpPr>
          <a:xfrm>
            <a:off x="262940" y="2123762"/>
            <a:ext cx="8618119" cy="4511038"/>
            <a:chOff x="329006" y="1204898"/>
            <a:chExt cx="8618119" cy="4511038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82FC5D9-9988-FF09-2B97-F5B99DF4B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5093530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2BFC7DA-C27A-E611-0EAD-452D969E8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5093530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DBDC06C-9FB9-C505-2281-2E0F041AE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5093530"/>
              <a:ext cx="167155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59C27E6D-1AA2-56A4-FEA7-3F8FAF935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0" cy="27775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899FD51-2F69-6810-BC0B-29CCB78BD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5541548"/>
              <a:ext cx="562251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F5E8736-B761-4941-2B5A-526B1375D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5093530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543BB88-DAB2-D112-D1DE-BE49A0853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879" y="5093530"/>
              <a:ext cx="0" cy="4480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0CF8CFB5-6318-01FA-B091-CB13B4D20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0365" y="3899306"/>
              <a:ext cx="0" cy="1642241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17B31847-4580-1033-8609-2DB79F7F7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365" y="3904769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70683AFB-C983-570F-5C91-E577EBA1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06" y="3010335"/>
              <a:ext cx="1291659" cy="131935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2663CA36-9B57-F3A9-A86D-30E7C08FD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08" y="3357534"/>
              <a:ext cx="243879" cy="763838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P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C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54D87454-FB81-6E13-73B3-3157AB8FD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87" y="3704733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0894F9FB-947E-9985-15DF-D38F56999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866232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7F810BC9-8DE9-0CAB-2742-6C1DA9570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2802015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9AB6B213-047F-1486-DEE3-43B77DECF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247" y="3473905"/>
              <a:ext cx="550120" cy="461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5" name="Text Box 31">
              <a:extLst>
                <a:ext uri="{FF2B5EF4-FFF2-40B4-BE49-F238E27FC236}">
                  <a16:creationId xmlns:a16="http://schemas.microsoft.com/office/drawing/2014/main" id="{ACD40A74-E123-8E8B-2D60-C81DF824E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631" y="2960993"/>
              <a:ext cx="1132010" cy="584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Instruction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B5E11EF1-50BA-EF0C-F24C-469700793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940" y="226966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A753628B-0F5F-AFBA-C44E-FC0073546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3704733"/>
              <a:ext cx="21200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0DD896F8-0F38-DBF1-955B-10D925F2A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786" y="2663136"/>
              <a:ext cx="269595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29" name="Line 36">
              <a:extLst>
                <a:ext uri="{FF2B5EF4-FFF2-40B4-BE49-F238E27FC236}">
                  <a16:creationId xmlns:a16="http://schemas.microsoft.com/office/drawing/2014/main" id="{2DE83E66-BD7F-CFD1-CEF1-89925502C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07" y="1482658"/>
              <a:ext cx="0" cy="222207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0" name="AutoShape 37">
              <a:extLst>
                <a:ext uri="{FF2B5EF4-FFF2-40B4-BE49-F238E27FC236}">
                  <a16:creationId xmlns:a16="http://schemas.microsoft.com/office/drawing/2014/main" id="{262A9B9B-9495-06DC-196A-2F85B8949B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966277" y="1403408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168F8698-93E3-7686-F7D9-55BB9FB8F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006" y="1482658"/>
              <a:ext cx="8357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7A1CC4FD-801B-E970-326A-C01F662A0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725" y="1343779"/>
              <a:ext cx="554109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3F1145E3-39C2-B0B3-3DF0-CD93524D1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2325" y="5715936"/>
              <a:ext cx="59264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4AB952DD-1C5D-F622-2CCD-F47816936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264" y="2913409"/>
              <a:ext cx="1291659" cy="158707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5" name="Line 44">
              <a:extLst>
                <a:ext uri="{FF2B5EF4-FFF2-40B4-BE49-F238E27FC236}">
                  <a16:creationId xmlns:a16="http://schemas.microsoft.com/office/drawing/2014/main" id="{8B4329DA-876D-EC93-24B7-1028A8043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46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6" name="Line 45">
              <a:extLst>
                <a:ext uri="{FF2B5EF4-FFF2-40B4-BE49-F238E27FC236}">
                  <a16:creationId xmlns:a16="http://schemas.microsoft.com/office/drawing/2014/main" id="{9E43C237-7640-4B65-4690-84B3EF0A8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4964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7" name="Text Box 46">
              <a:extLst>
                <a:ext uri="{FF2B5EF4-FFF2-40B4-BE49-F238E27FC236}">
                  <a16:creationId xmlns:a16="http://schemas.microsoft.com/office/drawing/2014/main" id="{1E2A65DB-2462-DF27-CAEA-95C82BFA4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726" y="4069515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</p:txBody>
        </p:sp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id="{FD90CE6D-DC5C-7FC6-E8A2-E5840A14A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642" y="2967621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1</a:t>
              </a:r>
            </a:p>
          </p:txBody>
        </p:sp>
        <p:sp>
          <p:nvSpPr>
            <p:cNvPr id="39" name="Text Box 48">
              <a:extLst>
                <a:ext uri="{FF2B5EF4-FFF2-40B4-BE49-F238E27FC236}">
                  <a16:creationId xmlns:a16="http://schemas.microsoft.com/office/drawing/2014/main" id="{84158BFA-BE29-83CA-EC1D-A6F79E9F5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432" y="3329446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2</a:t>
              </a:r>
            </a:p>
          </p:txBody>
        </p:sp>
        <p:sp>
          <p:nvSpPr>
            <p:cNvPr id="40" name="Text Box 49">
              <a:extLst>
                <a:ext uri="{FF2B5EF4-FFF2-40B4-BE49-F238E27FC236}">
                  <a16:creationId xmlns:a16="http://schemas.microsoft.com/office/drawing/2014/main" id="{EF304D09-48CB-EBD0-F934-4DCB7D8AC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9375" y="3715251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1" name="Text Box 50">
              <a:extLst>
                <a:ext uri="{FF2B5EF4-FFF2-40B4-BE49-F238E27FC236}">
                  <a16:creationId xmlns:a16="http://schemas.microsoft.com/office/drawing/2014/main" id="{9F7479EA-DD59-D1EE-D806-FCCAD16C8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972" y="3523895"/>
              <a:ext cx="684773" cy="338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Regs</a:t>
              </a:r>
            </a:p>
          </p:txBody>
        </p:sp>
        <p:sp>
          <p:nvSpPr>
            <p:cNvPr id="42" name="Text Box 51">
              <a:extLst>
                <a:ext uri="{FF2B5EF4-FFF2-40B4-BE49-F238E27FC236}">
                  <a16:creationId xmlns:a16="http://schemas.microsoft.com/office/drawing/2014/main" id="{72077DC3-D4E0-EB1A-8547-16C903022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047" y="3141428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1</a:t>
              </a:r>
            </a:p>
          </p:txBody>
        </p:sp>
        <p:sp>
          <p:nvSpPr>
            <p:cNvPr id="43" name="Text Box 52">
              <a:extLst>
                <a:ext uri="{FF2B5EF4-FFF2-40B4-BE49-F238E27FC236}">
                  <a16:creationId xmlns:a16="http://schemas.microsoft.com/office/drawing/2014/main" id="{8284EB92-6576-20D5-F4C7-AEE91C685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411" y="3892751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2</a:t>
              </a:r>
            </a:p>
          </p:txBody>
        </p:sp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5C6934C6-217C-8A7D-D142-5866A2023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4815770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5" name="Line 54">
              <a:extLst>
                <a:ext uri="{FF2B5EF4-FFF2-40B4-BE49-F238E27FC236}">
                  <a16:creationId xmlns:a16="http://schemas.microsoft.com/office/drawing/2014/main" id="{053A22BA-96B8-09C1-A08D-8F75FA4CE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543" y="4749518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6" name="Line 55">
              <a:extLst>
                <a:ext uri="{FF2B5EF4-FFF2-40B4-BE49-F238E27FC236}">
                  <a16:creationId xmlns:a16="http://schemas.microsoft.com/office/drawing/2014/main" id="{D3F67623-788C-67D6-7028-96EBA3C27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54" y="4733847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7" name="Text Box 56">
              <a:extLst>
                <a:ext uri="{FF2B5EF4-FFF2-40B4-BE49-F238E27FC236}">
                  <a16:creationId xmlns:a16="http://schemas.microsoft.com/office/drawing/2014/main" id="{223105C8-0A14-85C5-B139-1F865FBCF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832" y="4838245"/>
              <a:ext cx="37988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48" name="Text Box 57">
              <a:extLst>
                <a:ext uri="{FF2B5EF4-FFF2-40B4-BE49-F238E27FC236}">
                  <a16:creationId xmlns:a16="http://schemas.microsoft.com/office/drawing/2014/main" id="{DF438696-E4E6-5E86-EA74-AF198C90F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003" y="4815770"/>
              <a:ext cx="354554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49" name="Line 58">
              <a:extLst>
                <a:ext uri="{FF2B5EF4-FFF2-40B4-BE49-F238E27FC236}">
                  <a16:creationId xmlns:a16="http://schemas.microsoft.com/office/drawing/2014/main" id="{2AD708D7-4FEE-FC2B-E292-7FFBEF4BC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22793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0" name="Line 59">
              <a:extLst>
                <a:ext uri="{FF2B5EF4-FFF2-40B4-BE49-F238E27FC236}">
                  <a16:creationId xmlns:a16="http://schemas.microsoft.com/office/drawing/2014/main" id="{1E02EB12-3227-EC68-0FD3-997929500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4329692"/>
              <a:ext cx="0" cy="48607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1" name="Line 60">
              <a:extLst>
                <a:ext uri="{FF2B5EF4-FFF2-40B4-BE49-F238E27FC236}">
                  <a16:creationId xmlns:a16="http://schemas.microsoft.com/office/drawing/2014/main" id="{44F09C51-A95A-F0A4-C18E-D86603716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982492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Line 61">
              <a:extLst>
                <a:ext uri="{FF2B5EF4-FFF2-40B4-BE49-F238E27FC236}">
                  <a16:creationId xmlns:a16="http://schemas.microsoft.com/office/drawing/2014/main" id="{8EE33649-28CA-CF78-513E-98FE39527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0" cy="166655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Line 62">
              <a:extLst>
                <a:ext uri="{FF2B5EF4-FFF2-40B4-BE49-F238E27FC236}">
                  <a16:creationId xmlns:a16="http://schemas.microsoft.com/office/drawing/2014/main" id="{19670FD8-11C4-BFB6-3AB1-A153BAAFD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6345" y="3149214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4" name="Line 63">
              <a:extLst>
                <a:ext uri="{FF2B5EF4-FFF2-40B4-BE49-F238E27FC236}">
                  <a16:creationId xmlns:a16="http://schemas.microsoft.com/office/drawing/2014/main" id="{3254B273-9F37-C694-5E9F-46D35FD78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982492"/>
              <a:ext cx="47199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5" name="Line 64">
              <a:extLst>
                <a:ext uri="{FF2B5EF4-FFF2-40B4-BE49-F238E27FC236}">
                  <a16:creationId xmlns:a16="http://schemas.microsoft.com/office/drawing/2014/main" id="{BE60ADA1-D1FC-116B-703F-0B43512C8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3483" y="3774173"/>
              <a:ext cx="15151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6FAE77BC-1CF3-CDD2-26B0-7327C0BB6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1622" y="3149214"/>
              <a:ext cx="531860" cy="1180477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235 h 1099"/>
                <a:gd name="T4" fmla="*/ 83 w 388"/>
                <a:gd name="T5" fmla="*/ 305 h 1099"/>
                <a:gd name="T6" fmla="*/ 0 w 388"/>
                <a:gd name="T7" fmla="*/ 370 h 1099"/>
                <a:gd name="T8" fmla="*/ 0 w 388"/>
                <a:gd name="T9" fmla="*/ 605 h 1099"/>
                <a:gd name="T10" fmla="*/ 290 w 388"/>
                <a:gd name="T11" fmla="*/ 436 h 1099"/>
                <a:gd name="T12" fmla="*/ 290 w 388"/>
                <a:gd name="T13" fmla="*/ 170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Rectangle 66">
              <a:extLst>
                <a:ext uri="{FF2B5EF4-FFF2-40B4-BE49-F238E27FC236}">
                  <a16:creationId xmlns:a16="http://schemas.microsoft.com/office/drawing/2014/main" id="{C5CC0734-0DD6-10BB-85C4-DD140CCBC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180" y="3626888"/>
              <a:ext cx="473292" cy="198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ALU</a:t>
              </a:r>
            </a:p>
          </p:txBody>
        </p:sp>
        <p:sp>
          <p:nvSpPr>
            <p:cNvPr id="58" name="AutoShape 67">
              <a:extLst>
                <a:ext uri="{FF2B5EF4-FFF2-40B4-BE49-F238E27FC236}">
                  <a16:creationId xmlns:a16="http://schemas.microsoft.com/office/drawing/2014/main" id="{5003E706-B54E-B96B-2A60-EF2148A64A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74612" y="4005956"/>
              <a:ext cx="694398" cy="227940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9" name="Line 68">
              <a:extLst>
                <a:ext uri="{FF2B5EF4-FFF2-40B4-BE49-F238E27FC236}">
                  <a16:creationId xmlns:a16="http://schemas.microsoft.com/office/drawing/2014/main" id="{7B815BB3-E55D-A9D3-A122-6BFCAB199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0813" y="4121372"/>
              <a:ext cx="1308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0" name="Line 71">
              <a:extLst>
                <a:ext uri="{FF2B5EF4-FFF2-40B4-BE49-F238E27FC236}">
                  <a16:creationId xmlns:a16="http://schemas.microsoft.com/office/drawing/2014/main" id="{3A6141CC-5EFE-83A1-ECFB-E12BAFD7D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4" y="4329692"/>
              <a:ext cx="36448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Line 72">
              <a:extLst>
                <a:ext uri="{FF2B5EF4-FFF2-40B4-BE49-F238E27FC236}">
                  <a16:creationId xmlns:a16="http://schemas.microsoft.com/office/drawing/2014/main" id="{FF40DA4E-1CD7-2302-99F2-33DBB2F29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3357534"/>
              <a:ext cx="81045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2" name="Oval 73">
              <a:extLst>
                <a:ext uri="{FF2B5EF4-FFF2-40B4-BE49-F238E27FC236}">
                  <a16:creationId xmlns:a16="http://schemas.microsoft.com/office/drawing/2014/main" id="{BD4FEDD0-2C41-3560-37E6-62A320673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5743" y="2663136"/>
              <a:ext cx="455880" cy="486079"/>
            </a:xfrm>
            <a:prstGeom prst="ellips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Rectangle 74">
              <a:extLst>
                <a:ext uri="{FF2B5EF4-FFF2-40B4-BE49-F238E27FC236}">
                  <a16:creationId xmlns:a16="http://schemas.microsoft.com/office/drawing/2014/main" id="{A511930A-1954-5619-6043-ABA86E37D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714" y="2782822"/>
              <a:ext cx="441936" cy="239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&lt;&lt;2</a:t>
              </a:r>
            </a:p>
          </p:txBody>
        </p:sp>
        <p:sp>
          <p:nvSpPr>
            <p:cNvPr id="64" name="Line 75">
              <a:extLst>
                <a:ext uri="{FF2B5EF4-FFF2-40B4-BE49-F238E27FC236}">
                  <a16:creationId xmlns:a16="http://schemas.microsoft.com/office/drawing/2014/main" id="{DC83A8E7-3337-78BB-AAB6-A1C51BB51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353" y="2940895"/>
              <a:ext cx="2723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5" name="Line 85">
              <a:extLst>
                <a:ext uri="{FF2B5EF4-FFF2-40B4-BE49-F238E27FC236}">
                  <a16:creationId xmlns:a16="http://schemas.microsoft.com/office/drawing/2014/main" id="{43EBCFA1-06CD-926A-CCAE-F65B0BACB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6901" y="294089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6" name="Rectangle 86">
              <a:extLst>
                <a:ext uri="{FF2B5EF4-FFF2-40B4-BE49-F238E27FC236}">
                  <a16:creationId xmlns:a16="http://schemas.microsoft.com/office/drawing/2014/main" id="{5D402B52-8CB0-2B4F-0E00-D024E5CA5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341" y="3184998"/>
              <a:ext cx="1291659" cy="111720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7" name="Line 87">
              <a:extLst>
                <a:ext uri="{FF2B5EF4-FFF2-40B4-BE49-F238E27FC236}">
                  <a16:creationId xmlns:a16="http://schemas.microsoft.com/office/drawing/2014/main" id="{0EE8BF7B-D1DB-FE38-2F44-AB206EDF4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3774173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FA621CB6-46D5-0267-FE44-7360672A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3363" y="3164294"/>
              <a:ext cx="830645" cy="523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69" name="Text Box 89">
              <a:extLst>
                <a:ext uri="{FF2B5EF4-FFF2-40B4-BE49-F238E27FC236}">
                  <a16:creationId xmlns:a16="http://schemas.microsoft.com/office/drawing/2014/main" id="{AEC5D3AF-043B-7036-42DD-3F670DCCB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635293"/>
              <a:ext cx="508442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0" name="Text Box 90">
              <a:extLst>
                <a:ext uri="{FF2B5EF4-FFF2-40B4-BE49-F238E27FC236}">
                  <a16:creationId xmlns:a16="http://schemas.microsoft.com/office/drawing/2014/main" id="{51D979DC-CD68-26C8-DD39-9CB1FA614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9680" y="3982492"/>
              <a:ext cx="90803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 Data</a:t>
              </a:r>
            </a:p>
          </p:txBody>
        </p:sp>
        <p:sp>
          <p:nvSpPr>
            <p:cNvPr id="71" name="Text Box 91">
              <a:extLst>
                <a:ext uri="{FF2B5EF4-FFF2-40B4-BE49-F238E27FC236}">
                  <a16:creationId xmlns:a16="http://schemas.microsoft.com/office/drawing/2014/main" id="{E7CB6134-B1E7-3F7D-22D3-71C61AD8B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245" y="3630802"/>
              <a:ext cx="91720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Data</a:t>
              </a:r>
            </a:p>
          </p:txBody>
        </p:sp>
        <p:sp>
          <p:nvSpPr>
            <p:cNvPr id="72" name="Line 92">
              <a:extLst>
                <a:ext uri="{FF2B5EF4-FFF2-40B4-BE49-F238E27FC236}">
                  <a16:creationId xmlns:a16="http://schemas.microsoft.com/office/drawing/2014/main" id="{80F92898-C8CD-9D21-B1F3-CFA853C9F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1" y="4121372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3" name="Line 93">
              <a:extLst>
                <a:ext uri="{FF2B5EF4-FFF2-40B4-BE49-F238E27FC236}">
                  <a16:creationId xmlns:a16="http://schemas.microsoft.com/office/drawing/2014/main" id="{7267139D-B681-0C72-84A0-95513220C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4121372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AutoShape 94">
              <a:extLst>
                <a:ext uri="{FF2B5EF4-FFF2-40B4-BE49-F238E27FC236}">
                  <a16:creationId xmlns:a16="http://schemas.microsoft.com/office/drawing/2014/main" id="{914FE94E-CE9B-8788-79DF-116061A1CC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260350" y="3833803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5" name="Line 98">
              <a:extLst>
                <a:ext uri="{FF2B5EF4-FFF2-40B4-BE49-F238E27FC236}">
                  <a16:creationId xmlns:a16="http://schemas.microsoft.com/office/drawing/2014/main" id="{42B61773-A4AE-A300-7581-69C293735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923" y="3357534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6" name="Line 99">
              <a:extLst>
                <a:ext uri="{FF2B5EF4-FFF2-40B4-BE49-F238E27FC236}">
                  <a16:creationId xmlns:a16="http://schemas.microsoft.com/office/drawing/2014/main" id="{801BA9C7-E19A-4EE3-46EB-88B064BE2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325" y="4190812"/>
              <a:ext cx="0" cy="152512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7" name="Line 100">
              <a:extLst>
                <a:ext uri="{FF2B5EF4-FFF2-40B4-BE49-F238E27FC236}">
                  <a16:creationId xmlns:a16="http://schemas.microsoft.com/office/drawing/2014/main" id="{D7F8C9C5-016E-C9C9-DC6C-F72A0B128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52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8" name="Line 101">
              <a:extLst>
                <a:ext uri="{FF2B5EF4-FFF2-40B4-BE49-F238E27FC236}">
                  <a16:creationId xmlns:a16="http://schemas.microsoft.com/office/drawing/2014/main" id="{B9E56A0B-781D-097F-89B9-87AF69FEC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726" y="1621538"/>
              <a:ext cx="9117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9" name="Line 102">
              <a:extLst>
                <a:ext uri="{FF2B5EF4-FFF2-40B4-BE49-F238E27FC236}">
                  <a16:creationId xmlns:a16="http://schemas.microsoft.com/office/drawing/2014/main" id="{43A195FA-B022-8344-53DC-C9BB10E7C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370473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0" name="Line 103">
              <a:extLst>
                <a:ext uri="{FF2B5EF4-FFF2-40B4-BE49-F238E27FC236}">
                  <a16:creationId xmlns:a16="http://schemas.microsoft.com/office/drawing/2014/main" id="{BBF3B4AB-AD0D-4171-71FC-9FCE8D7C0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7000" y="3774173"/>
              <a:ext cx="1516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1" name="Rectangle 104">
              <a:extLst>
                <a:ext uri="{FF2B5EF4-FFF2-40B4-BE49-F238E27FC236}">
                  <a16:creationId xmlns:a16="http://schemas.microsoft.com/office/drawing/2014/main" id="{E109E4D1-AB1E-B83B-0760-0C0A48079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425" y="2315936"/>
              <a:ext cx="151960" cy="201375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2" name="Rectangle 105">
              <a:extLst>
                <a:ext uri="{FF2B5EF4-FFF2-40B4-BE49-F238E27FC236}">
                  <a16:creationId xmlns:a16="http://schemas.microsoft.com/office/drawing/2014/main" id="{CDD412C5-7319-CD62-5BCB-7CFD4CD16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882" y="1800567"/>
              <a:ext cx="158319" cy="36483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3" name="Line 106">
              <a:extLst>
                <a:ext uri="{FF2B5EF4-FFF2-40B4-BE49-F238E27FC236}">
                  <a16:creationId xmlns:a16="http://schemas.microsoft.com/office/drawing/2014/main" id="{6A80749D-D10C-3897-CA59-23AD9BDE4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252425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Line 107">
              <a:extLst>
                <a:ext uri="{FF2B5EF4-FFF2-40B4-BE49-F238E27FC236}">
                  <a16:creationId xmlns:a16="http://schemas.microsoft.com/office/drawing/2014/main" id="{B9FBAE0A-B874-766E-4212-28B9DB35C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385" y="2524256"/>
              <a:ext cx="189949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5" name="Line 108">
              <a:extLst>
                <a:ext uri="{FF2B5EF4-FFF2-40B4-BE49-F238E27FC236}">
                  <a16:creationId xmlns:a16="http://schemas.microsoft.com/office/drawing/2014/main" id="{DA7936E8-D653-A8A1-EB96-67B5FB10D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5718" y="2732575"/>
              <a:ext cx="9972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6" name="Line 109">
              <a:extLst>
                <a:ext uri="{FF2B5EF4-FFF2-40B4-BE49-F238E27FC236}">
                  <a16:creationId xmlns:a16="http://schemas.microsoft.com/office/drawing/2014/main" id="{34F750D2-63B3-BF52-B115-FC1D90313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4815770"/>
              <a:ext cx="10751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7" name="Line 110">
              <a:extLst>
                <a:ext uri="{FF2B5EF4-FFF2-40B4-BE49-F238E27FC236}">
                  <a16:creationId xmlns:a16="http://schemas.microsoft.com/office/drawing/2014/main" id="{C9C5FE02-D939-2061-F991-FD57E594F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3982492"/>
              <a:ext cx="0" cy="83327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8" name="Line 111">
              <a:extLst>
                <a:ext uri="{FF2B5EF4-FFF2-40B4-BE49-F238E27FC236}">
                  <a16:creationId xmlns:a16="http://schemas.microsoft.com/office/drawing/2014/main" id="{CCCCC108-190B-7DC9-8693-17348BA25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783" y="4815770"/>
              <a:ext cx="12916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9" name="Rectangle 112">
              <a:extLst>
                <a:ext uri="{FF2B5EF4-FFF2-40B4-BE49-F238E27FC236}">
                  <a16:creationId xmlns:a16="http://schemas.microsoft.com/office/drawing/2014/main" id="{F3089D1B-0119-B163-853D-C01FF7B27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8960" y="2690911"/>
              <a:ext cx="151960" cy="25414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0" name="Line 113">
              <a:extLst>
                <a:ext uri="{FF2B5EF4-FFF2-40B4-BE49-F238E27FC236}">
                  <a16:creationId xmlns:a16="http://schemas.microsoft.com/office/drawing/2014/main" id="{BFE8A7F2-8D7F-7A2B-EB71-40A44E55E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4815770"/>
              <a:ext cx="15955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1" name="Line 114">
              <a:extLst>
                <a:ext uri="{FF2B5EF4-FFF2-40B4-BE49-F238E27FC236}">
                  <a16:creationId xmlns:a16="http://schemas.microsoft.com/office/drawing/2014/main" id="{A3BC935B-F3A2-FE6C-7F92-B0AF5E9E5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0920" y="3774173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2" name="Line 115">
              <a:extLst>
                <a:ext uri="{FF2B5EF4-FFF2-40B4-BE49-F238E27FC236}">
                  <a16:creationId xmlns:a16="http://schemas.microsoft.com/office/drawing/2014/main" id="{1D7FD65E-148B-B5E2-7AE1-A86426505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8759" y="3913052"/>
              <a:ext cx="0" cy="180288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3" name="Line 116">
              <a:extLst>
                <a:ext uri="{FF2B5EF4-FFF2-40B4-BE49-F238E27FC236}">
                  <a16:creationId xmlns:a16="http://schemas.microsoft.com/office/drawing/2014/main" id="{48EBAA49-DC68-6DEA-F1C0-B794D717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3821" y="1343777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4" name="Line 117">
              <a:extLst>
                <a:ext uri="{FF2B5EF4-FFF2-40B4-BE49-F238E27FC236}">
                  <a16:creationId xmlns:a16="http://schemas.microsoft.com/office/drawing/2014/main" id="{9981C92D-897B-A559-1F07-06874EE6F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55441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rgbClr val="ED7D3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5" name="Text Box 119">
              <a:extLst>
                <a:ext uri="{FF2B5EF4-FFF2-40B4-BE49-F238E27FC236}">
                  <a16:creationId xmlns:a16="http://schemas.microsoft.com/office/drawing/2014/main" id="{6DFCBA06-5B0D-1F1E-9E06-B01B93414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221" y="1924885"/>
              <a:ext cx="684773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IF/ID</a:t>
              </a:r>
            </a:p>
          </p:txBody>
        </p:sp>
        <p:sp>
          <p:nvSpPr>
            <p:cNvPr id="96" name="Line 120">
              <a:extLst>
                <a:ext uri="{FF2B5EF4-FFF2-40B4-BE49-F238E27FC236}">
                  <a16:creationId xmlns:a16="http://schemas.microsoft.com/office/drawing/2014/main" id="{046465B8-C8FF-2500-8D2B-9CBB3CE28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3353" y="2940895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7" name="Line 121">
              <a:extLst>
                <a:ext uri="{FF2B5EF4-FFF2-40B4-BE49-F238E27FC236}">
                  <a16:creationId xmlns:a16="http://schemas.microsoft.com/office/drawing/2014/main" id="{B6D862E1-6BDD-7C06-A5C6-840517D71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473" y="4815770"/>
              <a:ext cx="57041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8" name="Line 122">
              <a:extLst>
                <a:ext uri="{FF2B5EF4-FFF2-40B4-BE49-F238E27FC236}">
                  <a16:creationId xmlns:a16="http://schemas.microsoft.com/office/drawing/2014/main" id="{8F0B323E-211F-8489-D538-0F48B2390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843" y="2524256"/>
              <a:ext cx="10637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9" name="Line 123">
              <a:extLst>
                <a:ext uri="{FF2B5EF4-FFF2-40B4-BE49-F238E27FC236}">
                  <a16:creationId xmlns:a16="http://schemas.microsoft.com/office/drawing/2014/main" id="{27DC9C69-AF1B-939C-FD5C-F062BE592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485" y="1621538"/>
              <a:ext cx="0" cy="9027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0" name="Line 124">
              <a:extLst>
                <a:ext uri="{FF2B5EF4-FFF2-40B4-BE49-F238E27FC236}">
                  <a16:creationId xmlns:a16="http://schemas.microsoft.com/office/drawing/2014/main" id="{BE476306-AA00-F813-45B1-4F0871824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27502" y="3037144"/>
              <a:ext cx="0" cy="38982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Line 125">
              <a:extLst>
                <a:ext uri="{FF2B5EF4-FFF2-40B4-BE49-F238E27FC236}">
                  <a16:creationId xmlns:a16="http://schemas.microsoft.com/office/drawing/2014/main" id="{451D6070-085D-1AD3-714F-E5BB421FA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94" y="2246497"/>
              <a:ext cx="0" cy="145823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2" name="Rectangle 126">
              <a:extLst>
                <a:ext uri="{FF2B5EF4-FFF2-40B4-BE49-F238E27FC236}">
                  <a16:creationId xmlns:a16="http://schemas.microsoft.com/office/drawing/2014/main" id="{A260A785-6E34-0F7F-01CF-6C8180982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441" y="1966185"/>
              <a:ext cx="151960" cy="326622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3" name="Oval 127">
              <a:extLst>
                <a:ext uri="{FF2B5EF4-FFF2-40B4-BE49-F238E27FC236}">
                  <a16:creationId xmlns:a16="http://schemas.microsoft.com/office/drawing/2014/main" id="{78CA31C9-1A1A-DB5F-DA63-7D064E96F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244" y="4607451"/>
              <a:ext cx="810453" cy="416639"/>
            </a:xfrm>
            <a:prstGeom prst="ellipse">
              <a:avLst/>
            </a:prstGeom>
            <a:solidFill>
              <a:sysClr val="window" lastClr="FFFFFF"/>
            </a:solidFill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4" name="Rectangle 128">
              <a:extLst>
                <a:ext uri="{FF2B5EF4-FFF2-40B4-BE49-F238E27FC236}">
                  <a16:creationId xmlns:a16="http://schemas.microsoft.com/office/drawing/2014/main" id="{E34CE5A3-7D94-09EE-5C89-82096C176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04" y="4594606"/>
              <a:ext cx="531860" cy="416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Sign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Extend</a:t>
              </a:r>
            </a:p>
          </p:txBody>
        </p:sp>
        <p:sp>
          <p:nvSpPr>
            <p:cNvPr id="105" name="Line 129">
              <a:extLst>
                <a:ext uri="{FF2B5EF4-FFF2-40B4-BE49-F238E27FC236}">
                  <a16:creationId xmlns:a16="http://schemas.microsoft.com/office/drawing/2014/main" id="{574F59EB-2077-311E-29B5-AE9FD16D5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2732575"/>
              <a:ext cx="5264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6" name="Line 130">
              <a:extLst>
                <a:ext uri="{FF2B5EF4-FFF2-40B4-BE49-F238E27FC236}">
                  <a16:creationId xmlns:a16="http://schemas.microsoft.com/office/drawing/2014/main" id="{157FDF4A-9B27-B687-51A9-B6C8E2560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502" y="3037145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7" name="Line 131">
              <a:extLst>
                <a:ext uri="{FF2B5EF4-FFF2-40B4-BE49-F238E27FC236}">
                  <a16:creationId xmlns:a16="http://schemas.microsoft.com/office/drawing/2014/main" id="{5FC8ADBC-5E40-4476-43B2-BB5E0C1A6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7400" y="3037145"/>
              <a:ext cx="83578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8" name="Line 132">
              <a:extLst>
                <a:ext uri="{FF2B5EF4-FFF2-40B4-BE49-F238E27FC236}">
                  <a16:creationId xmlns:a16="http://schemas.microsoft.com/office/drawing/2014/main" id="{A7BB2E55-C00E-2FC7-5842-CA3247396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3381" y="3774173"/>
              <a:ext cx="0" cy="104159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Text Box 133">
              <a:extLst>
                <a:ext uri="{FF2B5EF4-FFF2-40B4-BE49-F238E27FC236}">
                  <a16:creationId xmlns:a16="http://schemas.microsoft.com/office/drawing/2014/main" id="{18BE6AD9-EFCA-F5EA-46C6-58D6C7E80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678" y="1449977"/>
              <a:ext cx="78736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ID/EX</a:t>
              </a:r>
            </a:p>
          </p:txBody>
        </p:sp>
        <p:sp>
          <p:nvSpPr>
            <p:cNvPr id="110" name="Text Box 134">
              <a:extLst>
                <a:ext uri="{FF2B5EF4-FFF2-40B4-BE49-F238E27FC236}">
                  <a16:creationId xmlns:a16="http://schemas.microsoft.com/office/drawing/2014/main" id="{D2F424A1-ED14-9318-8443-3DDAF09A4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8680" y="1626984"/>
              <a:ext cx="1095141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EX/MEM</a:t>
              </a:r>
            </a:p>
          </p:txBody>
        </p:sp>
        <p:sp>
          <p:nvSpPr>
            <p:cNvPr id="111" name="Text Box 135">
              <a:extLst>
                <a:ext uri="{FF2B5EF4-FFF2-40B4-BE49-F238E27FC236}">
                  <a16:creationId xmlns:a16="http://schemas.microsoft.com/office/drawing/2014/main" id="{B4D45B78-BFF8-04EC-63DB-BCB4F356A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5040" y="2394056"/>
              <a:ext cx="117208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MEM/WB</a:t>
              </a:r>
            </a:p>
          </p:txBody>
        </p:sp>
        <p:sp>
          <p:nvSpPr>
            <p:cNvPr id="112" name="Line 13">
              <a:extLst>
                <a:ext uri="{FF2B5EF4-FFF2-40B4-BE49-F238E27FC236}">
                  <a16:creationId xmlns:a16="http://schemas.microsoft.com/office/drawing/2014/main" id="{8E1B267C-66ED-5888-4976-8393FC539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6799" y="3913053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FAB78984-34F2-9826-05C1-F3B61379E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093529"/>
              <a:ext cx="0" cy="23687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4" name="Line 8">
              <a:extLst>
                <a:ext uri="{FF2B5EF4-FFF2-40B4-BE49-F238E27FC236}">
                  <a16:creationId xmlns:a16="http://schemas.microsoft.com/office/drawing/2014/main" id="{BF004357-1F35-75A1-D272-DA5B23A9B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723" y="5326892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Line 9">
              <a:extLst>
                <a:ext uri="{FF2B5EF4-FFF2-40B4-BE49-F238E27FC236}">
                  <a16:creationId xmlns:a16="http://schemas.microsoft.com/office/drawing/2014/main" id="{B9A4ABD4-4E8B-F067-0BE2-0F1680255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201" y="5326892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6" name="AutoShape 67">
              <a:extLst>
                <a:ext uri="{FF2B5EF4-FFF2-40B4-BE49-F238E27FC236}">
                  <a16:creationId xmlns:a16="http://schemas.microsoft.com/office/drawing/2014/main" id="{08A9F1B1-43DC-D64A-65DE-5564D943A0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40498" y="5024784"/>
              <a:ext cx="565593" cy="236773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7" name="Rectangle 70">
              <a:extLst>
                <a:ext uri="{FF2B5EF4-FFF2-40B4-BE49-F238E27FC236}">
                  <a16:creationId xmlns:a16="http://schemas.microsoft.com/office/drawing/2014/main" id="{B907A6EE-D28A-5F1B-53DF-FD36BE343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139" y="5177696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18" name="Line 10">
              <a:extLst>
                <a:ext uri="{FF2B5EF4-FFF2-40B4-BE49-F238E27FC236}">
                  <a16:creationId xmlns:a16="http://schemas.microsoft.com/office/drawing/2014/main" id="{7FC56DDB-9830-2FA8-20C8-DBCC67854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753" y="5093529"/>
              <a:ext cx="100806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9" name="Text Box 30">
              <a:extLst>
                <a:ext uri="{FF2B5EF4-FFF2-40B4-BE49-F238E27FC236}">
                  <a16:creationId xmlns:a16="http://schemas.microsoft.com/office/drawing/2014/main" id="{B2B43AEE-5B70-A146-9A19-BB16F4CA7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014" y="3367716"/>
              <a:ext cx="50042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Zero</a:t>
              </a:r>
            </a:p>
          </p:txBody>
        </p:sp>
        <p:sp>
          <p:nvSpPr>
            <p:cNvPr id="120" name="Line 124">
              <a:extLst>
                <a:ext uri="{FF2B5EF4-FFF2-40B4-BE49-F238E27FC236}">
                  <a16:creationId xmlns:a16="http://schemas.microsoft.com/office/drawing/2014/main" id="{C0AFBE44-2055-7F9A-1434-F4D6999DB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3180" y="1794328"/>
              <a:ext cx="0" cy="123657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1" name="Rectangle 70">
              <a:extLst>
                <a:ext uri="{FF2B5EF4-FFF2-40B4-BE49-F238E27FC236}">
                  <a16:creationId xmlns:a16="http://schemas.microsoft.com/office/drawing/2014/main" id="{1A8A50B2-ACCD-7A58-8DB0-D0481FF8D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050" y="4958616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2" name="Rectangle 70">
              <a:extLst>
                <a:ext uri="{FF2B5EF4-FFF2-40B4-BE49-F238E27FC236}">
                  <a16:creationId xmlns:a16="http://schemas.microsoft.com/office/drawing/2014/main" id="{F0ED5AAA-6DFF-9796-FA47-A576ED94A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380" y="4190812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608AC67C-5874-3B46-6618-F4E716750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337" y="3913052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4" name="Rectangle 70">
              <a:extLst>
                <a:ext uri="{FF2B5EF4-FFF2-40B4-BE49-F238E27FC236}">
                  <a16:creationId xmlns:a16="http://schemas.microsoft.com/office/drawing/2014/main" id="{05CDCBA4-949E-1D6A-75A9-339164D56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767" y="1292554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5" name="Rectangle 70">
              <a:extLst>
                <a:ext uri="{FF2B5EF4-FFF2-40B4-BE49-F238E27FC236}">
                  <a16:creationId xmlns:a16="http://schemas.microsoft.com/office/drawing/2014/main" id="{D8854A85-2434-B14E-8B95-37A777FD5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678" y="1561154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6" name="Text Box 32">
              <a:extLst>
                <a:ext uri="{FF2B5EF4-FFF2-40B4-BE49-F238E27FC236}">
                  <a16:creationId xmlns:a16="http://schemas.microsoft.com/office/drawing/2014/main" id="{F23C734E-3A29-244A-8EF0-D1243612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5656" y="2480153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127" name="Rectangle 70">
              <a:extLst>
                <a:ext uri="{FF2B5EF4-FFF2-40B4-BE49-F238E27FC236}">
                  <a16:creationId xmlns:a16="http://schemas.microsoft.com/office/drawing/2014/main" id="{0B66E311-88ED-347D-D800-154D7113C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72" y="3734735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8" name="Rectangle 70">
              <a:extLst>
                <a:ext uri="{FF2B5EF4-FFF2-40B4-BE49-F238E27FC236}">
                  <a16:creationId xmlns:a16="http://schemas.microsoft.com/office/drawing/2014/main" id="{B4726D9C-A382-F06E-BBC4-8FCDBED22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8683" y="4003335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9" name="Line 118">
              <a:extLst>
                <a:ext uri="{FF2B5EF4-FFF2-40B4-BE49-F238E27FC236}">
                  <a16:creationId xmlns:a16="http://schemas.microsoft.com/office/drawing/2014/main" id="{7E758AC2-2B26-FA0D-D002-466026039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8069" y="4143847"/>
              <a:ext cx="118182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0" name="Line 118">
              <a:extLst>
                <a:ext uri="{FF2B5EF4-FFF2-40B4-BE49-F238E27FC236}">
                  <a16:creationId xmlns:a16="http://schemas.microsoft.com/office/drawing/2014/main" id="{2F5C281A-059E-4D0B-380C-77A7950C0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78960" y="4121372"/>
              <a:ext cx="151960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00E048AF-04AB-11F4-8CD5-03D3A7603FC3}"/>
                </a:ext>
              </a:extLst>
            </p:cNvPr>
            <p:cNvSpPr/>
            <p:nvPr/>
          </p:nvSpPr>
          <p:spPr>
            <a:xfrm>
              <a:off x="1778065" y="2094312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82E670E0-D286-89A5-FDE4-662DE60D84B4}"/>
                </a:ext>
              </a:extLst>
            </p:cNvPr>
            <p:cNvSpPr/>
            <p:nvPr/>
          </p:nvSpPr>
          <p:spPr>
            <a:xfrm>
              <a:off x="5785707" y="2316635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77C548AD-3BAF-4B13-BF3A-CD4FE87CDC40}"/>
              </a:ext>
            </a:extLst>
          </p:cNvPr>
          <p:cNvSpPr/>
          <p:nvPr/>
        </p:nvSpPr>
        <p:spPr>
          <a:xfrm>
            <a:off x="5397748" y="4087139"/>
            <a:ext cx="739529" cy="116769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3914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FC19F-C0ED-4419-96FC-3FCB8209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28B6A-4951-4232-A549-C18F3C1B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686797" cy="4525963"/>
          </a:xfrm>
        </p:spPr>
        <p:txBody>
          <a:bodyPr/>
          <a:lstStyle/>
          <a:p>
            <a:r>
              <a:rPr lang="zh-CN" altLang="en-US" sz="2400" dirty="0"/>
              <a:t>寄存器堆写入冲突</a:t>
            </a:r>
            <a:endParaRPr lang="en-US" altLang="zh-CN" sz="2400" dirty="0"/>
          </a:p>
          <a:p>
            <a:pPr lvl="1"/>
            <a:r>
              <a:rPr lang="en-US" altLang="zh-CN" sz="2000" dirty="0"/>
              <a:t>R</a:t>
            </a:r>
            <a:r>
              <a:rPr lang="zh-CN" altLang="en-US" sz="2000" dirty="0"/>
              <a:t>型与</a:t>
            </a:r>
            <a:r>
              <a:rPr lang="en-US" altLang="zh-CN" sz="2000" dirty="0"/>
              <a:t>load</a:t>
            </a:r>
            <a:r>
              <a:rPr lang="zh-CN" altLang="en-US" sz="2000" dirty="0"/>
              <a:t>冲突，</a:t>
            </a:r>
            <a:r>
              <a:rPr lang="en-US" altLang="zh-CN" sz="2000" dirty="0"/>
              <a:t>R</a:t>
            </a:r>
            <a:r>
              <a:rPr lang="zh-CN" altLang="en-US" sz="2000" dirty="0"/>
              <a:t>型指令</a:t>
            </a:r>
            <a:r>
              <a:rPr lang="en-US" altLang="zh-CN" sz="2000" dirty="0"/>
              <a:t>WB</a:t>
            </a:r>
            <a:r>
              <a:rPr lang="zh-CN" altLang="en-US" sz="2000" dirty="0"/>
              <a:t>延迟一级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10218-2A46-4D73-872D-212389F1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100</a:t>
            </a:fld>
            <a:endParaRPr lang="zh-CN" altLang="en-US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5F283F97-C4F0-4624-8096-6357F4DE9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502655"/>
              </p:ext>
            </p:extLst>
          </p:nvPr>
        </p:nvGraphicFramePr>
        <p:xfrm>
          <a:off x="191673" y="2455097"/>
          <a:ext cx="8712199" cy="426314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43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85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流水线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</a:t>
                      </a:r>
                      <a:r>
                        <a:rPr lang="zh-CN" altLang="en-US" sz="2000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读存储器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写存储器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IR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 err="1"/>
                        <a:t>MemInst</a:t>
                      </a:r>
                      <a:r>
                        <a:rPr lang="en-US" altLang="zh-CN" sz="1600" dirty="0"/>
                        <a:t>[PC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];  PC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Symbol"/>
                        </a:rPr>
                        <a:t>&lt;= PC + 4</a:t>
                      </a:r>
                      <a:endParaRPr lang="en-US" altLang="zh-CN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512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op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IR[31:26]; A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Reg[IR[25:21]]; B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Reg[IR[20:16]];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/>
                        <a:t>A op B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+ </a:t>
                      </a: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- B 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PCAdd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PC + 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 &lt;&lt;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8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MEM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99CCFF"/>
                          </a:solidFill>
                        </a:rPr>
                        <a:t>Reg[IR[15:11]]</a:t>
                      </a:r>
                      <a:r>
                        <a:rPr lang="en-US" altLang="zh-CN" sz="1600" dirty="0">
                          <a:solidFill>
                            <a:srgbClr val="99CCFF"/>
                          </a:solidFill>
                          <a:sym typeface="Symbol"/>
                        </a:rPr>
                        <a:t>  &lt;= </a:t>
                      </a:r>
                      <a:r>
                        <a:rPr lang="en-US" altLang="zh-CN" sz="1600" dirty="0" err="1">
                          <a:solidFill>
                            <a:srgbClr val="99CCFF"/>
                          </a:solidFill>
                        </a:rPr>
                        <a:t>ALUOut</a:t>
                      </a:r>
                      <a:endParaRPr lang="zh-CN" altLang="en-US" sz="1600" dirty="0">
                        <a:solidFill>
                          <a:srgbClr val="99CC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MDR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 &lt;= B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if (Zero)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PC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  <a:sym typeface="Symbol"/>
                        </a:rPr>
                        <a:t>PCAdd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WB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Reg[IR[15:11]]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  &lt;= </a:t>
                      </a:r>
                      <a:r>
                        <a:rPr lang="en-US" altLang="zh-CN" sz="1600" dirty="0" err="1">
                          <a:solidFill>
                            <a:srgbClr val="00B0F0"/>
                          </a:solidFill>
                        </a:rPr>
                        <a:t>ALUOut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Reg[IR[20:16]]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>
                          <a:sym typeface="Symbol"/>
                        </a:rPr>
                        <a:t>MDR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673412C-87C5-449F-B429-8B84B6ADE8FB}"/>
              </a:ext>
            </a:extLst>
          </p:cNvPr>
          <p:cNvCxnSpPr>
            <a:cxnSpLocks/>
          </p:cNvCxnSpPr>
          <p:nvPr/>
        </p:nvCxnSpPr>
        <p:spPr>
          <a:xfrm>
            <a:off x="2358160" y="5590381"/>
            <a:ext cx="0" cy="30929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8850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ACDB9-4EB8-4A55-BA79-D03025A1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流水线：结构冒险小结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96BEC-CE80-44AF-BF77-6012CC19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增加硬件资源：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E2C79C-6BF9-4339-80D5-745D9B1A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63D33-B3C6-6C22-C1B9-0DE145B888D8}"/>
              </a:ext>
            </a:extLst>
          </p:cNvPr>
          <p:cNvSpPr txBox="1"/>
          <p:nvPr/>
        </p:nvSpPr>
        <p:spPr>
          <a:xfrm>
            <a:off x="3473590" y="1084888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F28032"/>
                </a:solidFill>
                <a:ea typeface="SimHei" panose="02010609060101010101" pitchFamily="49" charset="-122"/>
              </a:rPr>
              <a:t>ALUOut</a:t>
            </a:r>
            <a:r>
              <a:rPr lang="zh-CN" altLang="en-US" sz="2000" dirty="0">
                <a:solidFill>
                  <a:srgbClr val="F28032"/>
                </a:solidFill>
                <a:ea typeface="SimHei" panose="02010609060101010101" pitchFamily="49" charset="-122"/>
              </a:rPr>
              <a:t>计算分解为</a:t>
            </a:r>
            <a:r>
              <a:rPr lang="en-US" altLang="zh-CN" sz="2000" dirty="0">
                <a:solidFill>
                  <a:srgbClr val="F28032"/>
                </a:solidFill>
                <a:ea typeface="SimHei" panose="02010609060101010101" pitchFamily="49" charset="-122"/>
              </a:rPr>
              <a:t>ALU</a:t>
            </a:r>
            <a:r>
              <a:rPr lang="zh-CN" altLang="en-US" sz="2000" dirty="0">
                <a:solidFill>
                  <a:srgbClr val="F28032"/>
                </a:solidFill>
                <a:ea typeface="SimHei" panose="02010609060101010101" pitchFamily="49" charset="-122"/>
              </a:rPr>
              <a:t>和</a:t>
            </a:r>
            <a:r>
              <a:rPr lang="en-US" altLang="zh-CN" sz="2000" dirty="0" err="1">
                <a:solidFill>
                  <a:srgbClr val="F28032"/>
                </a:solidFill>
                <a:ea typeface="SimHei" panose="02010609060101010101" pitchFamily="49" charset="-122"/>
              </a:rPr>
              <a:t>PCAdd</a:t>
            </a:r>
            <a:endParaRPr lang="en-US" altLang="zh-CN" sz="2000" dirty="0">
              <a:solidFill>
                <a:srgbClr val="F28032"/>
              </a:solidFill>
              <a:ea typeface="SimHei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B050"/>
                </a:solidFill>
                <a:ea typeface="SimHei" panose="02010609060101010101" pitchFamily="49" charset="-122"/>
              </a:rPr>
              <a:t>额外的加法器用于</a:t>
            </a:r>
            <a:r>
              <a:rPr lang="en-US" altLang="zh-CN" sz="2000" dirty="0">
                <a:solidFill>
                  <a:srgbClr val="00B050"/>
                </a:solidFill>
                <a:ea typeface="SimHei" panose="02010609060101010101" pitchFamily="49" charset="-122"/>
              </a:rPr>
              <a:t>PC+4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SimHei" panose="02010609060101010101" pitchFamily="49" charset="-122"/>
              </a:rPr>
              <a:t>分离的指令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SimHei" panose="02010609060101010101" pitchFamily="49" charset="-122"/>
              </a:rPr>
              <a:t>/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SimHei" panose="02010609060101010101" pitchFamily="49" charset="-122"/>
              </a:rPr>
              <a:t>数据存储器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SimHei" panose="02010609060101010101" pitchFamily="49" charset="-12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C00000"/>
                </a:solidFill>
                <a:ea typeface="SimHei" panose="02010609060101010101" pitchFamily="49" charset="-122"/>
              </a:rPr>
              <a:t>R</a:t>
            </a:r>
            <a:r>
              <a:rPr lang="zh-CN" altLang="en-US" sz="2000" dirty="0">
                <a:solidFill>
                  <a:srgbClr val="C00000"/>
                </a:solidFill>
                <a:ea typeface="SimHei" panose="02010609060101010101" pitchFamily="49" charset="-122"/>
              </a:rPr>
              <a:t>型指令</a:t>
            </a:r>
            <a:r>
              <a:rPr lang="en-US" altLang="zh-CN" sz="2000" dirty="0">
                <a:solidFill>
                  <a:srgbClr val="C00000"/>
                </a:solidFill>
                <a:ea typeface="SimHei" panose="02010609060101010101" pitchFamily="49" charset="-122"/>
              </a:rPr>
              <a:t>WB</a:t>
            </a:r>
            <a:r>
              <a:rPr lang="zh-CN" altLang="en-US" sz="2000" dirty="0">
                <a:solidFill>
                  <a:srgbClr val="C00000"/>
                </a:solidFill>
                <a:ea typeface="SimHei" panose="02010609060101010101" pitchFamily="49" charset="-122"/>
              </a:rPr>
              <a:t>延迟一级</a:t>
            </a: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662A0333-F615-951B-B337-D8B2DE6808E2}"/>
              </a:ext>
            </a:extLst>
          </p:cNvPr>
          <p:cNvGrpSpPr/>
          <p:nvPr/>
        </p:nvGrpSpPr>
        <p:grpSpPr>
          <a:xfrm>
            <a:off x="254000" y="2260386"/>
            <a:ext cx="8618119" cy="4511038"/>
            <a:chOff x="262940" y="2123762"/>
            <a:chExt cx="8618119" cy="4511038"/>
          </a:xfrm>
        </p:grpSpPr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82E670E0-D286-89A5-FDE4-662DE60D84B4}"/>
                </a:ext>
              </a:extLst>
            </p:cNvPr>
            <p:cNvSpPr/>
            <p:nvPr/>
          </p:nvSpPr>
          <p:spPr>
            <a:xfrm>
              <a:off x="5719641" y="3235499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CC6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00E048AF-04AB-11F4-8CD5-03D3A7603FC3}"/>
                </a:ext>
              </a:extLst>
            </p:cNvPr>
            <p:cNvSpPr/>
            <p:nvPr/>
          </p:nvSpPr>
          <p:spPr>
            <a:xfrm>
              <a:off x="1711999" y="3013176"/>
              <a:ext cx="372209" cy="842010"/>
            </a:xfrm>
            <a:custGeom>
              <a:avLst/>
              <a:gdLst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3810 w 386715"/>
                <a:gd name="connsiteY6" fmla="*/ 320040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3810 w 386715"/>
                <a:gd name="connsiteY4" fmla="*/ 49720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9525 w 386715"/>
                <a:gd name="connsiteY0" fmla="*/ 0 h 830580"/>
                <a:gd name="connsiteX1" fmla="*/ 386715 w 386715"/>
                <a:gd name="connsiteY1" fmla="*/ 245745 h 830580"/>
                <a:gd name="connsiteX2" fmla="*/ 384810 w 386715"/>
                <a:gd name="connsiteY2" fmla="*/ 579120 h 830580"/>
                <a:gd name="connsiteX3" fmla="*/ 0 w 386715"/>
                <a:gd name="connsiteY3" fmla="*/ 830580 h 830580"/>
                <a:gd name="connsiteX4" fmla="*/ 0 w 386715"/>
                <a:gd name="connsiteY4" fmla="*/ 508635 h 830580"/>
                <a:gd name="connsiteX5" fmla="*/ 70485 w 386715"/>
                <a:gd name="connsiteY5" fmla="*/ 409575 h 830580"/>
                <a:gd name="connsiteX6" fmla="*/ 7620 w 386715"/>
                <a:gd name="connsiteY6" fmla="*/ 318135 h 830580"/>
                <a:gd name="connsiteX7" fmla="*/ 9525 w 386715"/>
                <a:gd name="connsiteY7" fmla="*/ 0 h 83058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7620 w 386715"/>
                <a:gd name="connsiteY6" fmla="*/ 329565 h 842010"/>
                <a:gd name="connsiteX7" fmla="*/ 1905 w 386715"/>
                <a:gd name="connsiteY7" fmla="*/ 0 h 842010"/>
                <a:gd name="connsiteX0" fmla="*/ 5715 w 390525"/>
                <a:gd name="connsiteY0" fmla="*/ 0 h 842010"/>
                <a:gd name="connsiteX1" fmla="*/ 390525 w 390525"/>
                <a:gd name="connsiteY1" fmla="*/ 257175 h 842010"/>
                <a:gd name="connsiteX2" fmla="*/ 388620 w 390525"/>
                <a:gd name="connsiteY2" fmla="*/ 590550 h 842010"/>
                <a:gd name="connsiteX3" fmla="*/ 3810 w 390525"/>
                <a:gd name="connsiteY3" fmla="*/ 842010 h 842010"/>
                <a:gd name="connsiteX4" fmla="*/ 3810 w 390525"/>
                <a:gd name="connsiteY4" fmla="*/ 520065 h 842010"/>
                <a:gd name="connsiteX5" fmla="*/ 74295 w 390525"/>
                <a:gd name="connsiteY5" fmla="*/ 421005 h 842010"/>
                <a:gd name="connsiteX6" fmla="*/ 0 w 390525"/>
                <a:gd name="connsiteY6" fmla="*/ 327660 h 842010"/>
                <a:gd name="connsiteX7" fmla="*/ 5715 w 39052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5715 w 386715"/>
                <a:gd name="connsiteY6" fmla="*/ 327660 h 842010"/>
                <a:gd name="connsiteX7" fmla="*/ 1905 w 386715"/>
                <a:gd name="connsiteY7" fmla="*/ 0 h 842010"/>
                <a:gd name="connsiteX0" fmla="*/ 1905 w 386715"/>
                <a:gd name="connsiteY0" fmla="*/ 0 h 842010"/>
                <a:gd name="connsiteX1" fmla="*/ 386715 w 386715"/>
                <a:gd name="connsiteY1" fmla="*/ 257175 h 842010"/>
                <a:gd name="connsiteX2" fmla="*/ 384810 w 386715"/>
                <a:gd name="connsiteY2" fmla="*/ 590550 h 842010"/>
                <a:gd name="connsiteX3" fmla="*/ 0 w 386715"/>
                <a:gd name="connsiteY3" fmla="*/ 842010 h 842010"/>
                <a:gd name="connsiteX4" fmla="*/ 0 w 386715"/>
                <a:gd name="connsiteY4" fmla="*/ 520065 h 842010"/>
                <a:gd name="connsiteX5" fmla="*/ 70485 w 386715"/>
                <a:gd name="connsiteY5" fmla="*/ 421005 h 842010"/>
                <a:gd name="connsiteX6" fmla="*/ 1905 w 386715"/>
                <a:gd name="connsiteY6" fmla="*/ 327660 h 842010"/>
                <a:gd name="connsiteX7" fmla="*/ 1905 w 386715"/>
                <a:gd name="connsiteY7" fmla="*/ 0 h 84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715" h="842010">
                  <a:moveTo>
                    <a:pt x="1905" y="0"/>
                  </a:moveTo>
                  <a:lnTo>
                    <a:pt x="386715" y="257175"/>
                  </a:lnTo>
                  <a:lnTo>
                    <a:pt x="384810" y="590550"/>
                  </a:lnTo>
                  <a:lnTo>
                    <a:pt x="0" y="842010"/>
                  </a:lnTo>
                  <a:lnTo>
                    <a:pt x="0" y="520065"/>
                  </a:lnTo>
                  <a:lnTo>
                    <a:pt x="70485" y="421005"/>
                  </a:lnTo>
                  <a:lnTo>
                    <a:pt x="1905" y="32766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92D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82FC5D9-9988-FF09-2B97-F5B99DF4B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6012394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2BFC7DA-C27A-E611-0EAD-452D969E8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777" y="6012394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DBDC06C-9FB9-C505-2281-2E0F041AE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1335" y="6012394"/>
              <a:ext cx="16715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59C27E6D-1AA2-56A4-FEA7-3F8FAF935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5734634"/>
              <a:ext cx="0" cy="27775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899FD51-2F69-6810-BC0B-29CCB78BD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299" y="6460412"/>
              <a:ext cx="562251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F5E8736-B761-4941-2B5A-526B1375D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854" y="6012394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6543BB88-DAB2-D112-D1DE-BE49A0853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6813" y="6012394"/>
              <a:ext cx="0" cy="4480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0CF8CFB5-6318-01FA-B091-CB13B4D20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4299" y="4818170"/>
              <a:ext cx="0" cy="1642241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17B31847-4580-1033-8609-2DB79F7F7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299" y="4823633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70683AFB-C983-570F-5C91-E577EBA1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740" y="3929199"/>
              <a:ext cx="1291659" cy="131935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2663CA36-9B57-F3A9-A86D-30E7C08FD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42" y="4276398"/>
              <a:ext cx="243879" cy="763838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P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+mj-lt"/>
                  <a:ea typeface="等线" panose="02010600030101010101" pitchFamily="2" charset="-122"/>
                </a:rPr>
                <a:t>C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54D87454-FB81-6E13-73B3-3157AB8FD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21" y="4623597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0894F9FB-947E-9985-15DF-D38F56999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328" y="3165361"/>
              <a:ext cx="866232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7F810BC9-8DE9-0CAB-2742-6C1DA9570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660" y="3720879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9AB6B213-047F-1486-DEE3-43B77DECF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181" y="4392769"/>
              <a:ext cx="550120" cy="461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25" name="Text Box 31">
              <a:extLst>
                <a:ext uri="{FF2B5EF4-FFF2-40B4-BE49-F238E27FC236}">
                  <a16:creationId xmlns:a16="http://schemas.microsoft.com/office/drawing/2014/main" id="{ACD40A74-E123-8E8B-2D60-C81DF824E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2565" y="3879857"/>
              <a:ext cx="1132010" cy="5847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Instruction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B5E11EF1-50BA-EF0C-F24C-469700793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874" y="3188527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A753628B-0F5F-AFBA-C44E-FC0073546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41" y="4623597"/>
              <a:ext cx="21200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0DD896F8-0F38-DBF1-955B-10D925F2A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720" y="3582000"/>
              <a:ext cx="269595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4</a:t>
              </a:r>
            </a:p>
          </p:txBody>
        </p:sp>
        <p:sp>
          <p:nvSpPr>
            <p:cNvPr id="29" name="Line 36">
              <a:extLst>
                <a:ext uri="{FF2B5EF4-FFF2-40B4-BE49-F238E27FC236}">
                  <a16:creationId xmlns:a16="http://schemas.microsoft.com/office/drawing/2014/main" id="{2DE83E66-BD7F-CFD1-CEF1-89925502C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41" y="2401522"/>
              <a:ext cx="0" cy="222207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0" name="AutoShape 37">
              <a:extLst>
                <a:ext uri="{FF2B5EF4-FFF2-40B4-BE49-F238E27FC236}">
                  <a16:creationId xmlns:a16="http://schemas.microsoft.com/office/drawing/2014/main" id="{262A9B9B-9495-06DC-196A-2F85B8949B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900211" y="2322272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168F8698-93E3-7686-F7D9-55BB9FB8F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940" y="2401522"/>
              <a:ext cx="83577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7A1CC4FD-801B-E970-326A-C01F662A0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6659" y="2262643"/>
              <a:ext cx="554109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3F1145E3-39C2-B0B3-3DF0-CD93524D1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6259" y="6634800"/>
              <a:ext cx="592643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4AB952DD-1C5D-F622-2CCD-F47816936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198" y="3832273"/>
              <a:ext cx="1291659" cy="1587077"/>
            </a:xfrm>
            <a:prstGeom prst="rect">
              <a:avLst/>
            </a:pr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5" name="Line 44">
              <a:extLst>
                <a:ext uri="{FF2B5EF4-FFF2-40B4-BE49-F238E27FC236}">
                  <a16:creationId xmlns:a16="http://schemas.microsoft.com/office/drawing/2014/main" id="{8B4329DA-876D-EC93-24B7-1028A8043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399" y="4623597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6" name="Line 45">
              <a:extLst>
                <a:ext uri="{FF2B5EF4-FFF2-40B4-BE49-F238E27FC236}">
                  <a16:creationId xmlns:a16="http://schemas.microsoft.com/office/drawing/2014/main" id="{9E43C237-7640-4B65-4690-84B3EF0A8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4415278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7" name="Text Box 46">
              <a:extLst>
                <a:ext uri="{FF2B5EF4-FFF2-40B4-BE49-F238E27FC236}">
                  <a16:creationId xmlns:a16="http://schemas.microsoft.com/office/drawing/2014/main" id="{1E2A65DB-2462-DF27-CAEA-95C82BFA4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3660" y="4988379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</p:txBody>
        </p:sp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id="{FD90CE6D-DC5C-7FC6-E8A2-E5840A14A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576" y="3886485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1</a:t>
              </a:r>
            </a:p>
          </p:txBody>
        </p:sp>
        <p:sp>
          <p:nvSpPr>
            <p:cNvPr id="39" name="Text Box 48">
              <a:extLst>
                <a:ext uri="{FF2B5EF4-FFF2-40B4-BE49-F238E27FC236}">
                  <a16:creationId xmlns:a16="http://schemas.microsoft.com/office/drawing/2014/main" id="{84158BFA-BE29-83CA-EC1D-A6F79E9F5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366" y="4248310"/>
              <a:ext cx="63668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2</a:t>
              </a:r>
            </a:p>
          </p:txBody>
        </p:sp>
        <p:sp>
          <p:nvSpPr>
            <p:cNvPr id="40" name="Text Box 49">
              <a:extLst>
                <a:ext uri="{FF2B5EF4-FFF2-40B4-BE49-F238E27FC236}">
                  <a16:creationId xmlns:a16="http://schemas.microsoft.com/office/drawing/2014/main" id="{EF304D09-48CB-EBD0-F934-4DCB7D8AC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3309" y="4634115"/>
              <a:ext cx="540952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41" name="Text Box 50">
              <a:extLst>
                <a:ext uri="{FF2B5EF4-FFF2-40B4-BE49-F238E27FC236}">
                  <a16:creationId xmlns:a16="http://schemas.microsoft.com/office/drawing/2014/main" id="{9F7479EA-DD59-D1EE-D806-FCCAD16C8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906" y="4442759"/>
              <a:ext cx="684773" cy="338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Regs</a:t>
              </a:r>
            </a:p>
          </p:txBody>
        </p:sp>
        <p:sp>
          <p:nvSpPr>
            <p:cNvPr id="42" name="Text Box 51">
              <a:extLst>
                <a:ext uri="{FF2B5EF4-FFF2-40B4-BE49-F238E27FC236}">
                  <a16:creationId xmlns:a16="http://schemas.microsoft.com/office/drawing/2014/main" id="{72077DC3-D4E0-EB1A-8547-16C903022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0981" y="4060292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1</a:t>
              </a:r>
            </a:p>
          </p:txBody>
        </p:sp>
        <p:sp>
          <p:nvSpPr>
            <p:cNvPr id="43" name="Text Box 52">
              <a:extLst>
                <a:ext uri="{FF2B5EF4-FFF2-40B4-BE49-F238E27FC236}">
                  <a16:creationId xmlns:a16="http://schemas.microsoft.com/office/drawing/2014/main" id="{8284EB92-6576-20D5-F4C7-AEE91C685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1345" y="4811615"/>
              <a:ext cx="679963" cy="400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</a:t>
              </a:r>
            </a:p>
            <a:p>
              <a:pPr algn="r"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 Data 2</a:t>
              </a:r>
            </a:p>
          </p:txBody>
        </p:sp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5C6934C6-217C-8A7D-D142-5866A2023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5734634"/>
              <a:ext cx="37990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5" name="Line 54">
              <a:extLst>
                <a:ext uri="{FF2B5EF4-FFF2-40B4-BE49-F238E27FC236}">
                  <a16:creationId xmlns:a16="http://schemas.microsoft.com/office/drawing/2014/main" id="{053A22BA-96B8-09C1-A08D-8F75FA4CE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477" y="5668382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6" name="Line 55">
              <a:extLst>
                <a:ext uri="{FF2B5EF4-FFF2-40B4-BE49-F238E27FC236}">
                  <a16:creationId xmlns:a16="http://schemas.microsoft.com/office/drawing/2014/main" id="{D3F67623-788C-67D6-7028-96EBA3C27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988" y="5652711"/>
              <a:ext cx="75980" cy="13888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47" name="Text Box 56">
              <a:extLst>
                <a:ext uri="{FF2B5EF4-FFF2-40B4-BE49-F238E27FC236}">
                  <a16:creationId xmlns:a16="http://schemas.microsoft.com/office/drawing/2014/main" id="{223105C8-0A14-85C5-B139-1F865FBCF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766" y="5757109"/>
              <a:ext cx="37988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16</a:t>
              </a:r>
            </a:p>
          </p:txBody>
        </p:sp>
        <p:sp>
          <p:nvSpPr>
            <p:cNvPr id="48" name="Text Box 57">
              <a:extLst>
                <a:ext uri="{FF2B5EF4-FFF2-40B4-BE49-F238E27FC236}">
                  <a16:creationId xmlns:a16="http://schemas.microsoft.com/office/drawing/2014/main" id="{DF438696-E4E6-5E86-EA74-AF198C90F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1937" y="5734634"/>
              <a:ext cx="354554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32</a:t>
              </a:r>
            </a:p>
          </p:txBody>
        </p:sp>
        <p:sp>
          <p:nvSpPr>
            <p:cNvPr id="49" name="Line 58">
              <a:extLst>
                <a:ext uri="{FF2B5EF4-FFF2-40B4-BE49-F238E27FC236}">
                  <a16:creationId xmlns:a16="http://schemas.microsoft.com/office/drawing/2014/main" id="{2AD708D7-4FEE-FC2B-E292-7FFBEF4BC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259" y="5109676"/>
              <a:ext cx="22793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0" name="Line 59">
              <a:extLst>
                <a:ext uri="{FF2B5EF4-FFF2-40B4-BE49-F238E27FC236}">
                  <a16:creationId xmlns:a16="http://schemas.microsoft.com/office/drawing/2014/main" id="{1E02EB12-3227-EC68-0FD3-997929500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287" y="5248556"/>
              <a:ext cx="0" cy="48607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1" name="Line 60">
              <a:extLst>
                <a:ext uri="{FF2B5EF4-FFF2-40B4-BE49-F238E27FC236}">
                  <a16:creationId xmlns:a16="http://schemas.microsoft.com/office/drawing/2014/main" id="{44F09C51-A95A-F0A4-C18E-D86603716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5857" y="4901356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2" name="Line 61">
              <a:extLst>
                <a:ext uri="{FF2B5EF4-FFF2-40B4-BE49-F238E27FC236}">
                  <a16:creationId xmlns:a16="http://schemas.microsoft.com/office/drawing/2014/main" id="{8EE33649-28CA-CF78-513E-98FE39527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4068078"/>
              <a:ext cx="0" cy="166655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3" name="Line 62">
              <a:extLst>
                <a:ext uri="{FF2B5EF4-FFF2-40B4-BE49-F238E27FC236}">
                  <a16:creationId xmlns:a16="http://schemas.microsoft.com/office/drawing/2014/main" id="{19670FD8-11C4-BFB6-3AB1-A153BAAFD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279" y="4068078"/>
              <a:ext cx="30392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4" name="Line 63">
              <a:extLst>
                <a:ext uri="{FF2B5EF4-FFF2-40B4-BE49-F238E27FC236}">
                  <a16:creationId xmlns:a16="http://schemas.microsoft.com/office/drawing/2014/main" id="{3254B273-9F37-C694-5E9F-46D35FD78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777" y="4901356"/>
              <a:ext cx="47199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5" name="Line 64">
              <a:extLst>
                <a:ext uri="{FF2B5EF4-FFF2-40B4-BE49-F238E27FC236}">
                  <a16:creationId xmlns:a16="http://schemas.microsoft.com/office/drawing/2014/main" id="{BE60ADA1-D1FC-116B-703F-0B43512C8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7417" y="4693037"/>
              <a:ext cx="15151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6FAE77BC-1CF3-CDD2-26B0-7327C0BB6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556" y="4068078"/>
              <a:ext cx="531860" cy="1180477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235 h 1099"/>
                <a:gd name="T4" fmla="*/ 83 w 388"/>
                <a:gd name="T5" fmla="*/ 305 h 1099"/>
                <a:gd name="T6" fmla="*/ 0 w 388"/>
                <a:gd name="T7" fmla="*/ 370 h 1099"/>
                <a:gd name="T8" fmla="*/ 0 w 388"/>
                <a:gd name="T9" fmla="*/ 605 h 1099"/>
                <a:gd name="T10" fmla="*/ 290 w 388"/>
                <a:gd name="T11" fmla="*/ 436 h 1099"/>
                <a:gd name="T12" fmla="*/ 290 w 388"/>
                <a:gd name="T13" fmla="*/ 170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solidFill>
              <a:srgbClr val="FFCC66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Rectangle 66">
              <a:extLst>
                <a:ext uri="{FF2B5EF4-FFF2-40B4-BE49-F238E27FC236}">
                  <a16:creationId xmlns:a16="http://schemas.microsoft.com/office/drawing/2014/main" id="{C5CC0734-0DD6-10BB-85C4-DD140CCBC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2114" y="4545752"/>
              <a:ext cx="473292" cy="198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b="1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ALU</a:t>
              </a:r>
            </a:p>
          </p:txBody>
        </p:sp>
        <p:sp>
          <p:nvSpPr>
            <p:cNvPr id="58" name="AutoShape 67">
              <a:extLst>
                <a:ext uri="{FF2B5EF4-FFF2-40B4-BE49-F238E27FC236}">
                  <a16:creationId xmlns:a16="http://schemas.microsoft.com/office/drawing/2014/main" id="{5003E706-B54E-B96B-2A60-EF2148A64A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08546" y="4924820"/>
              <a:ext cx="694398" cy="227940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9" name="Line 68">
              <a:extLst>
                <a:ext uri="{FF2B5EF4-FFF2-40B4-BE49-F238E27FC236}">
                  <a16:creationId xmlns:a16="http://schemas.microsoft.com/office/drawing/2014/main" id="{7B815BB3-E55D-A9D3-A122-6BFCAB199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4747" y="5040236"/>
              <a:ext cx="1308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0" name="Line 71">
              <a:extLst>
                <a:ext uri="{FF2B5EF4-FFF2-40B4-BE49-F238E27FC236}">
                  <a16:creationId xmlns:a16="http://schemas.microsoft.com/office/drawing/2014/main" id="{3A6141CC-5EFE-83A1-ECFB-E12BAFD7D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288" y="5248556"/>
              <a:ext cx="36448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Line 72">
              <a:extLst>
                <a:ext uri="{FF2B5EF4-FFF2-40B4-BE49-F238E27FC236}">
                  <a16:creationId xmlns:a16="http://schemas.microsoft.com/office/drawing/2014/main" id="{FF40DA4E-1CD7-2302-99F2-33DBB2F29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777" y="4276398"/>
              <a:ext cx="810453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2" name="Oval 73">
              <a:extLst>
                <a:ext uri="{FF2B5EF4-FFF2-40B4-BE49-F238E27FC236}">
                  <a16:creationId xmlns:a16="http://schemas.microsoft.com/office/drawing/2014/main" id="{BD4FEDD0-2C41-3560-37E6-62A320673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677" y="3582000"/>
              <a:ext cx="455880" cy="486079"/>
            </a:xfrm>
            <a:prstGeom prst="ellips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3" name="Rectangle 74">
              <a:extLst>
                <a:ext uri="{FF2B5EF4-FFF2-40B4-BE49-F238E27FC236}">
                  <a16:creationId xmlns:a16="http://schemas.microsoft.com/office/drawing/2014/main" id="{A511930A-1954-5619-6043-ABA86E37D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6648" y="3701686"/>
              <a:ext cx="441936" cy="239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defTabSz="903288" eaLnBrk="0" fontAlgn="auto" hangingPunc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tabLst>
                  <a:tab pos="452438" algn="l"/>
                  <a:tab pos="903288" algn="l"/>
                  <a:tab pos="1357313" algn="l"/>
                </a:tabLst>
              </a:pPr>
              <a:r>
                <a:rPr lang="en-US" altLang="zh-CN" sz="14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&lt;&lt;2</a:t>
              </a:r>
            </a:p>
          </p:txBody>
        </p:sp>
        <p:sp>
          <p:nvSpPr>
            <p:cNvPr id="64" name="Line 75">
              <a:extLst>
                <a:ext uri="{FF2B5EF4-FFF2-40B4-BE49-F238E27FC236}">
                  <a16:creationId xmlns:a16="http://schemas.microsoft.com/office/drawing/2014/main" id="{DC83A8E7-3337-78BB-AAB6-A1C51BB51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287" y="3859759"/>
              <a:ext cx="27239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5" name="Line 85">
              <a:extLst>
                <a:ext uri="{FF2B5EF4-FFF2-40B4-BE49-F238E27FC236}">
                  <a16:creationId xmlns:a16="http://schemas.microsoft.com/office/drawing/2014/main" id="{43EBCFA1-06CD-926A-CCAE-F65B0BACB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0835" y="3859759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6" name="Rectangle 86">
              <a:extLst>
                <a:ext uri="{FF2B5EF4-FFF2-40B4-BE49-F238E27FC236}">
                  <a16:creationId xmlns:a16="http://schemas.microsoft.com/office/drawing/2014/main" id="{5D402B52-8CB0-2B4F-0E00-D024E5CA5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9275" y="4103862"/>
              <a:ext cx="1291659" cy="11172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7" name="Line 87">
              <a:extLst>
                <a:ext uri="{FF2B5EF4-FFF2-40B4-BE49-F238E27FC236}">
                  <a16:creationId xmlns:a16="http://schemas.microsoft.com/office/drawing/2014/main" id="{0EE8BF7B-D1DB-FE38-2F44-AB206EDF4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1335" y="4693037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FA621CB6-46D5-0267-FE44-7360672A5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7297" y="4083158"/>
              <a:ext cx="830645" cy="523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Memory</a:t>
              </a:r>
            </a:p>
          </p:txBody>
        </p:sp>
        <p:sp>
          <p:nvSpPr>
            <p:cNvPr id="69" name="Text Box 89">
              <a:extLst>
                <a:ext uri="{FF2B5EF4-FFF2-40B4-BE49-F238E27FC236}">
                  <a16:creationId xmlns:a16="http://schemas.microsoft.com/office/drawing/2014/main" id="{AEC5D3AF-043B-7036-42DD-3F670DCCB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614" y="4554157"/>
              <a:ext cx="508442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 err="1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Addr</a:t>
              </a:r>
              <a:endParaRPr lang="en-US" altLang="zh-CN" sz="1200" b="0" dirty="0">
                <a:solidFill>
                  <a:prstClr val="black"/>
                </a:solidFill>
                <a:latin typeface="Arial" pitchFamily="34" charset="0"/>
                <a:ea typeface="SimHei" panose="02010609060101010101" pitchFamily="49" charset="-122"/>
              </a:endParaRPr>
            </a:p>
          </p:txBody>
        </p:sp>
        <p:sp>
          <p:nvSpPr>
            <p:cNvPr id="70" name="Text Box 90">
              <a:extLst>
                <a:ext uri="{FF2B5EF4-FFF2-40B4-BE49-F238E27FC236}">
                  <a16:creationId xmlns:a16="http://schemas.microsoft.com/office/drawing/2014/main" id="{51D979DC-CD68-26C8-DD39-9CB1FA614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614" y="4901356"/>
              <a:ext cx="908039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Write Data</a:t>
              </a:r>
            </a:p>
          </p:txBody>
        </p:sp>
        <p:sp>
          <p:nvSpPr>
            <p:cNvPr id="71" name="Text Box 91">
              <a:extLst>
                <a:ext uri="{FF2B5EF4-FFF2-40B4-BE49-F238E27FC236}">
                  <a16:creationId xmlns:a16="http://schemas.microsoft.com/office/drawing/2014/main" id="{E7CB6134-B1E7-3F7D-22D3-71C61AD8B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6179" y="4549666"/>
              <a:ext cx="91720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Read Data</a:t>
              </a:r>
            </a:p>
          </p:txBody>
        </p:sp>
        <p:sp>
          <p:nvSpPr>
            <p:cNvPr id="72" name="Line 92">
              <a:extLst>
                <a:ext uri="{FF2B5EF4-FFF2-40B4-BE49-F238E27FC236}">
                  <a16:creationId xmlns:a16="http://schemas.microsoft.com/office/drawing/2014/main" id="{80F92898-C8CD-9D21-B1F3-CFA853C9F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1335" y="5040236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3" name="Line 93">
              <a:extLst>
                <a:ext uri="{FF2B5EF4-FFF2-40B4-BE49-F238E27FC236}">
                  <a16:creationId xmlns:a16="http://schemas.microsoft.com/office/drawing/2014/main" id="{7267139D-B681-0C72-84A0-95513220C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854" y="5040236"/>
              <a:ext cx="227940" cy="144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4" name="AutoShape 94">
              <a:extLst>
                <a:ext uri="{FF2B5EF4-FFF2-40B4-BE49-F238E27FC236}">
                  <a16:creationId xmlns:a16="http://schemas.microsoft.com/office/drawing/2014/main" id="{914FE94E-CE9B-8788-79DF-116061A1CC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194284" y="4752667"/>
              <a:ext cx="624959" cy="227940"/>
            </a:xfrm>
            <a:custGeom>
              <a:avLst/>
              <a:gdLst>
                <a:gd name="T0" fmla="*/ 8 w 21600"/>
                <a:gd name="T1" fmla="*/ 0 h 21600"/>
                <a:gd name="T2" fmla="*/ 4 w 21600"/>
                <a:gd name="T3" fmla="*/ 1 h 21600"/>
                <a:gd name="T4" fmla="*/ 1 w 21600"/>
                <a:gd name="T5" fmla="*/ 0 h 21600"/>
                <a:gd name="T6" fmla="*/ 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5" name="Line 98">
              <a:extLst>
                <a:ext uri="{FF2B5EF4-FFF2-40B4-BE49-F238E27FC236}">
                  <a16:creationId xmlns:a16="http://schemas.microsoft.com/office/drawing/2014/main" id="{42B61773-A4AE-A300-7581-69C293735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5857" y="4276398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6" name="Line 99">
              <a:extLst>
                <a:ext uri="{FF2B5EF4-FFF2-40B4-BE49-F238E27FC236}">
                  <a16:creationId xmlns:a16="http://schemas.microsoft.com/office/drawing/2014/main" id="{801BA9C7-E19A-4EE3-46EB-88B064BE2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259" y="5109676"/>
              <a:ext cx="0" cy="152512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7" name="Line 100">
              <a:extLst>
                <a:ext uri="{FF2B5EF4-FFF2-40B4-BE49-F238E27FC236}">
                  <a16:creationId xmlns:a16="http://schemas.microsoft.com/office/drawing/2014/main" id="{D7F8C9C5-016E-C9C9-DC6C-F72A0B128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459" y="3443120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8" name="Line 101">
              <a:extLst>
                <a:ext uri="{FF2B5EF4-FFF2-40B4-BE49-F238E27FC236}">
                  <a16:creationId xmlns:a16="http://schemas.microsoft.com/office/drawing/2014/main" id="{B9E56A0B-781D-097F-89B9-87AF69FEC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660" y="2540402"/>
              <a:ext cx="9117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9" name="Line 102">
              <a:extLst>
                <a:ext uri="{FF2B5EF4-FFF2-40B4-BE49-F238E27FC236}">
                  <a16:creationId xmlns:a16="http://schemas.microsoft.com/office/drawing/2014/main" id="{43A195FA-B022-8344-53DC-C9BB10E7C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8319" y="4623597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0" name="Line 103">
              <a:extLst>
                <a:ext uri="{FF2B5EF4-FFF2-40B4-BE49-F238E27FC236}">
                  <a16:creationId xmlns:a16="http://schemas.microsoft.com/office/drawing/2014/main" id="{BBF3B4AB-AD0D-4171-71FC-9FCE8D7C0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0934" y="4693037"/>
              <a:ext cx="15160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1" name="Rectangle 104">
              <a:extLst>
                <a:ext uri="{FF2B5EF4-FFF2-40B4-BE49-F238E27FC236}">
                  <a16:creationId xmlns:a16="http://schemas.microsoft.com/office/drawing/2014/main" id="{E109E4D1-AB1E-B83B-0760-0C0A48079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359" y="3234800"/>
              <a:ext cx="151960" cy="201375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2" name="Rectangle 105">
              <a:extLst>
                <a:ext uri="{FF2B5EF4-FFF2-40B4-BE49-F238E27FC236}">
                  <a16:creationId xmlns:a16="http://schemas.microsoft.com/office/drawing/2014/main" id="{CDD412C5-7319-CD62-5BCB-7CFD4CD16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816" y="2719431"/>
              <a:ext cx="158319" cy="36483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3" name="Line 106">
              <a:extLst>
                <a:ext uri="{FF2B5EF4-FFF2-40B4-BE49-F238E27FC236}">
                  <a16:creationId xmlns:a16="http://schemas.microsoft.com/office/drawing/2014/main" id="{6A80749D-D10C-3897-CA59-23AD9BDE4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8419" y="3443120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4" name="Line 107">
              <a:extLst>
                <a:ext uri="{FF2B5EF4-FFF2-40B4-BE49-F238E27FC236}">
                  <a16:creationId xmlns:a16="http://schemas.microsoft.com/office/drawing/2014/main" id="{B9FBAE0A-B874-766E-4212-28B9DB35C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8319" y="3443120"/>
              <a:ext cx="189949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5" name="Line 108">
              <a:extLst>
                <a:ext uri="{FF2B5EF4-FFF2-40B4-BE49-F238E27FC236}">
                  <a16:creationId xmlns:a16="http://schemas.microsoft.com/office/drawing/2014/main" id="{DA7936E8-D653-A8A1-EB96-67B5FB10D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9652" y="3651439"/>
              <a:ext cx="99724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6" name="Line 109">
              <a:extLst>
                <a:ext uri="{FF2B5EF4-FFF2-40B4-BE49-F238E27FC236}">
                  <a16:creationId xmlns:a16="http://schemas.microsoft.com/office/drawing/2014/main" id="{34F750D2-63B3-BF52-B115-FC1D90313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777" y="5734634"/>
              <a:ext cx="10751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7" name="Line 110">
              <a:extLst>
                <a:ext uri="{FF2B5EF4-FFF2-40B4-BE49-F238E27FC236}">
                  <a16:creationId xmlns:a16="http://schemas.microsoft.com/office/drawing/2014/main" id="{C9C5FE02-D939-2061-F991-FD57E594F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717" y="4901356"/>
              <a:ext cx="0" cy="83327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8" name="Line 111">
              <a:extLst>
                <a:ext uri="{FF2B5EF4-FFF2-40B4-BE49-F238E27FC236}">
                  <a16:creationId xmlns:a16="http://schemas.microsoft.com/office/drawing/2014/main" id="{CCCCC108-190B-7DC9-8693-17348BA25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7717" y="5734634"/>
              <a:ext cx="129165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9" name="Rectangle 112">
              <a:extLst>
                <a:ext uri="{FF2B5EF4-FFF2-40B4-BE49-F238E27FC236}">
                  <a16:creationId xmlns:a16="http://schemas.microsoft.com/office/drawing/2014/main" id="{F3089D1B-0119-B163-853D-C01FF7B27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2894" y="3609775"/>
              <a:ext cx="151960" cy="2541498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0" name="Line 113">
              <a:extLst>
                <a:ext uri="{FF2B5EF4-FFF2-40B4-BE49-F238E27FC236}">
                  <a16:creationId xmlns:a16="http://schemas.microsoft.com/office/drawing/2014/main" id="{BFE8A7F2-8D7F-7A2B-EB71-40A44E55E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7315" y="5734634"/>
              <a:ext cx="159557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1" name="Line 114">
              <a:extLst>
                <a:ext uri="{FF2B5EF4-FFF2-40B4-BE49-F238E27FC236}">
                  <a16:creationId xmlns:a16="http://schemas.microsoft.com/office/drawing/2014/main" id="{A3BC935B-F3A2-FE6C-7F92-B0AF5E9E5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854" y="4693037"/>
              <a:ext cx="227940" cy="144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2" name="Line 115">
              <a:extLst>
                <a:ext uri="{FF2B5EF4-FFF2-40B4-BE49-F238E27FC236}">
                  <a16:creationId xmlns:a16="http://schemas.microsoft.com/office/drawing/2014/main" id="{1D7FD65E-148B-B5E2-7AE1-A86426505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2693" y="4831916"/>
              <a:ext cx="0" cy="180288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3" name="Line 116">
              <a:extLst>
                <a:ext uri="{FF2B5EF4-FFF2-40B4-BE49-F238E27FC236}">
                  <a16:creationId xmlns:a16="http://schemas.microsoft.com/office/drawing/2014/main" id="{48EBAA49-DC68-6DEA-F1C0-B794D717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7755" y="2262641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4" name="Line 117">
              <a:extLst>
                <a:ext uri="{FF2B5EF4-FFF2-40B4-BE49-F238E27FC236}">
                  <a16:creationId xmlns:a16="http://schemas.microsoft.com/office/drawing/2014/main" id="{9981C92D-897B-A559-1F07-06874EE6F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9375" y="5040236"/>
              <a:ext cx="151960" cy="694398"/>
            </a:xfrm>
            <a:prstGeom prst="line">
              <a:avLst/>
            </a:prstGeom>
            <a:noFill/>
            <a:ln w="28575" cap="rnd">
              <a:solidFill>
                <a:srgbClr val="ED7D3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5" name="Text Box 119">
              <a:extLst>
                <a:ext uri="{FF2B5EF4-FFF2-40B4-BE49-F238E27FC236}">
                  <a16:creationId xmlns:a16="http://schemas.microsoft.com/office/drawing/2014/main" id="{6DFCBA06-5B0D-1F1E-9E06-B01B93414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155" y="2843749"/>
              <a:ext cx="684773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IF/ID</a:t>
              </a:r>
            </a:p>
          </p:txBody>
        </p:sp>
        <p:sp>
          <p:nvSpPr>
            <p:cNvPr id="96" name="Line 120">
              <a:extLst>
                <a:ext uri="{FF2B5EF4-FFF2-40B4-BE49-F238E27FC236}">
                  <a16:creationId xmlns:a16="http://schemas.microsoft.com/office/drawing/2014/main" id="{046465B8-C8FF-2500-8D2B-9CBB3CE28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7287" y="3859759"/>
              <a:ext cx="0" cy="138879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7" name="Line 121">
              <a:extLst>
                <a:ext uri="{FF2B5EF4-FFF2-40B4-BE49-F238E27FC236}">
                  <a16:creationId xmlns:a16="http://schemas.microsoft.com/office/drawing/2014/main" id="{B6D862E1-6BDD-7C06-A5C6-840517D71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407" y="5734634"/>
              <a:ext cx="57041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8" name="Line 122">
              <a:extLst>
                <a:ext uri="{FF2B5EF4-FFF2-40B4-BE49-F238E27FC236}">
                  <a16:creationId xmlns:a16="http://schemas.microsoft.com/office/drawing/2014/main" id="{8F0B323E-211F-8489-D538-0F48B2390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777" y="3443120"/>
              <a:ext cx="10637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9" name="Line 123">
              <a:extLst>
                <a:ext uri="{FF2B5EF4-FFF2-40B4-BE49-F238E27FC236}">
                  <a16:creationId xmlns:a16="http://schemas.microsoft.com/office/drawing/2014/main" id="{27DC9C69-AF1B-939C-FD5C-F062BE592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8419" y="2540402"/>
              <a:ext cx="0" cy="90271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0" name="Line 124">
              <a:extLst>
                <a:ext uri="{FF2B5EF4-FFF2-40B4-BE49-F238E27FC236}">
                  <a16:creationId xmlns:a16="http://schemas.microsoft.com/office/drawing/2014/main" id="{BE476306-AA00-F813-45B1-4F0871824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1436" y="3956008"/>
              <a:ext cx="0" cy="389829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Line 125">
              <a:extLst>
                <a:ext uri="{FF2B5EF4-FFF2-40B4-BE49-F238E27FC236}">
                  <a16:creationId xmlns:a16="http://schemas.microsoft.com/office/drawing/2014/main" id="{451D6070-085D-1AD3-714F-E5BB421FA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328" y="3165361"/>
              <a:ext cx="0" cy="145823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2" name="Rectangle 126">
              <a:extLst>
                <a:ext uri="{FF2B5EF4-FFF2-40B4-BE49-F238E27FC236}">
                  <a16:creationId xmlns:a16="http://schemas.microsoft.com/office/drawing/2014/main" id="{A260A785-6E34-0F7F-01CF-6C8180982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9375" y="2885049"/>
              <a:ext cx="151960" cy="3266225"/>
            </a:xfrm>
            <a:prstGeom prst="rect">
              <a:avLst/>
            </a:prstGeom>
            <a:solidFill>
              <a:srgbClr val="A6E2F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3" name="Oval 127">
              <a:extLst>
                <a:ext uri="{FF2B5EF4-FFF2-40B4-BE49-F238E27FC236}">
                  <a16:creationId xmlns:a16="http://schemas.microsoft.com/office/drawing/2014/main" id="{78CA31C9-1A1A-DB5F-DA63-7D064E96F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178" y="5526315"/>
              <a:ext cx="810453" cy="416639"/>
            </a:xfrm>
            <a:prstGeom prst="ellipse">
              <a:avLst/>
            </a:prstGeom>
            <a:solidFill>
              <a:sysClr val="window" lastClr="FFFFFF"/>
            </a:solidFill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4" name="Rectangle 128">
              <a:extLst>
                <a:ext uri="{FF2B5EF4-FFF2-40B4-BE49-F238E27FC236}">
                  <a16:creationId xmlns:a16="http://schemas.microsoft.com/office/drawing/2014/main" id="{E34CE5A3-7D94-09EE-5C89-82096C176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138" y="5513470"/>
              <a:ext cx="531860" cy="416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Sign</a:t>
              </a: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rgbClr val="000000"/>
                  </a:solidFill>
                  <a:latin typeface="Arial" pitchFamily="34" charset="0"/>
                  <a:ea typeface="等线" panose="02010600030101010101" pitchFamily="2" charset="-122"/>
                </a:rPr>
                <a:t>Extend</a:t>
              </a:r>
            </a:p>
          </p:txBody>
        </p:sp>
        <p:sp>
          <p:nvSpPr>
            <p:cNvPr id="105" name="Line 129">
              <a:extLst>
                <a:ext uri="{FF2B5EF4-FFF2-40B4-BE49-F238E27FC236}">
                  <a16:creationId xmlns:a16="http://schemas.microsoft.com/office/drawing/2014/main" id="{574F59EB-2077-311E-29B5-AE9FD16D5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1334" y="3651439"/>
              <a:ext cx="526419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6" name="Line 130">
              <a:extLst>
                <a:ext uri="{FF2B5EF4-FFF2-40B4-BE49-F238E27FC236}">
                  <a16:creationId xmlns:a16="http://schemas.microsoft.com/office/drawing/2014/main" id="{157FDF4A-9B27-B687-51A9-B6C8E2560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1436" y="3956009"/>
              <a:ext cx="22794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7" name="Line 131">
              <a:extLst>
                <a:ext uri="{FF2B5EF4-FFF2-40B4-BE49-F238E27FC236}">
                  <a16:creationId xmlns:a16="http://schemas.microsoft.com/office/drawing/2014/main" id="{5FC8ADBC-5E40-4476-43B2-BB5E0C1A6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1334" y="3956009"/>
              <a:ext cx="83578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8" name="Line 132">
              <a:extLst>
                <a:ext uri="{FF2B5EF4-FFF2-40B4-BE49-F238E27FC236}">
                  <a16:creationId xmlns:a16="http://schemas.microsoft.com/office/drawing/2014/main" id="{A7BB2E55-C00E-2FC7-5842-CA3247396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482" y="4693037"/>
              <a:ext cx="0" cy="106200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Text Box 133">
              <a:extLst>
                <a:ext uri="{FF2B5EF4-FFF2-40B4-BE49-F238E27FC236}">
                  <a16:creationId xmlns:a16="http://schemas.microsoft.com/office/drawing/2014/main" id="{18BE6AD9-EFCA-F5EA-46C6-58D6C7E80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2612" y="2368841"/>
              <a:ext cx="78736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ID/EX</a:t>
              </a:r>
            </a:p>
          </p:txBody>
        </p:sp>
        <p:sp>
          <p:nvSpPr>
            <p:cNvPr id="110" name="Text Box 134">
              <a:extLst>
                <a:ext uri="{FF2B5EF4-FFF2-40B4-BE49-F238E27FC236}">
                  <a16:creationId xmlns:a16="http://schemas.microsoft.com/office/drawing/2014/main" id="{D2F424A1-ED14-9318-8443-3DDAF09A4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614" y="2545848"/>
              <a:ext cx="1095141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EX/MEM</a:t>
              </a:r>
            </a:p>
          </p:txBody>
        </p:sp>
        <p:sp>
          <p:nvSpPr>
            <p:cNvPr id="111" name="Text Box 135">
              <a:extLst>
                <a:ext uri="{FF2B5EF4-FFF2-40B4-BE49-F238E27FC236}">
                  <a16:creationId xmlns:a16="http://schemas.microsoft.com/office/drawing/2014/main" id="{B4D45B78-BFF8-04EC-63DB-BCB4F356A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8974" y="3312920"/>
              <a:ext cx="1172085" cy="369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MEM/WB</a:t>
              </a:r>
            </a:p>
          </p:txBody>
        </p:sp>
        <p:sp>
          <p:nvSpPr>
            <p:cNvPr id="112" name="Line 13">
              <a:extLst>
                <a:ext uri="{FF2B5EF4-FFF2-40B4-BE49-F238E27FC236}">
                  <a16:creationId xmlns:a16="http://schemas.microsoft.com/office/drawing/2014/main" id="{8E1B267C-66ED-5888-4976-8393FC539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0733" y="4831917"/>
              <a:ext cx="151960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FAB78984-34F2-9826-05C1-F3B61379E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657" y="6012393"/>
              <a:ext cx="0" cy="23687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4" name="Line 8">
              <a:extLst>
                <a:ext uri="{FF2B5EF4-FFF2-40B4-BE49-F238E27FC236}">
                  <a16:creationId xmlns:a16="http://schemas.microsoft.com/office/drawing/2014/main" id="{BF004357-1F35-75A1-D272-DA5B23A9B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657" y="6245756"/>
              <a:ext cx="174753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Line 9">
              <a:extLst>
                <a:ext uri="{FF2B5EF4-FFF2-40B4-BE49-F238E27FC236}">
                  <a16:creationId xmlns:a16="http://schemas.microsoft.com/office/drawing/2014/main" id="{B9A4ABD4-4E8B-F067-0BE2-0F1680255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6135" y="6245756"/>
              <a:ext cx="262057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6" name="AutoShape 67">
              <a:extLst>
                <a:ext uri="{FF2B5EF4-FFF2-40B4-BE49-F238E27FC236}">
                  <a16:creationId xmlns:a16="http://schemas.microsoft.com/office/drawing/2014/main" id="{08A9F1B1-43DC-D64A-65DE-5564D943A0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774432" y="5943648"/>
              <a:ext cx="565593" cy="236773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7" name="Rectangle 70">
              <a:extLst>
                <a:ext uri="{FF2B5EF4-FFF2-40B4-BE49-F238E27FC236}">
                  <a16:creationId xmlns:a16="http://schemas.microsoft.com/office/drawing/2014/main" id="{B907A6EE-D28A-5F1B-53DF-FD36BE343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073" y="6096560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18" name="Line 10">
              <a:extLst>
                <a:ext uri="{FF2B5EF4-FFF2-40B4-BE49-F238E27FC236}">
                  <a16:creationId xmlns:a16="http://schemas.microsoft.com/office/drawing/2014/main" id="{7FC56DDB-9830-2FA8-20C8-DBCC67854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687" y="6012393"/>
              <a:ext cx="1008061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9" name="Text Box 30">
              <a:extLst>
                <a:ext uri="{FF2B5EF4-FFF2-40B4-BE49-F238E27FC236}">
                  <a16:creationId xmlns:a16="http://schemas.microsoft.com/office/drawing/2014/main" id="{B2B43AEE-5B70-A146-9A19-BB16F4CA7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6948" y="4286580"/>
              <a:ext cx="500428" cy="276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Zero</a:t>
              </a:r>
            </a:p>
          </p:txBody>
        </p:sp>
        <p:sp>
          <p:nvSpPr>
            <p:cNvPr id="120" name="Line 124">
              <a:extLst>
                <a:ext uri="{FF2B5EF4-FFF2-40B4-BE49-F238E27FC236}">
                  <a16:creationId xmlns:a16="http://schemas.microsoft.com/office/drawing/2014/main" id="{C0AFBE44-2055-7F9A-1434-F4D6999DB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7114" y="2713192"/>
              <a:ext cx="0" cy="1236577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1" name="Rectangle 70">
              <a:extLst>
                <a:ext uri="{FF2B5EF4-FFF2-40B4-BE49-F238E27FC236}">
                  <a16:creationId xmlns:a16="http://schemas.microsoft.com/office/drawing/2014/main" id="{1A8A50B2-ACCD-7A58-8DB0-D0481FF8D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984" y="5877480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2" name="Rectangle 70">
              <a:extLst>
                <a:ext uri="{FF2B5EF4-FFF2-40B4-BE49-F238E27FC236}">
                  <a16:creationId xmlns:a16="http://schemas.microsoft.com/office/drawing/2014/main" id="{F0ED5AAA-6DFF-9796-FA47-A576ED94A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3314" y="5109676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608AC67C-5874-3B46-6618-F4E716750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271" y="4831916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4" name="Rectangle 70">
              <a:extLst>
                <a:ext uri="{FF2B5EF4-FFF2-40B4-BE49-F238E27FC236}">
                  <a16:creationId xmlns:a16="http://schemas.microsoft.com/office/drawing/2014/main" id="{05CDCBA4-949E-1D6A-75A9-339164D56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701" y="2211418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5" name="Rectangle 70">
              <a:extLst>
                <a:ext uri="{FF2B5EF4-FFF2-40B4-BE49-F238E27FC236}">
                  <a16:creationId xmlns:a16="http://schemas.microsoft.com/office/drawing/2014/main" id="{D8854A85-2434-B14E-8B95-37A777FD5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612" y="2480018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6" name="Text Box 32">
              <a:extLst>
                <a:ext uri="{FF2B5EF4-FFF2-40B4-BE49-F238E27FC236}">
                  <a16:creationId xmlns:a16="http://schemas.microsoft.com/office/drawing/2014/main" id="{F23C734E-3A29-244A-8EF0-D1243612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9590" y="3399017"/>
              <a:ext cx="314479" cy="556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A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  <a:p>
              <a:pPr fontAlgn="auto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0" dirty="0">
                  <a:solidFill>
                    <a:prstClr val="black"/>
                  </a:solidFill>
                  <a:latin typeface="Arial" pitchFamily="34" charset="0"/>
                  <a:ea typeface="SimHei" panose="02010609060101010101" pitchFamily="49" charset="-122"/>
                </a:rPr>
                <a:t>D</a:t>
              </a:r>
            </a:p>
          </p:txBody>
        </p:sp>
        <p:sp>
          <p:nvSpPr>
            <p:cNvPr id="127" name="Rectangle 70">
              <a:extLst>
                <a:ext uri="{FF2B5EF4-FFF2-40B4-BE49-F238E27FC236}">
                  <a16:creationId xmlns:a16="http://schemas.microsoft.com/office/drawing/2014/main" id="{0B66E311-88ED-347D-D800-154D7113C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706" y="4653599"/>
              <a:ext cx="137639" cy="20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1</a:t>
              </a:r>
            </a:p>
          </p:txBody>
        </p:sp>
        <p:sp>
          <p:nvSpPr>
            <p:cNvPr id="128" name="Rectangle 70">
              <a:extLst>
                <a:ext uri="{FF2B5EF4-FFF2-40B4-BE49-F238E27FC236}">
                  <a16:creationId xmlns:a16="http://schemas.microsoft.com/office/drawing/2014/main" id="{B4726D9C-A382-F06E-BBC4-8FCDBED22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617" y="4922199"/>
              <a:ext cx="137639" cy="183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47" tIns="26984" rIns="19047" bIns="26984"/>
            <a:lstStyle/>
            <a:p>
              <a:pPr algn="ctr" eaLnBrk="0" fontAlgn="auto" hangingPunct="0">
                <a:lnSpc>
                  <a:spcPct val="7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dirty="0">
                  <a:solidFill>
                    <a:prstClr val="black"/>
                  </a:solidFill>
                  <a:latin typeface="Arial" pitchFamily="34" charset="0"/>
                  <a:ea typeface="等线" panose="02010600030101010101" pitchFamily="2" charset="-122"/>
                </a:rPr>
                <a:t>0</a:t>
              </a:r>
            </a:p>
          </p:txBody>
        </p:sp>
        <p:sp>
          <p:nvSpPr>
            <p:cNvPr id="129" name="Line 118">
              <a:extLst>
                <a:ext uri="{FF2B5EF4-FFF2-40B4-BE49-F238E27FC236}">
                  <a16:creationId xmlns:a16="http://schemas.microsoft.com/office/drawing/2014/main" id="{7E758AC2-2B26-FA0D-D002-466026039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02003" y="5062711"/>
              <a:ext cx="118182" cy="694398"/>
            </a:xfrm>
            <a:prstGeom prst="line">
              <a:avLst/>
            </a:prstGeom>
            <a:noFill/>
            <a:ln w="28575" cap="rnd">
              <a:solidFill>
                <a:sysClr val="windowText" lastClr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0" name="Line 118">
              <a:extLst>
                <a:ext uri="{FF2B5EF4-FFF2-40B4-BE49-F238E27FC236}">
                  <a16:creationId xmlns:a16="http://schemas.microsoft.com/office/drawing/2014/main" id="{2F5C281A-059E-4D0B-380C-77A7950C0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12894" y="5040236"/>
              <a:ext cx="151960" cy="694398"/>
            </a:xfrm>
            <a:prstGeom prst="line">
              <a:avLst/>
            </a:prstGeom>
            <a:noFill/>
            <a:ln w="38100" cap="rnd">
              <a:solidFill>
                <a:srgbClr val="C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3" name="Line 132">
              <a:extLst>
                <a:ext uri="{FF2B5EF4-FFF2-40B4-BE49-F238E27FC236}">
                  <a16:creationId xmlns:a16="http://schemas.microsoft.com/office/drawing/2014/main" id="{99395F3F-89A9-7D4C-5335-592AF6D75A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41334" y="4700764"/>
              <a:ext cx="100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1265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FC19F-C0ED-4419-96FC-3FCB8209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流水线：更多冒险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28B6A-4951-4232-A549-C18F3C1B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686797" cy="4525963"/>
          </a:xfrm>
        </p:spPr>
        <p:txBody>
          <a:bodyPr/>
          <a:lstStyle/>
          <a:p>
            <a:r>
              <a:rPr lang="zh-CN" altLang="en-US" sz="2400" dirty="0"/>
              <a:t>结构冒险通过增加资源（</a:t>
            </a:r>
            <a:r>
              <a:rPr lang="en-US" altLang="zh-CN" sz="2400" dirty="0"/>
              <a:t>IM, DM</a:t>
            </a:r>
            <a:r>
              <a:rPr lang="zh-CN" altLang="en-US" sz="2400" dirty="0"/>
              <a:t>分离）、计算指令增加空的</a:t>
            </a:r>
            <a:r>
              <a:rPr lang="en-US" altLang="zh-CN" sz="2400" dirty="0"/>
              <a:t>MEM</a:t>
            </a:r>
            <a:r>
              <a:rPr lang="zh-CN" altLang="en-US" sz="2400" dirty="0"/>
              <a:t>操作（使得各类指令对齐）等方式解决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B0F0"/>
                </a:solidFill>
              </a:rPr>
              <a:t>寄存器堆读和写是否冲突？若读和写目标相同？是否使用了正确的数据？（数据冒险）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10218-2A46-4D73-872D-212389F1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102</a:t>
            </a:fld>
            <a:endParaRPr lang="zh-CN" altLang="en-US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5F283F97-C4F0-4624-8096-6357F4DE9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365200"/>
              </p:ext>
            </p:extLst>
          </p:nvPr>
        </p:nvGraphicFramePr>
        <p:xfrm>
          <a:off x="300111" y="2860431"/>
          <a:ext cx="8602590" cy="381737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2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56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7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流水线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</a:t>
                      </a:r>
                      <a:r>
                        <a:rPr lang="zh-CN" altLang="en-US" sz="2000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读存储器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写存储器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IR</a:t>
                      </a:r>
                      <a:r>
                        <a:rPr lang="en-US" altLang="zh-CN" sz="1600" dirty="0">
                          <a:sym typeface="Symbol"/>
                        </a:rPr>
                        <a:t>&lt;= </a:t>
                      </a:r>
                      <a:r>
                        <a:rPr lang="en-US" altLang="zh-CN" sz="1600" dirty="0" err="1"/>
                        <a:t>MemInst</a:t>
                      </a:r>
                      <a:r>
                        <a:rPr lang="en-US" altLang="zh-CN" sz="1600" dirty="0"/>
                        <a:t>[PC]; 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PC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PC + 4</a:t>
                      </a:r>
                      <a:endParaRPr lang="en-US" altLang="zh-CN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70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op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IR[31:26];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A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Reg[IR[25:21]]; B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Reg[IR[20:16]];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/>
                        <a:t>A op B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+ </a:t>
                      </a: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- B 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PCAdd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PC +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 &lt;&lt;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9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MEM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MDR </a:t>
                      </a:r>
                      <a:r>
                        <a:rPr lang="en-US" altLang="zh-CN" sz="1600" dirty="0">
                          <a:sym typeface="Symbol"/>
                        </a:rPr>
                        <a:t>&lt;=</a:t>
                      </a:r>
                    </a:p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 &lt;= B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if (Zero)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PC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 err="1">
                          <a:solidFill>
                            <a:srgbClr val="00B050"/>
                          </a:solidFill>
                          <a:sym typeface="Symbol"/>
                        </a:rPr>
                        <a:t>PCAdd</a:t>
                      </a:r>
                      <a:endParaRPr lang="zh-CN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51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WB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Reg[IR[15:11]]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  &lt;= </a:t>
                      </a:r>
                      <a:r>
                        <a:rPr lang="en-US" altLang="zh-CN" sz="1600" dirty="0" err="1">
                          <a:solidFill>
                            <a:srgbClr val="00B0F0"/>
                          </a:solidFill>
                        </a:rPr>
                        <a:t>ALUOut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Reg[IR[20:16]]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MDR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5654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FC19F-C0ED-4419-96FC-3FCB8209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流水线：更多冒险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28B6A-4951-4232-A549-C18F3C1B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66018"/>
            <a:ext cx="8686797" cy="4525963"/>
          </a:xfrm>
        </p:spPr>
        <p:txBody>
          <a:bodyPr/>
          <a:lstStyle/>
          <a:p>
            <a:r>
              <a:rPr lang="zh-CN" altLang="en-US" sz="2400" dirty="0"/>
              <a:t>结构冒险通过增加资源（</a:t>
            </a:r>
            <a:r>
              <a:rPr lang="en-US" altLang="zh-CN" sz="2400" dirty="0"/>
              <a:t>IM, DM</a:t>
            </a:r>
            <a:r>
              <a:rPr lang="zh-CN" altLang="en-US" sz="2400" dirty="0"/>
              <a:t>分离）、计算指令增加空的</a:t>
            </a:r>
            <a:r>
              <a:rPr lang="en-US" altLang="zh-CN" sz="2400" dirty="0"/>
              <a:t>MEM</a:t>
            </a:r>
            <a:r>
              <a:rPr lang="zh-CN" altLang="en-US" sz="2400" dirty="0"/>
              <a:t>操作（使得各类指令对齐）等方式解决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00B050"/>
                </a:solidFill>
              </a:rPr>
              <a:t>PC</a:t>
            </a:r>
            <a:r>
              <a:rPr lang="zh-CN" altLang="en-US" sz="2400" dirty="0">
                <a:solidFill>
                  <a:srgbClr val="00B050"/>
                </a:solidFill>
              </a:rPr>
              <a:t>仍然存在冲突？是否执行了正确的指令？</a:t>
            </a:r>
            <a:r>
              <a:rPr lang="en-US" altLang="zh-CN" sz="2400" dirty="0">
                <a:solidFill>
                  <a:srgbClr val="00B050"/>
                </a:solidFill>
                <a:latin typeface="+mj-ea"/>
                <a:ea typeface="+mj-ea"/>
              </a:rPr>
              <a:t>PC</a:t>
            </a:r>
            <a:r>
              <a:rPr lang="zh-CN" altLang="en-US" sz="2400" dirty="0">
                <a:solidFill>
                  <a:srgbClr val="00B050"/>
                </a:solidFill>
                <a:latin typeface="+mj-ea"/>
                <a:ea typeface="+mj-ea"/>
              </a:rPr>
              <a:t>寄存器是否正确？</a:t>
            </a:r>
            <a:r>
              <a:rPr lang="zh-CN" altLang="en-US" sz="2400" dirty="0">
                <a:solidFill>
                  <a:srgbClr val="00B050"/>
                </a:solidFill>
              </a:rPr>
              <a:t>（控制冒险）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10218-2A46-4D73-872D-212389F1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103</a:t>
            </a:fld>
            <a:endParaRPr lang="zh-CN" altLang="en-US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5F283F97-C4F0-4624-8096-6357F4DE9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387115"/>
              </p:ext>
            </p:extLst>
          </p:nvPr>
        </p:nvGraphicFramePr>
        <p:xfrm>
          <a:off x="300111" y="2860431"/>
          <a:ext cx="8602590" cy="381737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2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56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7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流水线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</a:t>
                      </a:r>
                      <a:r>
                        <a:rPr lang="zh-CN" altLang="en-US" sz="2000" dirty="0"/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读存储器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写存储器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分支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IR</a:t>
                      </a:r>
                      <a:r>
                        <a:rPr lang="en-US" altLang="zh-CN" sz="1600" dirty="0">
                          <a:sym typeface="Symbol"/>
                        </a:rPr>
                        <a:t>&lt;= </a:t>
                      </a:r>
                      <a:r>
                        <a:rPr lang="en-US" altLang="zh-CN" sz="1600" dirty="0" err="1"/>
                        <a:t>MemInst</a:t>
                      </a:r>
                      <a:r>
                        <a:rPr lang="en-US" altLang="zh-CN" sz="1600" dirty="0"/>
                        <a:t>[PC]; 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PC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PC + 4</a:t>
                      </a:r>
                      <a:endParaRPr lang="en-US" altLang="zh-CN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70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op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IR[31:26];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A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Reg[IR[25:21]]; B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Reg[IR[20:16]];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/>
                        <a:t>A op B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+ </a:t>
                      </a: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ALUOut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A - B 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PCAdd</a:t>
                      </a:r>
                      <a:r>
                        <a:rPr lang="en-US" altLang="zh-CN" sz="1600" dirty="0"/>
                        <a:t> </a:t>
                      </a:r>
                      <a:r>
                        <a:rPr lang="en-US" altLang="zh-CN" sz="1600" dirty="0">
                          <a:sym typeface="Symbol"/>
                        </a:rPr>
                        <a:t>&lt;= </a:t>
                      </a:r>
                      <a:r>
                        <a:rPr lang="en-US" altLang="zh-CN" sz="1600" dirty="0"/>
                        <a:t>PC +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signext</a:t>
                      </a:r>
                      <a:r>
                        <a:rPr lang="en-US" altLang="zh-CN" sz="1600" dirty="0"/>
                        <a:t>(IR[15:0]) &lt;&lt;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9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MEM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MDR </a:t>
                      </a:r>
                      <a:r>
                        <a:rPr lang="en-US" altLang="zh-CN" sz="1600" dirty="0">
                          <a:sym typeface="Symbol"/>
                        </a:rPr>
                        <a:t>&lt;=</a:t>
                      </a:r>
                    </a:p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ym typeface="Symbol"/>
                        </a:rPr>
                        <a:t>MemData</a:t>
                      </a:r>
                      <a:r>
                        <a:rPr lang="en-US" altLang="zh-CN" sz="1600" dirty="0">
                          <a:sym typeface="Symbol"/>
                        </a:rPr>
                        <a:t>[</a:t>
                      </a:r>
                      <a:r>
                        <a:rPr lang="en-US" altLang="zh-CN" sz="1600" dirty="0" err="1">
                          <a:sym typeface="Symbol"/>
                        </a:rPr>
                        <a:t>ALUout</a:t>
                      </a:r>
                      <a:r>
                        <a:rPr lang="en-US" altLang="zh-CN" sz="1600" dirty="0">
                          <a:sym typeface="Symbol"/>
                        </a:rPr>
                        <a:t>] &lt;= B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if (Zero)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50"/>
                          </a:solidFill>
                        </a:rPr>
                        <a:t>PC 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sym typeface="Symbol"/>
                        </a:rPr>
                        <a:t>&lt;= </a:t>
                      </a:r>
                      <a:r>
                        <a:rPr lang="en-US" altLang="zh-CN" sz="1600" dirty="0" err="1">
                          <a:solidFill>
                            <a:srgbClr val="00B050"/>
                          </a:solidFill>
                          <a:sym typeface="Symbol"/>
                        </a:rPr>
                        <a:t>PCAdd</a:t>
                      </a:r>
                      <a:endParaRPr lang="zh-CN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51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WB</a:t>
                      </a:r>
                      <a:endParaRPr lang="zh-CN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Reg[IR[15:11]]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  &lt;= </a:t>
                      </a:r>
                      <a:r>
                        <a:rPr lang="en-US" altLang="zh-CN" sz="1600" dirty="0" err="1">
                          <a:solidFill>
                            <a:srgbClr val="00B0F0"/>
                          </a:solidFill>
                        </a:rPr>
                        <a:t>ALUOut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B0F0"/>
                          </a:solidFill>
                        </a:rPr>
                        <a:t>Reg[IR[20:16]] </a:t>
                      </a:r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&lt;= </a:t>
                      </a:r>
                    </a:p>
                    <a:p>
                      <a:pPr algn="ctr"/>
                      <a:r>
                        <a:rPr lang="en-US" altLang="zh-CN" sz="1600" dirty="0">
                          <a:solidFill>
                            <a:srgbClr val="00B0F0"/>
                          </a:solidFill>
                          <a:sym typeface="Symbol"/>
                        </a:rPr>
                        <a:t>MDR</a:t>
                      </a:r>
                      <a:endParaRPr lang="zh-CN" altLang="en-US" sz="1600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0421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AADFD7-F6F7-4EFE-A17E-D94244A1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99424C-F6CF-44B3-81EB-A99940AE62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ea typeface="SimHei" panose="02010609060101010101" pitchFamily="49" charset="-122"/>
              </a:rPr>
              <a:t>以下哪个冒险和对应的解决方法是</a:t>
            </a:r>
            <a:r>
              <a:rPr lang="zh-CN" altLang="en-US" sz="2800" dirty="0">
                <a:solidFill>
                  <a:schemeClr val="accent1"/>
                </a:solidFill>
                <a:ea typeface="SimHei" panose="02010609060101010101" pitchFamily="49" charset="-122"/>
              </a:rPr>
              <a:t>错误</a:t>
            </a:r>
            <a:r>
              <a:rPr lang="zh-CN" altLang="en-US" sz="2800" dirty="0">
                <a:ea typeface="SimHei" panose="02010609060101010101" pitchFamily="49" charset="-122"/>
              </a:rPr>
              <a:t>的</a:t>
            </a:r>
            <a:endParaRPr lang="en-US" altLang="zh-CN" sz="2800" dirty="0">
              <a:ea typeface="SimHe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C726BF-56E6-4E44-9A21-4B7E2F5F219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714500" y="230600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ea typeface="SimHei" panose="02010609060101010101" pitchFamily="49" charset="-122"/>
              </a:rPr>
              <a:t>如果</a:t>
            </a:r>
            <a:r>
              <a:rPr lang="en-US" altLang="zh-CN" sz="2000" dirty="0">
                <a:ea typeface="SimHei" panose="02010609060101010101" pitchFamily="49" charset="-122"/>
              </a:rPr>
              <a:t>LW</a:t>
            </a:r>
            <a:r>
              <a:rPr lang="zh-CN" altLang="en-US" sz="2000" dirty="0">
                <a:ea typeface="SimHei" panose="02010609060101010101" pitchFamily="49" charset="-122"/>
              </a:rPr>
              <a:t>指令紧跟</a:t>
            </a:r>
            <a:r>
              <a:rPr lang="en-US" altLang="zh-CN" sz="2000" dirty="0">
                <a:ea typeface="SimHei" panose="02010609060101010101" pitchFamily="49" charset="-122"/>
              </a:rPr>
              <a:t>ADD</a:t>
            </a:r>
            <a:r>
              <a:rPr lang="zh-CN" altLang="en-US" sz="2000" dirty="0">
                <a:ea typeface="SimHei" panose="02010609060101010101" pitchFamily="49" charset="-122"/>
              </a:rPr>
              <a:t>指令，导致同时写回寄存器 </a:t>
            </a:r>
            <a:r>
              <a:rPr lang="en-US" altLang="zh-CN" sz="2000" dirty="0">
                <a:ea typeface="SimHei" panose="02010609060101010101" pitchFamily="49" charset="-122"/>
              </a:rPr>
              <a:t>—— </a:t>
            </a:r>
            <a:r>
              <a:rPr lang="zh-CN" altLang="en-US" sz="2000" dirty="0">
                <a:ea typeface="SimHei" panose="02010609060101010101" pitchFamily="49" charset="-122"/>
              </a:rPr>
              <a:t>将</a:t>
            </a:r>
            <a:r>
              <a:rPr lang="en-US" altLang="zh-CN" sz="2000" dirty="0">
                <a:ea typeface="SimHei" panose="02010609060101010101" pitchFamily="49" charset="-122"/>
              </a:rPr>
              <a:t>ADD</a:t>
            </a:r>
            <a:r>
              <a:rPr lang="zh-CN" altLang="en-US" sz="2000" dirty="0">
                <a:ea typeface="SimHei" panose="02010609060101010101" pitchFamily="49" charset="-122"/>
              </a:rPr>
              <a:t>的写回延迟一个周期</a:t>
            </a:r>
            <a:endParaRPr lang="en-US" altLang="zh-CN" sz="2000" dirty="0">
              <a:ea typeface="SimHei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E78684-F4D6-4363-8DC8-0DC7B64AD04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714500" y="316325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ea typeface="SimHei" panose="02010609060101010101" pitchFamily="49" charset="-122"/>
              </a:rPr>
              <a:t>如果指令和数据共用同一个存储器，导致取指令与读数据冲突 </a:t>
            </a:r>
            <a:r>
              <a:rPr lang="en-US" altLang="zh-CN" sz="2000" dirty="0">
                <a:ea typeface="SimHei" panose="02010609060101010101" pitchFamily="49" charset="-122"/>
              </a:rPr>
              <a:t>—— </a:t>
            </a:r>
            <a:r>
              <a:rPr lang="zh-CN" altLang="en-US" sz="2000" dirty="0">
                <a:ea typeface="SimHei" panose="02010609060101010101" pitchFamily="49" charset="-122"/>
              </a:rPr>
              <a:t>采用哈佛结构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DC7825-2636-4A4B-8114-1284B153AD5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14500" y="402050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ea typeface="SimHei" panose="02010609060101010101" pitchFamily="49" charset="-122"/>
              </a:rPr>
              <a:t>分支指令计算跳转地址与</a:t>
            </a:r>
            <a:r>
              <a:rPr lang="en-US" altLang="zh-CN" sz="2000" dirty="0">
                <a:ea typeface="SimHei" panose="02010609060101010101" pitchFamily="49" charset="-122"/>
              </a:rPr>
              <a:t>R</a:t>
            </a:r>
            <a:r>
              <a:rPr lang="zh-CN" altLang="en-US" sz="2000" dirty="0">
                <a:ea typeface="SimHei" panose="02010609060101010101" pitchFamily="49" charset="-122"/>
              </a:rPr>
              <a:t>指令算术计算同时需要</a:t>
            </a:r>
            <a:r>
              <a:rPr lang="en-US" altLang="zh-CN" sz="2000" dirty="0">
                <a:ea typeface="SimHei" panose="02010609060101010101" pitchFamily="49" charset="-122"/>
              </a:rPr>
              <a:t>ALU —— </a:t>
            </a:r>
            <a:r>
              <a:rPr lang="zh-CN" altLang="en-US" sz="2000" dirty="0">
                <a:ea typeface="SimHei" panose="02010609060101010101" pitchFamily="49" charset="-122"/>
              </a:rPr>
              <a:t>添加</a:t>
            </a:r>
            <a:r>
              <a:rPr lang="en-US" altLang="zh-CN" sz="2000" dirty="0" err="1">
                <a:ea typeface="SimHei" panose="02010609060101010101" pitchFamily="49" charset="-122"/>
              </a:rPr>
              <a:t>PCAdd</a:t>
            </a:r>
            <a:r>
              <a:rPr lang="zh-CN" altLang="en-US" sz="2000" dirty="0">
                <a:ea typeface="SimHei" panose="02010609060101010101" pitchFamily="49" charset="-122"/>
              </a:rPr>
              <a:t>专门计算地址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387822-2B27-4A3B-8213-D01906BCAC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14500" y="487775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ea typeface="SimHei" panose="02010609060101010101" pitchFamily="49" charset="-122"/>
              </a:rPr>
              <a:t>PC</a:t>
            </a:r>
            <a:r>
              <a:rPr lang="zh-CN" altLang="en-US" sz="2000" dirty="0">
                <a:ea typeface="SimHei" panose="02010609060101010101" pitchFamily="49" charset="-122"/>
              </a:rPr>
              <a:t>寄存器既需要跳转到</a:t>
            </a:r>
            <a:r>
              <a:rPr lang="en-US" altLang="zh-CN" sz="2000" dirty="0">
                <a:ea typeface="SimHei" panose="02010609060101010101" pitchFamily="49" charset="-122"/>
              </a:rPr>
              <a:t>PC+4</a:t>
            </a:r>
            <a:r>
              <a:rPr lang="zh-CN" altLang="en-US" sz="2000" dirty="0">
                <a:ea typeface="SimHei" panose="02010609060101010101" pitchFamily="49" charset="-122"/>
              </a:rPr>
              <a:t>，也有可能分支跳转到 </a:t>
            </a:r>
            <a:r>
              <a:rPr lang="en-US" altLang="zh-CN" sz="2000" dirty="0" err="1">
                <a:ea typeface="SimHei" panose="02010609060101010101" pitchFamily="49" charset="-122"/>
              </a:rPr>
              <a:t>PCAdd</a:t>
            </a:r>
            <a:r>
              <a:rPr lang="en-US" altLang="zh-CN" sz="2000" dirty="0">
                <a:ea typeface="SimHei" panose="02010609060101010101" pitchFamily="49" charset="-122"/>
              </a:rPr>
              <a:t> —— </a:t>
            </a:r>
            <a:r>
              <a:rPr lang="zh-CN" altLang="en-US" sz="2000" dirty="0">
                <a:ea typeface="SimHei" panose="02010609060101010101" pitchFamily="49" charset="-122"/>
              </a:rPr>
              <a:t>添加额外的</a:t>
            </a:r>
            <a:r>
              <a:rPr lang="en-US" altLang="zh-CN" sz="2000" dirty="0">
                <a:ea typeface="SimHei" panose="02010609060101010101" pitchFamily="49" charset="-122"/>
              </a:rPr>
              <a:t>PC</a:t>
            </a:r>
            <a:r>
              <a:rPr lang="zh-CN" altLang="en-US" sz="2000" dirty="0">
                <a:ea typeface="SimHei" panose="02010609060101010101" pitchFamily="49" charset="-122"/>
              </a:rPr>
              <a:t>寄存器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B3FF10E-1722-45F7-85AC-699D104F5B2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00125" y="237029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E90F0D7-F94F-4D85-B4F7-CA54F09711F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00125" y="322754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80740F8-3834-4D54-9B98-1160076D4E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00125" y="408479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6A832E6-DAE3-4DA9-B3D2-30154879AA9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000125" y="494204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6AC09B-DBCE-405C-9DB1-4701EA8CDB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F0CFED2-7351-4B44-95D6-2D3B718B6DB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FCCC3051-D50D-4778-AD08-975023FD25C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E1FE7A1F-EBA5-4958-A39B-451B8DC513E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272B44E8-A885-4FF4-9FC9-DCA318DE501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784A5EFF-5708-4B44-87B9-CB5BAC67A55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10E48C-98AD-477E-A955-412538506D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36609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92363-FAF6-49DB-B2CD-30FCA2BE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9D581-E86A-4AB0-BF63-4562DDDBE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9"/>
            <a:ext cx="8229600" cy="378692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以下哪个冒险和对应的解决方法是</a:t>
            </a:r>
            <a:r>
              <a:rPr lang="zh-CN" altLang="en-US" sz="2400" dirty="0">
                <a:solidFill>
                  <a:schemeClr val="accent1"/>
                </a:solidFill>
              </a:rPr>
              <a:t>错误</a:t>
            </a:r>
            <a:r>
              <a:rPr lang="zh-CN" altLang="en-US" sz="2400" dirty="0"/>
              <a:t>的</a:t>
            </a:r>
            <a:endParaRPr lang="en-US" altLang="zh-CN" sz="2400" dirty="0"/>
          </a:p>
          <a:p>
            <a:pPr marL="514350" indent="-514350">
              <a:buAutoNum type="alphaUcPeriod"/>
            </a:pPr>
            <a:r>
              <a:rPr lang="zh-CN" altLang="en-US" sz="2000" dirty="0"/>
              <a:t>如果</a:t>
            </a:r>
            <a:r>
              <a:rPr lang="en-US" altLang="zh-CN" sz="2000" dirty="0"/>
              <a:t>LW</a:t>
            </a:r>
            <a:r>
              <a:rPr lang="zh-CN" altLang="en-US" sz="2000" dirty="0"/>
              <a:t>指令紧跟</a:t>
            </a:r>
            <a:r>
              <a:rPr lang="en-US" altLang="zh-CN" sz="2000" dirty="0"/>
              <a:t>ADD</a:t>
            </a:r>
            <a:r>
              <a:rPr lang="zh-CN" altLang="en-US" sz="2000" dirty="0"/>
              <a:t>指令，导致同时写回寄存器 </a:t>
            </a:r>
            <a:r>
              <a:rPr lang="en-US" altLang="zh-CN" sz="2000" dirty="0"/>
              <a:t>—— </a:t>
            </a:r>
            <a:r>
              <a:rPr lang="zh-CN" altLang="en-US" sz="2000" dirty="0"/>
              <a:t>将</a:t>
            </a:r>
            <a:r>
              <a:rPr lang="en-US" altLang="zh-CN" sz="2000" dirty="0"/>
              <a:t>ADD</a:t>
            </a:r>
            <a:r>
              <a:rPr lang="zh-CN" altLang="en-US" sz="2000" dirty="0"/>
              <a:t>的写回延迟一个周期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zh-CN" altLang="en-US" sz="2000" dirty="0"/>
              <a:t>如果指令和数据共用同一个存储器，导致取指令与读数据冲突 </a:t>
            </a:r>
            <a:r>
              <a:rPr lang="en-US" altLang="zh-CN" sz="2000" dirty="0"/>
              <a:t>—— </a:t>
            </a:r>
            <a:r>
              <a:rPr lang="zh-CN" altLang="en-US" sz="2000" dirty="0"/>
              <a:t>采用哈佛结构</a:t>
            </a:r>
          </a:p>
          <a:p>
            <a:pPr marL="514350" indent="-514350">
              <a:buAutoNum type="alphaUcPeriod"/>
            </a:pPr>
            <a:r>
              <a:rPr lang="zh-CN" altLang="en-US" sz="2000" dirty="0"/>
              <a:t>分支指令计算跳转地址与</a:t>
            </a:r>
            <a:r>
              <a:rPr lang="en-US" altLang="zh-CN" sz="2000" dirty="0"/>
              <a:t>R</a:t>
            </a:r>
            <a:r>
              <a:rPr lang="zh-CN" altLang="en-US" sz="2000" dirty="0"/>
              <a:t>指令算术计算同时需要</a:t>
            </a:r>
            <a:r>
              <a:rPr lang="en-US" altLang="zh-CN" sz="2000" dirty="0"/>
              <a:t>ALU —— </a:t>
            </a:r>
            <a:r>
              <a:rPr lang="zh-CN" altLang="en-US" sz="2000" dirty="0"/>
              <a:t>添加</a:t>
            </a:r>
            <a:r>
              <a:rPr lang="en-US" altLang="zh-CN" sz="2000" dirty="0" err="1"/>
              <a:t>PCAdd</a:t>
            </a:r>
            <a:r>
              <a:rPr lang="zh-CN" altLang="en-US" sz="2000" dirty="0"/>
              <a:t>专门计算地址</a:t>
            </a:r>
          </a:p>
          <a:p>
            <a:pPr marL="514350" indent="-514350">
              <a:buAutoNum type="alphaUcPeriod"/>
            </a:pPr>
            <a:r>
              <a:rPr lang="en-US" altLang="zh-CN" sz="2000" dirty="0">
                <a:solidFill>
                  <a:srgbClr val="3333FF"/>
                </a:solidFill>
              </a:rPr>
              <a:t>PC</a:t>
            </a:r>
            <a:r>
              <a:rPr lang="zh-CN" altLang="en-US" sz="2000" dirty="0">
                <a:solidFill>
                  <a:srgbClr val="3333FF"/>
                </a:solidFill>
              </a:rPr>
              <a:t>寄存器既需要跳转到</a:t>
            </a:r>
            <a:r>
              <a:rPr lang="en-US" altLang="zh-CN" sz="2000" dirty="0">
                <a:solidFill>
                  <a:srgbClr val="3333FF"/>
                </a:solidFill>
              </a:rPr>
              <a:t>PC+4</a:t>
            </a:r>
            <a:r>
              <a:rPr lang="zh-CN" altLang="en-US" sz="2000" dirty="0">
                <a:solidFill>
                  <a:srgbClr val="3333FF"/>
                </a:solidFill>
              </a:rPr>
              <a:t>，也有可能分支跳转到 </a:t>
            </a:r>
            <a:r>
              <a:rPr lang="en-US" altLang="zh-CN" sz="2000" dirty="0" err="1">
                <a:solidFill>
                  <a:srgbClr val="3333FF"/>
                </a:solidFill>
              </a:rPr>
              <a:t>PCAdd</a:t>
            </a:r>
            <a:r>
              <a:rPr lang="en-US" altLang="zh-CN" sz="2000" dirty="0">
                <a:solidFill>
                  <a:srgbClr val="3333FF"/>
                </a:solidFill>
              </a:rPr>
              <a:t> —— </a:t>
            </a:r>
            <a:r>
              <a:rPr lang="zh-CN" altLang="en-US" sz="2000" dirty="0">
                <a:solidFill>
                  <a:srgbClr val="3333FF"/>
                </a:solidFill>
              </a:rPr>
              <a:t>添加额外的</a:t>
            </a:r>
            <a:r>
              <a:rPr lang="en-US" altLang="zh-CN" sz="2000" dirty="0">
                <a:solidFill>
                  <a:srgbClr val="3333FF"/>
                </a:solidFill>
              </a:rPr>
              <a:t>PC</a:t>
            </a:r>
            <a:r>
              <a:rPr lang="zh-CN" altLang="en-US" sz="2000" dirty="0">
                <a:solidFill>
                  <a:srgbClr val="3333FF"/>
                </a:solidFill>
              </a:rPr>
              <a:t>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C1059-B040-42C9-87B8-F04198F1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105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0ABC101-90B9-D897-2629-B796DADD33EC}"/>
              </a:ext>
            </a:extLst>
          </p:cNvPr>
          <p:cNvSpPr txBox="1">
            <a:spLocks/>
          </p:cNvSpPr>
          <p:nvPr/>
        </p:nvSpPr>
        <p:spPr bwMode="auto">
          <a:xfrm>
            <a:off x="228600" y="4450137"/>
            <a:ext cx="8686800" cy="1869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zh-CN" altLang="en-US" sz="2400" kern="0" dirty="0">
                <a:solidFill>
                  <a:srgbClr val="3333FF"/>
                </a:solidFill>
              </a:rPr>
              <a:t>解答：</a:t>
            </a:r>
            <a:r>
              <a:rPr kumimoji="1" lang="en-US" altLang="zh-CN" sz="2400" kern="0" dirty="0">
                <a:solidFill>
                  <a:srgbClr val="3333FF"/>
                </a:solidFill>
              </a:rPr>
              <a:t>D</a:t>
            </a:r>
          </a:p>
          <a:p>
            <a:pPr lvl="1"/>
            <a:r>
              <a:rPr lang="en-US" altLang="zh-CN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寄存器指示的是当前运行地址，再添加个</a:t>
            </a:r>
            <a:r>
              <a:rPr lang="en-US" altLang="zh-CN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寄存器程序就不知道应该从哪个寄存器取指令了。具体分支的时候</a:t>
            </a:r>
            <a:r>
              <a:rPr lang="en-US" altLang="zh-CN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如何跳转，在后续控制冒险讨论。</a:t>
            </a:r>
            <a:endParaRPr kumimoji="1" lang="zh-CN" altLang="en-US" sz="2000" kern="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0688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5D501-0E2A-40EB-A300-C5516B99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0B2727-F104-4DE1-B71B-6D23D6DEA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95408"/>
          </a:xfrm>
        </p:spPr>
        <p:txBody>
          <a:bodyPr/>
          <a:lstStyle/>
          <a:p>
            <a:r>
              <a:rPr lang="zh-CN" altLang="en-US" dirty="0"/>
              <a:t>单周期 </a:t>
            </a:r>
            <a:r>
              <a:rPr lang="en-US" altLang="zh-CN" dirty="0"/>
              <a:t>vs </a:t>
            </a:r>
            <a:r>
              <a:rPr lang="zh-CN" altLang="en-US" dirty="0"/>
              <a:t>多周期 </a:t>
            </a:r>
            <a:r>
              <a:rPr lang="en-US" altLang="zh-CN" dirty="0"/>
              <a:t>vs </a:t>
            </a:r>
            <a:r>
              <a:rPr lang="zh-CN" altLang="en-US" dirty="0"/>
              <a:t>流水线</a:t>
            </a:r>
            <a:endParaRPr lang="en-US" altLang="zh-CN" dirty="0"/>
          </a:p>
          <a:p>
            <a:pPr lvl="1"/>
            <a:r>
              <a:rPr lang="zh-CN" altLang="en-US" dirty="0"/>
              <a:t>资源利用率、吞吐率</a:t>
            </a:r>
          </a:p>
          <a:p>
            <a:r>
              <a:rPr lang="en-US" altLang="zh-CN" dirty="0"/>
              <a:t>MIPS</a:t>
            </a:r>
            <a:r>
              <a:rPr lang="zh-CN" altLang="en-US" dirty="0"/>
              <a:t>指令的流水线方法</a:t>
            </a:r>
          </a:p>
          <a:p>
            <a:pPr lvl="1"/>
            <a:r>
              <a:rPr lang="zh-CN" altLang="en-US" dirty="0"/>
              <a:t>五级流水线：</a:t>
            </a:r>
            <a:r>
              <a:rPr lang="en-US" altLang="zh-CN" dirty="0"/>
              <a:t>IF</a:t>
            </a:r>
            <a:r>
              <a:rPr lang="en-US" altLang="zh-CN" dirty="0">
                <a:sym typeface="Wingdings" panose="05000000000000000000" pitchFamily="2" charset="2"/>
              </a:rPr>
              <a:t>ID/RFEXMEMWB</a:t>
            </a:r>
          </a:p>
          <a:p>
            <a:pPr lvl="1"/>
            <a:r>
              <a:rPr lang="zh-CN" altLang="en-US" dirty="0"/>
              <a:t>流水级间寄存器：保持中间数据和控制信号</a:t>
            </a:r>
            <a:endParaRPr lang="en-US" altLang="zh-CN" dirty="0"/>
          </a:p>
          <a:p>
            <a:r>
              <a:rPr lang="zh-CN" altLang="en-US" dirty="0"/>
              <a:t>流水线中可能具有冒险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7C76A-2FB3-4242-B5A0-1E80A0B7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3762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E84981B-5482-8BD2-A88D-AEC012A2C9F9}"/>
              </a:ext>
            </a:extLst>
          </p:cNvPr>
          <p:cNvSpPr/>
          <p:nvPr/>
        </p:nvSpPr>
        <p:spPr>
          <a:xfrm>
            <a:off x="3982720" y="4759960"/>
            <a:ext cx="4931039" cy="1825134"/>
          </a:xfrm>
          <a:prstGeom prst="roundRect">
            <a:avLst>
              <a:gd name="adj" fmla="val 776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0F3E26D-8D28-1A43-92F0-BCA840D7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知识点框图</a:t>
            </a:r>
          </a:p>
        </p:txBody>
      </p: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9501BC1B-CFB3-3844-8F46-6D984FE4A22A}"/>
              </a:ext>
            </a:extLst>
          </p:cNvPr>
          <p:cNvCxnSpPr>
            <a:cxnSpLocks/>
            <a:stCxn id="90" idx="3"/>
            <a:endCxn id="73" idx="1"/>
          </p:cNvCxnSpPr>
          <p:nvPr/>
        </p:nvCxnSpPr>
        <p:spPr>
          <a:xfrm flipV="1">
            <a:off x="1398896" y="1447681"/>
            <a:ext cx="574332" cy="629275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连接符 71">
            <a:extLst>
              <a:ext uri="{FF2B5EF4-FFF2-40B4-BE49-F238E27FC236}">
                <a16:creationId xmlns:a16="http://schemas.microsoft.com/office/drawing/2014/main" id="{20D643A2-7B02-6947-A75E-F74E79D901E6}"/>
              </a:ext>
            </a:extLst>
          </p:cNvPr>
          <p:cNvCxnSpPr>
            <a:cxnSpLocks/>
            <a:stCxn id="90" idx="3"/>
            <a:endCxn id="74" idx="1"/>
          </p:cNvCxnSpPr>
          <p:nvPr/>
        </p:nvCxnSpPr>
        <p:spPr>
          <a:xfrm>
            <a:off x="1398896" y="2076956"/>
            <a:ext cx="574332" cy="1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9711818D-6401-E944-9F30-CEC8D9AB8CCA}"/>
              </a:ext>
            </a:extLst>
          </p:cNvPr>
          <p:cNvSpPr/>
          <p:nvPr/>
        </p:nvSpPr>
        <p:spPr>
          <a:xfrm>
            <a:off x="1973228" y="1229519"/>
            <a:ext cx="1080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基本概念</a:t>
            </a: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EE97B7F1-46DD-814B-90E4-F4ECB447B22F}"/>
              </a:ext>
            </a:extLst>
          </p:cNvPr>
          <p:cNvSpPr/>
          <p:nvPr/>
        </p:nvSpPr>
        <p:spPr>
          <a:xfrm>
            <a:off x="1973228" y="1858795"/>
            <a:ext cx="1080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数据通路</a:t>
            </a:r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B966BB80-C56F-BA47-94E0-C06EE0209981}"/>
              </a:ext>
            </a:extLst>
          </p:cNvPr>
          <p:cNvCxnSpPr>
            <a:cxnSpLocks/>
            <a:stCxn id="73" idx="3"/>
            <a:endCxn id="76" idx="1"/>
          </p:cNvCxnSpPr>
          <p:nvPr/>
        </p:nvCxnSpPr>
        <p:spPr>
          <a:xfrm>
            <a:off x="3053228" y="1447681"/>
            <a:ext cx="483821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1487E026-D224-2B4A-B9C1-D9FD192B0479}"/>
              </a:ext>
            </a:extLst>
          </p:cNvPr>
          <p:cNvSpPr/>
          <p:nvPr/>
        </p:nvSpPr>
        <p:spPr>
          <a:xfrm>
            <a:off x="3537049" y="1229519"/>
            <a:ext cx="1538315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指令级并行处理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127D94DA-54A5-5149-9FD8-998496129AB0}"/>
              </a:ext>
            </a:extLst>
          </p:cNvPr>
          <p:cNvSpPr/>
          <p:nvPr/>
        </p:nvSpPr>
        <p:spPr>
          <a:xfrm>
            <a:off x="5215785" y="1227143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延时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02584BA7-59D1-4A4A-AFEA-09760E30244F}"/>
              </a:ext>
            </a:extLst>
          </p:cNvPr>
          <p:cNvSpPr/>
          <p:nvPr/>
        </p:nvSpPr>
        <p:spPr>
          <a:xfrm>
            <a:off x="7440627" y="1227143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流水级</a:t>
            </a: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590F00DC-2743-8B4A-8B6E-06377D8E7648}"/>
              </a:ext>
            </a:extLst>
          </p:cNvPr>
          <p:cNvCxnSpPr>
            <a:cxnSpLocks/>
            <a:stCxn id="74" idx="3"/>
            <a:endCxn id="80" idx="1"/>
          </p:cNvCxnSpPr>
          <p:nvPr/>
        </p:nvCxnSpPr>
        <p:spPr>
          <a:xfrm>
            <a:off x="3053228" y="2076957"/>
            <a:ext cx="483821" cy="168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AEE93EEA-98B1-3147-9649-4AB5B4229385}"/>
              </a:ext>
            </a:extLst>
          </p:cNvPr>
          <p:cNvSpPr/>
          <p:nvPr/>
        </p:nvSpPr>
        <p:spPr>
          <a:xfrm>
            <a:off x="3537049" y="1860481"/>
            <a:ext cx="2527601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IF</a:t>
            </a:r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ID</a:t>
            </a:r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EX</a:t>
            </a:r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MEM</a:t>
            </a:r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WB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AF9DB471-7B0F-1F4A-874A-81CF58BE17B7}"/>
              </a:ext>
            </a:extLst>
          </p:cNvPr>
          <p:cNvSpPr/>
          <p:nvPr/>
        </p:nvSpPr>
        <p:spPr>
          <a:xfrm>
            <a:off x="1973228" y="2508407"/>
            <a:ext cx="1080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冒险</a:t>
            </a:r>
          </a:p>
        </p:txBody>
      </p:sp>
      <p:sp>
        <p:nvSpPr>
          <p:cNvPr id="90" name="圆角矩形 13">
            <a:extLst>
              <a:ext uri="{FF2B5EF4-FFF2-40B4-BE49-F238E27FC236}">
                <a16:creationId xmlns:a16="http://schemas.microsoft.com/office/drawing/2014/main" id="{5A4F1C54-DF56-DF43-B81C-7054F31A0725}"/>
              </a:ext>
            </a:extLst>
          </p:cNvPr>
          <p:cNvSpPr/>
          <p:nvPr/>
        </p:nvSpPr>
        <p:spPr>
          <a:xfrm>
            <a:off x="230242" y="1705651"/>
            <a:ext cx="1168654" cy="74261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流水线</a:t>
            </a:r>
            <a:endParaRPr kumimoji="1"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处理器</a:t>
            </a:r>
            <a:endParaRPr kumimoji="1" lang="zh-CN" altLang="en-US" sz="16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0" name="圆角矩形 36">
            <a:extLst>
              <a:ext uri="{FF2B5EF4-FFF2-40B4-BE49-F238E27FC236}">
                <a16:creationId xmlns:a16="http://schemas.microsoft.com/office/drawing/2014/main" id="{61519F0F-8C4C-424A-971F-B86C1197FCA7}"/>
              </a:ext>
            </a:extLst>
          </p:cNvPr>
          <p:cNvSpPr/>
          <p:nvPr/>
        </p:nvSpPr>
        <p:spPr>
          <a:xfrm>
            <a:off x="6328206" y="1227143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吞吐率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04" name="直线箭头连接符 39">
            <a:extLst>
              <a:ext uri="{FF2B5EF4-FFF2-40B4-BE49-F238E27FC236}">
                <a16:creationId xmlns:a16="http://schemas.microsoft.com/office/drawing/2014/main" id="{4E8A5E09-82D3-6446-A026-512FF4725EE6}"/>
              </a:ext>
            </a:extLst>
          </p:cNvPr>
          <p:cNvCxnSpPr>
            <a:cxnSpLocks/>
            <a:stCxn id="88" idx="3"/>
            <a:endCxn id="105" idx="1"/>
          </p:cNvCxnSpPr>
          <p:nvPr/>
        </p:nvCxnSpPr>
        <p:spPr>
          <a:xfrm>
            <a:off x="3053228" y="2726569"/>
            <a:ext cx="495277" cy="542997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圆角矩形 40">
            <a:extLst>
              <a:ext uri="{FF2B5EF4-FFF2-40B4-BE49-F238E27FC236}">
                <a16:creationId xmlns:a16="http://schemas.microsoft.com/office/drawing/2014/main" id="{F3F190E6-2E43-0D45-B7F0-16DD8E23A122}"/>
              </a:ext>
            </a:extLst>
          </p:cNvPr>
          <p:cNvSpPr/>
          <p:nvPr/>
        </p:nvSpPr>
        <p:spPr>
          <a:xfrm>
            <a:off x="3548505" y="3051404"/>
            <a:ext cx="102623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数据关联冒险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6" name="圆角矩形 41">
            <a:extLst>
              <a:ext uri="{FF2B5EF4-FFF2-40B4-BE49-F238E27FC236}">
                <a16:creationId xmlns:a16="http://schemas.microsoft.com/office/drawing/2014/main" id="{9C07C575-BF83-C843-B66F-1D1AA2A3426D}"/>
              </a:ext>
            </a:extLst>
          </p:cNvPr>
          <p:cNvSpPr/>
          <p:nvPr/>
        </p:nvSpPr>
        <p:spPr>
          <a:xfrm>
            <a:off x="4696773" y="3051404"/>
            <a:ext cx="597792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来源</a:t>
            </a:r>
          </a:p>
        </p:txBody>
      </p:sp>
      <p:cxnSp>
        <p:nvCxnSpPr>
          <p:cNvPr id="111" name="直线箭头连接符 39">
            <a:extLst>
              <a:ext uri="{FF2B5EF4-FFF2-40B4-BE49-F238E27FC236}">
                <a16:creationId xmlns:a16="http://schemas.microsoft.com/office/drawing/2014/main" id="{F46F010E-D7FE-2546-820C-37F4221C3F6D}"/>
              </a:ext>
            </a:extLst>
          </p:cNvPr>
          <p:cNvCxnSpPr>
            <a:cxnSpLocks/>
            <a:stCxn id="88" idx="3"/>
            <a:endCxn id="112" idx="1"/>
          </p:cNvCxnSpPr>
          <p:nvPr/>
        </p:nvCxnSpPr>
        <p:spPr>
          <a:xfrm>
            <a:off x="3053228" y="2726569"/>
            <a:ext cx="48764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圆角矩形 40">
            <a:extLst>
              <a:ext uri="{FF2B5EF4-FFF2-40B4-BE49-F238E27FC236}">
                <a16:creationId xmlns:a16="http://schemas.microsoft.com/office/drawing/2014/main" id="{6FAF2D03-C48F-7D45-BF70-E8F40789A69F}"/>
              </a:ext>
            </a:extLst>
          </p:cNvPr>
          <p:cNvSpPr/>
          <p:nvPr/>
        </p:nvSpPr>
        <p:spPr>
          <a:xfrm>
            <a:off x="3540877" y="2508407"/>
            <a:ext cx="102623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结构冒险</a:t>
            </a:r>
          </a:p>
        </p:txBody>
      </p:sp>
      <p:sp>
        <p:nvSpPr>
          <p:cNvPr id="113" name="圆角矩形 41">
            <a:extLst>
              <a:ext uri="{FF2B5EF4-FFF2-40B4-BE49-F238E27FC236}">
                <a16:creationId xmlns:a16="http://schemas.microsoft.com/office/drawing/2014/main" id="{F5BAB15E-4EAA-0D47-96AA-347BF3551376}"/>
              </a:ext>
            </a:extLst>
          </p:cNvPr>
          <p:cNvSpPr/>
          <p:nvPr/>
        </p:nvSpPr>
        <p:spPr>
          <a:xfrm>
            <a:off x="4694839" y="2508297"/>
            <a:ext cx="59929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来源</a:t>
            </a:r>
          </a:p>
        </p:txBody>
      </p:sp>
      <p:sp>
        <p:nvSpPr>
          <p:cNvPr id="114" name="圆角矩形 41">
            <a:extLst>
              <a:ext uri="{FF2B5EF4-FFF2-40B4-BE49-F238E27FC236}">
                <a16:creationId xmlns:a16="http://schemas.microsoft.com/office/drawing/2014/main" id="{E341BB64-3A7C-434E-9663-3EE9733A9399}"/>
              </a:ext>
            </a:extLst>
          </p:cNvPr>
          <p:cNvSpPr/>
          <p:nvPr/>
        </p:nvSpPr>
        <p:spPr>
          <a:xfrm>
            <a:off x="5438805" y="2508297"/>
            <a:ext cx="1371221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增加硬件资源</a:t>
            </a:r>
          </a:p>
        </p:txBody>
      </p:sp>
      <p:cxnSp>
        <p:nvCxnSpPr>
          <p:cNvPr id="115" name="直线箭头连接符 39">
            <a:extLst>
              <a:ext uri="{FF2B5EF4-FFF2-40B4-BE49-F238E27FC236}">
                <a16:creationId xmlns:a16="http://schemas.microsoft.com/office/drawing/2014/main" id="{4173792F-429F-DB4A-9F5E-7A5B06FD3902}"/>
              </a:ext>
            </a:extLst>
          </p:cNvPr>
          <p:cNvCxnSpPr>
            <a:cxnSpLocks/>
            <a:stCxn id="88" idx="3"/>
            <a:endCxn id="116" idx="1"/>
          </p:cNvCxnSpPr>
          <p:nvPr/>
        </p:nvCxnSpPr>
        <p:spPr>
          <a:xfrm>
            <a:off x="3053228" y="2726569"/>
            <a:ext cx="495277" cy="1074125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圆角矩形 40">
            <a:extLst>
              <a:ext uri="{FF2B5EF4-FFF2-40B4-BE49-F238E27FC236}">
                <a16:creationId xmlns:a16="http://schemas.microsoft.com/office/drawing/2014/main" id="{FB722DBB-3D6C-B047-932B-FE0D6ADA92FB}"/>
              </a:ext>
            </a:extLst>
          </p:cNvPr>
          <p:cNvSpPr/>
          <p:nvPr/>
        </p:nvSpPr>
        <p:spPr>
          <a:xfrm>
            <a:off x="3548505" y="3582532"/>
            <a:ext cx="102623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控制冒险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7" name="圆角矩形 41">
            <a:extLst>
              <a:ext uri="{FF2B5EF4-FFF2-40B4-BE49-F238E27FC236}">
                <a16:creationId xmlns:a16="http://schemas.microsoft.com/office/drawing/2014/main" id="{502F02CF-130E-7747-8CDE-C7D9189E3124}"/>
              </a:ext>
            </a:extLst>
          </p:cNvPr>
          <p:cNvSpPr/>
          <p:nvPr/>
        </p:nvSpPr>
        <p:spPr>
          <a:xfrm>
            <a:off x="4701477" y="3582532"/>
            <a:ext cx="59415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来源</a:t>
            </a:r>
          </a:p>
        </p:txBody>
      </p:sp>
      <p:sp>
        <p:nvSpPr>
          <p:cNvPr id="118" name="圆角矩形 41">
            <a:extLst>
              <a:ext uri="{FF2B5EF4-FFF2-40B4-BE49-F238E27FC236}">
                <a16:creationId xmlns:a16="http://schemas.microsoft.com/office/drawing/2014/main" id="{AAE2C5D3-F42F-A74B-BB7B-B1D47346BD03}"/>
              </a:ext>
            </a:extLst>
          </p:cNvPr>
          <p:cNvSpPr/>
          <p:nvPr/>
        </p:nvSpPr>
        <p:spPr>
          <a:xfrm>
            <a:off x="5441729" y="3582155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Forward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4" name="圆角矩形 82">
            <a:extLst>
              <a:ext uri="{FF2B5EF4-FFF2-40B4-BE49-F238E27FC236}">
                <a16:creationId xmlns:a16="http://schemas.microsoft.com/office/drawing/2014/main" id="{D0CC9ED5-2714-60DE-26BA-CF0A7ACDCAE8}"/>
              </a:ext>
            </a:extLst>
          </p:cNvPr>
          <p:cNvSpPr/>
          <p:nvPr/>
        </p:nvSpPr>
        <p:spPr>
          <a:xfrm>
            <a:off x="6198174" y="1860481"/>
            <a:ext cx="1156498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级间寄存器</a:t>
            </a:r>
          </a:p>
        </p:txBody>
      </p:sp>
      <p:sp>
        <p:nvSpPr>
          <p:cNvPr id="65" name="圆角矩形 82">
            <a:extLst>
              <a:ext uri="{FF2B5EF4-FFF2-40B4-BE49-F238E27FC236}">
                <a16:creationId xmlns:a16="http://schemas.microsoft.com/office/drawing/2014/main" id="{D0B51225-5F8C-4A29-0502-3BA4476B86A6}"/>
              </a:ext>
            </a:extLst>
          </p:cNvPr>
          <p:cNvSpPr/>
          <p:nvPr/>
        </p:nvSpPr>
        <p:spPr>
          <a:xfrm>
            <a:off x="7483755" y="1858795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控制信号</a:t>
            </a:r>
          </a:p>
        </p:txBody>
      </p:sp>
      <p:sp>
        <p:nvSpPr>
          <p:cNvPr id="66" name="圆角矩形 41">
            <a:extLst>
              <a:ext uri="{FF2B5EF4-FFF2-40B4-BE49-F238E27FC236}">
                <a16:creationId xmlns:a16="http://schemas.microsoft.com/office/drawing/2014/main" id="{3148C602-811B-6E1D-C2ED-1BBDDBE3B88B}"/>
              </a:ext>
            </a:extLst>
          </p:cNvPr>
          <p:cNvSpPr/>
          <p:nvPr/>
        </p:nvSpPr>
        <p:spPr>
          <a:xfrm>
            <a:off x="5439052" y="3060732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Forward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7" name="圆角矩形 41">
            <a:extLst>
              <a:ext uri="{FF2B5EF4-FFF2-40B4-BE49-F238E27FC236}">
                <a16:creationId xmlns:a16="http://schemas.microsoft.com/office/drawing/2014/main" id="{E458330A-B1A4-57CD-4DC5-9B315A7707CA}"/>
              </a:ext>
            </a:extLst>
          </p:cNvPr>
          <p:cNvSpPr/>
          <p:nvPr/>
        </p:nvSpPr>
        <p:spPr>
          <a:xfrm>
            <a:off x="6539023" y="3051404"/>
            <a:ext cx="65598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Stall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8" name="圆角矩形 41">
            <a:extLst>
              <a:ext uri="{FF2B5EF4-FFF2-40B4-BE49-F238E27FC236}">
                <a16:creationId xmlns:a16="http://schemas.microsoft.com/office/drawing/2014/main" id="{5C122375-B135-2D57-CA2C-A4501A62ACDF}"/>
              </a:ext>
            </a:extLst>
          </p:cNvPr>
          <p:cNvSpPr/>
          <p:nvPr/>
        </p:nvSpPr>
        <p:spPr>
          <a:xfrm>
            <a:off x="7319331" y="3051404"/>
            <a:ext cx="97200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编译调度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9" name="圆角矩形 41">
            <a:extLst>
              <a:ext uri="{FF2B5EF4-FFF2-40B4-BE49-F238E27FC236}">
                <a16:creationId xmlns:a16="http://schemas.microsoft.com/office/drawing/2014/main" id="{53F141D4-E229-C837-4398-94073CF493AB}"/>
              </a:ext>
            </a:extLst>
          </p:cNvPr>
          <p:cNvSpPr/>
          <p:nvPr/>
        </p:nvSpPr>
        <p:spPr>
          <a:xfrm>
            <a:off x="6532871" y="3582155"/>
            <a:ext cx="65598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Stall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1" name="圆角矩形 41">
            <a:extLst>
              <a:ext uri="{FF2B5EF4-FFF2-40B4-BE49-F238E27FC236}">
                <a16:creationId xmlns:a16="http://schemas.microsoft.com/office/drawing/2014/main" id="{493B59AF-F707-C78D-3740-17BDC14030F2}"/>
              </a:ext>
            </a:extLst>
          </p:cNvPr>
          <p:cNvSpPr/>
          <p:nvPr/>
        </p:nvSpPr>
        <p:spPr>
          <a:xfrm>
            <a:off x="8130683" y="3582155"/>
            <a:ext cx="65598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延迟槽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9" name="圆角矩形 41">
            <a:extLst>
              <a:ext uri="{FF2B5EF4-FFF2-40B4-BE49-F238E27FC236}">
                <a16:creationId xmlns:a16="http://schemas.microsoft.com/office/drawing/2014/main" id="{10BDC545-4728-9449-A3A8-FDFC7A1FD68D}"/>
              </a:ext>
            </a:extLst>
          </p:cNvPr>
          <p:cNvSpPr/>
          <p:nvPr/>
        </p:nvSpPr>
        <p:spPr>
          <a:xfrm>
            <a:off x="7319331" y="3585364"/>
            <a:ext cx="65598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分支预测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3" name="圆角矩形 41">
            <a:extLst>
              <a:ext uri="{FF2B5EF4-FFF2-40B4-BE49-F238E27FC236}">
                <a16:creationId xmlns:a16="http://schemas.microsoft.com/office/drawing/2014/main" id="{9F625CF7-71F0-9D73-E2A2-1AFF677064FA}"/>
              </a:ext>
            </a:extLst>
          </p:cNvPr>
          <p:cNvSpPr/>
          <p:nvPr/>
        </p:nvSpPr>
        <p:spPr>
          <a:xfrm>
            <a:off x="3547927" y="4122452"/>
            <a:ext cx="102623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异常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4" name="圆角矩形 41">
            <a:extLst>
              <a:ext uri="{FF2B5EF4-FFF2-40B4-BE49-F238E27FC236}">
                <a16:creationId xmlns:a16="http://schemas.microsoft.com/office/drawing/2014/main" id="{1DB91805-5E47-38BE-5D1B-657935EA0433}"/>
              </a:ext>
            </a:extLst>
          </p:cNvPr>
          <p:cNvSpPr/>
          <p:nvPr/>
        </p:nvSpPr>
        <p:spPr>
          <a:xfrm>
            <a:off x="4694838" y="4119877"/>
            <a:ext cx="1040642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中断</a:t>
            </a:r>
            <a:endParaRPr kumimoji="1"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1" name="肘形连接符 71">
            <a:extLst>
              <a:ext uri="{FF2B5EF4-FFF2-40B4-BE49-F238E27FC236}">
                <a16:creationId xmlns:a16="http://schemas.microsoft.com/office/drawing/2014/main" id="{F0C10E8E-5A6A-5E02-303D-1794C6459540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>
            <a:off x="1398896" y="2076956"/>
            <a:ext cx="574332" cy="649613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39">
            <a:extLst>
              <a:ext uri="{FF2B5EF4-FFF2-40B4-BE49-F238E27FC236}">
                <a16:creationId xmlns:a16="http://schemas.microsoft.com/office/drawing/2014/main" id="{FAF0FD3C-7156-9151-F275-4A21F39F00C4}"/>
              </a:ext>
            </a:extLst>
          </p:cNvPr>
          <p:cNvCxnSpPr>
            <a:cxnSpLocks/>
            <a:stCxn id="88" idx="3"/>
            <a:endCxn id="123" idx="1"/>
          </p:cNvCxnSpPr>
          <p:nvPr/>
        </p:nvCxnSpPr>
        <p:spPr>
          <a:xfrm>
            <a:off x="3053228" y="2726569"/>
            <a:ext cx="494699" cy="1614045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913FB02-7E71-4529-17BE-549D5B12BD13}"/>
              </a:ext>
            </a:extLst>
          </p:cNvPr>
          <p:cNvSpPr/>
          <p:nvPr/>
        </p:nvSpPr>
        <p:spPr>
          <a:xfrm>
            <a:off x="123826" y="1162594"/>
            <a:ext cx="8507058" cy="182513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56">
            <a:extLst>
              <a:ext uri="{FF2B5EF4-FFF2-40B4-BE49-F238E27FC236}">
                <a16:creationId xmlns:a16="http://schemas.microsoft.com/office/drawing/2014/main" id="{B498088B-1905-7A6D-651C-1E6DBF83FED0}"/>
              </a:ext>
            </a:extLst>
          </p:cNvPr>
          <p:cNvSpPr/>
          <p:nvPr/>
        </p:nvSpPr>
        <p:spPr>
          <a:xfrm>
            <a:off x="4088784" y="5250600"/>
            <a:ext cx="1344481" cy="88970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拓展：进一步提升处理器性能</a:t>
            </a:r>
          </a:p>
        </p:txBody>
      </p:sp>
      <p:cxnSp>
        <p:nvCxnSpPr>
          <p:cNvPr id="4" name="肘形连接符 83">
            <a:extLst>
              <a:ext uri="{FF2B5EF4-FFF2-40B4-BE49-F238E27FC236}">
                <a16:creationId xmlns:a16="http://schemas.microsoft.com/office/drawing/2014/main" id="{19EAFC29-3132-6D6B-31A4-A3809B2409A8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5433265" y="5163375"/>
            <a:ext cx="564250" cy="532076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86">
            <a:extLst>
              <a:ext uri="{FF2B5EF4-FFF2-40B4-BE49-F238E27FC236}">
                <a16:creationId xmlns:a16="http://schemas.microsoft.com/office/drawing/2014/main" id="{CDAF8E4A-C2B4-093F-1FB5-50069E32E57D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5433265" y="5695451"/>
            <a:ext cx="564249" cy="1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40">
            <a:extLst>
              <a:ext uri="{FF2B5EF4-FFF2-40B4-BE49-F238E27FC236}">
                <a16:creationId xmlns:a16="http://schemas.microsoft.com/office/drawing/2014/main" id="{59250792-05E0-4D42-4479-74DAA273AF30}"/>
              </a:ext>
            </a:extLst>
          </p:cNvPr>
          <p:cNvSpPr/>
          <p:nvPr/>
        </p:nvSpPr>
        <p:spPr>
          <a:xfrm>
            <a:off x="5997515" y="4945213"/>
            <a:ext cx="824058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指令级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并行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圆角矩形 41">
            <a:extLst>
              <a:ext uri="{FF2B5EF4-FFF2-40B4-BE49-F238E27FC236}">
                <a16:creationId xmlns:a16="http://schemas.microsoft.com/office/drawing/2014/main" id="{5C7C20DA-4714-7FA0-7BE0-DE2B8C05BD13}"/>
              </a:ext>
            </a:extLst>
          </p:cNvPr>
          <p:cNvSpPr/>
          <p:nvPr/>
        </p:nvSpPr>
        <p:spPr>
          <a:xfrm>
            <a:off x="6962375" y="4945213"/>
            <a:ext cx="82405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超标量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圆角矩形 41">
            <a:extLst>
              <a:ext uri="{FF2B5EF4-FFF2-40B4-BE49-F238E27FC236}">
                <a16:creationId xmlns:a16="http://schemas.microsoft.com/office/drawing/2014/main" id="{4F92525B-71E1-903F-2E11-FD84D3B67A2D}"/>
              </a:ext>
            </a:extLst>
          </p:cNvPr>
          <p:cNvSpPr/>
          <p:nvPr/>
        </p:nvSpPr>
        <p:spPr>
          <a:xfrm>
            <a:off x="5997514" y="5477290"/>
            <a:ext cx="812512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线程级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并行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圆角矩形 41">
            <a:extLst>
              <a:ext uri="{FF2B5EF4-FFF2-40B4-BE49-F238E27FC236}">
                <a16:creationId xmlns:a16="http://schemas.microsoft.com/office/drawing/2014/main" id="{9261FF62-060C-F21D-5111-864B344E3DF0}"/>
              </a:ext>
            </a:extLst>
          </p:cNvPr>
          <p:cNvSpPr/>
          <p:nvPr/>
        </p:nvSpPr>
        <p:spPr>
          <a:xfrm>
            <a:off x="5987202" y="6009366"/>
            <a:ext cx="812512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异构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计算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0" name="肘形连接符 85">
            <a:extLst>
              <a:ext uri="{FF2B5EF4-FFF2-40B4-BE49-F238E27FC236}">
                <a16:creationId xmlns:a16="http://schemas.microsoft.com/office/drawing/2014/main" id="{2F1A65FF-DA11-9D24-3AB9-21F9FDDC86A7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433265" y="5695451"/>
            <a:ext cx="553937" cy="532077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41">
            <a:extLst>
              <a:ext uri="{FF2B5EF4-FFF2-40B4-BE49-F238E27FC236}">
                <a16:creationId xmlns:a16="http://schemas.microsoft.com/office/drawing/2014/main" id="{9592C310-84EA-35B3-BA54-0AE5B1529122}"/>
              </a:ext>
            </a:extLst>
          </p:cNvPr>
          <p:cNvSpPr/>
          <p:nvPr/>
        </p:nvSpPr>
        <p:spPr>
          <a:xfrm>
            <a:off x="7926627" y="4945212"/>
            <a:ext cx="82265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超长指令字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圆角矩形 41">
            <a:extLst>
              <a:ext uri="{FF2B5EF4-FFF2-40B4-BE49-F238E27FC236}">
                <a16:creationId xmlns:a16="http://schemas.microsoft.com/office/drawing/2014/main" id="{B36E7493-0A27-AD48-6B23-A6F905B5D578}"/>
              </a:ext>
            </a:extLst>
          </p:cNvPr>
          <p:cNvSpPr/>
          <p:nvPr/>
        </p:nvSpPr>
        <p:spPr>
          <a:xfrm>
            <a:off x="6962374" y="5467490"/>
            <a:ext cx="82405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超线程</a:t>
            </a:r>
          </a:p>
        </p:txBody>
      </p:sp>
      <p:sp>
        <p:nvSpPr>
          <p:cNvPr id="13" name="圆角矩形 41">
            <a:extLst>
              <a:ext uri="{FF2B5EF4-FFF2-40B4-BE49-F238E27FC236}">
                <a16:creationId xmlns:a16="http://schemas.microsoft.com/office/drawing/2014/main" id="{54D504CA-926E-08D5-5B8F-13C5B6A8F2AC}"/>
              </a:ext>
            </a:extLst>
          </p:cNvPr>
          <p:cNvSpPr/>
          <p:nvPr/>
        </p:nvSpPr>
        <p:spPr>
          <a:xfrm>
            <a:off x="7926627" y="5467489"/>
            <a:ext cx="82265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多核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4" name="圆角矩形 41">
            <a:extLst>
              <a:ext uri="{FF2B5EF4-FFF2-40B4-BE49-F238E27FC236}">
                <a16:creationId xmlns:a16="http://schemas.microsoft.com/office/drawing/2014/main" id="{CBCCDD12-F35D-340D-8D8E-FA3FBB5879A9}"/>
              </a:ext>
            </a:extLst>
          </p:cNvPr>
          <p:cNvSpPr/>
          <p:nvPr/>
        </p:nvSpPr>
        <p:spPr>
          <a:xfrm>
            <a:off x="6962374" y="6003268"/>
            <a:ext cx="82265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GPU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5" name="圆角矩形 41">
            <a:extLst>
              <a:ext uri="{FF2B5EF4-FFF2-40B4-BE49-F238E27FC236}">
                <a16:creationId xmlns:a16="http://schemas.microsoft.com/office/drawing/2014/main" id="{D197A768-82F8-104B-25F7-956953AF142D}"/>
              </a:ext>
            </a:extLst>
          </p:cNvPr>
          <p:cNvSpPr/>
          <p:nvPr/>
        </p:nvSpPr>
        <p:spPr>
          <a:xfrm>
            <a:off x="7926627" y="6011308"/>
            <a:ext cx="822650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XPU</a:t>
            </a:r>
            <a:endParaRPr kumimoji="1"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6" name="圆角矩形 56">
            <a:extLst>
              <a:ext uri="{FF2B5EF4-FFF2-40B4-BE49-F238E27FC236}">
                <a16:creationId xmlns:a16="http://schemas.microsoft.com/office/drawing/2014/main" id="{39975686-02BB-BFF6-901B-052AB2E83DEA}"/>
              </a:ext>
            </a:extLst>
          </p:cNvPr>
          <p:cNvSpPr/>
          <p:nvPr/>
        </p:nvSpPr>
        <p:spPr>
          <a:xfrm>
            <a:off x="230241" y="5363990"/>
            <a:ext cx="1168655" cy="742610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优化</a:t>
            </a:r>
            <a:endParaRPr kumimoji="1" lang="en-US" altLang="zh-CN" sz="16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流水线</a:t>
            </a:r>
          </a:p>
        </p:txBody>
      </p:sp>
      <p:cxnSp>
        <p:nvCxnSpPr>
          <p:cNvPr id="17" name="肘形连接符 83">
            <a:extLst>
              <a:ext uri="{FF2B5EF4-FFF2-40B4-BE49-F238E27FC236}">
                <a16:creationId xmlns:a16="http://schemas.microsoft.com/office/drawing/2014/main" id="{D2F6924A-705C-4C73-2ACE-B0B8BB33087B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1398896" y="4927571"/>
            <a:ext cx="574332" cy="807724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86">
            <a:extLst>
              <a:ext uri="{FF2B5EF4-FFF2-40B4-BE49-F238E27FC236}">
                <a16:creationId xmlns:a16="http://schemas.microsoft.com/office/drawing/2014/main" id="{34C0CD6B-6EEA-525B-350F-581CA7C27A5D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 flipV="1">
            <a:off x="1398896" y="5467491"/>
            <a:ext cx="584645" cy="267804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40">
            <a:extLst>
              <a:ext uri="{FF2B5EF4-FFF2-40B4-BE49-F238E27FC236}">
                <a16:creationId xmlns:a16="http://schemas.microsoft.com/office/drawing/2014/main" id="{21A62361-02A8-EA3F-65E9-249EA268AEE6}"/>
              </a:ext>
            </a:extLst>
          </p:cNvPr>
          <p:cNvSpPr/>
          <p:nvPr/>
        </p:nvSpPr>
        <p:spPr>
          <a:xfrm>
            <a:off x="1973228" y="4709409"/>
            <a:ext cx="898721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关键路径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0" name="圆角矩形 41">
            <a:extLst>
              <a:ext uri="{FF2B5EF4-FFF2-40B4-BE49-F238E27FC236}">
                <a16:creationId xmlns:a16="http://schemas.microsoft.com/office/drawing/2014/main" id="{75564DDE-A072-2A8B-1DF0-39E12992A6C2}"/>
              </a:ext>
            </a:extLst>
          </p:cNvPr>
          <p:cNvSpPr/>
          <p:nvPr/>
        </p:nvSpPr>
        <p:spPr>
          <a:xfrm>
            <a:off x="2983238" y="4706331"/>
            <a:ext cx="898721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性能瓶颈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1" name="圆角矩形 41">
            <a:extLst>
              <a:ext uri="{FF2B5EF4-FFF2-40B4-BE49-F238E27FC236}">
                <a16:creationId xmlns:a16="http://schemas.microsoft.com/office/drawing/2014/main" id="{CD2743F7-7A02-C530-AF4F-1C79A2F32A33}"/>
              </a:ext>
            </a:extLst>
          </p:cNvPr>
          <p:cNvSpPr/>
          <p:nvPr/>
        </p:nvSpPr>
        <p:spPr>
          <a:xfrm>
            <a:off x="1983541" y="5249329"/>
            <a:ext cx="1898417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数据转发检测与控制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2" name="圆角矩形 41">
            <a:extLst>
              <a:ext uri="{FF2B5EF4-FFF2-40B4-BE49-F238E27FC236}">
                <a16:creationId xmlns:a16="http://schemas.microsoft.com/office/drawing/2014/main" id="{05395158-DBDB-B577-225F-255D18827018}"/>
              </a:ext>
            </a:extLst>
          </p:cNvPr>
          <p:cNvSpPr/>
          <p:nvPr/>
        </p:nvSpPr>
        <p:spPr>
          <a:xfrm>
            <a:off x="1973228" y="5789249"/>
            <a:ext cx="990374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阻塞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圆角矩形 41">
            <a:extLst>
              <a:ext uri="{FF2B5EF4-FFF2-40B4-BE49-F238E27FC236}">
                <a16:creationId xmlns:a16="http://schemas.microsoft.com/office/drawing/2014/main" id="{0FFFB470-020D-FA0F-C6D1-9910AF94DCE6}"/>
              </a:ext>
            </a:extLst>
          </p:cNvPr>
          <p:cNvSpPr/>
          <p:nvPr/>
        </p:nvSpPr>
        <p:spPr>
          <a:xfrm>
            <a:off x="1973228" y="6323454"/>
            <a:ext cx="1493236" cy="436323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提前分支决定</a:t>
            </a:r>
            <a:endParaRPr kumimoji="1" lang="zh-CN" altLang="en-US" sz="1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24" name="肘形连接符 85">
            <a:extLst>
              <a:ext uri="{FF2B5EF4-FFF2-40B4-BE49-F238E27FC236}">
                <a16:creationId xmlns:a16="http://schemas.microsoft.com/office/drawing/2014/main" id="{83E86529-789F-E540-F711-A5F6C912E933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1398896" y="5735295"/>
            <a:ext cx="574332" cy="272116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85">
            <a:extLst>
              <a:ext uri="{FF2B5EF4-FFF2-40B4-BE49-F238E27FC236}">
                <a16:creationId xmlns:a16="http://schemas.microsoft.com/office/drawing/2014/main" id="{D3137D57-187E-D800-E03C-01EDD7CAB505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1398896" y="5735295"/>
            <a:ext cx="574332" cy="806321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7953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A273E-9BC6-8487-BD63-F4C05877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大作业说明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146C6-CBFC-7270-2BA3-02B22F85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/>
          <a:lstStyle/>
          <a:p>
            <a:r>
              <a:rPr kumimoji="1" lang="zh-CN" altLang="en-US" dirty="0"/>
              <a:t>处理器大作业说明（</a:t>
            </a:r>
            <a:r>
              <a:rPr kumimoji="1" lang="en-US" altLang="zh-CN" dirty="0"/>
              <a:t>5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15</a:t>
            </a:r>
            <a:r>
              <a:rPr kumimoji="1" lang="zh-CN" altLang="en-US" dirty="0"/>
              <a:t>日发布，见网络学堂）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内容：单周期处理器 </a:t>
            </a:r>
            <a:r>
              <a:rPr kumimoji="1" lang="en-US" altLang="zh-CN" dirty="0"/>
              <a:t>+ </a:t>
            </a:r>
            <a:r>
              <a:rPr kumimoji="1" lang="zh-CN" altLang="en-US" dirty="0"/>
              <a:t>新指令实现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DDL</a:t>
            </a:r>
            <a:r>
              <a:rPr kumimoji="1" lang="zh-CN" altLang="en-US" dirty="0"/>
              <a:t>：第</a:t>
            </a:r>
            <a:r>
              <a:rPr kumimoji="1" lang="en-US" altLang="zh-CN" dirty="0"/>
              <a:t>19</a:t>
            </a:r>
            <a:r>
              <a:rPr kumimoji="1" lang="zh-CN" altLang="en-US" dirty="0"/>
              <a:t>周周一（</a:t>
            </a:r>
            <a:r>
              <a:rPr kumimoji="1" lang="en-US" altLang="zh-CN" dirty="0"/>
              <a:t>7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</a:t>
            </a:r>
            <a:r>
              <a:rPr kumimoji="1" lang="zh-CN" altLang="en-US" dirty="0"/>
              <a:t>日）</a:t>
            </a:r>
            <a:r>
              <a:rPr kumimoji="1" lang="en-US" altLang="zh-CN" dirty="0"/>
              <a:t>23:59</a:t>
            </a:r>
          </a:p>
          <a:p>
            <a:pPr lvl="1"/>
            <a:r>
              <a:rPr kumimoji="1" lang="zh-CN" altLang="en-US" dirty="0"/>
              <a:t>原则上</a:t>
            </a:r>
            <a:r>
              <a:rPr kumimoji="1" lang="en-US" altLang="zh-CN" dirty="0"/>
              <a:t>DDL</a:t>
            </a:r>
            <a:r>
              <a:rPr kumimoji="1" lang="zh-CN" altLang="en-US" dirty="0"/>
              <a:t>不会延长；毕业生按教学办通知及时提交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如有特殊情况请和助教、老师商量</a:t>
            </a:r>
            <a:endParaRPr kumimoji="1" lang="en-US" altLang="zh-CN" dirty="0"/>
          </a:p>
          <a:p>
            <a:r>
              <a:rPr kumimoji="1" lang="zh-CN" altLang="en-US" dirty="0"/>
              <a:t>大作业查重说明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包括汇编大作业和处理器大作业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鼓励讨论，但是要求所有代码与实验报告均独立完成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严禁抄袭，包括“不恰当地”使用</a:t>
            </a:r>
            <a:r>
              <a:rPr kumimoji="1" lang="en-US" altLang="zh-CN" dirty="0" err="1"/>
              <a:t>ChatGPT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如果被发现抄袭往年“版本”或互相抄袭，会被要求向助教、老师单独解释自己写的代码，如果说不清楚我们将会上报教学办处理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22F1A-EF6F-5B1E-05A0-64E5551F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108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2816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9BB4F-D3A4-744F-861D-695D3BE8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+mn-lt"/>
                <a:ea typeface="+mn-ea"/>
              </a:rPr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D8F2A-D286-4947-A1D3-A3E82369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8226"/>
            <a:ext cx="8342243" cy="51550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要求</a:t>
            </a:r>
            <a:endParaRPr lang="en-CN" altLang="zh-CN" dirty="0"/>
          </a:p>
          <a:p>
            <a:pPr lvl="1"/>
            <a:r>
              <a:rPr lang="zh-CN" altLang="en-US" b="0" dirty="0">
                <a:cs typeface="+mn-cs"/>
              </a:rPr>
              <a:t>标记学号，姓名和班级</a:t>
            </a:r>
            <a:endParaRPr lang="en-US" altLang="zh-CN" b="0" dirty="0">
              <a:cs typeface="+mn-cs"/>
            </a:endParaRPr>
          </a:p>
          <a:p>
            <a:pPr lvl="1"/>
            <a:r>
              <a:rPr lang="zh-CN" altLang="en-US" b="0" dirty="0">
                <a:cs typeface="+mn-cs"/>
              </a:rPr>
              <a:t>不要抄袭或迟交</a:t>
            </a:r>
            <a:endParaRPr lang="en-US" altLang="zh-CN" b="0" dirty="0"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作业</a:t>
            </a:r>
          </a:p>
          <a:p>
            <a:pPr lvl="1"/>
            <a:r>
              <a:rPr lang="zh-CN" altLang="en-US" b="0" dirty="0">
                <a:cs typeface="+mn-cs"/>
              </a:rPr>
              <a:t>第一部分：第</a:t>
            </a:r>
            <a:r>
              <a:rPr lang="en" altLang="zh-CN" b="0" dirty="0">
                <a:cs typeface="+mn-cs"/>
              </a:rPr>
              <a:t>VII</a:t>
            </a:r>
            <a:r>
              <a:rPr lang="zh-CN" altLang="en-US" b="0" dirty="0">
                <a:cs typeface="+mn-cs"/>
              </a:rPr>
              <a:t>章教材习题</a:t>
            </a:r>
            <a:r>
              <a:rPr lang="en-US" altLang="zh-CN" b="0" dirty="0">
                <a:cs typeface="+mn-cs"/>
              </a:rPr>
              <a:t>1</a:t>
            </a:r>
            <a:r>
              <a:rPr lang="zh-CN" altLang="en-US" b="0" dirty="0">
                <a:cs typeface="+mn-cs"/>
              </a:rPr>
              <a:t>，</a:t>
            </a:r>
            <a:r>
              <a:rPr lang="en-US" altLang="zh-CN" b="0" dirty="0">
                <a:cs typeface="+mn-cs"/>
              </a:rPr>
              <a:t>2</a:t>
            </a:r>
            <a:r>
              <a:rPr lang="zh-CN" altLang="en-US" b="0" dirty="0">
                <a:cs typeface="+mn-cs"/>
              </a:rPr>
              <a:t>，</a:t>
            </a:r>
            <a:r>
              <a:rPr lang="en-US" altLang="zh-CN" b="0" dirty="0">
                <a:cs typeface="+mn-cs"/>
              </a:rPr>
              <a:t>3</a:t>
            </a:r>
            <a:r>
              <a:rPr lang="zh-CN" altLang="en-US" b="0" dirty="0">
                <a:cs typeface="+mn-cs"/>
              </a:rPr>
              <a:t>，</a:t>
            </a:r>
            <a:r>
              <a:rPr lang="en-US" altLang="zh-CN" b="0" dirty="0">
                <a:cs typeface="+mn-cs"/>
              </a:rPr>
              <a:t>4</a:t>
            </a:r>
          </a:p>
          <a:p>
            <a:pPr lvl="2"/>
            <a:r>
              <a:rPr lang="zh-CN" altLang="en-US" b="0" dirty="0">
                <a:cs typeface="+mn-cs"/>
              </a:rPr>
              <a:t>以网络学堂作业附件为准</a:t>
            </a:r>
          </a:p>
          <a:p>
            <a:pPr lvl="1"/>
            <a:r>
              <a:rPr lang="zh-CN" altLang="en-US" b="0" dirty="0">
                <a:cs typeface="+mn-cs"/>
              </a:rPr>
              <a:t>第二部分：参考课件中数据通路与控制信号的例子，补充</a:t>
            </a:r>
            <a:r>
              <a:rPr lang="en" altLang="zh-CN" b="0" dirty="0">
                <a:cs typeface="+mn-cs"/>
              </a:rPr>
              <a:t>sw</a:t>
            </a:r>
            <a:r>
              <a:rPr lang="zh-CN" altLang="en-US" b="0" dirty="0">
                <a:cs typeface="+mn-cs"/>
              </a:rPr>
              <a:t>指令的控制信号，并指出各控制信号在哪个流水阶段（</a:t>
            </a:r>
            <a:r>
              <a:rPr lang="en" altLang="zh-CN" b="0" dirty="0">
                <a:cs typeface="+mn-cs"/>
              </a:rPr>
              <a:t>IF</a:t>
            </a:r>
            <a:r>
              <a:rPr lang="zh-CN" altLang="en" b="0" dirty="0">
                <a:cs typeface="+mn-cs"/>
              </a:rPr>
              <a:t>、</a:t>
            </a:r>
            <a:r>
              <a:rPr lang="en" altLang="zh-CN" b="0" dirty="0">
                <a:cs typeface="+mn-cs"/>
              </a:rPr>
              <a:t>ID</a:t>
            </a:r>
            <a:r>
              <a:rPr lang="zh-CN" altLang="en" b="0" dirty="0">
                <a:cs typeface="+mn-cs"/>
              </a:rPr>
              <a:t>、</a:t>
            </a:r>
            <a:r>
              <a:rPr lang="en" altLang="zh-CN" b="0" dirty="0">
                <a:cs typeface="+mn-cs"/>
              </a:rPr>
              <a:t>EX</a:t>
            </a:r>
            <a:r>
              <a:rPr lang="zh-CN" altLang="en" b="0" dirty="0">
                <a:cs typeface="+mn-cs"/>
              </a:rPr>
              <a:t>、</a:t>
            </a:r>
            <a:r>
              <a:rPr lang="en" altLang="zh-CN" b="0" dirty="0">
                <a:cs typeface="+mn-cs"/>
              </a:rPr>
              <a:t>MEM</a:t>
            </a:r>
            <a:r>
              <a:rPr lang="zh-CN" altLang="en" b="0" dirty="0">
                <a:cs typeface="+mn-cs"/>
              </a:rPr>
              <a:t>、</a:t>
            </a:r>
            <a:r>
              <a:rPr lang="en" altLang="zh-CN" b="0" dirty="0">
                <a:cs typeface="+mn-cs"/>
              </a:rPr>
              <a:t>WB</a:t>
            </a:r>
            <a:r>
              <a:rPr lang="zh-CN" altLang="en" b="0" dirty="0">
                <a:cs typeface="+mn-cs"/>
              </a:rPr>
              <a:t>）</a:t>
            </a:r>
            <a:r>
              <a:rPr lang="zh-CN" altLang="en-US" b="0" dirty="0">
                <a:cs typeface="+mn-cs"/>
              </a:rPr>
              <a:t>被使用</a:t>
            </a:r>
          </a:p>
          <a:p>
            <a:pPr lvl="1"/>
            <a:endParaRPr lang="zh-CN" altLang="en-US" b="0" dirty="0">
              <a:cs typeface="+mn-cs"/>
            </a:endParaRPr>
          </a:p>
          <a:p>
            <a:pPr lvl="1"/>
            <a:endParaRPr lang="en-US" altLang="zh-CN" b="0" dirty="0"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AFAC5-5C4E-BE41-9D27-AD3AC399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109</a:t>
            </a:fld>
            <a:endParaRPr lang="en-US" altLang="zh-CN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26634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E71E20-9F08-4D4E-B049-A3E86D8C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110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6E105B-C66E-4663-BFBE-144E57178B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结合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上述</a:t>
            </a:r>
            <a:r>
              <a:rPr lang="en-US" altLang="zh-CN" sz="2800" b="1" dirty="0">
                <a:latin typeface="+mj-ea"/>
                <a:ea typeface="+mj-ea"/>
                <a:sym typeface="Microsoft Yahei" panose="020B0503020204020204" pitchFamily="34" charset="-122"/>
              </a:rPr>
              <a:t>4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输入加法器的实现，以下关于单周期和多周期的描述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错误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的是</a:t>
            </a:r>
            <a:r>
              <a:rPr lang="zh-CN" altLang="en-US" sz="2800" b="1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？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B0B1B1-7547-4C82-A280-F6D3CF3B8E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7691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单周期实现的关键路径往往比多周期实现长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8DA369-83FA-4513-8210-98EFCAED03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706777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多周期实现的硬件资源利用率（平均使用时间比例）一定比单周期实现高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99F38C-3D47-4B53-BACB-776E85C1B42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单周期实现的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一般比多周期实现低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FE56D-C7CB-4DDA-A900-D9DCF653A70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多周期相比单周期有可能具有资源优势，但是可能会降低一些指令的执行速度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B20DA09-CC54-4818-93EA-4B7F93EF36D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9D34A02-7A40-4D8D-8B90-7D5A918E835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AB8C9E5-7CA1-4604-9F3C-7ADAD805FE0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F5F04C9-1694-4670-8064-C6D7E12CA2B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9C59F3F-0967-4D6D-A480-0964DE735F1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317F36C-7129-467F-B78E-F34D22EC5AC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F3E8F45E-6333-4D7D-9CC3-50B73B4CC43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91B02158-FB19-48D4-B0D7-E6E65831667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F50B26CB-0C91-471D-ABC0-B90E3088C16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5644FC97-0EAB-459B-AFDD-581C2DE5FC3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8C53405-051E-4ACB-A208-673341F4D30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10562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4B068-F726-4EB6-9296-7AC313C4C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A9442-65A6-4BA2-BA1B-6B134B3FC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359698" cy="4525963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结合上述</a:t>
            </a:r>
            <a:r>
              <a:rPr lang="en-US" altLang="zh-CN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输入加法器的实现，以下关于单周期和多周期的描述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错误</a:t>
            </a: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Microsoft Yahei" panose="020B0503020204020204" pitchFamily="34" charset="-122"/>
              </a:rPr>
              <a:t>的是？</a:t>
            </a:r>
          </a:p>
          <a:p>
            <a:pPr marL="514350" indent="-514350">
              <a:buAutoNum type="alphaUcPeriod"/>
            </a:pPr>
            <a:r>
              <a:rPr lang="zh-CN" altLang="en-US" sz="2000" dirty="0"/>
              <a:t>单周期实现的关键路径往往比多周期实现长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zh-CN" altLang="en-US" sz="2000" dirty="0">
                <a:solidFill>
                  <a:srgbClr val="3333FF"/>
                </a:solidFill>
              </a:rPr>
              <a:t>多周期实现的硬件资源利用率（平均使用时间比例）一定比单周期实现高</a:t>
            </a:r>
            <a:endParaRPr lang="en-US" altLang="zh-CN" sz="2000" dirty="0">
              <a:solidFill>
                <a:srgbClr val="3333FF"/>
              </a:solidFill>
            </a:endParaRPr>
          </a:p>
          <a:p>
            <a:pPr marL="514350" indent="-514350">
              <a:buAutoNum type="alphaUcPeriod"/>
            </a:pPr>
            <a:r>
              <a:rPr lang="zh-CN" altLang="en-US" sz="2000" dirty="0"/>
              <a:t>单周期实现的</a:t>
            </a:r>
            <a:r>
              <a:rPr lang="en-US" altLang="zh-CN" sz="2000" dirty="0"/>
              <a:t>CPI</a:t>
            </a:r>
            <a:r>
              <a:rPr lang="zh-CN" altLang="en-US" sz="2000" dirty="0"/>
              <a:t>一般比多周期实现低</a:t>
            </a:r>
            <a:endParaRPr lang="en-US" altLang="zh-CN" sz="2000" dirty="0"/>
          </a:p>
          <a:p>
            <a:pPr marL="514350" indent="-514350">
              <a:buAutoNum type="alphaUcPeriod"/>
            </a:pPr>
            <a:r>
              <a:rPr lang="zh-CN" altLang="en-US" sz="2000" dirty="0"/>
              <a:t>多周期相比单周期有可能具有资源优势，但是可能会降低一些指令的执行速度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B6029-7F08-42EA-860F-9B65B50D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6FCE3-5FF9-430D-BA0B-DE80AAE71673}" type="slidenum">
              <a:rPr lang="zh-CN" altLang="en-US" smtClean="0"/>
              <a:t>111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0B913A9-5A21-FDEC-6F0D-ECFCD6233BE3}"/>
              </a:ext>
            </a:extLst>
          </p:cNvPr>
          <p:cNvSpPr txBox="1">
            <a:spLocks/>
          </p:cNvSpPr>
          <p:nvPr/>
        </p:nvSpPr>
        <p:spPr bwMode="auto">
          <a:xfrm>
            <a:off x="327102" y="4019569"/>
            <a:ext cx="8229600" cy="2786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1" lang="zh-CN" altLang="en-US" sz="2400" kern="0" dirty="0">
                <a:solidFill>
                  <a:srgbClr val="3333FF"/>
                </a:solidFill>
              </a:rPr>
              <a:t>解答：</a:t>
            </a:r>
            <a:r>
              <a:rPr kumimoji="1" lang="en-US" altLang="zh-CN" sz="2400" kern="0" dirty="0">
                <a:solidFill>
                  <a:srgbClr val="3333FF"/>
                </a:solidFill>
              </a:rPr>
              <a:t>B</a:t>
            </a:r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A</a:t>
            </a:r>
            <a:r>
              <a:rPr lang="zh-CN" altLang="en-US" sz="2000" dirty="0"/>
              <a:t>项，单周期的思路是将计算流程铺平，在一个周期内完成所有计算，因此关键路径更长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rgbClr val="3333FF"/>
                </a:solidFill>
              </a:rPr>
              <a:t>对于</a:t>
            </a:r>
            <a:r>
              <a:rPr lang="en-US" altLang="zh-CN" sz="2000" dirty="0">
                <a:solidFill>
                  <a:srgbClr val="3333FF"/>
                </a:solidFill>
              </a:rPr>
              <a:t>B</a:t>
            </a:r>
            <a:r>
              <a:rPr lang="zh-CN" altLang="en-US" sz="2000" dirty="0">
                <a:solidFill>
                  <a:srgbClr val="3333FF"/>
                </a:solidFill>
              </a:rPr>
              <a:t>项，若无可复用的硬件，则利用率不会更高，即硬件数目</a:t>
            </a:r>
            <a:r>
              <a:rPr lang="en-US" altLang="zh-CN" sz="2000" dirty="0">
                <a:solidFill>
                  <a:srgbClr val="3333FF"/>
                </a:solidFill>
              </a:rPr>
              <a:t>/</a:t>
            </a:r>
            <a:r>
              <a:rPr lang="zh-CN" altLang="en-US" sz="2000" dirty="0">
                <a:solidFill>
                  <a:srgbClr val="3333FF"/>
                </a:solidFill>
              </a:rPr>
              <a:t>规模不会更少</a:t>
            </a:r>
            <a:endParaRPr kumimoji="1" lang="en-US" altLang="zh-CN" sz="2000" kern="0" dirty="0"/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C</a:t>
            </a:r>
            <a:r>
              <a:rPr lang="zh-CN" altLang="en-US" sz="2000" dirty="0"/>
              <a:t>项，单周期的</a:t>
            </a:r>
            <a:r>
              <a:rPr lang="en-US" altLang="zh-CN" sz="2000" dirty="0"/>
              <a:t>CPI</a:t>
            </a:r>
            <a:r>
              <a:rPr lang="zh-CN" altLang="en-US" sz="2000" dirty="0"/>
              <a:t>是</a:t>
            </a:r>
            <a:r>
              <a:rPr lang="en-US" altLang="zh-CN" sz="2000" dirty="0"/>
              <a:t>1</a:t>
            </a:r>
            <a:r>
              <a:rPr lang="zh-CN" altLang="en-US" sz="2000" dirty="0"/>
              <a:t>，多周期往往大于</a:t>
            </a:r>
            <a:r>
              <a:rPr lang="en-US" altLang="zh-CN" sz="2000" dirty="0"/>
              <a:t>1</a:t>
            </a:r>
            <a:endParaRPr kumimoji="1" lang="zh-CN" altLang="en-US" sz="2000" kern="0" dirty="0"/>
          </a:p>
          <a:p>
            <a:pPr lvl="1"/>
            <a:r>
              <a:rPr lang="zh-CN" altLang="en-US" sz="2000" dirty="0"/>
              <a:t>对于</a:t>
            </a:r>
            <a:r>
              <a:rPr lang="en-US" altLang="zh-CN" sz="2000" dirty="0"/>
              <a:t>D</a:t>
            </a:r>
            <a:r>
              <a:rPr lang="zh-CN" altLang="en-US" sz="2000" dirty="0"/>
              <a:t>项，上述例子中，多周期只需要一个加法器，但时钟周期更多且计算延时更长</a:t>
            </a:r>
            <a:endParaRPr kumimoji="1" lang="en-US" altLang="zh-CN" sz="2000" kern="0" dirty="0"/>
          </a:p>
          <a:p>
            <a:pPr lvl="1"/>
            <a:endParaRPr kumimoji="1"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51033381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FBF1B96-DE9B-DD7A-FAA7-E7D37A0DC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4894" y="4957494"/>
            <a:ext cx="3396191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并行执行多条指令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多条路多辆车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优点：更高的吞吐量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现在的瓶颈？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11EBF9-1DE3-2526-5265-55AE21F94990}"/>
              </a:ext>
            </a:extLst>
          </p:cNvPr>
          <p:cNvGrpSpPr/>
          <p:nvPr/>
        </p:nvGrpSpPr>
        <p:grpSpPr>
          <a:xfrm>
            <a:off x="6081004" y="4814287"/>
            <a:ext cx="2605796" cy="1789632"/>
            <a:chOff x="7154471" y="3554250"/>
            <a:chExt cx="2605796" cy="1789632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7154471" y="3755866"/>
              <a:ext cx="173906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154471" y="4490005"/>
              <a:ext cx="135244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7172529" y="5180752"/>
              <a:ext cx="135244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Graphic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7490988" y="3554250"/>
              <a:ext cx="950375" cy="474911"/>
            </a:xfrm>
            <a:prstGeom prst="rect">
              <a:avLst/>
            </a:prstGeom>
          </p:spPr>
        </p:pic>
        <p:pic>
          <p:nvPicPr>
            <p:cNvPr id="24" name="Graphic 2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488497" y="4239651"/>
              <a:ext cx="656574" cy="413484"/>
            </a:xfrm>
            <a:prstGeom prst="rect">
              <a:avLst/>
            </a:prstGeom>
          </p:spPr>
        </p:pic>
        <p:pic>
          <p:nvPicPr>
            <p:cNvPr id="25" name="Graphic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495582" y="4919113"/>
              <a:ext cx="656574" cy="413484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7159447" y="3918996"/>
              <a:ext cx="13538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159447" y="4653135"/>
              <a:ext cx="13538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177505" y="5343882"/>
              <a:ext cx="1716029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8506917" y="3918996"/>
              <a:ext cx="0" cy="57100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8513267" y="4653135"/>
              <a:ext cx="0" cy="527617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8893534" y="3755866"/>
              <a:ext cx="0" cy="392782"/>
            </a:xfrm>
            <a:prstGeom prst="line">
              <a:avLst/>
            </a:prstGeom>
            <a:ln w="25400" cap="rnd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8893534" y="4890466"/>
              <a:ext cx="0" cy="453416"/>
            </a:xfrm>
            <a:prstGeom prst="line">
              <a:avLst/>
            </a:prstGeom>
            <a:ln w="25400" cap="rnd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8893534" y="4148648"/>
              <a:ext cx="721458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8893534" y="4890466"/>
              <a:ext cx="721458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9" name="Graphic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8624382" y="4434088"/>
              <a:ext cx="656574" cy="413484"/>
            </a:xfrm>
            <a:prstGeom prst="rect">
              <a:avLst/>
            </a:prstGeom>
          </p:spPr>
        </p:pic>
        <p:pic>
          <p:nvPicPr>
            <p:cNvPr id="70" name="Graphic 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8607277" y="4021497"/>
              <a:ext cx="656574" cy="413484"/>
            </a:xfrm>
            <a:prstGeom prst="rect">
              <a:avLst/>
            </a:prstGeom>
          </p:spPr>
        </p:pic>
        <p:grpSp>
          <p:nvGrpSpPr>
            <p:cNvPr id="99" name="Group 98"/>
            <p:cNvGrpSpPr/>
            <p:nvPr/>
          </p:nvGrpSpPr>
          <p:grpSpPr>
            <a:xfrm>
              <a:off x="9267610" y="3656040"/>
              <a:ext cx="389495" cy="400145"/>
              <a:chOff x="6874669" y="2076450"/>
              <a:chExt cx="609600" cy="626269"/>
            </a:xfrm>
            <a:solidFill>
              <a:srgbClr val="0070C0"/>
            </a:solidFill>
          </p:grpSpPr>
          <p:sp>
            <p:nvSpPr>
              <p:cNvPr id="68" name="Oval 67"/>
              <p:cNvSpPr/>
              <p:nvPr/>
            </p:nvSpPr>
            <p:spPr>
              <a:xfrm>
                <a:off x="6986230" y="2152792"/>
                <a:ext cx="220979" cy="2209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Rectangle: Top Corners Rounded 70"/>
              <p:cNvSpPr/>
              <p:nvPr/>
            </p:nvSpPr>
            <p:spPr>
              <a:xfrm>
                <a:off x="6986229" y="2386084"/>
                <a:ext cx="220980" cy="202203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>
                <a:off x="7188484" y="2443538"/>
                <a:ext cx="90997" cy="90997"/>
              </a:xfrm>
              <a:prstGeom prst="line">
                <a:avLst/>
              </a:prstGeom>
              <a:grpFill/>
              <a:ln w="7620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7279481" y="2541970"/>
                <a:ext cx="115854" cy="0"/>
              </a:xfrm>
              <a:prstGeom prst="line">
                <a:avLst/>
              </a:prstGeom>
              <a:grpFill/>
              <a:ln w="698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flipV="1">
                <a:off x="7362558" y="2076450"/>
                <a:ext cx="0" cy="276225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874669" y="2076450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V="1">
                <a:off x="7362558" y="2638425"/>
                <a:ext cx="0" cy="64294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6874669" y="2702719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flipV="1">
                <a:off x="6874669" y="2076450"/>
                <a:ext cx="0" cy="626269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7395335" y="2443538"/>
                <a:ext cx="88934" cy="0"/>
              </a:xfrm>
              <a:prstGeom prst="line">
                <a:avLst/>
              </a:prstGeom>
              <a:grpFill/>
              <a:ln w="508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Group 112"/>
            <p:cNvGrpSpPr/>
            <p:nvPr/>
          </p:nvGrpSpPr>
          <p:grpSpPr>
            <a:xfrm>
              <a:off x="9370772" y="4186034"/>
              <a:ext cx="389495" cy="400145"/>
              <a:chOff x="6874669" y="2076450"/>
              <a:chExt cx="609600" cy="626269"/>
            </a:xfrm>
            <a:solidFill>
              <a:srgbClr val="0070C0"/>
            </a:solidFill>
          </p:grpSpPr>
          <p:sp>
            <p:nvSpPr>
              <p:cNvPr id="114" name="Oval 113"/>
              <p:cNvSpPr/>
              <p:nvPr/>
            </p:nvSpPr>
            <p:spPr>
              <a:xfrm>
                <a:off x="6986230" y="2152792"/>
                <a:ext cx="220979" cy="2209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Rectangle: Top Corners Rounded 114"/>
              <p:cNvSpPr/>
              <p:nvPr/>
            </p:nvSpPr>
            <p:spPr>
              <a:xfrm>
                <a:off x="6986229" y="2386084"/>
                <a:ext cx="220980" cy="202203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7188484" y="2443538"/>
                <a:ext cx="90997" cy="90997"/>
              </a:xfrm>
              <a:prstGeom prst="line">
                <a:avLst/>
              </a:prstGeom>
              <a:grpFill/>
              <a:ln w="7620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7279481" y="2541970"/>
                <a:ext cx="115854" cy="0"/>
              </a:xfrm>
              <a:prstGeom prst="line">
                <a:avLst/>
              </a:prstGeom>
              <a:grpFill/>
              <a:ln w="698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 flipV="1">
                <a:off x="7362558" y="2076450"/>
                <a:ext cx="0" cy="276225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6874669" y="2076450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7362558" y="2638425"/>
                <a:ext cx="0" cy="64294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874669" y="2702719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V="1">
                <a:off x="6874669" y="2076450"/>
                <a:ext cx="0" cy="626269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7395335" y="2443538"/>
                <a:ext cx="88934" cy="0"/>
              </a:xfrm>
              <a:prstGeom prst="line">
                <a:avLst/>
              </a:prstGeom>
              <a:grpFill/>
              <a:ln w="508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6" name="Straight Arrow Connector 125"/>
          <p:cNvCxnSpPr>
            <a:cxnSpLocks/>
            <a:stCxn id="23" idx="0"/>
          </p:cNvCxnSpPr>
          <p:nvPr/>
        </p:nvCxnSpPr>
        <p:spPr>
          <a:xfrm flipH="1" flipV="1">
            <a:off x="6415030" y="4447619"/>
            <a:ext cx="477678" cy="366668"/>
          </a:xfrm>
          <a:prstGeom prst="straightConnector1">
            <a:avLst/>
          </a:prstGeom>
          <a:ln w="63500" cap="rnd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C91549-2C11-93B9-417C-D628D7384E1F}"/>
              </a:ext>
            </a:extLst>
          </p:cNvPr>
          <p:cNvGrpSpPr/>
          <p:nvPr/>
        </p:nvGrpSpPr>
        <p:grpSpPr>
          <a:xfrm rot="5400000">
            <a:off x="3097260" y="1095602"/>
            <a:ext cx="2618983" cy="4351779"/>
            <a:chOff x="3603199" y="3384550"/>
            <a:chExt cx="1634779" cy="2716396"/>
          </a:xfrm>
        </p:grpSpPr>
        <p:sp>
          <p:nvSpPr>
            <p:cNvPr id="21" name="Rectangle 20"/>
            <p:cNvSpPr/>
            <p:nvPr/>
          </p:nvSpPr>
          <p:spPr>
            <a:xfrm>
              <a:off x="3786912" y="3577884"/>
              <a:ext cx="1175041" cy="732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4789483" y="3389626"/>
              <a:ext cx="427838" cy="2495251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pic>
          <p:nvPicPr>
            <p:cNvPr id="12" name="Graphic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5993215" flipH="1">
              <a:off x="4028251" y="4734786"/>
              <a:ext cx="950375" cy="474911"/>
            </a:xfrm>
            <a:prstGeom prst="rect">
              <a:avLst/>
            </a:prstGeom>
          </p:spPr>
        </p:pic>
        <p:pic>
          <p:nvPicPr>
            <p:cNvPr id="22" name="Graphic 2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7114086" flipH="1">
              <a:off x="3597229" y="3585731"/>
              <a:ext cx="656574" cy="413484"/>
            </a:xfrm>
            <a:prstGeom prst="rect">
              <a:avLst/>
            </a:prstGeom>
          </p:spPr>
        </p:pic>
        <p:sp>
          <p:nvSpPr>
            <p:cNvPr id="3" name="Freeform: Shape 2"/>
            <p:cNvSpPr/>
            <p:nvPr/>
          </p:nvSpPr>
          <p:spPr>
            <a:xfrm>
              <a:off x="4043676" y="3429000"/>
              <a:ext cx="897824" cy="2448273"/>
            </a:xfrm>
            <a:custGeom>
              <a:avLst/>
              <a:gdLst>
                <a:gd name="connsiteX0" fmla="*/ 1484466 w 1484466"/>
                <a:gd name="connsiteY0" fmla="*/ 0 h 2533650"/>
                <a:gd name="connsiteX1" fmla="*/ 208116 w 1484466"/>
                <a:gd name="connsiteY1" fmla="*/ 406400 h 2533650"/>
                <a:gd name="connsiteX2" fmla="*/ 112866 w 1484466"/>
                <a:gd name="connsiteY2" fmla="*/ 2082800 h 2533650"/>
                <a:gd name="connsiteX3" fmla="*/ 1325716 w 1484466"/>
                <a:gd name="connsiteY3" fmla="*/ 2533650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4466" h="2533650">
                  <a:moveTo>
                    <a:pt x="1484466" y="0"/>
                  </a:moveTo>
                  <a:cubicBezTo>
                    <a:pt x="960591" y="29633"/>
                    <a:pt x="436716" y="59267"/>
                    <a:pt x="208116" y="406400"/>
                  </a:cubicBezTo>
                  <a:cubicBezTo>
                    <a:pt x="-20484" y="753533"/>
                    <a:pt x="-73401" y="1728258"/>
                    <a:pt x="112866" y="2082800"/>
                  </a:cubicBezTo>
                  <a:cubicBezTo>
                    <a:pt x="299133" y="2437342"/>
                    <a:pt x="812424" y="2485496"/>
                    <a:pt x="1325716" y="2533650"/>
                  </a:cubicBezTo>
                </a:path>
              </a:pathLst>
            </a:custGeom>
            <a:noFill/>
            <a:ln w="38100"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600" dirty="0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4616397" y="3384550"/>
              <a:ext cx="378013" cy="2501900"/>
            </a:xfrm>
            <a:custGeom>
              <a:avLst/>
              <a:gdLst>
                <a:gd name="connsiteX0" fmla="*/ 378013 w 378013"/>
                <a:gd name="connsiteY0" fmla="*/ 0 h 2501900"/>
                <a:gd name="connsiteX1" fmla="*/ 9713 w 378013"/>
                <a:gd name="connsiteY1" fmla="*/ 628650 h 2501900"/>
                <a:gd name="connsiteX2" fmla="*/ 143063 w 378013"/>
                <a:gd name="connsiteY2" fmla="*/ 250190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8013" h="2501900">
                  <a:moveTo>
                    <a:pt x="378013" y="0"/>
                  </a:moveTo>
                  <a:cubicBezTo>
                    <a:pt x="213442" y="105833"/>
                    <a:pt x="48871" y="211667"/>
                    <a:pt x="9713" y="628650"/>
                  </a:cubicBezTo>
                  <a:cubicBezTo>
                    <a:pt x="-29445" y="1045633"/>
                    <a:pt x="56809" y="1773766"/>
                    <a:pt x="143063" y="2501900"/>
                  </a:cubicBezTo>
                </a:path>
              </a:pathLst>
            </a:cu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pic>
          <p:nvPicPr>
            <p:cNvPr id="62" name="Graphic 6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 flipH="1">
              <a:off x="3481654" y="4474333"/>
              <a:ext cx="656574" cy="413484"/>
            </a:xfrm>
            <a:prstGeom prst="rect">
              <a:avLst/>
            </a:prstGeom>
          </p:spPr>
        </p:pic>
        <p:pic>
          <p:nvPicPr>
            <p:cNvPr id="64" name="Graphic 6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 flipH="1">
              <a:off x="4057278" y="3792122"/>
              <a:ext cx="656574" cy="413484"/>
            </a:xfrm>
            <a:prstGeom prst="rect">
              <a:avLst/>
            </a:prstGeom>
          </p:spPr>
        </p:pic>
        <p:pic>
          <p:nvPicPr>
            <p:cNvPr id="66" name="Graphic 6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3993845" flipH="1">
              <a:off x="3553349" y="5388303"/>
              <a:ext cx="950375" cy="474911"/>
            </a:xfrm>
            <a:prstGeom prst="rect">
              <a:avLst/>
            </a:prstGeom>
          </p:spPr>
        </p:pic>
        <p:pic>
          <p:nvPicPr>
            <p:cNvPr id="72" name="Graphic 7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5679667" flipH="1">
              <a:off x="4525335" y="3876100"/>
              <a:ext cx="950375" cy="474911"/>
            </a:xfrm>
            <a:prstGeom prst="rect">
              <a:avLst/>
            </a:prstGeom>
          </p:spPr>
        </p:pic>
        <p:pic>
          <p:nvPicPr>
            <p:cNvPr id="74" name="Graphic 7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622490" flipH="1">
              <a:off x="4619703" y="4785110"/>
              <a:ext cx="656574" cy="413484"/>
            </a:xfrm>
            <a:prstGeom prst="rect">
              <a:avLst/>
            </a:prstGeom>
          </p:spPr>
        </p:pic>
      </p:grp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127D8-7825-9CF8-58E6-00859598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112</a:t>
            </a:fld>
            <a:endParaRPr lang="en-US" altLang="zh-CN"/>
          </a:p>
        </p:txBody>
      </p:sp>
      <p:sp>
        <p:nvSpPr>
          <p:cNvPr id="13" name="Star: 5 Points 15">
            <a:extLst>
              <a:ext uri="{FF2B5EF4-FFF2-40B4-BE49-F238E27FC236}">
                <a16:creationId xmlns:a16="http://schemas.microsoft.com/office/drawing/2014/main" id="{BF7D703B-2D8F-80B5-8148-2A4ECE550059}"/>
              </a:ext>
            </a:extLst>
          </p:cNvPr>
          <p:cNvSpPr/>
          <p:nvPr/>
        </p:nvSpPr>
        <p:spPr>
          <a:xfrm>
            <a:off x="6296094" y="3945536"/>
            <a:ext cx="441056" cy="441056"/>
          </a:xfrm>
          <a:prstGeom prst="star5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12064EA-28AD-1BF0-6944-4B066BA9241F}"/>
              </a:ext>
            </a:extLst>
          </p:cNvPr>
          <p:cNvGrpSpPr/>
          <p:nvPr/>
        </p:nvGrpSpPr>
        <p:grpSpPr>
          <a:xfrm>
            <a:off x="2385125" y="3659107"/>
            <a:ext cx="367511" cy="367511"/>
            <a:chOff x="2315396" y="3912086"/>
            <a:chExt cx="367511" cy="36751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930EE88-B51E-03AB-DEDD-7EFE28E180D7}"/>
                </a:ext>
              </a:extLst>
            </p:cNvPr>
            <p:cNvSpPr/>
            <p:nvPr/>
          </p:nvSpPr>
          <p:spPr>
            <a:xfrm>
              <a:off x="2315396" y="3912086"/>
              <a:ext cx="367511" cy="36751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873424-0822-6D51-0619-D3CF12DED4EA}"/>
                </a:ext>
              </a:extLst>
            </p:cNvPr>
            <p:cNvSpPr/>
            <p:nvPr/>
          </p:nvSpPr>
          <p:spPr>
            <a:xfrm>
              <a:off x="2416044" y="4012734"/>
              <a:ext cx="166215" cy="16621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187FFD6-8739-45C0-9F43-21835C37F6F9}"/>
                  </a:ext>
                </a:extLst>
              </p14:cNvPr>
              <p14:cNvContentPartPr/>
              <p14:nvPr/>
            </p14:nvContentPartPr>
            <p14:xfrm>
              <a:off x="9040320" y="154908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187FFD6-8739-45C0-9F43-21835C37F6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30960" y="1539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455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D73D42E5-65F8-49CB-AA63-31DE61D9719E}" vid="{1606607D-0718-434D-922D-85E487FE023B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主题1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D73D42E5-65F8-49CB-AA63-31DE61D9719E}" vid="{1606607D-0718-434D-922D-85E487FE023B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26199</TotalTime>
  <Words>11194</Words>
  <Application>Microsoft Office PowerPoint</Application>
  <PresentationFormat>全屏显示(4:3)</PresentationFormat>
  <Paragraphs>3711</Paragraphs>
  <Slides>112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112</vt:i4>
      </vt:variant>
    </vt:vector>
  </HeadingPairs>
  <TitlesOfParts>
    <vt:vector size="128" baseType="lpstr">
      <vt:lpstr>Courier</vt:lpstr>
      <vt:lpstr>Microsoft Yahei</vt:lpstr>
      <vt:lpstr>等线</vt:lpstr>
      <vt:lpstr>等线 Light</vt:lpstr>
      <vt:lpstr>黑体</vt:lpstr>
      <vt:lpstr>黑体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主题1</vt:lpstr>
      <vt:lpstr>1_默认设计模板</vt:lpstr>
      <vt:lpstr>1_主题1</vt:lpstr>
      <vt:lpstr>PowerPoint 演示文稿</vt:lpstr>
      <vt:lpstr>微体系结构</vt:lpstr>
      <vt:lpstr>本讲学习目标</vt:lpstr>
      <vt:lpstr>本节课目录</vt:lpstr>
      <vt:lpstr>回顾：单周期处理器</vt:lpstr>
      <vt:lpstr>回顾：单周期数据通路</vt:lpstr>
      <vt:lpstr>回顾：多周期实现</vt:lpstr>
      <vt:lpstr>回顾：多周期数据通路</vt:lpstr>
      <vt:lpstr>回顾：多周期状态转移</vt:lpstr>
      <vt:lpstr>回顾：多周期处理器</vt:lpstr>
      <vt:lpstr>回顾：CPU的性能</vt:lpstr>
      <vt:lpstr>举例：单周期到多周期</vt:lpstr>
      <vt:lpstr>举例：单周期到多周期</vt:lpstr>
      <vt:lpstr>单周期到多周期</vt:lpstr>
      <vt:lpstr>单周期到多周期</vt:lpstr>
      <vt:lpstr>单周期到多周期</vt:lpstr>
      <vt:lpstr>回顾：单周期与多周期方案的对比</vt:lpstr>
      <vt:lpstr>影响性能的因素</vt:lpstr>
      <vt:lpstr>影响性能的因素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流水线的基本概念</vt:lpstr>
      <vt:lpstr>单周期 vs 多周期 vs 流水线</vt:lpstr>
      <vt:lpstr>流水线的瓶颈</vt:lpstr>
      <vt:lpstr>流水线的性能</vt:lpstr>
      <vt:lpstr>流水线的性能</vt:lpstr>
      <vt:lpstr>流水线的性能</vt:lpstr>
      <vt:lpstr>PowerPoint 演示文稿</vt:lpstr>
      <vt:lpstr>答案解析</vt:lpstr>
      <vt:lpstr>本节课目录</vt:lpstr>
      <vt:lpstr>针对流水线结构的指令集设计</vt:lpstr>
      <vt:lpstr>流水线MIPS子集</vt:lpstr>
      <vt:lpstr>针对流水线结构的指令集设计</vt:lpstr>
      <vt:lpstr>流水线的数据通路</vt:lpstr>
      <vt:lpstr>流水线的数据通路</vt:lpstr>
      <vt:lpstr>流水线的数据通路</vt:lpstr>
      <vt:lpstr>流水线的数据通路</vt:lpstr>
      <vt:lpstr>流水线的数据通路：级间寄存器</vt:lpstr>
      <vt:lpstr>流水线的数据通路</vt:lpstr>
      <vt:lpstr>流水线的数据通路</vt:lpstr>
      <vt:lpstr>流水线的数据通路</vt:lpstr>
      <vt:lpstr>流水线的数据通路</vt:lpstr>
      <vt:lpstr>流水线的数据通路</vt:lpstr>
      <vt:lpstr>流水线的数据通路</vt:lpstr>
      <vt:lpstr>流水线的数据通路：例子</vt:lpstr>
      <vt:lpstr>流水线的数据通路：LW指令</vt:lpstr>
      <vt:lpstr>流水线的数据通路：LW指令</vt:lpstr>
      <vt:lpstr>流水线的数据通路：LW指令</vt:lpstr>
      <vt:lpstr>流水线的数据通路：LW指令</vt:lpstr>
      <vt:lpstr>流水线的数据通路：LW指令</vt:lpstr>
      <vt:lpstr>流水线的数据通路：LW指令</vt:lpstr>
      <vt:lpstr>流水线的数据通路：ADD指令</vt:lpstr>
      <vt:lpstr>流水线的数据通路：ADD指令</vt:lpstr>
      <vt:lpstr>流水线的数据通路：ADD指令</vt:lpstr>
      <vt:lpstr>流水线的数据通路：ADD指令</vt:lpstr>
      <vt:lpstr>流水线的数据通路：ADD指令</vt:lpstr>
      <vt:lpstr>问题</vt:lpstr>
      <vt:lpstr>问题</vt:lpstr>
      <vt:lpstr>流水线的控制信号</vt:lpstr>
      <vt:lpstr>流水线的控制信号</vt:lpstr>
      <vt:lpstr>流水线的控制信号</vt:lpstr>
      <vt:lpstr>流水线的控制信号</vt:lpstr>
      <vt:lpstr>流水线的控制信号</vt:lpstr>
      <vt:lpstr>流水线的控制信号</vt:lpstr>
      <vt:lpstr>流水线的控制信号</vt:lpstr>
      <vt:lpstr>流水线的控制信号</vt:lpstr>
      <vt:lpstr>流水线的控制信号</vt:lpstr>
      <vt:lpstr>流水线的数据通路：SW指令</vt:lpstr>
      <vt:lpstr>流水线的数据通路：SW指令</vt:lpstr>
      <vt:lpstr>流水线的数据通路：SW指令</vt:lpstr>
      <vt:lpstr>流水线的数据通路：SW指令</vt:lpstr>
      <vt:lpstr>流水线的数据通路：SW指令</vt:lpstr>
      <vt:lpstr>另一个例子：结果正确吗？</vt:lpstr>
      <vt:lpstr>另一个例子：结果正确吗？</vt:lpstr>
      <vt:lpstr>PowerPoint 演示文稿</vt:lpstr>
      <vt:lpstr>答案解析</vt:lpstr>
      <vt:lpstr>本节课目录</vt:lpstr>
      <vt:lpstr>流水线冒险</vt:lpstr>
      <vt:lpstr>问题</vt:lpstr>
      <vt:lpstr>流水线冒险</vt:lpstr>
      <vt:lpstr>流水线冒险</vt:lpstr>
      <vt:lpstr>流水线：结构冒险</vt:lpstr>
      <vt:lpstr>流水线：结构冒险</vt:lpstr>
      <vt:lpstr>流水线：结构冒险</vt:lpstr>
      <vt:lpstr>流水线：结构冒险</vt:lpstr>
      <vt:lpstr>流水线：结构冒险</vt:lpstr>
      <vt:lpstr>流水线：结构冒险</vt:lpstr>
      <vt:lpstr>流水线：结构冒险</vt:lpstr>
      <vt:lpstr>流水线：结构冒险</vt:lpstr>
      <vt:lpstr>流水线：结构冒险小结</vt:lpstr>
      <vt:lpstr>流水线：更多冒险</vt:lpstr>
      <vt:lpstr>流水线：更多冒险</vt:lpstr>
      <vt:lpstr>PowerPoint 演示文稿</vt:lpstr>
      <vt:lpstr>答案解析</vt:lpstr>
      <vt:lpstr>小结</vt:lpstr>
      <vt:lpstr>知识点框图</vt:lpstr>
      <vt:lpstr>大作业说明</vt:lpstr>
      <vt:lpstr>作业</vt:lpstr>
      <vt:lpstr>PowerPoint 演示文稿</vt:lpstr>
      <vt:lpstr>答案解析</vt:lpstr>
      <vt:lpstr>影响性能的因素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 oabt</dc:creator>
  <cp:lastModifiedBy>cpak00</cp:lastModifiedBy>
  <cp:revision>686</cp:revision>
  <dcterms:created xsi:type="dcterms:W3CDTF">2020-04-22T02:42:42Z</dcterms:created>
  <dcterms:modified xsi:type="dcterms:W3CDTF">2024-06-14T02:30:06Z</dcterms:modified>
</cp:coreProperties>
</file>