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3.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4.xml" ContentType="application/inkml+xml"/>
  <Override PartName="/ppt/notesSlides/notesSlide17.xml" ContentType="application/vnd.openxmlformats-officedocument.presentationml.notesSlide+xml"/>
  <Override PartName="/ppt/ink/ink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ink/ink6.xml" ContentType="application/inkml+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7.xml" ContentType="application/inkml+xml"/>
  <Override PartName="/ppt/notesSlides/notesSlide22.xml" ContentType="application/vnd.openxmlformats-officedocument.presentationml.notesSlide+xml"/>
  <Override PartName="/ppt/ink/ink8.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9.xml" ContentType="application/inkml+xml"/>
  <Override PartName="/ppt/notesSlides/notesSlide2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10.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1.xml" ContentType="application/inkml+xml"/>
  <Override PartName="/ppt/notesSlides/notesSlide39.xml" ContentType="application/vnd.openxmlformats-officedocument.presentationml.notesSlide+xml"/>
  <Override PartName="/ppt/ink/ink12.xml" ContentType="application/inkml+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ink/ink13.xml" ContentType="application/inkml+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ink/ink14.xml" ContentType="application/inkml+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ink/ink15.xml" ContentType="application/inkml+xml"/>
  <Override PartName="/ppt/notesSlides/notesSlide70.xml" ContentType="application/vnd.openxmlformats-officedocument.presentationml.notesSlide+xml"/>
  <Override PartName="/ppt/ink/ink16.xml" ContentType="application/inkml+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ink/ink17.xml" ContentType="application/inkml+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6"/>
  </p:notesMasterIdLst>
  <p:handoutMasterIdLst>
    <p:handoutMasterId r:id="rId87"/>
  </p:handoutMasterIdLst>
  <p:sldIdLst>
    <p:sldId id="1564" r:id="rId2"/>
    <p:sldId id="1937" r:id="rId3"/>
    <p:sldId id="1884" r:id="rId4"/>
    <p:sldId id="1990" r:id="rId5"/>
    <p:sldId id="1590" r:id="rId6"/>
    <p:sldId id="1910" r:id="rId7"/>
    <p:sldId id="1591" r:id="rId8"/>
    <p:sldId id="1752" r:id="rId9"/>
    <p:sldId id="1593" r:id="rId10"/>
    <p:sldId id="1929" r:id="rId11"/>
    <p:sldId id="1911" r:id="rId12"/>
    <p:sldId id="1930" r:id="rId13"/>
    <p:sldId id="1671" r:id="rId14"/>
    <p:sldId id="659" r:id="rId15"/>
    <p:sldId id="652" r:id="rId16"/>
    <p:sldId id="1568" r:id="rId17"/>
    <p:sldId id="1595" r:id="rId18"/>
    <p:sldId id="1755" r:id="rId19"/>
    <p:sldId id="662" r:id="rId20"/>
    <p:sldId id="664" r:id="rId21"/>
    <p:sldId id="676" r:id="rId22"/>
    <p:sldId id="1637" r:id="rId23"/>
    <p:sldId id="665" r:id="rId24"/>
    <p:sldId id="1917" r:id="rId25"/>
    <p:sldId id="1672" r:id="rId26"/>
    <p:sldId id="1681" r:id="rId27"/>
    <p:sldId id="1605" r:id="rId28"/>
    <p:sldId id="1628" r:id="rId29"/>
    <p:sldId id="1938" r:id="rId30"/>
    <p:sldId id="510" r:id="rId31"/>
    <p:sldId id="1625" r:id="rId32"/>
    <p:sldId id="1926" r:id="rId33"/>
    <p:sldId id="1918" r:id="rId34"/>
    <p:sldId id="1673" r:id="rId35"/>
    <p:sldId id="1675" r:id="rId36"/>
    <p:sldId id="1640" r:id="rId37"/>
    <p:sldId id="1630" r:id="rId38"/>
    <p:sldId id="1749" r:id="rId39"/>
    <p:sldId id="1631" r:id="rId40"/>
    <p:sldId id="1644" r:id="rId41"/>
    <p:sldId id="1747" r:id="rId42"/>
    <p:sldId id="1748" r:id="rId43"/>
    <p:sldId id="1645" r:id="rId44"/>
    <p:sldId id="1650" r:id="rId45"/>
    <p:sldId id="1652" r:id="rId46"/>
    <p:sldId id="1750" r:id="rId47"/>
    <p:sldId id="1653" r:id="rId48"/>
    <p:sldId id="1654" r:id="rId49"/>
    <p:sldId id="445" r:id="rId50"/>
    <p:sldId id="1656" r:id="rId51"/>
    <p:sldId id="1658" r:id="rId52"/>
    <p:sldId id="1657" r:id="rId53"/>
    <p:sldId id="1167" r:id="rId54"/>
    <p:sldId id="1659" r:id="rId55"/>
    <p:sldId id="1666" r:id="rId56"/>
    <p:sldId id="1668" r:id="rId57"/>
    <p:sldId id="1669" r:id="rId58"/>
    <p:sldId id="1664" r:id="rId59"/>
    <p:sldId id="1683" r:id="rId60"/>
    <p:sldId id="1925" r:id="rId61"/>
    <p:sldId id="1685" r:id="rId62"/>
    <p:sldId id="1686" r:id="rId63"/>
    <p:sldId id="1687" r:id="rId64"/>
    <p:sldId id="1688" r:id="rId65"/>
    <p:sldId id="1781" r:id="rId66"/>
    <p:sldId id="1738" r:id="rId67"/>
    <p:sldId id="1689" r:id="rId68"/>
    <p:sldId id="1693" r:id="rId69"/>
    <p:sldId id="1740" r:id="rId70"/>
    <p:sldId id="1741" r:id="rId71"/>
    <p:sldId id="1919" r:id="rId72"/>
    <p:sldId id="1756" r:id="rId73"/>
    <p:sldId id="1782" r:id="rId74"/>
    <p:sldId id="1744" r:id="rId75"/>
    <p:sldId id="1695" r:id="rId76"/>
    <p:sldId id="1745" r:id="rId77"/>
    <p:sldId id="1696" r:id="rId78"/>
    <p:sldId id="1697" r:id="rId79"/>
    <p:sldId id="1698" r:id="rId80"/>
    <p:sldId id="1751" r:id="rId81"/>
    <p:sldId id="1700" r:id="rId82"/>
    <p:sldId id="1448" r:id="rId83"/>
    <p:sldId id="1936" r:id="rId84"/>
    <p:sldId id="1737" r:id="rId8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4110" userDrawn="1">
          <p15:clr>
            <a:srgbClr val="A4A3A4"/>
          </p15:clr>
        </p15:guide>
        <p15:guide id="2" pos="210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051"/>
    <a:srgbClr val="0432FF"/>
    <a:srgbClr val="FF0000"/>
    <a:srgbClr val="1A49EA"/>
    <a:srgbClr val="05FFFF"/>
    <a:srgbClr val="FFFFFF"/>
    <a:srgbClr val="FF9900"/>
    <a:srgbClr val="CCFFCC"/>
    <a:srgbClr val="B6E4B6"/>
    <a:srgbClr val="CD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5510" autoAdjust="0"/>
  </p:normalViewPr>
  <p:slideViewPr>
    <p:cSldViewPr snapToGrid="0">
      <p:cViewPr varScale="1">
        <p:scale>
          <a:sx n="97" d="100"/>
          <a:sy n="97" d="100"/>
        </p:scale>
        <p:origin x="888" y="54"/>
      </p:cViewPr>
      <p:guideLst>
        <p:guide orient="horz" pos="4110"/>
        <p:guide pos="2109"/>
      </p:guideLst>
    </p:cSldViewPr>
  </p:slideViewPr>
  <p:notesTextViewPr>
    <p:cViewPr>
      <p:scale>
        <a:sx n="100" d="100"/>
        <a:sy n="100" d="100"/>
      </p:scale>
      <p:origin x="0" y="0"/>
    </p:cViewPr>
  </p:notesTextViewPr>
  <p:sorterViewPr>
    <p:cViewPr>
      <p:scale>
        <a:sx n="174" d="100"/>
        <a:sy n="174" d="100"/>
      </p:scale>
      <p:origin x="0" y="2742"/>
    </p:cViewPr>
  </p:sorterViewPr>
  <p:notesViewPr>
    <p:cSldViewPr snapToGrid="0">
      <p:cViewPr varScale="1">
        <p:scale>
          <a:sx n="88" d="100"/>
          <a:sy n="88" d="100"/>
        </p:scale>
        <p:origin x="93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6395961-78AC-4172-A9D4-2880E5973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SimHei" panose="02010609060101010101" pitchFamily="49" charset="-122"/>
            </a:endParaRPr>
          </a:p>
        </p:txBody>
      </p:sp>
      <p:sp>
        <p:nvSpPr>
          <p:cNvPr id="3" name="日期占位符 2">
            <a:extLst>
              <a:ext uri="{FF2B5EF4-FFF2-40B4-BE49-F238E27FC236}">
                <a16:creationId xmlns:a16="http://schemas.microsoft.com/office/drawing/2014/main" id="{2E46C722-DFA8-4F89-A8FF-79F824E95D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33EEF7-398C-4CC9-B279-5CBBD10BBD98}" type="datetimeFigureOut">
              <a:rPr lang="zh-CN" altLang="en-US" smtClean="0">
                <a:ea typeface="SimHei" panose="02010609060101010101" pitchFamily="49" charset="-122"/>
              </a:rPr>
              <a:t>2024/6/4</a:t>
            </a:fld>
            <a:endParaRPr lang="zh-CN" altLang="en-US" dirty="0">
              <a:ea typeface="SimHei" panose="02010609060101010101" pitchFamily="49" charset="-122"/>
            </a:endParaRPr>
          </a:p>
        </p:txBody>
      </p:sp>
      <p:sp>
        <p:nvSpPr>
          <p:cNvPr id="4" name="页脚占位符 3">
            <a:extLst>
              <a:ext uri="{FF2B5EF4-FFF2-40B4-BE49-F238E27FC236}">
                <a16:creationId xmlns:a16="http://schemas.microsoft.com/office/drawing/2014/main" id="{EA0BD996-2C1A-4268-B94B-EE24D46C2D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SimHei" panose="02010609060101010101" pitchFamily="49" charset="-122"/>
            </a:endParaRPr>
          </a:p>
        </p:txBody>
      </p:sp>
      <p:sp>
        <p:nvSpPr>
          <p:cNvPr id="5" name="灯片编号占位符 4">
            <a:extLst>
              <a:ext uri="{FF2B5EF4-FFF2-40B4-BE49-F238E27FC236}">
                <a16:creationId xmlns:a16="http://schemas.microsoft.com/office/drawing/2014/main" id="{494D9BD0-2C1F-44BD-8ED2-98D8FEB2D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D0E1E4-72F4-4EC6-888F-6D0DE1EB4E5D}" type="slidenum">
              <a:rPr lang="zh-CN" altLang="en-US" smtClean="0">
                <a:ea typeface="SimHei" panose="02010609060101010101" pitchFamily="49" charset="-122"/>
              </a:r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18303099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04T11:35:27.738"/>
    </inkml:context>
    <inkml:brush xml:id="br0">
      <inkml:brushProperty name="width" value="0.05292" units="cm"/>
      <inkml:brushProperty name="height" value="0.05292" units="cm"/>
      <inkml:brushProperty name="color" value="#FF0000"/>
    </inkml:brush>
  </inkml:definitions>
  <inkml:trace contextRef="#ctx0" brushRef="#br0">12475 13617 1218 0,'-25'4'0'0,"1"-4"0"0,11 2 0 0,6 1 19 0,3-1 0 0,-10 0 0 0,-5 5 2 0,-21-1 11 0,2 6 2 0,-8 3-2 0,-5 3 2 16,-8 2 12-16,2 4 0 0,-5 3 0 0,-2 0 0 15,0 4-16-15,-2-5 2 0,0 12-1 0,-5 9 1 16,-2 10-13-16,-2 1 0 0,2 15 0 0,1 7 0 0,1 11 5 16,-2 7-1-16,1 15 1 0,-1 9 0 0,-2 7-1 15,6 9-1-15,3 6 1 0,7-2 0 0,10 9 0 16,1-2-1-16,10-2 1 0,3-5 0 0,6-2 0 15,5-3-1-15,11-10 0 0,6-5 2 0,7-9-4 16,7-6 2-16,2-12-2 0,8-8 1 0,5-11-5 0,11-12 1 16,3-2-1-16,3-11 1 0,10-9-2 0,10-6 1 15,3-12-2-15,-2-6 2 0,12-7-4 0,6-6 2 16,3-10-2-16,1-6 2 0,8-9-4 0,7-9 0 16,-4-6 0-16,4-5 1 0,11-7-2 0,-2-8 1 15,2-1-1-15,-2-6 1 0,2-2 0 0,-4-8 0 16,1-1 0-16,-3 0 2 0,-5-5-3 0,4-6 0 0,-4-1 0 15,-6 1 0-15,4-5 0 0,-9-2 0 0,0 2 0 16,-7 3 0-16,-4-3-2 0,-4 2 2 0,-3 1 0 16,-9-5 0-16,-6-3-2 0,-4-1 1 0,-7-3 0 15,-7 12 0-15,-4-3-1 0,-11-2 1 0,-7 0 0 16,-4 2 0-16,-5 0 0 0,-8-4 0 0,-7 2 0 16,-9 2 1-16,-4-2-3 0,-3 0 2 0,-10 9-1 15,1 6 1-15,-3 10-3 0,-8 3 1 0,-3 6 0 16,-5 3-1-16,2 10 0 0,-2-5 0 0,-3 9 1 15,-1 7 0-15,-3 6-3 0,0 7 0 0,5 7 1 16,-3 11-1-16,1 11-1 0,6 6 2 0</inkml:trace>
</inkml:ink>
</file>

<file path=ppt/ink/ink2.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04T11:46:16.206"/>
    </inkml:context>
    <inkml:brush xml:id="br0">
      <inkml:brushProperty name="width" value="0.05292" units="cm"/>
      <inkml:brushProperty name="height" value="0.05292" units="cm"/>
      <inkml:brushProperty name="color" value="#FF0000"/>
    </inkml:brush>
  </inkml:definitions>
  <inkml:trace contextRef="#ctx0" brushRef="#br0">8304 7244 326 0,'-4'-3'0'0,"4"3"0"0,0 7 0 0,0-7 1 0,4 7 1 0,-4-7 1 0,7 0-1 0,-7 0 23 0,0 0-1 0,0 0 1 0,0-2 1 0,0 2 24 0,-7-5 2 0,7 5 0 15,-24-7-1-15,-3 3 3 0,-3-9 0 0,-1 2 0 16,-2 4 1-16,6-2-28 0,-8 2 0 0,2 3 0 15,0-3 1-15,0 1-5 0,0 1 1 0,0 5-1 16,-3-4 2-16,5-1-7 0,-4 1 1 0,0 2 0 16,-1 2 0-16,1-5 0 0,0-1 0 0,-3 1 0 0,-1 1 0 15,-3-3-2-15,2 3 0 0,-4-5 0 0,2 2 1 16,0-2-1-16,-6 0 1 0,4 0-1 0,-3 0 0 16,1 3 0-16,-3-5 1 0,1 2-1 0,-1-2 1 0,1 4 2 15,-1-4 2-15,1 0-1 0,-5 2 0 16,0-2-1-16,-4-2 1 0,-3 1-1 0,3 1 0 0,-3 5-3 15,-1-5 1-15,-1-1 0 0,0 4 0 0,2-1-8 16,-3 2 1-16,-4-2 0 0,3 7 0 0,0 2-3 16,0 0 1-16,-2 2 0 0,-2 0 0 0,0 1 0 15,-1 1 0-15,-4-4 0 0,3 4 0 0,-3 3 5 16,-4 2 0-16,6 2 0 0,-1-4 0 0,-1 2 3 0,0 2 1 16,-4-5-1-16,0 3 1 0,-5 2-2 0,7-4 0 15,-9 6 1-15,0-1 0 0,-2 3 2 0,3-4 0 16,-6 5 0-16,3 1 0 0,0 1 2 0,-2 0-1 15,2 2 0-15,0-2 1 0,-2 2-2 0,6 0 0 16,-4 2 1-16,-2 5 0 0,9 4-3 0,-3 0 1 16,1-2-2-16,3 2 2 0,6 4-3 0,-6-4 0 0,10 3-1 15,4-3 1-15,-2 0-3 0,6-5 0 0,-1 6 1 16,6-6 0-16,8-4-4 0,1 3 0 0,6-1 0 16,7 1 0-16,2-8-3 0,3 3 0 0,8 3 1 15,2 1 0-15,5 3-1 0,6-7-1 0,3 2 1 16,8 0-1-16,1-2-1 0,6-4-1 0,4 1 0 15,5 3 2-15,-2 5-2 0,10 1 1 0,3-3-1 16,4-3 0-16,3 2 1 0,6-2 0 0,2 2 1 16,12-4-1-16,8 2 0 0,9 0 0 0,2 0 1 15,2 2-1-15,12-6-1 0,-1-1 1 0,5 1-1 0,2-3 2 16,9 0-1-16,4-2 1 0,3-4-1 0,10 2 1 16,1 2-2-16,6-4 1 0,0 2 0 0,7-5 0 15,-5 3-1-15,0-1 0 0,1 3 0 0,-5-4 1 0,-1 1-1 16,-3 1 0-16,-7 2 1 0,0-5-1 0,-5 3-1 15,5 2 2-15,-9-7-2 0,-2 2 1 0,2-4 0 16,-7-4 0-16,3 2-1 0,2-3 2 0,-7-3-1 16,3 1 1-16,-5-2 0 0,4 0 0 0,-4 0 1 15,-6-2-1-15,6-4 1 0,2 3 0 0,2-3 1 16,3 2 0-16,-7-5-1 0,4-2 2 0,-4-2-4 0,1-1 2 16,-4-1-1-16,-10-3 1 0,-7 1-2 15,3-1 0-15,-10-4 1 0,-6 0-1 0,-9-2 1 0,-4 1-1 16,-11-5 0-16,-3 1 1 0,-8 3-2 0,-3-7 1 15,-4 2 0-15,-4 3 0 0,-5 1-1 0,-4 1 0 16,-4-3 1-16,-5-1-1 0,-5-3 0 0,-4-5 2 16,-2 3-1-16,-2 0 0 0,-5-5 1 0,-4 1-1 15,3-1 0-15,-10 3 1 0,2-3-2 0,-1 5 1 16,-1 0 1-16,-6 4-1 0,-5 0-1 0,3 3 1 0,-3-1-1 16,-2 3 0-16,0-3-1 0,2 7 0 0,-4 3 0 15,2 1 1-15,1 3-2 0,-8-2 0 0,7 6 0 16,-9 2 0-16,-2 7-7 0,-2 3 1 0</inkml:trace>
  <inkml:trace contextRef="#ctx0" brushRef="#br0" timeOffset="867.27">7299 8492 1457 0,'-16'2'0'0,"16"-2"0"0,-24 4 0 0,24-4 0 0,-24-11 0 0,24 11 0 0,-38-9 1 0,9 7-2 0,-4 0 1 0,-2 0 0 0,-7-7 0 0,3-2-10 0,-6 0 0 0,-1-1 0 15,-2 1 0-15,-3 2-24 0,-9 3 0 0,-4 1 1 16,0-6 0-16,-6 7 11 0,-3-3 1 0,-4 3-1 16,-3-1 1-16,-1 3 12 0,-3 2 1 0,-2 2 0 15,-7 3 0-15,-4-1 9 0,0 3 2 0,-11 2-1 16,0 4 0-16,0 3 16 0,0-1 0 0,0 5 0 0,-11 2 1 16,2 9 14-16,-4 3-1 0,2-3 1 0,2 0-1 15,4 4 1-15,1-3 1 0,2-1-1 0,2 2 1 16,2-6-8-16,2-1 1 0,5 1-2 0,11 0 2 15,4-1-10-15,2 3 1 0,-2 0-1 0,7 0 1 0,9 0-5 16,2-3 2-16,6 3-2 0,3 4 2 16,6-6 0-16,-2-2-1 0,13-1 1 0,5 0-1 0,2-1 1 15,9-3 1-15,8 0-1 0,1-3 1 0,11 3-4 16,-1 3 1-16,10-4-1 0,6-1 0 0,8 2 2 16,1 0-1-16,11 2 1 0,4 5 0 0,12-7 0 15,6 2-1-15,6-2 1 0,7 2 0 0,7 1-2 0,9 1 0 16,4-4 0-16,4-2 1 0,14 2-1 0,2 2 0 15,8-4 1-15,12 0 0 0,4-3 3 0,7 1 0 16,4 1-1-16,9-1 1 0,-4 0-4 0,4 1 1 16,-3 1-1-16,-3 0 0 0,-1-3-1 0,-2 1-1 15,2-1 0-15,-1-1 0 0,-8-1-2 0,-2 3 1 16,-1-10-1-16,1 1 0 0,-6-3-2 0,-3-1 1 0,-4-3-2 16,-2-3 2-16,-2 1-3 0,-1 0 0 0,-6 0-1 15,-2-5 2-15,-4 3-2 0,-5-1 2 0,-5 1-1 16,-1-3 1-16,-7 0 0 0,-3-1 1 0,-4-1 0 15,-2-2 0-15,-8-1 1 0,-8 1 0 0,-2-4-1 16,-10-1 2-16,-5-2 0 0,-3 1 1 0,-8-5 0 16,-6-1 0-16,-3-8 0 0,-9 0 0 0,-2-4 0 15,-11-3 1-15,-5-4-1 0,-8-3 0 0,-4-1 0 16,-10-1 1-16,-6-2-2 0,-5-2 0 0,-12 2 0 16,-5 3 1-16,-12-3-4 0,-5-5 2 0,-5 3-1 0,-5-2 0 15,-4 0-3-15,0-1-1 0,-9 3 0 0,5 0 2 16,-7 2-4-16,-5 3 0 0</inkml:trace>
</inkml:ink>
</file>

<file path=ppt/ink/ink3.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04T11:49:53.761"/>
    </inkml:context>
    <inkml:brush xml:id="br0">
      <inkml:brushProperty name="width" value="0.05292" units="cm"/>
      <inkml:brushProperty name="height" value="0.05292" units="cm"/>
      <inkml:brushProperty name="color" value="#FF0000"/>
    </inkml:brush>
  </inkml:definitions>
  <inkml:trace contextRef="#ctx0" brushRef="#br0">12808 11840 12 0,'6'3'0'0,"-6"-3"0"0,18 2 0 0,-18-2 14 0,26 0 2 0,-26 0 0 0,31 0 0 0,-31 0 46 0,29 0 1 0,-29 0 0 0,24 0 1 0,-24 0 1 0,15 0 0 0,-15 0 0 15,14 0 0-15,-14 0 5 0,20 0 1 0,-20 0-1 16,41-5 1-16,-16 3-23 0,1-2 1 0,5 1-1 16,-4 3 1-16,1 0-10 0,-6 0 1 0,2 3-1 15,-4 1 1-15,7-4 2 0,-7 0 1 0,0 0-2 0,2 0 2 16,-3-4-14-16,-3 1 0 0,4 1 0 15,-3 0 2-15,8 2-11 0,-6-4 1 0,3 1 0 0,3 1 1 16,-5 2-7-16,4 2 2 0,0 1-1 0,5 1 1 16,-9-4-5-16,-1 2 2 0,8 0-1 0,-5 1 1 0,2 1-4 15,1-4 0-15,1 5 0 0,-2-1 0 0,0 3 5 16,10-5-1-16,-8 2 1 0,3 1-1 0,-3-1-2 16,1-2 0-16,-1 1-1 0,7-1 1 0,-6 2-3 15,4-4 2-15,-5 0-1 0,3 0 0 0,-3 0 0 16,3 0 1-16,-1 0-1 0,3 0 1 0,2-4 0 15,3 2-1-15,1-1 0 0,-6 1 0 0,0 2-1 0,-2 0 1 16,6 0 0-16,-2 0 0 0,0 0 0 0,-2 0 1 16,6 0 0-16,-8 0 0 0,2 0 1 0,0 0 0 15,-2 0 1-15,6 2 0 0,0 1 2 0,0-3-1 16,1-3 1-16,1 1 0 0,1 2-1 0,-1-4 1 16,-2 2-1-16,1-3 1 0,-1 1-4 0,0-1 1 15,-2-1 0-15,3 1 0 0,-1-4-3 0,0 3 1 0,0 1-1 16,3 3 1-16,2 0-2 0,-1-1 0 0,5 3 0 15,1-6 0-15,-8 1-5 0,3 1 0 0,-1 4 1 16,-3 0 0-16,-1 0-4 0,-2 2 1 0,2 0 0 16,5 1 1-16,-5-1-2 0,3 0 0 0,2 2 0 15,-5-4 1-15,7 0-1 0,-3 0 0 0,3 0 0 16,-2 0 0-16,-2 0 0 0,-3 3 0 0,2-1 0 16,7-2 0-16,-6-2-1 0,-1-1 1 0,5 3-2 15,0-4 2-15,-4 2-1 0,4 0 1 0,0-1 0 16,4 1 0-16,-4 0-1 0,2-5 1 0,-2 3 0 15,0-1 0-15,4 3 0 0,-2 2 0 0,2 0 0 0,-4-2 0 16,2 2 2-16,-2 0 1 0,2-2-1 0,0-1 0 16,5 3 3-16,-3 0-1 0,1-2 1 0,-3 2 0 15,2-4 2-15,0 2 0 0,1-1-1 0,-8-1 1 0,1 2 1 16,9-7 0-16,-3 2 0 0,0 0 0 0,5 3-6 16,-3 4 0-16,5-7 0 0,-9 1 2 0,5-1-4 15,-7 0 0-15,0 3 0 0,6 2 1 0,-8 0-1 16,2-1 0-16,4 1 0 0,-6 0 0 0,6 2 0 15,3-5 0-15,-1 3 0 0,1 0 0 0,-1 0-1 16,-1 2 1-16,-1 2 0 0,-2 0 0 0,0-2-1 0,5 0-1 16,-3 0 1-16,0 0 1 0,1 0-1 0,-1 0 0 15,0 0 0-15,-2 0 0 0,5 0 1 0,-3 0 0 16,3 0 0-16,-7 0 0 0,-1 0 0 0,4 0 0 16,1 0 0-16,0-2 0 0,5 2 0 0,-5 0 1 15,3-2 0-15,-1 2 0 0,1 0 3 0,-1 0-1 16,1 0 0-16,-1 0 1 0,1 2-1 0,-3 2 0 0,3 1 1 15,1-3-1-15,1-2 1 0,4-2-1 0,-4 2 0 16,0-5 1-16,2 3-1 0,-5 0 0 0,5 2 1 16,-2 0-1-16,2-2-1 0,2 0 1 0,0-1-1 15,2 3 0-15,3-6-1 0,2 1 0 0,-5 1 0 16,3-1 2-16,-3 1-3 0,2 2 1 0,1-7 0 16,-1 4 0-16,-1 3-1 0,1-2 1 0,-6 1 0 15,0 3 0-15,-4 0 1 0,-3 0-1 0,-2 0 0 16,5 0 0-16,-1 0 0 0,-6 0 0 0,0 0 0 15,2 3 2-15,-4 1-2 0,2 1 0 0,-5-3 0 0,-2 0 0 16,-1 0-1-16,-1 3 1 0,-5-5 0 0,-1 0 0 16,-3 2-1-16,-2 0 0 0,-6 0 0 0,3 3 0 0,-3 1 0 15,-1-1 0-15</inkml:trace>
</inkml:ink>
</file>

<file path=ppt/ink/ink4.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04T11:55:30.074"/>
    </inkml:context>
    <inkml:brush xml:id="br0">
      <inkml:brushProperty name="width" value="0.05292" units="cm"/>
      <inkml:brushProperty name="height" value="0.05292" units="cm"/>
      <inkml:brushProperty name="color" value="#FF0000"/>
    </inkml:brush>
  </inkml:definitions>
  <inkml:trace contextRef="#ctx0" brushRef="#br0">12490 13708 839 0,'-4'31'0'0,"-1"-7"17"0,-1-1 0 0,1 8-1 0,1 0 1 0,-1 11 9 0,5 5 0 0,0 4 0 0,0 4-1 0,0 3 1 0,0 2 0 0,-2 9 0 0,-2 2 1 0,-1 9-8 0,1-5 0 0,-1 12 0 0,1 4 0 0,2-2-3 0,-7 11 1 0,5-3-2 0,-5 1 2 0,2-3-1 0,-6 1 1 0,4-5-2 0,-2-9 2 15,2-11-2-15,3-4 1 0,1-3-2 0,-4-4 2 16,3-4 0-16,-3-7-1 0,5-7 1 0,-3-2 1 16,0-7 0-16,1-2 0 0,6-9-1 0,0-2 1 15,0-11-3-15,4-2 0 0,-2-5 1 0,-2 0-1 0,-2-2 1 16,-2-2 1-16,4-7-1 0,0-6 1 0,0-12-2 16,4-6-1-16,-2-3 1 0,1-4-1 0,1-6-3 15,0-8 1-15,-1 1-1 0,1 2 2 0,9 2-2 16,-6 0 1-16,4 3 0 0,2-1 0 0,-2 2-6 15,0 3 1-15,5 0-1 0,-1 0 1 0,0-3-4 16,3 1 1-16,4 4 1 0,-2 7-1 0,0-1-2 0,-3 6 1 16,1 5 0-16,-5-1 0 0,7 6 1 0,-2 3 2 15,-3-1-1-15,-2 5 1 0,-6-2 3 0,4 4-1 16,0 4 1-16,-4-1 1 0,-1 4 1 0,-1-1 2 16,-1 1-2-16,1 2 1 0,-1 2 1 0,0 1 1 15,-1-1-1-15,5 4 0 0,-3 1 2 0,2 4 0 0,1 9 1 16,3 5-1-16,-4 6 2 0,2 6 0 0,-5 3 0 15,-4 0-1-15,11 5 0 0,-9-1 1 0,7-2-2 16,-7 1 2-16,-2-1 1 0,7-2 1 0,-3 2 0 16,-1 0 0-16,6 3 0 0,-3-3 0 0,3 2-1 15,-5 3 1-15,3-1-2 0,2 1 1 0,-7-3 0 16,0-4 0-16,-2-2-2 0,-2 0 1 0,2-7 0 16,4 0-1-16,1-2-2 0,-1-5 0 0,7-6 1 15,-6-5-1-15,-5-6-3 0,4-5 0 0</inkml:trace>
  <inkml:trace contextRef="#ctx0" brushRef="#br0" timeOffset="434.58">11872 14412 1569 0,'-2'4'0'0,"2"-4"0"0,-6 14 0 0,6-14 34 0,0 6 1 0,0-6 0 0,-5 9-1 0,5-9 12 0,-17 16 0 0,17-16 1 0,-18 13 0 0,18-13-29 0,-7 11 0 0,7-11 0 16,-11 24 1-16,0 1-17 0,-2 2 0 0,2 4 0 15,-2 2 2-15,2 5-4 0,0 4 0 0,0-2 0 16,-5 2 0-16,3 2-1 0,2 3 1 0,0 2-2 16,0 0 2-16,2 2-2 0,0 0 0 0,3 7 0 15,-3-1-1-15,7 1-1 0,-3-2 1 0,5 1-2 16,5-6 2-16,-1 1-1 0,7-1 1 0,0-3 0 15,0 1 0-15,9-2 2 0,0-3 0 0,0-4 0 16,0-2 1-16,6-9 0 0,0-5 0 0,5-4 0 0,0-4 0 16,2-5 0-16,5 0 0 0</inkml:trace>
  <inkml:trace contextRef="#ctx0" brushRef="#br0" timeOffset="767.3">13154 14561 1369 0,'17'15'0'0,"-17"-15"0"16,40 36 0-16,-40-36 16 0,35 28 1 0,-15-8 0 15,11 5 1-15,0 8 15 0,4 3 0 0,1 4 1 16,-3 0 0-16,-3-3-2 0,4 1 2 0,-4 4-2 16,-1 5 2-16,0 0-27 0,-9-1 1 0,2 5-1 15,-5 3 1-15,-3 1-3 0,-1 5-1 0,-9 2 1 16,-2 0 0-16,-6 5 0 0,-5 0 0 0,0 1 1 15,-10 6 0-15,-6-1-4 0,-1 7 1 0</inkml:trace>
</inkml:ink>
</file>

<file path=ppt/ink/ink5.xml><?xml version="1.0" encoding="utf-8"?>
<inkml:ink xmlns:inkml="http://www.w3.org/2003/InkML">
  <inkml:definitions>
    <inkml:context xml:id="ctx0">
      <inkml:inkSource xml:id="inkSrc0">
        <inkml:traceFormat>
          <inkml:channel name="X" type="integer" max="492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3T11:53:50.616"/>
    </inkml:context>
    <inkml:brush xml:id="br0">
      <inkml:brushProperty name="width" value="0.05292" units="cm"/>
      <inkml:brushProperty name="height" value="0.05292" units="cm"/>
      <inkml:brushProperty name="color" value="#FF0000"/>
    </inkml:brush>
  </inkml:definitions>
  <inkml:trace contextRef="#ctx0" brushRef="#br0">16969 11676 0</inkml:trace>
</inkml:ink>
</file>

<file path=ppt/ink/ink6.xml><?xml version="1.0" encoding="utf-8"?>
<inkml:ink xmlns:inkml="http://www.w3.org/2003/InkML">
  <inkml:definitions>
    <inkml:context xml:id="ctx0">
      <inkml:inkSource xml:id="inkSrc0">
        <inkml:traceFormat>
          <inkml:channel name="X" type="integer" min="-1920" max="300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4T12:05:20.491"/>
    </inkml:context>
    <inkml:brush xml:id="br0">
      <inkml:brushProperty name="width" value="0.05292" units="cm"/>
      <inkml:brushProperty name="height" value="0.05292" units="cm"/>
      <inkml:brushProperty name="color" value="#FF0000"/>
    </inkml:brush>
  </inkml:definitions>
  <inkml:trace contextRef="#ctx0" brushRef="#br0">16328 8630 0</inkml:trace>
</inkml:ink>
</file>

<file path=ppt/ink/ink7.xml><?xml version="1.0" encoding="utf-8"?>
<inkml:ink xmlns:inkml="http://www.w3.org/2003/InkML">
  <inkml:definitions>
    <inkml:context xml:id="ctx0">
      <inkml:inkSource xml:id="inkSrc0">
        <inkml:traceFormat>
          <inkml:channel name="X" type="integer" min="-1920" max="300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4T12:11:09.524"/>
    </inkml:context>
    <inkml:brush xml:id="br0">
      <inkml:brushProperty name="width" value="0.05292" units="cm"/>
      <inkml:brushProperty name="height" value="0.05292" units="cm"/>
      <inkml:brushProperty name="color" value="#FF0000"/>
    </inkml:brush>
  </inkml:definitions>
  <inkml:trace contextRef="#ctx0" brushRef="#br0">18479 6987 0</inkml:trace>
</inkml:ink>
</file>

<file path=ppt/ink/ink8.xml><?xml version="1.0" encoding="utf-8"?>
<inkml:ink xmlns:inkml="http://www.w3.org/2003/InkML">
  <inkml:definitions>
    <inkml:context xml:id="ctx0">
      <inkml:inkSource xml:id="inkSrc0">
        <inkml:traceFormat>
          <inkml:channel name="X" type="integer" max="492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3T12:11:32.929"/>
    </inkml:context>
    <inkml:brush xml:id="br0">
      <inkml:brushProperty name="width" value="0.05292" units="cm"/>
      <inkml:brushProperty name="height" value="0.05292" units="cm"/>
      <inkml:brushProperty name="color" value="#FF0000"/>
    </inkml:brush>
  </inkml:definitions>
  <inkml:trace contextRef="#ctx0" brushRef="#br0">16796 5945 0</inkml:trace>
  <inkml:trace contextRef="#ctx0" brushRef="#br0" timeOffset="1779.85">16796 5945 0</inkml:trace>
</inkml:ink>
</file>

<file path=ppt/ink/ink9.xml><?xml version="1.0" encoding="utf-8"?>
<inkml:ink xmlns:inkml="http://www.w3.org/2003/InkML">
  <inkml:definitions>
    <inkml:context xml:id="ctx0">
      <inkml:inkSource xml:id="inkSrc0">
        <inkml:traceFormat>
          <inkml:channel name="X" type="integer" max="3408" units="cm"/>
          <inkml:channel name="Y" type="integer" max="2256" units="cm"/>
          <inkml:channel name="T" type="integer" max="2.14748E9" units="dev"/>
        </inkml:traceFormat>
        <inkml:channelProperties>
          <inkml:channelProperty channel="X" name="resolution" value="119.57895" units="1/cm"/>
          <inkml:channelProperty channel="Y" name="resolution" value="118.73684" units="1/cm"/>
          <inkml:channelProperty channel="T" name="resolution" value="1" units="1/dev"/>
        </inkml:channelProperties>
      </inkml:inkSource>
      <inkml:timestamp xml:id="ts0" timeString="2024-06-04T12:29:07.813"/>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1" timeString="2024-06-04T12:29:08.061"/>
    </inkml:context>
  </inkml:definitions>
  <inkml:trace contextRef="#ctx0" brushRef="#br0">7814 17857 0,'12'-24'0,"11"-12"0,-11 13 0,0-1 16,-1 12-16</inkml:trace>
  <inkml:trace contextRef="#ctx1" brushRef="#br0">2531 14372 1871 0,'-5'0'0'0,"5"0"0"0,0 0 0 0,0 0 13 0,0 0-1 0,0 0 0 0,-9 0 1 0,9 0 43 0,-6 9 0 0,6-9 0 0,-5 11 1 0,5-11 0 0,-11 26 1 0,11-26-1 16,-8 47 0-16,3-16-21 0,5 2 0 0,5 5 0 16,-5 4 0-16,4 5-15 0,0 4 2 0,1-2-1 15,6 0 0-15,-7 2 0 0,3-5 0 0,2-1 0 16,-5-3 0-16,3-6-4 0,-1-5 0 0,3-5 0 16,-7-6 1-16,7-4-3 0,-9-5-1 0,5-4 1 15,-1-3 1-15,-4-2-5 0,0-2 1 0</inkml:trace>
  <inkml:trace contextRef="#ctx1" brushRef="#br0" timeOffset="285.27">2895 14221 1784 0,'4'-5'0'0,"-4"5"0"0,15-9 0 0,-15 9 56 15,5-6 0-15,-5 6 0 0,6-5 0 0,-6 5 23 16,5-4-1-16,-5 4 1 0,0-5 1 0,0 5-41 15,0 0 1-15,0 0 0 0,0 0 0 0,0 0-20 0,0 0 0 16,0 0 1-16,0 0 0 0,0 0-8 0,0 0 2 16,0 0-1-16,2 9 1 0,-2-9-1 0,0 20 0 15,0 5 1-15,4 6-1 0,1 13 6 0,-5 10 1 16,2-1-1-16,-2-2 0 0,7 4 5 0,-7 3-1 16,2 0 1-16,0 0 1 0,5-1 2 0,-7 6 0 15,4-8 0-15,-2-6 1 0,3-7-3 0,-1-6 1 0,1-5-1 16,-5-5 1-16,4-6-5 0,3-6 2 0,-7-1-2 15,4-6 2-15,-4-3-10 0,0-4 1 0</inkml:trace>
  <inkml:trace contextRef="#ctx1" brushRef="#br0" timeOffset="736.18">2762 14736 1545 0,'-6'-7'0'0,"-10"1"0"16,7 3 0-16,3 1 53 0,1 2-1 0,-4-4 1 15,1 8 1-15,-3-2-15 0,-3 1 0 0,3 3 1 16,3-4-1-16,3 3-20 0,5-1 1 0,-4 1 0 0,4-1 1 15,0 1-17-15,0 1 2 0,4-6-2 0,3 3 2 16,6-1-1-16,-2 0 1 0,13-2 0 0,3-2 0 16,4-3 6-16,2-8-1 0,11 0 0 0,-9-1 1 0,0-1 7 15,1-3 1-15,-5-2-1 0,4-2 0 16,-4-3 1-16,-5 1 0 0,5 0 0 0,-5 1 2 0,3 3-8 16,-7 0 2-16,2 3 0 0,1-8-1 0,-3 1-15 15,-7-1 1-15,-2 1-1 0,5 4 2 0,-11 2-11 16,4 0 0-16,0 3 0 0,-5 2 0 0,-1 6-31 15,-5 2 1-15,0 3 0 0,0-2 0 0,0 2-14 16,0 2 1-16,0 2-1 0,0 2 2 0,0-4 22 0,0 2 0 16,0 3-1-16,0 4 2 0,-5 6 25 0,-1 8 0 15,-5 8-1-15,6-5 1 0,-1 8 6 0,4 1 1 16,-10 3-1-16,1 0 0 0,7 2 31 0,-5-5 0 16,3 3-1-16,-3 0 2 0,2-1 25 0,3 3-1 15,-1-2 0-15,1 0 1 0,2 0-7 0,0-3-1 0,2-4 1 16,4-4 1-16,5-7-8 0,-3-7 1 15,3-4-1-15,2-2 1 0,-2-3-11 0,-5-2 0 0,7 1 0 16,1-3 0-16,1-5-5 0,11 1 1 0,0-5-1 16,1-4 1-16,-1-3-11 0,0-6 0 0,0 2 1 15,3 0 0-15,1 2-4 0,-6 0 0 0,3 3 0 16,-8 1 0-16,8 3-5 0,-6 2 2 0,1 1 0 16,-4-4-1-16,1 1-8 0,1 0-1 0</inkml:trace>
  <inkml:trace contextRef="#ctx1" brushRef="#br0" timeOffset="967.07">3322 14276 1934 0,'-6'-2'0'0,"6"2"0"0,-7-4 0 0,7 4 42 0,2-5 0 0,-2 5 0 0,-2 2 0 0,2-2 28 0,-4 7 0 0,4-7-1 0,0 0 1 0,0 0-28 16,0 0 2-16,0 0-1 0,6-2 1 0,-6 2-30 15,16-5 2-15,-16 5 0 0,42-4-1 0,-11 2 2 0,4 0 0 16,-4-1 0-16,-5 3 0 0,-2 3-1 16,-8-1 1-16,-3 0 0 0,-2 0 0 0,0 0-1 0,-9 1-1 15,3 1 1-15,-1 3 0 0,-2-5-9 0,-2 5 0 16</inkml:trace>
  <inkml:trace contextRef="#ctx1" brushRef="#br0" timeOffset="1117.17">3311 14696 1507 0,'-2'18'0'15,"-2"-1"0"-15,2-1 0 0,2-9 40 0,2-5 2 0,4 5-1 16,-3 1 1-16,-1 4 14 0,4 1 1 0,-6-2 0 16,7-4 0-16,2-3-21 0,2-2 0 0,4-2 0 15,10-2 0-15,5-2-24 0,6-3 2 0,1-4-1 16,3-2 1-16,-5-3-8 0,-4-4 1 0,0-2 0 16,-7 0 0-16,5-3-3 0,-5 1 1 0</inkml:trace>
  <inkml:trace contextRef="#ctx1" brushRef="#br0" timeOffset="1322.84">3781 14316 1293 0,'0'0'0'0,"0"0"0"0,0 7 0 15,0-7 33-15,2 2 1 0,-2-2-2 0,2 13 2 0,-2-13 32 16,7 16 1-16,-7-16 1 0,5 27-1 0,-5-27-15 16,17 31 0-16,-17-31 0 0,24 33 1 0,-24-33-22 15,22 40 1-15,-22-40-1 0,29 40 0 0,-29-40-7 16,35 40 1-16,-35-40-1 0,38 35 1 0,-14-17 0 15,3 0-1-15,1-2 1 0,-1-5 1 0,-1-2-5 16,1-5 2-16,1-2-2 0,-1-2 1 0,-3-2-5 0,3-5 0 16,-3-2 0-16,-2-2 0 0,-7-4-9 0,-1-7 0 15</inkml:trace>
  <inkml:trace contextRef="#ctx1" brushRef="#br0" timeOffset="1501.45">4207 14101 1670 0,'-7'4'0'0,"7"-4"0"16,-7 7 0-16,7-7 32 0,-6 7 0 0,6-7 0 16,-11 20 0-16,11-20 28 0,-18 40-1 0,9-12 1 15,1 8 0-15,-3 8-20 0,-5 7-1 0,1-4 0 16,-1 9 2-16,1-1-14 0,-9 1-1 0,4-1 1 16,2 1 0-16,-2-1 10 0,0-2 0 0,5 1 0 15,4-5 2-15,0-9-1 0,6-3 1 0</inkml:trace>
</inkml:ink>
</file>

<file path=ppt/ink/ink10.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04T12:51:32.431"/>
    </inkml:context>
    <inkml:brush xml:id="br0">
      <inkml:brushProperty name="width" value="0.05292" units="cm"/>
      <inkml:brushProperty name="height" value="0.05292" units="cm"/>
      <inkml:brushProperty name="color" value="#FF0000"/>
      <inkml:brushProperty name="transparency" value="167"/>
    </inkml:brush>
  </inkml:definitions>
  <inkml:trace contextRef="#ctx0" brushRef="#br0">4615 8703 12 0,'0'0'0'0,"0"0"0"0,9 0 0 0,-9 0 0 0,15 0 0 0,-15 0 0 0,15 0 0 0,-15 0 0 0,0 0 0 0,0 0 0 0,3-5 0 0,-3 5 45 15,4-4 1-15,-4 4-1 0,0-5 1 0,0 5 45 16,4-6-1-16,-4 6 1 0,5-11 1 16,-5 11-39-16,4-9 1 0,-4 9-1 0,7-7 1 0,-7 7-8 15,0-9 0-15,0 9 0 0,0-4 0 0,0 4-12 16,0-3 2-16,0 3-1 0,0-4 1 0,0 4-2 16,0 0 0-16,0 0 1 0,0 0 0 0,0 0-1 0,0 0 0 15,0 0 1-15,0 0 0 0,0 0 0 0,0 0 1 16,0 0-1-16,0 0 0 0,0 0 4 15,0 0-1-15,0 0 0 0,0 7 0 0,0-7-4 0,-7 13 1 16,7-13-1-16,-4 13 1 0,4-13-7 0,0 14 1 16,0-14 1-16,0 15-1 0,0-15-6 0,0 11 2 0,0-11 0 15,2 16-1-15,-2-16-11 0,2 15-1 0,-2-15 0 16,7 18 1-16,-7-18-10 0,9 27 2 0,-9-27-2 16,8 35 1-16,-8-35-4 0,12 34 2 0,-12-34-1 15,17 35 0-15,-17-35-1 0,5 22 0 0,-5-22 0 16,6 25 1-16,-6-25-1 0,5 20 0 0,-5-20 0 15,4 22 0-15,-4-22 0 0,4 11 0 0,-4-11 0 16,7 16 0-16,-7-16 0 0,0 17 0 0,0-17 0 16,0 20 1-16,0-20-1 0,0 20 1 0,0-20-1 15,0 18 1-15,0-18 0 0,0 29 2 0,0-29-1 0,0 33 0 16,0-33 1-16,0 31 1 0,0-31-1 0,0 29 1 16,0-29 1-16,0 29 1 0,0-29-1 0,0 22 1 15,0-22-1-15,0 16 0 0,0-16 0 0,-7 15 0 16,7-15 0-16,-8 16 0 0,8-16 0 0,0 18 0 0,0-18 1 15,0 20 0-15,0-20-1 0,0 15 1 0,0-15-3 16,0 18 2-16,0-18-2 0,0 18 2 0,0-18-3 16,0 24 1-16,0-24 1 0,0 25-1 0,0-25 1 15,0 22 1-15,0-22-1 0,0 20 1 0,0-20 3 16,4 15 1-16,-4-15-1 0,4 11 1 0,-4-11-2 16,7 20 1-16,-7-20 0 0,4 27 1 0,-4-27 0 15,7 20 0-15,-7-20 0 0,4 18 0 0,-4-18-1 16,5 15 0-16,-5-15 0 0,4 18-1 0,-4-18 0 0,5 27 0 15,-5-27 0-15,6 24 0 0,-6-24-3 0,5 27 0 16,-5-27 0-16,4 27 0 0,-4-27-3 0,2 26 0 16,-2-26 1-16,3 25-1 0,-3-25-1 0,6 22 1 15,-6-22-1-15,5 26 1 0,-5-26-1 0,0 23 0 16,0-23 0-16,0 26 1 0,0-26-1 0,0 25 0 0,0-25 0 16,0 20 0-16,0-20 0 0,0 22 0 0,0-22 0 15,0 20 0-15,0-20 0 0,0 22 1 0,0-22 0 16,0 22 0-16,0-22 2 0,0 27-1 0,0-27 0 15,-5 27 2-15,5-27-1 0,-6 28 1 0,6-28 0 16,0 29 0-16,0-29 0 0,0 20 0 0,0-20-1 16,0 18 2-16,0-18-3 0,0 27 2 0,0-27-2 15,0 33 1-15,0-33-2 0,-5 33 0 0,5-33 1 16,-4 36 0-16,4-36-2 0,0 31 1 0,0-31-1 16,0 27 1-16,0-27-1 0,0 22 0 0,0-22 0 0,0 22 1 15,0-22-1-15,0 22 1 0,0-22 0 0,0 25 0 16,0-25-1-16,0 20 2 0,0-20-1 0,0 26 0 15,0-26-1-15,0 27 1 0,0-27-1 0,0 22 1 0,0-22-1 16,0 22 1-16,0-22-1 0,0 25 1 0,0-25-1 16,-5 15 0-16,5-15 0 0,-11 27 1 0,11-27-1 15,0 38 0-15,0-38 0 0,-4 33 2 0,4-33-2 16,0 29 0-16,0-29 0 0,0 22 0 0,0-22-2 16,0 20 1-16,0-20 0 0,0 18 1 0,0-18-3 15,0 27 1-15,0-27-1 0,0 28 1 0,0-28-5 0,0 27 2 16,0-27-1-16,-9 22 1 0,9-22-4 0,0 22 1 15,0-22-1-15,0 23 1 0,0-23 1 0,0 17 2 16,0-17-2-16,0 12 1 0,0-12 2 0,-2 13-1 16,2-13 1-16,-9 20 0 0,9-20 2 0,-4 22 0 15,4-22 0-15,-3 24 1 0,3-24-2 0,-4 20 2 16,4-20 0-16,-4 23 0 0,4-23 0 0,0 15 1 0,0-15 0 16,0 5 0-16,0-5-1 0,0 4 0 0,0-4-1 15,0 9 1-15,0-9-2 0,0 9 1 0,0-9-1 16,0 20 1-16,0-20-3 0,0 26-1 0,0-26 0 15,-5 23 1-15,5-23-3 0,-4 22 1 0,4-22-1 16,0 18 2-16,0-18-3 0,0 17 1 0,0-17 0 16,0 18 0-16,0-18 5 0,0 18-1 0,0-18 1 15,0 22 0-15,0-22 1 0,0 22 2 0,0-22 0 16,-2 27 0-16,2-27 0 0,-5 27 0 0,5-27 0 16,-4 20 2-16,4-20-1 0,-2 20 0 0,2-20 0 15,-5 15 1-15,5-15-1 0,-6 18 2 0,6-18-2 0,-5 22 1 16,5-22-1-16,-7 20 1 0,7-20-1 0,-2 27 2 15,2-27-2-15,-4 26 0 0,4-26 0 0,-2 25 1 16,2-25-2-16,0 20 0 0,0-20 0 0,0 22 0 0,0-22-2 16,0 16 1-16,0-16 0 0,0 15 0 0,0-15-4 15,0 18 2-15,0-18-2 0,0 22 2 0,0-22-4 16,0 25 2-16,0-25-2 0,0 22 1 0,0-22-2 16,0 22 2-16,0-22-2 0,0 18 1 0,0-18-1 15,0 17 0-15,0-17 1 0,0 20-1 0,0-20 1 0,0 16 1 16,0-16 0-16,0 18 0 0,0-18 0 0,0 18 2 15,0-18-1-15,0 22 1 0,0-22-1 0,0 22 1 16,0-22-1-16,0 27 1 0,0-27 1 0,0 26-1 16,0-26 1-16,-3 20 1 0,3-20-1 0,-2 16 1 15,2-16 0-15,-4 26 0 0,4-26-1 0,0 27 2 16,0-27 0-16,0 18 0 0,0-18 0 0,0 18 0 16,0-18 0-16,0 17 0 0,0-17-2 0,0 16 1 15,0-16 0-15,0 11 1 0,0-11-3 0,0 13 2 0,0-13-1 16,0 14 0-16,0-14 1 0,0 20 0 0,0-20 0 15,0 15-1-15,0-15 1 0,0 18 1 0,0-18 0 16,4 27 0-16,-4-27 0 0,2 26 0 0,-2-26-1 16,0 25 2-16,0-25 0 0,0 20 0 0,0-20 0 15,0 13 0-15,0-13 0 0,0 11 0 0,0-11 0 16,0 22 0-16,0-22 0 0,0 22 0 0,0-22 0 0,0 14 0 16,0-14-1-16,0 13 1 0,0-13 0 0,0 18 0 15,0-18-1-15,3 18 1 0,-3-18 0 0,6 22 0 16,-6-22-1-16,2 18 1 0,-2-18-1 0,7 20 1 15,-7-20-1-15,0 15 0 0,0-15 0 0,0 16 1 0,0-16-1 16,0 11 1-16,0-11 0 0,0 18 0 0,0-18-2 16,5 17 2-16,-5-17 0 0,0 14 0 0,0-14 0 15,0 13 0-15,0-13 0 0,0 11 0 16,0-11 0-16,0 7 2 0,0-7-2 0,0 9 1 0,0-9 0 16,0 11 1-16,0-11 0 0,0 2 0 0,0-2 1 15,0 4-1-15</inkml:trace>
  <inkml:trace contextRef="#ctx0" brushRef="#br0" timeOffset="1598.86">8439 15784 75 0,'0'0'0'0,"0"0"0"0,0 0 0 16,0 0 4-16,4-7 2 0,-4 7-2 0,0-4 2 0,0 4 69 0,0-4 0 0,0 4 0 0,0-5 1 0,0 5 9 0,0 0 0 0,0 0 0 0,0 0 2 15,0 0-18-15,0 0 1 0,0 0 0 0,5 0-1 0,-5 0-35 16,0 0 1-16,0 0-1 0,4 0 1 0,-4 0-2 16,2 0 0-16,-2 0 0 0,5 11 1 15,-5-11-4-15,4 36 1 0,5-10 1 0,4 5-1 0,7 7 3 16,0 9 1-16,2-5-1 0,-2-6 1 0,-1-1-2 15,-3-4 0-15,4 0 1 0,-3-4 0 0,1 0-4 16,2-3 0-16,-5-2 1 0,1 0 0 0,-1 3 4 0,-4-5 1 16,2 2-1-16,1-2 1 0,-3-4-14 0,2-1 2 15,-4-4-1-15,2-2 1 0,-9-5-9 0,2-1 2 16</inkml:trace>
  <inkml:trace contextRef="#ctx0" brushRef="#br0" timeOffset="2115.94">9178 15722 1444 0,'0'15'0'0,"0"-15"0"15,-5 20 0-15,5-20 26 0,0 7 1 0,0-7-2 16,-4 5 2-16,4-5 9 0,-16 6 0 0,16-6 0 15,-15 20 0-15,15-20-13 0,-20 33 2 0,20-33 0 0,-22 40 0 16,9-17-18-16,2-1 1 0,0-2 0 0,-5 0 0 16,5-7-4-16,-6 3 1 0,1-1-1 0,3 1 1 15,2-3-3-15,2-2 2 0,5-2-1 0,-1-2 0 16,-1 4-1-16,-3-4 1 0,2 1-1 0,3-3 0 0,-5 1 0 16,2-3 2-16,3 1-1 0,-1 1 1 15,1-1 1-15,4 0 1 0,-2 1-1 0,2-1 1 0,-5 1 2 16,-1 1 0-16,1 3 0 0,5 0 1 0,-6 0 1 15,6 0 0-15,-2-2 0 0,-1-1 0 0,1 1 1 16,2 0 0-16,0-1 1 0,0 1-1 0,0 0 1 0,0-3 1 16,0 1-1-16,2-1 0 0,1 3 2 0,-1-5 0 15,4 2 1-15,-6 1-1 0,3-1 1 0,-1 3 1 16,4 4-1-16,-1 4 1 0,-3 3-1 0,11 4 0 16,-8 1 0-16,1-1 1 0,3 2-2 0,-2 1 1 15,-3-1 0-15,1 5-1 0,1 2 0 0,-1 2 0 16,-5 5 1-16,6-5-1 0,1 3-2 0,2 2-1 15,-1 2 0-15,-3-3 0 0,-3-1-2 0,3 2 0 0,-1-3 0 16,5 1 1-16,2-1-1 0,4-4 0 0,-6 0 0 16,2-2 0-16,-7-2-1 0,3-3 1 0,-3-1 0 15,1-3 0-15,2-7-2 0,-3 0 1 0,3-2-1 16,-7-2 1-16,0-2-2 0,0 0-1 0,0-3 1 16,0 0 1-16,0-4-5 0,0 0 1 0</inkml:trace>
  <inkml:trace contextRef="#ctx0" brushRef="#br0" timeOffset="3015.46">9581 16666 1683 0,'7'-5'0'0,"-7"5"0"0,17-4 0 0,-17 4 20 0,27-2 1 0,-27 2 1 0,31-16-1 0,-9 5 6 0,6-2 1 0,-1-1-1 0,-1-1 1 0,5-5-12 0,2 0 0 15,-2 2 0-15,-4-4 1 0,-5 4-8 0,-2 0 0 16,-5 0 0-16,0 3 0 0,-1-1-3 0,-3 1 0 16,-7-1 0-16,-2 3 1 0,1 2-6 0,-3 4 1 15,0-4 0-15,0-2 0 0,0-1 3 0,0 1 1 0,-3 2-1 16,1 0 1-16,-2 2-5 0,-1 7 1 0,-1-5 0 15,-5 0 1-15,2-1-3 0,-7 1 1 16,1 2-1-16,-5 1 1 0,-4 0 0 0,-3-1 0 0,1 1 0 16,2-1 2-16,2 3 1 0,-3 2 0 0,1 2 1 15,2 3-1-15,2 4 5 0,5-3 0 0,-1 8 0 16,1-1 1-16,-3 2 1 0,5 5-1 0,-2 3 0 16,4-1 1-16,2 2-1 0,-2 1 1 0,6 1-1 15,-4 3 2-15,7 7 0 0,-2-3 1 0,-1 3 0 16,3-1 0-16,0 1 4 0,2-3 1 0,2-2-1 15,0 2 1-15,3-8 0 0,-1-1 0 0,1-4 0 16,1-2 1-16,3-2-1 0,2-5 1 0,-2 2-1 16,13-4 1-16,-2 2-2 0,6 2 0 0,5-4-1 0,-2-7 1 15,2-8-3-15,2-8 0 0,2 3 0 0,0 0 0 16,1 0-1-16,1-2-1 0,-2-1 0 0,-4 1 1 0,-6 0-5 16,-8 2 1-16,5-5-1 0,-2-2 1 0,2-2-3 15,-2-2 1-15,0-2 0 0,6 2-1 0,-4-5-5 16,3 2 2-16,-1 1-2 0,-2 0 1 15,-4-3-2-15,4 0 0 0,0 1 0 0,2-1 0 0,-4 3-1 16,-5-3 1-16,3 0 0 0,0-2 0 0,-1 1-2 16,-1-4-1-16,-3 4 1 0,2 1 0 15,-4 3-4-15,5-1 1 0,-7 1-1 0,-5 1 2 0,7 3-5 16,-9 3 1-16,7-3 0 0,-2 2 0 0,-3 7 0 16,-4 4 0-16,0-2 0 0,0 3 1 0,0-1 2 15,0 3 2-15,0 1-2 0,0 1 2 0,0 0 2 0,-2 0 0 16,-5-1 0-16,5 3 1 0,-2 3 0 0,-1-1 0 15,-1 0 0-15,-3 3 1 0,0 1 2 0,2 3 0 16,1 4 1-16,-5 3 0 0,2 8 6 0,0-4 2 16,2 7-2-16,3-3 1 0,4-1 3 0,4-1 1 0,3-2 0 15,2-2 0-15,0-3 2 0,2 1 0 0,2 1 0 16,-2 3 0-16,7 3-2 0,1-1 1 0,-3-2 0 16,4-2 1-16,-5-1-4 0,5-3 1 0,-7 3-1 15,7 1 2-15,-4 4-5 0,3 1 1 0,1-1 0 16,0 0 0-16,2 0-3 0,2 0 0 0,1 3 0 15,-8-1 0-15,1 1-1 0,-3 1-1 0,3 1 1 16,-3-3 0-16,-1 1-3 0,-3-3 2 0,-5 0-2 0,3 3 2 16,-9-3-2-16,0 0 1 0,-4 0-1 0,-5 1 1 15,-2-3-1-15,-2 0 1 0,-1 0-1 0,-8-3 1 16,-2 3-1-16,-2 0 1 0,-7 2-1 0,-1 3 1 16,-5 2 2-16,-3-1-1 0,-4 1 1 0,-3-7 1 0,3-7-1 15,4-4-1-15,-4-7 1 0,-1-4 1 0,5-7-1 16,3-4 1-16</inkml:trace>
</inkml:ink>
</file>

<file path=ppt/ink/ink11.xml><?xml version="1.0" encoding="utf-8"?>
<inkml:ink xmlns:inkml="http://www.w3.org/2003/InkML">
  <inkml:definitions>
    <inkml:context xml:id="ctx0">
      <inkml:inkSource xml:id="inkSrc0">
        <inkml:traceFormat>
          <inkml:channel name="X" type="integer" min="-1920" max="300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4T13:01:50.826"/>
    </inkml:context>
    <inkml:brush xml:id="br0">
      <inkml:brushProperty name="width" value="0.05292" units="cm"/>
      <inkml:brushProperty name="height" value="0.05292" units="cm"/>
      <inkml:brushProperty name="color" value="#FF0000"/>
    </inkml:brush>
  </inkml:definitions>
  <inkml:trace contextRef="#ctx0" brushRef="#br0">17517 2364 0</inkml:trace>
</inkml:ink>
</file>

<file path=ppt/ink/ink12.xml><?xml version="1.0" encoding="utf-8"?>
<inkml:ink xmlns:inkml="http://www.w3.org/2003/InkML">
  <inkml:definitions>
    <inkml:context xml:id="ctx0">
      <inkml:inkSource xml:id="inkSrc0">
        <inkml:traceFormat>
          <inkml:channel name="X" type="integer" max="3408" units="cm"/>
          <inkml:channel name="Y" type="integer" max="2256" units="cm"/>
          <inkml:channel name="T" type="integer" max="2.14748E9" units="dev"/>
        </inkml:traceFormat>
        <inkml:channelProperties>
          <inkml:channelProperty channel="X" name="resolution" value="119.57895" units="1/cm"/>
          <inkml:channelProperty channel="Y" name="resolution" value="118.73684" units="1/cm"/>
          <inkml:channelProperty channel="T" name="resolution" value="1" units="1/dev"/>
        </inkml:channelProperties>
      </inkml:inkSource>
      <inkml:timestamp xml:id="ts0" timeString="2024-06-04T13:09:22.607"/>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1" timeString="2024-06-04T13:09:25.516"/>
    </inkml:context>
  </inkml:definitions>
  <inkml:trace contextRef="#ctx0" brushRef="#br0">12425 14505 0</inkml:trace>
  <inkml:trace contextRef="#ctx1" brushRef="#br0">7197 9422 12 0,'0'-4'0'0,"0"4"0"0,20 11 0 0,-20-11 0 0,42 24 0 0,-42-24 0 0,31 11 1 0,-31-11 15 0,4 5 1 0,-4-5-2 0,0-5 2 0,0 5 35 0,-4 0 0 0,4 0 0 16,-7-4 1-16,7 4 29 0,-4 0 1 0,4 0 0 15,-5-5 0-15,5 5-44 0,-11-2 0 0,11 2 1 16,-9-11 0-16,9 11 2 0,-8-9 0 0,8 9 0 16,-7-4 0-16,7 4-8 0,-4-2 0 0,4 2-1 15,-3-5 2-15,3 5-8 0,-11-7 1 0,11 7 0 16,-4-4 0-16,4 4-6 0,-9 0-1 0,9 0 0 16,-11 0 2-16,11 0-5 0,-20 0 0 0,20 0 0 15,-15 0 1-15,15 0 0 0,-20 0 0 0,20 0 0 0,-15 0 1 16,15 0-5-16,-27 0 0 0,27 0 1 0,-24 0 0 15,24 0 6-15,-22 11 1 0,22-11-1 0,-24 5 2 0,24-5-2 16,-27 11 2-16,27-11-2 0,-26 2 2 0,26-2-3 16,-20 4 0-16,20-4 1 0,-16 9-1 0,16-9-6 15,-20 7 0-15,20-7 1 0,-11 15 0 0,11-15-7 16,-13 20 0-16,13-20 0 0,-11 18 1 0,11-18-6 16,-15 27 1-16,15-27-1 0,-11 33 2 0,11-33-4 0,-16 40 0 15,10-16 1-15,3-4 0 0,3 5-2 16,-4-1 1-16,2-1 1 0,2-1-1 0,-5 2 3 0,5-4 2 15,-4 2-1-15,4-4 0 0,-7 2 5 0,3 0 0 16,0-4 0-16,-1 4 0 0,1 2-3 0,2 4 0 16,-3-3 0-16,1 1 1 0,-1 3-5 0,3 2 1 15,-2-1-1-15,-1-1 2 0,-1 0-4 0,6-1 1 16,-5 1 0-16,1 0 0 0,-1 4-2 0,3-5 1 0,2 6 1 16,-6-4-1-16,6-1-1 0,-3 0 0 0,3 2 0 15,-4-1 0-15,0 1 2 0,4 0-1 0,-3 0 0 16,3 2 0-16,-4 2 3 0,-3-1-1 0,3 1 1 15,4 2 0-15,-7-4 2 0,7 3 1 0,-2-1-1 16,0 0 1-16,2 1 1 0,2-3 1 0,-2-2-1 16,-2 0 1-16,-2-3 1 0,-1 1 0 0,5 4 0 15,0-4 1-15,0 1 1 0,5 1 1 0,-5 0-1 16,2 0 1-16,0 2-3 0,0 2 0 0,0 1 0 16,5-5 0-16,-3 2-2 0,3 2 0 0,-3-2 0 15,-1-2 1-15,5 2-2 0,1-2 0 0,-7 0 0 0,3 0 0 16,-5-3-3-16,4 1 1 0,-4 0 0 0,5-1 0 15,-5 1 0-15,2-5 1 0,2 5-2 0,-4 2 2 0,0 4-1 16,0-2-1-16,-4 5 1 0,4-3 0 16,0 2-1-16,0 1 1 0,0-5-1 0,0 4 1 15,0-3-4-15,0-6 2 0,-2 3-1 0,2 0 0 0,-5-7-3 16,5 0 1-16,0-2 1 0,-4 0-1 0,4 0-1 16,4 3 0-16,-4-6 0 0,0 8 1 0,0-3-1 15,0 9 0-15,0-4 0 0,0-1 0 0,0 1 0 0,0 0 0 16,0-1 0-16,0 1 1 0,0 2-1 15,0 2 1-15,0 2 0 0,0-6 0 0,-4-3 0 0,-1 3 2 16,3 0-2-16,2-3 1 0,2 0 1 0,3 1 1 16,-5-1-1-16,0 3 2 0,0 2 0 0,0 0 2 15,0-3-1-15,0 3 0 0,0 2 1 0,0 3 1 16,0-3-1-16,0 0 1 0,4-2-2 0,-4-1 1 16,5-1 0-16,-5 0 1 0,2-1-3 0,2 1 1 0,-4-5-1 15,5 0 1-15,-1 3-1 0,-4-5-1 0,2 2 0 16,1-2 1-16,-1 2-3 0,2-2 2 0,-4 2-2 15,0 5 1-15,5 4-1 0,-3 0 2 0,2 0-2 16,1 3 1-16,-5-1 0 0,4 0-1 0,-4-4 0 16,2 2 0-16,0 0 0 0,-2-2 0 0,7 0 0 15,-7-2 0-15,4-1 1 0,-4 1-1 0,5 0 0 16,-5-3 0-16,2-2 0 0,-2-2 1 0,0 2-1 16,4-4 0-16,-4 2 0 0,0 2 2 0,0 3-2 0,0-7 1 15,0 2 0-15,0 0 0 0,0 0 0 0,3 0 1 16,-3-3-1-16,0-1 2 0,0-3-1 0,0 1 1 15,0 1-3-15,6 3 1 0,-6 0 1 0,5-3-1 16,-5 3-2-16,6 4 1 0,-1-6 1 0,-3 4-1 16,2-3-1-16,1 1 1 0,-3-2 0 0,2-1 1 15,-1 1-2-15,-1-1 1 0,-2-12-1 0,4 3 1 0,-4-4 0 16,5 3-1-16,-5 2 0 0,4-1 0 0,3 1 0 16,-3 0 1-16,0 1-1 0,-1 1 2 0,5 0-2 15,-3 0 0-15,1-2 0 0,3 2 1 0,-4-5 0 16,1 3 1-16,3-1-1 0,0-1 1 0,0-1 0 15,0 1 0-15,2-1 0 0,4 3 1 0,-4-7-2 0,2 2 0 16,-2 0 0-16,5-2 2 0,-7 0-2 0,2 0 1 16,0 2 1-16,0-2-1 0,2 3-1 0,-2-1 1 15,-4 0-1-15,1-2 1 0,1 0-1 0,2 0 2 16,-4 0-2-16,2 0 1 0,2 0 0 0,-2 0-1 16,-1 0 0-16,1-2 0 0,0-3 0 0,2 1 0 0,-4 2 0 15,6-5 0-15,-6 3-1 0,1-1 1 0,3-1-1 16,3-1 1-16,-3-2-1 0,-3 0 0 0,3 0 0 15,-4 0 0-15,0 1-1 0,4 1 2 0,-2 2-1 16,-1-3 0-16,-1 1-1 0,2 0 1 0,0 1 0 16,2-1 0-16,-5 0 0 0,3 1 0 0,-5-1 0 15,8-2 1-15,-4 0-2 0,3 0 1 0,0 0-1 16,-4 0 1-16,2-4-1 0,0 0 1 0,2 0 0 16,-5-1 0-16,3 1-1 0,-4 2 1 0,-1 4-1 15,3-4 1-15,-3 0-1 0,-2 0 2 0,3-3-2 16,-1 1 1-16,0 0-1 0,1 2 0 0,1 0 0 0,-6 2 1 15,5 2-1-15,-5-4 0 0,4 2 0 0,-4 0 1 16,2 0-1-16,3 0 0 0,-3 3 0 0,-2-3 1 16,7 2-1-16,-7 1 0 0,4-3 0 0,3-5 1 0,-3 3-1 15,-2 0 0-15,1 5 0 0,-1-6 1 16,2 4-1-16,-4 1 1 0,2-4-1 0,-2 2 2 0,5 0-2 16,-3 0 1-16,5-4-1 0,-3 2 1 0,-2 0-1 15,3-1 1-15,-1-3-1 0,-4-5 1 0,4 4-1 16,-4-1 0-16,5 1 0 0,-5-4 1 0,2 0-1 15,2 2 0-15,-4 3 0 0,5-3 1 0,-5 3-1 0,4-1 0 16,-4 3 0-16,2-1 1 0,3 3-1 0,-5 2 0 16,4-4 0-16,-4 2 2 0,5 0-2 0,-5 0 0 15,2 0 0-15,-2-3 1 0,0 1-1 0,0-3 1 16,0-6-1-16,0 2 1 0,0 0-1 0,0-2 1 16,-2 2-1-16,2 0 1 0,-5 0-1 0,5 0 1 0,-4-2 0 15,4 0 1-15,-5-1-1 0,3 1 0 16,2-2 0-16,-4-1 1 0,4 5-1 0,-5-6 1 0,5 4 0 15,-4 2 0-15,2-3 0 0,2 3 0 0,-5 0 1 16,5 0-1-16,-4 3 0 0,4-6 0 0,-4-1 1 16,1 2 0-16,1-5-1 0,0 3 0 0,2 2 1 15,-4-3 0-15,4 3-1 0,-5 0 2 0,3-1-2 16,0 4 1-16,-3-6-1 0,3 3 2 0,-2-5-2 16,-1 1 1-16,3-1 0 0,-2 0 0 0,-3 1 0 15,7-1 1-15,-2 0-1 0,2 3 1 0,0 2-1 16,0 0 0-16,0 2 0 0,0 0 0 0,0-3 0 15,0 1 1-15,0 2-1 0,0-4 0 0,0 6 1 16,0 2-1-16,0-4 0 0,0 5 1 0,0-1-1 0,2 1 1 16,-2-1-2-16,0 3 1 0,0-3-1 0,7 1 2 15,-7-3-2-15,0 0 1 0,4 1 1 0,-4-6-1 0,2 3 0 16,1 0 1-16,-1 5-1 0,2-1 1 0,-4 1-2 16,2-1 1-16,-2 3-1 0,5 0 2 0,-3-1-2 15,0 1 1-15,3 0 1 0,-5-1-1 0,4 1-1 16,-4 0 1-16,4-3-1 0,-1 1 1 0,1-1 0 0,-4 0 0 15,4-1-1-15,-4-3 1 0,5 0 0 0,-5 0 0 16,2 4 0-16,2 1 1 0,-4 1-1 0,0 1 1 16,0 0-1-16,0-1 0 0,5 5 1 0,-5-4-1 15,0 0 0-15,4-1 2 0,-4 1-2 0,0 0 1 16,0-1-1-16,0 1 1 0,0 0 0 0,0 0-1 16,0-3 1-16,0 0-1 0,0 1 0 0,0 2 1 15,0-3-1-15,0-4 0 0,0 2 0 0,0 1 0 16,0-1-1-16,0 0 2 0,0 0-2 0,0 0 1 0,0 3 1 15,0-1-1-15,0-1-1 0,0 1 0 0,0-2 1 16,0 1 0-16,0 1-1 0,0-4 2 0,0 4-2 16,0 1 1-16,0-1 0 0,0 5 0 0,0 0 0 15,0 0 1-15,0 0-1 0,0 2 0 0,0 2 1 16,0 1-1-16,0 1-1 0,0-4 2 0,0-2-2 16,0 0 1-16,0 0 0 0,0-4-1 0,2-1 0 15,3 0 1-15,-5 1-1 0,0-1 0 0,0 1 0 16,0-1 0-16,0 3-1 0,0 0 2 0,0-1-2 15,0 1 1-15,0 0-1 0,0-1 1 0,0 1 1 0,0 0-1 16,0 2-1-16,0 0 1 0,0-5-1 16,0 3 2-16,0-1-2 0,0 1 1 0,0 0 0 0,0-1 0 15,0 1 0-15,0 0 0 0,0-3 0 0,0 1 0 16,0-1 1-16,0-2-1 0,0 7 0 0,0-4 0 16,0 4-1-16,0-1 2 0,0 8-1 0,0-5 0 0,0 2 0 15,0 1 1-15,0 1-1 0,0-4 0 0,0 3-1 16,0-1 1-16,0-2 1 0,0-2-1 0,4-2-1 15,-4 2 1-15,5-3-1 0,-5 3 2 0,0-2-2 16,0 2 0-16,0-7 0 0,2 3 1 0,-2-1-1 0,0 0 1 16,0 3-1-16,2 2 1 0,-2 0-1 0,0 0 1 15,0 4-1-15,0 3 2 0,0-5-2 0,0 2 0 16,0-4 0-16,0 2 1 0,0 3-1 0,0-6 1 16,0 1-1-16,0 2 1 0,-2-2-1 0,0-4 0 15,2 2 0-15,-5-1 0 0,5 1 0 0,-4 0 1 16,4-1-1-16,0 1 1 0,0 0-1 0,0 1 0 0,0 1 0 15,0-4 2-15,0 4-2 0,0-5 0 0,0 5 0 16,0-4 0-16,0 3 0 0,0-3 0 0,0 4 0 16,-5 0 1-16,3 2-2 0,2-2 1 0,-4 0 0 15,4-3 0-15,-5 3-1 0,5 0 1 0,0 4 0 16,0 3 0-16,0-3-1 0,0 3 1 0,0-3 1 16,0 1-1-16,0-1-1 0,0 0 1 0,-4-4-1 15,2 0 1-15,2 2-1 0,0-2 1 0,0-2-1 16,-5 2 1-16,5-1-1 0,-4 1 1 0,4 7 0 15,0-3 1-15,0 1-2 0,-4-1 1 0,1-4-1 16,1 0 1-16,0 0-1 0,2 0 1 0,-4-1-1 0,4 1 1 16,-7 0-1-16,0-2 0 0,5 2 0 0,2-5 1 15,-6 5-1-15,1 0 0 0,1 0 0 0,-3-2 1 0,5 2-1 16,0-1 1-16,-5 1-1 0,5-4 2 0,-5 4-2 16,3-5 0-16,-1 5 0 0,-1 2 1 0,6 2-1 15,-5-4 0-15,1 7 0 0,4-5 1 0,-4 2-1 16,1 1 0-16,1 1 0 0,0 1 1 0,2-1-1 0,-4-1 1 15,-3-3-1-15,3 2 1 0,-1-4-1 16,-4 2 1-16,7 3-1 0,-7-6 1 0,3 4-1 16,-1 1 1-16,0-4-1 0,1 2 2 0,1 0-2 0,-3 2 1 15,5 3-1-15,-3 2 1 0,1-3-1 0,1-1 0 16,0 1 0-16,-1 1 1 0,-2-1-1 0,7 1 0 16,-8 2 0-16,1-5 1 0,-2 3-1 0,-2-1 1 15,-2 1 0-15,6-1 0 0,-4 3-1 0,-2-5 2 16,2 5-1-16,0 0 0 0,0 2 0 0,2-5 0 15,-6 5 0-15,4-4 1 0,-5 2 0 0,3 0 0 0,-2 2 0 16,8 0 0-16,-4 0-1 0,-2 0 2 0,2 0-2 16,0 0 1-16,0 2-1 0,2 0 1 0,0-2 0 15,2 4 0-15,3-4-2 0,0 5 1 0</inkml:trace>
  <inkml:trace contextRef="#ctx1" brushRef="#br0" timeOffset="1082.03">7305 14476 12 0,'0'-4'0'0,"0"4"0"0,0-7 0 0,0 7 0 0,9-9 0 0,-9 9 0 0,4-7 0 0,-4 7 67 0,0-6 1 0,0 6-1 16,0-5 0-16,0 5 16 0,0-4 1 0,0 4-1 15,0-4 2-15,0 4-20 0,0-5 1 0,0 5-1 16,-4-2 1-16,4 2-22 0,-4-7 0 0,4 7-1 15,0-4 1-15,0 4-12 0,0-5 0 0,0 5 1 16,0-4-1-16,0 4-6 0,0-5 1 0,0 5 0 16,-5-4 0-16,5 4-7 0,-4-4 1 0,4 4 0 15,0-5 0-15,0 5 1 0,0-4 1 0,0 4-1 0,0 0 2 16,0 0 12-16,-7-7 1 0,7 7-1 0,-4-4 1 16,4 4 5-16,-5-3 2 0,5 3 0 0,-2 7 0 15,2-7-2-15,0 7 1 0,0-7 0 0,7 31-1 0,2 2-7 16,-3 5 1-16,3 2-1 0,-5 2 1 15,3 2-2-15,-3-1 2 0,3 1-1 0,0 5 1 16,4 2-3-16,0 4 0 0,0-4 1 0,4-4 0 0,-4-2-6 16,2-6 0-16,-2-1 0 0,-4 2 0 0,2 0-5 15,0 2 1-15,0-6-1 0,4 2 2 0,-2-3-2 0,-2 1-1 16,2-3 1-16,-5-4 0 0,3-7-3 0,-2-2 2 16,2-4-2-16,-5-5 1 0,-4-7-6 0,0-2-1 15,0-2 1-15,0 0 1 0,0 0-5 0,0 0 0 16,0-2 0-16,-4-2 0 0,-1-1-3 0,-1-4 0 15,-8-11 0-15,8-6 0 0,-12-12-5 0,0-11 2 16</inkml:trace>
  <inkml:trace contextRef="#ctx1" brushRef="#br0" timeOffset="1367.27">7263 14352 1620 0,'0'-5'0'0,"0"5"0"0,3-4 0 0,-3 4 12 0,13-5 2 0,-13 5-1 0,4-4 1 0,-4 4 9 0,-4-4 1 0,4 4-1 0,-9 0 1 16,9 0-8-16,-4 0-1 0,4 0 1 0,-3 0 1 16,3 0-9-16,-13 8 0 0,13-8-1 0,-18 14 1 15,18-14 2-15,-15 22 2 0,15-22-1 0,-24 33 0 0,13-6 6 16,0 4 1-16,2-2-1 0,2 2 1 0,3 0 9 15,-5 0 1-15,5 0-1 0,1-6 1 0,3-1-3 16,-4 1 2-16,4-3 0 0,0-7 0 0,-4 1-3 16,4-5-1-16,0-4 1 0,0-3 1 0,4 0-7 15,0-4 0-15</inkml:trace>
  <inkml:trace contextRef="#ctx1" brushRef="#br0" timeOffset="1516.49">7310 14398 1520 0,'4'5'0'16,"-4"-5"0"-16,20 11 0 0,-20-11 26 0,42 9 1 16,-22-2 0-16,-1 4 0 0,-3 2 10 0,-1 0 1 0,1-2-1 15,1 3 1-15,3-5-28 0,-4 2 0 0</inkml:trace>
  <inkml:trace contextRef="#ctx1" brushRef="#br0" timeOffset="1932.2">7638 15338 1105 0,'0'-3'0'16,"0"3"0"-16,13-6 0 0,-13 6 7 0,31-9 0 15,-31 9 1-15,20-7 0 0,-20 7 22 0,0-2 2 16,0 2-1-16,11-7 1 0,-11 7 0 0,20-11 2 15,-20 11 0-15,31-22-1 0,-5 9-6 0,5-3 0 16,5-2 0-16,-6 3 0 0,6 2 13 0,-1-3 2 16,-2 3-1-16,2-1 1 0,9 1 1 0,3 2 0 15,-8 2 0-15,-1 2 1 0,-3-1-4 0,-8-1 1 0,4 0-1 16,-3 0 0-16,-8 0-6 0,0 2 0 0,-5 1-1 16,1-1 2-16,-10 0-9 0,-1 5 1 0,-5-2-1 15,2 1 1-15,-2 3-16 0,4 0 1 0</inkml:trace>
  <inkml:trace contextRef="#ctx1" brushRef="#br0" timeOffset="2148.65">8075 15211 1419 0,'-11'9'0'0,"2"2"0"0,2-4 0 16,5-5 24-16,0-2-1 0,2 2 1 0,-4 7-1 15,4 0 22-15,-5 4 0 0,-4 3 0 0,9-1 0 16,0 1-11-16,0-1 0 0,5 5 0 0,-1 5 1 0,1 4-12 15,-1 2 1-15,-2 2-1 0,3 0 1 16,-1-1 6-16,-4-1 2 0,4 0-2 0,1-2 2 0,1-5 0 16,-1 0 2-16,-1 1-2 0,3-1 2 0,0 1 1 15,-1-3 1-15,1 0-2 0,-3-2 2 0,-2-4-7 16,3-3 1-16,-5-4-1 0,4-7 1 0,-4 0-7 16,2 1-1-16</inkml:trace>
  <inkml:trace contextRef="#ctx1" brushRef="#br0" timeOffset="2418.96">8719 14851 1721 0,'0'0'0'0,"0"0"0"15,4 0 0-15,-4 0 38 0,2 0 0 0,-2 0 0 16,-6 5 1-16,6-5 26 0,-20 15 0 0,20-15 0 15,-38 29 1-15,14-2-28 0,-2 6 1 0,-5-2 0 16,11 3 0-16,0-8-19 0,5 1 1 0,4 6 1 16,-7 7-1-16,5 7-6 0,-5 6 0 0,5-2 0 15,4 2 1-15,3 1-1 0,1-1 2 0,-4-2 0 16,5-4 0-16,2-7 0 0,2-5 0 0,-5-1-1 0,5-3 2 16,0-2-2-16,5-5 0 0,-5-4-1 0,2-5 2 15,2-3-8-15,1-6 0 0</inkml:trace>
  <inkml:trace contextRef="#ctx1" brushRef="#br0" timeOffset="2648.13">8595 14940 1683 0,'5'5'0'0,"-5"-5"0"0,11 15 0 0,-11-15 40 0,11 7 2 16,-11-7-1-16,15 18 1 0,-15-18 9 0,20 40 2 15,-13-14-1-15,6 5 0 0,-2 7-20 0,0 9-1 16,2 2 1-16,3-1-1 0,-1 4-16 0,1-1-1 16,-3-5 1-16,4-1 1 0,-1-5-1 0,-5-3 2 15,4-3-1-15,-4-3 1 0,3-7 1 0,-1-4 0 16,-2-4 0-16,2-3 0 0,-4-2-2 0,-7-11 1 0</inkml:trace>
  <inkml:trace contextRef="#ctx1" brushRef="#br0" timeOffset="2799.36">8483 15562 1632 0,'6'-4'0'0,"-6"4"0"16,16-3 0-16,-16 3 44 0,11-2 0 0,-11 2 0 0,24-7 0 16,-24 7-4-16,35-15 0 0,-12 4 1 0,7-3-1 15,10-1-27-15,11-1 1 0</inkml:trace>
  <inkml:trace contextRef="#ctx1" brushRef="#br0" timeOffset="3548.6">9422 14803 1004 0,'5'-9'0'0,"-5"9"0"0,6-18 0 0,-6 18 17 16,5-16 0-16,-5 16-1 0,2-15 1 0,-2 15 19 15,0-22 0-15,0 22 0 0,0-20 0 0,0 20-6 0,-7-16 2 16,7 16-2-16,-20-20 1 0,20 20-9 0,-15-22 0 15,15 22 0-15,-26-22 1 0,26 22-1 0,-40-25 1 16,40 25-1-16,-38-13 1 0,38 13 17 0,-33 7 2 16,33-7-2-16,-44 15 2 0,24 3 6 0,-4 2 0 15,2 4 0-15,2 5 2 0,5 4-3 0,-1 7 0 16,1 3 0-16,6-1 0 0,-6 0-8 0,4 0 1 16,2 5-1-16,2 2 1 0,9-3-3 0,7-1 2 0,-2 1-1 15,2 1 0-15,-1 0-7 0,3-1 2 0,5-1-1 16,-3-5 1-16,11-7-4 0,1 0 0 0,1-4 1 15,3-4 0-15,-1-3-2 0,6-4 0 0,-4-3 0 16,-3-4 0-16,2-2-4 0,-5-2-1 0,4-5 1 16,-3-2-1-16,-5-2-4 0,4-3 2 0,-2-1-2 15,-2-3 1-15,-3 2-6 0,3-6 2 0,0-1 0 16,0-1 0-16,-2-3-9 0,1-2 1 0,-3 0 0 16,-3-2 1-16,-2-2-6 0,-6 1 2 0,-3-1-1 15,-2-1 1-15,-2 1-3 0,-3 0 0 0,1-1 1 16,-7 3-1-16,2 4-2 0,2 0 0 0,-6 3 0 0,-2 2 0 15,-3 4-1-15,-2 0 1 0,0 2 0 0,5 3 0 16,4 4-6-16,-2 0 1 0,-1 2-1 0,-1 2 0 0,2 5-33 16,-3 2 0-16,1 5 0 0,4-7-1 0,-5 2-27 15,3 0 0-15,2 0-1 0,2 0 2 0,3 0 11 16,-1 0 0-16,3-2 0 0,4-2 1 0,-5 0 10 16,5-3 2-16,0-2-2 0,0 1 1 0,5 1 20 15,-1-4 0-15,5-4 0 0,13-1 0 0,0-4 17 16,7 0 0-16,-5-6-1 0,2-1 2 0,1-4 4 0,-1 0 1 15,-1 0-2-15,-3 0 2 0,4 0 2 0,3 0 0 16,-3 3-1-16,-2 1 1 0,-4 3 8 0,-2 2 2 16,-3 2-1-16,1 0 0 0,-3 2 5 0,-2 0 0 15,-7 3 0-15,1 2 1 0,-3 0 0 0,2-1 0 16,1 1 0-16,-5 2-1 0,2 0-9 0,-2 0 1 16,0 0-1-16,0 0 1 0,0 0-7 0,0 0 0 0,-2 0 0 15,-3 7 1-15,1 2-3 0,0-3 1 0,1-1-1 16,-1 4 1-16,-5 2-6 0,-2 2 1 0,0 5-1 15,2 4 2-15,1 5-8 0,5-1 2 0,-5 1-1 16,5 0 1-16,-1-1-1 0,-3 1 1 0,5 2-2 16,0 4 2-16,2 0 9 0,2 3 1 0,0 4-1 15,5 0 1-15,0-2 2 0,1 2 2 0,3 0-1 16,3-3 0-16,1-1 16 0,-4-1 1 0,0-3-1 16,0-4 1-16,2 1 16 0,-6-9 0 0,2-2 0 15,-5-5-1-15,1-4 4 0,6 0 0 0</inkml:trace>
</inkml:ink>
</file>

<file path=ppt/ink/ink13.xml><?xml version="1.0" encoding="utf-8"?>
<inkml:ink xmlns:inkml="http://www.w3.org/2003/InkML">
  <inkml:definitions>
    <inkml:context xml:id="ctx0">
      <inkml:inkSource xml:id="inkSrc0">
        <inkml:traceFormat>
          <inkml:channel name="X" type="integer" max="492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3T12:58:28.490"/>
    </inkml:context>
    <inkml:brush xml:id="br0">
      <inkml:brushProperty name="width" value="0.05292" units="cm"/>
      <inkml:brushProperty name="height" value="0.05292" units="cm"/>
      <inkml:brushProperty name="color" value="#FF0000"/>
    </inkml:brush>
  </inkml:definitions>
  <inkml:trace contextRef="#ctx0" brushRef="#br0">17865 6933 0</inkml:trace>
  <inkml:trace contextRef="#ctx0" brushRef="#br0" timeOffset="188775.89">19602 12758 0</inkml:trace>
</inkml:ink>
</file>

<file path=ppt/ink/ink14.xml><?xml version="1.0" encoding="utf-8"?>
<inkml:ink xmlns:inkml="http://www.w3.org/2003/InkML">
  <inkml:definitions>
    <inkml:context xml:id="ctx0">
      <inkml:inkSource xml:id="inkSrc0">
        <inkml:traceFormat>
          <inkml:channel name="X" type="integer" max="18176" units="cm"/>
          <inkml:channel name="Y" type="integer" max="12032" units="cm"/>
          <inkml:channel name="F" type="integer" max="4096" units="dev"/>
          <inkml:channel name="T" type="integer" max="2.14748E9" units="dev"/>
        </inkml:traceFormat>
        <inkml:channelProperties>
          <inkml:channelProperty channel="X" name="resolution" value="637.75439" units="1/cm"/>
          <inkml:channelProperty channel="Y" name="resolution" value="633.26318" units="1/cm"/>
          <inkml:channelProperty channel="F" name="resolution" value="0" units="1/dev"/>
          <inkml:channelProperty channel="T" name="resolution" value="1" units="1/dev"/>
        </inkml:channelProperties>
      </inkml:inkSource>
      <inkml:timestamp xml:id="ts0" timeString="2024-06-04T13:34:29.002"/>
    </inkml:context>
    <inkml:brush xml:id="br0">
      <inkml:brushProperty name="width" value="0.05292" units="cm"/>
      <inkml:brushProperty name="height" value="0.05292" units="cm"/>
      <inkml:brushProperty name="color" value="#FF0000"/>
    </inkml:brush>
  </inkml:definitions>
  <inkml:trace contextRef="#ctx0" brushRef="#br0">6355 7221 276 0,'0'0'0'0,"0"0"0"0,-5 0 0 0,5 0 90 0,-6 0 2 0,6 0 0 0,-5 0 1 0,5 0 55 0,-9 0 0 0,9 0 0 0,-6 0 0 0,6 0-62 0,-9 5 1 0,9-5-1 16,-15 11 2-16,15-11-22 0,-27 11 0 0,27-11 0 15,-24 31 2-15,13-4-23 0,-2 4 1 0,6 0 0 16,0 7 0-16,3 0-16 0,-3 4 1 0,5 0 1 16,0-4-1-16,2 4-3 0,2 0 0 0,0-4 0 15,-2-3 2-15,7-4-7 0,-3-8 1 0,-1-3-1 16,1-3 1-16,0-1-5 0,3-5 0 0,2-7 0 15,-3 1 0-15,3-10-5 0,-2-1 0 0,11-5 0 16,-3-3 0-16,7-1-4 0,2-3 2 0,-2-2-2 0,3-2 1 16,-6 0-5-16,1-3 0 0,2-1 1 0,-4-1 0 15,0 0-2-15,-3 1 1 0,0-1 0 0,1 3-1 16,-5 6-1-16,-2 2 0 0,-3 1 0 0,3-1 1 0,-4 1-2 16,-1 8 1-16,-4 3-1 0,7-1 0 0,-7 3 1 15,0 2-1-15,0 2 1 0,4 3-1 0,-4-5 0 16,2 4 2-16,3 3-1 0,-5 13 1 0,4 8 0 15,-2 12 1-15,5-2 0 0,-3 0 0 0,3-3 1 16,-5-1 0-16,3 1 0 0,3-4 0 0,-5-4 1 0,5 4 0 16,1-9 0-16,-2-2 0 0,-3-4-1 15,7-14 0-15,-6 0 0 0,-1-2 1 0,0-2-1 0,3 0-1 16,4-7 1-16,2-7 0 0,1-6-3 0,10-4 2 16,-9-1-2-16,1-9 2 0,-1 3-1 0,-2-5-1 15,5 3 1-15,-3-7 0 0,1-1 1 0,2-5 1 16,-5 3-1-16,-4 5 1 0,-1 5 1 0,-8 4 0 15,3 0 0-15,1 4 1 0,0 5 0 0,-4-1 1 0,5 8 0 16,-5 4 0-16,2 6 0 0,-2 5 0 0,0 0 0 16,0 0 0-16,0 0-2 0,0 0 1 0</inkml:trace>
  <inkml:trace contextRef="#ctx0" brushRef="#br0" timeOffset="349.39">7100 7348 1709 0,'2'0'0'0,"7"0"0"0,0 0 0 0,9 0 49 0,6 0 1 0,-4 0 0 0,-5 4 0 0,-10 3 18 0,1 4 0 0,-6 5 1 0,2-1-1 15,-2 5-29-15,7 3 2 0,-7 3-2 0,0 5 1 0,0 0-19 16,-7 7-1-16,7-2 0 0,-2-7 0 16,2-5-7-16,-4-2-1 0,2-2 0 0,-3-2 2 0,1-5-5 15,4-2 1-15,-7 0-1 0,7-8 1 0,-2 1-2 16,0 1 0-16,2-1-1 0,0-4 1 0,0 2-1 15,0-2 0-15,0 0-1 0,0-2 1 0,0 2 0 16,0 0 1-16,0-4-1 0,0-16 0 0,0-9 0 0,0-7 1 16,2-2 0-16,7-2 0 0,0 0 0 0,6 5-1 15,3-3 1-15,-1 3 0 0,5 4 1 0,-2 2 0 16,0 4 0-16,0 3 1 0,0 7-1 0,4-1 1 16,-4 0-1-16,-3 5 1 0,-1-4 2 0,2 4 0 15,-5 2-1-15,0 2 1 0,-2 3 0 0,-2 4-1 16,0 0 0-16,-3-3 0 0,8 3-2 0,-3 0 1 15,-3 0-1-15,3 0 1 0,0 0-6 0,5 0 0 0</inkml:trace>
  <inkml:trace contextRef="#ctx0" brushRef="#br0" timeOffset="549.27">7640 7333 1332 0,'0'0'0'0,"0"0"0"16,0 0 0-16,-2 4 15 0,0-2 1 0,-2 3 0 16,-1-1 1-16,3 0 16 0,0 3 1 0,-3-2 0 15,5-3 0-15,-2 7-9 0,2-3 1 0,-4 5-2 16,2 3 2-16,-1 4-12 0,1 6-1 0,-2-2 1 15,-3 5-1-15,7-1 10 0,-4-1-1 0,-3 2 0 16,7-1 1-16,-2-4 11 0,2 1 0 0,0-3 1 0,0-5 0 16,0-6 3-16,0-2 1 0,0-3 0 0,0-2 0 15,0 1-3-15,0-1 0 0,0 2 0 0,2-4-1 16,-2 0-3-16,0 0 0 0,0 0 1 0,7-4 0 0,-7-1-19 16,4-1 2-16</inkml:trace>
  <inkml:trace contextRef="#ctx0" brushRef="#br0" timeOffset="752.8">7744 7099 1356 0,'0'0'0'16,"0"0"0"-16,4 7 0 0,-4-7 22 0,0 4-1 15,0-4 0-15,3 3 2 0,-3-3 18 0,0 4 2 16,0-4-2-16,8 5 2 0,-8-5-13 0,0 4 1 15,0-4-1-15,5 4 1 0,-5-4-7 0,4 7 1 0,-4-7-2 16,7 2 2-16,-7-2 5 0,9 5 2 0,-9-5-1 16,15 4 0-16,-15-4 2 0,20 5 1 0</inkml:trace>
  <inkml:trace contextRef="#ctx0" brushRef="#br0" timeOffset="1100.6">7967 7046 1394 0,'0'0'0'0,"0"0"0"16,0 0 0-16,0 0 41 0,0 0 0 0,0 0 1 0,0 0-1 15,0 0 24-15,0 0 2 0,0 0-1 0,-9 0 0 16,9 0-19-16,0 2 0 0,0-2 0 0,0 16 2 16,0-16-16-16,0 20 1 0,0-20 0 0,0 31-1 15,0-2 2-15,-4 2 0 0,-3 0 0 0,-2 2 1 0,-2 3-2 16,0 2 2-16,2 1-1 0,-2 1 1 0,7 0-3 15,-5-2 0-15,7 0 1 0,-3-7 0 0,-1 0-4 16,1 0 0-16,-1-9 0 0,6-2 2 0,6-4-10 16,-6-3 2-16,3-4-1 0,-3-4 1 0,0-5-5 15,2 0 0-15,4 0 0 0,-1-5 0 0,6 5-3 0,4-7 1 16,5-1 0-16,0-8 0 0,6-6-3 0,-1-3 2 16,3 1-2-16,1 0 2 0,-5-3-8 0,3 0 0 15,-1 1 0-15,-6 1 1 0,0 7-6 0,-5-4 2 16,-4 4-1-16,-2 5 1 0,-2 0-4 0,-3 6 0 15,1-2 0-15,-5 7 1 0,-5-2-2 0,1 4 0 16</inkml:trace>
  <inkml:trace contextRef="#ctx0" brushRef="#br0" timeOffset="1336.16">7857 7401 1632 0,'-5'5'0'0,"3"-5"0"16,2 0 0-16,0 0 23 0,0-5 0 0,0 5 0 15,0 0 0-15,-4 0 18 0,-1-4 0 0,5 4 1 16,-7-2-1-16,7 2-12 0,0 0 1 0,0 0-1 16,7-3 0-16,-7 1-5 0,5 2-1 0,-5-4 1 15,4-3-1-15,-4 3 0 0,7-3 0 0,-5-2 0 0,11 0 0 16,2-4 8-16,5 0-1 0,0-1 0 0,0 1 2 16,0 0-1-16,2-1 0 0,0 3 1 0,2 5 0 15,-4 1-5-15,-5 1 1 0,1 4 0 0,-3-3 0 0,5 1 2 16,-3 2-1-16,1 2 0 0,-1 1 1 0,-2-3-7 15,-2 0-1-15</inkml:trace>
  <inkml:trace contextRef="#ctx0" brushRef="#br0" timeOffset="1817.2">8253 7432 1507 0,'0'0'0'15,"3"0"0"-15,-3 0 0 0,0 0 38 0,0 0 1 16,4 0 0-16,1 0 1 0,-5 0-6 0,0 0 2 15,0 0 0-15,2 0 0 0,-2 0-18 0,0 0 0 16,0 0 0-16,4 0 0 0,1 0-14 0,-1 0 2 16,5 0 0-16,6-4-1 0,1 4 0 0,4-7 0 0,2 3 1 15,2-7 0-15,-2 0 1 0,-2-3 2 0,0-1 0 16,-5-1 0-16,-6 3 9 0,2 4 1 0,0-2 0 16,0 0 1-16,-2-5 9 0,2 1 1 0,0-3-1 15,0 5 1-15,2 2 2 0,-2-1 0 0,-2 4 0 16,-3 1 0-16,-1 0 2 0,-5 3 1 0,4-1 0 15,-4-3-1-15,3 1 1 0,-3 0 1 0,0 3-1 16,0-3 1-16,0 7-7 0,0 0 0 0,-3-2 0 16,-1 0 2-16,-1 2-6 0,-1-5 2 0,6 5-1 15,-9-4 1-15,-2 2-4 0,-2 2-1 0,-3 2 1 0,5 2-1 16,-4 3-1-16,-7 2 2 0,2 2-1 16,5 0 1-16,-1-2-2 0,5 6 1 0,2-1 1 0,0 3-1 15,3 1-4-15,-5 2 1 0,6-2 0 0,-3 6 0 16,-1-1-4-16,7-3 1 0,-7 2-1 0,7-2 1 0,-3 2-3 15,-1-6 0-15,6 1-1 0,0-3 2 0,0 1-4 16,0-4 0-16,6 0 0 0,-1 0 0 0,1-2-2 16,1 2 1-16,4 1-1 0,2-8 1 0,-2 0-2 15,2-1 0-15,3 1 0 0,-5-4 1 0,-2-4-3 0,6-1-1 16,0-1 0-16,3-6 1 0,6 1-3 0,1-4 2 16,-6-1-2-16,3 1 1 0,3 4-1 0,-8 2 1 15,3 2-1-15,0-4 0 0,0 0-2 0,0 2 0 16</inkml:trace>
  <inkml:trace contextRef="#ctx0" brushRef="#br0" timeOffset="2552.04">9546 6919 1746 0,'4'-4'0'0,"-4"4"0"0,2-16 0 0,-2 16 32 0,9-8 1 0,-9 8-1 0,0-7 1 0,0 7 20 0,-4-11 0 0,4 11 1 0,-7-5 0 0,7 5-37 0,-4-6 0 0,4 6 0 15,-5-5 1-15,5 5-17 0,0-4 1 0,0 4 0 16,-6-5 0-16,6 5 0 0,-5-2-1 0,5 2 0 15,-6-4 0-15,6 4 3 0,-7-5 2 0,7 5 0 16,-2-4-1-16,2 4 10 0,-4-2 1 0,4 2-1 16,-5 0 1-16,5 0 10 0,-2 6 0 0,2-6-1 15,-4 7 1-15,4-7 9 0,0 20 0 0,-9 2 0 16,0 7-1-16,2 9-2 0,1 4 0 0,-5 0 0 16,2-4 0-16,-2 2-5 0,-2 2 1 0,1 0 0 0,-3 3 0 15,2 1-4-15,4-3 0 0,0 3-1 0,0-4 1 16,1 3-5-16,5 1 0 0,-1-8 0 0,2 0 0 15,2-5-4-15,2-4 0 0,0-7 1 0,3-4 0 0,1-5-4 16,-1-4 2-16,6-4-2 0,-7-3 1 0,3 2-3 16,1-4 1-16,3-6-1 0,5 1 0 0,-1-4-5 15,5-2 2-15,-4-7 0 0,3-2 0 0,-3-11-4 16,-3-2 1-16,7 2 0 0,-5 0 0 0,-1 0-3 0,-8 4 2 16,3 5-2-16,-4-5 1 0,-5 3-2 0,0 2 0 15</inkml:trace>
  <inkml:trace contextRef="#ctx0" brushRef="#br0" timeOffset="2766.82">9096 7228 1721 0,'-4'5'0'0,"4"-5"0"16,-16 11 0-16,16-11 31 0,4 13 1 0,-4-13-1 16,3 11 2-16,-3-11 24 0,-7 2 1 0,7-2 0 15,0-2 0-15,0 2-24 0,4 0 0 0,-4 0 1 16,16-11 0-16,8-2-19 0,14-3 0 0,-3-2 0 15,0 3 1-15,3 6-3 0,6-2-1 0,-4 0 0 16,4 0 1-16,-5 0-2 0,-3 6 1 0,-1-2-1 16,-4 3 1-16,-5 0-1 0,-1 4-1 0,-6 0 0 15,8-5 1-15,-1 3-4 0,1-3 1 0</inkml:trace>
  <inkml:trace contextRef="#ctx0" brushRef="#br0" timeOffset="3716.42">10137 6651 1482 0,'0'-2'0'0,"0"2"0"0,0 2 0 0,0-2 36 0,0 11 0 0,0-11 0 0,0 2 0 0,0-2 36 0,0 5 1 0,0-5 0 0,0 11 1 0,0-11-25 0,-9 20 0 0,9-20 0 16,-7 46 1-16,5-17-22 0,0 7 0 0,-2-1 0 16,-3 5 0-16,3 2-4 0,-10 1 0 0,3-1 1 15,5 2 0-15,-8 5-3 0,8 0 1 0,-5-3-1 16,-2 6 2-16,2-8-8 0,0 3 2 0,0-1-1 16,2-8 1-16,-2-5-2 0,6-4 0 0,-1-7-1 15,3-6 2-15,1-7-6 0,2-3 2 0,-4-3-1 0,4-1 0 16,-5 0-4-16,5-2 1 0,0 0-1 0,0 0 1 15,0-2-4-15,0 0 0 0,0-5 1 0,5-4-1 0,-1-16-4 16,1-10 2-16,6 5-1 0,-5-3 0 16,5 4-2-16,3 2 0 0,1 0 0 0,-2 2 1 0,5 3-1 15,2 4 0-15,-5-2 0 0,1 4 0 0,-1 5 0 16,-2-1 0-16,0 8 0 0,-8-1 0 0,-10 7 0 16,1 2 0-16,2 3 0 0,4 1 1 0,2 6-1 15,5-4 2-15,2 12-2 0,-4 7 1 0,2 11 0 0,-5 4 1 16,-4 5 0-16,2-10 1 0,-2-1 0 0,0-3 1 15,5-2 1-15,-1-4-1 0,1-12 2 0,1 1 1 16,3 0-1-16,2-10 1 0,-2-1-1 0,-5-5-1 16,7 0 1-16,3-7 1 0,5-2-4 0,6-2 1 15,-1-5-1-15,2 1 0 0,5-10-3 0,-2-1 0 16,0-3 0-16,-1-2 1 0,-6 0-1 0,-4-7 0 0,4 7 0 16,-2 0 0-16,-5 4-2 0,-4 1 1 0,0 3 0 15,3 3 0-15,-3 3-1 0,-3 1-1 0,1 7 1 16,-4-2 1-16,-3 11-2 0,0-4 0 0,0 4 0 15,-2 0 1-15,7 0-2 0,-7 0 2 0,0 6 0 16,0 8 0-16,2 6-1 0,0 2 2 0,-2 9 0 16,0 7 0-16,0 4 0 0,0 4 0 0,-2 3 0 15,0-6 1-15,-7-8-2 0,0 3 2 0,3-5 0 16,1-2 0-16,3-4 0 0,2-5 0 0,0-4 0 16,-4-5 0-16,4-4 0 0,0-7 2 0,0 0-2 0,0 1 1 15,0-3 0-15,4 0 1 0,-4-3-1 0,2-1 1 16,0-7 1-16,1 0-1 0,1-9 0 0,-2-11 2 15,3-5-1-15,1-4 0 0,3-4 1 0,0 2 0 16,-2 8 0-16,6-3 0 0,-4 1-1 0,6 3 2 0,3-3 0 16,-1 5 1-16,5 4 0 0,0 5 0 0,3 7 5 15,-5-1-1-15,-1 5 0 0,6 0 0 0,-3 7 7 16,-9 4 1-16,7 0-2 0,-3 0 2 0,-1-5 6 16,-1 5 0-16,-4 5-1 0,-2-1 2 0,0-2 3 15,2 0 0-15,0 5 0 0,0-2 0 0,0 6-6 16,-7-5 1-16,5 3-1 0,2 2 2 0,5 0-10 0,-5-2 1 15</inkml:trace>
  <inkml:trace contextRef="#ctx0" brushRef="#br0" timeOffset="4066.6">11151 7313 1947 0,'0'0'0'0,"0"0"0"0,7 0 0 0,-7-3 44 0,2 1 1 0,0 0 0 0,-2 2 0 0,-2 0 26 0,0 0 1 0,-5 2-1 0,7-2 1 0,0-2-28 0,0 2 0 0,0-5 0 15,0 5-1-15,0 5-23 0,0-3 1 0,-6 7-1 16,-1 2 1-16,-4 9-5 0,0 11 0 0,7-2-1 16,-1 7 1-16,-4-1 0 0,3 5-1 0,6-9 1 15,0-2 0-15,0-7-2 0,4-2 1 0,-2-2 0 16,3-7 0-16,-1-2-3 0,-4-9 0 0,5 0-1 16,-1 0 1-16,7-5-1 0,-4 5 0 0,-1-8 0 15,12-3 0-15,-3-5-2 0,5-2 0 0,2-8 0 16,-2 1 0-16,0 3-3 0,-2-9-1 0,-1 4 1 0,1-6 0 15,2 4 1-15,-7 0 1 0,-2 0 0 0,0 0 0 16,-2 3 0-16,-3-5 0 0,-6 4 0 0,-4 3 1 16,-3 6-3-16,-4 2 2 0,7 1 0 0,0 6 0 0,-3 7-1 15,3 2-1-15,-1 0 1 0,-8 0 0 0,0 0 0 16,-1 6 0-16,3 5 0 0,0 3 1 0,-2-3-1 16,2 4 1-16,5 8-1 0,1-3 1 0,1 6-4 15,4 1-1-15</inkml:trace>
  <inkml:trace contextRef="#ctx0" brushRef="#br0" timeOffset="5099.58">11469 7179 1557 0,'0'0'0'0,"2"3"0"15,2-1 0-15,-4 0 29 0,5 2 2 0,-5-4-1 16,2 0 0-16,-2 0 17 0,0 0 2 0,2 0-1 15,1 0 0-15,-1 0-18 0,-2 7 2 0,6 2-1 16,-1-5 1-16,1-1-16 0,-1 1 1 0,-1 5 0 16,-2 6 0-16,1 8 4 0,-1 3 1 0,0 1-1 15,-2-5 0-15,0 3 7 0,0-3 1 0,0 2 1 16,7 1-1-16,-7 1 1 0,0 3 2 0,0-2-1 16,0-12 0-16,0 3-3 0,0-2 1 0,2-5-1 15,-2-2 0-15,0-5-5 0,4-2 1 0,1 3-1 0,-1-5 2 16,-2-5-9-16,7 3 1 0,2-2-2 0,5-12 2 15,3-4-6-15,6-2 2 0,-5-5-1 0,2 1 0 16,-7-1-3-16,-2 0 1 0,3 1-1 0,-1-1 2 16,1 3-5-16,-3 4 2 0,0 2 0 0,-2-7 0 15,0 1-1-15,2 4-1 0,-6-2 1 0,2 4 0 0,-7 5-1 16,7-1 1-16,-9 3 0 0,4 5 1 0,-4-3 0 16,7 4 1-16,-3 3-2 0,1-5 2 0,-3 5 3 15,0 0-1-15,0 2 0 0,3 0 0 0,-5 0 3 16,0 2-1-16,0 3 1 0,0 1-1 0,-5 8 2 15,-1 1 1-15,1 7-1 0,-1 1 1 0,1 8 0 0,1 4 0 16,4 3 1-16,-5-3 0 0,1-1 0 0,4-3 1 16,-2-4-1-16,2-1 1 0,2-6-1 0,-2 2 1 15,4-6-1-15,1-9 1 0,-1 1-3 0,1-8 0 16,1 0-1-16,3 0 2 0,2 0-4 0,-7 0 2 16,12-4-2-16,-1-3 2 0,7-6-9 0,3-5 1 0,-6-2-1 15,8 0 2-15,-7 3-7 0,0 1 0 0,-7-2 0 16,2 5 1-16,-1 6-4 0,-3-2-1 0,0 3 1 15,2-1 0-15,-2 3-8 0,-7-5 0 0,5 2 0 16,2 3 1-16,0-7-3 0,0 2 0 0,0 2 0 16,2-4 0-16,-6 0 3 0,2-5 0 0,-5 5 0 15,3 0 0-15,0 2 3 0,-3-2 1 0,0 7-1 16,-4-5 1-16,0 2 4 0,0 0 0 0,0 3 0 16,0-3 0-16,0 7 2 0,-6 0 0 0,-3 2 0 15,-2 10 0-15,-13 8 0 0,-3 0 0 0,1 6 0 16,6-4 2-16,-4 5 1 0,-1 4 0 0,8-4 1 15,3-7-1-15,1 2 4 0,4-6 1 0,-2-1-1 0,11-4 1 16,0-6 1-16,3-5 0 0,-1 0 0 0,4-5 1 16,1 5-2-16,2-6 1 0,2-3 0 0,4-7 0 15,10-6-4-15,5-5-1 0,-5 1 1 0,-3-1 0 0,-5 0-3 16,1 3 2-16,-3 2-1 0,1 6 1 0,-7 1-3 16,2 6 1-16,0 6-1 0,-2-1 1 0,-9 8-2 15,0-1 1-15,2 6 1 0,2 6-1 0,-2 5-1 16,5 9 0-16,-5 7 0 0,0 6 1 0,-2 11-1 15,0 5 1-15,0-1-1 0,0 1 1 0,0-5-1 0,0 5 1 16,-2-4-1-16,0-3 1 0,-7 2 0 0,3 0 0 16,-5 0 1-16,2-4-1 0,-2 2 0 0,-3-2 0 15,-1-4 0-15,0-5 0 0,-1-9-1 0,1-5 0 16,-3-6 0-16,5-4 1 0,-9-12-1 0,2-1 0 16,2-6 0-16,1-1 0 0,3-9-2 0,1-1 0 15,4-10 0-15,-2-3-1 0,0-6-4 0,7-7-1 16,0-5 0-16,4-1 0 0,6-3-7 0,7-2 2 0,5 2-2 15,6 2 2-15,-2-1-2 0,7 1 2 0,2 0-2 16,-5 10 2-16,3-1 4 0,2 7 0 0,-5-5 0 16,3 3 0-16,0 2 3 0,-1 0 2 0,-3-5-1 15,5 3 1-15,4 2 3 0,1-5-1 0,5 3 1 16,-1 0 0-16,3 2 0 0,0-5 1 0,-2 5 0 16,-3-2 0-16,-4 2 0 0,-2-1 0 0,-2 1 0 15,0 0 0-15,-10 2 0 0,1 1 0 0,-2 3 0 16,-3 5 0-16,-1 5-1 0,-3 3 1 0,-3-1 0 15,3 2 0-15,-6 4-3 0,1-1 0 0</inkml:trace>
  <inkml:trace contextRef="#ctx0" brushRef="#br0" timeOffset="5599.86">12942 6540 1758 0,'-2'-5'0'0,"2"5"0"0,-5 0 0 0,5 0 22 0,-6 0 2 0,6 0 0 0,-2 0-1 0,2 0 15 0,0 0 2 0,0 0-1 0,0 0 0 0,0 0-14 0,0 0-1 15,0 0 1-15,0 0 1 0,0 0-16 0,0-4 0 16,0 4 0-16,0 0 1 0,0 0 1 0,0 0 0 16,0 0-1-16,0 0 2 0,0 0 2 0,0 0 1 15,0 0 0-15,-9 0 1 0,9 0 3 0,-5 0 0 16,5 0 0-16,-6 9 2 0,6-9 3 0,-2 38 1 0,2-10 0 15,-5 8 0-15,-1 2 2 0,6 8 1 0,-12 3 0 16,6 2 0-16,-5 7 2 0,0 0-1 0,0-5 0 16,-2 5 1-16,-7-5-1 0,6 5 1 0,-3-9 1 15,-1 2-1-15,5-7-6 0,-2 0 1 0,-1-4-1 16,1-4 1-16,8-14-8 0,3-2 1 0,-5-9 0 16,4-2 0-16,5-2-5 0,0-3-1 0,0-4 1 15,0 0 0-15,0 0-6 0,0 0 0 0,0-4 0 16,5-1 1-16,-3-1-5 0,5-5 1 0,-3-14-1 15,7-4 2-15,5-13-5 0,3-4 1 0,1-1 0 0,-2 9 0 16,-1 3-2-16,1 8 1 0,0 0-1 0,-1 1 1 16,-1 3-1-16,-3-1 0 0,3 6 0 0,-5 5 0 15,0 6 0-15,-3 3 0 0,-1 4 0 0,2 0 0 0,-7 0 0 16,7 2 0-16,0 9 0 0,2 5 0 0,-5 6 0 16,3-2 0-16,-4 9 0 0,-5 2 0 0,0 7 1 15,0 6 0-15,0 0 0 0,0-1 0 0,0-6 2 16,4 3 0-16,3-6 0 0,-3-3 1 0,-2-9 1 15,5-2 1-15,2-5 0 0,-1-3-1 0,-1-6 2 16,4-4 0-16</inkml:trace>
  <inkml:trace contextRef="#ctx0" brushRef="#br0" timeOffset="6450.48">8902 7113 1583 0,'-5'-3'0'0,"5"3"0"0,5 5 0 0,-5-5 44 0,11 11 1 0,-11-11-2 0,11 4 2 0,-11-4-9 0,4 7 1 0,-4-7 0 0,0 0 0 0,0 0-15 0,0 0 0 16,0 0 0-16,5-4 1 0,-5 4-16 0,4 0 0 16,-4 0 1-16,22-5 0 0,-22 5-2 0,42-2-1 15,-9-2 1-15,-2 4 0 0,0-5-3 0,11 3 0 16</inkml:trace>
</inkml:ink>
</file>

<file path=ppt/ink/ink15.xml><?xml version="1.0" encoding="utf-8"?>
<inkml:ink xmlns:inkml="http://www.w3.org/2003/InkML">
  <inkml:definitions>
    <inkml:context xml:id="ctx0">
      <inkml:inkSource xml:id="inkSrc0">
        <inkml:traceFormat>
          <inkml:channel name="X" type="integer" min="-1920" max="300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4T13:46:20.791"/>
    </inkml:context>
    <inkml:brush xml:id="br0">
      <inkml:brushProperty name="width" value="0.05292" units="cm"/>
      <inkml:brushProperty name="height" value="0.05292" units="cm"/>
      <inkml:brushProperty name="color" value="#FF0000"/>
    </inkml:brush>
  </inkml:definitions>
  <inkml:trace contextRef="#ctx0" brushRef="#br0">11289 14993 0</inkml:trace>
</inkml:ink>
</file>

<file path=ppt/ink/ink16.xml><?xml version="1.0" encoding="utf-8"?>
<inkml:ink xmlns:inkml="http://www.w3.org/2003/InkML">
  <inkml:definitions>
    <inkml:context xml:id="ctx0">
      <inkml:inkSource xml:id="inkSrc0">
        <inkml:traceFormat>
          <inkml:channel name="X" type="integer" min="-1920" max="300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4T13:47:14.912"/>
    </inkml:context>
    <inkml:brush xml:id="br0">
      <inkml:brushProperty name="width" value="0.05292" units="cm"/>
      <inkml:brushProperty name="height" value="0.05292" units="cm"/>
      <inkml:brushProperty name="color" value="#FF0000"/>
    </inkml:brush>
  </inkml:definitions>
  <inkml:trace contextRef="#ctx0" brushRef="#br0">20779 5345 0</inkml:trace>
</inkml:ink>
</file>

<file path=ppt/ink/ink17.xml><?xml version="1.0" encoding="utf-8"?>
<inkml:ink xmlns:inkml="http://www.w3.org/2003/InkML">
  <inkml:definitions>
    <inkml:context xml:id="ctx0">
      <inkml:inkSource xml:id="inkSrc0">
        <inkml:traceFormat>
          <inkml:channel name="X" type="integer" min="-1920" max="3000" units="cm"/>
          <inkml:channel name="Y" type="integer" max="2000" units="cm"/>
          <inkml:channel name="T" type="integer" max="2.14748E9" units="dev"/>
        </inkml:traceFormat>
        <inkml:channelProperties>
          <inkml:channelProperty channel="X" name="resolution" value="172.63158" units="1/cm"/>
          <inkml:channelProperty channel="Y" name="resolution" value="105.26316" units="1/cm"/>
          <inkml:channelProperty channel="T" name="resolution" value="1" units="1/dev"/>
        </inkml:channelProperties>
      </inkml:inkSource>
      <inkml:timestamp xml:id="ts0" timeString="2024-06-04T13:50:35.460"/>
    </inkml:context>
    <inkml:brush xml:id="br0">
      <inkml:brushProperty name="width" value="0.05292" units="cm"/>
      <inkml:brushProperty name="height" value="0.05292" units="cm"/>
      <inkml:brushProperty name="color" value="#FF0000"/>
    </inkml:brush>
  </inkml:definitions>
  <inkml:trace contextRef="#ctx0" brushRef="#br0">5064 14922 0</inkml:trace>
  <inkml:trace contextRef="#ctx0" brushRef="#br0">14551 7267 0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a:ea typeface="SimHei" panose="02010609060101010101" pitchFamily="49" charset="-122"/>
              </a:defRPr>
            </a:lvl1pPr>
          </a:lstStyle>
          <a:p>
            <a:endParaRPr lang="en-US" altLang="zh-CN" dirty="0"/>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a:ea typeface="SimHei" panose="02010609060101010101" pitchFamily="49" charset="-122"/>
              </a:defRPr>
            </a:lvl1pPr>
          </a:lstStyle>
          <a:p>
            <a:endParaRPr lang="en-US" altLang="zh-CN" dirty="0"/>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a:ea typeface="SimHei" panose="02010609060101010101" pitchFamily="49" charset="-122"/>
              </a:defRPr>
            </a:lvl1pPr>
          </a:lstStyle>
          <a:p>
            <a:endParaRPr lang="en-US" altLang="zh-CN" dirty="0"/>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a:ea typeface="SimHei" panose="02010609060101010101" pitchFamily="49" charset="-122"/>
              </a:defRPr>
            </a:lvl1pPr>
          </a:lstStyle>
          <a:p>
            <a:fld id="{AFADF04F-F2F9-486C-A752-12D4B1C511A4}" type="slidenum">
              <a:rPr lang="en-US" altLang="zh-CN" smtClean="0"/>
              <a:pPr/>
              <a:t>‹#›</a:t>
            </a:fld>
            <a:endParaRPr lang="en-US" altLang="zh-CN" dirty="0"/>
          </a:p>
        </p:txBody>
      </p:sp>
    </p:spTree>
    <p:extLst>
      <p:ext uri="{BB962C8B-B14F-4D97-AF65-F5344CB8AC3E}">
        <p14:creationId xmlns:p14="http://schemas.microsoft.com/office/powerpoint/2010/main" val="77188669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1pPr>
    <a:lvl2pPr marL="4572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2pPr>
    <a:lvl3pPr marL="9144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3pPr>
    <a:lvl4pPr marL="13716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4pPr>
    <a:lvl5pPr marL="1828800" algn="l" rtl="0" fontAlgn="base">
      <a:spcBef>
        <a:spcPct val="30000"/>
      </a:spcBef>
      <a:spcAft>
        <a:spcPct val="0"/>
      </a:spcAft>
      <a:defRPr sz="1200" b="0" i="0" kern="1200">
        <a:solidFill>
          <a:schemeClr val="tx1"/>
        </a:solidFill>
        <a:latin typeface="Arial" charset="0"/>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AFADF04F-F2F9-486C-A752-12D4B1C511A4}" type="slidenum">
              <a:rPr lang="en-US" altLang="zh-CN" smtClean="0"/>
              <a:pPr/>
              <a:t>1</a:t>
            </a:fld>
            <a:endParaRPr lang="en-US" altLang="zh-CN"/>
          </a:p>
        </p:txBody>
      </p:sp>
    </p:spTree>
    <p:extLst>
      <p:ext uri="{BB962C8B-B14F-4D97-AF65-F5344CB8AC3E}">
        <p14:creationId xmlns:p14="http://schemas.microsoft.com/office/powerpoint/2010/main" val="168131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CN" sz="120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4</a:t>
            </a:fld>
            <a:endParaRPr lang="en-US" altLang="zh-CN" dirty="0"/>
          </a:p>
        </p:txBody>
      </p:sp>
    </p:spTree>
    <p:extLst>
      <p:ext uri="{BB962C8B-B14F-4D97-AF65-F5344CB8AC3E}">
        <p14:creationId xmlns:p14="http://schemas.microsoft.com/office/powerpoint/2010/main" val="1028501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518459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328079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270672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725569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197240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818586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13</a:t>
            </a:fld>
            <a:endParaRPr lang="en-US" altLang="zh-CN"/>
          </a:p>
        </p:txBody>
      </p:sp>
    </p:spTree>
    <p:extLst>
      <p:ext uri="{BB962C8B-B14F-4D97-AF65-F5344CB8AC3E}">
        <p14:creationId xmlns:p14="http://schemas.microsoft.com/office/powerpoint/2010/main" val="2920018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SRAM</a:t>
            </a:r>
            <a:r>
              <a:rPr lang="zh-CN" altLang="en-US" sz="1200" kern="1200" dirty="0">
                <a:solidFill>
                  <a:schemeClr val="tx1"/>
                </a:solidFill>
                <a:effectLst/>
                <a:latin typeface="+mn-lt"/>
                <a:cs typeface="+mn-cs"/>
              </a:rPr>
              <a:t>快，容量小，成本高</a:t>
            </a:r>
          </a:p>
          <a:p>
            <a:r>
              <a:rPr lang="en-US" sz="1200" kern="1200" dirty="0">
                <a:solidFill>
                  <a:schemeClr val="tx1"/>
                </a:solidFill>
                <a:effectLst/>
                <a:latin typeface="+mn-lt"/>
                <a:ea typeface="+mn-ea"/>
                <a:cs typeface="+mn-cs"/>
              </a:rPr>
              <a:t>DRAM</a:t>
            </a:r>
            <a:r>
              <a:rPr lang="zh-CN" altLang="en-US" sz="1200" kern="1200" dirty="0">
                <a:solidFill>
                  <a:schemeClr val="tx1"/>
                </a:solidFill>
                <a:effectLst/>
                <a:latin typeface="+mn-lt"/>
                <a:cs typeface="+mn-cs"/>
              </a:rPr>
              <a:t>慢，容量大，成本低</a:t>
            </a:r>
          </a:p>
          <a:p>
            <a:r>
              <a:rPr lang="zh-CN" altLang="en-US" sz="1200" kern="1200" dirty="0">
                <a:solidFill>
                  <a:schemeClr val="tx1"/>
                </a:solidFill>
                <a:effectLst/>
                <a:latin typeface="+mn-lt"/>
                <a:cs typeface="+mn-cs"/>
              </a:rPr>
              <a:t>那么回到早期的问题，如何扬长避短，实现又快、又大、又便宜的存储呢？</a:t>
            </a:r>
            <a:endParaRPr lang="en-CN" dirty="0"/>
          </a:p>
        </p:txBody>
      </p:sp>
      <p:sp>
        <p:nvSpPr>
          <p:cNvPr id="4" name="Slide Number Placeholder 3"/>
          <p:cNvSpPr>
            <a:spLocks noGrp="1"/>
          </p:cNvSpPr>
          <p:nvPr>
            <p:ph type="sldNum" sz="quarter" idx="5"/>
          </p:nvPr>
        </p:nvSpPr>
        <p:spPr/>
        <p:txBody>
          <a:bodyPr/>
          <a:lstStyle/>
          <a:p>
            <a:fld id="{82BE11BB-E3AC-064B-928A-0E7C9EAAE83C}" type="slidenum">
              <a:rPr lang="en-US" smtClean="0"/>
              <a:t>14</a:t>
            </a:fld>
            <a:endParaRPr lang="en-US"/>
          </a:p>
        </p:txBody>
      </p:sp>
    </p:spTree>
    <p:extLst>
      <p:ext uri="{BB962C8B-B14F-4D97-AF65-F5344CB8AC3E}">
        <p14:creationId xmlns:p14="http://schemas.microsoft.com/office/powerpoint/2010/main" val="3136226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cs typeface="+mn-cs"/>
              </a:rPr>
              <a:t>在写作的时候，比如你要调研电动车的发展行情，在图书馆书架上看到了中国电动车的一本</a:t>
            </a:r>
            <a:r>
              <a:rPr lang="en-US" altLang="zh-CN" sz="1200" kern="1200" dirty="0">
                <a:solidFill>
                  <a:schemeClr val="tx1"/>
                </a:solidFill>
                <a:effectLst/>
                <a:latin typeface="+mn-lt"/>
                <a:cs typeface="+mn-cs"/>
              </a:rPr>
              <a:t>2018</a:t>
            </a:r>
            <a:r>
              <a:rPr lang="zh-CN" altLang="en-US" sz="1200" kern="1200" dirty="0">
                <a:solidFill>
                  <a:schemeClr val="tx1"/>
                </a:solidFill>
                <a:effectLst/>
                <a:latin typeface="+mn-lt"/>
                <a:cs typeface="+mn-cs"/>
              </a:rPr>
              <a:t>年报，那么旁边也可能是你需要的相关的电动车的书籍。你很可能把很多本书都搬到你写作的书桌上先放着，因为其中一部分书你可能很快会用到，这样就不用再跑图书馆或者书架了。</a:t>
            </a:r>
          </a:p>
          <a:p>
            <a:endParaRPr lang="en-CN" dirty="0"/>
          </a:p>
        </p:txBody>
      </p:sp>
      <p:sp>
        <p:nvSpPr>
          <p:cNvPr id="4" name="Slide Number Placeholder 3"/>
          <p:cNvSpPr>
            <a:spLocks noGrp="1"/>
          </p:cNvSpPr>
          <p:nvPr>
            <p:ph type="sldNum" sz="quarter" idx="5"/>
          </p:nvPr>
        </p:nvSpPr>
        <p:spPr/>
        <p:txBody>
          <a:bodyPr/>
          <a:lstStyle/>
          <a:p>
            <a:fld id="{82BE11BB-E3AC-064B-928A-0E7C9EAAE83C}" type="slidenum">
              <a:rPr lang="en-US" smtClean="0"/>
              <a:t>15</a:t>
            </a:fld>
            <a:endParaRPr lang="en-US"/>
          </a:p>
        </p:txBody>
      </p:sp>
    </p:spTree>
    <p:extLst>
      <p:ext uri="{BB962C8B-B14F-4D97-AF65-F5344CB8AC3E}">
        <p14:creationId xmlns:p14="http://schemas.microsoft.com/office/powerpoint/2010/main" val="2820539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16</a:t>
            </a:fld>
            <a:endParaRPr lang="en-US" altLang="zh-CN"/>
          </a:p>
        </p:txBody>
      </p:sp>
    </p:spTree>
    <p:extLst>
      <p:ext uri="{BB962C8B-B14F-4D97-AF65-F5344CB8AC3E}">
        <p14:creationId xmlns:p14="http://schemas.microsoft.com/office/powerpoint/2010/main" val="4130992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17</a:t>
            </a:fld>
            <a:endParaRPr lang="en-US" altLang="zh-CN"/>
          </a:p>
        </p:txBody>
      </p:sp>
    </p:spTree>
    <p:extLst>
      <p:ext uri="{BB962C8B-B14F-4D97-AF65-F5344CB8AC3E}">
        <p14:creationId xmlns:p14="http://schemas.microsoft.com/office/powerpoint/2010/main" val="3423439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18</a:t>
            </a:fld>
            <a:endParaRPr lang="en-US" altLang="zh-CN"/>
          </a:p>
        </p:txBody>
      </p:sp>
    </p:spTree>
    <p:extLst>
      <p:ext uri="{BB962C8B-B14F-4D97-AF65-F5344CB8AC3E}">
        <p14:creationId xmlns:p14="http://schemas.microsoft.com/office/powerpoint/2010/main" val="3064577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cs typeface="+mn-cs"/>
              </a:rPr>
              <a:t>所以，参考我们做饭和写作时的做法，充分利用前面的临近性，把将要使用的数据提前放在缓存中，</a:t>
            </a:r>
            <a:r>
              <a:rPr kumimoji="1" lang="zh-CN" altLang="en-US" dirty="0"/>
              <a:t>过一会才用的，在主存储器中。</a:t>
            </a:r>
            <a:r>
              <a:rPr lang="zh-CN" altLang="en-US" sz="1200" kern="1200" dirty="0">
                <a:solidFill>
                  <a:schemeClr val="tx1"/>
                </a:solidFill>
                <a:effectLst/>
                <a:latin typeface="+mn-lt"/>
                <a:cs typeface="+mn-cs"/>
              </a:rPr>
              <a:t>若通过缓存的优化，大部分访问都是对高速缓存进行的，运行起来，我们就像有一个又大又快的存储器一样！</a:t>
            </a:r>
          </a:p>
        </p:txBody>
      </p:sp>
      <p:sp>
        <p:nvSpPr>
          <p:cNvPr id="4" name="Slide Number Placeholder 3"/>
          <p:cNvSpPr>
            <a:spLocks noGrp="1"/>
          </p:cNvSpPr>
          <p:nvPr>
            <p:ph type="sldNum" sz="quarter" idx="5"/>
          </p:nvPr>
        </p:nvSpPr>
        <p:spPr/>
        <p:txBody>
          <a:bodyPr/>
          <a:lstStyle/>
          <a:p>
            <a:fld id="{82BE11BB-E3AC-064B-928A-0E7C9EAAE83C}" type="slidenum">
              <a:rPr lang="en-US" smtClean="0"/>
              <a:t>19</a:t>
            </a:fld>
            <a:endParaRPr lang="en-US"/>
          </a:p>
        </p:txBody>
      </p:sp>
    </p:spTree>
    <p:extLst>
      <p:ext uri="{BB962C8B-B14F-4D97-AF65-F5344CB8AC3E}">
        <p14:creationId xmlns:p14="http://schemas.microsoft.com/office/powerpoint/2010/main" val="2515946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cs typeface="+mn-cs"/>
              </a:rPr>
              <a:t>每次访问存储器时，如果数据正好在缓存里面，就称为命中；如果因为数据是非临近的，不在缓存里面，那么就称为缺失或者没命中。于是，命中率就成了描述缓存预存数据是否有效的一个重要指标，理想情况下是</a:t>
            </a:r>
            <a:r>
              <a:rPr lang="en-US" altLang="zh-CN" sz="1200" kern="1200" dirty="0">
                <a:solidFill>
                  <a:schemeClr val="tx1"/>
                </a:solidFill>
                <a:effectLst/>
                <a:latin typeface="+mn-lt"/>
                <a:cs typeface="+mn-cs"/>
              </a:rPr>
              <a:t>100%</a:t>
            </a:r>
            <a:r>
              <a:rPr lang="zh-CN" altLang="en-US" sz="1200" kern="1200" dirty="0">
                <a:solidFill>
                  <a:schemeClr val="tx1"/>
                </a:solidFill>
                <a:effectLst/>
                <a:latin typeface="+mn-lt"/>
                <a:cs typeface="+mn-cs"/>
              </a:rPr>
              <a:t>，实际数值取决于具体的程序和处理器优化方式。</a:t>
            </a:r>
          </a:p>
          <a:p>
            <a:endParaRPr lang="en-CN" dirty="0"/>
          </a:p>
        </p:txBody>
      </p:sp>
      <p:sp>
        <p:nvSpPr>
          <p:cNvPr id="4" name="Slide Number Placeholder 3"/>
          <p:cNvSpPr>
            <a:spLocks noGrp="1"/>
          </p:cNvSpPr>
          <p:nvPr>
            <p:ph type="sldNum" sz="quarter" idx="5"/>
          </p:nvPr>
        </p:nvSpPr>
        <p:spPr/>
        <p:txBody>
          <a:bodyPr/>
          <a:lstStyle/>
          <a:p>
            <a:fld id="{82BE11BB-E3AC-064B-928A-0E7C9EAAE83C}" type="slidenum">
              <a:rPr lang="en-US" smtClean="0"/>
              <a:t>20</a:t>
            </a:fld>
            <a:endParaRPr lang="en-US"/>
          </a:p>
        </p:txBody>
      </p:sp>
    </p:spTree>
    <p:extLst>
      <p:ext uri="{BB962C8B-B14F-4D97-AF65-F5344CB8AC3E}">
        <p14:creationId xmlns:p14="http://schemas.microsoft.com/office/powerpoint/2010/main" val="1804255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cs typeface="+mn-cs"/>
              </a:rPr>
              <a:t>我们可以进一步分析性能优化的效果。在处理器和主存储器之间插入一级缓存。缓存的访问时间记为</a:t>
            </a:r>
            <a:r>
              <a:rPr lang="en-US" sz="1200" kern="1200" dirty="0">
                <a:solidFill>
                  <a:schemeClr val="tx1"/>
                </a:solidFill>
                <a:effectLst/>
                <a:latin typeface="+mn-lt"/>
                <a:ea typeface="+mn-ea"/>
                <a:cs typeface="+mn-cs"/>
              </a:rPr>
              <a:t>TA1，</a:t>
            </a:r>
            <a:r>
              <a:rPr lang="zh-CN" altLang="en-US" sz="1200" kern="1200" dirty="0">
                <a:solidFill>
                  <a:schemeClr val="tx1"/>
                </a:solidFill>
                <a:effectLst/>
                <a:latin typeface="+mn-lt"/>
                <a:cs typeface="+mn-cs"/>
              </a:rPr>
              <a:t>命中率</a:t>
            </a:r>
            <a:r>
              <a:rPr lang="en-US" sz="1200" kern="1200" dirty="0">
                <a:solidFill>
                  <a:schemeClr val="tx1"/>
                </a:solidFill>
                <a:effectLst/>
                <a:latin typeface="+mn-lt"/>
                <a:ea typeface="+mn-ea"/>
                <a:cs typeface="+mn-cs"/>
              </a:rPr>
              <a:t>H，</a:t>
            </a:r>
            <a:r>
              <a:rPr lang="zh-CN" altLang="en-US" sz="1200" kern="1200" dirty="0">
                <a:solidFill>
                  <a:schemeClr val="tx1"/>
                </a:solidFill>
                <a:effectLst/>
                <a:latin typeface="+mn-lt"/>
                <a:cs typeface="+mn-cs"/>
              </a:rPr>
              <a:t>主存访问时间</a:t>
            </a:r>
            <a:r>
              <a:rPr lang="en-US" sz="1200" kern="1200" dirty="0">
                <a:solidFill>
                  <a:schemeClr val="tx1"/>
                </a:solidFill>
                <a:effectLst/>
                <a:latin typeface="+mn-lt"/>
                <a:ea typeface="+mn-ea"/>
                <a:cs typeface="+mn-cs"/>
              </a:rPr>
              <a:t>TA2(&gt;&gt;TA1)，</a:t>
            </a:r>
            <a:r>
              <a:rPr lang="zh-CN" altLang="en-US" sz="1200" kern="1200" dirty="0">
                <a:solidFill>
                  <a:schemeClr val="tx1"/>
                </a:solidFill>
                <a:effectLst/>
                <a:latin typeface="+mn-lt"/>
                <a:cs typeface="+mn-cs"/>
              </a:rPr>
              <a:t>那么平均访问时间</a:t>
            </a:r>
            <a:r>
              <a:rPr lang="en-US" sz="1200" kern="1200" dirty="0">
                <a:solidFill>
                  <a:schemeClr val="tx1"/>
                </a:solidFill>
                <a:effectLst/>
                <a:latin typeface="+mn-lt"/>
                <a:ea typeface="+mn-ea"/>
                <a:cs typeface="+mn-cs"/>
              </a:rPr>
              <a:t>TA</a:t>
            </a:r>
            <a:r>
              <a:rPr lang="zh-CN" altLang="en-US" sz="1200" kern="1200" dirty="0">
                <a:solidFill>
                  <a:schemeClr val="tx1"/>
                </a:solidFill>
                <a:effectLst/>
                <a:latin typeface="+mn-lt"/>
                <a:cs typeface="+mn-cs"/>
              </a:rPr>
              <a:t>就是命中和缺失两种情况下的加权结果。如果我们进一步地标记两种存储器的访问时间比，可以得到平均访问时间和缓存访问时间的比值呈现这么一个关系：</a:t>
            </a:r>
            <a:r>
              <a:rPr lang="en-US" sz="1200" kern="1200" dirty="0">
                <a:solidFill>
                  <a:schemeClr val="tx1"/>
                </a:solidFill>
                <a:effectLst/>
                <a:latin typeface="+mn-lt"/>
                <a:ea typeface="+mn-ea"/>
                <a:cs typeface="+mn-cs"/>
              </a:rPr>
              <a:t>e=1/(1+(1-H)r). </a:t>
            </a:r>
            <a:r>
              <a:rPr lang="zh-CN" altLang="en-US" sz="1200" kern="1200" dirty="0">
                <a:solidFill>
                  <a:schemeClr val="tx1"/>
                </a:solidFill>
                <a:effectLst/>
                <a:latin typeface="+mn-lt"/>
                <a:cs typeface="+mn-cs"/>
              </a:rPr>
              <a:t>画出图来就是这样。换句话说，随着命中率的提升，最终访问时间就可以最近逼近高速缓存的访问时间，从而提升了性能。</a:t>
            </a:r>
          </a:p>
          <a:p>
            <a:endParaRPr lang="en-CN" dirty="0"/>
          </a:p>
        </p:txBody>
      </p:sp>
      <p:sp>
        <p:nvSpPr>
          <p:cNvPr id="4" name="Slide Number Placeholder 3"/>
          <p:cNvSpPr>
            <a:spLocks noGrp="1"/>
          </p:cNvSpPr>
          <p:nvPr>
            <p:ph type="sldNum" sz="quarter" idx="5"/>
          </p:nvPr>
        </p:nvSpPr>
        <p:spPr/>
        <p:txBody>
          <a:bodyPr/>
          <a:lstStyle/>
          <a:p>
            <a:fld id="{82BE11BB-E3AC-064B-928A-0E7C9EAAE83C}" type="slidenum">
              <a:rPr lang="en-US" smtClean="0"/>
              <a:t>21</a:t>
            </a:fld>
            <a:endParaRPr lang="en-US"/>
          </a:p>
        </p:txBody>
      </p:sp>
    </p:spTree>
    <p:extLst>
      <p:ext uri="{BB962C8B-B14F-4D97-AF65-F5344CB8AC3E}">
        <p14:creationId xmlns:p14="http://schemas.microsoft.com/office/powerpoint/2010/main" val="302810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22</a:t>
            </a:fld>
            <a:endParaRPr lang="en-US" altLang="zh-CN"/>
          </a:p>
        </p:txBody>
      </p:sp>
    </p:spTree>
    <p:extLst>
      <p:ext uri="{BB962C8B-B14F-4D97-AF65-F5344CB8AC3E}">
        <p14:creationId xmlns:p14="http://schemas.microsoft.com/office/powerpoint/2010/main" val="2806028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cs typeface="+mn-cs"/>
              </a:rPr>
              <a:t>更进一步的，我们还可以插入更多级缓存。类似前面一级缓存的分析思路，我们可以计算出，在这个例子里面，二级缓存方案的平均访问时间为</a:t>
            </a:r>
            <a:r>
              <a:rPr lang="en-US" altLang="zh-CN" sz="1200" kern="1200" dirty="0">
                <a:solidFill>
                  <a:schemeClr val="tx1"/>
                </a:solidFill>
                <a:effectLst/>
                <a:latin typeface="+mn-lt"/>
                <a:cs typeface="+mn-cs"/>
              </a:rPr>
              <a:t>2.8</a:t>
            </a:r>
            <a:r>
              <a:rPr lang="zh-CN" altLang="en-US" sz="1200" kern="1200" dirty="0">
                <a:solidFill>
                  <a:schemeClr val="tx1"/>
                </a:solidFill>
                <a:effectLst/>
                <a:latin typeface="+mn-lt"/>
                <a:cs typeface="+mn-cs"/>
              </a:rPr>
              <a:t>个时钟周期，比一级缓存方案的</a:t>
            </a:r>
            <a:r>
              <a:rPr lang="en-US" altLang="zh-CN" sz="1200" kern="1200" dirty="0">
                <a:solidFill>
                  <a:schemeClr val="tx1"/>
                </a:solidFill>
                <a:effectLst/>
                <a:latin typeface="+mn-lt"/>
                <a:cs typeface="+mn-cs"/>
              </a:rPr>
              <a:t>4</a:t>
            </a:r>
            <a:r>
              <a:rPr lang="zh-CN" altLang="en-US" sz="1200" kern="1200" dirty="0">
                <a:solidFill>
                  <a:schemeClr val="tx1"/>
                </a:solidFill>
                <a:effectLst/>
                <a:latin typeface="+mn-lt"/>
                <a:cs typeface="+mn-cs"/>
              </a:rPr>
              <a:t>个时钟周期减少了</a:t>
            </a:r>
            <a:r>
              <a:rPr lang="en-US" altLang="zh-CN" sz="1200" kern="1200" dirty="0">
                <a:solidFill>
                  <a:schemeClr val="tx1"/>
                </a:solidFill>
                <a:effectLst/>
                <a:latin typeface="+mn-lt"/>
                <a:cs typeface="+mn-cs"/>
              </a:rPr>
              <a:t>30%</a:t>
            </a:r>
            <a:r>
              <a:rPr lang="zh-CN" altLang="en-US" sz="1200" kern="1200" dirty="0">
                <a:solidFill>
                  <a:schemeClr val="tx1"/>
                </a:solidFill>
                <a:effectLst/>
                <a:latin typeface="+mn-lt"/>
                <a:cs typeface="+mn-cs"/>
              </a:rPr>
              <a:t>的延迟。这种多级缓存技术在我们现有的</a:t>
            </a:r>
            <a:r>
              <a:rPr lang="en-US" sz="1200" kern="1200" dirty="0">
                <a:solidFill>
                  <a:schemeClr val="tx1"/>
                </a:solidFill>
                <a:effectLst/>
                <a:latin typeface="+mn-lt"/>
                <a:ea typeface="+mn-ea"/>
                <a:cs typeface="+mn-cs"/>
              </a:rPr>
              <a:t>CPU</a:t>
            </a:r>
            <a:r>
              <a:rPr lang="zh-CN" altLang="en-US" sz="1200" kern="1200" dirty="0">
                <a:solidFill>
                  <a:schemeClr val="tx1"/>
                </a:solidFill>
                <a:effectLst/>
                <a:latin typeface="+mn-lt"/>
                <a:cs typeface="+mn-cs"/>
              </a:rPr>
              <a:t>中已经广泛使用。但是层级越多，系统越复杂。所以常见的缓存不会超过</a:t>
            </a:r>
            <a:r>
              <a:rPr lang="en-US" altLang="zh-CN" sz="1200" kern="1200" dirty="0">
                <a:solidFill>
                  <a:schemeClr val="tx1"/>
                </a:solidFill>
                <a:effectLst/>
                <a:latin typeface="+mn-lt"/>
                <a:cs typeface="+mn-cs"/>
              </a:rPr>
              <a:t>3</a:t>
            </a:r>
            <a:r>
              <a:rPr lang="zh-CN" altLang="en-US" sz="1200" kern="1200" dirty="0">
                <a:solidFill>
                  <a:schemeClr val="tx1"/>
                </a:solidFill>
                <a:effectLst/>
                <a:latin typeface="+mn-lt"/>
                <a:cs typeface="+mn-cs"/>
              </a:rPr>
              <a:t>级。同学们可以根据作业中的场景，做一个具体的分析和评估。</a:t>
            </a:r>
            <a:endParaRPr lang="en-US" altLang="zh-CN" sz="1200" kern="1200" dirty="0">
              <a:solidFill>
                <a:schemeClr val="tx1"/>
              </a:solidFill>
              <a:effectLst/>
              <a:latin typeface="+mn-lt"/>
              <a:cs typeface="+mn-cs"/>
            </a:endParaRPr>
          </a:p>
          <a:p>
            <a:endParaRPr lang="en-US" sz="1200" kern="1200" dirty="0">
              <a:solidFill>
                <a:schemeClr val="tx1"/>
              </a:solidFill>
              <a:effectLst/>
              <a:latin typeface="+mn-lt"/>
              <a:ea typeface="+mn-ea"/>
              <a:cs typeface="+mn-cs"/>
            </a:endParaRPr>
          </a:p>
          <a:p>
            <a:endParaRPr lang="en-CN" dirty="0"/>
          </a:p>
        </p:txBody>
      </p:sp>
      <p:sp>
        <p:nvSpPr>
          <p:cNvPr id="4" name="Slide Number Placeholder 3"/>
          <p:cNvSpPr>
            <a:spLocks noGrp="1"/>
          </p:cNvSpPr>
          <p:nvPr>
            <p:ph type="sldNum" sz="quarter" idx="5"/>
          </p:nvPr>
        </p:nvSpPr>
        <p:spPr/>
        <p:txBody>
          <a:bodyPr/>
          <a:lstStyle/>
          <a:p>
            <a:fld id="{82BE11BB-E3AC-064B-928A-0E7C9EAAE83C}" type="slidenum">
              <a:rPr lang="en-US" smtClean="0"/>
              <a:t>23</a:t>
            </a:fld>
            <a:endParaRPr lang="en-US"/>
          </a:p>
        </p:txBody>
      </p:sp>
    </p:spTree>
    <p:extLst>
      <p:ext uri="{BB962C8B-B14F-4D97-AF65-F5344CB8AC3E}">
        <p14:creationId xmlns:p14="http://schemas.microsoft.com/office/powerpoint/2010/main" val="894175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25</a:t>
            </a:fld>
            <a:endParaRPr lang="en-US" altLang="zh-CN"/>
          </a:p>
        </p:txBody>
      </p:sp>
    </p:spTree>
    <p:extLst>
      <p:ext uri="{BB962C8B-B14F-4D97-AF65-F5344CB8AC3E}">
        <p14:creationId xmlns:p14="http://schemas.microsoft.com/office/powerpoint/2010/main" val="647270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26</a:t>
            </a:fld>
            <a:endParaRPr lang="en-US" altLang="zh-CN"/>
          </a:p>
        </p:txBody>
      </p:sp>
    </p:spTree>
    <p:extLst>
      <p:ext uri="{BB962C8B-B14F-4D97-AF65-F5344CB8AC3E}">
        <p14:creationId xmlns:p14="http://schemas.microsoft.com/office/powerpoint/2010/main" val="3759629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28</a:t>
            </a:fld>
            <a:endParaRPr lang="en-US" altLang="zh-CN"/>
          </a:p>
        </p:txBody>
      </p:sp>
    </p:spTree>
    <p:extLst>
      <p:ext uri="{BB962C8B-B14F-4D97-AF65-F5344CB8AC3E}">
        <p14:creationId xmlns:p14="http://schemas.microsoft.com/office/powerpoint/2010/main" val="1809830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sz="1200" b="1" dirty="0">
              <a:latin typeface="Times New Roman" pitchFamily="18" charset="0"/>
            </a:endParaRPr>
          </a:p>
        </p:txBody>
      </p:sp>
      <p:sp>
        <p:nvSpPr>
          <p:cNvPr id="4" name="灯片编号占位符 3"/>
          <p:cNvSpPr>
            <a:spLocks noGrp="1"/>
          </p:cNvSpPr>
          <p:nvPr>
            <p:ph type="sldNum" sz="quarter" idx="10"/>
          </p:nvPr>
        </p:nvSpPr>
        <p:spPr/>
        <p:txBody>
          <a:bodyPr/>
          <a:lstStyle/>
          <a:p>
            <a:pPr>
              <a:defRPr/>
            </a:pPr>
            <a:fld id="{F2CB4D4E-02EC-42F7-BEAE-EEEA2D43D016}" type="slidenum">
              <a:rPr lang="zh-CN" altLang="en-US" smtClean="0"/>
              <a:pPr>
                <a:defRPr/>
              </a:pPr>
              <a:t>29</a:t>
            </a:fld>
            <a:endParaRPr lang="en-US" altLang="zh-CN"/>
          </a:p>
        </p:txBody>
      </p:sp>
    </p:spTree>
    <p:extLst>
      <p:ext uri="{BB962C8B-B14F-4D97-AF65-F5344CB8AC3E}">
        <p14:creationId xmlns:p14="http://schemas.microsoft.com/office/powerpoint/2010/main" val="2123626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cache</a:t>
            </a:r>
            <a:r>
              <a:rPr lang="zh-CN" altLang="en-US" dirty="0"/>
              <a:t>是以行为单位进行存储的，</a:t>
            </a:r>
            <a:r>
              <a:rPr lang="en-US" altLang="zh-CN" dirty="0"/>
              <a:t>N</a:t>
            </a:r>
            <a:r>
              <a:rPr lang="zh-CN" altLang="en-US" dirty="0"/>
              <a:t>行，每行</a:t>
            </a:r>
            <a:r>
              <a:rPr lang="en-US" altLang="zh-CN" dirty="0"/>
              <a:t>K</a:t>
            </a:r>
            <a:r>
              <a:rPr lang="zh-CN" altLang="en-US" dirty="0"/>
              <a:t>个字节，一共可以缓存</a:t>
            </a:r>
            <a:r>
              <a:rPr lang="en-US" altLang="zh-CN" dirty="0"/>
              <a:t>NK</a:t>
            </a:r>
            <a:r>
              <a:rPr lang="zh-CN" altLang="en-US" dirty="0"/>
              <a:t>字节的数据。对于主存来说，一个缓存行对应主存的一个数据块。</a:t>
            </a:r>
            <a:endParaRPr lang="en-US" altLang="zh-CN" dirty="0"/>
          </a:p>
          <a:p>
            <a:r>
              <a:rPr lang="zh-CN" altLang="en-US" dirty="0"/>
              <a:t>标签是用来标识</a:t>
            </a:r>
            <a:r>
              <a:rPr lang="en-US" altLang="zh-CN" dirty="0"/>
              <a:t>cache</a:t>
            </a:r>
            <a:r>
              <a:rPr lang="zh-CN" altLang="en-US" dirty="0"/>
              <a:t>中内容的，通过标签来知道这一行存的是内存中哪一段地址对应的数据。</a:t>
            </a:r>
            <a:endParaRPr lang="en-US" altLang="zh-CN" dirty="0"/>
          </a:p>
          <a:p>
            <a:pPr marL="0" marR="0" indent="0" algn="l" defTabSz="962025" rtl="0" eaLnBrk="0" fontAlgn="base" latinLnBrk="0" hangingPunct="0">
              <a:lnSpc>
                <a:spcPct val="90000"/>
              </a:lnSpc>
              <a:spcBef>
                <a:spcPct val="40000"/>
              </a:spcBef>
              <a:spcAft>
                <a:spcPct val="0"/>
              </a:spcAft>
              <a:buClrTx/>
              <a:buSzTx/>
              <a:buFontTx/>
              <a:buNone/>
              <a:tabLst/>
              <a:defRPr/>
            </a:pPr>
            <a:r>
              <a:rPr kumimoji="1" lang="zh-CN" altLang="en-US" sz="1200" b="1" dirty="0">
                <a:solidFill>
                  <a:srgbClr val="FF3300"/>
                </a:solidFill>
                <a:latin typeface="Times New Roman" pitchFamily="18" charset="0"/>
              </a:rPr>
              <a:t>有效位：</a:t>
            </a:r>
            <a:r>
              <a:rPr kumimoji="1" lang="en-US" altLang="zh-CN" sz="1200" b="1" dirty="0">
                <a:latin typeface="Times New Roman" pitchFamily="18" charset="0"/>
              </a:rPr>
              <a:t>Cache</a:t>
            </a:r>
            <a:r>
              <a:rPr kumimoji="1" lang="zh-CN" altLang="en-US" sz="1200" b="1" dirty="0">
                <a:latin typeface="Times New Roman" pitchFamily="18" charset="0"/>
              </a:rPr>
              <a:t>行是否含有有效数据</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2CB4D4E-02EC-42F7-BEAE-EEEA2D43D016}" type="slidenum">
              <a:rPr kumimoji="0" lang="zh-CN" altLang="en-US"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21236260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Jump to p60</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37164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553246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34</a:t>
            </a:fld>
            <a:endParaRPr lang="en-US" altLang="zh-CN"/>
          </a:p>
        </p:txBody>
      </p:sp>
    </p:spTree>
    <p:extLst>
      <p:ext uri="{BB962C8B-B14F-4D97-AF65-F5344CB8AC3E}">
        <p14:creationId xmlns:p14="http://schemas.microsoft.com/office/powerpoint/2010/main" val="2642842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35</a:t>
            </a:fld>
            <a:endParaRPr lang="en-US" altLang="zh-CN"/>
          </a:p>
        </p:txBody>
      </p:sp>
    </p:spTree>
    <p:extLst>
      <p:ext uri="{BB962C8B-B14F-4D97-AF65-F5344CB8AC3E}">
        <p14:creationId xmlns:p14="http://schemas.microsoft.com/office/powerpoint/2010/main" val="18431439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36</a:t>
            </a:fld>
            <a:endParaRPr lang="en-US" altLang="zh-CN"/>
          </a:p>
        </p:txBody>
      </p:sp>
    </p:spTree>
    <p:extLst>
      <p:ext uri="{BB962C8B-B14F-4D97-AF65-F5344CB8AC3E}">
        <p14:creationId xmlns:p14="http://schemas.microsoft.com/office/powerpoint/2010/main" val="2242456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37</a:t>
            </a:fld>
            <a:endParaRPr lang="en-US" altLang="zh-CN"/>
          </a:p>
        </p:txBody>
      </p:sp>
    </p:spTree>
    <p:extLst>
      <p:ext uri="{BB962C8B-B14F-4D97-AF65-F5344CB8AC3E}">
        <p14:creationId xmlns:p14="http://schemas.microsoft.com/office/powerpoint/2010/main" val="17548582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38</a:t>
            </a:fld>
            <a:endParaRPr lang="en-US" altLang="zh-CN"/>
          </a:p>
        </p:txBody>
      </p:sp>
    </p:spTree>
    <p:extLst>
      <p:ext uri="{BB962C8B-B14F-4D97-AF65-F5344CB8AC3E}">
        <p14:creationId xmlns:p14="http://schemas.microsoft.com/office/powerpoint/2010/main" val="3874290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39</a:t>
            </a:fld>
            <a:endParaRPr lang="en-US" altLang="zh-CN"/>
          </a:p>
        </p:txBody>
      </p:sp>
    </p:spTree>
    <p:extLst>
      <p:ext uri="{BB962C8B-B14F-4D97-AF65-F5344CB8AC3E}">
        <p14:creationId xmlns:p14="http://schemas.microsoft.com/office/powerpoint/2010/main" val="30008538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40</a:t>
            </a:fld>
            <a:endParaRPr lang="en-US" altLang="zh-CN"/>
          </a:p>
        </p:txBody>
      </p:sp>
    </p:spTree>
    <p:extLst>
      <p:ext uri="{BB962C8B-B14F-4D97-AF65-F5344CB8AC3E}">
        <p14:creationId xmlns:p14="http://schemas.microsoft.com/office/powerpoint/2010/main" val="1598541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41</a:t>
            </a:fld>
            <a:endParaRPr lang="en-US" altLang="zh-CN"/>
          </a:p>
        </p:txBody>
      </p:sp>
    </p:spTree>
    <p:extLst>
      <p:ext uri="{BB962C8B-B14F-4D97-AF65-F5344CB8AC3E}">
        <p14:creationId xmlns:p14="http://schemas.microsoft.com/office/powerpoint/2010/main" val="13292764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42</a:t>
            </a:fld>
            <a:endParaRPr lang="en-US" altLang="zh-CN"/>
          </a:p>
        </p:txBody>
      </p:sp>
    </p:spTree>
    <p:extLst>
      <p:ext uri="{BB962C8B-B14F-4D97-AF65-F5344CB8AC3E}">
        <p14:creationId xmlns:p14="http://schemas.microsoft.com/office/powerpoint/2010/main" val="41821817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43</a:t>
            </a:fld>
            <a:endParaRPr lang="en-US" altLang="zh-CN"/>
          </a:p>
        </p:txBody>
      </p:sp>
    </p:spTree>
    <p:extLst>
      <p:ext uri="{BB962C8B-B14F-4D97-AF65-F5344CB8AC3E}">
        <p14:creationId xmlns:p14="http://schemas.microsoft.com/office/powerpoint/2010/main" val="31234624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44</a:t>
            </a:fld>
            <a:endParaRPr lang="en-US" altLang="zh-CN"/>
          </a:p>
        </p:txBody>
      </p:sp>
    </p:spTree>
    <p:extLst>
      <p:ext uri="{BB962C8B-B14F-4D97-AF65-F5344CB8AC3E}">
        <p14:creationId xmlns:p14="http://schemas.microsoft.com/office/powerpoint/2010/main" val="5912265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45</a:t>
            </a:fld>
            <a:endParaRPr lang="en-US" altLang="zh-CN"/>
          </a:p>
        </p:txBody>
      </p:sp>
    </p:spTree>
    <p:extLst>
      <p:ext uri="{BB962C8B-B14F-4D97-AF65-F5344CB8AC3E}">
        <p14:creationId xmlns:p14="http://schemas.microsoft.com/office/powerpoint/2010/main" val="4588468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46</a:t>
            </a:fld>
            <a:endParaRPr lang="en-US" altLang="zh-CN"/>
          </a:p>
        </p:txBody>
      </p:sp>
    </p:spTree>
    <p:extLst>
      <p:ext uri="{BB962C8B-B14F-4D97-AF65-F5344CB8AC3E}">
        <p14:creationId xmlns:p14="http://schemas.microsoft.com/office/powerpoint/2010/main" val="9714755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47</a:t>
            </a:fld>
            <a:endParaRPr lang="en-US" altLang="zh-CN"/>
          </a:p>
        </p:txBody>
      </p:sp>
    </p:spTree>
    <p:extLst>
      <p:ext uri="{BB962C8B-B14F-4D97-AF65-F5344CB8AC3E}">
        <p14:creationId xmlns:p14="http://schemas.microsoft.com/office/powerpoint/2010/main" val="2433559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48</a:t>
            </a:fld>
            <a:endParaRPr lang="en-US" altLang="zh-CN"/>
          </a:p>
        </p:txBody>
      </p:sp>
    </p:spTree>
    <p:extLst>
      <p:ext uri="{BB962C8B-B14F-4D97-AF65-F5344CB8AC3E}">
        <p14:creationId xmlns:p14="http://schemas.microsoft.com/office/powerpoint/2010/main" val="13179411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Jump to p81</a:t>
            </a:r>
            <a:endParaRPr lang="zh-CN" altLang="en-US" dirty="0"/>
          </a:p>
        </p:txBody>
      </p:sp>
      <p:sp>
        <p:nvSpPr>
          <p:cNvPr id="4" name="灯片编号占位符 3"/>
          <p:cNvSpPr>
            <a:spLocks noGrp="1"/>
          </p:cNvSpPr>
          <p:nvPr>
            <p:ph type="sldNum" sz="quarter" idx="10"/>
          </p:nvPr>
        </p:nvSpPr>
        <p:spPr/>
        <p:txBody>
          <a:bodyPr/>
          <a:lstStyle/>
          <a:p>
            <a:pPr>
              <a:defRPr/>
            </a:pPr>
            <a:fld id="{F2CB4D4E-02EC-42F7-BEAE-EEEA2D43D016}" type="slidenum">
              <a:rPr lang="zh-CN" altLang="en-US" smtClean="0"/>
              <a:pPr>
                <a:defRPr/>
              </a:pPr>
              <a:t>49</a:t>
            </a:fld>
            <a:endParaRPr lang="en-US" altLang="zh-CN"/>
          </a:p>
        </p:txBody>
      </p:sp>
    </p:spTree>
    <p:extLst>
      <p:ext uri="{BB962C8B-B14F-4D97-AF65-F5344CB8AC3E}">
        <p14:creationId xmlns:p14="http://schemas.microsoft.com/office/powerpoint/2010/main" val="3794124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50</a:t>
            </a:fld>
            <a:endParaRPr lang="en-US" altLang="zh-CN"/>
          </a:p>
        </p:txBody>
      </p:sp>
    </p:spTree>
    <p:extLst>
      <p:ext uri="{BB962C8B-B14F-4D97-AF65-F5344CB8AC3E}">
        <p14:creationId xmlns:p14="http://schemas.microsoft.com/office/powerpoint/2010/main" val="39371654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51</a:t>
            </a:fld>
            <a:endParaRPr lang="en-US" altLang="zh-CN"/>
          </a:p>
        </p:txBody>
      </p:sp>
    </p:spTree>
    <p:extLst>
      <p:ext uri="{BB962C8B-B14F-4D97-AF65-F5344CB8AC3E}">
        <p14:creationId xmlns:p14="http://schemas.microsoft.com/office/powerpoint/2010/main" val="35015305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52</a:t>
            </a:fld>
            <a:endParaRPr lang="en-US" altLang="zh-CN"/>
          </a:p>
        </p:txBody>
      </p:sp>
    </p:spTree>
    <p:extLst>
      <p:ext uri="{BB962C8B-B14F-4D97-AF65-F5344CB8AC3E}">
        <p14:creationId xmlns:p14="http://schemas.microsoft.com/office/powerpoint/2010/main" val="17684887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5"/>
          <p:cNvSpPr>
            <a:spLocks noGrp="1" noChangeArrowheads="1"/>
          </p:cNvSpPr>
          <p:nvPr>
            <p:ph type="sldNum" sz="quarter" idx="5"/>
          </p:nvPr>
        </p:nvSpPr>
        <p:spPr>
          <a:noFill/>
        </p:spPr>
        <p:txBody>
          <a:bodyPr/>
          <a:lstStyle>
            <a:lvl1pPr defTabSz="1025525" eaLnBrk="0" hangingPunct="0">
              <a:defRPr>
                <a:solidFill>
                  <a:schemeClr val="tx1"/>
                </a:solidFill>
                <a:latin typeface="Tahoma" pitchFamily="34" charset="0"/>
                <a:ea typeface="宋体" charset="-122"/>
              </a:defRPr>
            </a:lvl1pPr>
            <a:lvl2pPr marL="742950" indent="-285750" defTabSz="1025525" eaLnBrk="0" hangingPunct="0">
              <a:defRPr>
                <a:solidFill>
                  <a:schemeClr val="tx1"/>
                </a:solidFill>
                <a:latin typeface="Tahoma" pitchFamily="34" charset="0"/>
                <a:ea typeface="宋体" charset="-122"/>
              </a:defRPr>
            </a:lvl2pPr>
            <a:lvl3pPr marL="1143000" indent="-228600" defTabSz="1025525" eaLnBrk="0" hangingPunct="0">
              <a:defRPr>
                <a:solidFill>
                  <a:schemeClr val="tx1"/>
                </a:solidFill>
                <a:latin typeface="Tahoma" pitchFamily="34" charset="0"/>
                <a:ea typeface="宋体" charset="-122"/>
              </a:defRPr>
            </a:lvl3pPr>
            <a:lvl4pPr marL="1600200" indent="-228600" defTabSz="1025525" eaLnBrk="0" hangingPunct="0">
              <a:defRPr>
                <a:solidFill>
                  <a:schemeClr val="tx1"/>
                </a:solidFill>
                <a:latin typeface="Tahoma" pitchFamily="34" charset="0"/>
                <a:ea typeface="宋体" charset="-122"/>
              </a:defRPr>
            </a:lvl4pPr>
            <a:lvl5pPr marL="2057400" indent="-228600" defTabSz="1025525" eaLnBrk="0" hangingPunct="0">
              <a:defRPr>
                <a:solidFill>
                  <a:schemeClr val="tx1"/>
                </a:solidFill>
                <a:latin typeface="Tahoma" pitchFamily="34" charset="0"/>
                <a:ea typeface="宋体" charset="-122"/>
              </a:defRPr>
            </a:lvl5pPr>
            <a:lvl6pPr marL="2514600" indent="-228600" defTabSz="1025525" eaLnBrk="0" fontAlgn="base" hangingPunct="0">
              <a:spcBef>
                <a:spcPct val="0"/>
              </a:spcBef>
              <a:spcAft>
                <a:spcPct val="0"/>
              </a:spcAft>
              <a:defRPr>
                <a:solidFill>
                  <a:schemeClr val="tx1"/>
                </a:solidFill>
                <a:latin typeface="Tahoma" pitchFamily="34" charset="0"/>
                <a:ea typeface="宋体" charset="-122"/>
              </a:defRPr>
            </a:lvl6pPr>
            <a:lvl7pPr marL="2971800" indent="-228600" defTabSz="1025525" eaLnBrk="0" fontAlgn="base" hangingPunct="0">
              <a:spcBef>
                <a:spcPct val="0"/>
              </a:spcBef>
              <a:spcAft>
                <a:spcPct val="0"/>
              </a:spcAft>
              <a:defRPr>
                <a:solidFill>
                  <a:schemeClr val="tx1"/>
                </a:solidFill>
                <a:latin typeface="Tahoma" pitchFamily="34" charset="0"/>
                <a:ea typeface="宋体" charset="-122"/>
              </a:defRPr>
            </a:lvl7pPr>
            <a:lvl8pPr marL="3429000" indent="-228600" defTabSz="1025525" eaLnBrk="0" fontAlgn="base" hangingPunct="0">
              <a:spcBef>
                <a:spcPct val="0"/>
              </a:spcBef>
              <a:spcAft>
                <a:spcPct val="0"/>
              </a:spcAft>
              <a:defRPr>
                <a:solidFill>
                  <a:schemeClr val="tx1"/>
                </a:solidFill>
                <a:latin typeface="Tahoma" pitchFamily="34" charset="0"/>
                <a:ea typeface="宋体" charset="-122"/>
              </a:defRPr>
            </a:lvl8pPr>
            <a:lvl9pPr marL="3886200" indent="-228600" defTabSz="1025525" eaLnBrk="0" fontAlgn="base" hangingPunct="0">
              <a:spcBef>
                <a:spcPct val="0"/>
              </a:spcBef>
              <a:spcAft>
                <a:spcPct val="0"/>
              </a:spcAft>
              <a:defRPr>
                <a:solidFill>
                  <a:schemeClr val="tx1"/>
                </a:solidFill>
                <a:latin typeface="Tahoma" pitchFamily="34" charset="0"/>
                <a:ea typeface="宋体" charset="-122"/>
              </a:defRPr>
            </a:lvl9pPr>
          </a:lstStyle>
          <a:p>
            <a:fld id="{0D5EEAEB-76B9-454E-96D1-62E1F15F3480}" type="slidenum">
              <a:rPr lang="zh-CN" altLang="en-US" smtClean="0">
                <a:latin typeface="Comic Sans MS" pitchFamily="66" charset="0"/>
                <a:ea typeface="SimHei" panose="02010609060101010101" pitchFamily="49" charset="-122"/>
              </a:rPr>
              <a:pPr/>
              <a:t>53</a:t>
            </a:fld>
            <a:endParaRPr lang="en-US" altLang="zh-CN" dirty="0">
              <a:latin typeface="Comic Sans MS" pitchFamily="66" charset="0"/>
              <a:ea typeface="SimHei" panose="02010609060101010101" pitchFamily="49" charset="-122"/>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p:spPr>
        <p:txBody>
          <a:bodyPr/>
          <a:lstStyle/>
          <a:p>
            <a:pPr eaLnBrk="1" hangingPunct="1"/>
            <a:endParaRPr lang="zh-CN" altLang="en-US" dirty="0"/>
          </a:p>
        </p:txBody>
      </p:sp>
    </p:spTree>
    <p:extLst>
      <p:ext uri="{BB962C8B-B14F-4D97-AF65-F5344CB8AC3E}">
        <p14:creationId xmlns:p14="http://schemas.microsoft.com/office/powerpoint/2010/main" val="23568179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Jump to p92</a:t>
            </a:r>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54</a:t>
            </a:fld>
            <a:endParaRPr lang="en-US" altLang="zh-CN"/>
          </a:p>
        </p:txBody>
      </p:sp>
    </p:spTree>
    <p:extLst>
      <p:ext uri="{BB962C8B-B14F-4D97-AF65-F5344CB8AC3E}">
        <p14:creationId xmlns:p14="http://schemas.microsoft.com/office/powerpoint/2010/main" val="9761356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55</a:t>
            </a:fld>
            <a:endParaRPr lang="en-US" altLang="zh-CN"/>
          </a:p>
        </p:txBody>
      </p:sp>
    </p:spTree>
    <p:extLst>
      <p:ext uri="{BB962C8B-B14F-4D97-AF65-F5344CB8AC3E}">
        <p14:creationId xmlns:p14="http://schemas.microsoft.com/office/powerpoint/2010/main" val="34233238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56</a:t>
            </a:fld>
            <a:endParaRPr lang="en-US" altLang="zh-CN"/>
          </a:p>
        </p:txBody>
      </p:sp>
    </p:spTree>
    <p:extLst>
      <p:ext uri="{BB962C8B-B14F-4D97-AF65-F5344CB8AC3E}">
        <p14:creationId xmlns:p14="http://schemas.microsoft.com/office/powerpoint/2010/main" val="64162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57</a:t>
            </a:fld>
            <a:endParaRPr lang="en-US" altLang="zh-CN"/>
          </a:p>
        </p:txBody>
      </p:sp>
    </p:spTree>
    <p:extLst>
      <p:ext uri="{BB962C8B-B14F-4D97-AF65-F5344CB8AC3E}">
        <p14:creationId xmlns:p14="http://schemas.microsoft.com/office/powerpoint/2010/main" val="155266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58</a:t>
            </a:fld>
            <a:endParaRPr lang="en-US" altLang="zh-CN"/>
          </a:p>
        </p:txBody>
      </p:sp>
    </p:spTree>
    <p:extLst>
      <p:ext uri="{BB962C8B-B14F-4D97-AF65-F5344CB8AC3E}">
        <p14:creationId xmlns:p14="http://schemas.microsoft.com/office/powerpoint/2010/main" val="34648199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59</a:t>
            </a:fld>
            <a:endParaRPr lang="en-US" altLang="zh-CN"/>
          </a:p>
        </p:txBody>
      </p:sp>
    </p:spTree>
    <p:extLst>
      <p:ext uri="{BB962C8B-B14F-4D97-AF65-F5344CB8AC3E}">
        <p14:creationId xmlns:p14="http://schemas.microsoft.com/office/powerpoint/2010/main" val="18431439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42298196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61</a:t>
            </a:fld>
            <a:endParaRPr lang="en-US" altLang="zh-CN"/>
          </a:p>
        </p:txBody>
      </p:sp>
    </p:spTree>
    <p:extLst>
      <p:ext uri="{BB962C8B-B14F-4D97-AF65-F5344CB8AC3E}">
        <p14:creationId xmlns:p14="http://schemas.microsoft.com/office/powerpoint/2010/main" val="7055168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62</a:t>
            </a:fld>
            <a:endParaRPr lang="en-US" altLang="zh-CN"/>
          </a:p>
        </p:txBody>
      </p:sp>
    </p:spTree>
    <p:extLst>
      <p:ext uri="{BB962C8B-B14F-4D97-AF65-F5344CB8AC3E}">
        <p14:creationId xmlns:p14="http://schemas.microsoft.com/office/powerpoint/2010/main" val="34857682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63</a:t>
            </a:fld>
            <a:endParaRPr lang="en-US" altLang="zh-CN"/>
          </a:p>
        </p:txBody>
      </p:sp>
    </p:spTree>
    <p:extLst>
      <p:ext uri="{BB962C8B-B14F-4D97-AF65-F5344CB8AC3E}">
        <p14:creationId xmlns:p14="http://schemas.microsoft.com/office/powerpoint/2010/main" val="21269540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64</a:t>
            </a:fld>
            <a:endParaRPr lang="en-US" altLang="zh-CN"/>
          </a:p>
        </p:txBody>
      </p:sp>
    </p:spTree>
    <p:extLst>
      <p:ext uri="{BB962C8B-B14F-4D97-AF65-F5344CB8AC3E}">
        <p14:creationId xmlns:p14="http://schemas.microsoft.com/office/powerpoint/2010/main" val="37438768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65</a:t>
            </a:fld>
            <a:endParaRPr lang="en-US" altLang="zh-CN"/>
          </a:p>
        </p:txBody>
      </p:sp>
    </p:spTree>
    <p:extLst>
      <p:ext uri="{BB962C8B-B14F-4D97-AF65-F5344CB8AC3E}">
        <p14:creationId xmlns:p14="http://schemas.microsoft.com/office/powerpoint/2010/main" val="36869737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66</a:t>
            </a:fld>
            <a:endParaRPr lang="en-US" altLang="zh-CN"/>
          </a:p>
        </p:txBody>
      </p:sp>
    </p:spTree>
    <p:extLst>
      <p:ext uri="{BB962C8B-B14F-4D97-AF65-F5344CB8AC3E}">
        <p14:creationId xmlns:p14="http://schemas.microsoft.com/office/powerpoint/2010/main" val="31902063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67</a:t>
            </a:fld>
            <a:endParaRPr lang="en-US" altLang="zh-CN"/>
          </a:p>
        </p:txBody>
      </p:sp>
    </p:spTree>
    <p:extLst>
      <p:ext uri="{BB962C8B-B14F-4D97-AF65-F5344CB8AC3E}">
        <p14:creationId xmlns:p14="http://schemas.microsoft.com/office/powerpoint/2010/main" val="348271100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68</a:t>
            </a:fld>
            <a:endParaRPr lang="en-US" altLang="zh-CN"/>
          </a:p>
        </p:txBody>
      </p:sp>
    </p:spTree>
    <p:extLst>
      <p:ext uri="{BB962C8B-B14F-4D97-AF65-F5344CB8AC3E}">
        <p14:creationId xmlns:p14="http://schemas.microsoft.com/office/powerpoint/2010/main" val="23177442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69</a:t>
            </a:fld>
            <a:endParaRPr lang="en-US" altLang="zh-CN"/>
          </a:p>
        </p:txBody>
      </p:sp>
    </p:spTree>
    <p:extLst>
      <p:ext uri="{BB962C8B-B14F-4D97-AF65-F5344CB8AC3E}">
        <p14:creationId xmlns:p14="http://schemas.microsoft.com/office/powerpoint/2010/main" val="1063459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70</a:t>
            </a:fld>
            <a:endParaRPr lang="en-US" altLang="zh-CN"/>
          </a:p>
        </p:txBody>
      </p:sp>
    </p:spTree>
    <p:extLst>
      <p:ext uri="{BB962C8B-B14F-4D97-AF65-F5344CB8AC3E}">
        <p14:creationId xmlns:p14="http://schemas.microsoft.com/office/powerpoint/2010/main" val="22596394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73</a:t>
            </a:fld>
            <a:endParaRPr lang="en-US" altLang="zh-CN"/>
          </a:p>
        </p:txBody>
      </p:sp>
    </p:spTree>
    <p:extLst>
      <p:ext uri="{BB962C8B-B14F-4D97-AF65-F5344CB8AC3E}">
        <p14:creationId xmlns:p14="http://schemas.microsoft.com/office/powerpoint/2010/main" val="7183535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74</a:t>
            </a:fld>
            <a:endParaRPr lang="en-US" altLang="zh-CN"/>
          </a:p>
        </p:txBody>
      </p:sp>
    </p:spTree>
    <p:extLst>
      <p:ext uri="{BB962C8B-B14F-4D97-AF65-F5344CB8AC3E}">
        <p14:creationId xmlns:p14="http://schemas.microsoft.com/office/powerpoint/2010/main" val="40841828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75</a:t>
            </a:fld>
            <a:endParaRPr lang="en-US" altLang="zh-CN"/>
          </a:p>
        </p:txBody>
      </p:sp>
    </p:spTree>
    <p:extLst>
      <p:ext uri="{BB962C8B-B14F-4D97-AF65-F5344CB8AC3E}">
        <p14:creationId xmlns:p14="http://schemas.microsoft.com/office/powerpoint/2010/main" val="16219851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76</a:t>
            </a:fld>
            <a:endParaRPr lang="en-US" altLang="zh-CN"/>
          </a:p>
        </p:txBody>
      </p:sp>
    </p:spTree>
    <p:extLst>
      <p:ext uri="{BB962C8B-B14F-4D97-AF65-F5344CB8AC3E}">
        <p14:creationId xmlns:p14="http://schemas.microsoft.com/office/powerpoint/2010/main" val="13754298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77</a:t>
            </a:fld>
            <a:endParaRPr lang="en-US" altLang="zh-CN"/>
          </a:p>
        </p:txBody>
      </p:sp>
    </p:spTree>
    <p:extLst>
      <p:ext uri="{BB962C8B-B14F-4D97-AF65-F5344CB8AC3E}">
        <p14:creationId xmlns:p14="http://schemas.microsoft.com/office/powerpoint/2010/main" val="34737641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78</a:t>
            </a:fld>
            <a:endParaRPr lang="en-US" altLang="zh-CN"/>
          </a:p>
        </p:txBody>
      </p:sp>
    </p:spTree>
    <p:extLst>
      <p:ext uri="{BB962C8B-B14F-4D97-AF65-F5344CB8AC3E}">
        <p14:creationId xmlns:p14="http://schemas.microsoft.com/office/powerpoint/2010/main" val="1923392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79</a:t>
            </a:fld>
            <a:endParaRPr lang="en-US" altLang="zh-CN"/>
          </a:p>
        </p:txBody>
      </p:sp>
    </p:spTree>
    <p:extLst>
      <p:ext uri="{BB962C8B-B14F-4D97-AF65-F5344CB8AC3E}">
        <p14:creationId xmlns:p14="http://schemas.microsoft.com/office/powerpoint/2010/main" val="30510182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80</a:t>
            </a:fld>
            <a:endParaRPr lang="en-US" altLang="zh-CN"/>
          </a:p>
        </p:txBody>
      </p:sp>
    </p:spTree>
    <p:extLst>
      <p:ext uri="{BB962C8B-B14F-4D97-AF65-F5344CB8AC3E}">
        <p14:creationId xmlns:p14="http://schemas.microsoft.com/office/powerpoint/2010/main" val="15017812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81</a:t>
            </a:fld>
            <a:endParaRPr lang="en-US" altLang="zh-CN"/>
          </a:p>
        </p:txBody>
      </p:sp>
    </p:spTree>
    <p:extLst>
      <p:ext uri="{BB962C8B-B14F-4D97-AF65-F5344CB8AC3E}">
        <p14:creationId xmlns:p14="http://schemas.microsoft.com/office/powerpoint/2010/main" val="13513772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4105735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FADF04F-F2F9-486C-A752-12D4B1C511A4}" type="slidenum">
              <a:rPr kumimoji="0" lang="en-US" altLang="zh-CN" sz="12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zh-CN" sz="120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31898677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ADF04F-F2F9-486C-A752-12D4B1C511A4}" type="slidenum">
              <a:rPr lang="en-US" altLang="zh-CN" smtClean="0"/>
              <a:pPr/>
              <a:t>84</a:t>
            </a:fld>
            <a:endParaRPr lang="en-US" altLang="zh-CN"/>
          </a:p>
        </p:txBody>
      </p:sp>
    </p:spTree>
    <p:extLst>
      <p:ext uri="{BB962C8B-B14F-4D97-AF65-F5344CB8AC3E}">
        <p14:creationId xmlns:p14="http://schemas.microsoft.com/office/powerpoint/2010/main" val="15066353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0E919B8-A1B4-420E-AADF-E63307EE92DF}" type="slidenum">
              <a:rPr lang="en-US" altLang="zh-CN"/>
              <a:pPr/>
              <a:t>‹#›</a:t>
            </a:fld>
            <a:endParaRPr lang="en-US" altLang="zh-CN"/>
          </a:p>
        </p:txBody>
      </p:sp>
      <p:pic>
        <p:nvPicPr>
          <p:cNvPr id="9" name="图片 8">
            <a:extLst>
              <a:ext uri="{FF2B5EF4-FFF2-40B4-BE49-F238E27FC236}">
                <a16:creationId xmlns:a16="http://schemas.microsoft.com/office/drawing/2014/main" id="{22D8CD7C-6B0B-5AA8-15A0-00D263403939}"/>
              </a:ext>
            </a:extLst>
          </p:cNvPr>
          <p:cNvPicPr>
            <a:picLocks noChangeAspect="1"/>
          </p:cNvPicPr>
          <p:nvPr userDrawn="1"/>
        </p:nvPicPr>
        <p:blipFill rotWithShape="1">
          <a:blip r:embed="rId2"/>
          <a:srcRect r="84159"/>
          <a:stretch/>
        </p:blipFill>
        <p:spPr>
          <a:xfrm>
            <a:off x="0" y="0"/>
            <a:ext cx="1340427" cy="1357258"/>
          </a:xfrm>
          <a:prstGeom prst="rect">
            <a:avLst/>
          </a:prstGeom>
        </p:spPr>
      </p:pic>
      <p:pic>
        <p:nvPicPr>
          <p:cNvPr id="10" name="图片 9">
            <a:extLst>
              <a:ext uri="{FF2B5EF4-FFF2-40B4-BE49-F238E27FC236}">
                <a16:creationId xmlns:a16="http://schemas.microsoft.com/office/drawing/2014/main" id="{FE7BF888-50B7-3F07-2C20-303D904C691E}"/>
              </a:ext>
            </a:extLst>
          </p:cNvPr>
          <p:cNvPicPr>
            <a:picLocks noChangeAspect="1"/>
          </p:cNvPicPr>
          <p:nvPr userDrawn="1"/>
        </p:nvPicPr>
        <p:blipFill rotWithShape="1">
          <a:blip r:embed="rId2"/>
          <a:srcRect l="17445" r="66386"/>
          <a:stretch/>
        </p:blipFill>
        <p:spPr>
          <a:xfrm>
            <a:off x="7775848" y="0"/>
            <a:ext cx="1368152" cy="1357258"/>
          </a:xfrm>
          <a:prstGeom prst="rect">
            <a:avLst/>
          </a:prstGeom>
        </p:spPr>
      </p:pic>
    </p:spTree>
    <p:extLst>
      <p:ext uri="{BB962C8B-B14F-4D97-AF65-F5344CB8AC3E}">
        <p14:creationId xmlns:p14="http://schemas.microsoft.com/office/powerpoint/2010/main" val="1868135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zh-CN" altLang="en-US"/>
              <a:t>单击此处编辑母版标题样式</a:t>
            </a:r>
          </a:p>
        </p:txBody>
      </p:sp>
      <p:sp>
        <p:nvSpPr>
          <p:cNvPr id="3" name="内容占位符 2"/>
          <p:cNvSpPr>
            <a:spLocks noGrp="1"/>
          </p:cNvSpPr>
          <p:nvPr>
            <p:ph idx="1"/>
          </p:nvPr>
        </p:nvSpPr>
        <p:spPr>
          <a:xfrm>
            <a:off x="457200" y="1551432"/>
            <a:ext cx="8229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4659731-6BD7-46E7-8D3C-2F3AC07E20B1}" type="slidenum">
              <a:rPr lang="en-US" altLang="zh-CN"/>
              <a:pPr/>
              <a:t>‹#›</a:t>
            </a:fld>
            <a:endParaRPr lang="en-US" altLang="zh-CN"/>
          </a:p>
        </p:txBody>
      </p:sp>
    </p:spTree>
    <p:extLst>
      <p:ext uri="{BB962C8B-B14F-4D97-AF65-F5344CB8AC3E}">
        <p14:creationId xmlns:p14="http://schemas.microsoft.com/office/powerpoint/2010/main" val="321090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F8AC4FE-4EB1-4196-830A-993FA99EEC9B}" type="slidenum">
              <a:rPr lang="en-US" altLang="zh-CN"/>
              <a:pPr/>
              <a:t>‹#›</a:t>
            </a:fld>
            <a:endParaRPr lang="en-US" altLang="zh-CN"/>
          </a:p>
        </p:txBody>
      </p:sp>
    </p:spTree>
    <p:extLst>
      <p:ext uri="{BB962C8B-B14F-4D97-AF65-F5344CB8AC3E}">
        <p14:creationId xmlns:p14="http://schemas.microsoft.com/office/powerpoint/2010/main" val="1086297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93EBDF-DAB8-41D8-86B3-1BFF07A18FF9}" type="slidenum">
              <a:rPr lang="en-US" altLang="zh-CN"/>
              <a:pPr/>
              <a:t>‹#›</a:t>
            </a:fld>
            <a:endParaRPr lang="en-US" altLang="zh-CN"/>
          </a:p>
        </p:txBody>
      </p:sp>
    </p:spTree>
    <p:extLst>
      <p:ext uri="{BB962C8B-B14F-4D97-AF65-F5344CB8AC3E}">
        <p14:creationId xmlns:p14="http://schemas.microsoft.com/office/powerpoint/2010/main" val="450453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7C22BC1-7FC1-4B65-8DCC-88E2F449497B}" type="slidenum">
              <a:rPr lang="en-US" altLang="zh-CN"/>
              <a:pPr/>
              <a:t>‹#›</a:t>
            </a:fld>
            <a:endParaRPr lang="en-US" altLang="zh-CN"/>
          </a:p>
        </p:txBody>
      </p:sp>
    </p:spTree>
    <p:extLst>
      <p:ext uri="{BB962C8B-B14F-4D97-AF65-F5344CB8AC3E}">
        <p14:creationId xmlns:p14="http://schemas.microsoft.com/office/powerpoint/2010/main" val="789025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6C23D995-88A0-46FA-B356-FA459EF841CD}" type="slidenum">
              <a:rPr lang="en-US" altLang="zh-CN"/>
              <a:pPr/>
              <a:t>‹#›</a:t>
            </a:fld>
            <a:endParaRPr lang="en-US" altLang="zh-CN"/>
          </a:p>
        </p:txBody>
      </p:sp>
    </p:spTree>
    <p:extLst>
      <p:ext uri="{BB962C8B-B14F-4D97-AF65-F5344CB8AC3E}">
        <p14:creationId xmlns:p14="http://schemas.microsoft.com/office/powerpoint/2010/main" val="2782110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3F2AB43A-8F39-40F7-AB51-66BE5F0EDC88}" type="slidenum">
              <a:rPr lang="en-US" altLang="zh-CN"/>
              <a:pPr/>
              <a:t>‹#›</a:t>
            </a:fld>
            <a:endParaRPr lang="en-US" altLang="zh-CN"/>
          </a:p>
        </p:txBody>
      </p:sp>
    </p:spTree>
    <p:extLst>
      <p:ext uri="{BB962C8B-B14F-4D97-AF65-F5344CB8AC3E}">
        <p14:creationId xmlns:p14="http://schemas.microsoft.com/office/powerpoint/2010/main" val="4078140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2D2373F-9A07-4B83-AD01-C0E1FFF861AA}" type="slidenum">
              <a:rPr lang="en-US" altLang="zh-CN"/>
              <a:pPr/>
              <a:t>‹#›</a:t>
            </a:fld>
            <a:endParaRPr lang="en-US" altLang="zh-CN"/>
          </a:p>
        </p:txBody>
      </p:sp>
    </p:spTree>
    <p:extLst>
      <p:ext uri="{BB962C8B-B14F-4D97-AF65-F5344CB8AC3E}">
        <p14:creationId xmlns:p14="http://schemas.microsoft.com/office/powerpoint/2010/main" val="180500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FA0F13C-7485-4D41-9A6D-469650A33C06}" type="slidenum">
              <a:rPr lang="en-US" altLang="zh-CN"/>
              <a:pPr/>
              <a:t>‹#›</a:t>
            </a:fld>
            <a:endParaRPr lang="en-US" altLang="zh-CN"/>
          </a:p>
        </p:txBody>
      </p:sp>
    </p:spTree>
    <p:extLst>
      <p:ext uri="{BB962C8B-B14F-4D97-AF65-F5344CB8AC3E}">
        <p14:creationId xmlns:p14="http://schemas.microsoft.com/office/powerpoint/2010/main" val="98218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73C9E0C-B70F-4EE2-835C-E91EA4A4E95C}" type="slidenum">
              <a:rPr lang="en-US" altLang="zh-CN"/>
              <a:pPr/>
              <a:t>‹#›</a:t>
            </a:fld>
            <a:endParaRPr lang="en-US" altLang="zh-CN"/>
          </a:p>
        </p:txBody>
      </p:sp>
    </p:spTree>
    <p:extLst>
      <p:ext uri="{BB962C8B-B14F-4D97-AF65-F5344CB8AC3E}">
        <p14:creationId xmlns:p14="http://schemas.microsoft.com/office/powerpoint/2010/main" val="3444062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7AE7160-E460-44BC-A56A-E2A6D1A944F5}" type="slidenum">
              <a:rPr lang="en-US" altLang="zh-CN"/>
              <a:pPr/>
              <a:t>‹#›</a:t>
            </a:fld>
            <a:endParaRPr lang="en-US" altLang="zh-CN"/>
          </a:p>
        </p:txBody>
      </p:sp>
    </p:spTree>
    <p:extLst>
      <p:ext uri="{BB962C8B-B14F-4D97-AF65-F5344CB8AC3E}">
        <p14:creationId xmlns:p14="http://schemas.microsoft.com/office/powerpoint/2010/main" val="92545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i="0">
                <a:ea typeface="SimHei" panose="02010609060101010101" pitchFamily="49" charset="-122"/>
              </a:defRPr>
            </a:lvl1pPr>
          </a:lstStyle>
          <a:p>
            <a:endParaRPr lang="en-US" altLang="zh-CN"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i="0">
                <a:ea typeface="SimHei"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i="0">
                <a:ea typeface="SimHei" panose="02010609060101010101" pitchFamily="49" charset="-122"/>
              </a:defRPr>
            </a:lvl1pPr>
          </a:lstStyle>
          <a:p>
            <a:fld id="{B36EB2BA-E18C-44D4-9F8D-4FCE250BF3FA}" type="slidenum">
              <a:rPr lang="en-US" altLang="zh-CN" smtClean="0"/>
              <a:pPr/>
              <a:t>‹#›</a:t>
            </a:fld>
            <a:endParaRPr lang="en-US" altLang="zh-CN" dirty="0"/>
          </a:p>
        </p:txBody>
      </p:sp>
      <p:grpSp>
        <p:nvGrpSpPr>
          <p:cNvPr id="1031" name="Group 7"/>
          <p:cNvGrpSpPr>
            <a:grpSpLocks/>
          </p:cNvGrpSpPr>
          <p:nvPr userDrawn="1"/>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b="0" i="0" dirty="0">
                <a:ea typeface="SimHei"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kumimoji="1" lang="zh-CN" altLang="zh-CN" sz="2400" b="0" i="0" dirty="0">
                <a:solidFill>
                  <a:schemeClr val="accent2"/>
                </a:solidFill>
                <a:latin typeface="Times New Roman" pitchFamily="18" charset="0"/>
                <a:ea typeface="SimHei" panose="02010609060101010101" pitchFamily="49"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000" b="1">
          <a:solidFill>
            <a:schemeClr val="tx2"/>
          </a:solidFill>
          <a:latin typeface="+mj-lt"/>
          <a:ea typeface="+mj-ea"/>
          <a:cs typeface="+mj-cs"/>
        </a:defRPr>
      </a:lvl1pPr>
      <a:lvl2pPr algn="ctr" rtl="0" fontAlgn="base">
        <a:spcBef>
          <a:spcPct val="0"/>
        </a:spcBef>
        <a:spcAft>
          <a:spcPct val="0"/>
        </a:spcAft>
        <a:defRPr sz="4400" b="1">
          <a:solidFill>
            <a:schemeClr val="tx2"/>
          </a:solidFill>
          <a:latin typeface="Arial" charset="0"/>
          <a:ea typeface="宋体" charset="-122"/>
        </a:defRPr>
      </a:lvl2pPr>
      <a:lvl3pPr algn="ctr" rtl="0" fontAlgn="base">
        <a:spcBef>
          <a:spcPct val="0"/>
        </a:spcBef>
        <a:spcAft>
          <a:spcPct val="0"/>
        </a:spcAft>
        <a:defRPr sz="4400" b="1">
          <a:solidFill>
            <a:schemeClr val="tx2"/>
          </a:solidFill>
          <a:latin typeface="Arial" charset="0"/>
          <a:ea typeface="宋体" charset="-122"/>
        </a:defRPr>
      </a:lvl3pPr>
      <a:lvl4pPr algn="ctr" rtl="0" fontAlgn="base">
        <a:spcBef>
          <a:spcPct val="0"/>
        </a:spcBef>
        <a:spcAft>
          <a:spcPct val="0"/>
        </a:spcAft>
        <a:defRPr sz="4400" b="1">
          <a:solidFill>
            <a:schemeClr val="tx2"/>
          </a:solidFill>
          <a:latin typeface="Arial" charset="0"/>
          <a:ea typeface="宋体" charset="-122"/>
        </a:defRPr>
      </a:lvl4pPr>
      <a:lvl5pPr algn="ctr" rtl="0" fontAlgn="base">
        <a:spcBef>
          <a:spcPct val="0"/>
        </a:spcBef>
        <a:spcAft>
          <a:spcPct val="0"/>
        </a:spcAft>
        <a:defRPr sz="4400" b="1">
          <a:solidFill>
            <a:schemeClr val="tx2"/>
          </a:solidFill>
          <a:latin typeface="Arial" charset="0"/>
          <a:ea typeface="宋体" charset="-122"/>
        </a:defRPr>
      </a:lvl5pPr>
      <a:lvl6pPr marL="457200" algn="ctr" rtl="0" fontAlgn="base">
        <a:spcBef>
          <a:spcPct val="0"/>
        </a:spcBef>
        <a:spcAft>
          <a:spcPct val="0"/>
        </a:spcAft>
        <a:defRPr sz="4400" b="1">
          <a:solidFill>
            <a:schemeClr val="tx2"/>
          </a:solidFill>
          <a:latin typeface="Arial" charset="0"/>
          <a:ea typeface="宋体" charset="-122"/>
        </a:defRPr>
      </a:lvl6pPr>
      <a:lvl7pPr marL="914400" algn="ctr" rtl="0" fontAlgn="base">
        <a:spcBef>
          <a:spcPct val="0"/>
        </a:spcBef>
        <a:spcAft>
          <a:spcPct val="0"/>
        </a:spcAft>
        <a:defRPr sz="4400" b="1">
          <a:solidFill>
            <a:schemeClr val="tx2"/>
          </a:solidFill>
          <a:latin typeface="Arial" charset="0"/>
          <a:ea typeface="宋体" charset="-122"/>
        </a:defRPr>
      </a:lvl7pPr>
      <a:lvl8pPr marL="1371600" algn="ctr" rtl="0" fontAlgn="base">
        <a:spcBef>
          <a:spcPct val="0"/>
        </a:spcBef>
        <a:spcAft>
          <a:spcPct val="0"/>
        </a:spcAft>
        <a:defRPr sz="4400" b="1">
          <a:solidFill>
            <a:schemeClr val="tx2"/>
          </a:solidFill>
          <a:latin typeface="Arial" charset="0"/>
          <a:ea typeface="宋体" charset="-122"/>
        </a:defRPr>
      </a:lvl8pPr>
      <a:lvl9pPr marL="1828800" algn="ctr" rtl="0" fontAlgn="base">
        <a:spcBef>
          <a:spcPct val="0"/>
        </a:spcBef>
        <a:spcAft>
          <a:spcPct val="0"/>
        </a:spcAft>
        <a:defRPr sz="4400" b="1">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11.jpg"/><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ustomXml" Target="../ink/ink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1.png"/><Relationship Id="rId4" Type="http://schemas.openxmlformats.org/officeDocument/2006/relationships/customXml" Target="../ink/ink5.xml"/></Relationships>
</file>

<file path=ppt/slides/_rels/slide22.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810.png"/><Relationship Id="rId4" Type="http://schemas.openxmlformats.org/officeDocument/2006/relationships/image" Target="../media/image80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21" Type="http://schemas.openxmlformats.org/officeDocument/2006/relationships/image" Target="../media/image22.tmp"/><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2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customXml" Target="../ink/ink6.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slideLayout" Target="../slideLayouts/slideLayout7.xml"/><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 Type="http://schemas.openxmlformats.org/officeDocument/2006/relationships/tags" Target="../tags/tag22.xml"/><Relationship Id="rId16" Type="http://schemas.openxmlformats.org/officeDocument/2006/relationships/tags" Target="../tags/tag36.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tags" Target="../tags/tag35.xml"/><Relationship Id="rId10" Type="http://schemas.openxmlformats.org/officeDocument/2006/relationships/tags" Target="../tags/tag30.xml"/><Relationship Id="rId19" Type="http://schemas.openxmlformats.org/officeDocument/2006/relationships/image" Target="../media/image22.tmp"/><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image" Target="../media/image27.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9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image" Target="../media/image510.png"/><Relationship Id="rId4" Type="http://schemas.openxmlformats.org/officeDocument/2006/relationships/image" Target="../media/image410.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slideLayout" Target="../slideLayouts/slideLayout7.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 Type="http://schemas.openxmlformats.org/officeDocument/2006/relationships/tags" Target="../tags/tag42.xml"/><Relationship Id="rId16" Type="http://schemas.openxmlformats.org/officeDocument/2006/relationships/tags" Target="../tags/tag56.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tags" Target="../tags/tag55.xml"/><Relationship Id="rId10" Type="http://schemas.openxmlformats.org/officeDocument/2006/relationships/tags" Target="../tags/tag50.xml"/><Relationship Id="rId19" Type="http://schemas.openxmlformats.org/officeDocument/2006/relationships/image" Target="../media/image22.tmp"/><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s>
</file>

<file path=ppt/slides/_rels/slide72.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Layout" Target="../slideLayouts/slideLayout7.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9.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4" name="Rectangle 16"/>
          <p:cNvSpPr>
            <a:spLocks noChangeArrowheads="1"/>
          </p:cNvSpPr>
          <p:nvPr/>
        </p:nvSpPr>
        <p:spPr bwMode="auto">
          <a:xfrm>
            <a:off x="0" y="1781833"/>
            <a:ext cx="9144000" cy="2117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zh-CN" altLang="en-US" sz="4800" b="1" dirty="0">
                <a:solidFill>
                  <a:schemeClr val="tx2"/>
                </a:solidFill>
                <a:latin typeface="SimHei" panose="02010609060101010101" pitchFamily="49" charset="-122"/>
                <a:ea typeface="SimHei" panose="02010609060101010101" pitchFamily="49" charset="-122"/>
              </a:rPr>
              <a:t>第八讲</a:t>
            </a:r>
            <a:r>
              <a:rPr lang="en-US" altLang="zh-CN" sz="4800" b="1" dirty="0">
                <a:solidFill>
                  <a:schemeClr val="tx2"/>
                </a:solidFill>
                <a:latin typeface="SimHei" panose="02010609060101010101" pitchFamily="49" charset="-122"/>
                <a:ea typeface="SimHei" panose="02010609060101010101" pitchFamily="49" charset="-122"/>
              </a:rPr>
              <a:t> </a:t>
            </a:r>
            <a:r>
              <a:rPr lang="zh-CN" altLang="en-US" sz="4800" b="1" dirty="0">
                <a:solidFill>
                  <a:schemeClr val="tx2"/>
                </a:solidFill>
                <a:latin typeface="SimHei" panose="02010609060101010101" pitchFamily="49" charset="-122"/>
                <a:ea typeface="SimHei" panose="02010609060101010101" pitchFamily="49" charset="-122"/>
              </a:rPr>
              <a:t>存储器与总线外设</a:t>
            </a:r>
            <a:endParaRPr lang="en-US" altLang="zh-CN" sz="4800" b="1" dirty="0">
              <a:solidFill>
                <a:schemeClr val="tx2"/>
              </a:solidFill>
              <a:latin typeface="SimHei" panose="02010609060101010101" pitchFamily="49" charset="-122"/>
              <a:ea typeface="SimHei" panose="02010609060101010101" pitchFamily="49" charset="-122"/>
            </a:endParaRPr>
          </a:p>
          <a:p>
            <a:pPr algn="ctr"/>
            <a:r>
              <a:rPr lang="zh-CN" altLang="en-US" sz="3600" b="1" dirty="0">
                <a:solidFill>
                  <a:schemeClr val="tx2"/>
                </a:solidFill>
                <a:latin typeface="SimHei" panose="02010609060101010101" pitchFamily="49" charset="-122"/>
                <a:ea typeface="SimHei" panose="02010609060101010101" pitchFamily="49" charset="-122"/>
              </a:rPr>
              <a:t>第</a:t>
            </a:r>
            <a:r>
              <a:rPr lang="en-US" altLang="zh-CN" sz="3600" b="1" dirty="0">
                <a:solidFill>
                  <a:schemeClr val="tx2"/>
                </a:solidFill>
                <a:latin typeface="+mn-lt"/>
                <a:ea typeface="SimHei" panose="02010609060101010101" pitchFamily="49" charset="-122"/>
              </a:rPr>
              <a:t>2</a:t>
            </a:r>
            <a:r>
              <a:rPr lang="zh-CN" altLang="en-US" sz="3600" b="1" dirty="0">
                <a:solidFill>
                  <a:schemeClr val="tx2"/>
                </a:solidFill>
                <a:latin typeface="SimHei" panose="02010609060101010101" pitchFamily="49" charset="-122"/>
                <a:ea typeface="SimHei" panose="02010609060101010101" pitchFamily="49" charset="-122"/>
              </a:rPr>
              <a:t>部分 存储器系统、缓存技术与性能评估</a:t>
            </a:r>
            <a:endParaRPr lang="en-US" altLang="zh-CN" sz="3600" b="1" dirty="0">
              <a:solidFill>
                <a:schemeClr val="tx2"/>
              </a:solidFill>
              <a:latin typeface="SimHei" panose="02010609060101010101" pitchFamily="49" charset="-122"/>
              <a:ea typeface="SimHei" panose="02010609060101010101" pitchFamily="49" charset="-122"/>
            </a:endParaRPr>
          </a:p>
          <a:p>
            <a:pPr algn="ctr"/>
            <a:endParaRPr lang="zh-CN" altLang="en-US" sz="2800" b="1" dirty="0">
              <a:solidFill>
                <a:srgbClr val="0432FF"/>
              </a:solidFill>
              <a:latin typeface="STKaiti" panose="02010600040101010101" pitchFamily="2" charset="-122"/>
              <a:ea typeface="STKaiti" panose="02010600040101010101" pitchFamily="2" charset="-122"/>
            </a:endParaRPr>
          </a:p>
        </p:txBody>
      </p:sp>
      <p:sp>
        <p:nvSpPr>
          <p:cNvPr id="5" name="Rectangle 16"/>
          <p:cNvSpPr>
            <a:spLocks noChangeArrowheads="1"/>
          </p:cNvSpPr>
          <p:nvPr/>
        </p:nvSpPr>
        <p:spPr bwMode="auto">
          <a:xfrm>
            <a:off x="0" y="12357"/>
            <a:ext cx="9144000" cy="13420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zh-CN" altLang="en-US" sz="3600" dirty="0">
                <a:solidFill>
                  <a:schemeClr val="tx2"/>
                </a:solidFill>
                <a:latin typeface="SimHei" panose="02010609060101010101" pitchFamily="49" charset="-122"/>
                <a:ea typeface="SimHei" panose="02010609060101010101" pitchFamily="49" charset="-122"/>
              </a:rPr>
              <a:t>数字逻辑与处理器基础</a:t>
            </a:r>
            <a:endParaRPr lang="en-US" altLang="zh-CN" sz="3600" dirty="0">
              <a:solidFill>
                <a:schemeClr val="tx2"/>
              </a:solidFill>
              <a:latin typeface="SimHei" panose="02010609060101010101" pitchFamily="49" charset="-122"/>
              <a:ea typeface="SimHei" panose="02010609060101010101" pitchFamily="49" charset="-122"/>
            </a:endParaRPr>
          </a:p>
          <a:p>
            <a:pPr algn="ctr"/>
            <a:r>
              <a:rPr lang="en-US" altLang="zh-CN" sz="2000" dirty="0">
                <a:solidFill>
                  <a:schemeClr val="tx2"/>
                </a:solidFill>
                <a:latin typeface="Arial" panose="020B0604020202020204" pitchFamily="34" charset="0"/>
                <a:ea typeface="SimHei" panose="02010609060101010101" pitchFamily="49" charset="-122"/>
                <a:cs typeface="Arial" panose="020B0604020202020204" pitchFamily="34" charset="0"/>
              </a:rPr>
              <a:t>Fundamentals of Digital Logic and Processor</a:t>
            </a:r>
            <a:endParaRPr lang="zh-CN" altLang="en-US" sz="2000" dirty="0">
              <a:solidFill>
                <a:schemeClr val="tx2"/>
              </a:solidFill>
              <a:latin typeface="Arial" panose="020B0604020202020204" pitchFamily="34" charset="0"/>
              <a:ea typeface="SimHei" panose="02010609060101010101" pitchFamily="49" charset="-122"/>
              <a:cs typeface="Arial" panose="020B0604020202020204" pitchFamily="34" charset="0"/>
            </a:endParaRPr>
          </a:p>
        </p:txBody>
      </p:sp>
      <p:sp>
        <p:nvSpPr>
          <p:cNvPr id="3" name="Rectangle 9">
            <a:extLst>
              <a:ext uri="{FF2B5EF4-FFF2-40B4-BE49-F238E27FC236}">
                <a16:creationId xmlns:a16="http://schemas.microsoft.com/office/drawing/2014/main" id="{412905A9-55FE-858D-BCE4-8A7F5E0DF790}"/>
              </a:ext>
            </a:extLst>
          </p:cNvPr>
          <p:cNvSpPr>
            <a:spLocks noChangeArrowheads="1"/>
          </p:cNvSpPr>
          <p:nvPr/>
        </p:nvSpPr>
        <p:spPr bwMode="gray">
          <a:xfrm>
            <a:off x="0" y="3842795"/>
            <a:ext cx="9143999" cy="2765936"/>
          </a:xfrm>
          <a:prstGeom prst="rect">
            <a:avLst/>
          </a:prstGeom>
          <a:noFill/>
          <a:ln w="9525">
            <a:noFill/>
            <a:miter lim="800000"/>
            <a:headEnd/>
            <a:tailEnd/>
          </a:ln>
        </p:spPr>
        <p:txBody>
          <a:bodyPr/>
          <a:lstStyle/>
          <a:p>
            <a:pPr algn="ctr">
              <a:spcBef>
                <a:spcPct val="20000"/>
              </a:spcBef>
              <a:buClr>
                <a:schemeClr val="hlink"/>
              </a:buClr>
              <a:buFont typeface="Wingdings" pitchFamily="2" charset="2"/>
              <a:buNone/>
            </a:pPr>
            <a:r>
              <a:rPr lang="zh-CN" altLang="en-US" sz="3600" b="0" dirty="0">
                <a:solidFill>
                  <a:schemeClr val="tx1"/>
                </a:solidFill>
                <a:latin typeface="+mn-lt"/>
                <a:ea typeface="黑体" pitchFamily="2" charset="-122"/>
              </a:rPr>
              <a:t>李学清</a:t>
            </a:r>
            <a:endParaRPr lang="en-US" altLang="zh-CN" sz="3600" b="0" dirty="0">
              <a:solidFill>
                <a:schemeClr val="tx1"/>
              </a:solidFill>
              <a:latin typeface="+mn-lt"/>
              <a:ea typeface="黑体" pitchFamily="2" charset="-122"/>
            </a:endParaRPr>
          </a:p>
          <a:p>
            <a:pPr algn="ctr">
              <a:spcBef>
                <a:spcPct val="20000"/>
              </a:spcBef>
              <a:buClr>
                <a:schemeClr val="hlink"/>
              </a:buClr>
              <a:buFont typeface="Wingdings" pitchFamily="2" charset="2"/>
              <a:buNone/>
            </a:pPr>
            <a:r>
              <a:rPr lang="en-US" altLang="zh-CN" sz="2800" b="0" dirty="0">
                <a:solidFill>
                  <a:schemeClr val="tx1"/>
                </a:solidFill>
                <a:latin typeface="+mn-lt"/>
                <a:ea typeface="黑体" pitchFamily="2" charset="-122"/>
              </a:rPr>
              <a:t>#</a:t>
            </a:r>
            <a:r>
              <a:rPr lang="zh-CN" altLang="en-US" sz="2800" b="0" dirty="0">
                <a:solidFill>
                  <a:schemeClr val="tx1"/>
                </a:solidFill>
                <a:latin typeface="+mn-lt"/>
                <a:ea typeface="黑体" pitchFamily="2" charset="-122"/>
              </a:rPr>
              <a:t>腾讯会议：</a:t>
            </a:r>
            <a:r>
              <a:rPr lang="en-US" altLang="zh-CN" sz="2800" b="0" dirty="0">
                <a:solidFill>
                  <a:schemeClr val="tx1"/>
                </a:solidFill>
                <a:latin typeface="+mn-lt"/>
                <a:ea typeface="黑体" pitchFamily="2" charset="-122"/>
              </a:rPr>
              <a:t>858-8541-2550</a:t>
            </a:r>
            <a:endParaRPr lang="zh-CN" altLang="en-US" sz="2800" b="0" dirty="0">
              <a:solidFill>
                <a:schemeClr val="tx1"/>
              </a:solidFill>
              <a:latin typeface="+mn-lt"/>
              <a:ea typeface="黑体" pitchFamily="2" charset="-122"/>
            </a:endParaRPr>
          </a:p>
          <a:p>
            <a:pPr algn="ctr">
              <a:spcBef>
                <a:spcPct val="20000"/>
              </a:spcBef>
              <a:buClr>
                <a:schemeClr val="hlink"/>
              </a:buClr>
            </a:pPr>
            <a:r>
              <a:rPr lang="en-US" altLang="zh-CN" sz="2800" b="0" dirty="0">
                <a:solidFill>
                  <a:schemeClr val="tx1"/>
                </a:solidFill>
                <a:latin typeface="+mn-lt"/>
                <a:ea typeface="黑体" pitchFamily="2" charset="-122"/>
              </a:rPr>
              <a:t>2024</a:t>
            </a:r>
            <a:r>
              <a:rPr lang="zh-CN" altLang="en-US" sz="2800" b="0" dirty="0">
                <a:solidFill>
                  <a:schemeClr val="tx1"/>
                </a:solidFill>
                <a:latin typeface="+mn-lt"/>
                <a:ea typeface="黑体" pitchFamily="2" charset="-122"/>
              </a:rPr>
              <a:t>年</a:t>
            </a:r>
            <a:r>
              <a:rPr lang="en-US" altLang="zh-CN" sz="2800" b="0" dirty="0">
                <a:solidFill>
                  <a:schemeClr val="tx1"/>
                </a:solidFill>
                <a:latin typeface="+mn-lt"/>
                <a:ea typeface="黑体" pitchFamily="2" charset="-122"/>
              </a:rPr>
              <a:t>6</a:t>
            </a:r>
            <a:r>
              <a:rPr lang="zh-CN" altLang="en-US" sz="2800" b="0" dirty="0">
                <a:solidFill>
                  <a:schemeClr val="tx1"/>
                </a:solidFill>
                <a:latin typeface="+mn-lt"/>
                <a:ea typeface="黑体" pitchFamily="2" charset="-122"/>
              </a:rPr>
              <a:t>月</a:t>
            </a:r>
            <a:r>
              <a:rPr lang="en-US" altLang="zh-CN" sz="2800" dirty="0">
                <a:latin typeface="+mn-lt"/>
                <a:ea typeface="黑体" pitchFamily="2" charset="-122"/>
              </a:rPr>
              <a:t>4</a:t>
            </a:r>
            <a:r>
              <a:rPr lang="zh-CN" altLang="en-US" sz="2800" b="0" dirty="0">
                <a:solidFill>
                  <a:schemeClr val="tx1"/>
                </a:solidFill>
                <a:latin typeface="+mn-lt"/>
                <a:ea typeface="黑体" pitchFamily="2" charset="-122"/>
              </a:rPr>
              <a:t>日</a:t>
            </a:r>
            <a:endParaRPr lang="en-US" sz="2800" b="0" dirty="0">
              <a:solidFill>
                <a:schemeClr val="tx1"/>
              </a:solidFill>
              <a:latin typeface="+mn-lt"/>
              <a:ea typeface="黑体" pitchFamily="2" charset="-122"/>
            </a:endParaRPr>
          </a:p>
        </p:txBody>
      </p:sp>
    </p:spTree>
    <p:extLst>
      <p:ext uri="{BB962C8B-B14F-4D97-AF65-F5344CB8AC3E}">
        <p14:creationId xmlns:p14="http://schemas.microsoft.com/office/powerpoint/2010/main" val="1330396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F0739-DD16-405F-8CC8-C602B9363EC2}"/>
              </a:ext>
            </a:extLst>
          </p:cNvPr>
          <p:cNvSpPr>
            <a:spLocks noGrp="1"/>
          </p:cNvSpPr>
          <p:nvPr>
            <p:ph type="title"/>
          </p:nvPr>
        </p:nvSpPr>
        <p:spPr/>
        <p:txBody>
          <a:bodyPr/>
          <a:lstStyle/>
          <a:p>
            <a:r>
              <a:rPr lang="zh-CN" altLang="en-US" dirty="0">
                <a:latin typeface="SimHei" panose="02010609060101010101" pitchFamily="49" charset="-122"/>
                <a:ea typeface="SimHei" panose="02010609060101010101" pitchFamily="49" charset="-122"/>
              </a:rPr>
              <a:t>第四次习题课与期末课程安排</a:t>
            </a:r>
          </a:p>
        </p:txBody>
      </p:sp>
      <p:sp>
        <p:nvSpPr>
          <p:cNvPr id="4" name="灯片编号占位符 3">
            <a:extLst>
              <a:ext uri="{FF2B5EF4-FFF2-40B4-BE49-F238E27FC236}">
                <a16:creationId xmlns:a16="http://schemas.microsoft.com/office/drawing/2014/main" id="{E8F296DE-3042-4695-942F-7606A7AD4C7B}"/>
              </a:ext>
            </a:extLst>
          </p:cNvPr>
          <p:cNvSpPr>
            <a:spLocks noGrp="1"/>
          </p:cNvSpPr>
          <p:nvPr>
            <p:ph type="sldNum" sz="quarter" idx="12"/>
          </p:nvPr>
        </p:nvSpPr>
        <p:spPr/>
        <p:txBody>
          <a:bodyPr/>
          <a:lstStyle/>
          <a:p>
            <a:fld id="{0626FCE3-5FF9-430D-BA0B-DE80AAE71673}" type="slidenum">
              <a:rPr lang="zh-CN" altLang="en-US" smtClean="0"/>
              <a:t>2</a:t>
            </a:fld>
            <a:endParaRPr lang="zh-CN" altLang="en-US"/>
          </a:p>
        </p:txBody>
      </p:sp>
      <p:sp>
        <p:nvSpPr>
          <p:cNvPr id="5" name="Content Placeholder 5">
            <a:extLst>
              <a:ext uri="{FF2B5EF4-FFF2-40B4-BE49-F238E27FC236}">
                <a16:creationId xmlns:a16="http://schemas.microsoft.com/office/drawing/2014/main" id="{F75F5B95-CA50-0E73-4C2D-206E0E8468FA}"/>
              </a:ext>
            </a:extLst>
          </p:cNvPr>
          <p:cNvSpPr txBox="1">
            <a:spLocks/>
          </p:cNvSpPr>
          <p:nvPr/>
        </p:nvSpPr>
        <p:spPr bwMode="auto">
          <a:xfrm>
            <a:off x="457199" y="1279525"/>
            <a:ext cx="8476593" cy="53039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a:lnSpc>
                <a:spcPct val="150000"/>
              </a:lnSpc>
            </a:pPr>
            <a:r>
              <a:rPr lang="zh-CN" altLang="en-US" sz="2700" kern="0" dirty="0"/>
              <a:t>第二次报告与第四次习题课</a:t>
            </a:r>
          </a:p>
          <a:p>
            <a:pPr lvl="1">
              <a:lnSpc>
                <a:spcPct val="150000"/>
              </a:lnSpc>
            </a:pPr>
            <a:r>
              <a:rPr lang="zh-CN" altLang="en-US" sz="2300" kern="0" dirty="0">
                <a:solidFill>
                  <a:srgbClr val="FF0000"/>
                </a:solidFill>
              </a:rPr>
              <a:t>时间：</a:t>
            </a:r>
            <a:r>
              <a:rPr lang="en-US" altLang="zh-CN" sz="2300" kern="0" dirty="0">
                <a:solidFill>
                  <a:srgbClr val="FF0000"/>
                </a:solidFill>
              </a:rPr>
              <a:t>6</a:t>
            </a:r>
            <a:r>
              <a:rPr lang="zh-CN" altLang="en-US" sz="2300" kern="0" dirty="0">
                <a:solidFill>
                  <a:srgbClr val="FF0000"/>
                </a:solidFill>
              </a:rPr>
              <a:t>月</a:t>
            </a:r>
            <a:r>
              <a:rPr lang="en-US" altLang="zh-CN" sz="2300" kern="0" dirty="0">
                <a:solidFill>
                  <a:srgbClr val="FF0000"/>
                </a:solidFill>
              </a:rPr>
              <a:t>8</a:t>
            </a:r>
            <a:r>
              <a:rPr lang="zh-CN" altLang="en-US" sz="2300" kern="0" dirty="0">
                <a:solidFill>
                  <a:srgbClr val="FF0000"/>
                </a:solidFill>
              </a:rPr>
              <a:t>日（周六）</a:t>
            </a:r>
            <a:r>
              <a:rPr lang="en-US" altLang="zh-CN" sz="2300" kern="0" dirty="0">
                <a:solidFill>
                  <a:srgbClr val="FF0000"/>
                </a:solidFill>
              </a:rPr>
              <a:t>15:00 – 17:30</a:t>
            </a:r>
          </a:p>
          <a:p>
            <a:pPr lvl="1">
              <a:lnSpc>
                <a:spcPct val="150000"/>
              </a:lnSpc>
            </a:pPr>
            <a:r>
              <a:rPr lang="zh-CN" altLang="en-US" sz="2300" kern="0" dirty="0">
                <a:solidFill>
                  <a:srgbClr val="FF0000"/>
                </a:solidFill>
              </a:rPr>
              <a:t>地点：系馆</a:t>
            </a:r>
            <a:r>
              <a:rPr lang="en-US" altLang="zh-CN" sz="2300" kern="0" dirty="0">
                <a:solidFill>
                  <a:srgbClr val="FF0000"/>
                </a:solidFill>
              </a:rPr>
              <a:t>3</a:t>
            </a:r>
            <a:r>
              <a:rPr lang="zh-CN" altLang="en-US" sz="2300" kern="0" dirty="0">
                <a:solidFill>
                  <a:srgbClr val="FF0000"/>
                </a:solidFill>
              </a:rPr>
              <a:t>层报告厅</a:t>
            </a:r>
          </a:p>
          <a:p>
            <a:pPr lvl="1">
              <a:lnSpc>
                <a:spcPct val="150000"/>
              </a:lnSpc>
            </a:pPr>
            <a:r>
              <a:rPr lang="zh-CN" altLang="en-US" sz="2300" kern="0" dirty="0"/>
              <a:t>内容：（</a:t>
            </a:r>
            <a:r>
              <a:rPr lang="en-US" altLang="zh-CN" sz="2300" kern="0" dirty="0"/>
              <a:t>1</a:t>
            </a:r>
            <a:r>
              <a:rPr lang="zh-CN" altLang="en-US" sz="2300" kern="0" dirty="0"/>
              <a:t>）存储器邀请报告；（</a:t>
            </a:r>
            <a:r>
              <a:rPr lang="en-US" altLang="zh-CN" sz="2300" kern="0" dirty="0"/>
              <a:t>2</a:t>
            </a:r>
            <a:r>
              <a:rPr lang="zh-CN" altLang="en-US" sz="2300" kern="0" dirty="0"/>
              <a:t>）流水线、存储器习题</a:t>
            </a:r>
          </a:p>
          <a:p>
            <a:pPr lvl="1">
              <a:lnSpc>
                <a:spcPct val="150000"/>
              </a:lnSpc>
            </a:pPr>
            <a:r>
              <a:rPr lang="zh-CN" altLang="en-US" sz="2300" kern="0" dirty="0"/>
              <a:t>课后进行答疑，习题课提供录屏</a:t>
            </a:r>
          </a:p>
          <a:p>
            <a:pPr>
              <a:lnSpc>
                <a:spcPct val="150000"/>
              </a:lnSpc>
            </a:pPr>
            <a:r>
              <a:rPr lang="zh-CN" altLang="en-US" sz="2700" kern="0" dirty="0"/>
              <a:t>第</a:t>
            </a:r>
            <a:r>
              <a:rPr lang="en-US" altLang="zh-CN" sz="2700" kern="0" dirty="0"/>
              <a:t>16</a:t>
            </a:r>
            <a:r>
              <a:rPr lang="zh-CN" altLang="en-US" sz="2700" kern="0" dirty="0"/>
              <a:t>周数逻课安排</a:t>
            </a:r>
          </a:p>
          <a:p>
            <a:pPr lvl="1">
              <a:lnSpc>
                <a:spcPct val="150000"/>
              </a:lnSpc>
            </a:pPr>
            <a:r>
              <a:rPr lang="en-US" altLang="zh-CN" sz="2300" kern="0" dirty="0">
                <a:solidFill>
                  <a:srgbClr val="FF0000"/>
                </a:solidFill>
              </a:rPr>
              <a:t>6</a:t>
            </a:r>
            <a:r>
              <a:rPr lang="zh-CN" altLang="en-US" sz="2300" kern="0" dirty="0">
                <a:solidFill>
                  <a:srgbClr val="FF0000"/>
                </a:solidFill>
              </a:rPr>
              <a:t>月</a:t>
            </a:r>
            <a:r>
              <a:rPr lang="en-US" altLang="zh-CN" sz="2300" kern="0" dirty="0">
                <a:solidFill>
                  <a:srgbClr val="FF0000"/>
                </a:solidFill>
              </a:rPr>
              <a:t>11</a:t>
            </a:r>
            <a:r>
              <a:rPr lang="zh-CN" altLang="en-US" sz="2300" kern="0" dirty="0">
                <a:solidFill>
                  <a:srgbClr val="FF0000"/>
                </a:solidFill>
              </a:rPr>
              <a:t>日数逻课照常上课，不受此次端午放假影响</a:t>
            </a:r>
          </a:p>
        </p:txBody>
      </p:sp>
    </p:spTree>
    <p:extLst>
      <p:ext uri="{BB962C8B-B14F-4D97-AF65-F5344CB8AC3E}">
        <p14:creationId xmlns:p14="http://schemas.microsoft.com/office/powerpoint/2010/main" val="3438732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7">
            <a:extLst>
              <a:ext uri="{FF2B5EF4-FFF2-40B4-BE49-F238E27FC236}">
                <a16:creationId xmlns:a16="http://schemas.microsoft.com/office/drawing/2014/main" id="{138525E9-0DA6-45A1-9B12-31B6C3EB11CB}"/>
              </a:ext>
            </a:extLst>
          </p:cNvPr>
          <p:cNvSpPr>
            <a:spLocks noGrp="1"/>
          </p:cNvSpPr>
          <p:nvPr>
            <p:ph type="sldNum" sz="quarter" idx="12"/>
          </p:nvPr>
        </p:nvSpPr>
        <p:spPr/>
        <p:txBody>
          <a:bodyPr/>
          <a:lstStyle/>
          <a:p>
            <a:fld id="{176ACFD1-D213-4B9C-817B-45486DBF105A}" type="slidenum">
              <a:rPr lang="en-US" smtClean="0">
                <a:solidFill>
                  <a:prstClr val="black"/>
                </a:solidFill>
              </a:rPr>
              <a:pPr/>
              <a:t>3</a:t>
            </a:fld>
            <a:endParaRPr lang="en-US">
              <a:solidFill>
                <a:prstClr val="black"/>
              </a:solidFill>
            </a:endParaRPr>
          </a:p>
        </p:txBody>
      </p:sp>
      <p:sp>
        <p:nvSpPr>
          <p:cNvPr id="6" name="Content Placeholder 5">
            <a:extLst>
              <a:ext uri="{FF2B5EF4-FFF2-40B4-BE49-F238E27FC236}">
                <a16:creationId xmlns:a16="http://schemas.microsoft.com/office/drawing/2014/main" id="{1558EEBF-DB67-F748-BA5F-FBF1266F2751}"/>
              </a:ext>
            </a:extLst>
          </p:cNvPr>
          <p:cNvSpPr>
            <a:spLocks noGrp="1"/>
          </p:cNvSpPr>
          <p:nvPr>
            <p:ph idx="4294967295"/>
          </p:nvPr>
        </p:nvSpPr>
        <p:spPr>
          <a:xfrm>
            <a:off x="457199" y="1273799"/>
            <a:ext cx="8476593" cy="5303925"/>
          </a:xfrm>
        </p:spPr>
        <p:txBody>
          <a:bodyPr>
            <a:normAutofit fontScale="92500"/>
          </a:bodyPr>
          <a:lstStyle/>
          <a:p>
            <a:pPr>
              <a:lnSpc>
                <a:spcPct val="150000"/>
              </a:lnSpc>
            </a:pPr>
            <a:r>
              <a:rPr lang="zh-CN" altLang="en-US" sz="2700" b="1" dirty="0">
                <a:solidFill>
                  <a:srgbClr val="FF0000"/>
                </a:solidFill>
              </a:rPr>
              <a:t>时间：</a:t>
            </a:r>
            <a:r>
              <a:rPr lang="en-US" altLang="zh-CN" sz="2700" dirty="0">
                <a:solidFill>
                  <a:srgbClr val="FF0000"/>
                </a:solidFill>
              </a:rPr>
              <a:t>6</a:t>
            </a:r>
            <a:r>
              <a:rPr lang="zh-CN" altLang="en-US" sz="2700" b="1" dirty="0">
                <a:solidFill>
                  <a:srgbClr val="FF0000"/>
                </a:solidFill>
              </a:rPr>
              <a:t>月</a:t>
            </a:r>
            <a:r>
              <a:rPr lang="en-US" altLang="zh-CN" sz="2700" dirty="0">
                <a:solidFill>
                  <a:srgbClr val="FF0000"/>
                </a:solidFill>
              </a:rPr>
              <a:t>17</a:t>
            </a:r>
            <a:r>
              <a:rPr lang="zh-CN" altLang="en-US" sz="2700" b="1" dirty="0">
                <a:solidFill>
                  <a:srgbClr val="FF0000"/>
                </a:solidFill>
              </a:rPr>
              <a:t>日（周一）下午，</a:t>
            </a:r>
            <a:r>
              <a:rPr lang="en-US" altLang="zh-CN" sz="2700" dirty="0">
                <a:solidFill>
                  <a:srgbClr val="FF0000"/>
                </a:solidFill>
              </a:rPr>
              <a:t>14</a:t>
            </a:r>
            <a:r>
              <a:rPr lang="en-US" altLang="zh-CN" sz="2700" b="1" dirty="0">
                <a:solidFill>
                  <a:srgbClr val="FF0000"/>
                </a:solidFill>
              </a:rPr>
              <a:t>:30 – 16:30</a:t>
            </a:r>
            <a:endParaRPr lang="en-US" altLang="zh-CN" sz="2700" dirty="0">
              <a:solidFill>
                <a:srgbClr val="FF0000"/>
              </a:solidFill>
            </a:endParaRPr>
          </a:p>
          <a:p>
            <a:pPr>
              <a:lnSpc>
                <a:spcPct val="150000"/>
              </a:lnSpc>
            </a:pPr>
            <a:r>
              <a:rPr lang="zh-CN" altLang="en-US" sz="2700" dirty="0"/>
              <a:t>范围：处理器部分</a:t>
            </a:r>
            <a:endParaRPr lang="en-US" altLang="zh-CN" sz="2700" dirty="0"/>
          </a:p>
          <a:p>
            <a:pPr lvl="1">
              <a:lnSpc>
                <a:spcPct val="150000"/>
              </a:lnSpc>
            </a:pPr>
            <a:r>
              <a:rPr lang="zh-CN" altLang="en-US" sz="2400" dirty="0"/>
              <a:t>汇编，微处理器，流水线，存储器，总线</a:t>
            </a:r>
            <a:endParaRPr lang="en-US" altLang="zh-CN" sz="2400" dirty="0"/>
          </a:p>
          <a:p>
            <a:pPr lvl="1">
              <a:lnSpc>
                <a:spcPct val="150000"/>
              </a:lnSpc>
            </a:pPr>
            <a:r>
              <a:rPr lang="zh-CN" altLang="en-US" sz="2400" dirty="0"/>
              <a:t>题型基本同模拟题（已上传至网络学堂）</a:t>
            </a:r>
            <a:endParaRPr lang="en-US" altLang="zh-CN" sz="2400" dirty="0"/>
          </a:p>
          <a:p>
            <a:pPr>
              <a:lnSpc>
                <a:spcPct val="150000"/>
              </a:lnSpc>
            </a:pPr>
            <a:r>
              <a:rPr lang="zh-CN" altLang="en-US" sz="2700" dirty="0"/>
              <a:t>期末考试考前答疑安排</a:t>
            </a:r>
            <a:endParaRPr lang="en-US" altLang="zh-CN" sz="2700" dirty="0"/>
          </a:p>
          <a:p>
            <a:pPr lvl="1">
              <a:lnSpc>
                <a:spcPct val="150000"/>
              </a:lnSpc>
            </a:pPr>
            <a:r>
              <a:rPr lang="en-US" altLang="zh-CN" sz="2400" dirty="0"/>
              <a:t>6</a:t>
            </a:r>
            <a:r>
              <a:rPr lang="zh-CN" altLang="en-US" sz="2400" dirty="0"/>
              <a:t>月</a:t>
            </a:r>
            <a:r>
              <a:rPr lang="en-US" altLang="zh-CN" sz="2400" dirty="0"/>
              <a:t>15</a:t>
            </a:r>
            <a:r>
              <a:rPr lang="zh-CN" altLang="en-US" sz="2400" dirty="0"/>
              <a:t>日（周六）</a:t>
            </a:r>
            <a:r>
              <a:rPr lang="en-US" altLang="zh-CN" sz="2400" dirty="0"/>
              <a:t>19:00 – 21:00</a:t>
            </a:r>
            <a:r>
              <a:rPr lang="zh-CN" altLang="en-US" sz="2400" dirty="0"/>
              <a:t>，系馆</a:t>
            </a:r>
            <a:r>
              <a:rPr lang="en-US" altLang="zh-CN" sz="2400" dirty="0"/>
              <a:t>8-208</a:t>
            </a:r>
          </a:p>
          <a:p>
            <a:pPr lvl="1">
              <a:lnSpc>
                <a:spcPct val="150000"/>
              </a:lnSpc>
            </a:pPr>
            <a:r>
              <a:rPr lang="en-US" altLang="zh-CN" sz="2400" dirty="0"/>
              <a:t>6</a:t>
            </a:r>
            <a:r>
              <a:rPr lang="zh-CN" altLang="en-US" sz="2400" dirty="0"/>
              <a:t>月</a:t>
            </a:r>
            <a:r>
              <a:rPr lang="en-US" altLang="zh-CN" sz="2400" dirty="0"/>
              <a:t>16</a:t>
            </a:r>
            <a:r>
              <a:rPr lang="zh-CN" altLang="en-US" sz="2400" dirty="0"/>
              <a:t>日（周日）</a:t>
            </a:r>
            <a:r>
              <a:rPr lang="en-US" altLang="zh-CN" sz="2400" dirty="0"/>
              <a:t>9:00 – 12:00</a:t>
            </a:r>
            <a:r>
              <a:rPr lang="zh-CN" altLang="en-US" sz="2400" dirty="0"/>
              <a:t>，</a:t>
            </a:r>
            <a:r>
              <a:rPr lang="en-US" altLang="zh-CN" sz="2400" dirty="0"/>
              <a:t>14:00 – 17:00</a:t>
            </a:r>
            <a:r>
              <a:rPr lang="zh-CN" altLang="en-US" sz="2400" dirty="0"/>
              <a:t>，</a:t>
            </a:r>
            <a:r>
              <a:rPr lang="en-US" altLang="zh-CN" sz="2400" dirty="0"/>
              <a:t>19:00</a:t>
            </a:r>
            <a:r>
              <a:rPr lang="zh-CN" altLang="en-US" sz="2400" dirty="0"/>
              <a:t> </a:t>
            </a:r>
            <a:r>
              <a:rPr lang="en-US" altLang="zh-CN" sz="2400" dirty="0"/>
              <a:t>–</a:t>
            </a:r>
            <a:r>
              <a:rPr lang="zh-CN" altLang="en-US" sz="2400" dirty="0"/>
              <a:t> </a:t>
            </a:r>
            <a:r>
              <a:rPr lang="en-US" altLang="zh-CN" sz="2400" dirty="0"/>
              <a:t>21:00</a:t>
            </a:r>
            <a:r>
              <a:rPr lang="zh-CN" altLang="en-US" sz="2400" dirty="0"/>
              <a:t>，系馆</a:t>
            </a:r>
            <a:r>
              <a:rPr lang="en-US" altLang="zh-CN" sz="2400" dirty="0"/>
              <a:t>8-208</a:t>
            </a:r>
          </a:p>
          <a:p>
            <a:pPr lvl="1">
              <a:lnSpc>
                <a:spcPct val="150000"/>
              </a:lnSpc>
            </a:pPr>
            <a:r>
              <a:rPr lang="en-US" altLang="zh-CN" sz="2400" dirty="0"/>
              <a:t>6</a:t>
            </a:r>
            <a:r>
              <a:rPr lang="zh-CN" altLang="en-US" sz="2400" dirty="0"/>
              <a:t>月</a:t>
            </a:r>
            <a:r>
              <a:rPr lang="en-US" altLang="zh-CN" sz="2400" dirty="0"/>
              <a:t>17</a:t>
            </a:r>
            <a:r>
              <a:rPr lang="zh-CN" altLang="en-US" sz="2400" dirty="0"/>
              <a:t>日（周一）</a:t>
            </a:r>
            <a:r>
              <a:rPr lang="en-US" altLang="zh-CN" sz="2400" dirty="0"/>
              <a:t>9:00 – 12:00</a:t>
            </a:r>
            <a:r>
              <a:rPr lang="zh-CN" altLang="en-US" sz="2400" dirty="0"/>
              <a:t>，系馆</a:t>
            </a:r>
            <a:r>
              <a:rPr lang="en-US" altLang="zh-CN" sz="2400" dirty="0"/>
              <a:t>8-208</a:t>
            </a:r>
          </a:p>
        </p:txBody>
      </p:sp>
      <p:sp>
        <p:nvSpPr>
          <p:cNvPr id="2" name="Title 4">
            <a:extLst>
              <a:ext uri="{FF2B5EF4-FFF2-40B4-BE49-F238E27FC236}">
                <a16:creationId xmlns:a16="http://schemas.microsoft.com/office/drawing/2014/main" id="{5CD07AE4-58F6-ACA8-B3FB-E477A268DE99}"/>
              </a:ext>
            </a:extLst>
          </p:cNvPr>
          <p:cNvSpPr txBox="1">
            <a:spLocks/>
          </p:cNvSpPr>
          <p:nvPr/>
        </p:nvSpPr>
        <p:spPr bwMode="auto">
          <a:xfrm>
            <a:off x="457200" y="136800"/>
            <a:ext cx="8229600" cy="114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1">
                <a:solidFill>
                  <a:schemeClr val="tx2"/>
                </a:solidFill>
                <a:latin typeface="+mj-lt"/>
                <a:ea typeface="黑体" panose="02010609060101010101" pitchFamily="49" charset="-122"/>
                <a:cs typeface="+mj-cs"/>
              </a:defRPr>
            </a:lvl1pPr>
            <a:lvl2pPr algn="ctr" rtl="0" eaLnBrk="1" fontAlgn="base" hangingPunct="1">
              <a:spcBef>
                <a:spcPct val="0"/>
              </a:spcBef>
              <a:spcAft>
                <a:spcPct val="0"/>
              </a:spcAft>
              <a:defRPr sz="4400" b="1">
                <a:solidFill>
                  <a:schemeClr val="tx2"/>
                </a:solidFill>
                <a:latin typeface="Arial" charset="0"/>
                <a:ea typeface="宋体" charset="-122"/>
              </a:defRPr>
            </a:lvl2pPr>
            <a:lvl3pPr algn="ctr" rtl="0" eaLnBrk="1" fontAlgn="base" hangingPunct="1">
              <a:spcBef>
                <a:spcPct val="0"/>
              </a:spcBef>
              <a:spcAft>
                <a:spcPct val="0"/>
              </a:spcAft>
              <a:defRPr sz="4400" b="1">
                <a:solidFill>
                  <a:schemeClr val="tx2"/>
                </a:solidFill>
                <a:latin typeface="Arial" charset="0"/>
                <a:ea typeface="宋体" charset="-122"/>
              </a:defRPr>
            </a:lvl3pPr>
            <a:lvl4pPr algn="ctr" rtl="0" eaLnBrk="1" fontAlgn="base" hangingPunct="1">
              <a:spcBef>
                <a:spcPct val="0"/>
              </a:spcBef>
              <a:spcAft>
                <a:spcPct val="0"/>
              </a:spcAft>
              <a:defRPr sz="4400" b="1">
                <a:solidFill>
                  <a:schemeClr val="tx2"/>
                </a:solidFill>
                <a:latin typeface="Arial" charset="0"/>
                <a:ea typeface="宋体" charset="-122"/>
              </a:defRPr>
            </a:lvl4pPr>
            <a:lvl5pPr algn="ctr" rtl="0" eaLnBrk="1" fontAlgn="base" hangingPunct="1">
              <a:spcBef>
                <a:spcPct val="0"/>
              </a:spcBef>
              <a:spcAft>
                <a:spcPct val="0"/>
              </a:spcAft>
              <a:defRPr sz="4400" b="1">
                <a:solidFill>
                  <a:schemeClr val="tx2"/>
                </a:solidFill>
                <a:latin typeface="Arial" charset="0"/>
                <a:ea typeface="宋体" charset="-122"/>
              </a:defRPr>
            </a:lvl5pPr>
            <a:lvl6pPr marL="457200" algn="ctr" rtl="0" eaLnBrk="1" fontAlgn="base" hangingPunct="1">
              <a:spcBef>
                <a:spcPct val="0"/>
              </a:spcBef>
              <a:spcAft>
                <a:spcPct val="0"/>
              </a:spcAft>
              <a:defRPr sz="4400" b="1">
                <a:solidFill>
                  <a:schemeClr val="tx2"/>
                </a:solidFill>
                <a:latin typeface="Arial" charset="0"/>
                <a:ea typeface="宋体" charset="-122"/>
              </a:defRPr>
            </a:lvl6pPr>
            <a:lvl7pPr marL="914400" algn="ctr" rtl="0" eaLnBrk="1" fontAlgn="base" hangingPunct="1">
              <a:spcBef>
                <a:spcPct val="0"/>
              </a:spcBef>
              <a:spcAft>
                <a:spcPct val="0"/>
              </a:spcAft>
              <a:defRPr sz="4400" b="1">
                <a:solidFill>
                  <a:schemeClr val="tx2"/>
                </a:solidFill>
                <a:latin typeface="Arial" charset="0"/>
                <a:ea typeface="宋体" charset="-122"/>
              </a:defRPr>
            </a:lvl7pPr>
            <a:lvl8pPr marL="1371600" algn="ctr" rtl="0" eaLnBrk="1" fontAlgn="base" hangingPunct="1">
              <a:spcBef>
                <a:spcPct val="0"/>
              </a:spcBef>
              <a:spcAft>
                <a:spcPct val="0"/>
              </a:spcAft>
              <a:defRPr sz="4400" b="1">
                <a:solidFill>
                  <a:schemeClr val="tx2"/>
                </a:solidFill>
                <a:latin typeface="Arial" charset="0"/>
                <a:ea typeface="宋体" charset="-122"/>
              </a:defRPr>
            </a:lvl8pPr>
            <a:lvl9pPr marL="1828800" algn="ctr" rtl="0" eaLnBrk="1" fontAlgn="base" hangingPunct="1">
              <a:spcBef>
                <a:spcPct val="0"/>
              </a:spcBef>
              <a:spcAft>
                <a:spcPct val="0"/>
              </a:spcAft>
              <a:defRPr sz="4400" b="1">
                <a:solidFill>
                  <a:schemeClr val="tx2"/>
                </a:solidFill>
                <a:latin typeface="Arial" charset="0"/>
                <a:ea typeface="宋体" charset="-122"/>
              </a:defRPr>
            </a:lvl9pPr>
          </a:lstStyle>
          <a:p>
            <a:r>
              <a:rPr lang="zh-CN" altLang="en-US" sz="4000" dirty="0">
                <a:latin typeface="+mj-ea"/>
                <a:ea typeface="+mj-ea"/>
              </a:rPr>
              <a:t>期</a:t>
            </a:r>
            <a:r>
              <a:rPr lang="zh-CN" altLang="en-US" dirty="0">
                <a:latin typeface="+mj-ea"/>
                <a:ea typeface="+mj-ea"/>
              </a:rPr>
              <a:t>末</a:t>
            </a:r>
            <a:r>
              <a:rPr lang="zh-CN" altLang="en-US" sz="4000" dirty="0">
                <a:latin typeface="+mj-ea"/>
                <a:ea typeface="+mj-ea"/>
              </a:rPr>
              <a:t>考试</a:t>
            </a:r>
            <a:endParaRPr lang="en-CN" kern="0" dirty="0"/>
          </a:p>
        </p:txBody>
      </p:sp>
    </p:spTree>
    <p:extLst>
      <p:ext uri="{BB962C8B-B14F-4D97-AF65-F5344CB8AC3E}">
        <p14:creationId xmlns:p14="http://schemas.microsoft.com/office/powerpoint/2010/main" val="536560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CF03-9B07-6A4B-85FB-680FDCDD7B92}"/>
              </a:ext>
            </a:extLst>
          </p:cNvPr>
          <p:cNvSpPr>
            <a:spLocks noGrp="1"/>
          </p:cNvSpPr>
          <p:nvPr>
            <p:ph type="title"/>
          </p:nvPr>
        </p:nvSpPr>
        <p:spPr/>
        <p:txBody>
          <a:bodyPr/>
          <a:lstStyle/>
          <a:p>
            <a:r>
              <a:rPr lang="zh-CN" altLang="en-US" dirty="0">
                <a:latin typeface="SimHei" panose="02010609060101010101" pitchFamily="49" charset="-122"/>
              </a:rPr>
              <a:t>微体系结构</a:t>
            </a:r>
            <a:endParaRPr lang="en-CN" dirty="0">
              <a:latin typeface="SimHei" panose="02010609060101010101" pitchFamily="49" charset="-122"/>
            </a:endParaRPr>
          </a:p>
        </p:txBody>
      </p:sp>
      <p:sp>
        <p:nvSpPr>
          <p:cNvPr id="14" name="Slide Number Placeholder 3">
            <a:extLst>
              <a:ext uri="{FF2B5EF4-FFF2-40B4-BE49-F238E27FC236}">
                <a16:creationId xmlns:a16="http://schemas.microsoft.com/office/drawing/2014/main" id="{CC604ACD-5754-9F4F-AC2A-F5A8E2D5937E}"/>
              </a:ext>
            </a:extLst>
          </p:cNvPr>
          <p:cNvSpPr>
            <a:spLocks noGrp="1"/>
          </p:cNvSpPr>
          <p:nvPr>
            <p:ph type="sldNum" sz="quarter" idx="12"/>
          </p:nvPr>
        </p:nvSpPr>
        <p:spPr/>
        <p:txBody>
          <a:bodyPr/>
          <a:lstStyle/>
          <a:p>
            <a:fld id="{14659731-6BD7-46E7-8D3C-2F3AC07E20B1}" type="slidenum">
              <a:rPr lang="en-US" altLang="zh-CN" smtClean="0"/>
              <a:pPr/>
              <a:t>4</a:t>
            </a:fld>
            <a:endParaRPr lang="en-US" altLang="zh-CN" dirty="0"/>
          </a:p>
        </p:txBody>
      </p:sp>
      <p:cxnSp>
        <p:nvCxnSpPr>
          <p:cNvPr id="16" name="Straight Connector 15">
            <a:extLst>
              <a:ext uri="{FF2B5EF4-FFF2-40B4-BE49-F238E27FC236}">
                <a16:creationId xmlns:a16="http://schemas.microsoft.com/office/drawing/2014/main" id="{0921A072-E7F7-460A-8CDA-1F33B6B9FE37}"/>
              </a:ext>
            </a:extLst>
          </p:cNvPr>
          <p:cNvCxnSpPr>
            <a:cxnSpLocks/>
          </p:cNvCxnSpPr>
          <p:nvPr/>
        </p:nvCxnSpPr>
        <p:spPr>
          <a:xfrm flipV="1">
            <a:off x="525583" y="3810457"/>
            <a:ext cx="0" cy="639149"/>
          </a:xfrm>
          <a:prstGeom prst="line">
            <a:avLst/>
          </a:prstGeom>
          <a:ln w="38100" cap="rnd">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CC1EAB-A398-495E-B820-5463D7961843}"/>
              </a:ext>
            </a:extLst>
          </p:cNvPr>
          <p:cNvCxnSpPr>
            <a:cxnSpLocks/>
          </p:cNvCxnSpPr>
          <p:nvPr/>
        </p:nvCxnSpPr>
        <p:spPr>
          <a:xfrm>
            <a:off x="532184" y="5017479"/>
            <a:ext cx="0" cy="981040"/>
          </a:xfrm>
          <a:prstGeom prst="line">
            <a:avLst/>
          </a:prstGeom>
          <a:ln w="38100" cap="rnd">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201B781-19FA-4DB6-8601-5232956DD816}"/>
              </a:ext>
            </a:extLst>
          </p:cNvPr>
          <p:cNvCxnSpPr>
            <a:cxnSpLocks/>
          </p:cNvCxnSpPr>
          <p:nvPr/>
        </p:nvCxnSpPr>
        <p:spPr>
          <a:xfrm flipH="1" flipV="1">
            <a:off x="529916" y="1482390"/>
            <a:ext cx="6843" cy="971820"/>
          </a:xfrm>
          <a:prstGeom prst="line">
            <a:avLst/>
          </a:prstGeom>
          <a:ln w="38100" cap="rnd">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 name="Straight Connector 21">
            <a:extLst>
              <a:ext uri="{FF2B5EF4-FFF2-40B4-BE49-F238E27FC236}">
                <a16:creationId xmlns:a16="http://schemas.microsoft.com/office/drawing/2014/main" id="{EA88E30F-39ED-47A2-B237-ACC2C6B2048C}"/>
              </a:ext>
            </a:extLst>
          </p:cNvPr>
          <p:cNvCxnSpPr>
            <a:cxnSpLocks/>
          </p:cNvCxnSpPr>
          <p:nvPr/>
        </p:nvCxnSpPr>
        <p:spPr>
          <a:xfrm>
            <a:off x="83118" y="3810457"/>
            <a:ext cx="1227927"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0" name="Table 9">
            <a:extLst>
              <a:ext uri="{FF2B5EF4-FFF2-40B4-BE49-F238E27FC236}">
                <a16:creationId xmlns:a16="http://schemas.microsoft.com/office/drawing/2014/main" id="{52807708-A919-4E61-A0DD-DF1CB0390A36}"/>
              </a:ext>
            </a:extLst>
          </p:cNvPr>
          <p:cNvGraphicFramePr>
            <a:graphicFrameLocks/>
          </p:cNvGraphicFramePr>
          <p:nvPr>
            <p:extLst>
              <p:ext uri="{D42A27DB-BD31-4B8C-83A1-F6EECF244321}">
                <p14:modId xmlns:p14="http://schemas.microsoft.com/office/powerpoint/2010/main" val="3434471232"/>
              </p:ext>
            </p:extLst>
          </p:nvPr>
        </p:nvGraphicFramePr>
        <p:xfrm>
          <a:off x="1229032" y="1482388"/>
          <a:ext cx="2870863" cy="4660776"/>
        </p:xfrm>
        <a:graphic>
          <a:graphicData uri="http://schemas.openxmlformats.org/drawingml/2006/table">
            <a:tbl>
              <a:tblPr firstRow="1" bandRow="1">
                <a:tableStyleId>{073A0DAA-6AF3-43AB-8588-CEC1D06C72B9}</a:tableStyleId>
              </a:tblPr>
              <a:tblGrid>
                <a:gridCol w="2870863">
                  <a:extLst>
                    <a:ext uri="{9D8B030D-6E8A-4147-A177-3AD203B41FA5}">
                      <a16:colId xmlns:a16="http://schemas.microsoft.com/office/drawing/2014/main" val="1946283791"/>
                    </a:ext>
                  </a:extLst>
                </a:gridCol>
              </a:tblGrid>
              <a:tr h="517864">
                <a:tc>
                  <a:txBody>
                    <a:bodyPr/>
                    <a:lstStyle/>
                    <a:p>
                      <a:pPr algn="ctr"/>
                      <a:r>
                        <a:rPr lang="zh-CN" altLang="en-US" sz="2000" b="0" i="0" dirty="0">
                          <a:solidFill>
                            <a:schemeClr val="tx1"/>
                          </a:solidFill>
                          <a:latin typeface="+mn-lt"/>
                          <a:ea typeface="SimHei" panose="02010609060101010101" pitchFamily="49" charset="-122"/>
                        </a:rPr>
                        <a:t>应用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554620"/>
                  </a:ext>
                </a:extLst>
              </a:tr>
              <a:tr h="517864">
                <a:tc>
                  <a:txBody>
                    <a:bodyPr/>
                    <a:lstStyle/>
                    <a:p>
                      <a:pPr algn="ctr"/>
                      <a:r>
                        <a:rPr lang="zh-CN" altLang="en-US" sz="2000" b="0" i="0" dirty="0">
                          <a:solidFill>
                            <a:schemeClr val="tx1"/>
                          </a:solidFill>
                          <a:latin typeface="+mn-lt"/>
                          <a:ea typeface="SimHei" panose="02010609060101010101" pitchFamily="49" charset="-122"/>
                        </a:rPr>
                        <a:t>算法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3496159"/>
                  </a:ext>
                </a:extLst>
              </a:tr>
              <a:tr h="517864">
                <a:tc>
                  <a:txBody>
                    <a:bodyPr/>
                    <a:lstStyle/>
                    <a:p>
                      <a:pPr algn="ctr"/>
                      <a:r>
                        <a:rPr lang="zh-CN" altLang="en-US" sz="2000" b="0" i="0" dirty="0">
                          <a:solidFill>
                            <a:schemeClr val="tx1"/>
                          </a:solidFill>
                          <a:latin typeface="+mn-lt"/>
                          <a:ea typeface="SimHei" panose="02010609060101010101" pitchFamily="49" charset="-122"/>
                        </a:rPr>
                        <a:t>操作系统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77615"/>
                  </a:ext>
                </a:extLst>
              </a:tr>
              <a:tr h="517864">
                <a:tc>
                  <a:txBody>
                    <a:bodyPr/>
                    <a:lstStyle/>
                    <a:p>
                      <a:pPr algn="ctr"/>
                      <a:r>
                        <a:rPr lang="zh-CN" altLang="en-US" sz="2000" b="0" i="0" dirty="0">
                          <a:solidFill>
                            <a:schemeClr val="tx1"/>
                          </a:solidFill>
                          <a:latin typeface="+mn-lt"/>
                          <a:ea typeface="SimHei" panose="02010609060101010101" pitchFamily="49" charset="-122"/>
                        </a:rPr>
                        <a:t>编译器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2005890"/>
                  </a:ext>
                </a:extLst>
              </a:tr>
              <a:tr h="517864">
                <a:tc>
                  <a:txBody>
                    <a:bodyPr/>
                    <a:lstStyle/>
                    <a:p>
                      <a:pPr algn="ctr"/>
                      <a:r>
                        <a:rPr lang="zh-CN" altLang="en-US" sz="2000" b="0" i="0" dirty="0">
                          <a:solidFill>
                            <a:schemeClr val="tx1"/>
                          </a:solidFill>
                          <a:latin typeface="+mn-lt"/>
                          <a:ea typeface="SimHei" panose="02010609060101010101" pitchFamily="49" charset="-122"/>
                        </a:rPr>
                        <a:t>计算机指令系统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0806289"/>
                  </a:ext>
                </a:extLst>
              </a:tr>
              <a:tr h="517864">
                <a:tc>
                  <a:txBody>
                    <a:bodyPr/>
                    <a:lstStyle/>
                    <a:p>
                      <a:pPr marL="0" algn="ctr" defTabSz="914400" rtl="0" eaLnBrk="1" latinLnBrk="0" hangingPunct="1"/>
                      <a:r>
                        <a:rPr lang="zh-CN" altLang="en-US" sz="2000" b="0" i="0" kern="1200" dirty="0">
                          <a:solidFill>
                            <a:schemeClr val="tx1"/>
                          </a:solidFill>
                          <a:latin typeface="+mn-lt"/>
                          <a:ea typeface="SimHei" panose="02010609060101010101" pitchFamily="49" charset="-122"/>
                          <a:cs typeface="+mn-cs"/>
                        </a:rPr>
                        <a:t>微体系结构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6812972"/>
                  </a:ext>
                </a:extLst>
              </a:tr>
              <a:tr h="517864">
                <a:tc>
                  <a:txBody>
                    <a:bodyPr/>
                    <a:lstStyle/>
                    <a:p>
                      <a:pPr marL="0" algn="ctr" defTabSz="914400" rtl="0" eaLnBrk="1" latinLnBrk="0" hangingPunct="1"/>
                      <a:r>
                        <a:rPr lang="en-US" altLang="zh-CN" sz="2000" b="0" i="0" kern="1200" dirty="0">
                          <a:solidFill>
                            <a:schemeClr val="tx1"/>
                          </a:solidFill>
                          <a:latin typeface="+mn-lt"/>
                          <a:ea typeface="SimHei" panose="02010609060101010101" pitchFamily="49" charset="-122"/>
                          <a:cs typeface="+mn-cs"/>
                        </a:rPr>
                        <a:t>CPU/DSP/…</a:t>
                      </a:r>
                      <a:endParaRPr lang="zh-CN" altLang="en-US" sz="2000" b="0" i="0" kern="1200" dirty="0">
                        <a:solidFill>
                          <a:schemeClr val="tx1"/>
                        </a:solidFill>
                        <a:latin typeface="+mn-lt"/>
                        <a:ea typeface="SimHei"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7467303"/>
                  </a:ext>
                </a:extLst>
              </a:tr>
              <a:tr h="517864">
                <a:tc>
                  <a:txBody>
                    <a:bodyPr/>
                    <a:lstStyle/>
                    <a:p>
                      <a:pPr algn="ctr"/>
                      <a:r>
                        <a:rPr lang="zh-CN" altLang="en-US" sz="2000" b="0" i="0" dirty="0">
                          <a:solidFill>
                            <a:schemeClr val="tx1"/>
                          </a:solidFill>
                          <a:latin typeface="+mn-lt"/>
                          <a:ea typeface="SimHei" panose="02010609060101010101" pitchFamily="49" charset="-122"/>
                        </a:rPr>
                        <a:t>电路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9204186"/>
                  </a:ext>
                </a:extLst>
              </a:tr>
              <a:tr h="517864">
                <a:tc>
                  <a:txBody>
                    <a:bodyPr/>
                    <a:lstStyle/>
                    <a:p>
                      <a:pPr algn="ctr"/>
                      <a:r>
                        <a:rPr lang="zh-CN" altLang="en-US" sz="2000" b="0" i="0" dirty="0">
                          <a:solidFill>
                            <a:schemeClr val="tx1"/>
                          </a:solidFill>
                          <a:latin typeface="+mn-lt"/>
                          <a:ea typeface="SimHei" panose="02010609060101010101" pitchFamily="49" charset="-122"/>
                        </a:rPr>
                        <a:t>器件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2963798"/>
                  </a:ext>
                </a:extLst>
              </a:tr>
            </a:tbl>
          </a:graphicData>
        </a:graphic>
      </p:graphicFrame>
      <p:sp>
        <p:nvSpPr>
          <p:cNvPr id="21" name="TextBox 25">
            <a:extLst>
              <a:ext uri="{FF2B5EF4-FFF2-40B4-BE49-F238E27FC236}">
                <a16:creationId xmlns:a16="http://schemas.microsoft.com/office/drawing/2014/main" id="{CE921038-380C-462D-8759-1D8F7FD316C6}"/>
              </a:ext>
            </a:extLst>
          </p:cNvPr>
          <p:cNvSpPr txBox="1"/>
          <p:nvPr/>
        </p:nvSpPr>
        <p:spPr>
          <a:xfrm>
            <a:off x="1804122" y="6131646"/>
            <a:ext cx="1723550" cy="461665"/>
          </a:xfrm>
          <a:prstGeom prst="rect">
            <a:avLst/>
          </a:prstGeom>
          <a:noFill/>
        </p:spPr>
        <p:txBody>
          <a:bodyPr wrap="none" rtlCol="0">
            <a:spAutoFit/>
          </a:bodyPr>
          <a:lstStyle/>
          <a:p>
            <a:r>
              <a:rPr lang="zh-CN" altLang="en-US" sz="2400" dirty="0">
                <a:solidFill>
                  <a:schemeClr val="tx1"/>
                </a:solidFill>
                <a:latin typeface="SimHei" panose="02010609060101010101" pitchFamily="49" charset="-122"/>
                <a:ea typeface="SimHei" panose="02010609060101010101" pitchFamily="49" charset="-122"/>
              </a:rPr>
              <a:t>计算机系统</a:t>
            </a:r>
          </a:p>
        </p:txBody>
      </p:sp>
      <p:cxnSp>
        <p:nvCxnSpPr>
          <p:cNvPr id="22" name="Straight Connector 26">
            <a:extLst>
              <a:ext uri="{FF2B5EF4-FFF2-40B4-BE49-F238E27FC236}">
                <a16:creationId xmlns:a16="http://schemas.microsoft.com/office/drawing/2014/main" id="{D9648051-9A30-43AB-B9F8-96D81F2207CB}"/>
              </a:ext>
            </a:extLst>
          </p:cNvPr>
          <p:cNvCxnSpPr>
            <a:cxnSpLocks/>
          </p:cNvCxnSpPr>
          <p:nvPr/>
        </p:nvCxnSpPr>
        <p:spPr>
          <a:xfrm>
            <a:off x="525583" y="3038525"/>
            <a:ext cx="0" cy="771932"/>
          </a:xfrm>
          <a:prstGeom prst="line">
            <a:avLst/>
          </a:prstGeom>
          <a:ln w="38100" cap="rnd">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3" name="TextBox 28">
            <a:extLst>
              <a:ext uri="{FF2B5EF4-FFF2-40B4-BE49-F238E27FC236}">
                <a16:creationId xmlns:a16="http://schemas.microsoft.com/office/drawing/2014/main" id="{BE731097-E7F9-4EBE-9269-4CD4F0A4BCD3}"/>
              </a:ext>
            </a:extLst>
          </p:cNvPr>
          <p:cNvSpPr txBox="1"/>
          <p:nvPr/>
        </p:nvSpPr>
        <p:spPr>
          <a:xfrm>
            <a:off x="187945" y="2568869"/>
            <a:ext cx="697627" cy="400110"/>
          </a:xfrm>
          <a:prstGeom prst="rect">
            <a:avLst/>
          </a:prstGeom>
          <a:noFill/>
        </p:spPr>
        <p:txBody>
          <a:bodyPr wrap="none" rtlCol="0">
            <a:spAutoFit/>
          </a:bodyPr>
          <a:lstStyle/>
          <a:p>
            <a:r>
              <a:rPr lang="zh-CN" altLang="en-US" sz="2000" dirty="0">
                <a:latin typeface="SimHei" panose="02010609060101010101" pitchFamily="49" charset="-122"/>
                <a:ea typeface="SimHei" panose="02010609060101010101" pitchFamily="49" charset="-122"/>
              </a:rPr>
              <a:t>软件</a:t>
            </a:r>
          </a:p>
        </p:txBody>
      </p:sp>
      <p:sp>
        <p:nvSpPr>
          <p:cNvPr id="24" name="TextBox 29">
            <a:extLst>
              <a:ext uri="{FF2B5EF4-FFF2-40B4-BE49-F238E27FC236}">
                <a16:creationId xmlns:a16="http://schemas.microsoft.com/office/drawing/2014/main" id="{4E8CDB25-D623-4634-8167-87F91560DAB2}"/>
              </a:ext>
            </a:extLst>
          </p:cNvPr>
          <p:cNvSpPr txBox="1"/>
          <p:nvPr/>
        </p:nvSpPr>
        <p:spPr>
          <a:xfrm>
            <a:off x="183375" y="4502710"/>
            <a:ext cx="697627" cy="400110"/>
          </a:xfrm>
          <a:prstGeom prst="rect">
            <a:avLst/>
          </a:prstGeom>
          <a:noFill/>
        </p:spPr>
        <p:txBody>
          <a:bodyPr wrap="none" rtlCol="0">
            <a:spAutoFit/>
          </a:bodyPr>
          <a:lstStyle/>
          <a:p>
            <a:r>
              <a:rPr lang="zh-CN" altLang="en-US" sz="2000" dirty="0">
                <a:latin typeface="SimHei" panose="02010609060101010101" pitchFamily="49" charset="-122"/>
                <a:ea typeface="SimHei" panose="02010609060101010101" pitchFamily="49" charset="-122"/>
              </a:rPr>
              <a:t>硬件</a:t>
            </a:r>
          </a:p>
        </p:txBody>
      </p:sp>
      <p:graphicFrame>
        <p:nvGraphicFramePr>
          <p:cNvPr id="3" name="Table 4">
            <a:extLst>
              <a:ext uri="{FF2B5EF4-FFF2-40B4-BE49-F238E27FC236}">
                <a16:creationId xmlns:a16="http://schemas.microsoft.com/office/drawing/2014/main" id="{DD390940-5AF8-49CE-4A39-701C665F1C17}"/>
              </a:ext>
            </a:extLst>
          </p:cNvPr>
          <p:cNvGraphicFramePr>
            <a:graphicFrameLocks noGrp="1"/>
          </p:cNvGraphicFramePr>
          <p:nvPr>
            <p:extLst>
              <p:ext uri="{D42A27DB-BD31-4B8C-83A1-F6EECF244321}">
                <p14:modId xmlns:p14="http://schemas.microsoft.com/office/powerpoint/2010/main" val="3108176527"/>
              </p:ext>
            </p:extLst>
          </p:nvPr>
        </p:nvGraphicFramePr>
        <p:xfrm>
          <a:off x="4391980" y="1394516"/>
          <a:ext cx="4049389" cy="5158684"/>
        </p:xfrm>
        <a:graphic>
          <a:graphicData uri="http://schemas.openxmlformats.org/drawingml/2006/table">
            <a:tbl>
              <a:tblPr firstRow="1">
                <a:tableStyleId>{72833802-FEF1-4C79-8D5D-14CF1EAF98D9}</a:tableStyleId>
              </a:tblPr>
              <a:tblGrid>
                <a:gridCol w="772096">
                  <a:extLst>
                    <a:ext uri="{9D8B030D-6E8A-4147-A177-3AD203B41FA5}">
                      <a16:colId xmlns:a16="http://schemas.microsoft.com/office/drawing/2014/main" val="2649625643"/>
                    </a:ext>
                  </a:extLst>
                </a:gridCol>
                <a:gridCol w="723402">
                  <a:extLst>
                    <a:ext uri="{9D8B030D-6E8A-4147-A177-3AD203B41FA5}">
                      <a16:colId xmlns:a16="http://schemas.microsoft.com/office/drawing/2014/main" val="3191345124"/>
                    </a:ext>
                  </a:extLst>
                </a:gridCol>
                <a:gridCol w="2553891">
                  <a:extLst>
                    <a:ext uri="{9D8B030D-6E8A-4147-A177-3AD203B41FA5}">
                      <a16:colId xmlns:a16="http://schemas.microsoft.com/office/drawing/2014/main" val="3013045087"/>
                    </a:ext>
                  </a:extLst>
                </a:gridCol>
              </a:tblGrid>
              <a:tr h="303452">
                <a:tc>
                  <a:txBody>
                    <a:bodyPr/>
                    <a:lstStyle/>
                    <a:p>
                      <a:pPr algn="ctr" fontAlgn="ctr"/>
                      <a:r>
                        <a:rPr lang="zh-CN" altLang="en-US" sz="1800" u="none" strike="noStrike" dirty="0">
                          <a:solidFill>
                            <a:schemeClr val="tx1"/>
                          </a:solidFill>
                          <a:effectLst/>
                          <a:latin typeface="+mn-lt"/>
                          <a:ea typeface="+mn-ea"/>
                        </a:rPr>
                        <a:t>周</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日期</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暂定主要内容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24227359"/>
                  </a:ext>
                </a:extLst>
              </a:tr>
              <a:tr h="303452">
                <a:tc>
                  <a:txBody>
                    <a:bodyPr/>
                    <a:lstStyle/>
                    <a:p>
                      <a:pPr algn="ctr">
                        <a:spcAft>
                          <a:spcPts val="0"/>
                        </a:spcAft>
                      </a:pPr>
                      <a:r>
                        <a:rPr lang="en-US" sz="1800" kern="100" dirty="0">
                          <a:effectLst/>
                          <a:latin typeface="+mn-lt"/>
                          <a:ea typeface="+mn-ea"/>
                        </a:rPr>
                        <a:t>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2/2</a:t>
                      </a:r>
                      <a:r>
                        <a:rPr lang="en-US" altLang="zh-CN" sz="1800" kern="100" dirty="0">
                          <a:effectLst/>
                          <a:latin typeface="+mn-lt"/>
                          <a:ea typeface="+mn-ea"/>
                        </a:rPr>
                        <a:t>7</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概论</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216603"/>
                  </a:ext>
                </a:extLst>
              </a:tr>
              <a:tr h="303452">
                <a:tc>
                  <a:txBody>
                    <a:bodyPr/>
                    <a:lstStyle/>
                    <a:p>
                      <a:pPr algn="ctr">
                        <a:spcAft>
                          <a:spcPts val="0"/>
                        </a:spcAft>
                      </a:pPr>
                      <a:r>
                        <a:rPr lang="en-US" sz="1800" kern="100" dirty="0">
                          <a:solidFill>
                            <a:schemeClr val="tx1"/>
                          </a:solidFill>
                          <a:effectLst/>
                          <a:latin typeface="+mn-lt"/>
                          <a:ea typeface="+mn-ea"/>
                          <a:cs typeface="+mn-cs"/>
                        </a:rPr>
                        <a:t>2</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solidFill>
                            <a:schemeClr val="tx1"/>
                          </a:solidFill>
                          <a:effectLst/>
                          <a:latin typeface="+mn-lt"/>
                          <a:ea typeface="+mn-ea"/>
                          <a:cs typeface="+mn-cs"/>
                        </a:rPr>
                        <a:t>3/5</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布尔代数</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2337287"/>
                  </a:ext>
                </a:extLst>
              </a:tr>
              <a:tr h="303452">
                <a:tc>
                  <a:txBody>
                    <a:bodyPr/>
                    <a:lstStyle/>
                    <a:p>
                      <a:pPr algn="ctr">
                        <a:spcAft>
                          <a:spcPts val="0"/>
                        </a:spcAft>
                      </a:pPr>
                      <a:r>
                        <a:rPr lang="en-US" sz="1800" kern="100" dirty="0">
                          <a:solidFill>
                            <a:schemeClr val="tx1"/>
                          </a:solidFill>
                          <a:effectLst/>
                          <a:latin typeface="+mn-lt"/>
                          <a:ea typeface="+mn-ea"/>
                          <a:cs typeface="+mn-cs"/>
                        </a:rPr>
                        <a:t>3</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3/</a:t>
                      </a:r>
                      <a:r>
                        <a:rPr lang="en-US" altLang="zh-CN" sz="1800" kern="100" dirty="0">
                          <a:solidFill>
                            <a:schemeClr val="tx1"/>
                          </a:solidFill>
                          <a:effectLst/>
                          <a:latin typeface="+mn-lt"/>
                          <a:ea typeface="+mn-ea"/>
                          <a:cs typeface="+mn-cs"/>
                        </a:rPr>
                        <a:t>12</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kern="100" dirty="0">
                          <a:solidFill>
                            <a:schemeClr val="tx1"/>
                          </a:solidFill>
                          <a:effectLst/>
                          <a:latin typeface="+mn-lt"/>
                          <a:ea typeface="+mn-ea"/>
                          <a:cs typeface="+mn-cs"/>
                        </a:rPr>
                        <a:t>组合逻辑</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6521860"/>
                  </a:ext>
                </a:extLst>
              </a:tr>
              <a:tr h="303452">
                <a:tc>
                  <a:txBody>
                    <a:bodyPr/>
                    <a:lstStyle/>
                    <a:p>
                      <a:pPr algn="ctr">
                        <a:spcAft>
                          <a:spcPts val="0"/>
                        </a:spcAft>
                      </a:pPr>
                      <a:r>
                        <a:rPr lang="en-US"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3/1</a:t>
                      </a:r>
                      <a:r>
                        <a:rPr lang="en-US" altLang="zh-CN" sz="1800" kern="100" dirty="0">
                          <a:effectLst/>
                          <a:latin typeface="+mn-lt"/>
                          <a:ea typeface="+mn-ea"/>
                        </a:rPr>
                        <a:t>9</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502044"/>
                  </a:ext>
                </a:extLst>
              </a:tr>
              <a:tr h="303452">
                <a:tc>
                  <a:txBody>
                    <a:bodyPr/>
                    <a:lstStyle/>
                    <a:p>
                      <a:pPr marL="0" algn="ctr" defTabSz="685800" rtl="0" eaLnBrk="1" latinLnBrk="0" hangingPunct="1">
                        <a:spcAft>
                          <a:spcPts val="0"/>
                        </a:spcAft>
                      </a:pPr>
                      <a:r>
                        <a:rPr lang="en-US" sz="1800" kern="100" dirty="0">
                          <a:solidFill>
                            <a:schemeClr val="tx1"/>
                          </a:solidFill>
                          <a:effectLst/>
                          <a:latin typeface="+mn-lt"/>
                          <a:ea typeface="+mn-ea"/>
                          <a:cs typeface="+mn-cs"/>
                        </a:rPr>
                        <a:t>5</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en-US" sz="1800" kern="100" dirty="0">
                          <a:solidFill>
                            <a:schemeClr val="tx1"/>
                          </a:solidFill>
                          <a:effectLst/>
                          <a:latin typeface="+mn-lt"/>
                          <a:ea typeface="+mn-ea"/>
                          <a:cs typeface="+mn-cs"/>
                        </a:rPr>
                        <a:t>3/2</a:t>
                      </a:r>
                      <a:r>
                        <a:rPr lang="en-US" altLang="zh-CN" sz="1800" kern="100" dirty="0">
                          <a:solidFill>
                            <a:schemeClr val="tx1"/>
                          </a:solidFill>
                          <a:effectLst/>
                          <a:latin typeface="+mn-lt"/>
                          <a:ea typeface="+mn-ea"/>
                          <a:cs typeface="+mn-cs"/>
                        </a:rPr>
                        <a:t>6</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800" kern="100" dirty="0">
                          <a:solidFill>
                            <a:schemeClr val="tx1"/>
                          </a:solidFill>
                          <a:effectLst/>
                          <a:latin typeface="+mn-lt"/>
                          <a:ea typeface="+mn-ea"/>
                          <a:cs typeface="+mn-cs"/>
                        </a:rPr>
                        <a:t>时序逻辑</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3171284"/>
                  </a:ext>
                </a:extLst>
              </a:tr>
              <a:tr h="303452">
                <a:tc>
                  <a:txBody>
                    <a:bodyPr/>
                    <a:lstStyle/>
                    <a:p>
                      <a:pPr algn="ctr">
                        <a:spcAft>
                          <a:spcPts val="0"/>
                        </a:spcAft>
                      </a:pPr>
                      <a:r>
                        <a:rPr lang="en-US" sz="1800" kern="100" dirty="0">
                          <a:effectLst/>
                          <a:latin typeface="+mn-lt"/>
                          <a:ea typeface="+mn-ea"/>
                        </a:rPr>
                        <a:t>6</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4</a:t>
                      </a:r>
                      <a:r>
                        <a:rPr lang="en-US" sz="1800" kern="100" dirty="0">
                          <a:effectLst/>
                          <a:latin typeface="+mn-lt"/>
                          <a:ea typeface="+mn-ea"/>
                        </a:rPr>
                        <a:t>/2</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计算机指令系统</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9144793"/>
                  </a:ext>
                </a:extLst>
              </a:tr>
              <a:tr h="303452">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4/</a:t>
                      </a:r>
                      <a:r>
                        <a:rPr lang="en-US" altLang="zh-CN" sz="1800" kern="100" dirty="0">
                          <a:solidFill>
                            <a:schemeClr val="tx1"/>
                          </a:solidFill>
                          <a:effectLst/>
                          <a:latin typeface="+mn-lt"/>
                          <a:ea typeface="+mn-ea"/>
                          <a:cs typeface="+mn-cs"/>
                        </a:rPr>
                        <a:t>9</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mn-lt"/>
                          <a:ea typeface="+mn-ea"/>
                        </a:rPr>
                        <a:t>计算机指令系统</a:t>
                      </a:r>
                      <a:endParaRPr lang="en-CN" altLang="zh-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5838581"/>
                  </a:ext>
                </a:extLst>
              </a:tr>
              <a:tr h="303452">
                <a:tc>
                  <a:txBody>
                    <a:bodyPr/>
                    <a:lstStyle/>
                    <a:p>
                      <a:pPr algn="ctr">
                        <a:spcAft>
                          <a:spcPts val="0"/>
                        </a:spcAft>
                      </a:pPr>
                      <a:r>
                        <a:rPr lang="en-US" sz="1800" kern="100" dirty="0">
                          <a:effectLst/>
                          <a:latin typeface="+mn-lt"/>
                          <a:ea typeface="+mn-ea"/>
                        </a:rPr>
                        <a:t>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4/1</a:t>
                      </a:r>
                      <a:r>
                        <a:rPr lang="en-US" altLang="zh-CN" sz="1800" kern="100" dirty="0">
                          <a:solidFill>
                            <a:schemeClr val="tx1"/>
                          </a:solidFill>
                          <a:effectLst/>
                          <a:latin typeface="+mn-lt"/>
                          <a:ea typeface="+mn-ea"/>
                        </a:rPr>
                        <a:t>6</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mn-lt"/>
                          <a:ea typeface="+mn-ea"/>
                        </a:rPr>
                        <a:t>微处理器</a:t>
                      </a:r>
                      <a:endParaRPr lang="en-CN" altLang="zh-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159880"/>
                  </a:ext>
                </a:extLst>
              </a:tr>
              <a:tr h="303452">
                <a:tc>
                  <a:txBody>
                    <a:bodyPr/>
                    <a:lstStyle/>
                    <a:p>
                      <a:pPr algn="ctr">
                        <a:spcAft>
                          <a:spcPts val="0"/>
                        </a:spcAft>
                      </a:pPr>
                      <a:r>
                        <a:rPr lang="en-US" altLang="zh-CN" sz="1800" b="0" kern="100" dirty="0">
                          <a:solidFill>
                            <a:schemeClr val="tx1"/>
                          </a:solidFill>
                          <a:effectLst/>
                          <a:latin typeface="+mn-lt"/>
                          <a:ea typeface="+mn-ea"/>
                          <a:cs typeface="+mn-cs"/>
                        </a:rPr>
                        <a:t>9</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待定</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zh-CN" altLang="en-US" sz="1800" kern="100" dirty="0">
                          <a:effectLst/>
                          <a:latin typeface="+mn-lt"/>
                          <a:ea typeface="+mn-ea"/>
                        </a:rPr>
                        <a:t>期中考试</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70427551"/>
                  </a:ext>
                </a:extLst>
              </a:tr>
              <a:tr h="303452">
                <a:tc>
                  <a:txBody>
                    <a:bodyPr/>
                    <a:lstStyle/>
                    <a:p>
                      <a:pPr algn="ctr">
                        <a:spcAft>
                          <a:spcPts val="0"/>
                        </a:spcAft>
                      </a:pPr>
                      <a:r>
                        <a:rPr lang="en-US" sz="1800" b="0" kern="100" dirty="0">
                          <a:solidFill>
                            <a:schemeClr val="tx1"/>
                          </a:solidFill>
                          <a:effectLst/>
                          <a:latin typeface="+mn-lt"/>
                          <a:ea typeface="+mn-ea"/>
                          <a:cs typeface="+mn-cs"/>
                        </a:rPr>
                        <a:t>10</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en-US" sz="1800" b="0" i="0" kern="100" dirty="0">
                          <a:solidFill>
                            <a:schemeClr val="tx1"/>
                          </a:solidFill>
                          <a:effectLst/>
                          <a:latin typeface="+mn-lt"/>
                          <a:ea typeface="+mn-ea"/>
                          <a:cs typeface="+mn-cs"/>
                        </a:rPr>
                        <a:t>4/</a:t>
                      </a:r>
                      <a:r>
                        <a:rPr lang="en-US" altLang="zh-CN" sz="1800" b="0" i="0" kern="100" dirty="0">
                          <a:solidFill>
                            <a:schemeClr val="tx1"/>
                          </a:solidFill>
                          <a:effectLst/>
                          <a:latin typeface="+mn-lt"/>
                          <a:ea typeface="+mn-ea"/>
                          <a:cs typeface="+mn-cs"/>
                        </a:rPr>
                        <a:t>30</a:t>
                      </a:r>
                      <a:endParaRPr lang="en-CN" sz="1800" b="0" i="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zh-CN" altLang="en-US" sz="1800" b="0" kern="100" dirty="0">
                          <a:solidFill>
                            <a:schemeClr val="tx1"/>
                          </a:solidFill>
                          <a:effectLst/>
                          <a:latin typeface="+mn-lt"/>
                          <a:ea typeface="+mn-ea"/>
                          <a:cs typeface="+mn-cs"/>
                        </a:rPr>
                        <a:t>劳动节放假</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extLst>
                  <a:ext uri="{0D108BD9-81ED-4DB2-BD59-A6C34878D82A}">
                    <a16:rowId xmlns:a16="http://schemas.microsoft.com/office/drawing/2014/main" val="390011716"/>
                  </a:ext>
                </a:extLst>
              </a:tr>
              <a:tr h="303452">
                <a:tc>
                  <a:txBody>
                    <a:bodyPr/>
                    <a:lstStyle/>
                    <a:p>
                      <a:pPr algn="ctr">
                        <a:spcAft>
                          <a:spcPts val="0"/>
                        </a:spcAft>
                      </a:pPr>
                      <a:r>
                        <a:rPr lang="en-US" sz="1800" kern="100" dirty="0">
                          <a:solidFill>
                            <a:schemeClr val="tx1"/>
                          </a:solidFill>
                          <a:effectLst/>
                          <a:latin typeface="+mn-lt"/>
                          <a:ea typeface="+mn-ea"/>
                          <a:cs typeface="+mn-cs"/>
                        </a:rPr>
                        <a:t>11</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5/</a:t>
                      </a:r>
                      <a:r>
                        <a:rPr lang="en-US" altLang="zh-CN"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mn-lt"/>
                          <a:ea typeface="+mn-ea"/>
                          <a:cs typeface="+mn-cs"/>
                        </a:rPr>
                        <a:t>微处理器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0714810"/>
                  </a:ext>
                </a:extLst>
              </a:tr>
              <a:tr h="303452">
                <a:tc>
                  <a:txBody>
                    <a:bodyPr/>
                    <a:lstStyle/>
                    <a:p>
                      <a:pPr marL="0" algn="ctr" defTabSz="685800" rtl="0" eaLnBrk="1" latinLnBrk="0" hangingPunct="1">
                        <a:spcAft>
                          <a:spcPts val="0"/>
                        </a:spcAft>
                      </a:pPr>
                      <a:r>
                        <a:rPr lang="en-US" sz="1800" kern="100">
                          <a:solidFill>
                            <a:schemeClr val="tx1"/>
                          </a:solidFill>
                          <a:effectLst/>
                          <a:latin typeface="+mn-lt"/>
                          <a:ea typeface="+mn-ea"/>
                          <a:cs typeface="+mn-cs"/>
                        </a:rPr>
                        <a:t>12</a:t>
                      </a:r>
                      <a:endParaRPr lang="en-CN" sz="1800" kern="10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en-US" sz="1800" kern="100" dirty="0">
                          <a:solidFill>
                            <a:schemeClr val="tx1"/>
                          </a:solidFill>
                          <a:effectLst/>
                          <a:latin typeface="+mn-lt"/>
                          <a:ea typeface="+mn-ea"/>
                          <a:cs typeface="+mn-cs"/>
                        </a:rPr>
                        <a:t>5/</a:t>
                      </a:r>
                      <a:r>
                        <a:rPr lang="en-US" altLang="zh-CN" sz="1800" kern="100" dirty="0">
                          <a:solidFill>
                            <a:schemeClr val="tx1"/>
                          </a:solidFill>
                          <a:effectLst/>
                          <a:latin typeface="+mn-lt"/>
                          <a:ea typeface="+mn-ea"/>
                          <a:cs typeface="+mn-cs"/>
                        </a:rPr>
                        <a:t>14</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800" kern="100" dirty="0">
                          <a:solidFill>
                            <a:schemeClr val="tx1"/>
                          </a:solidFill>
                          <a:effectLst/>
                          <a:latin typeface="+mn-lt"/>
                          <a:ea typeface="+mn-ea"/>
                          <a:cs typeface="+mn-cs"/>
                        </a:rPr>
                        <a:t>流水线</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459178"/>
                  </a:ext>
                </a:extLst>
              </a:tr>
              <a:tr h="303452">
                <a:tc>
                  <a:txBody>
                    <a:bodyPr/>
                    <a:lstStyle/>
                    <a:p>
                      <a:pPr marL="0" algn="ctr" defTabSz="685800" rtl="0" eaLnBrk="1" latinLnBrk="0" hangingPunct="1">
                        <a:spcAft>
                          <a:spcPts val="0"/>
                        </a:spcAft>
                      </a:pPr>
                      <a:r>
                        <a:rPr lang="en-US" sz="1800" b="0" kern="100" dirty="0">
                          <a:solidFill>
                            <a:schemeClr val="tx1"/>
                          </a:solidFill>
                          <a:effectLst/>
                          <a:latin typeface="+mn-lt"/>
                          <a:ea typeface="+mn-ea"/>
                          <a:cs typeface="+mn-cs"/>
                        </a:rPr>
                        <a:t>13</a:t>
                      </a:r>
                      <a:endParaRPr lang="en-CN" sz="1800" b="0" kern="10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en-US" sz="1800" b="0" kern="100" dirty="0">
                          <a:solidFill>
                            <a:schemeClr val="tx1"/>
                          </a:solidFill>
                          <a:effectLst/>
                          <a:latin typeface="+mn-lt"/>
                          <a:ea typeface="+mn-ea"/>
                          <a:cs typeface="+mn-cs"/>
                        </a:rPr>
                        <a:t>5/</a:t>
                      </a:r>
                      <a:r>
                        <a:rPr lang="en-US" altLang="zh-CN" sz="1800" b="0" kern="100" dirty="0">
                          <a:solidFill>
                            <a:schemeClr val="tx1"/>
                          </a:solidFill>
                          <a:effectLst/>
                          <a:latin typeface="+mn-lt"/>
                          <a:ea typeface="+mn-ea"/>
                          <a:cs typeface="+mn-cs"/>
                        </a:rPr>
                        <a:t>21</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800" b="0" kern="100" dirty="0">
                          <a:solidFill>
                            <a:schemeClr val="tx1"/>
                          </a:solidFill>
                          <a:effectLst/>
                          <a:latin typeface="+mn-lt"/>
                          <a:ea typeface="+mn-ea"/>
                          <a:cs typeface="+mn-cs"/>
                        </a:rPr>
                        <a:t>流水线</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920872"/>
                  </a:ext>
                </a:extLst>
              </a:tr>
              <a:tr h="303452">
                <a:tc>
                  <a:txBody>
                    <a:bodyPr/>
                    <a:lstStyle/>
                    <a:p>
                      <a:pPr algn="ctr">
                        <a:spcAft>
                          <a:spcPts val="0"/>
                        </a:spcAft>
                      </a:pPr>
                      <a:r>
                        <a:rPr lang="en-US" sz="1800" b="0" kern="100" dirty="0">
                          <a:solidFill>
                            <a:schemeClr val="tx1"/>
                          </a:solidFill>
                          <a:effectLst/>
                          <a:latin typeface="+mn-lt"/>
                          <a:ea typeface="+mn-ea"/>
                        </a:rPr>
                        <a:t>14</a:t>
                      </a:r>
                      <a:endParaRPr lang="en-CN" sz="1800" b="0" kern="10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b="0" kern="100" dirty="0">
                          <a:solidFill>
                            <a:schemeClr val="tx1"/>
                          </a:solidFill>
                          <a:effectLst/>
                          <a:latin typeface="+mn-lt"/>
                          <a:ea typeface="+mn-ea"/>
                        </a:rPr>
                        <a:t>5/</a:t>
                      </a:r>
                      <a:r>
                        <a:rPr lang="en-US" altLang="zh-CN" sz="1800" b="0" kern="100" dirty="0">
                          <a:solidFill>
                            <a:schemeClr val="tx1"/>
                          </a:solidFill>
                          <a:effectLst/>
                          <a:latin typeface="+mn-lt"/>
                          <a:ea typeface="+mn-ea"/>
                        </a:rPr>
                        <a:t>28</a:t>
                      </a:r>
                      <a:endParaRPr lang="en-CN" sz="1800" b="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b="0" kern="100" dirty="0">
                          <a:solidFill>
                            <a:schemeClr val="tx1"/>
                          </a:solidFill>
                          <a:effectLst/>
                          <a:latin typeface="+mn-lt"/>
                          <a:ea typeface="+mn-ea"/>
                        </a:rPr>
                        <a:t>流水线</a:t>
                      </a:r>
                      <a:r>
                        <a:rPr lang="en-US" altLang="zh-CN" sz="1800" b="0" kern="100" dirty="0">
                          <a:solidFill>
                            <a:schemeClr val="tx1"/>
                          </a:solidFill>
                          <a:effectLst/>
                          <a:latin typeface="+mn-lt"/>
                          <a:ea typeface="+mn-ea"/>
                        </a:rPr>
                        <a:t>/</a:t>
                      </a:r>
                      <a:r>
                        <a:rPr lang="zh-CN" altLang="en-US" sz="1800" b="0" kern="100" dirty="0">
                          <a:solidFill>
                            <a:schemeClr val="tx1"/>
                          </a:solidFill>
                          <a:effectLst/>
                          <a:latin typeface="+mn-lt"/>
                          <a:ea typeface="+mn-ea"/>
                        </a:rPr>
                        <a:t>存储器</a:t>
                      </a:r>
                      <a:endParaRPr lang="en-CN" sz="1800" b="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062504"/>
                  </a:ext>
                </a:extLst>
              </a:tr>
              <a:tr h="303452">
                <a:tc>
                  <a:txBody>
                    <a:bodyPr/>
                    <a:lstStyle/>
                    <a:p>
                      <a:pPr algn="ctr">
                        <a:spcAft>
                          <a:spcPts val="0"/>
                        </a:spcAft>
                      </a:pPr>
                      <a:r>
                        <a:rPr lang="en-US" sz="1800" b="1" kern="100" dirty="0">
                          <a:solidFill>
                            <a:srgbClr val="0432FF"/>
                          </a:solidFill>
                          <a:effectLst/>
                          <a:latin typeface="+mn-lt"/>
                          <a:ea typeface="+mn-ea"/>
                        </a:rPr>
                        <a:t>15</a:t>
                      </a:r>
                      <a:endParaRPr lang="en-CN" sz="1800" b="1" kern="100">
                        <a:solidFill>
                          <a:srgbClr val="0432FF"/>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en-US" altLang="zh-CN" sz="1800" b="1" kern="100" dirty="0">
                          <a:solidFill>
                            <a:srgbClr val="0432FF"/>
                          </a:solidFill>
                          <a:effectLst/>
                          <a:latin typeface="+mn-lt"/>
                          <a:ea typeface="+mn-ea"/>
                        </a:rPr>
                        <a:t>6</a:t>
                      </a:r>
                      <a:r>
                        <a:rPr lang="en-US" sz="1800" b="1" kern="100" dirty="0">
                          <a:solidFill>
                            <a:srgbClr val="0432FF"/>
                          </a:solidFill>
                          <a:effectLst/>
                          <a:latin typeface="+mn-lt"/>
                          <a:ea typeface="+mn-ea"/>
                        </a:rPr>
                        <a:t>/</a:t>
                      </a:r>
                      <a:r>
                        <a:rPr lang="en-US" altLang="zh-CN" sz="1800" b="1" kern="100" dirty="0">
                          <a:solidFill>
                            <a:srgbClr val="0432FF"/>
                          </a:solidFill>
                          <a:effectLst/>
                          <a:latin typeface="+mn-lt"/>
                          <a:ea typeface="+mn-ea"/>
                        </a:rPr>
                        <a:t>4</a:t>
                      </a:r>
                      <a:endParaRPr lang="en-CN" sz="1800" b="1" kern="100" dirty="0">
                        <a:solidFill>
                          <a:srgbClr val="0432FF"/>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spcAft>
                          <a:spcPts val="0"/>
                        </a:spcAft>
                      </a:pPr>
                      <a:r>
                        <a:rPr lang="zh-CN" sz="1800" b="1" kern="100" dirty="0">
                          <a:solidFill>
                            <a:srgbClr val="0432FF"/>
                          </a:solidFill>
                          <a:effectLst/>
                          <a:latin typeface="+mn-lt"/>
                          <a:ea typeface="+mn-ea"/>
                        </a:rPr>
                        <a:t>存储器</a:t>
                      </a:r>
                      <a:endParaRPr lang="en-CN" sz="1800" b="1" kern="100" dirty="0">
                        <a:solidFill>
                          <a:srgbClr val="0432FF"/>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492450"/>
                  </a:ext>
                </a:extLst>
              </a:tr>
              <a:tr h="303452">
                <a:tc>
                  <a:txBody>
                    <a:bodyPr/>
                    <a:lstStyle/>
                    <a:p>
                      <a:pPr algn="ctr">
                        <a:spcAft>
                          <a:spcPts val="0"/>
                        </a:spcAft>
                      </a:pPr>
                      <a:r>
                        <a:rPr lang="en-US" altLang="zh-CN" sz="1800" kern="100" dirty="0">
                          <a:effectLst/>
                          <a:latin typeface="+mn-lt"/>
                          <a:ea typeface="+mn-ea"/>
                        </a:rPr>
                        <a:t>16</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6/11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IO</a:t>
                      </a:r>
                      <a:r>
                        <a:rPr lang="zh-CN" altLang="en-US" sz="1800" kern="100" dirty="0">
                          <a:effectLst/>
                          <a:latin typeface="+mn-lt"/>
                          <a:ea typeface="+mn-ea"/>
                        </a:rPr>
                        <a:t>与总线</a:t>
                      </a:r>
                      <a:r>
                        <a:rPr lang="en-US" altLang="zh-CN" sz="1800" kern="100" dirty="0">
                          <a:effectLst/>
                          <a:latin typeface="+mn-lt"/>
                          <a:ea typeface="+mn-ea"/>
                        </a:rPr>
                        <a:t>/</a:t>
                      </a:r>
                      <a:r>
                        <a:rPr lang="zh-CN" altLang="en-US" sz="1800" kern="100" dirty="0">
                          <a:effectLst/>
                          <a:latin typeface="+mn-lt"/>
                          <a:ea typeface="+mn-ea"/>
                        </a:rPr>
                        <a:t>总结</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204958"/>
                  </a:ext>
                </a:extLst>
              </a:tr>
            </a:tbl>
          </a:graphicData>
        </a:graphic>
      </p:graphicFrame>
    </p:spTree>
    <p:extLst>
      <p:ext uri="{BB962C8B-B14F-4D97-AF65-F5344CB8AC3E}">
        <p14:creationId xmlns:p14="http://schemas.microsoft.com/office/powerpoint/2010/main" val="1430115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0"/>
            <a:ext cx="8229600" cy="4732506"/>
          </a:xfrm>
        </p:spPr>
        <p:txBody>
          <a:bodyPr/>
          <a:lstStyle/>
          <a:p>
            <a:r>
              <a:rPr lang="zh-CN" altLang="en-US" dirty="0"/>
              <a:t>复习与回顾</a:t>
            </a:r>
            <a:endParaRPr lang="en-US" altLang="zh-CN" dirty="0"/>
          </a:p>
          <a:p>
            <a:pPr marL="342900" lvl="1" indent="-342900">
              <a:buFontTx/>
              <a:buChar char="•"/>
            </a:pPr>
            <a:r>
              <a:rPr lang="zh-CN" altLang="en-US" sz="3200" dirty="0"/>
              <a:t>存储器系统基础：半导体存储器</a:t>
            </a:r>
            <a:endParaRPr lang="en-US" altLang="zh-CN" dirty="0"/>
          </a:p>
          <a:p>
            <a:r>
              <a:rPr lang="zh-CN" altLang="en-US" dirty="0">
                <a:solidFill>
                  <a:srgbClr val="0432FF"/>
                </a:solidFill>
              </a:rPr>
              <a:t>存储器系统的设计理论</a:t>
            </a:r>
            <a:endParaRPr lang="en-US" altLang="zh-CN" dirty="0">
              <a:solidFill>
                <a:srgbClr val="0432FF"/>
              </a:solidFill>
            </a:endParaRPr>
          </a:p>
          <a:p>
            <a:r>
              <a:rPr lang="zh-CN" altLang="en-US" dirty="0"/>
              <a:t>缓存（</a:t>
            </a:r>
            <a:r>
              <a:rPr lang="en-US" altLang="zh-CN" dirty="0"/>
              <a:t>Cache</a:t>
            </a:r>
            <a:r>
              <a:rPr lang="zh-CN" altLang="en-US" dirty="0"/>
              <a:t>）技术实现</a:t>
            </a:r>
            <a:endParaRPr lang="en-US" altLang="zh-CN" dirty="0"/>
          </a:p>
          <a:p>
            <a:r>
              <a:rPr lang="zh-CN" altLang="en-US" dirty="0"/>
              <a:t>缓存（</a:t>
            </a:r>
            <a:r>
              <a:rPr lang="en-US" altLang="zh-CN" dirty="0"/>
              <a:t>Cache</a:t>
            </a:r>
            <a:r>
              <a:rPr lang="zh-CN" altLang="en-US" dirty="0"/>
              <a:t>）性能评估</a:t>
            </a:r>
          </a:p>
        </p:txBody>
      </p:sp>
      <p:sp>
        <p:nvSpPr>
          <p:cNvPr id="4" name="灯片编号占位符 3"/>
          <p:cNvSpPr>
            <a:spLocks noGrp="1"/>
          </p:cNvSpPr>
          <p:nvPr>
            <p:ph type="sldNum" sz="quarter" idx="12"/>
          </p:nvPr>
        </p:nvSpPr>
        <p:spPr/>
        <p:txBody>
          <a:bodyPr/>
          <a:lstStyle/>
          <a:p>
            <a:fld id="{14659731-6BD7-46E7-8D3C-2F3AC07E20B1}" type="slidenum">
              <a:rPr lang="en-US" altLang="zh-CN" smtClean="0"/>
              <a:pPr/>
              <a:t>5</a:t>
            </a:fld>
            <a:endParaRPr lang="en-US" altLang="zh-CN"/>
          </a:p>
        </p:txBody>
      </p:sp>
      <p:sp>
        <p:nvSpPr>
          <p:cNvPr id="8" name="标题 7">
            <a:extLst>
              <a:ext uri="{FF2B5EF4-FFF2-40B4-BE49-F238E27FC236}">
                <a16:creationId xmlns:a16="http://schemas.microsoft.com/office/drawing/2014/main" id="{A4AFA0D0-3ABC-9E4B-A473-CF0D454A0F50}"/>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4192601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rPr>
              <a:t>存储系统基础：半导体存储器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400" u="none" strike="noStrike" kern="1200" cap="none" spc="0" normalizeH="0" baseline="0" noProof="0" dirty="0">
              <a:ln>
                <a:noFill/>
              </a:ln>
              <a:solidFill>
                <a:srgbClr val="000000"/>
              </a:solidFill>
              <a:effectLst/>
              <a:uLnTx/>
              <a:uFillTx/>
              <a:latin typeface="+mn-lt"/>
              <a:ea typeface="+mn-ea"/>
              <a:cs typeface="+mn-cs"/>
            </a:endParaRP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CA1552BA-4327-A147-B565-E435AE2EEDCF}"/>
                  </a:ext>
                </a:extLst>
              </p:cNvPr>
              <p:cNvSpPr>
                <a:spLocks noGrp="1"/>
              </p:cNvSpPr>
              <p:nvPr>
                <p:ph idx="1"/>
              </p:nvPr>
            </p:nvSpPr>
            <p:spPr>
              <a:xfrm>
                <a:off x="457200" y="1551432"/>
                <a:ext cx="8229600" cy="4693793"/>
              </a:xfrm>
            </p:spPr>
            <p:txBody>
              <a:bodyPr/>
              <a:lstStyle/>
              <a:p>
                <a:pPr marL="457200" indent="-457200">
                  <a:spcBef>
                    <a:spcPts val="1000"/>
                  </a:spcBef>
                  <a:buClr>
                    <a:schemeClr val="tx1"/>
                  </a:buClr>
                  <a:buFont typeface="Arial" panose="020B0604020202020204" pitchFamily="34" charset="0"/>
                  <a:buChar char="•"/>
                </a:pPr>
                <a:r>
                  <a:rPr kumimoji="1" lang="zh-CN" altLang="en-US" dirty="0"/>
                  <a:t>存储器的基本参数</a:t>
                </a:r>
                <a:r>
                  <a:rPr kumimoji="1" lang="zh-CN" altLang="en-US" sz="3600" dirty="0"/>
                  <a:t>：</a:t>
                </a:r>
                <a:endParaRPr lang="zh-CN" altLang="en-US" dirty="0"/>
              </a:p>
              <a:p>
                <a:pPr lvl="1"/>
                <a:r>
                  <a:rPr lang="zh-CN" altLang="en-US" sz="2400" dirty="0"/>
                  <a:t> </a:t>
                </a:r>
                <a:r>
                  <a:rPr lang="zh-CN" altLang="en-US" sz="2400" dirty="0">
                    <a:solidFill>
                      <a:srgbClr val="0432FF"/>
                    </a:solidFill>
                  </a:rPr>
                  <a:t>容量</a:t>
                </a:r>
                <a:r>
                  <a:rPr lang="zh-CN" altLang="en-US" sz="2400" dirty="0"/>
                  <a:t>：以字节或比特数表示</a:t>
                </a:r>
                <a:endParaRPr lang="zh-CN" altLang="en-US" dirty="0"/>
              </a:p>
              <a:p>
                <a:pPr lvl="1"/>
                <a:r>
                  <a:rPr lang="zh-CN" altLang="en-US" sz="2400" dirty="0"/>
                  <a:t> </a:t>
                </a:r>
                <a:r>
                  <a:rPr lang="zh-CN" altLang="en-US" sz="2400" dirty="0">
                    <a:solidFill>
                      <a:srgbClr val="0432FF"/>
                    </a:solidFill>
                  </a:rPr>
                  <a:t>速度</a:t>
                </a:r>
                <a:r>
                  <a:rPr kumimoji="1" lang="zh-CN" altLang="en-US" sz="2400" dirty="0"/>
                  <a:t>：以访问时间</a:t>
                </a:r>
                <a:r>
                  <a:rPr kumimoji="1" lang="en-US" altLang="zh-CN" sz="2400" dirty="0"/>
                  <a:t>T</a:t>
                </a:r>
                <a:r>
                  <a:rPr kumimoji="1" lang="en-US" altLang="zh-CN" sz="2400" baseline="-25000" dirty="0"/>
                  <a:t>A</a:t>
                </a:r>
                <a:r>
                  <a:rPr kumimoji="1" lang="zh-CN" altLang="en-US" sz="2400" dirty="0"/>
                  <a:t>、存储周期</a:t>
                </a:r>
                <a:r>
                  <a:rPr kumimoji="1" lang="en-US" altLang="zh-CN" sz="2400" dirty="0"/>
                  <a:t>T</a:t>
                </a:r>
                <a:r>
                  <a:rPr kumimoji="1" lang="en-US" altLang="zh-CN" sz="2400" baseline="-25000" dirty="0"/>
                  <a:t>M</a:t>
                </a:r>
                <a:r>
                  <a:rPr kumimoji="1" lang="zh-CN" altLang="en-US" sz="2400" dirty="0"/>
                  <a:t>或带宽</a:t>
                </a:r>
                <a:r>
                  <a:rPr kumimoji="1" lang="en-US" altLang="zh-CN" sz="2400" dirty="0"/>
                  <a:t>B</a:t>
                </a:r>
                <a:r>
                  <a:rPr kumimoji="1" lang="en-US" altLang="zh-CN" sz="2400" baseline="-25000" dirty="0"/>
                  <a:t>M</a:t>
                </a:r>
                <a:r>
                  <a:rPr kumimoji="1" lang="zh-CN" altLang="en-US" sz="2400" dirty="0"/>
                  <a:t>表示</a:t>
                </a:r>
              </a:p>
              <a:p>
                <a:pPr lvl="2">
                  <a:spcBef>
                    <a:spcPts val="1000"/>
                  </a:spcBef>
                  <a:buClr>
                    <a:schemeClr val="tx1"/>
                  </a:buClr>
                  <a:buSzPct val="60000"/>
                  <a:buFont typeface="Wingdings" pitchFamily="2" charset="2"/>
                  <a:buChar char="Ø"/>
                </a:pPr>
                <a:r>
                  <a:rPr kumimoji="1" lang="en-US" altLang="zh-CN" sz="2000" dirty="0"/>
                  <a:t>T</a:t>
                </a:r>
                <a:r>
                  <a:rPr kumimoji="1" lang="en-US" altLang="zh-CN" sz="2000" baseline="-25000" dirty="0"/>
                  <a:t>A</a:t>
                </a:r>
                <a:r>
                  <a:rPr kumimoji="1" lang="en-US" altLang="zh-CN" sz="2000" dirty="0"/>
                  <a:t>——</a:t>
                </a:r>
                <a:r>
                  <a:rPr kumimoji="1" lang="zh-CN" altLang="en-US" sz="2000" dirty="0"/>
                  <a:t>从接收读申请到将信息读出存储器输出端的时间</a:t>
                </a:r>
                <a:endParaRPr kumimoji="1" lang="en-US" altLang="zh-CN" sz="2000" dirty="0"/>
              </a:p>
              <a:p>
                <a:pPr lvl="2">
                  <a:spcBef>
                    <a:spcPts val="1000"/>
                  </a:spcBef>
                  <a:buClr>
                    <a:schemeClr val="tx1"/>
                  </a:buClr>
                  <a:buSzPct val="60000"/>
                  <a:buFont typeface="Wingdings" pitchFamily="2" charset="2"/>
                  <a:buChar char="Ø"/>
                </a:pPr>
                <a:r>
                  <a:rPr kumimoji="1" lang="en-US" altLang="zh-CN" sz="2000" dirty="0"/>
                  <a:t>T</a:t>
                </a:r>
                <a:r>
                  <a:rPr kumimoji="1" lang="en-US" altLang="zh-CN" sz="2000" baseline="-25000" dirty="0"/>
                  <a:t>M</a:t>
                </a:r>
                <a:r>
                  <a:rPr kumimoji="1" lang="en-US" altLang="zh-CN" sz="2000" dirty="0"/>
                  <a:t>——</a:t>
                </a:r>
                <a:r>
                  <a:rPr kumimoji="1" lang="zh-CN" altLang="en-US" sz="2000" dirty="0"/>
                  <a:t>连续两次启动存储器访问所需的最小时间间隔</a:t>
                </a:r>
                <a:endParaRPr kumimoji="1" lang="en-US" altLang="zh-CN" sz="2000" baseline="-25000" dirty="0"/>
              </a:p>
              <a:p>
                <a:pPr lvl="2">
                  <a:spcBef>
                    <a:spcPts val="1000"/>
                  </a:spcBef>
                  <a:buClr>
                    <a:schemeClr val="tx1"/>
                  </a:buClr>
                  <a:buSzPct val="60000"/>
                  <a:buFont typeface="Wingdings" pitchFamily="2" charset="2"/>
                  <a:buChar char="Ø"/>
                </a:pPr>
                <a:r>
                  <a:rPr kumimoji="1" lang="en-US" altLang="zh-CN" sz="2000" dirty="0"/>
                  <a:t>B</a:t>
                </a:r>
                <a:r>
                  <a:rPr kumimoji="1" lang="en-US" altLang="zh-CN" sz="2000" baseline="-25000" dirty="0"/>
                  <a:t>M</a:t>
                </a:r>
                <a:r>
                  <a:rPr kumimoji="1" lang="en-US" altLang="zh-CN" sz="2000" dirty="0"/>
                  <a:t>——</a:t>
                </a:r>
                <a:r>
                  <a:rPr kumimoji="1" lang="zh-CN" altLang="en-US" sz="2000" dirty="0"/>
                  <a:t>单位时间内读取到或写入的数据量</a:t>
                </a:r>
                <a:endParaRPr kumimoji="1" lang="en-US" altLang="zh-CN" sz="2000" dirty="0"/>
              </a:p>
              <a:p>
                <a:pPr lvl="2">
                  <a:spcBef>
                    <a:spcPts val="1000"/>
                  </a:spcBef>
                  <a:buClr>
                    <a:schemeClr val="tx1"/>
                  </a:buClr>
                  <a:buSzPct val="60000"/>
                  <a:buFont typeface="Wingdings" pitchFamily="2" charset="2"/>
                  <a:buChar char="Ø"/>
                </a:pPr>
                <a14:m>
                  <m:oMath xmlns:m="http://schemas.openxmlformats.org/officeDocument/2006/math">
                    <m:sSub>
                      <m:sSubPr>
                        <m:ctrlPr>
                          <a:rPr kumimoji="1" lang="en-US" altLang="zh-CN" sz="2000" i="1">
                            <a:latin typeface="Cambria Math" panose="02040503050406030204" pitchFamily="18" charset="0"/>
                          </a:rPr>
                        </m:ctrlPr>
                      </m:sSubPr>
                      <m:e>
                        <m:r>
                          <m:rPr>
                            <m:sty m:val="p"/>
                          </m:rPr>
                          <a:rPr kumimoji="1" lang="en-US" altLang="zh-CN" sz="2000" b="0" i="0" smtClean="0">
                            <a:latin typeface="Cambria Math" panose="02040503050406030204" pitchFamily="18" charset="0"/>
                          </a:rPr>
                          <m:t>T</m:t>
                        </m:r>
                      </m:e>
                      <m:sub>
                        <m:r>
                          <m:rPr>
                            <m:sty m:val="p"/>
                          </m:rPr>
                          <a:rPr kumimoji="1" lang="en-US" altLang="zh-CN" sz="2000" b="0" i="0" smtClean="0">
                            <a:latin typeface="Cambria Math" panose="02040503050406030204" pitchFamily="18" charset="0"/>
                          </a:rPr>
                          <m:t>A</m:t>
                        </m:r>
                      </m:sub>
                    </m:sSub>
                    <m:r>
                      <a:rPr kumimoji="1" lang="en-US" altLang="zh-CN" sz="2000" i="0" smtClean="0">
                        <a:latin typeface="Cambria Math" panose="02040503050406030204" pitchFamily="18" charset="0"/>
                      </a:rPr>
                      <m:t>≠</m:t>
                    </m:r>
                    <m:r>
                      <a:rPr kumimoji="1" lang="zh-CN" altLang="en-US" sz="2000" b="0" i="0" smtClean="0">
                        <a:latin typeface="Cambria Math" panose="02040503050406030204" pitchFamily="18" charset="0"/>
                      </a:rPr>
                      <m:t> </m:t>
                    </m:r>
                    <m:sSub>
                      <m:sSubPr>
                        <m:ctrlPr>
                          <a:rPr kumimoji="1" lang="en-US" altLang="zh-CN" sz="2000" b="0" i="1">
                            <a:latin typeface="Cambria Math" panose="02040503050406030204" pitchFamily="18" charset="0"/>
                          </a:rPr>
                        </m:ctrlPr>
                      </m:sSubPr>
                      <m:e>
                        <m:r>
                          <m:rPr>
                            <m:sty m:val="p"/>
                          </m:rPr>
                          <a:rPr kumimoji="1" lang="en-US" altLang="zh-CN" sz="2000" b="0" i="0" smtClean="0">
                            <a:latin typeface="Cambria Math" panose="02040503050406030204" pitchFamily="18" charset="0"/>
                          </a:rPr>
                          <m:t>T</m:t>
                        </m:r>
                      </m:e>
                      <m:sub>
                        <m:r>
                          <m:rPr>
                            <m:sty m:val="p"/>
                          </m:rPr>
                          <a:rPr kumimoji="1" lang="en-US" altLang="zh-CN" sz="2000" b="0" i="0" smtClean="0">
                            <a:latin typeface="Cambria Math" panose="02040503050406030204" pitchFamily="18" charset="0"/>
                          </a:rPr>
                          <m:t>M</m:t>
                        </m:r>
                      </m:sub>
                    </m:sSub>
                    <m:r>
                      <a:rPr kumimoji="1" lang="en-US" altLang="zh-CN" sz="2000" b="0" i="0" smtClean="0">
                        <a:latin typeface="Cambria Math" panose="02040503050406030204" pitchFamily="18" charset="0"/>
                      </a:rPr>
                      <m:t>,</m:t>
                    </m:r>
                    <m:r>
                      <a:rPr kumimoji="1" lang="zh-CN" altLang="en-US" sz="2000" b="0" i="0" smtClean="0">
                        <a:latin typeface="Cambria Math" panose="02040503050406030204" pitchFamily="18" charset="0"/>
                      </a:rPr>
                      <m:t>  </m:t>
                    </m:r>
                    <m:sSub>
                      <m:sSubPr>
                        <m:ctrlPr>
                          <a:rPr kumimoji="1" lang="en-US" altLang="zh-CN" sz="2000" b="0" i="1">
                            <a:latin typeface="Cambria Math" panose="02040503050406030204" pitchFamily="18" charset="0"/>
                          </a:rPr>
                        </m:ctrlPr>
                      </m:sSubPr>
                      <m:e>
                        <m:r>
                          <m:rPr>
                            <m:sty m:val="p"/>
                          </m:rPr>
                          <a:rPr kumimoji="1" lang="en-US" altLang="zh-CN" sz="2000" b="0" i="0" smtClean="0">
                            <a:latin typeface="Cambria Math" panose="02040503050406030204" pitchFamily="18" charset="0"/>
                          </a:rPr>
                          <m:t>B</m:t>
                        </m:r>
                      </m:e>
                      <m:sub>
                        <m:r>
                          <m:rPr>
                            <m:sty m:val="p"/>
                          </m:rPr>
                          <a:rPr kumimoji="1" lang="en-US" altLang="zh-CN" sz="2000" b="0" i="0" smtClean="0">
                            <a:latin typeface="Cambria Math" panose="02040503050406030204" pitchFamily="18" charset="0"/>
                          </a:rPr>
                          <m:t>M</m:t>
                        </m:r>
                      </m:sub>
                    </m:sSub>
                    <m:r>
                      <a:rPr kumimoji="1" lang="en-US" altLang="zh-CN" sz="2000" b="0" i="0" smtClean="0">
                        <a:latin typeface="Cambria Math" panose="02040503050406030204" pitchFamily="18" charset="0"/>
                      </a:rPr>
                      <m:t>=</m:t>
                    </m:r>
                    <m:r>
                      <a:rPr kumimoji="1" lang="zh-CN" altLang="en-US" sz="2000" b="0" i="0" smtClean="0">
                        <a:latin typeface="Cambria Math" panose="02040503050406030204" pitchFamily="18" charset="0"/>
                      </a:rPr>
                      <m:t> </m:t>
                    </m:r>
                    <m:f>
                      <m:fPr>
                        <m:ctrlPr>
                          <a:rPr kumimoji="1" lang="en-US" altLang="zh-CN" sz="2000" b="0" i="1">
                            <a:latin typeface="Cambria Math" panose="02040503050406030204" pitchFamily="18" charset="0"/>
                          </a:rPr>
                        </m:ctrlPr>
                      </m:fPr>
                      <m:num>
                        <m:r>
                          <m:rPr>
                            <m:sty m:val="p"/>
                          </m:rPr>
                          <a:rPr kumimoji="1" lang="en-US" altLang="zh-CN" sz="2000" b="0" i="0" smtClean="0">
                            <a:latin typeface="Cambria Math" panose="02040503050406030204" pitchFamily="18" charset="0"/>
                          </a:rPr>
                          <m:t>w</m:t>
                        </m:r>
                      </m:num>
                      <m:den>
                        <m:sSub>
                          <m:sSubPr>
                            <m:ctrlPr>
                              <a:rPr kumimoji="1" lang="en-US" altLang="zh-CN" sz="2000" b="0" i="1">
                                <a:latin typeface="Cambria Math" panose="02040503050406030204" pitchFamily="18" charset="0"/>
                              </a:rPr>
                            </m:ctrlPr>
                          </m:sSubPr>
                          <m:e>
                            <m:r>
                              <m:rPr>
                                <m:sty m:val="p"/>
                              </m:rPr>
                              <a:rPr kumimoji="1" lang="en-US" altLang="zh-CN" sz="2000" b="0" i="0" smtClean="0">
                                <a:latin typeface="Cambria Math" panose="02040503050406030204" pitchFamily="18" charset="0"/>
                              </a:rPr>
                              <m:t>T</m:t>
                            </m:r>
                          </m:e>
                          <m:sub>
                            <m:r>
                              <m:rPr>
                                <m:sty m:val="p"/>
                              </m:rPr>
                              <a:rPr kumimoji="1" lang="en-US" altLang="zh-CN" sz="2000" b="0" i="0" smtClean="0">
                                <a:latin typeface="Cambria Math" panose="02040503050406030204" pitchFamily="18" charset="0"/>
                              </a:rPr>
                              <m:t>M</m:t>
                            </m:r>
                          </m:sub>
                        </m:sSub>
                      </m:den>
                    </m:f>
                    <m:r>
                      <a:rPr kumimoji="1" lang="en-US" altLang="zh-CN" sz="2000" b="0" i="0" smtClean="0">
                        <a:latin typeface="Cambria Math" panose="02040503050406030204" pitchFamily="18" charset="0"/>
                      </a:rPr>
                      <m:t>,</m:t>
                    </m:r>
                    <m:r>
                      <a:rPr kumimoji="1" lang="zh-CN" altLang="en-US" sz="2000" b="0" i="0" smtClean="0">
                        <a:latin typeface="Cambria Math" panose="02040503050406030204" pitchFamily="18" charset="0"/>
                      </a:rPr>
                      <m:t>  </m:t>
                    </m:r>
                    <m:r>
                      <m:rPr>
                        <m:sty m:val="p"/>
                      </m:rPr>
                      <a:rPr kumimoji="1" lang="en-US" altLang="zh-CN" sz="2000" b="0" i="0" smtClean="0">
                        <a:latin typeface="Cambria Math" panose="02040503050406030204" pitchFamily="18" charset="0"/>
                      </a:rPr>
                      <m:t>w</m:t>
                    </m:r>
                    <m:r>
                      <a:rPr kumimoji="1" lang="zh-CN" altLang="en-US" sz="2000" i="1" smtClean="0">
                        <a:latin typeface="Cambria Math" panose="02040503050406030204" pitchFamily="18" charset="0"/>
                      </a:rPr>
                      <m:t>为数据总线宽度</m:t>
                    </m:r>
                  </m:oMath>
                </a14:m>
                <a:endParaRPr lang="zh-CN" altLang="en-US" dirty="0"/>
              </a:p>
              <a:p>
                <a:pPr lvl="1"/>
                <a:r>
                  <a:rPr lang="zh-CN" altLang="en-US" sz="2400" dirty="0"/>
                  <a:t> </a:t>
                </a:r>
                <a:r>
                  <a:rPr lang="zh-CN" altLang="en-US" sz="2400" dirty="0">
                    <a:solidFill>
                      <a:srgbClr val="0432FF"/>
                    </a:solidFill>
                  </a:rPr>
                  <a:t>成本</a:t>
                </a:r>
                <a:r>
                  <a:rPr kumimoji="1" lang="zh-CN" altLang="en-US" sz="2400" dirty="0"/>
                  <a:t>：以每比特价格表示</a:t>
                </a:r>
                <a:endParaRPr kumimoji="1" lang="en-US" altLang="zh-CN" sz="2400" dirty="0"/>
              </a:p>
              <a:p>
                <a:pPr lvl="1"/>
                <a:r>
                  <a:rPr kumimoji="1" lang="zh-CN" altLang="en-US" sz="2400" dirty="0"/>
                  <a:t>其他：寿命，便携性 </a:t>
                </a:r>
                <a:r>
                  <a:rPr kumimoji="1" lang="en-US" altLang="zh-CN" sz="2400" dirty="0"/>
                  <a:t>……</a:t>
                </a:r>
              </a:p>
              <a:p>
                <a:pPr marL="457200" lvl="1" indent="0">
                  <a:buNone/>
                </a:pPr>
                <a:endParaRPr kumimoji="1" lang="en-US" altLang="zh-CN" sz="2400" dirty="0"/>
              </a:p>
            </p:txBody>
          </p:sp>
        </mc:Choice>
        <mc:Fallback xmlns="">
          <p:sp>
            <p:nvSpPr>
              <p:cNvPr id="4" name="内容占位符 2">
                <a:extLst>
                  <a:ext uri="{FF2B5EF4-FFF2-40B4-BE49-F238E27FC236}">
                    <a16:creationId xmlns:a16="http://schemas.microsoft.com/office/drawing/2014/main" id="{CA1552BA-4327-A147-B565-E435AE2EEDCF}"/>
                  </a:ext>
                </a:extLst>
              </p:cNvPr>
              <p:cNvSpPr>
                <a:spLocks noGrp="1" noRot="1" noChangeAspect="1" noMove="1" noResize="1" noEditPoints="1" noAdjustHandles="1" noChangeArrowheads="1" noChangeShapeType="1" noTextEdit="1"/>
              </p:cNvSpPr>
              <p:nvPr>
                <p:ph idx="1"/>
              </p:nvPr>
            </p:nvSpPr>
            <p:spPr>
              <a:xfrm>
                <a:off x="457200" y="1551432"/>
                <a:ext cx="8229600" cy="4693793"/>
              </a:xfrm>
              <a:blipFill>
                <a:blip r:embed="rId3"/>
                <a:stretch>
                  <a:fillRect l="-1852" t="-27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764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11" name="标题 1">
            <a:extLst>
              <a:ext uri="{FF2B5EF4-FFF2-40B4-BE49-F238E27FC236}">
                <a16:creationId xmlns:a16="http://schemas.microsoft.com/office/drawing/2014/main" id="{5823E4D8-0D0E-E844-BEAB-D95D4A8145CF}"/>
              </a:ext>
            </a:extLst>
          </p:cNvPr>
          <p:cNvSpPr>
            <a:spLocks noGrp="1"/>
          </p:cNvSpPr>
          <p:nvPr>
            <p:ph type="title"/>
          </p:nvPr>
        </p:nvSpPr>
        <p:spPr>
          <a:xfrm>
            <a:off x="457200" y="136525"/>
            <a:ext cx="8229600" cy="1143000"/>
          </a:xfrm>
        </p:spPr>
        <p:txBody>
          <a:bodyPr/>
          <a:lstStyle/>
          <a:p>
            <a:r>
              <a:rPr lang="en-US" altLang="zh-CN" dirty="0"/>
              <a:t>PC</a:t>
            </a:r>
            <a:r>
              <a:rPr lang="zh-CN" altLang="en-US" dirty="0"/>
              <a:t>价格</a:t>
            </a:r>
            <a:r>
              <a:rPr lang="en-US" altLang="zh-CN" dirty="0"/>
              <a:t>vs</a:t>
            </a:r>
            <a:r>
              <a:rPr lang="zh-CN" altLang="en-US" dirty="0"/>
              <a:t>存储</a:t>
            </a:r>
          </a:p>
        </p:txBody>
      </p:sp>
      <p:sp>
        <p:nvSpPr>
          <p:cNvPr id="13" name="内容占位符 2">
            <a:extLst>
              <a:ext uri="{FF2B5EF4-FFF2-40B4-BE49-F238E27FC236}">
                <a16:creationId xmlns:a16="http://schemas.microsoft.com/office/drawing/2014/main" id="{4908640B-441B-AF4B-820E-ED9C453DDBDB}"/>
              </a:ext>
            </a:extLst>
          </p:cNvPr>
          <p:cNvSpPr>
            <a:spLocks noGrp="1"/>
          </p:cNvSpPr>
          <p:nvPr>
            <p:ph idx="1"/>
          </p:nvPr>
        </p:nvSpPr>
        <p:spPr>
          <a:xfrm>
            <a:off x="457200" y="1551432"/>
            <a:ext cx="5041232" cy="617093"/>
          </a:xfrm>
        </p:spPr>
        <p:txBody>
          <a:bodyPr/>
          <a:lstStyle/>
          <a:p>
            <a:pPr marL="514350" indent="-457200">
              <a:spcBef>
                <a:spcPts val="1000"/>
              </a:spcBef>
            </a:pPr>
            <a:r>
              <a:rPr kumimoji="1" lang="zh-CN" altLang="en-US" sz="2800" dirty="0"/>
              <a:t>不同存储器配置的价格比较</a:t>
            </a:r>
            <a:endParaRPr kumimoji="1" lang="en-US" altLang="zh-CN" sz="2800" dirty="0"/>
          </a:p>
        </p:txBody>
      </p:sp>
      <p:sp>
        <p:nvSpPr>
          <p:cNvPr id="4" name="矩形 3">
            <a:extLst>
              <a:ext uri="{FF2B5EF4-FFF2-40B4-BE49-F238E27FC236}">
                <a16:creationId xmlns:a16="http://schemas.microsoft.com/office/drawing/2014/main" id="{57CE0A17-7628-596C-8E05-EB283E60510D}"/>
              </a:ext>
            </a:extLst>
          </p:cNvPr>
          <p:cNvSpPr/>
          <p:nvPr/>
        </p:nvSpPr>
        <p:spPr>
          <a:xfrm>
            <a:off x="4572000" y="4748669"/>
            <a:ext cx="4374776" cy="1477328"/>
          </a:xfrm>
          <a:prstGeom prst="rect">
            <a:avLst/>
          </a:prstGeom>
        </p:spPr>
        <p:txBody>
          <a:bodyPr wrap="square">
            <a:spAutoFit/>
          </a:bodyPr>
          <a:lstStyle/>
          <a:p>
            <a:pPr marL="265113" marR="0" lvl="0" indent="-265113"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Apple M3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芯片，配备 </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8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核中央处理器 </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(4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个性能核心和 </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4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个能效核心</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a:t>
            </a:r>
            <a:r>
              <a:rPr lang="en-US" altLang="zh-CN" dirty="0">
                <a:solidFill>
                  <a:srgbClr val="000000"/>
                </a:solidFill>
                <a:ea typeface="SimHei" panose="02010609060101010101" pitchFamily="49" charset="-122"/>
              </a:rPr>
              <a:t>10</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核图形处理器和 </a:t>
            </a: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16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核神经网络引擎</a:t>
            </a:r>
          </a:p>
          <a:p>
            <a:pPr marL="265113" marR="0" lvl="0" indent="-265113"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8GB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统一内存</a:t>
            </a:r>
          </a:p>
          <a:p>
            <a:pPr marL="265113" marR="0" lvl="0" indent="-265113"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512GB </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固态硬盘</a:t>
            </a:r>
            <a:endParaRPr kumimoji="0"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pic>
        <p:nvPicPr>
          <p:cNvPr id="9" name="图片 8">
            <a:extLst>
              <a:ext uri="{FF2B5EF4-FFF2-40B4-BE49-F238E27FC236}">
                <a16:creationId xmlns:a16="http://schemas.microsoft.com/office/drawing/2014/main" id="{4F319B5F-162E-CD45-5303-E2B36DB25F65}"/>
              </a:ext>
            </a:extLst>
          </p:cNvPr>
          <p:cNvPicPr>
            <a:picLocks noChangeAspect="1"/>
          </p:cNvPicPr>
          <p:nvPr/>
        </p:nvPicPr>
        <p:blipFill>
          <a:blip r:embed="rId3"/>
          <a:stretch>
            <a:fillRect/>
          </a:stretch>
        </p:blipFill>
        <p:spPr>
          <a:xfrm>
            <a:off x="1053351" y="2077634"/>
            <a:ext cx="3385676" cy="4708649"/>
          </a:xfrm>
          <a:prstGeom prst="rect">
            <a:avLst/>
          </a:prstGeom>
        </p:spPr>
      </p:pic>
      <p:pic>
        <p:nvPicPr>
          <p:cNvPr id="4100" name="Picture 4" descr="展示 iMac 的正面外观，配有白色显示屏边框、紫色外壳和铝金属支架，显示屏下方放有同色系妙控鼠标和键盘。">
            <a:extLst>
              <a:ext uri="{FF2B5EF4-FFF2-40B4-BE49-F238E27FC236}">
                <a16:creationId xmlns:a16="http://schemas.microsoft.com/office/drawing/2014/main" id="{E6BAD8D7-C0FA-61BB-0871-EFC4CE908F6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6147" t="11685" r="16352" b="10384"/>
          <a:stretch/>
        </p:blipFill>
        <p:spPr bwMode="auto">
          <a:xfrm>
            <a:off x="5227910" y="2153082"/>
            <a:ext cx="2942679" cy="2611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416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2F4592-AFDB-46C2-9C18-3CCE29BA41FA}"/>
              </a:ext>
            </a:extLst>
          </p:cNvPr>
          <p:cNvSpPr>
            <a:spLocks noGrp="1"/>
          </p:cNvSpPr>
          <p:nvPr>
            <p:ph type="title"/>
          </p:nvPr>
        </p:nvSpPr>
        <p:spPr/>
        <p:txBody>
          <a:bodyPr/>
          <a:lstStyle/>
          <a:p>
            <a:r>
              <a:rPr lang="en-US" altLang="zh-CN" dirty="0"/>
              <a:t>PC</a:t>
            </a:r>
            <a:r>
              <a:rPr lang="zh-CN" altLang="en-US" dirty="0"/>
              <a:t>：</a:t>
            </a:r>
            <a:r>
              <a:rPr lang="en-US" altLang="zh-CN" dirty="0"/>
              <a:t>CPU </a:t>
            </a:r>
            <a:r>
              <a:rPr lang="en-US" altLang="zh-CN" dirty="0">
                <a:sym typeface="Wingdings" pitchFamily="2" charset="2"/>
              </a:rPr>
              <a:t> DRAM</a:t>
            </a:r>
            <a:endParaRPr lang="zh-CN" altLang="en-US" dirty="0"/>
          </a:p>
        </p:txBody>
      </p:sp>
      <p:sp>
        <p:nvSpPr>
          <p:cNvPr id="4" name="灯片编号占位符 3">
            <a:extLst>
              <a:ext uri="{FF2B5EF4-FFF2-40B4-BE49-F238E27FC236}">
                <a16:creationId xmlns:a16="http://schemas.microsoft.com/office/drawing/2014/main" id="{400046B5-3C4C-4330-A22A-50210BCDFCE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pic>
        <p:nvPicPr>
          <p:cNvPr id="3074" name="Picture 2">
            <a:extLst>
              <a:ext uri="{FF2B5EF4-FFF2-40B4-BE49-F238E27FC236}">
                <a16:creationId xmlns:a16="http://schemas.microsoft.com/office/drawing/2014/main" id="{9DEC6937-0666-4226-8BF8-56C525EF6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071193" y="717830"/>
            <a:ext cx="5001613" cy="6668817"/>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E0AB855C-B3C0-4125-8561-75EED4BF4108}"/>
              </a:ext>
            </a:extLst>
          </p:cNvPr>
          <p:cNvSpPr/>
          <p:nvPr/>
        </p:nvSpPr>
        <p:spPr>
          <a:xfrm>
            <a:off x="4315247" y="5103524"/>
            <a:ext cx="2468430" cy="666656"/>
          </a:xfrm>
          <a:prstGeom prst="rect">
            <a:avLst/>
          </a:prstGeom>
          <a:noFill/>
          <a:ln w="381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15" name="文本框 14">
            <a:extLst>
              <a:ext uri="{FF2B5EF4-FFF2-40B4-BE49-F238E27FC236}">
                <a16:creationId xmlns:a16="http://schemas.microsoft.com/office/drawing/2014/main" id="{863B1F65-F580-41CB-879A-E654BF319DAA}"/>
              </a:ext>
            </a:extLst>
          </p:cNvPr>
          <p:cNvSpPr txBox="1"/>
          <p:nvPr/>
        </p:nvSpPr>
        <p:spPr>
          <a:xfrm>
            <a:off x="4846770" y="5175242"/>
            <a:ext cx="1405383"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u="none" strike="noStrike" kern="1200" cap="none" spc="0" normalizeH="0" baseline="0" noProof="0" dirty="0">
                <a:ln>
                  <a:noFill/>
                </a:ln>
                <a:solidFill>
                  <a:srgbClr val="FF9900"/>
                </a:solidFill>
                <a:effectLst/>
                <a:uLnTx/>
                <a:uFillTx/>
                <a:latin typeface="Arial" charset="0"/>
                <a:ea typeface="SimHei" panose="02010609060101010101" pitchFamily="49" charset="-122"/>
                <a:cs typeface="+mn-cs"/>
              </a:rPr>
              <a:t>DRAM</a:t>
            </a:r>
            <a:endParaRPr kumimoji="0" lang="zh-CN" altLang="en-US" sz="2800" u="none" strike="noStrike" kern="1200" cap="none" spc="0" normalizeH="0" baseline="0" noProof="0" dirty="0">
              <a:ln>
                <a:noFill/>
              </a:ln>
              <a:solidFill>
                <a:srgbClr val="FF9900"/>
              </a:solidFill>
              <a:effectLst/>
              <a:uLnTx/>
              <a:uFillTx/>
              <a:latin typeface="Arial" charset="0"/>
              <a:ea typeface="SimHei" panose="02010609060101010101" pitchFamily="49" charset="-122"/>
              <a:cs typeface="+mn-cs"/>
            </a:endParaRPr>
          </a:p>
        </p:txBody>
      </p:sp>
      <p:sp>
        <p:nvSpPr>
          <p:cNvPr id="3" name="矩形 2">
            <a:extLst>
              <a:ext uri="{FF2B5EF4-FFF2-40B4-BE49-F238E27FC236}">
                <a16:creationId xmlns:a16="http://schemas.microsoft.com/office/drawing/2014/main" id="{3DCE0686-3DE8-DA3C-76EC-FBFA7564E468}"/>
              </a:ext>
            </a:extLst>
          </p:cNvPr>
          <p:cNvSpPr/>
          <p:nvPr/>
        </p:nvSpPr>
        <p:spPr>
          <a:xfrm>
            <a:off x="5394063" y="4147696"/>
            <a:ext cx="234233" cy="1829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DCEBC539-7309-7FD5-78CC-A518129840FA}"/>
              </a:ext>
            </a:extLst>
          </p:cNvPr>
          <p:cNvSpPr/>
          <p:nvPr/>
        </p:nvSpPr>
        <p:spPr>
          <a:xfrm>
            <a:off x="5430100" y="4154492"/>
            <a:ext cx="88847" cy="153273"/>
          </a:xfrm>
          <a:prstGeom prst="rect">
            <a:avLst/>
          </a:prstGeom>
          <a:solidFill>
            <a:srgbClr val="05FFFF">
              <a:alpha val="20000"/>
            </a:srgbClr>
          </a:solidFill>
          <a:ln>
            <a:solidFill>
              <a:srgbClr val="05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203A148B-2E05-1A15-A55E-E914A3B58FAA}"/>
              </a:ext>
            </a:extLst>
          </p:cNvPr>
          <p:cNvSpPr txBox="1"/>
          <p:nvPr/>
        </p:nvSpPr>
        <p:spPr>
          <a:xfrm>
            <a:off x="5557721" y="3475670"/>
            <a:ext cx="1225956" cy="523220"/>
          </a:xfrm>
          <a:prstGeom prst="rect">
            <a:avLst/>
          </a:prstGeom>
          <a:noFill/>
        </p:spPr>
        <p:txBody>
          <a:bodyPr wrap="square" rtlCol="0">
            <a:spAutoFit/>
          </a:bodyPr>
          <a:lstStyle/>
          <a:p>
            <a:r>
              <a:rPr lang="en-US" altLang="zh-CN" sz="2800" dirty="0">
                <a:solidFill>
                  <a:srgbClr val="05FFFF"/>
                </a:solidFill>
                <a:ea typeface="SimHei" panose="02010609060101010101" pitchFamily="49" charset="-122"/>
              </a:rPr>
              <a:t>SRAM</a:t>
            </a:r>
            <a:endParaRPr lang="zh-CN" altLang="en-US" sz="2800" dirty="0">
              <a:solidFill>
                <a:srgbClr val="05FFFF"/>
              </a:solidFill>
              <a:ea typeface="SimHei" panose="02010609060101010101" pitchFamily="49" charset="-122"/>
            </a:endParaRPr>
          </a:p>
        </p:txBody>
      </p:sp>
      <p:cxnSp>
        <p:nvCxnSpPr>
          <p:cNvPr id="7" name="直接箭头连接符 17">
            <a:extLst>
              <a:ext uri="{FF2B5EF4-FFF2-40B4-BE49-F238E27FC236}">
                <a16:creationId xmlns:a16="http://schemas.microsoft.com/office/drawing/2014/main" id="{AD24D76C-BE47-4F98-2BD8-43A385916F7D}"/>
              </a:ext>
            </a:extLst>
          </p:cNvPr>
          <p:cNvCxnSpPr/>
          <p:nvPr/>
        </p:nvCxnSpPr>
        <p:spPr>
          <a:xfrm flipH="1">
            <a:off x="5432349" y="3869308"/>
            <a:ext cx="216211" cy="182930"/>
          </a:xfrm>
          <a:prstGeom prst="straightConnector1">
            <a:avLst/>
          </a:prstGeom>
          <a:ln w="38100">
            <a:solidFill>
              <a:srgbClr val="05FFFF"/>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DB3FF1F-6935-0659-14A2-D1F64F395BB9}"/>
              </a:ext>
            </a:extLst>
          </p:cNvPr>
          <p:cNvSpPr txBox="1"/>
          <p:nvPr/>
        </p:nvSpPr>
        <p:spPr>
          <a:xfrm>
            <a:off x="5697358" y="3998890"/>
            <a:ext cx="1225956" cy="523220"/>
          </a:xfrm>
          <a:prstGeom prst="rect">
            <a:avLst/>
          </a:prstGeom>
          <a:noFill/>
        </p:spPr>
        <p:txBody>
          <a:bodyPr wrap="square" rtlCol="0">
            <a:spAutoFit/>
          </a:bodyPr>
          <a:lstStyle/>
          <a:p>
            <a:r>
              <a:rPr lang="en-US" altLang="zh-CN" sz="2800" dirty="0">
                <a:solidFill>
                  <a:srgbClr val="FF0000"/>
                </a:solidFill>
                <a:ea typeface="SimHei" panose="02010609060101010101" pitchFamily="49" charset="-122"/>
              </a:rPr>
              <a:t>CPU</a:t>
            </a:r>
            <a:endParaRPr lang="zh-CN" altLang="en-US" sz="2800" dirty="0">
              <a:solidFill>
                <a:srgbClr val="FF0000"/>
              </a:solidFill>
              <a:ea typeface="SimHei" panose="02010609060101010101" pitchFamily="49" charset="-122"/>
            </a:endParaRPr>
          </a:p>
        </p:txBody>
      </p:sp>
    </p:spTree>
    <p:extLst>
      <p:ext uri="{BB962C8B-B14F-4D97-AF65-F5344CB8AC3E}">
        <p14:creationId xmlns:p14="http://schemas.microsoft.com/office/powerpoint/2010/main" val="3362087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内部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14" name="内容占位符 2">
            <a:extLst>
              <a:ext uri="{FF2B5EF4-FFF2-40B4-BE49-F238E27FC236}">
                <a16:creationId xmlns:a16="http://schemas.microsoft.com/office/drawing/2014/main" id="{6DA94F2D-D420-279E-8733-D20007CBA196}"/>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t>Intel</a:t>
            </a:r>
            <a:r>
              <a:rPr kumimoji="1" lang="zh-CN" altLang="en-US" dirty="0"/>
              <a:t> </a:t>
            </a:r>
            <a:r>
              <a:rPr kumimoji="1" lang="en-US" altLang="zh-CN" dirty="0"/>
              <a:t>i9-14900K</a:t>
            </a:r>
            <a:r>
              <a:rPr kumimoji="1" lang="zh-CN" altLang="en-US" dirty="0"/>
              <a:t>处理器</a:t>
            </a:r>
            <a:endParaRPr kumimoji="1" lang="en-US" altLang="zh-CN" dirty="0"/>
          </a:p>
        </p:txBody>
      </p:sp>
      <p:pic>
        <p:nvPicPr>
          <p:cNvPr id="1026" name="Picture 2">
            <a:extLst>
              <a:ext uri="{FF2B5EF4-FFF2-40B4-BE49-F238E27FC236}">
                <a16:creationId xmlns:a16="http://schemas.microsoft.com/office/drawing/2014/main" id="{2A02FF3D-20E2-AD55-608D-B2BA62086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2279779"/>
            <a:ext cx="8224163" cy="3825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3265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内部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14" name="内容占位符 2">
            <a:extLst>
              <a:ext uri="{FF2B5EF4-FFF2-40B4-BE49-F238E27FC236}">
                <a16:creationId xmlns:a16="http://schemas.microsoft.com/office/drawing/2014/main" id="{6DA94F2D-D420-279E-8733-D20007CBA196}"/>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t>Intel</a:t>
            </a:r>
            <a:r>
              <a:rPr kumimoji="1" lang="zh-CN" altLang="en-US" dirty="0"/>
              <a:t> </a:t>
            </a:r>
            <a:r>
              <a:rPr kumimoji="1" lang="en-US" altLang="zh-CN" dirty="0"/>
              <a:t>i9-14900K</a:t>
            </a:r>
            <a:r>
              <a:rPr kumimoji="1" lang="zh-CN" altLang="en-US" dirty="0"/>
              <a:t>处理器</a:t>
            </a:r>
            <a:endParaRPr kumimoji="1" lang="en-US" altLang="zh-CN" dirty="0"/>
          </a:p>
        </p:txBody>
      </p:sp>
      <p:pic>
        <p:nvPicPr>
          <p:cNvPr id="4" name="Picture 2">
            <a:extLst>
              <a:ext uri="{FF2B5EF4-FFF2-40B4-BE49-F238E27FC236}">
                <a16:creationId xmlns:a16="http://schemas.microsoft.com/office/drawing/2014/main" id="{7EA677EF-18F0-68AD-AA01-7F6174CCF0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2279779"/>
            <a:ext cx="8224163" cy="382509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E39BF99-ADF7-BC7C-41E9-7E44AB8F4B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1602" y="2276312"/>
            <a:ext cx="3834940" cy="382855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B9C5B95-6DEF-3229-94E1-741A47AA0790}"/>
              </a:ext>
            </a:extLst>
          </p:cNvPr>
          <p:cNvSpPr txBox="1"/>
          <p:nvPr/>
        </p:nvSpPr>
        <p:spPr>
          <a:xfrm>
            <a:off x="379505" y="6216736"/>
            <a:ext cx="8212505" cy="369332"/>
          </a:xfrm>
          <a:prstGeom prst="rect">
            <a:avLst/>
          </a:prstGeom>
          <a:noFill/>
        </p:spPr>
        <p:txBody>
          <a:bodyPr wrap="none" rtlCol="0">
            <a:spAutoFit/>
          </a:bodyPr>
          <a:lstStyle/>
          <a:p>
            <a:r>
              <a:rPr lang="en-US" altLang="zh-CN" dirty="0" err="1"/>
              <a:t>Uncore</a:t>
            </a:r>
            <a:r>
              <a:rPr lang="en-US" altLang="zh-CN" dirty="0"/>
              <a:t>: </a:t>
            </a:r>
            <a:r>
              <a:rPr lang="zh-CN" altLang="en-US" dirty="0"/>
              <a:t>非核心处理器，包括：整合内存控制器</a:t>
            </a:r>
            <a:r>
              <a:rPr lang="en-US" altLang="zh-CN" dirty="0"/>
              <a:t>(IMC)</a:t>
            </a:r>
            <a:r>
              <a:rPr lang="zh-CN" altLang="en-US" dirty="0"/>
              <a:t>、最后一级缓存</a:t>
            </a:r>
            <a:r>
              <a:rPr lang="en-US" altLang="zh-CN" dirty="0"/>
              <a:t>(LLC)</a:t>
            </a:r>
            <a:r>
              <a:rPr lang="zh-CN" altLang="en-US" dirty="0"/>
              <a:t>等</a:t>
            </a:r>
          </a:p>
        </p:txBody>
      </p:sp>
    </p:spTree>
    <p:extLst>
      <p:ext uri="{BB962C8B-B14F-4D97-AF65-F5344CB8AC3E}">
        <p14:creationId xmlns:p14="http://schemas.microsoft.com/office/powerpoint/2010/main" val="2419175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a:t>
            </a:r>
            <a:r>
              <a:rPr lang="en-US" altLang="zh-CN" dirty="0"/>
              <a:t>CPU</a:t>
            </a:r>
            <a:r>
              <a:rPr lang="zh-CN" altLang="en-US" dirty="0"/>
              <a:t>到内存、硬盘</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4" name="内容占位符 2">
            <a:extLst>
              <a:ext uri="{FF2B5EF4-FFF2-40B4-BE49-F238E27FC236}">
                <a16:creationId xmlns:a16="http://schemas.microsoft.com/office/drawing/2014/main" id="{7EDA9B36-B1C8-9A41-88D5-42B21D35245C}"/>
              </a:ext>
            </a:extLst>
          </p:cNvPr>
          <p:cNvSpPr>
            <a:spLocks noGrp="1"/>
          </p:cNvSpPr>
          <p:nvPr>
            <p:ph idx="1"/>
          </p:nvPr>
        </p:nvSpPr>
        <p:spPr>
          <a:xfrm>
            <a:off x="457200" y="1551432"/>
            <a:ext cx="4948177" cy="4779793"/>
          </a:xfrm>
        </p:spPr>
        <p:txBody>
          <a:bodyPr/>
          <a:lstStyle/>
          <a:p>
            <a:pPr marL="514350" indent="-457200">
              <a:spcBef>
                <a:spcPts val="1000"/>
              </a:spcBef>
            </a:pPr>
            <a:r>
              <a:rPr kumimoji="1" lang="zh-CN" altLang="en-US" dirty="0"/>
              <a:t>存储器开销分析</a:t>
            </a:r>
            <a:endParaRPr kumimoji="1" lang="en-US" altLang="zh-CN" dirty="0"/>
          </a:p>
          <a:p>
            <a:pPr marL="914400" lvl="1" indent="-457200">
              <a:spcBef>
                <a:spcPts val="1000"/>
              </a:spcBef>
            </a:pPr>
            <a:r>
              <a:rPr lang="zh-CN" altLang="en-US" sz="2400" dirty="0"/>
              <a:t>寄存器平均访问时间</a:t>
            </a:r>
            <a:r>
              <a:rPr lang="en-US" altLang="zh-CN" sz="2400" dirty="0"/>
              <a:t>&lt;1ns</a:t>
            </a:r>
          </a:p>
          <a:p>
            <a:pPr marL="914400" lvl="1" indent="-457200">
              <a:spcBef>
                <a:spcPts val="1000"/>
              </a:spcBef>
            </a:pPr>
            <a:r>
              <a:rPr lang="zh-CN" altLang="en-US" sz="2400" dirty="0"/>
              <a:t>内存平均访问时间</a:t>
            </a:r>
            <a:r>
              <a:rPr lang="en-US" altLang="zh-CN" sz="2400" dirty="0"/>
              <a:t>ns</a:t>
            </a:r>
            <a:r>
              <a:rPr lang="zh-CN" altLang="en-US" sz="2400" dirty="0"/>
              <a:t>级</a:t>
            </a:r>
          </a:p>
          <a:p>
            <a:pPr marL="1314450" lvl="2" indent="-457200">
              <a:spcBef>
                <a:spcPts val="1000"/>
              </a:spcBef>
              <a:buFont typeface="Wingdings" pitchFamily="2" charset="2"/>
              <a:buChar char="Ø"/>
            </a:pPr>
            <a:r>
              <a:rPr lang="en-US" altLang="zh-CN" sz="2000" dirty="0"/>
              <a:t>SRAM(Cache)</a:t>
            </a:r>
            <a:r>
              <a:rPr lang="zh-CN" altLang="en-US" sz="2000" dirty="0"/>
              <a:t>：</a:t>
            </a:r>
            <a:r>
              <a:rPr lang="en-US" altLang="zh-CN" sz="2000" dirty="0"/>
              <a:t>1~10ns</a:t>
            </a:r>
          </a:p>
          <a:p>
            <a:pPr marL="1314450" lvl="2" indent="-457200">
              <a:spcBef>
                <a:spcPts val="1000"/>
              </a:spcBef>
              <a:buFont typeface="Wingdings" pitchFamily="2" charset="2"/>
              <a:buChar char="Ø"/>
            </a:pPr>
            <a:r>
              <a:rPr lang="en-US" altLang="zh-CN" sz="2000" dirty="0"/>
              <a:t>DRAM(</a:t>
            </a:r>
            <a:r>
              <a:rPr lang="zh-CN" altLang="en-US" sz="2000" dirty="0"/>
              <a:t>主存</a:t>
            </a:r>
            <a:r>
              <a:rPr lang="en-US" altLang="zh-CN" sz="2000" dirty="0"/>
              <a:t>)</a:t>
            </a:r>
            <a:r>
              <a:rPr lang="zh-CN" altLang="en-US" sz="2000" dirty="0"/>
              <a:t>：</a:t>
            </a:r>
            <a:r>
              <a:rPr lang="en-US" altLang="zh-CN" sz="2000" dirty="0"/>
              <a:t>10~100ns</a:t>
            </a:r>
          </a:p>
          <a:p>
            <a:pPr marL="914400" lvl="1" indent="-457200">
              <a:spcBef>
                <a:spcPts val="1000"/>
              </a:spcBef>
            </a:pPr>
            <a:r>
              <a:rPr lang="zh-CN" altLang="en-US" sz="2400" dirty="0"/>
              <a:t>外存平均访问时间</a:t>
            </a:r>
            <a:r>
              <a:rPr lang="en-US" altLang="zh-CN" sz="2400" dirty="0" err="1"/>
              <a:t>ms</a:t>
            </a:r>
            <a:r>
              <a:rPr lang="zh-CN" altLang="en-US" sz="2400" dirty="0"/>
              <a:t>级</a:t>
            </a:r>
          </a:p>
          <a:p>
            <a:pPr marL="1314450" lvl="2" indent="-457200">
              <a:spcBef>
                <a:spcPts val="1000"/>
              </a:spcBef>
              <a:buFont typeface="Wingdings" pitchFamily="2" charset="2"/>
              <a:buChar char="Ø"/>
            </a:pPr>
            <a:r>
              <a:rPr lang="zh-CN" altLang="en-US" sz="2000" dirty="0"/>
              <a:t>硬盘：</a:t>
            </a:r>
            <a:endParaRPr lang="en-US" altLang="zh-CN" sz="2000" dirty="0"/>
          </a:p>
          <a:p>
            <a:pPr marL="1771650" lvl="3" indent="-457200">
              <a:spcBef>
                <a:spcPts val="1000"/>
              </a:spcBef>
              <a:buFont typeface="Wingdings" pitchFamily="2" charset="2"/>
              <a:buChar char="u"/>
            </a:pPr>
            <a:r>
              <a:rPr lang="zh-CN" altLang="en-US" sz="1600" dirty="0"/>
              <a:t>固态硬盘：</a:t>
            </a:r>
            <a:r>
              <a:rPr lang="en-US" altLang="zh-CN" sz="1600" dirty="0"/>
              <a:t>0.1~1ms</a:t>
            </a:r>
          </a:p>
          <a:p>
            <a:pPr marL="1771650" lvl="3" indent="-457200">
              <a:spcBef>
                <a:spcPts val="1000"/>
              </a:spcBef>
              <a:buFont typeface="Wingdings" pitchFamily="2" charset="2"/>
              <a:buChar char="u"/>
            </a:pPr>
            <a:r>
              <a:rPr lang="zh-CN" altLang="en-US" sz="1600" dirty="0"/>
              <a:t>机械硬盘：</a:t>
            </a:r>
            <a:r>
              <a:rPr lang="en-US" altLang="zh-CN" sz="1600" dirty="0"/>
              <a:t>9~10ms</a:t>
            </a:r>
          </a:p>
          <a:p>
            <a:pPr marL="1314450" lvl="2" indent="-457200">
              <a:spcBef>
                <a:spcPts val="1000"/>
              </a:spcBef>
              <a:buFont typeface="Wingdings" pitchFamily="2" charset="2"/>
              <a:buChar char="Ø"/>
            </a:pPr>
            <a:r>
              <a:rPr lang="zh-CN" altLang="en-US" sz="2000" dirty="0"/>
              <a:t>光盘</a:t>
            </a:r>
            <a:r>
              <a:rPr lang="en-US" altLang="zh-CN" sz="2000" dirty="0"/>
              <a:t>/</a:t>
            </a:r>
            <a:r>
              <a:rPr lang="zh-CN" altLang="en-US" sz="2000" dirty="0"/>
              <a:t>磁带：</a:t>
            </a:r>
            <a:r>
              <a:rPr lang="en-US" altLang="zh-CN" sz="2000" dirty="0"/>
              <a:t>80~120ms</a:t>
            </a:r>
          </a:p>
        </p:txBody>
      </p:sp>
      <p:pic>
        <p:nvPicPr>
          <p:cNvPr id="7" name="图片 6">
            <a:extLst>
              <a:ext uri="{FF2B5EF4-FFF2-40B4-BE49-F238E27FC236}">
                <a16:creationId xmlns:a16="http://schemas.microsoft.com/office/drawing/2014/main" id="{977E285F-6888-E04D-B4B6-0CB14E2CA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6428" y="1849354"/>
            <a:ext cx="3634740" cy="3826042"/>
          </a:xfrm>
          <a:prstGeom prst="rect">
            <a:avLst/>
          </a:prstGeom>
        </p:spPr>
      </p:pic>
    </p:spTree>
    <p:extLst>
      <p:ext uri="{BB962C8B-B14F-4D97-AF65-F5344CB8AC3E}">
        <p14:creationId xmlns:p14="http://schemas.microsoft.com/office/powerpoint/2010/main" val="3980019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4" name="内容占位符 2">
            <a:extLst>
              <a:ext uri="{FF2B5EF4-FFF2-40B4-BE49-F238E27FC236}">
                <a16:creationId xmlns:a16="http://schemas.microsoft.com/office/drawing/2014/main" id="{7EDA9B36-B1C8-9A41-88D5-42B21D35245C}"/>
              </a:ext>
            </a:extLst>
          </p:cNvPr>
          <p:cNvSpPr>
            <a:spLocks noGrp="1"/>
          </p:cNvSpPr>
          <p:nvPr>
            <p:ph idx="1"/>
          </p:nvPr>
        </p:nvSpPr>
        <p:spPr>
          <a:xfrm>
            <a:off x="269922" y="4377015"/>
            <a:ext cx="8229600" cy="1952281"/>
          </a:xfrm>
        </p:spPr>
        <p:txBody>
          <a:bodyPr/>
          <a:lstStyle/>
          <a:p>
            <a:pPr marL="514350" indent="-457200">
              <a:spcBef>
                <a:spcPts val="1000"/>
              </a:spcBef>
            </a:pPr>
            <a:r>
              <a:rPr kumimoji="1" lang="zh-CN" altLang="en-US" sz="2800" dirty="0"/>
              <a:t>架构层面的存储器延时优化方法</a:t>
            </a:r>
            <a:endParaRPr kumimoji="1" lang="en-US" altLang="zh-CN" sz="2800" dirty="0"/>
          </a:p>
          <a:p>
            <a:pPr marL="914400" lvl="1" indent="-457200">
              <a:spcBef>
                <a:spcPts val="1000"/>
              </a:spcBef>
            </a:pPr>
            <a:r>
              <a:rPr lang="zh-CN" altLang="en-US" sz="2000" dirty="0"/>
              <a:t> </a:t>
            </a:r>
            <a:r>
              <a:rPr lang="zh-CN" altLang="en-US" sz="2000" dirty="0">
                <a:solidFill>
                  <a:srgbClr val="0432FF"/>
                </a:solidFill>
              </a:rPr>
              <a:t>并行化</a:t>
            </a:r>
            <a:r>
              <a:rPr lang="zh-CN" altLang="en-US" sz="2000" dirty="0"/>
              <a:t>：</a:t>
            </a:r>
            <a:r>
              <a:rPr lang="zh-CN" altLang="en-US" sz="2000" dirty="0">
                <a:latin typeface="+mn-ea"/>
              </a:rPr>
              <a:t>同时从</a:t>
            </a:r>
            <a:r>
              <a:rPr lang="en-US" altLang="zh-CN" sz="2000" dirty="0">
                <a:latin typeface="+mn-ea"/>
              </a:rPr>
              <a:t>N</a:t>
            </a:r>
            <a:r>
              <a:rPr lang="zh-CN" altLang="en-US" sz="2000" dirty="0">
                <a:latin typeface="+mn-ea"/>
              </a:rPr>
              <a:t>个</a:t>
            </a:r>
            <a:r>
              <a:rPr lang="en-US" altLang="zh-CN" sz="2000" dirty="0">
                <a:latin typeface="+mn-ea"/>
              </a:rPr>
              <a:t>1bit</a:t>
            </a:r>
            <a:r>
              <a:rPr lang="zh-CN" altLang="en-US" sz="2000" dirty="0">
                <a:latin typeface="+mn-ea"/>
              </a:rPr>
              <a:t>宽的存储器中访问数据，增加读写访问控制硬件的方式提供并行访问</a:t>
            </a:r>
            <a:r>
              <a:rPr lang="en-US" altLang="zh-CN" sz="2000" dirty="0">
                <a:latin typeface="+mn-ea"/>
              </a:rPr>
              <a:t>, </a:t>
            </a:r>
            <a:r>
              <a:rPr lang="zh-CN" altLang="en-US" sz="2000" dirty="0">
                <a:latin typeface="+mn-ea"/>
              </a:rPr>
              <a:t>增加带宽</a:t>
            </a:r>
            <a:r>
              <a:rPr lang="en-US" altLang="zh-CN" sz="2000" dirty="0">
                <a:latin typeface="+mn-ea"/>
              </a:rPr>
              <a:t>,</a:t>
            </a:r>
            <a:r>
              <a:rPr lang="zh-CN" altLang="en-US" sz="2000" dirty="0">
                <a:latin typeface="+mn-ea"/>
              </a:rPr>
              <a:t>减小延迟</a:t>
            </a:r>
            <a:endParaRPr lang="en-US" altLang="zh-CN" sz="2000" dirty="0">
              <a:latin typeface="+mn-ea"/>
            </a:endParaRPr>
          </a:p>
          <a:p>
            <a:pPr marL="914400" lvl="1" indent="-457200">
              <a:spcBef>
                <a:spcPts val="1000"/>
              </a:spcBef>
            </a:pPr>
            <a:r>
              <a:rPr lang="zh-CN" altLang="en-US" sz="2000" dirty="0"/>
              <a:t> </a:t>
            </a:r>
            <a:r>
              <a:rPr lang="zh-CN" altLang="en-US" sz="2000" dirty="0">
                <a:solidFill>
                  <a:srgbClr val="0432FF"/>
                </a:solidFill>
              </a:rPr>
              <a:t>流水线化</a:t>
            </a:r>
            <a:r>
              <a:rPr lang="en-US" altLang="zh-CN" sz="2000" dirty="0"/>
              <a:t>: </a:t>
            </a:r>
            <a:r>
              <a:rPr lang="zh-CN" altLang="en-US" sz="2000" dirty="0"/>
              <a:t>如果有</a:t>
            </a:r>
            <a:r>
              <a:rPr lang="en-US" altLang="zh-CN" sz="2000" dirty="0"/>
              <a:t>N</a:t>
            </a:r>
            <a:r>
              <a:rPr lang="zh-CN" altLang="en-US" sz="2000" dirty="0"/>
              <a:t>个周期的延迟，则每个周期发一个请求</a:t>
            </a:r>
            <a:r>
              <a:rPr lang="en-US" altLang="zh-CN" sz="2000" dirty="0"/>
              <a:t>,</a:t>
            </a:r>
            <a:r>
              <a:rPr lang="zh-CN" altLang="en-US" sz="2000" dirty="0"/>
              <a:t> </a:t>
            </a:r>
            <a:r>
              <a:rPr lang="en-US" altLang="zh-CN" sz="2000" dirty="0"/>
              <a:t>N</a:t>
            </a:r>
            <a:r>
              <a:rPr lang="zh-CN" altLang="en-US" sz="2000" dirty="0"/>
              <a:t>个周期后得到结果，但是所有请求流水线化</a:t>
            </a:r>
            <a:endParaRPr lang="en-US" altLang="zh-CN" sz="2000" dirty="0"/>
          </a:p>
        </p:txBody>
      </p:sp>
      <p:sp>
        <p:nvSpPr>
          <p:cNvPr id="9" name="标题 1">
            <a:extLst>
              <a:ext uri="{FF2B5EF4-FFF2-40B4-BE49-F238E27FC236}">
                <a16:creationId xmlns:a16="http://schemas.microsoft.com/office/drawing/2014/main" id="{CDF1D1A1-C0AE-F544-80CD-34B9131A4C32}"/>
              </a:ext>
            </a:extLst>
          </p:cNvPr>
          <p:cNvSpPr>
            <a:spLocks noGrp="1"/>
          </p:cNvSpPr>
          <p:nvPr>
            <p:ph type="title"/>
          </p:nvPr>
        </p:nvSpPr>
        <p:spPr>
          <a:xfrm>
            <a:off x="457200" y="136525"/>
            <a:ext cx="8229600" cy="1143000"/>
          </a:xfrm>
        </p:spPr>
        <p:txBody>
          <a:bodyPr/>
          <a:lstStyle/>
          <a:p>
            <a:r>
              <a:rPr lang="zh-CN" altLang="en-US" dirty="0"/>
              <a:t>不同类别的存储器</a:t>
            </a:r>
          </a:p>
        </p:txBody>
      </p:sp>
      <p:graphicFrame>
        <p:nvGraphicFramePr>
          <p:cNvPr id="6" name="Group 3">
            <a:extLst>
              <a:ext uri="{FF2B5EF4-FFF2-40B4-BE49-F238E27FC236}">
                <a16:creationId xmlns:a16="http://schemas.microsoft.com/office/drawing/2014/main" id="{2ECC868E-7BCD-C83E-756F-BE24D47A6252}"/>
              </a:ext>
            </a:extLst>
          </p:cNvPr>
          <p:cNvGraphicFramePr>
            <a:graphicFrameLocks noGrp="1"/>
          </p:cNvGraphicFramePr>
          <p:nvPr>
            <p:extLst>
              <p:ext uri="{D42A27DB-BD31-4B8C-83A1-F6EECF244321}">
                <p14:modId xmlns:p14="http://schemas.microsoft.com/office/powerpoint/2010/main" val="2808753642"/>
              </p:ext>
            </p:extLst>
          </p:nvPr>
        </p:nvGraphicFramePr>
        <p:xfrm>
          <a:off x="337280" y="1405395"/>
          <a:ext cx="8558695" cy="2047735"/>
        </p:xfrm>
        <a:graphic>
          <a:graphicData uri="http://schemas.openxmlformats.org/drawingml/2006/table">
            <a:tbl>
              <a:tblPr/>
              <a:tblGrid>
                <a:gridCol w="925451">
                  <a:extLst>
                    <a:ext uri="{9D8B030D-6E8A-4147-A177-3AD203B41FA5}">
                      <a16:colId xmlns:a16="http://schemas.microsoft.com/office/drawing/2014/main" val="20000"/>
                    </a:ext>
                  </a:extLst>
                </a:gridCol>
                <a:gridCol w="872823">
                  <a:extLst>
                    <a:ext uri="{9D8B030D-6E8A-4147-A177-3AD203B41FA5}">
                      <a16:colId xmlns:a16="http://schemas.microsoft.com/office/drawing/2014/main" val="20001"/>
                    </a:ext>
                  </a:extLst>
                </a:gridCol>
                <a:gridCol w="1331408">
                  <a:extLst>
                    <a:ext uri="{9D8B030D-6E8A-4147-A177-3AD203B41FA5}">
                      <a16:colId xmlns:a16="http://schemas.microsoft.com/office/drawing/2014/main" val="20002"/>
                    </a:ext>
                  </a:extLst>
                </a:gridCol>
                <a:gridCol w="1084191">
                  <a:extLst>
                    <a:ext uri="{9D8B030D-6E8A-4147-A177-3AD203B41FA5}">
                      <a16:colId xmlns:a16="http://schemas.microsoft.com/office/drawing/2014/main" val="20003"/>
                    </a:ext>
                  </a:extLst>
                </a:gridCol>
                <a:gridCol w="844113">
                  <a:extLst>
                    <a:ext uri="{9D8B030D-6E8A-4147-A177-3AD203B41FA5}">
                      <a16:colId xmlns:a16="http://schemas.microsoft.com/office/drawing/2014/main" val="20004"/>
                    </a:ext>
                  </a:extLst>
                </a:gridCol>
                <a:gridCol w="800064">
                  <a:extLst>
                    <a:ext uri="{9D8B030D-6E8A-4147-A177-3AD203B41FA5}">
                      <a16:colId xmlns:a16="http://schemas.microsoft.com/office/drawing/2014/main" val="635318655"/>
                    </a:ext>
                  </a:extLst>
                </a:gridCol>
                <a:gridCol w="1218037">
                  <a:extLst>
                    <a:ext uri="{9D8B030D-6E8A-4147-A177-3AD203B41FA5}">
                      <a16:colId xmlns:a16="http://schemas.microsoft.com/office/drawing/2014/main" val="20005"/>
                    </a:ext>
                  </a:extLst>
                </a:gridCol>
                <a:gridCol w="1482608">
                  <a:extLst>
                    <a:ext uri="{9D8B030D-6E8A-4147-A177-3AD203B41FA5}">
                      <a16:colId xmlns:a16="http://schemas.microsoft.com/office/drawing/2014/main" val="20006"/>
                    </a:ext>
                  </a:extLst>
                </a:gridCol>
              </a:tblGrid>
              <a:tr h="614317">
                <a:tc>
                  <a:txBody>
                    <a:bodyPr/>
                    <a:lstStyle/>
                    <a:p>
                      <a:pPr marL="0" marR="0" lvl="0" indent="0" algn="ctr" defTabSz="100965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zh-CN" altLang="en-US" sz="1700" b="0" i="0" u="none" strike="noStrike" cap="none" normalizeH="0" baseline="0" dirty="0">
                        <a:ln>
                          <a:noFill/>
                        </a:ln>
                        <a:solidFill>
                          <a:schemeClr val="tx1"/>
                        </a:solidFill>
                        <a:effectLst/>
                        <a:latin typeface="Tahoma" pitchFamily="34" charset="0"/>
                        <a:ea typeface="SimHei" panose="02010609060101010101" pitchFamily="49" charset="-122"/>
                      </a:endParaRP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zh-CN" altLang="en-US" sz="1700" b="0" i="0" u="none" strike="noStrike" cap="none" normalizeH="0" baseline="0" dirty="0">
                          <a:ln>
                            <a:noFill/>
                          </a:ln>
                          <a:solidFill>
                            <a:schemeClr val="tx1"/>
                          </a:solidFill>
                          <a:effectLst/>
                          <a:latin typeface="Tahoma" pitchFamily="34" charset="0"/>
                          <a:ea typeface="SimHei" panose="02010609060101010101" pitchFamily="49" charset="-122"/>
                        </a:rPr>
                        <a:t>寄存器</a:t>
                      </a:r>
                      <a:endPar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endParaRP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L1 Cache</a:t>
                      </a:r>
                    </a:p>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Instruction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L1 Cache</a:t>
                      </a:r>
                    </a:p>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data</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L2</a:t>
                      </a:r>
                      <a:r>
                        <a:rPr kumimoji="0" lang="zh-CN" altLang="en-US" sz="1700" b="0" i="0" u="none" strike="noStrike" cap="none" normalizeH="0" baseline="0" dirty="0">
                          <a:ln>
                            <a:noFill/>
                          </a:ln>
                          <a:solidFill>
                            <a:schemeClr val="tx1"/>
                          </a:solidFill>
                          <a:effectLst/>
                          <a:latin typeface="Tahoma" pitchFamily="34" charset="0"/>
                          <a:ea typeface="SimHei" panose="02010609060101010101" pitchFamily="49" charset="-122"/>
                        </a:rPr>
                        <a:t> </a:t>
                      </a: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Cache</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defRPr/>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L3</a:t>
                      </a:r>
                      <a:r>
                        <a:rPr kumimoji="0" lang="zh-CN" altLang="en-US" sz="1700" b="0" i="0" u="none" strike="noStrike" cap="none" normalizeH="0" baseline="0" dirty="0">
                          <a:ln>
                            <a:noFill/>
                          </a:ln>
                          <a:solidFill>
                            <a:schemeClr val="tx1"/>
                          </a:solidFill>
                          <a:effectLst/>
                          <a:latin typeface="Tahoma" pitchFamily="34" charset="0"/>
                          <a:ea typeface="SimHei" panose="02010609060101010101" pitchFamily="49" charset="-122"/>
                        </a:rPr>
                        <a:t> </a:t>
                      </a: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Cache</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a:t>
                      </a:r>
                      <a:r>
                        <a:rPr kumimoji="0" lang="zh-CN" altLang="en-US" sz="1700" b="0" i="0" u="none" strike="noStrike" cap="none" normalizeH="0" baseline="0" dirty="0">
                          <a:ln>
                            <a:noFill/>
                          </a:ln>
                          <a:solidFill>
                            <a:schemeClr val="tx1"/>
                          </a:solidFill>
                          <a:effectLst/>
                          <a:latin typeface="Tahoma" pitchFamily="34" charset="0"/>
                          <a:ea typeface="SimHei" panose="02010609060101010101" pitchFamily="49" charset="-122"/>
                        </a:rPr>
                        <a:t>主存储器</a:t>
                      </a:r>
                      <a:endPar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endParaRP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30000" dirty="0">
                          <a:ln>
                            <a:noFill/>
                          </a:ln>
                          <a:solidFill>
                            <a:schemeClr val="tx1"/>
                          </a:solidFill>
                          <a:effectLst/>
                          <a:latin typeface="Tahoma" pitchFamily="34" charset="0"/>
                          <a:ea typeface="SimHei" panose="02010609060101010101" pitchFamily="49" charset="-122"/>
                        </a:rPr>
                        <a:t>#</a:t>
                      </a:r>
                      <a:r>
                        <a:rPr kumimoji="0" lang="zh-CN" altLang="en-US" sz="1700" b="0" i="0" u="none" strike="noStrike" cap="none" normalizeH="0" baseline="0" dirty="0">
                          <a:ln>
                            <a:noFill/>
                          </a:ln>
                          <a:solidFill>
                            <a:schemeClr val="tx1"/>
                          </a:solidFill>
                          <a:effectLst/>
                          <a:latin typeface="Tahoma" pitchFamily="34" charset="0"/>
                          <a:ea typeface="SimHei" panose="02010609060101010101" pitchFamily="49" charset="-122"/>
                        </a:rPr>
                        <a:t>硬盘</a:t>
                      </a:r>
                      <a:endPar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endParaRP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170">
                <a:tc>
                  <a:txBody>
                    <a:bodyPr/>
                    <a:lstStyle/>
                    <a:p>
                      <a:pPr marL="0" marR="0" lvl="0" indent="0" algn="ctr" defTabSz="1009650" rtl="0" eaLnBrk="1" fontAlgn="base" latinLnBrk="0" hangingPunct="1">
                        <a:lnSpc>
                          <a:spcPts val="187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Size</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1KB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32KB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48KB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4MB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defRPr/>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36MB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32GB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FF0000"/>
                          </a:solidFill>
                          <a:effectLst/>
                          <a:latin typeface="Tahoma" pitchFamily="34" charset="0"/>
                          <a:ea typeface="SimHei" panose="02010609060101010101" pitchFamily="49" charset="-122"/>
                        </a:rPr>
                        <a:t>&gt;1TB</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1295">
                <a:tc>
                  <a:txBody>
                    <a:bodyPr/>
                    <a:lstStyle/>
                    <a:p>
                      <a:pPr marL="0" marR="0" lvl="0" indent="0" algn="ctr" defTabSz="1009650" rtl="0" eaLnBrk="1" fontAlgn="base" latinLnBrk="0" hangingPunct="1">
                        <a:lnSpc>
                          <a:spcPts val="2538"/>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Latency</a:t>
                      </a:r>
                    </a:p>
                    <a:p>
                      <a:pPr marL="0" marR="0" lvl="0" indent="0" algn="ctr" defTabSz="1009650" rtl="0" eaLnBrk="1" fontAlgn="base" latinLnBrk="0" hangingPunct="1">
                        <a:lnSpc>
                          <a:spcPts val="2538"/>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chemeClr val="tx1"/>
                          </a:solidFill>
                          <a:effectLst/>
                          <a:latin typeface="Tahoma" pitchFamily="34" charset="0"/>
                          <a:ea typeface="SimHei" panose="02010609060101010101" pitchFamily="49" charset="-122"/>
                        </a:rPr>
                        <a:t>(sec)</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FF0000"/>
                          </a:solidFill>
                          <a:effectLst/>
                          <a:latin typeface="Tahoma" pitchFamily="34" charset="0"/>
                          <a:ea typeface="SimHei" panose="02010609060101010101" pitchFamily="49" charset="-122"/>
                        </a:rPr>
                        <a:t>0.3n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0.9n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zh-CN" altLang="en-US" sz="1700" b="0" i="0" u="none" strike="noStrike" cap="none" normalizeH="0" baseline="0" dirty="0">
                          <a:ln>
                            <a:noFill/>
                          </a:ln>
                          <a:solidFill>
                            <a:srgbClr val="053DE8"/>
                          </a:solidFill>
                          <a:effectLst/>
                          <a:latin typeface="Tahoma" pitchFamily="34" charset="0"/>
                          <a:ea typeface="SimHei" panose="02010609060101010101" pitchFamily="49" charset="-122"/>
                        </a:rPr>
                        <a:t> </a:t>
                      </a: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0.9n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3.6n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defRPr/>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16.1n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325"/>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67.6n</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tc>
                  <a:txBody>
                    <a:bodyPr/>
                    <a:lstStyle/>
                    <a:p>
                      <a:pPr marL="0" marR="0" lvl="0" indent="0" algn="ctr" defTabSz="1009650" rtl="0" eaLnBrk="1" fontAlgn="base" latinLnBrk="0" hangingPunct="1">
                        <a:lnSpc>
                          <a:spcPts val="2213"/>
                        </a:lnSpc>
                        <a:spcBef>
                          <a:spcPct val="20000"/>
                        </a:spcBef>
                        <a:spcAft>
                          <a:spcPct val="0"/>
                        </a:spcAft>
                        <a:buClr>
                          <a:schemeClr val="folHlink"/>
                        </a:buClr>
                        <a:buSzPct val="60000"/>
                        <a:buFont typeface="Wingdings" pitchFamily="2" charset="2"/>
                        <a:buNone/>
                        <a:tabLst>
                          <a:tab pos="658813" algn="l"/>
                          <a:tab pos="1668463" algn="l"/>
                          <a:tab pos="2676525" algn="l"/>
                          <a:tab pos="3684588" algn="l"/>
                          <a:tab pos="4699000" algn="l"/>
                          <a:tab pos="5708650" algn="l"/>
                          <a:tab pos="6718300" algn="l"/>
                          <a:tab pos="7726363" algn="l"/>
                        </a:tabLst>
                      </a:pPr>
                      <a:r>
                        <a:rPr kumimoji="0" lang="en-US" altLang="zh-CN" sz="1700" b="0" i="0" u="none" strike="noStrike" cap="none" normalizeH="0" baseline="0" dirty="0">
                          <a:ln>
                            <a:noFill/>
                          </a:ln>
                          <a:solidFill>
                            <a:srgbClr val="053DE8"/>
                          </a:solidFill>
                          <a:effectLst/>
                          <a:latin typeface="Tahoma" pitchFamily="34" charset="0"/>
                          <a:ea typeface="SimHei" panose="02010609060101010101" pitchFamily="49" charset="-122"/>
                        </a:rPr>
                        <a:t>12m/0.12m</a:t>
                      </a:r>
                    </a:p>
                  </a:txBody>
                  <a:tcPr marL="94854" marR="94854" marT="47427" marB="47427" anchor="ctr" horzOverflow="overflow">
                    <a:lnL w="50800" cap="flat" cmpd="sng" algn="ctr">
                      <a:solidFill>
                        <a:srgbClr val="FFCC00"/>
                      </a:solidFill>
                      <a:prstDash val="solid"/>
                      <a:round/>
                      <a:headEnd type="none" w="med" len="med"/>
                      <a:tailEnd type="none" w="med" len="med"/>
                    </a:lnL>
                    <a:lnR w="50800" cap="flat" cmpd="sng" algn="ctr">
                      <a:solidFill>
                        <a:srgbClr val="FFCC00"/>
                      </a:solidFill>
                      <a:prstDash val="solid"/>
                      <a:round/>
                      <a:headEnd type="none" w="med" len="med"/>
                      <a:tailEnd type="none" w="med" len="med"/>
                    </a:lnR>
                    <a:lnT w="50800" cap="flat" cmpd="sng" algn="ctr">
                      <a:solidFill>
                        <a:srgbClr val="FFCC00"/>
                      </a:solidFill>
                      <a:prstDash val="solid"/>
                      <a:round/>
                      <a:headEnd type="none" w="med" len="med"/>
                      <a:tailEnd type="none" w="med" len="med"/>
                    </a:lnT>
                    <a:lnB w="50800" cap="flat" cmpd="sng" algn="ctr">
                      <a:solidFill>
                        <a:srgbClr val="FFCC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矩形 6">
            <a:extLst>
              <a:ext uri="{FF2B5EF4-FFF2-40B4-BE49-F238E27FC236}">
                <a16:creationId xmlns:a16="http://schemas.microsoft.com/office/drawing/2014/main" id="{F38C1C22-0CF6-EB65-F595-CFA7BEDF97E3}"/>
              </a:ext>
            </a:extLst>
          </p:cNvPr>
          <p:cNvSpPr/>
          <p:nvPr/>
        </p:nvSpPr>
        <p:spPr>
          <a:xfrm>
            <a:off x="188649" y="3579000"/>
            <a:ext cx="6188246" cy="663771"/>
          </a:xfrm>
          <a:prstGeom prst="rect">
            <a:avLst/>
          </a:prstGeom>
        </p:spPr>
        <p:txBody>
          <a:bodyPr wrap="square" lIns="90000">
            <a:spAutoFit/>
          </a:bodyPr>
          <a:lstStyle/>
          <a:p>
            <a:pPr marL="514350" marR="0" lvl="0" indent="-457200" defTabSz="914400" rtl="0" eaLnBrk="1" fontAlgn="base" latinLnBrk="0" hangingPunct="1">
              <a:lnSpc>
                <a:spcPct val="80000"/>
              </a:lnSpc>
              <a:spcBef>
                <a:spcPts val="1000"/>
              </a:spcBef>
              <a:spcAft>
                <a:spcPct val="0"/>
              </a:spcAft>
              <a:buClrTx/>
              <a:buSzTx/>
              <a:buFontTx/>
              <a:buNone/>
              <a:tabLst/>
              <a:defRPr/>
            </a:pPr>
            <a:r>
              <a:rPr kumimoji="1"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Intel</a:t>
            </a:r>
            <a:r>
              <a:rPr kumimoji="1"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 </a:t>
            </a:r>
            <a:r>
              <a:rPr kumimoji="1"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i9-14900K</a:t>
            </a:r>
            <a:r>
              <a:rPr kumimoji="1"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单</a:t>
            </a:r>
            <a:r>
              <a:rPr kumimoji="1"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P</a:t>
            </a:r>
            <a:r>
              <a:rPr kumimoji="1"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核</a:t>
            </a:r>
            <a:r>
              <a:rPr kumimoji="1" lang="en-US" altLang="zh-CN" sz="1800" u="none" strike="noStrike" kern="1200" cap="none" spc="0" normalizeH="0" baseline="0" dirty="0">
                <a:ln>
                  <a:noFill/>
                </a:ln>
                <a:solidFill>
                  <a:srgbClr val="000000"/>
                </a:solidFill>
                <a:effectLst/>
                <a:uLnTx/>
                <a:uFillTx/>
                <a:latin typeface="Arial" charset="0"/>
                <a:ea typeface="SimHei" panose="02010609060101010101" pitchFamily="49" charset="-122"/>
                <a:cs typeface="+mn-cs"/>
              </a:rPr>
              <a:t>, </a:t>
            </a:r>
            <a:r>
              <a:rPr kumimoji="1" lang="en-US" altLang="zh-CN"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*DDR5-6000 SDRAM, </a:t>
            </a:r>
            <a:r>
              <a:rPr kumimoji="1" lang="en-US" altLang="zh-CN" sz="2000" baseline="30000" dirty="0">
                <a:solidFill>
                  <a:srgbClr val="000000"/>
                </a:solidFill>
                <a:ea typeface="SimHei" panose="02010609060101010101" pitchFamily="49" charset="-122"/>
              </a:rPr>
              <a:t>#</a:t>
            </a:r>
            <a:r>
              <a:rPr kumimoji="1" lang="en-US" altLang="zh-CN" dirty="0">
                <a:solidFill>
                  <a:srgbClr val="000000"/>
                </a:solidFill>
                <a:ea typeface="SimHei" panose="02010609060101010101" pitchFamily="49" charset="-122"/>
              </a:rPr>
              <a:t>HDD/SSD</a:t>
            </a:r>
          </a:p>
          <a:p>
            <a:pPr marL="514350" marR="0" lvl="0" indent="-457200" defTabSz="914400" rtl="0" eaLnBrk="1" fontAlgn="base" latinLnBrk="0" hangingPunct="1">
              <a:lnSpc>
                <a:spcPct val="80000"/>
              </a:lnSpc>
              <a:spcBef>
                <a:spcPts val="1000"/>
              </a:spcBef>
              <a:spcAft>
                <a:spcPct val="0"/>
              </a:spcAft>
              <a:buClrTx/>
              <a:buSzTx/>
              <a:buFontTx/>
              <a:buNone/>
              <a:tabLst/>
              <a:defRPr/>
            </a:pPr>
            <a:r>
              <a:rPr kumimoji="1" lang="en-US" altLang="zh-CN" sz="1800" i="1"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Evaluated on AIDA64</a:t>
            </a:r>
          </a:p>
        </p:txBody>
      </p:sp>
    </p:spTree>
    <p:extLst>
      <p:ext uri="{BB962C8B-B14F-4D97-AF65-F5344CB8AC3E}">
        <p14:creationId xmlns:p14="http://schemas.microsoft.com/office/powerpoint/2010/main" val="3428964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存储系统基础：单一存储器的困境</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13</a:t>
            </a:fld>
            <a:endParaRPr lang="en-US" altLang="zh-CN"/>
          </a:p>
        </p:txBody>
      </p:sp>
      <p:sp>
        <p:nvSpPr>
          <p:cNvPr id="4" name="内容占位符 2">
            <a:extLst>
              <a:ext uri="{FF2B5EF4-FFF2-40B4-BE49-F238E27FC236}">
                <a16:creationId xmlns:a16="http://schemas.microsoft.com/office/drawing/2014/main" id="{CA1552BA-4327-A147-B565-E435AE2EEDCF}"/>
              </a:ext>
            </a:extLst>
          </p:cNvPr>
          <p:cNvSpPr>
            <a:spLocks noGrp="1"/>
          </p:cNvSpPr>
          <p:nvPr>
            <p:ph idx="1"/>
          </p:nvPr>
        </p:nvSpPr>
        <p:spPr>
          <a:xfrm>
            <a:off x="457200" y="1551432"/>
            <a:ext cx="8229600" cy="4693793"/>
          </a:xfrm>
        </p:spPr>
        <p:txBody>
          <a:bodyPr/>
          <a:lstStyle/>
          <a:p>
            <a:pPr marL="514350" indent="-457200">
              <a:spcBef>
                <a:spcPts val="1000"/>
              </a:spcBef>
            </a:pPr>
            <a:r>
              <a:rPr lang="zh-CN" altLang="en-US" dirty="0"/>
              <a:t> </a:t>
            </a:r>
            <a:r>
              <a:rPr lang="zh-CN" altLang="en-US" dirty="0">
                <a:solidFill>
                  <a:srgbClr val="0432FF"/>
                </a:solidFill>
              </a:rPr>
              <a:t>理想</a:t>
            </a:r>
            <a:r>
              <a:rPr lang="zh-CN" altLang="en-US" dirty="0"/>
              <a:t>与</a:t>
            </a:r>
            <a:r>
              <a:rPr lang="zh-CN" altLang="en-US" dirty="0">
                <a:solidFill>
                  <a:srgbClr val="0432FF"/>
                </a:solidFill>
              </a:rPr>
              <a:t>现实</a:t>
            </a:r>
            <a:endParaRPr kumimoji="1" lang="en-US" altLang="zh-CN" dirty="0">
              <a:solidFill>
                <a:srgbClr val="0432FF"/>
              </a:solidFill>
            </a:endParaRPr>
          </a:p>
          <a:p>
            <a:pPr marL="914400" lvl="1" indent="-457200">
              <a:spcBef>
                <a:spcPts val="1000"/>
              </a:spcBef>
            </a:pPr>
            <a:r>
              <a:rPr lang="zh-CN" altLang="en-US" sz="2400" dirty="0"/>
              <a:t>现代微处理器能以很高的速度执行指令，因此必须为其匹配一个容量大、速度快的存储系统才能发挥出处理器的性能优势</a:t>
            </a:r>
            <a:endParaRPr lang="en-US" altLang="zh-CN" sz="2400" dirty="0"/>
          </a:p>
          <a:p>
            <a:pPr marL="1314450" lvl="2" indent="-457200">
              <a:spcBef>
                <a:spcPts val="1000"/>
              </a:spcBef>
              <a:buFont typeface="Wingdings" pitchFamily="2" charset="2"/>
              <a:buChar char="Ø"/>
            </a:pPr>
            <a:r>
              <a:rPr lang="zh-CN" altLang="en-US" sz="2000" dirty="0"/>
              <a:t>若容量太小，就不能装载足够的程序以保持处理器高速运行</a:t>
            </a:r>
          </a:p>
          <a:p>
            <a:pPr marL="1314450" lvl="2" indent="-457200">
              <a:spcBef>
                <a:spcPts val="1000"/>
              </a:spcBef>
              <a:buFont typeface="Wingdings" pitchFamily="2" charset="2"/>
              <a:buChar char="Ø"/>
            </a:pPr>
            <a:r>
              <a:rPr lang="zh-CN" altLang="en-US" sz="2000" dirty="0"/>
              <a:t>若速度太慢，就不能及时地为处理器提供指令和数据</a:t>
            </a:r>
          </a:p>
          <a:p>
            <a:pPr marL="1314450" lvl="2" indent="-457200">
              <a:spcBef>
                <a:spcPts val="1000"/>
              </a:spcBef>
              <a:buFont typeface="Wingdings" pitchFamily="2" charset="2"/>
              <a:buChar char="Ø"/>
            </a:pPr>
            <a:r>
              <a:rPr lang="zh-CN" altLang="en-US" sz="2000" dirty="0"/>
              <a:t>成本也是一个重要的因素</a:t>
            </a:r>
            <a:endParaRPr lang="en-US" altLang="zh-CN" sz="2000" dirty="0"/>
          </a:p>
          <a:p>
            <a:pPr marL="914400" lvl="1" indent="-457200">
              <a:spcBef>
                <a:spcPts val="1000"/>
              </a:spcBef>
            </a:pPr>
            <a:r>
              <a:rPr lang="zh-CN" altLang="en-US" sz="2400" dirty="0">
                <a:solidFill>
                  <a:srgbClr val="7030A0"/>
                </a:solidFill>
              </a:rPr>
              <a:t>不幸的是，存储器容量、速度、成本、可靠性等指标往往是互相矛盾的！！</a:t>
            </a:r>
          </a:p>
        </p:txBody>
      </p:sp>
    </p:spTree>
    <p:extLst>
      <p:ext uri="{BB962C8B-B14F-4D97-AF65-F5344CB8AC3E}">
        <p14:creationId xmlns:p14="http://schemas.microsoft.com/office/powerpoint/2010/main" val="3975323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35E49-59FE-9344-8177-7018BA9668F6}"/>
              </a:ext>
            </a:extLst>
          </p:cNvPr>
          <p:cNvSpPr>
            <a:spLocks noGrp="1"/>
          </p:cNvSpPr>
          <p:nvPr>
            <p:ph type="title"/>
          </p:nvPr>
        </p:nvSpPr>
        <p:spPr>
          <a:xfrm>
            <a:off x="263769" y="136525"/>
            <a:ext cx="8616462" cy="1143000"/>
          </a:xfrm>
        </p:spPr>
        <p:txBody>
          <a:bodyPr/>
          <a:lstStyle/>
          <a:p>
            <a:r>
              <a:rPr lang="en-CN" dirty="0">
                <a:latin typeface="Arial" panose="020B0604020202020204" pitchFamily="34" charset="0"/>
                <a:ea typeface="SimHei" panose="02010609060101010101" pitchFamily="49" charset="-122"/>
                <a:cs typeface="Arial" panose="020B0604020202020204" pitchFamily="34" charset="0"/>
              </a:rPr>
              <a:t>理想</a:t>
            </a:r>
            <a:r>
              <a:rPr lang="zh-CN" altLang="en-US" dirty="0">
                <a:latin typeface="Arial" panose="020B0604020202020204" pitchFamily="34" charset="0"/>
                <a:ea typeface="SimHei" panose="02010609060101010101" pitchFamily="49" charset="-122"/>
                <a:cs typeface="Arial" panose="020B0604020202020204" pitchFamily="34" charset="0"/>
              </a:rPr>
              <a:t> </a:t>
            </a:r>
            <a:r>
              <a:rPr lang="en-CN" dirty="0">
                <a:latin typeface="Arial" panose="020B0604020202020204" pitchFamily="34" charset="0"/>
                <a:ea typeface="SimHei" panose="02010609060101010101" pitchFamily="49" charset="-122"/>
                <a:cs typeface="Arial" panose="020B0604020202020204" pitchFamily="34" charset="0"/>
              </a:rPr>
              <a:t>vs</a:t>
            </a:r>
            <a:r>
              <a:rPr lang="zh-CN" altLang="en-US" dirty="0">
                <a:latin typeface="Arial" panose="020B0604020202020204" pitchFamily="34" charset="0"/>
                <a:ea typeface="SimHei" panose="02010609060101010101" pitchFamily="49" charset="-122"/>
                <a:cs typeface="Arial" panose="020B0604020202020204" pitchFamily="34" charset="0"/>
              </a:rPr>
              <a:t> </a:t>
            </a:r>
            <a:r>
              <a:rPr lang="en-CN" dirty="0">
                <a:latin typeface="Arial" panose="020B0604020202020204" pitchFamily="34" charset="0"/>
                <a:ea typeface="SimHei" panose="02010609060101010101" pitchFamily="49" charset="-122"/>
                <a:cs typeface="Arial" panose="020B0604020202020204" pitchFamily="34" charset="0"/>
              </a:rPr>
              <a:t>现实</a:t>
            </a:r>
            <a:r>
              <a:rPr lang="zh-CN" altLang="en-US" dirty="0">
                <a:latin typeface="Arial" panose="020B0604020202020204" pitchFamily="34" charset="0"/>
                <a:ea typeface="SimHei" panose="02010609060101010101" pitchFamily="49" charset="-122"/>
                <a:cs typeface="Arial" panose="020B0604020202020204" pitchFamily="34" charset="0"/>
              </a:rPr>
              <a:t>：直面挑战 </a:t>
            </a:r>
            <a:r>
              <a:rPr lang="en-US" altLang="zh-CN" dirty="0">
                <a:latin typeface="Arial" panose="020B0604020202020204" pitchFamily="34" charset="0"/>
                <a:ea typeface="SimHei" panose="02010609060101010101" pitchFamily="49" charset="-122"/>
                <a:cs typeface="Arial" panose="020B0604020202020204" pitchFamily="34" charset="0"/>
              </a:rPr>
              <a:t>&amp;</a:t>
            </a:r>
            <a:r>
              <a:rPr lang="zh-CN" altLang="en-US" dirty="0">
                <a:latin typeface="Arial" panose="020B0604020202020204" pitchFamily="34" charset="0"/>
                <a:ea typeface="SimHei" panose="02010609060101010101" pitchFamily="49" charset="-122"/>
                <a:cs typeface="Arial" panose="020B0604020202020204" pitchFamily="34" charset="0"/>
              </a:rPr>
              <a:t> 协同创新</a:t>
            </a:r>
            <a:endParaRPr lang="en-CN" dirty="0">
              <a:latin typeface="Arial" panose="020B0604020202020204" pitchFamily="34" charset="0"/>
              <a:ea typeface="SimHei" panose="02010609060101010101" pitchFamily="49" charset="-122"/>
              <a:cs typeface="Arial" panose="020B0604020202020204" pitchFamily="34" charset="0"/>
            </a:endParaRPr>
          </a:p>
        </p:txBody>
      </p:sp>
      <p:sp>
        <p:nvSpPr>
          <p:cNvPr id="3" name="Content Placeholder 2">
            <a:extLst>
              <a:ext uri="{FF2B5EF4-FFF2-40B4-BE49-F238E27FC236}">
                <a16:creationId xmlns:a16="http://schemas.microsoft.com/office/drawing/2014/main" id="{E4CFE09B-28D3-344E-9293-1086B56846F8}"/>
              </a:ext>
            </a:extLst>
          </p:cNvPr>
          <p:cNvSpPr>
            <a:spLocks noGrp="1"/>
          </p:cNvSpPr>
          <p:nvPr>
            <p:ph idx="1"/>
          </p:nvPr>
        </p:nvSpPr>
        <p:spPr/>
        <p:txBody>
          <a:bodyPr/>
          <a:lstStyle/>
          <a:p>
            <a:r>
              <a:rPr lang="en-CN" dirty="0">
                <a:latin typeface="Arial" panose="020B0604020202020204" pitchFamily="34" charset="0"/>
                <a:ea typeface="SimHei" panose="02010609060101010101" pitchFamily="49" charset="-122"/>
                <a:cs typeface="Arial" panose="020B0604020202020204" pitchFamily="34" charset="0"/>
              </a:rPr>
              <a:t>SRAM快</a:t>
            </a:r>
            <a:r>
              <a:rPr lang="zh-CN" altLang="en-US" dirty="0">
                <a:latin typeface="Arial" panose="020B0604020202020204" pitchFamily="34" charset="0"/>
                <a:ea typeface="SimHei" panose="02010609060101010101" pitchFamily="49" charset="-122"/>
                <a:cs typeface="Arial" panose="020B0604020202020204" pitchFamily="34" charset="0"/>
              </a:rPr>
              <a:t>，容量小，成本高</a:t>
            </a:r>
            <a:endParaRPr lang="en-US" dirty="0">
              <a:latin typeface="Arial" panose="020B0604020202020204" pitchFamily="34" charset="0"/>
              <a:ea typeface="SimHei" panose="02010609060101010101" pitchFamily="49" charset="-122"/>
              <a:cs typeface="Arial" panose="020B0604020202020204" pitchFamily="34" charset="0"/>
            </a:endParaRPr>
          </a:p>
          <a:p>
            <a:r>
              <a:rPr lang="en-US" altLang="zh-CN" dirty="0">
                <a:latin typeface="Arial" panose="020B0604020202020204" pitchFamily="34" charset="0"/>
                <a:ea typeface="SimHei" panose="02010609060101010101" pitchFamily="49" charset="-122"/>
                <a:cs typeface="Arial" panose="020B0604020202020204" pitchFamily="34" charset="0"/>
              </a:rPr>
              <a:t>DRAM</a:t>
            </a:r>
            <a:r>
              <a:rPr lang="zh-CN" altLang="en-US" dirty="0">
                <a:latin typeface="Arial" panose="020B0604020202020204" pitchFamily="34" charset="0"/>
                <a:ea typeface="SimHei" panose="02010609060101010101" pitchFamily="49" charset="-122"/>
                <a:cs typeface="Arial" panose="020B0604020202020204" pitchFamily="34" charset="0"/>
              </a:rPr>
              <a:t>慢，容量大，成本低</a:t>
            </a:r>
            <a:endParaRPr lang="en-CN" dirty="0">
              <a:latin typeface="Arial" panose="020B0604020202020204" pitchFamily="34" charset="0"/>
              <a:ea typeface="SimHei" panose="02010609060101010101" pitchFamily="49" charset="-122"/>
              <a:cs typeface="Arial" panose="020B0604020202020204" pitchFamily="34" charset="0"/>
            </a:endParaRPr>
          </a:p>
        </p:txBody>
      </p:sp>
      <p:sp>
        <p:nvSpPr>
          <p:cNvPr id="4" name="Slide Number Placeholder 3">
            <a:extLst>
              <a:ext uri="{FF2B5EF4-FFF2-40B4-BE49-F238E27FC236}">
                <a16:creationId xmlns:a16="http://schemas.microsoft.com/office/drawing/2014/main" id="{D7BCE141-5F7A-CB41-AD47-6D35B7206BA4}"/>
              </a:ext>
            </a:extLst>
          </p:cNvPr>
          <p:cNvSpPr>
            <a:spLocks noGrp="1"/>
          </p:cNvSpPr>
          <p:nvPr>
            <p:ph type="sldNum" sz="quarter" idx="12"/>
          </p:nvPr>
        </p:nvSpPr>
        <p:spPr/>
        <p:txBody>
          <a:bodyPr/>
          <a:lstStyle/>
          <a:p>
            <a:fld id="{176ACFD1-D213-4B9C-817B-45486DBF105A}" type="slidenum">
              <a:rPr lang="en-US" smtClean="0">
                <a:solidFill>
                  <a:prstClr val="black"/>
                </a:solidFill>
                <a:latin typeface="Arial" panose="020B0604020202020204" pitchFamily="34" charset="0"/>
                <a:cs typeface="Arial" panose="020B0604020202020204" pitchFamily="34" charset="0"/>
              </a:rPr>
              <a:pPr/>
              <a:t>14</a:t>
            </a:fld>
            <a:endParaRPr lang="en-US">
              <a:solidFill>
                <a:prstClr val="black"/>
              </a:solidFill>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C665616-BF86-CB43-9EC6-7FC2D3977F3C}"/>
              </a:ext>
            </a:extLst>
          </p:cNvPr>
          <p:cNvSpPr/>
          <p:nvPr/>
        </p:nvSpPr>
        <p:spPr>
          <a:xfrm>
            <a:off x="536332" y="2839046"/>
            <a:ext cx="7930660" cy="461665"/>
          </a:xfrm>
          <a:prstGeom prst="rect">
            <a:avLst/>
          </a:prstGeom>
        </p:spPr>
        <p:txBody>
          <a:bodyPr wrap="square">
            <a:spAutoFit/>
          </a:bodyPr>
          <a:lstStyle/>
          <a:p>
            <a:pPr algn="ctr"/>
            <a:r>
              <a:rPr lang="zh-CN" altLang="en-US" sz="2400" b="1" dirty="0">
                <a:solidFill>
                  <a:srgbClr val="0432FF"/>
                </a:solidFill>
                <a:latin typeface="Arial" panose="020B0604020202020204" pitchFamily="34" charset="0"/>
                <a:ea typeface="SimHei" panose="02010609060101010101" pitchFamily="49" charset="-122"/>
                <a:cs typeface="Arial" panose="020B0604020202020204" pitchFamily="34" charset="0"/>
              </a:rPr>
              <a:t>是否可能实现一个又快又大又便宜的存储器？</a:t>
            </a:r>
            <a:endParaRPr lang="en-CN" sz="2400" b="1"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pic>
        <p:nvPicPr>
          <p:cNvPr id="8" name="Picture 2" descr="ele">
            <a:extLst>
              <a:ext uri="{FF2B5EF4-FFF2-40B4-BE49-F238E27FC236}">
                <a16:creationId xmlns:a16="http://schemas.microsoft.com/office/drawing/2014/main" id="{10D1646B-9FD8-3C49-B737-D679A8B6F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2922" y="3831781"/>
            <a:ext cx="1775771" cy="1914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43" descr="rabbit">
            <a:extLst>
              <a:ext uri="{FF2B5EF4-FFF2-40B4-BE49-F238E27FC236}">
                <a16:creationId xmlns:a16="http://schemas.microsoft.com/office/drawing/2014/main" id="{584D4183-BE50-454C-A10C-30BFBB24F4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301" y="4705808"/>
            <a:ext cx="1180231" cy="9916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图片 7" descr="img15.jpg">
            <a:extLst>
              <a:ext uri="{FF2B5EF4-FFF2-40B4-BE49-F238E27FC236}">
                <a16:creationId xmlns:a16="http://schemas.microsoft.com/office/drawing/2014/main" id="{B296A8F8-F912-7E49-A204-DED87C911D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42067" y="3629345"/>
            <a:ext cx="4959976" cy="3092130"/>
          </a:xfrm>
          <a:prstGeom prst="rect">
            <a:avLst/>
          </a:prstGeom>
        </p:spPr>
      </p:pic>
      <p:sp>
        <p:nvSpPr>
          <p:cNvPr id="11" name="矩形 8">
            <a:extLst>
              <a:ext uri="{FF2B5EF4-FFF2-40B4-BE49-F238E27FC236}">
                <a16:creationId xmlns:a16="http://schemas.microsoft.com/office/drawing/2014/main" id="{178B7940-2DD2-3A45-8A88-CF8BA7D5CF96}"/>
              </a:ext>
            </a:extLst>
          </p:cNvPr>
          <p:cNvSpPr/>
          <p:nvPr/>
        </p:nvSpPr>
        <p:spPr>
          <a:xfrm>
            <a:off x="7420731" y="5833385"/>
            <a:ext cx="864339" cy="369332"/>
          </a:xfrm>
          <a:prstGeom prst="rect">
            <a:avLst/>
          </a:prstGeom>
        </p:spPr>
        <p:txBody>
          <a:bodyPr wrap="none">
            <a:spAutoFit/>
          </a:bodyPr>
          <a:lstStyle/>
          <a:p>
            <a:r>
              <a:rPr lang="en-US" altLang="zh-CN" dirty="0">
                <a:latin typeface="Arial" panose="020B0604020202020204" pitchFamily="34" charset="0"/>
                <a:ea typeface="SimHei" panose="02010609060101010101" pitchFamily="49" charset="-122"/>
                <a:cs typeface="Arial" panose="020B0604020202020204" pitchFamily="34" charset="0"/>
              </a:rPr>
              <a:t>DRAM</a:t>
            </a:r>
            <a:endParaRPr lang="zh-CN" altLang="en-US" dirty="0">
              <a:latin typeface="Arial" panose="020B0604020202020204" pitchFamily="34" charset="0"/>
              <a:ea typeface="SimHei" panose="02010609060101010101" pitchFamily="49" charset="-122"/>
              <a:cs typeface="Arial" panose="020B0604020202020204" pitchFamily="34" charset="0"/>
            </a:endParaRPr>
          </a:p>
        </p:txBody>
      </p:sp>
      <p:sp>
        <p:nvSpPr>
          <p:cNvPr id="12" name="矩形 9">
            <a:extLst>
              <a:ext uri="{FF2B5EF4-FFF2-40B4-BE49-F238E27FC236}">
                <a16:creationId xmlns:a16="http://schemas.microsoft.com/office/drawing/2014/main" id="{BD70A96C-0028-674E-BBC6-80AB9FB30581}"/>
              </a:ext>
            </a:extLst>
          </p:cNvPr>
          <p:cNvSpPr/>
          <p:nvPr/>
        </p:nvSpPr>
        <p:spPr>
          <a:xfrm>
            <a:off x="336660" y="5833385"/>
            <a:ext cx="851515" cy="369332"/>
          </a:xfrm>
          <a:prstGeom prst="rect">
            <a:avLst/>
          </a:prstGeom>
        </p:spPr>
        <p:txBody>
          <a:bodyPr wrap="none">
            <a:spAutoFit/>
          </a:bodyPr>
          <a:lstStyle/>
          <a:p>
            <a:r>
              <a:rPr lang="en-US" altLang="zh-CN" dirty="0">
                <a:latin typeface="Arial" panose="020B0604020202020204" pitchFamily="34" charset="0"/>
                <a:ea typeface="SimHei" panose="02010609060101010101" pitchFamily="49" charset="-122"/>
                <a:cs typeface="Arial" panose="020B0604020202020204" pitchFamily="34" charset="0"/>
              </a:rPr>
              <a:t>SRAM</a:t>
            </a:r>
            <a:endParaRPr lang="zh-CN" altLang="en-US" dirty="0">
              <a:latin typeface="Arial" panose="020B0604020202020204" pitchFamily="34" charset="0"/>
              <a:ea typeface="SimHei" panose="02010609060101010101" pitchFamily="49" charset="-122"/>
              <a:cs typeface="Arial" panose="020B0604020202020204" pitchFamily="34" charset="0"/>
            </a:endParaRPr>
          </a:p>
        </p:txBody>
      </p:sp>
      <p:sp>
        <p:nvSpPr>
          <p:cNvPr id="13" name="Oval 45">
            <a:extLst>
              <a:ext uri="{FF2B5EF4-FFF2-40B4-BE49-F238E27FC236}">
                <a16:creationId xmlns:a16="http://schemas.microsoft.com/office/drawing/2014/main" id="{E40A0D52-5CD5-6041-9EB4-9468263237BD}"/>
              </a:ext>
            </a:extLst>
          </p:cNvPr>
          <p:cNvSpPr>
            <a:spLocks noChangeArrowheads="1"/>
          </p:cNvSpPr>
          <p:nvPr/>
        </p:nvSpPr>
        <p:spPr bwMode="auto">
          <a:xfrm rot="18121382">
            <a:off x="1825521" y="4162831"/>
            <a:ext cx="2053990" cy="711265"/>
          </a:xfrm>
          <a:prstGeom prst="ellipse">
            <a:avLst/>
          </a:prstGeom>
          <a:noFill/>
          <a:ln w="25400">
            <a:solidFill>
              <a:srgbClr val="0432FF"/>
            </a:solidFill>
            <a:round/>
            <a:headEnd/>
            <a:tailEnd type="none" w="lg" len="lg"/>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01644" tIns="50823" rIns="101644" bIns="50823" anchor="ctr"/>
          <a:lstStyle/>
          <a:p>
            <a:pPr lvl="0" algn="ctr" defTabSz="1009650" eaLnBrk="0" hangingPunct="0"/>
            <a:endParaRPr lang="en-US" altLang="zh-CN" sz="3200"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sp>
        <p:nvSpPr>
          <p:cNvPr id="14" name="Oval 45">
            <a:extLst>
              <a:ext uri="{FF2B5EF4-FFF2-40B4-BE49-F238E27FC236}">
                <a16:creationId xmlns:a16="http://schemas.microsoft.com/office/drawing/2014/main" id="{2631657F-C233-AA43-8B73-FB1E87831206}"/>
              </a:ext>
            </a:extLst>
          </p:cNvPr>
          <p:cNvSpPr>
            <a:spLocks noChangeArrowheads="1"/>
          </p:cNvSpPr>
          <p:nvPr/>
        </p:nvSpPr>
        <p:spPr bwMode="auto">
          <a:xfrm rot="16812798">
            <a:off x="2487453" y="4735960"/>
            <a:ext cx="1859015" cy="640582"/>
          </a:xfrm>
          <a:prstGeom prst="ellipse">
            <a:avLst/>
          </a:prstGeom>
          <a:noFill/>
          <a:ln w="25400">
            <a:solidFill>
              <a:srgbClr val="0432FF"/>
            </a:solidFill>
            <a:round/>
            <a:headEnd/>
            <a:tailEnd type="none" w="lg" len="lg"/>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01644" tIns="50823" rIns="101644" bIns="50823" anchor="ctr"/>
          <a:lstStyle/>
          <a:p>
            <a:pPr lvl="0" algn="ctr" defTabSz="1009650" eaLnBrk="0" hangingPunct="0"/>
            <a:endParaRPr lang="en-US" altLang="zh-CN" sz="3200"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sp>
        <p:nvSpPr>
          <p:cNvPr id="15" name="Oval 45">
            <a:extLst>
              <a:ext uri="{FF2B5EF4-FFF2-40B4-BE49-F238E27FC236}">
                <a16:creationId xmlns:a16="http://schemas.microsoft.com/office/drawing/2014/main" id="{6CEB641B-D5BD-F943-88A8-5F3CBBCBC737}"/>
              </a:ext>
            </a:extLst>
          </p:cNvPr>
          <p:cNvSpPr>
            <a:spLocks noChangeArrowheads="1"/>
          </p:cNvSpPr>
          <p:nvPr/>
        </p:nvSpPr>
        <p:spPr bwMode="auto">
          <a:xfrm rot="16445611">
            <a:off x="5565916" y="5199232"/>
            <a:ext cx="1291378" cy="640582"/>
          </a:xfrm>
          <a:prstGeom prst="ellipse">
            <a:avLst/>
          </a:prstGeom>
          <a:noFill/>
          <a:ln w="25400">
            <a:solidFill>
              <a:srgbClr val="0432FF"/>
            </a:solidFill>
            <a:round/>
            <a:headEnd/>
            <a:tailEnd type="none" w="lg" len="lg"/>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01644" tIns="50823" rIns="101644" bIns="50823" anchor="ctr"/>
          <a:lstStyle/>
          <a:p>
            <a:pPr lvl="0" algn="ctr" defTabSz="1009650" eaLnBrk="0" hangingPunct="0"/>
            <a:endParaRPr lang="en-US" altLang="zh-CN" sz="3200"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sp>
        <p:nvSpPr>
          <p:cNvPr id="16" name="矩形 13">
            <a:extLst>
              <a:ext uri="{FF2B5EF4-FFF2-40B4-BE49-F238E27FC236}">
                <a16:creationId xmlns:a16="http://schemas.microsoft.com/office/drawing/2014/main" id="{C1B48C31-D662-044E-B46F-293BE7AD972A}"/>
              </a:ext>
            </a:extLst>
          </p:cNvPr>
          <p:cNvSpPr/>
          <p:nvPr/>
        </p:nvSpPr>
        <p:spPr>
          <a:xfrm>
            <a:off x="2232891" y="3713388"/>
            <a:ext cx="704039" cy="307777"/>
          </a:xfrm>
          <a:prstGeom prst="rect">
            <a:avLst/>
          </a:prstGeom>
        </p:spPr>
        <p:txBody>
          <a:bodyPr wrap="none">
            <a:spAutoFit/>
          </a:bodyPr>
          <a:lstStyle/>
          <a:p>
            <a:r>
              <a:rPr lang="en-US" altLang="zh-CN" sz="1400" dirty="0">
                <a:solidFill>
                  <a:srgbClr val="0432FF"/>
                </a:solidFill>
                <a:latin typeface="Arial" panose="020B0604020202020204" pitchFamily="34" charset="0"/>
                <a:ea typeface="SimHei" panose="02010609060101010101" pitchFamily="49" charset="-122"/>
                <a:cs typeface="Arial" panose="020B0604020202020204" pitchFamily="34" charset="0"/>
              </a:rPr>
              <a:t>SRAM</a:t>
            </a:r>
            <a:endParaRPr lang="zh-CN" altLang="en-US" sz="1400"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sp>
        <p:nvSpPr>
          <p:cNvPr id="17" name="矩形 14">
            <a:extLst>
              <a:ext uri="{FF2B5EF4-FFF2-40B4-BE49-F238E27FC236}">
                <a16:creationId xmlns:a16="http://schemas.microsoft.com/office/drawing/2014/main" id="{E88D1D82-32E8-4E49-BC61-B72B584837C2}"/>
              </a:ext>
            </a:extLst>
          </p:cNvPr>
          <p:cNvSpPr/>
          <p:nvPr/>
        </p:nvSpPr>
        <p:spPr>
          <a:xfrm>
            <a:off x="2936930" y="5945189"/>
            <a:ext cx="713657" cy="307777"/>
          </a:xfrm>
          <a:prstGeom prst="rect">
            <a:avLst/>
          </a:prstGeom>
        </p:spPr>
        <p:txBody>
          <a:bodyPr wrap="none">
            <a:spAutoFit/>
          </a:bodyPr>
          <a:lstStyle/>
          <a:p>
            <a:r>
              <a:rPr lang="en-US" altLang="zh-CN" sz="1400" dirty="0">
                <a:solidFill>
                  <a:srgbClr val="0432FF"/>
                </a:solidFill>
                <a:latin typeface="Arial" panose="020B0604020202020204" pitchFamily="34" charset="0"/>
                <a:ea typeface="SimHei" panose="02010609060101010101" pitchFamily="49" charset="-122"/>
                <a:cs typeface="Arial" panose="020B0604020202020204" pitchFamily="34" charset="0"/>
              </a:rPr>
              <a:t>DRAM</a:t>
            </a:r>
            <a:endParaRPr lang="zh-CN" altLang="en-US" sz="1400"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sp>
        <p:nvSpPr>
          <p:cNvPr id="18" name="矩形 15">
            <a:extLst>
              <a:ext uri="{FF2B5EF4-FFF2-40B4-BE49-F238E27FC236}">
                <a16:creationId xmlns:a16="http://schemas.microsoft.com/office/drawing/2014/main" id="{49BDDAB1-AB4E-DC44-833C-3BFC7D559641}"/>
              </a:ext>
            </a:extLst>
          </p:cNvPr>
          <p:cNvSpPr/>
          <p:nvPr/>
        </p:nvSpPr>
        <p:spPr>
          <a:xfrm>
            <a:off x="5403392" y="5937448"/>
            <a:ext cx="543739" cy="307777"/>
          </a:xfrm>
          <a:prstGeom prst="rect">
            <a:avLst/>
          </a:prstGeom>
        </p:spPr>
        <p:txBody>
          <a:bodyPr wrap="none">
            <a:spAutoFit/>
          </a:bodyPr>
          <a:lstStyle/>
          <a:p>
            <a:r>
              <a:rPr lang="zh-CN" altLang="en-US" sz="1400" dirty="0">
                <a:solidFill>
                  <a:srgbClr val="0432FF"/>
                </a:solidFill>
                <a:latin typeface="Arial" panose="020B0604020202020204" pitchFamily="34" charset="0"/>
                <a:ea typeface="SimHei" panose="02010609060101010101" pitchFamily="49" charset="-122"/>
                <a:cs typeface="Arial" panose="020B0604020202020204" pitchFamily="34" charset="0"/>
              </a:rPr>
              <a:t>硬盘</a:t>
            </a:r>
          </a:p>
        </p:txBody>
      </p:sp>
      <p:sp>
        <p:nvSpPr>
          <p:cNvPr id="19" name="矩形 16">
            <a:extLst>
              <a:ext uri="{FF2B5EF4-FFF2-40B4-BE49-F238E27FC236}">
                <a16:creationId xmlns:a16="http://schemas.microsoft.com/office/drawing/2014/main" id="{A7441F02-FCD0-D045-9D9E-9E67D56E0EA7}"/>
              </a:ext>
            </a:extLst>
          </p:cNvPr>
          <p:cNvSpPr/>
          <p:nvPr/>
        </p:nvSpPr>
        <p:spPr>
          <a:xfrm>
            <a:off x="4026278" y="6589689"/>
            <a:ext cx="1075615" cy="215444"/>
          </a:xfrm>
          <a:prstGeom prst="rect">
            <a:avLst/>
          </a:prstGeom>
          <a:solidFill>
            <a:schemeClr val="bg1"/>
          </a:solidFill>
        </p:spPr>
        <p:txBody>
          <a:bodyPr wrap="none" lIns="0" tIns="0" rIns="0" bIns="0">
            <a:spAutoFit/>
          </a:bodyPr>
          <a:lstStyle/>
          <a:p>
            <a:r>
              <a:rPr lang="zh-CN" altLang="en-US" sz="1400" dirty="0">
                <a:latin typeface="Arial" panose="020B0604020202020204" pitchFamily="34" charset="0"/>
                <a:ea typeface="SimHei" panose="02010609060101010101" pitchFamily="49" charset="-122"/>
                <a:cs typeface="Arial" panose="020B0604020202020204" pitchFamily="34" charset="0"/>
              </a:rPr>
              <a:t>访问时间 </a:t>
            </a:r>
            <a:r>
              <a:rPr lang="en-US" altLang="zh-CN" sz="1400" dirty="0">
                <a:latin typeface="Arial" panose="020B0604020202020204" pitchFamily="34" charset="0"/>
                <a:ea typeface="SimHei" panose="02010609060101010101" pitchFamily="49" charset="-122"/>
                <a:cs typeface="Arial" panose="020B0604020202020204" pitchFamily="34" charset="0"/>
              </a:rPr>
              <a:t>(ns)</a:t>
            </a:r>
            <a:endParaRPr lang="zh-CN" altLang="en-US" sz="1400" dirty="0">
              <a:latin typeface="Arial" panose="020B0604020202020204" pitchFamily="34" charset="0"/>
              <a:ea typeface="SimHei" panose="02010609060101010101" pitchFamily="49" charset="-122"/>
              <a:cs typeface="Arial" panose="020B0604020202020204" pitchFamily="34" charset="0"/>
            </a:endParaRPr>
          </a:p>
        </p:txBody>
      </p:sp>
      <p:sp>
        <p:nvSpPr>
          <p:cNvPr id="20" name="矩形 18">
            <a:extLst>
              <a:ext uri="{FF2B5EF4-FFF2-40B4-BE49-F238E27FC236}">
                <a16:creationId xmlns:a16="http://schemas.microsoft.com/office/drawing/2014/main" id="{5E5BCFBA-720D-B145-900E-2AE50AC3A68F}"/>
              </a:ext>
            </a:extLst>
          </p:cNvPr>
          <p:cNvSpPr/>
          <p:nvPr/>
        </p:nvSpPr>
        <p:spPr>
          <a:xfrm>
            <a:off x="1842611" y="4948529"/>
            <a:ext cx="298159" cy="215444"/>
          </a:xfrm>
          <a:prstGeom prst="rect">
            <a:avLst/>
          </a:prstGeom>
          <a:solidFill>
            <a:schemeClr val="bg1"/>
          </a:solidFill>
        </p:spPr>
        <p:txBody>
          <a:bodyPr wrap="none" lIns="0" tIns="0" rIns="0" bIns="0">
            <a:spAutoFit/>
          </a:bodyPr>
          <a:lstStyle/>
          <a:p>
            <a:r>
              <a:rPr lang="zh-CN" altLang="en-US" sz="1400" dirty="0">
                <a:latin typeface="Arial" panose="020B0604020202020204" pitchFamily="34" charset="0"/>
                <a:ea typeface="SimHei" panose="02010609060101010101" pitchFamily="49" charset="-122"/>
                <a:cs typeface="Arial" panose="020B0604020202020204" pitchFamily="34" charset="0"/>
              </a:rPr>
              <a:t>      </a:t>
            </a:r>
          </a:p>
        </p:txBody>
      </p:sp>
      <p:sp>
        <p:nvSpPr>
          <p:cNvPr id="21" name="矩形 17">
            <a:extLst>
              <a:ext uri="{FF2B5EF4-FFF2-40B4-BE49-F238E27FC236}">
                <a16:creationId xmlns:a16="http://schemas.microsoft.com/office/drawing/2014/main" id="{0360D657-4552-7745-B40A-8340DBD2C611}"/>
              </a:ext>
            </a:extLst>
          </p:cNvPr>
          <p:cNvSpPr/>
          <p:nvPr/>
        </p:nvSpPr>
        <p:spPr>
          <a:xfrm>
            <a:off x="1658487" y="4935304"/>
            <a:ext cx="416781" cy="430887"/>
          </a:xfrm>
          <a:prstGeom prst="rect">
            <a:avLst/>
          </a:prstGeom>
          <a:solidFill>
            <a:schemeClr val="bg1"/>
          </a:solidFill>
        </p:spPr>
        <p:txBody>
          <a:bodyPr wrap="none" lIns="0" tIns="0" rIns="0" bIns="0">
            <a:spAutoFit/>
          </a:bodyPr>
          <a:lstStyle/>
          <a:p>
            <a:r>
              <a:rPr lang="zh-CN" altLang="en-US" sz="1400" dirty="0">
                <a:latin typeface="Arial" panose="020B0604020202020204" pitchFamily="34" charset="0"/>
                <a:ea typeface="SimHei" panose="02010609060101010101" pitchFamily="49" charset="-122"/>
                <a:cs typeface="Arial" panose="020B0604020202020204" pitchFamily="34" charset="0"/>
              </a:rPr>
              <a:t>成本</a:t>
            </a:r>
            <a:endParaRPr lang="en-US" altLang="zh-CN" sz="1400" dirty="0">
              <a:latin typeface="Arial" panose="020B0604020202020204" pitchFamily="34" charset="0"/>
              <a:ea typeface="SimHei" panose="02010609060101010101" pitchFamily="49" charset="-122"/>
              <a:cs typeface="Arial" panose="020B0604020202020204" pitchFamily="34" charset="0"/>
            </a:endParaRPr>
          </a:p>
          <a:p>
            <a:r>
              <a:rPr lang="en-US" altLang="zh-CN" sz="1400" dirty="0">
                <a:latin typeface="Arial" panose="020B0604020202020204" pitchFamily="34" charset="0"/>
                <a:ea typeface="SimHei" panose="02010609060101010101" pitchFamily="49" charset="-122"/>
                <a:cs typeface="Arial" panose="020B0604020202020204" pitchFamily="34" charset="0"/>
              </a:rPr>
              <a:t>($/M)</a:t>
            </a:r>
            <a:endParaRPr lang="zh-CN" altLang="en-US" sz="1400" dirty="0">
              <a:latin typeface="Arial" panose="020B0604020202020204" pitchFamily="34" charset="0"/>
              <a:ea typeface="SimHei" panose="02010609060101010101" pitchFamily="49" charset="-122"/>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6">
            <p14:nvContentPartPr>
              <p14:cNvPr id="6" name="墨迹 5">
                <a:extLst>
                  <a:ext uri="{FF2B5EF4-FFF2-40B4-BE49-F238E27FC236}">
                    <a16:creationId xmlns:a16="http://schemas.microsoft.com/office/drawing/2014/main" id="{1BDA34AB-B0D1-9F35-F432-E89002ECAF3A}"/>
                  </a:ext>
                </a:extLst>
              </p14:cNvPr>
              <p14:cNvContentPartPr/>
              <p14:nvPr/>
            </p14:nvContentPartPr>
            <p14:xfrm>
              <a:off x="3812760" y="4858200"/>
              <a:ext cx="1149120" cy="1290600"/>
            </p14:xfrm>
          </p:contentPart>
        </mc:Choice>
        <mc:Fallback>
          <p:pic>
            <p:nvPicPr>
              <p:cNvPr id="6" name="墨迹 5">
                <a:extLst>
                  <a:ext uri="{FF2B5EF4-FFF2-40B4-BE49-F238E27FC236}">
                    <a16:creationId xmlns:a16="http://schemas.microsoft.com/office/drawing/2014/main" id="{1BDA34AB-B0D1-9F35-F432-E89002ECAF3A}"/>
                  </a:ext>
                </a:extLst>
              </p:cNvPr>
              <p:cNvPicPr/>
              <p:nvPr/>
            </p:nvPicPr>
            <p:blipFill>
              <a:blip r:embed="rId7"/>
              <a:stretch>
                <a:fillRect/>
              </a:stretch>
            </p:blipFill>
            <p:spPr>
              <a:xfrm>
                <a:off x="3803400" y="4848840"/>
                <a:ext cx="1167840" cy="1309320"/>
              </a:xfrm>
              <a:prstGeom prst="rect">
                <a:avLst/>
              </a:prstGeom>
            </p:spPr>
          </p:pic>
        </mc:Fallback>
      </mc:AlternateContent>
    </p:spTree>
    <p:extLst>
      <p:ext uri="{BB962C8B-B14F-4D97-AF65-F5344CB8AC3E}">
        <p14:creationId xmlns:p14="http://schemas.microsoft.com/office/powerpoint/2010/main" val="2523995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78E9-0D00-1D45-9693-F08A6BD00654}"/>
              </a:ext>
            </a:extLst>
          </p:cNvPr>
          <p:cNvSpPr>
            <a:spLocks noGrp="1"/>
          </p:cNvSpPr>
          <p:nvPr>
            <p:ph type="title"/>
          </p:nvPr>
        </p:nvSpPr>
        <p:spPr/>
        <p:txBody>
          <a:bodyPr/>
          <a:lstStyle/>
          <a:p>
            <a:r>
              <a:rPr lang="en-CN" dirty="0">
                <a:latin typeface="Arial" panose="020B0604020202020204" pitchFamily="34" charset="0"/>
                <a:ea typeface="SimHei" panose="02010609060101010101" pitchFamily="49" charset="-122"/>
                <a:cs typeface="Arial" panose="020B0604020202020204" pitchFamily="34" charset="0"/>
              </a:rPr>
              <a:t>身边的例子</a:t>
            </a:r>
            <a:r>
              <a:rPr lang="zh-CN" altLang="en-US" dirty="0">
                <a:latin typeface="Arial" panose="020B0604020202020204" pitchFamily="34" charset="0"/>
                <a:ea typeface="SimHei" panose="02010609060101010101" pitchFamily="49" charset="-122"/>
                <a:cs typeface="Arial" panose="020B0604020202020204" pitchFamily="34" charset="0"/>
              </a:rPr>
              <a:t>：写作</a:t>
            </a:r>
            <a:endParaRPr lang="en-CN" dirty="0">
              <a:latin typeface="Arial" panose="020B0604020202020204" pitchFamily="34" charset="0"/>
              <a:ea typeface="SimHei" panose="02010609060101010101" pitchFamily="49" charset="-122"/>
              <a:cs typeface="Arial" panose="020B0604020202020204" pitchFamily="34" charset="0"/>
            </a:endParaRPr>
          </a:p>
        </p:txBody>
      </p:sp>
      <p:sp>
        <p:nvSpPr>
          <p:cNvPr id="5" name="Slide Number Placeholder 4">
            <a:extLst>
              <a:ext uri="{FF2B5EF4-FFF2-40B4-BE49-F238E27FC236}">
                <a16:creationId xmlns:a16="http://schemas.microsoft.com/office/drawing/2014/main" id="{A8F11E52-0C7E-CE4F-9A25-EB07993DF49C}"/>
              </a:ext>
            </a:extLst>
          </p:cNvPr>
          <p:cNvSpPr>
            <a:spLocks noGrp="1"/>
          </p:cNvSpPr>
          <p:nvPr>
            <p:ph type="sldNum" sz="quarter" idx="12"/>
          </p:nvPr>
        </p:nvSpPr>
        <p:spPr/>
        <p:txBody>
          <a:bodyPr/>
          <a:lstStyle/>
          <a:p>
            <a:fld id="{176ACFD1-D213-4B9C-817B-45486DBF105A}" type="slidenum">
              <a:rPr lang="en-US" smtClean="0">
                <a:solidFill>
                  <a:prstClr val="black"/>
                </a:solidFill>
                <a:latin typeface="Arial" panose="020B0604020202020204" pitchFamily="34" charset="0"/>
                <a:cs typeface="Arial" panose="020B0604020202020204" pitchFamily="34" charset="0"/>
              </a:rPr>
              <a:pPr/>
              <a:t>15</a:t>
            </a:fld>
            <a:endParaRPr lang="en-US">
              <a:solidFill>
                <a:prstClr val="black"/>
              </a:solidFill>
              <a:latin typeface="Arial" panose="020B06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AD31580E-ABFD-7E46-B55D-F536CD5B8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1546" y="4619912"/>
            <a:ext cx="1818478" cy="131605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6BB42B77-B20E-6441-8D83-4D90C52AD3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96560" y="3465298"/>
            <a:ext cx="671435" cy="25646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AA7E2888-F622-4141-918F-C737613EA47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34481"/>
          <a:stretch/>
        </p:blipFill>
        <p:spPr bwMode="auto">
          <a:xfrm>
            <a:off x="6242811" y="4840903"/>
            <a:ext cx="2008661" cy="131605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A73070A-90EE-A045-BC32-8951AE46D7DF}"/>
              </a:ext>
            </a:extLst>
          </p:cNvPr>
          <p:cNvSpPr txBox="1"/>
          <p:nvPr/>
        </p:nvSpPr>
        <p:spPr>
          <a:xfrm>
            <a:off x="6742837" y="4224175"/>
            <a:ext cx="877163" cy="369332"/>
          </a:xfrm>
          <a:prstGeom prst="rect">
            <a:avLst/>
          </a:prstGeom>
          <a:noFill/>
        </p:spPr>
        <p:txBody>
          <a:bodyPr wrap="none" rtlCol="0">
            <a:spAutoFit/>
          </a:bodyPr>
          <a:lstStyle/>
          <a:p>
            <a:r>
              <a:rPr lang="en-CN" dirty="0">
                <a:latin typeface="Arial" panose="020B0604020202020204" pitchFamily="34" charset="0"/>
                <a:ea typeface="SimHei" panose="02010609060101010101" pitchFamily="49" charset="-122"/>
                <a:cs typeface="Arial" panose="020B0604020202020204" pitchFamily="34" charset="0"/>
              </a:rPr>
              <a:t>图书馆</a:t>
            </a:r>
          </a:p>
        </p:txBody>
      </p:sp>
      <p:sp>
        <p:nvSpPr>
          <p:cNvPr id="19" name="TextBox 18">
            <a:extLst>
              <a:ext uri="{FF2B5EF4-FFF2-40B4-BE49-F238E27FC236}">
                <a16:creationId xmlns:a16="http://schemas.microsoft.com/office/drawing/2014/main" id="{E5C4AA04-770B-2C49-8973-630B0219E1EE}"/>
              </a:ext>
            </a:extLst>
          </p:cNvPr>
          <p:cNvSpPr txBox="1"/>
          <p:nvPr/>
        </p:nvSpPr>
        <p:spPr>
          <a:xfrm>
            <a:off x="4055738" y="3029402"/>
            <a:ext cx="1338828" cy="369332"/>
          </a:xfrm>
          <a:prstGeom prst="rect">
            <a:avLst/>
          </a:prstGeom>
          <a:noFill/>
        </p:spPr>
        <p:txBody>
          <a:bodyPr wrap="none" rtlCol="0">
            <a:spAutoFit/>
          </a:bodyPr>
          <a:lstStyle/>
          <a:p>
            <a:r>
              <a:rPr lang="en-CN" dirty="0">
                <a:latin typeface="Arial" panose="020B0604020202020204" pitchFamily="34" charset="0"/>
                <a:ea typeface="SimHei" panose="02010609060101010101" pitchFamily="49" charset="-122"/>
                <a:cs typeface="Arial" panose="020B0604020202020204" pitchFamily="34" charset="0"/>
              </a:rPr>
              <a:t>办公室书架</a:t>
            </a:r>
          </a:p>
        </p:txBody>
      </p:sp>
      <p:sp>
        <p:nvSpPr>
          <p:cNvPr id="20" name="TextBox 19">
            <a:extLst>
              <a:ext uri="{FF2B5EF4-FFF2-40B4-BE49-F238E27FC236}">
                <a16:creationId xmlns:a16="http://schemas.microsoft.com/office/drawing/2014/main" id="{B3E7CF5E-EEC5-7B4C-B015-D92E1A6545B8}"/>
              </a:ext>
            </a:extLst>
          </p:cNvPr>
          <p:cNvSpPr txBox="1"/>
          <p:nvPr/>
        </p:nvSpPr>
        <p:spPr>
          <a:xfrm>
            <a:off x="371652" y="4947721"/>
            <a:ext cx="877163" cy="646331"/>
          </a:xfrm>
          <a:prstGeom prst="rect">
            <a:avLst/>
          </a:prstGeom>
          <a:noFill/>
        </p:spPr>
        <p:txBody>
          <a:bodyPr wrap="none" rtlCol="0">
            <a:spAutoFit/>
          </a:bodyPr>
          <a:lstStyle/>
          <a:p>
            <a:r>
              <a:rPr lang="en-CN" dirty="0">
                <a:latin typeface="Arial" panose="020B0604020202020204" pitchFamily="34" charset="0"/>
                <a:ea typeface="SimHei" panose="02010609060101010101" pitchFamily="49" charset="-122"/>
                <a:cs typeface="Arial" panose="020B0604020202020204" pitchFamily="34" charset="0"/>
              </a:rPr>
              <a:t>办公室</a:t>
            </a:r>
          </a:p>
          <a:p>
            <a:pPr algn="ctr"/>
            <a:r>
              <a:rPr lang="en-CN" dirty="0">
                <a:latin typeface="Arial" panose="020B0604020202020204" pitchFamily="34" charset="0"/>
                <a:ea typeface="SimHei" panose="02010609060101010101" pitchFamily="49" charset="-122"/>
                <a:cs typeface="Arial" panose="020B0604020202020204" pitchFamily="34" charset="0"/>
              </a:rPr>
              <a:t>书桌</a:t>
            </a:r>
          </a:p>
        </p:txBody>
      </p:sp>
      <p:sp>
        <p:nvSpPr>
          <p:cNvPr id="23" name="Rectangle 22">
            <a:extLst>
              <a:ext uri="{FF2B5EF4-FFF2-40B4-BE49-F238E27FC236}">
                <a16:creationId xmlns:a16="http://schemas.microsoft.com/office/drawing/2014/main" id="{3E5076D0-D4B8-6342-9063-2D2952EDED1D}"/>
              </a:ext>
            </a:extLst>
          </p:cNvPr>
          <p:cNvSpPr/>
          <p:nvPr/>
        </p:nvSpPr>
        <p:spPr>
          <a:xfrm>
            <a:off x="2172922" y="1946714"/>
            <a:ext cx="5118709" cy="415498"/>
          </a:xfrm>
          <a:prstGeom prst="rect">
            <a:avLst/>
          </a:prstGeom>
        </p:spPr>
        <p:txBody>
          <a:bodyPr wrap="none">
            <a:spAutoFit/>
          </a:bodyPr>
          <a:lstStyle/>
          <a:p>
            <a:r>
              <a:rPr lang="en-CN" sz="2100" b="1" dirty="0">
                <a:solidFill>
                  <a:srgbClr val="0432FF"/>
                </a:solidFill>
                <a:latin typeface="Arial" panose="020B0604020202020204" pitchFamily="34" charset="0"/>
                <a:ea typeface="SimHei" panose="02010609060101010101" pitchFamily="49" charset="-122"/>
                <a:cs typeface="Arial" panose="020B0604020202020204" pitchFamily="34" charset="0"/>
              </a:rPr>
              <a:t>分析</a:t>
            </a:r>
            <a:r>
              <a:rPr lang="zh-CN" altLang="en-US" sz="2100" b="1" dirty="0">
                <a:solidFill>
                  <a:srgbClr val="0432FF"/>
                </a:solidFill>
                <a:latin typeface="Arial" panose="020B0604020202020204" pitchFamily="34" charset="0"/>
                <a:ea typeface="SimHei" panose="02010609060101010101" pitchFamily="49" charset="-122"/>
                <a:cs typeface="Arial" panose="020B0604020202020204" pitchFamily="34" charset="0"/>
              </a:rPr>
              <a:t>：参考书</a:t>
            </a:r>
            <a:r>
              <a:rPr lang="en-CN" sz="2100" b="1" dirty="0">
                <a:solidFill>
                  <a:srgbClr val="0432FF"/>
                </a:solidFill>
                <a:latin typeface="Arial" panose="020B0604020202020204" pitchFamily="34" charset="0"/>
                <a:ea typeface="SimHei" panose="02010609060101010101" pitchFamily="49" charset="-122"/>
                <a:cs typeface="Arial" panose="020B0604020202020204" pitchFamily="34" charset="0"/>
              </a:rPr>
              <a:t>的取阅和存放有什么特点</a:t>
            </a:r>
            <a:r>
              <a:rPr lang="zh-CN" altLang="en-US" sz="2100" b="1" dirty="0">
                <a:solidFill>
                  <a:srgbClr val="0432FF"/>
                </a:solidFill>
                <a:latin typeface="Arial" panose="020B0604020202020204" pitchFamily="34" charset="0"/>
                <a:ea typeface="SimHei" panose="02010609060101010101" pitchFamily="49" charset="-122"/>
                <a:cs typeface="Arial" panose="020B0604020202020204" pitchFamily="34" charset="0"/>
              </a:rPr>
              <a:t>？</a:t>
            </a:r>
            <a:endParaRPr lang="en-CN" sz="2100" b="1" dirty="0">
              <a:solidFill>
                <a:srgbClr val="0432FF"/>
              </a:solidFill>
              <a:latin typeface="Arial" panose="020B0604020202020204" pitchFamily="34" charset="0"/>
              <a:ea typeface="SimHei" panose="02010609060101010101" pitchFamily="49" charset="-122"/>
              <a:cs typeface="Arial" panose="020B0604020202020204" pitchFamily="34" charset="0"/>
            </a:endParaRPr>
          </a:p>
        </p:txBody>
      </p:sp>
    </p:spTree>
    <p:extLst>
      <p:ext uri="{BB962C8B-B14F-4D97-AF65-F5344CB8AC3E}">
        <p14:creationId xmlns:p14="http://schemas.microsoft.com/office/powerpoint/2010/main" val="128945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存储系统的设计理论</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16</a:t>
            </a:fld>
            <a:endParaRPr lang="en-US" altLang="zh-CN"/>
          </a:p>
        </p:txBody>
      </p:sp>
      <p:sp>
        <p:nvSpPr>
          <p:cNvPr id="4" name="内容占位符 2">
            <a:extLst>
              <a:ext uri="{FF2B5EF4-FFF2-40B4-BE49-F238E27FC236}">
                <a16:creationId xmlns:a16="http://schemas.microsoft.com/office/drawing/2014/main" id="{50845C57-ACBD-C14C-9820-7E543005E039}"/>
              </a:ext>
            </a:extLst>
          </p:cNvPr>
          <p:cNvSpPr>
            <a:spLocks noGrp="1"/>
          </p:cNvSpPr>
          <p:nvPr>
            <p:ph idx="1"/>
          </p:nvPr>
        </p:nvSpPr>
        <p:spPr>
          <a:xfrm>
            <a:off x="457200" y="1551432"/>
            <a:ext cx="8229600" cy="3749773"/>
          </a:xfrm>
        </p:spPr>
        <p:txBody>
          <a:bodyPr/>
          <a:lstStyle/>
          <a:p>
            <a:pPr marL="514350" indent="-457200">
              <a:spcBef>
                <a:spcPts val="1000"/>
              </a:spcBef>
            </a:pPr>
            <a:r>
              <a:rPr lang="zh-CN" altLang="en-US" sz="2800" dirty="0"/>
              <a:t>局部性原理</a:t>
            </a:r>
            <a:endParaRPr lang="en-US" altLang="zh-CN" sz="2800" dirty="0"/>
          </a:p>
          <a:p>
            <a:pPr marL="914400" lvl="1" indent="-457200">
              <a:spcBef>
                <a:spcPts val="1000"/>
              </a:spcBef>
            </a:pPr>
            <a:r>
              <a:rPr lang="zh-CN" altLang="en-US" sz="2400" b="0" dirty="0"/>
              <a:t>程序的基本特性</a:t>
            </a:r>
            <a:endParaRPr lang="en-US" altLang="zh-CN" sz="2400" b="0" dirty="0"/>
          </a:p>
          <a:p>
            <a:pPr marL="914400" lvl="1" indent="-457200">
              <a:spcBef>
                <a:spcPts val="1000"/>
              </a:spcBef>
            </a:pPr>
            <a:r>
              <a:rPr lang="zh-CN" altLang="en-US" sz="2400" b="0" dirty="0"/>
              <a:t>时间局部性</a:t>
            </a:r>
            <a:endParaRPr lang="en-US" altLang="zh-CN" sz="2400" b="0" dirty="0"/>
          </a:p>
          <a:p>
            <a:pPr marL="914400" lvl="1" indent="-457200">
              <a:spcBef>
                <a:spcPts val="1000"/>
              </a:spcBef>
            </a:pPr>
            <a:r>
              <a:rPr lang="zh-CN" altLang="en-US" sz="2400" b="0" dirty="0"/>
              <a:t>空间局部性</a:t>
            </a:r>
            <a:endParaRPr lang="en-US" altLang="zh-CN" sz="2400" b="0" dirty="0"/>
          </a:p>
          <a:p>
            <a:pPr marL="514350" indent="-457200">
              <a:spcBef>
                <a:spcPts val="1000"/>
              </a:spcBef>
            </a:pPr>
            <a:r>
              <a:rPr lang="zh-CN" altLang="en-US" sz="2800" dirty="0"/>
              <a:t>层次结构存储系统及性能度量</a:t>
            </a:r>
            <a:endParaRPr lang="en-US" altLang="zh-CN" sz="2800" dirty="0"/>
          </a:p>
          <a:p>
            <a:pPr marL="914400" lvl="1" indent="-457200">
              <a:spcBef>
                <a:spcPts val="1000"/>
              </a:spcBef>
            </a:pPr>
            <a:endParaRPr lang="zh-CN" altLang="en-US" sz="2000" dirty="0"/>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BAEBA3BD-840E-D061-BFEC-A5604B22C80A}"/>
                  </a:ext>
                </a:extLst>
              </p14:cNvPr>
              <p14:cNvContentPartPr/>
              <p14:nvPr/>
            </p14:nvContentPartPr>
            <p14:xfrm>
              <a:off x="907920" y="2427120"/>
              <a:ext cx="2168640" cy="1141200"/>
            </p14:xfrm>
          </p:contentPart>
        </mc:Choice>
        <mc:Fallback>
          <p:pic>
            <p:nvPicPr>
              <p:cNvPr id="5" name="墨迹 4">
                <a:extLst>
                  <a:ext uri="{FF2B5EF4-FFF2-40B4-BE49-F238E27FC236}">
                    <a16:creationId xmlns:a16="http://schemas.microsoft.com/office/drawing/2014/main" id="{BAEBA3BD-840E-D061-BFEC-A5604B22C80A}"/>
                  </a:ext>
                </a:extLst>
              </p:cNvPr>
              <p:cNvPicPr/>
              <p:nvPr/>
            </p:nvPicPr>
            <p:blipFill>
              <a:blip r:embed="rId4"/>
              <a:stretch>
                <a:fillRect/>
              </a:stretch>
            </p:blipFill>
            <p:spPr>
              <a:xfrm>
                <a:off x="898560" y="2417760"/>
                <a:ext cx="2187360" cy="1159920"/>
              </a:xfrm>
              <a:prstGeom prst="rect">
                <a:avLst/>
              </a:prstGeom>
            </p:spPr>
          </p:pic>
        </mc:Fallback>
      </mc:AlternateContent>
    </p:spTree>
    <p:extLst>
      <p:ext uri="{BB962C8B-B14F-4D97-AF65-F5344CB8AC3E}">
        <p14:creationId xmlns:p14="http://schemas.microsoft.com/office/powerpoint/2010/main" val="3051652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存储系统的设计理论</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17</a:t>
            </a:fld>
            <a:endParaRPr lang="en-US" altLang="zh-CN"/>
          </a:p>
        </p:txBody>
      </p:sp>
      <p:sp>
        <p:nvSpPr>
          <p:cNvPr id="4" name="内容占位符 2">
            <a:extLst>
              <a:ext uri="{FF2B5EF4-FFF2-40B4-BE49-F238E27FC236}">
                <a16:creationId xmlns:a16="http://schemas.microsoft.com/office/drawing/2014/main" id="{7EDA9B36-B1C8-9A41-88D5-42B21D35245C}"/>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局部性原理</a:t>
            </a:r>
            <a:endParaRPr kumimoji="1" lang="en-US" altLang="zh-CN" dirty="0"/>
          </a:p>
          <a:p>
            <a:pPr marL="914400" lvl="1" indent="-457200">
              <a:spcBef>
                <a:spcPts val="1000"/>
              </a:spcBef>
            </a:pPr>
            <a:r>
              <a:rPr kumimoji="1" lang="zh-CN" altLang="en-US" dirty="0"/>
              <a:t>处理器访问存储器时，无论取指令还是取数据，所访问的存储单元都趋向于聚集在一个较小的连续单元区域中</a:t>
            </a:r>
            <a:endParaRPr kumimoji="1" lang="en-US" altLang="zh-CN" dirty="0"/>
          </a:p>
          <a:p>
            <a:pPr marL="914400" lvl="1" indent="-457200">
              <a:spcBef>
                <a:spcPts val="1000"/>
              </a:spcBef>
            </a:pPr>
            <a:r>
              <a:rPr lang="zh-CN" altLang="en-US" sz="2400" dirty="0">
                <a:solidFill>
                  <a:srgbClr val="0432FF"/>
                </a:solidFill>
              </a:rPr>
              <a:t>时间局部性</a:t>
            </a:r>
            <a:r>
              <a:rPr lang="en-US" altLang="zh-CN" sz="2400" dirty="0"/>
              <a:t>——</a:t>
            </a:r>
            <a:r>
              <a:rPr lang="zh-CN" altLang="en-US" sz="2400" dirty="0"/>
              <a:t>最近的将来要用到的信息很可能就是现在正在使用的信息。主要由循环造成</a:t>
            </a:r>
          </a:p>
          <a:p>
            <a:pPr marL="914400" lvl="1" indent="-457200">
              <a:spcBef>
                <a:spcPts val="1000"/>
              </a:spcBef>
            </a:pPr>
            <a:r>
              <a:rPr lang="zh-CN" altLang="en-US" sz="2400" dirty="0">
                <a:solidFill>
                  <a:srgbClr val="0432FF"/>
                </a:solidFill>
              </a:rPr>
              <a:t>空间局部性</a:t>
            </a:r>
            <a:r>
              <a:rPr lang="en-US" altLang="zh-CN" sz="2400" dirty="0"/>
              <a:t>——</a:t>
            </a:r>
            <a:r>
              <a:rPr lang="zh-CN" altLang="en-US" sz="2400" dirty="0"/>
              <a:t>最近的将来要用到的信息很可能与现在正在使用的信息在空间上是邻近的。主要由顺序执行和数据的聚集存放造成</a:t>
            </a:r>
            <a:endParaRPr lang="en-US" altLang="zh-CN" sz="2400" dirty="0"/>
          </a:p>
        </p:txBody>
      </p:sp>
    </p:spTree>
    <p:extLst>
      <p:ext uri="{BB962C8B-B14F-4D97-AF65-F5344CB8AC3E}">
        <p14:creationId xmlns:p14="http://schemas.microsoft.com/office/powerpoint/2010/main" val="1603201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9E45529C-730A-F0F4-50C9-7CBAB8F45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186" y="2838175"/>
            <a:ext cx="5176912" cy="3837432"/>
          </a:xfrm>
          <a:prstGeom prst="rect">
            <a:avLst/>
          </a:prstGeom>
        </p:spPr>
      </p:pic>
      <p:sp>
        <p:nvSpPr>
          <p:cNvPr id="2" name="标题 1"/>
          <p:cNvSpPr>
            <a:spLocks noGrp="1"/>
          </p:cNvSpPr>
          <p:nvPr>
            <p:ph type="title"/>
          </p:nvPr>
        </p:nvSpPr>
        <p:spPr/>
        <p:txBody>
          <a:bodyPr/>
          <a:lstStyle/>
          <a:p>
            <a:r>
              <a:rPr lang="zh-CN" altLang="en-US" dirty="0"/>
              <a:t>存储系统的设计理论</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a:xfrm>
            <a:off x="6822498" y="6362791"/>
            <a:ext cx="2133600" cy="476250"/>
          </a:xfrm>
        </p:spPr>
        <p:txBody>
          <a:bodyPr/>
          <a:lstStyle/>
          <a:p>
            <a:fld id="{14659731-6BD7-46E7-8D3C-2F3AC07E20B1}" type="slidenum">
              <a:rPr lang="en-US" altLang="zh-CN" smtClean="0"/>
              <a:pPr/>
              <a:t>18</a:t>
            </a:fld>
            <a:endParaRPr lang="en-US" altLang="zh-CN" dirty="0"/>
          </a:p>
        </p:txBody>
      </p:sp>
      <p:sp>
        <p:nvSpPr>
          <p:cNvPr id="4" name="内容占位符 2">
            <a:extLst>
              <a:ext uri="{FF2B5EF4-FFF2-40B4-BE49-F238E27FC236}">
                <a16:creationId xmlns:a16="http://schemas.microsoft.com/office/drawing/2014/main" id="{7EDA9B36-B1C8-9A41-88D5-42B21D35245C}"/>
              </a:ext>
            </a:extLst>
          </p:cNvPr>
          <p:cNvSpPr>
            <a:spLocks noGrp="1"/>
          </p:cNvSpPr>
          <p:nvPr>
            <p:ph idx="1"/>
          </p:nvPr>
        </p:nvSpPr>
        <p:spPr>
          <a:xfrm>
            <a:off x="457200" y="1551432"/>
            <a:ext cx="8229600" cy="614993"/>
          </a:xfrm>
        </p:spPr>
        <p:txBody>
          <a:bodyPr/>
          <a:lstStyle/>
          <a:p>
            <a:pPr marL="514350" indent="-457200">
              <a:spcBef>
                <a:spcPts val="1000"/>
              </a:spcBef>
            </a:pPr>
            <a:r>
              <a:rPr lang="zh-CN" altLang="en-US" dirty="0"/>
              <a:t>时间、空间局部性的分析</a:t>
            </a:r>
          </a:p>
        </p:txBody>
      </p:sp>
      <p:sp>
        <p:nvSpPr>
          <p:cNvPr id="5" name="矩形 4">
            <a:extLst>
              <a:ext uri="{FF2B5EF4-FFF2-40B4-BE49-F238E27FC236}">
                <a16:creationId xmlns:a16="http://schemas.microsoft.com/office/drawing/2014/main" id="{2C33C6CF-2BF6-9178-3C1A-CFEBF4CB8446}"/>
              </a:ext>
            </a:extLst>
          </p:cNvPr>
          <p:cNvSpPr/>
          <p:nvPr/>
        </p:nvSpPr>
        <p:spPr>
          <a:xfrm>
            <a:off x="457199" y="2092642"/>
            <a:ext cx="8229600" cy="4031873"/>
          </a:xfrm>
          <a:prstGeom prst="rect">
            <a:avLst/>
          </a:prstGeom>
        </p:spPr>
        <p:txBody>
          <a:bodyPr wrap="square">
            <a:spAutoFit/>
          </a:bodyPr>
          <a:lstStyle/>
          <a:p>
            <a:pPr indent="304800" algn="just"/>
            <a:r>
              <a:rPr lang="en-US" altLang="zh-CN" sz="1600" dirty="0">
                <a:latin typeface="Consolas" panose="020B0609020204030204" pitchFamily="49" charset="0"/>
                <a:ea typeface="SimHei" panose="02010609060101010101" pitchFamily="49" charset="-122"/>
              </a:rPr>
              <a:t>// vanilla sort</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int a[30]={29, 2, 23, 14, 9, 3, 8, 26, 18, 12, 7, 24, 1, 19, 16, 27, 20, 22, 17, 28, 11, 13, 15, 10, 0, 6, 5, 25, 4, 21};</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int temp;</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for(int i=0;i&lt;30;i++)</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for(int j=</a:t>
            </a:r>
            <a:r>
              <a:rPr lang="en-US" altLang="zh-CN" sz="1600" dirty="0" err="1">
                <a:latin typeface="Consolas" panose="020B0609020204030204" pitchFamily="49" charset="0"/>
                <a:ea typeface="SimHei" panose="02010609060101010101" pitchFamily="49" charset="-122"/>
              </a:rPr>
              <a:t>i;j</a:t>
            </a:r>
            <a:r>
              <a:rPr lang="en-US" altLang="zh-CN" sz="1600" dirty="0">
                <a:latin typeface="Consolas" panose="020B0609020204030204" pitchFamily="49" charset="0"/>
                <a:ea typeface="SimHei" panose="02010609060101010101" pitchFamily="49" charset="-122"/>
              </a:rPr>
              <a:t>&lt;30;j++)</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if (a[i] &lt; a[j])</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temp = a[i];</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a[i] = a[j];</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a[j] = temp;</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    }</a:t>
            </a:r>
            <a:endParaRPr lang="zh-CN" altLang="zh-CN" sz="1600" dirty="0">
              <a:latin typeface="Consolas" panose="020B0609020204030204" pitchFamily="49" charset="0"/>
              <a:ea typeface="SimHei" panose="02010609060101010101" pitchFamily="49" charset="-122"/>
            </a:endParaRPr>
          </a:p>
          <a:p>
            <a:pPr indent="304800" algn="just"/>
            <a:r>
              <a:rPr lang="en-US" altLang="zh-CN" sz="1600" dirty="0">
                <a:latin typeface="Consolas" panose="020B0609020204030204" pitchFamily="49" charset="0"/>
                <a:ea typeface="SimHei" panose="02010609060101010101" pitchFamily="49" charset="-122"/>
              </a:rPr>
              <a:t>}</a:t>
            </a:r>
            <a:endParaRPr lang="zh-CN" altLang="zh-CN" sz="1600" dirty="0">
              <a:latin typeface="Consolas" panose="020B0609020204030204" pitchFamily="49" charset="0"/>
              <a:ea typeface="SimHei" panose="02010609060101010101" pitchFamily="49" charset="-122"/>
            </a:endParaRPr>
          </a:p>
        </p:txBody>
      </p:sp>
      <mc:AlternateContent xmlns:mc="http://schemas.openxmlformats.org/markup-compatibility/2006">
        <mc:Choice xmlns:p14="http://schemas.microsoft.com/office/powerpoint/2010/main" Requires="p14">
          <p:contentPart p14:bwMode="auto" r:id="rId4">
            <p14:nvContentPartPr>
              <p14:cNvPr id="6" name="墨迹 5">
                <a:extLst>
                  <a:ext uri="{FF2B5EF4-FFF2-40B4-BE49-F238E27FC236}">
                    <a16:creationId xmlns:a16="http://schemas.microsoft.com/office/drawing/2014/main" id="{21D6F0A1-7BE1-DEE9-F455-6B5AAE726856}"/>
                  </a:ext>
                </a:extLst>
              </p14:cNvPr>
              <p14:cNvContentPartPr/>
              <p14:nvPr/>
            </p14:nvContentPartPr>
            <p14:xfrm>
              <a:off x="4610880" y="4183200"/>
              <a:ext cx="3293280" cy="93960"/>
            </p14:xfrm>
          </p:contentPart>
        </mc:Choice>
        <mc:Fallback>
          <p:pic>
            <p:nvPicPr>
              <p:cNvPr id="6" name="墨迹 5">
                <a:extLst>
                  <a:ext uri="{FF2B5EF4-FFF2-40B4-BE49-F238E27FC236}">
                    <a16:creationId xmlns:a16="http://schemas.microsoft.com/office/drawing/2014/main" id="{21D6F0A1-7BE1-DEE9-F455-6B5AAE726856}"/>
                  </a:ext>
                </a:extLst>
              </p:cNvPr>
              <p:cNvPicPr/>
              <p:nvPr/>
            </p:nvPicPr>
            <p:blipFill>
              <a:blip r:embed="rId5"/>
              <a:stretch>
                <a:fillRect/>
              </a:stretch>
            </p:blipFill>
            <p:spPr>
              <a:xfrm>
                <a:off x="4601520" y="4173840"/>
                <a:ext cx="3312000" cy="112680"/>
              </a:xfrm>
              <a:prstGeom prst="rect">
                <a:avLst/>
              </a:prstGeom>
            </p:spPr>
          </p:pic>
        </mc:Fallback>
      </mc:AlternateContent>
    </p:spTree>
    <p:extLst>
      <p:ext uri="{BB962C8B-B14F-4D97-AF65-F5344CB8AC3E}">
        <p14:creationId xmlns:p14="http://schemas.microsoft.com/office/powerpoint/2010/main" val="9975196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9430A-4F52-3F4D-8040-5E5E8AA07966}"/>
              </a:ext>
            </a:extLst>
          </p:cNvPr>
          <p:cNvSpPr>
            <a:spLocks noGrp="1"/>
          </p:cNvSpPr>
          <p:nvPr>
            <p:ph type="title"/>
          </p:nvPr>
        </p:nvSpPr>
        <p:spPr/>
        <p:txBody>
          <a:bodyPr/>
          <a:lstStyle/>
          <a:p>
            <a:r>
              <a:rPr lang="en-CN" dirty="0">
                <a:latin typeface="Arial" panose="020B0604020202020204" pitchFamily="34" charset="0"/>
                <a:ea typeface="SimHei" panose="02010609060101010101" pitchFamily="49" charset="-122"/>
                <a:cs typeface="Arial" panose="020B0604020202020204" pitchFamily="34" charset="0"/>
              </a:rPr>
              <a:t>缓存的结构化组织和描述方法</a:t>
            </a:r>
          </a:p>
        </p:txBody>
      </p:sp>
      <p:sp>
        <p:nvSpPr>
          <p:cNvPr id="6" name="Content Placeholder 5">
            <a:extLst>
              <a:ext uri="{FF2B5EF4-FFF2-40B4-BE49-F238E27FC236}">
                <a16:creationId xmlns:a16="http://schemas.microsoft.com/office/drawing/2014/main" id="{F411AB0D-C914-4347-BC32-82E1F2C0B3E7}"/>
              </a:ext>
            </a:extLst>
          </p:cNvPr>
          <p:cNvSpPr>
            <a:spLocks noGrp="1"/>
          </p:cNvSpPr>
          <p:nvPr>
            <p:ph idx="1"/>
          </p:nvPr>
        </p:nvSpPr>
        <p:spPr>
          <a:xfrm>
            <a:off x="117566" y="1614543"/>
            <a:ext cx="9026434" cy="2646484"/>
          </a:xfrm>
        </p:spPr>
        <p:txBody>
          <a:bodyPr>
            <a:normAutofit fontScale="92500" lnSpcReduction="20000"/>
          </a:bodyPr>
          <a:lstStyle/>
          <a:p>
            <a:r>
              <a:rPr kumimoji="1" lang="zh-CN" altLang="en-US" sz="3000" dirty="0">
                <a:latin typeface="Arial" panose="020B0604020202020204" pitchFamily="34" charset="0"/>
                <a:ea typeface="SimHei" panose="02010609060101010101" pitchFamily="49" charset="-122"/>
                <a:cs typeface="Arial" panose="020B0604020202020204" pitchFamily="34" charset="0"/>
              </a:rPr>
              <a:t>利用存储器访问的局部性，设计</a:t>
            </a:r>
            <a:r>
              <a:rPr kumimoji="1" lang="zh-CN" altLang="en-CN" sz="3000" dirty="0">
                <a:latin typeface="Arial" panose="020B0604020202020204" pitchFamily="34" charset="0"/>
                <a:ea typeface="SimHei" panose="02010609060101010101" pitchFamily="49" charset="-122"/>
                <a:cs typeface="Arial" panose="020B0604020202020204" pitchFamily="34" charset="0"/>
              </a:rPr>
              <a:t>层次化</a:t>
            </a:r>
            <a:r>
              <a:rPr kumimoji="1" lang="zh-CN" altLang="en-US" sz="3000" dirty="0">
                <a:latin typeface="Arial" panose="020B0604020202020204" pitchFamily="34" charset="0"/>
                <a:ea typeface="SimHei" panose="02010609060101010101" pitchFamily="49" charset="-122"/>
                <a:cs typeface="Arial" panose="020B0604020202020204" pitchFamily="34" charset="0"/>
              </a:rPr>
              <a:t>存储器结构</a:t>
            </a:r>
            <a:endParaRPr kumimoji="1" lang="en-US" altLang="zh-CN" sz="3000" dirty="0">
              <a:latin typeface="Arial" panose="020B0604020202020204" pitchFamily="34" charset="0"/>
              <a:ea typeface="SimHei" panose="02010609060101010101" pitchFamily="49" charset="-122"/>
              <a:cs typeface="Arial" panose="020B0604020202020204" pitchFamily="34" charset="0"/>
            </a:endParaRPr>
          </a:p>
          <a:p>
            <a:pPr lvl="1"/>
            <a:r>
              <a:rPr kumimoji="1" lang="zh-CN" altLang="en-US" sz="2600" dirty="0">
                <a:latin typeface="Arial" panose="020B0604020202020204" pitchFamily="34" charset="0"/>
                <a:ea typeface="SimHei" panose="02010609060101010101" pitchFamily="49" charset="-122"/>
                <a:cs typeface="Arial" panose="020B0604020202020204" pitchFamily="34" charset="0"/>
              </a:rPr>
              <a:t>缓存 </a:t>
            </a:r>
            <a:r>
              <a:rPr kumimoji="1" lang="en-US" altLang="zh-CN" sz="2600" dirty="0">
                <a:latin typeface="Arial" panose="020B0604020202020204" pitchFamily="34" charset="0"/>
                <a:ea typeface="SimHei" panose="02010609060101010101" pitchFamily="49" charset="-122"/>
                <a:cs typeface="Arial" panose="020B0604020202020204" pitchFamily="34" charset="0"/>
              </a:rPr>
              <a:t>(</a:t>
            </a:r>
            <a:r>
              <a:rPr kumimoji="1" lang="zh-CN" altLang="en-US" sz="2600" dirty="0">
                <a:latin typeface="Arial" panose="020B0604020202020204" pitchFamily="34" charset="0"/>
                <a:ea typeface="SimHei" panose="02010609060101010101" pitchFamily="49" charset="-122"/>
                <a:cs typeface="Arial" panose="020B0604020202020204" pitchFamily="34" charset="0"/>
              </a:rPr>
              <a:t>速度最快容量最小</a:t>
            </a:r>
            <a:r>
              <a:rPr kumimoji="1" lang="en-US" altLang="zh-CN" sz="2600" dirty="0">
                <a:latin typeface="Arial" panose="020B0604020202020204" pitchFamily="34" charset="0"/>
                <a:ea typeface="SimHei" panose="02010609060101010101" pitchFamily="49" charset="-122"/>
                <a:cs typeface="Arial" panose="020B0604020202020204" pitchFamily="34" charset="0"/>
              </a:rPr>
              <a:t>)</a:t>
            </a:r>
          </a:p>
          <a:p>
            <a:pPr lvl="2"/>
            <a:r>
              <a:rPr kumimoji="1" lang="zh-CN" altLang="en-US" sz="2200" dirty="0">
                <a:latin typeface="Arial" panose="020B0604020202020204" pitchFamily="34" charset="0"/>
                <a:ea typeface="SimHei" panose="02010609060101010101" pitchFamily="49" charset="-122"/>
                <a:cs typeface="Arial" panose="020B0604020202020204" pitchFamily="34" charset="0"/>
              </a:rPr>
              <a:t>存储当前正在被用到的数据和将被使用的数据</a:t>
            </a:r>
            <a:endParaRPr kumimoji="1" lang="en-US" altLang="zh-CN" sz="2200" dirty="0">
              <a:latin typeface="Arial" panose="020B0604020202020204" pitchFamily="34" charset="0"/>
              <a:ea typeface="SimHei" panose="02010609060101010101" pitchFamily="49" charset="-122"/>
              <a:cs typeface="Arial" panose="020B0604020202020204" pitchFamily="34" charset="0"/>
            </a:endParaRPr>
          </a:p>
          <a:p>
            <a:pPr lvl="1"/>
            <a:r>
              <a:rPr kumimoji="1" lang="zh-CN" altLang="en-US" sz="2600" dirty="0">
                <a:latin typeface="Arial" panose="020B0604020202020204" pitchFamily="34" charset="0"/>
                <a:ea typeface="SimHei" panose="02010609060101010101" pitchFamily="49" charset="-122"/>
                <a:cs typeface="Arial" panose="020B0604020202020204" pitchFamily="34" charset="0"/>
              </a:rPr>
              <a:t>主存储器 </a:t>
            </a:r>
            <a:r>
              <a:rPr kumimoji="1" lang="en-US" altLang="zh-CN" sz="2600" dirty="0">
                <a:latin typeface="Arial" panose="020B0604020202020204" pitchFamily="34" charset="0"/>
                <a:ea typeface="SimHei" panose="02010609060101010101" pitchFamily="49" charset="-122"/>
                <a:cs typeface="Arial" panose="020B0604020202020204" pitchFamily="34" charset="0"/>
              </a:rPr>
              <a:t>(</a:t>
            </a:r>
            <a:r>
              <a:rPr kumimoji="1" lang="zh-CN" altLang="en-US" sz="2600" dirty="0">
                <a:latin typeface="Arial" panose="020B0604020202020204" pitchFamily="34" charset="0"/>
                <a:ea typeface="SimHei" panose="02010609060101010101" pitchFamily="49" charset="-122"/>
                <a:cs typeface="Arial" panose="020B0604020202020204" pitchFamily="34" charset="0"/>
              </a:rPr>
              <a:t>速度较快容量较大</a:t>
            </a:r>
            <a:r>
              <a:rPr kumimoji="1" lang="en-US" altLang="zh-CN" sz="2600" dirty="0">
                <a:latin typeface="Arial" panose="020B0604020202020204" pitchFamily="34" charset="0"/>
                <a:ea typeface="SimHei" panose="02010609060101010101" pitchFamily="49" charset="-122"/>
                <a:cs typeface="Arial" panose="020B0604020202020204" pitchFamily="34" charset="0"/>
              </a:rPr>
              <a:t>)</a:t>
            </a:r>
          </a:p>
          <a:p>
            <a:pPr lvl="2"/>
            <a:r>
              <a:rPr kumimoji="1" lang="zh-CN" altLang="en-US" sz="2200" dirty="0">
                <a:latin typeface="Arial" panose="020B0604020202020204" pitchFamily="34" charset="0"/>
                <a:ea typeface="SimHei" panose="02010609060101010101" pitchFamily="49" charset="-122"/>
                <a:cs typeface="Arial" panose="020B0604020202020204" pitchFamily="34" charset="0"/>
              </a:rPr>
              <a:t>存储过一会儿就要用到的数据</a:t>
            </a:r>
            <a:endParaRPr kumimoji="1" lang="en-US" altLang="zh-CN" sz="2200" dirty="0">
              <a:latin typeface="Arial" panose="020B0604020202020204" pitchFamily="34" charset="0"/>
              <a:ea typeface="SimHei" panose="02010609060101010101" pitchFamily="49" charset="-122"/>
              <a:cs typeface="Arial" panose="020B0604020202020204" pitchFamily="34" charset="0"/>
            </a:endParaRPr>
          </a:p>
          <a:p>
            <a:pPr lvl="1"/>
            <a:r>
              <a:rPr kumimoji="1" lang="zh-CN" altLang="en-US" sz="2600" dirty="0">
                <a:latin typeface="Arial" panose="020B0604020202020204" pitchFamily="34" charset="0"/>
                <a:ea typeface="SimHei" panose="02010609060101010101" pitchFamily="49" charset="-122"/>
                <a:cs typeface="Arial" panose="020B0604020202020204" pitchFamily="34" charset="0"/>
              </a:rPr>
              <a:t>外部存储器 </a:t>
            </a:r>
            <a:r>
              <a:rPr kumimoji="1" lang="en-US" altLang="zh-CN" sz="2600" dirty="0">
                <a:latin typeface="Arial" panose="020B0604020202020204" pitchFamily="34" charset="0"/>
                <a:ea typeface="SimHei" panose="02010609060101010101" pitchFamily="49" charset="-122"/>
                <a:cs typeface="Arial" panose="020B0604020202020204" pitchFamily="34" charset="0"/>
              </a:rPr>
              <a:t>(</a:t>
            </a:r>
            <a:r>
              <a:rPr kumimoji="1" lang="zh-CN" altLang="en-US" sz="2600" dirty="0">
                <a:latin typeface="Arial" panose="020B0604020202020204" pitchFamily="34" charset="0"/>
                <a:ea typeface="SimHei" panose="02010609060101010101" pitchFamily="49" charset="-122"/>
                <a:cs typeface="Arial" panose="020B0604020202020204" pitchFamily="34" charset="0"/>
              </a:rPr>
              <a:t>速度最慢容量最大</a:t>
            </a:r>
            <a:r>
              <a:rPr kumimoji="1" lang="en-US" altLang="zh-CN" sz="2600" dirty="0">
                <a:latin typeface="Arial" panose="020B0604020202020204" pitchFamily="34" charset="0"/>
                <a:ea typeface="SimHei" panose="02010609060101010101" pitchFamily="49" charset="-122"/>
                <a:cs typeface="Arial" panose="020B0604020202020204" pitchFamily="34" charset="0"/>
              </a:rPr>
              <a:t>)</a:t>
            </a:r>
          </a:p>
          <a:p>
            <a:pPr lvl="2"/>
            <a:r>
              <a:rPr kumimoji="1" lang="zh-CN" altLang="en-US" sz="2200" dirty="0">
                <a:latin typeface="Arial" panose="020B0604020202020204" pitchFamily="34" charset="0"/>
                <a:ea typeface="SimHei" panose="02010609060101010101" pitchFamily="49" charset="-122"/>
                <a:cs typeface="Arial" panose="020B0604020202020204" pitchFamily="34" charset="0"/>
              </a:rPr>
              <a:t>存储不会临时用到的数据</a:t>
            </a:r>
            <a:endParaRPr kumimoji="1" lang="en-US" altLang="zh-CN" sz="2200" dirty="0">
              <a:latin typeface="Arial" panose="020B0604020202020204" pitchFamily="34" charset="0"/>
              <a:ea typeface="SimHei" panose="02010609060101010101" pitchFamily="49" charset="-122"/>
              <a:cs typeface="Arial" panose="020B0604020202020204" pitchFamily="34" charset="0"/>
            </a:endParaRPr>
          </a:p>
          <a:p>
            <a:pPr lvl="2"/>
            <a:endParaRPr kumimoji="1" lang="en-US" altLang="zh-CN" sz="2200" dirty="0">
              <a:latin typeface="Arial" panose="020B0604020202020204" pitchFamily="34" charset="0"/>
              <a:ea typeface="SimHei" panose="02010609060101010101" pitchFamily="49" charset="-122"/>
              <a:cs typeface="Arial" panose="020B0604020202020204" pitchFamily="34" charset="0"/>
            </a:endParaRPr>
          </a:p>
          <a:p>
            <a:pPr lvl="2"/>
            <a:endParaRPr kumimoji="1" lang="en-US" altLang="zh-CN" sz="2200" dirty="0">
              <a:latin typeface="Arial" panose="020B0604020202020204" pitchFamily="34" charset="0"/>
              <a:ea typeface="SimHei" panose="02010609060101010101" pitchFamily="49" charset="-122"/>
              <a:cs typeface="Arial" panose="020B0604020202020204" pitchFamily="34" charset="0"/>
            </a:endParaRPr>
          </a:p>
        </p:txBody>
      </p:sp>
      <p:sp>
        <p:nvSpPr>
          <p:cNvPr id="5" name="Slide Number Placeholder 4">
            <a:extLst>
              <a:ext uri="{FF2B5EF4-FFF2-40B4-BE49-F238E27FC236}">
                <a16:creationId xmlns:a16="http://schemas.microsoft.com/office/drawing/2014/main" id="{901BFEB9-D159-5144-8889-E8CBFC1A6C8C}"/>
              </a:ext>
            </a:extLst>
          </p:cNvPr>
          <p:cNvSpPr>
            <a:spLocks noGrp="1"/>
          </p:cNvSpPr>
          <p:nvPr>
            <p:ph type="sldNum" sz="quarter" idx="12"/>
          </p:nvPr>
        </p:nvSpPr>
        <p:spPr/>
        <p:txBody>
          <a:bodyPr/>
          <a:lstStyle/>
          <a:p>
            <a:fld id="{176ACFD1-D213-4B9C-817B-45486DBF105A}" type="slidenum">
              <a:rPr lang="en-US" smtClean="0">
                <a:solidFill>
                  <a:prstClr val="black"/>
                </a:solidFill>
                <a:latin typeface="Arial" panose="020B0604020202020204" pitchFamily="34" charset="0"/>
                <a:cs typeface="Arial" panose="020B0604020202020204" pitchFamily="34" charset="0"/>
              </a:rPr>
              <a:pPr/>
              <a:t>19</a:t>
            </a:fld>
            <a:endParaRPr lang="en-US">
              <a:solidFill>
                <a:prstClr val="black"/>
              </a:solidFill>
              <a:latin typeface="Arial" panose="020B0604020202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15C44C1D-A95E-3E46-933A-A0CE0AA69B40}"/>
              </a:ext>
            </a:extLst>
          </p:cNvPr>
          <p:cNvGrpSpPr/>
          <p:nvPr/>
        </p:nvGrpSpPr>
        <p:grpSpPr>
          <a:xfrm>
            <a:off x="6945270" y="2242851"/>
            <a:ext cx="2081164" cy="2056039"/>
            <a:chOff x="8236369" y="2195131"/>
            <a:chExt cx="2774885" cy="2741385"/>
          </a:xfrm>
        </p:grpSpPr>
        <p:sp>
          <p:nvSpPr>
            <p:cNvPr id="7" name="Rectangle 4">
              <a:extLst>
                <a:ext uri="{FF2B5EF4-FFF2-40B4-BE49-F238E27FC236}">
                  <a16:creationId xmlns:a16="http://schemas.microsoft.com/office/drawing/2014/main" id="{E9320149-DB6E-3A42-8351-48F88E171A15}"/>
                </a:ext>
              </a:extLst>
            </p:cNvPr>
            <p:cNvSpPr>
              <a:spLocks noChangeArrowheads="1"/>
            </p:cNvSpPr>
            <p:nvPr/>
          </p:nvSpPr>
          <p:spPr bwMode="auto">
            <a:xfrm>
              <a:off x="8794696" y="2195131"/>
              <a:ext cx="1658231" cy="505286"/>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sp>
          <p:nvSpPr>
            <p:cNvPr id="8" name="Text Box 5">
              <a:extLst>
                <a:ext uri="{FF2B5EF4-FFF2-40B4-BE49-F238E27FC236}">
                  <a16:creationId xmlns:a16="http://schemas.microsoft.com/office/drawing/2014/main" id="{ABE20F10-80E0-6B49-91F6-D86592B1C154}"/>
                </a:ext>
              </a:extLst>
            </p:cNvPr>
            <p:cNvSpPr txBox="1">
              <a:spLocks noChangeArrowheads="1"/>
            </p:cNvSpPr>
            <p:nvPr/>
          </p:nvSpPr>
          <p:spPr bwMode="auto">
            <a:xfrm>
              <a:off x="8962194" y="2225839"/>
              <a:ext cx="1490733" cy="455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algn="ctr" eaLnBrk="1" hangingPunct="1"/>
              <a:r>
                <a:rPr kumimoji="1" lang="en-US" altLang="zh-CN" sz="1781" b="1" dirty="0">
                  <a:latin typeface="Arial" panose="020B0604020202020204" pitchFamily="34" charset="0"/>
                  <a:ea typeface="SimHei" panose="02010609060101010101" pitchFamily="49" charset="-122"/>
                  <a:cs typeface="Arial" panose="020B0604020202020204" pitchFamily="34" charset="0"/>
                </a:rPr>
                <a:t>CPU</a:t>
              </a:r>
              <a:r>
                <a:rPr kumimoji="1" lang="zh-CN" altLang="en-US" sz="1781" b="1" dirty="0">
                  <a:latin typeface="Arial" panose="020B0604020202020204" pitchFamily="34" charset="0"/>
                  <a:ea typeface="SimHei" panose="02010609060101010101" pitchFamily="49" charset="-122"/>
                  <a:cs typeface="Arial" panose="020B0604020202020204" pitchFamily="34" charset="0"/>
                </a:rPr>
                <a:t>内核</a:t>
              </a:r>
            </a:p>
          </p:txBody>
        </p:sp>
        <p:sp>
          <p:nvSpPr>
            <p:cNvPr id="9" name="Text Box 6">
              <a:extLst>
                <a:ext uri="{FF2B5EF4-FFF2-40B4-BE49-F238E27FC236}">
                  <a16:creationId xmlns:a16="http://schemas.microsoft.com/office/drawing/2014/main" id="{D14A186F-E721-B140-BE6B-AC97B498A698}"/>
                </a:ext>
              </a:extLst>
            </p:cNvPr>
            <p:cNvSpPr txBox="1">
              <a:spLocks noChangeArrowheads="1"/>
            </p:cNvSpPr>
            <p:nvPr/>
          </p:nvSpPr>
          <p:spPr bwMode="auto">
            <a:xfrm>
              <a:off x="9227986" y="2964227"/>
              <a:ext cx="799132" cy="455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781" b="1" dirty="0">
                  <a:latin typeface="Arial" panose="020B0604020202020204" pitchFamily="34" charset="0"/>
                  <a:ea typeface="SimHei" panose="02010609060101010101" pitchFamily="49" charset="-122"/>
                  <a:cs typeface="Arial" panose="020B0604020202020204" pitchFamily="34" charset="0"/>
                </a:rPr>
                <a:t>缓存</a:t>
              </a:r>
              <a:endParaRPr kumimoji="1" lang="en-US" altLang="zh-CN" sz="1781" b="1" dirty="0">
                <a:latin typeface="Arial" panose="020B0604020202020204" pitchFamily="34" charset="0"/>
                <a:ea typeface="SimHei" panose="02010609060101010101" pitchFamily="49" charset="-122"/>
                <a:cs typeface="Arial" panose="020B0604020202020204" pitchFamily="34" charset="0"/>
              </a:endParaRPr>
            </a:p>
          </p:txBody>
        </p:sp>
        <p:sp>
          <p:nvSpPr>
            <p:cNvPr id="10" name="Rectangle 7">
              <a:extLst>
                <a:ext uri="{FF2B5EF4-FFF2-40B4-BE49-F238E27FC236}">
                  <a16:creationId xmlns:a16="http://schemas.microsoft.com/office/drawing/2014/main" id="{7BD97B06-0240-CA48-B88F-A064F30B0B6F}"/>
                </a:ext>
              </a:extLst>
            </p:cNvPr>
            <p:cNvSpPr>
              <a:spLocks noChangeArrowheads="1"/>
            </p:cNvSpPr>
            <p:nvPr/>
          </p:nvSpPr>
          <p:spPr bwMode="auto">
            <a:xfrm>
              <a:off x="8704666" y="2913977"/>
              <a:ext cx="1838291" cy="489931"/>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sp>
          <p:nvSpPr>
            <p:cNvPr id="11" name="Text Box 8">
              <a:extLst>
                <a:ext uri="{FF2B5EF4-FFF2-40B4-BE49-F238E27FC236}">
                  <a16:creationId xmlns:a16="http://schemas.microsoft.com/office/drawing/2014/main" id="{72113FBF-E8A0-9142-A4FE-772C6F9BEE45}"/>
                </a:ext>
              </a:extLst>
            </p:cNvPr>
            <p:cNvSpPr txBox="1">
              <a:spLocks noChangeArrowheads="1"/>
            </p:cNvSpPr>
            <p:nvPr/>
          </p:nvSpPr>
          <p:spPr bwMode="auto">
            <a:xfrm>
              <a:off x="8851924" y="3664927"/>
              <a:ext cx="1543774" cy="455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781" b="1">
                  <a:latin typeface="Arial" panose="020B0604020202020204" pitchFamily="34" charset="0"/>
                  <a:ea typeface="SimHei" panose="02010609060101010101" pitchFamily="49" charset="-122"/>
                  <a:cs typeface="Arial" panose="020B0604020202020204" pitchFamily="34" charset="0"/>
                </a:rPr>
                <a:t>主存储器</a:t>
              </a:r>
            </a:p>
          </p:txBody>
        </p:sp>
        <p:sp>
          <p:nvSpPr>
            <p:cNvPr id="12" name="Rectangle 9">
              <a:extLst>
                <a:ext uri="{FF2B5EF4-FFF2-40B4-BE49-F238E27FC236}">
                  <a16:creationId xmlns:a16="http://schemas.microsoft.com/office/drawing/2014/main" id="{E73F00FB-0541-B246-BE26-ECC24FA80E9D}"/>
                </a:ext>
              </a:extLst>
            </p:cNvPr>
            <p:cNvSpPr>
              <a:spLocks noChangeArrowheads="1"/>
            </p:cNvSpPr>
            <p:nvPr/>
          </p:nvSpPr>
          <p:spPr bwMode="auto">
            <a:xfrm>
              <a:off x="8531584" y="3618864"/>
              <a:ext cx="2184454" cy="53599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sp>
          <p:nvSpPr>
            <p:cNvPr id="13" name="Text Box 10">
              <a:extLst>
                <a:ext uri="{FF2B5EF4-FFF2-40B4-BE49-F238E27FC236}">
                  <a16:creationId xmlns:a16="http://schemas.microsoft.com/office/drawing/2014/main" id="{04D65B8F-14A9-B741-92E6-8F4A33C40E68}"/>
                </a:ext>
              </a:extLst>
            </p:cNvPr>
            <p:cNvSpPr txBox="1">
              <a:spLocks noChangeArrowheads="1"/>
            </p:cNvSpPr>
            <p:nvPr/>
          </p:nvSpPr>
          <p:spPr bwMode="auto">
            <a:xfrm>
              <a:off x="8708853" y="4430979"/>
              <a:ext cx="1829916" cy="455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781" b="1" dirty="0">
                  <a:latin typeface="Arial" panose="020B0604020202020204" pitchFamily="34" charset="0"/>
                  <a:ea typeface="SimHei" panose="02010609060101010101" pitchFamily="49" charset="-122"/>
                  <a:cs typeface="Arial" panose="020B0604020202020204" pitchFamily="34" charset="0"/>
                </a:rPr>
                <a:t>外部存储器</a:t>
              </a:r>
            </a:p>
          </p:txBody>
        </p:sp>
        <p:sp>
          <p:nvSpPr>
            <p:cNvPr id="14" name="Rectangle 11">
              <a:extLst>
                <a:ext uri="{FF2B5EF4-FFF2-40B4-BE49-F238E27FC236}">
                  <a16:creationId xmlns:a16="http://schemas.microsoft.com/office/drawing/2014/main" id="{4608EB24-129F-7841-8C57-2762F45C2A26}"/>
                </a:ext>
              </a:extLst>
            </p:cNvPr>
            <p:cNvSpPr>
              <a:spLocks noChangeArrowheads="1"/>
            </p:cNvSpPr>
            <p:nvPr/>
          </p:nvSpPr>
          <p:spPr bwMode="auto">
            <a:xfrm>
              <a:off x="8236369" y="4400522"/>
              <a:ext cx="2774885" cy="53599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sp>
          <p:nvSpPr>
            <p:cNvPr id="15" name="Line 12">
              <a:extLst>
                <a:ext uri="{FF2B5EF4-FFF2-40B4-BE49-F238E27FC236}">
                  <a16:creationId xmlns:a16="http://schemas.microsoft.com/office/drawing/2014/main" id="{8F5D5B30-31E8-F040-8E68-EA560A659B3E}"/>
                </a:ext>
              </a:extLst>
            </p:cNvPr>
            <p:cNvSpPr>
              <a:spLocks noChangeShapeType="1"/>
            </p:cNvSpPr>
            <p:nvPr/>
          </p:nvSpPr>
          <p:spPr bwMode="auto">
            <a:xfrm>
              <a:off x="9623811" y="2701813"/>
              <a:ext cx="0" cy="21356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sp>
          <p:nvSpPr>
            <p:cNvPr id="16" name="Line 13">
              <a:extLst>
                <a:ext uri="{FF2B5EF4-FFF2-40B4-BE49-F238E27FC236}">
                  <a16:creationId xmlns:a16="http://schemas.microsoft.com/office/drawing/2014/main" id="{DF642D67-A1FF-8D43-BEE6-C0EF3E5ED103}"/>
                </a:ext>
              </a:extLst>
            </p:cNvPr>
            <p:cNvSpPr>
              <a:spLocks noChangeShapeType="1"/>
            </p:cNvSpPr>
            <p:nvPr/>
          </p:nvSpPr>
          <p:spPr bwMode="auto">
            <a:xfrm>
              <a:off x="9623811" y="3405305"/>
              <a:ext cx="0" cy="21356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sp>
          <p:nvSpPr>
            <p:cNvPr id="17" name="Line 14">
              <a:extLst>
                <a:ext uri="{FF2B5EF4-FFF2-40B4-BE49-F238E27FC236}">
                  <a16:creationId xmlns:a16="http://schemas.microsoft.com/office/drawing/2014/main" id="{81FD7FE9-4BEE-4E4B-A4F1-22DF3AD8A96D}"/>
                </a:ext>
              </a:extLst>
            </p:cNvPr>
            <p:cNvSpPr>
              <a:spLocks noChangeShapeType="1"/>
            </p:cNvSpPr>
            <p:nvPr/>
          </p:nvSpPr>
          <p:spPr bwMode="auto">
            <a:xfrm>
              <a:off x="9623811" y="4171608"/>
              <a:ext cx="0" cy="22891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Arial" panose="020B0604020202020204" pitchFamily="34" charset="0"/>
                <a:ea typeface="SimHei" panose="02010609060101010101" pitchFamily="49" charset="-122"/>
                <a:cs typeface="Arial" panose="020B0604020202020204" pitchFamily="34" charset="0"/>
              </a:endParaRPr>
            </a:p>
          </p:txBody>
        </p:sp>
      </p:grpSp>
      <p:sp>
        <p:nvSpPr>
          <p:cNvPr id="19" name="Rectangle 18">
            <a:extLst>
              <a:ext uri="{FF2B5EF4-FFF2-40B4-BE49-F238E27FC236}">
                <a16:creationId xmlns:a16="http://schemas.microsoft.com/office/drawing/2014/main" id="{B72610BA-6BD3-8047-9CE5-EDFE23B65195}"/>
              </a:ext>
            </a:extLst>
          </p:cNvPr>
          <p:cNvSpPr/>
          <p:nvPr/>
        </p:nvSpPr>
        <p:spPr>
          <a:xfrm>
            <a:off x="842963" y="4486553"/>
            <a:ext cx="7194066" cy="1708160"/>
          </a:xfrm>
          <a:prstGeom prst="rect">
            <a:avLst/>
          </a:prstGeom>
        </p:spPr>
        <p:txBody>
          <a:bodyPr wrap="square">
            <a:spAutoFit/>
          </a:bodyPr>
          <a:lstStyle/>
          <a:p>
            <a:pPr lvl="0"/>
            <a:r>
              <a:rPr kumimoji="1" lang="zh-CN" altLang="en-US" sz="2100" b="1" dirty="0">
                <a:solidFill>
                  <a:srgbClr val="1D6EF7"/>
                </a:solidFill>
                <a:latin typeface="Arial" panose="020B0604020202020204" pitchFamily="34" charset="0"/>
                <a:ea typeface="SimHei" panose="02010609060101010101" pitchFamily="49" charset="-122"/>
                <a:cs typeface="Arial" panose="020B0604020202020204" pitchFamily="34" charset="0"/>
              </a:rPr>
              <a:t>若大部分访问都是对高速缓存进行的，</a:t>
            </a:r>
            <a:endParaRPr kumimoji="1" lang="en-US" altLang="zh-CN" sz="2100" b="1" dirty="0">
              <a:solidFill>
                <a:srgbClr val="1D6EF7"/>
              </a:solidFill>
              <a:latin typeface="Arial" panose="020B0604020202020204" pitchFamily="34" charset="0"/>
              <a:ea typeface="SimHei" panose="02010609060101010101" pitchFamily="49" charset="-122"/>
              <a:cs typeface="Arial" panose="020B0604020202020204" pitchFamily="34" charset="0"/>
            </a:endParaRPr>
          </a:p>
          <a:p>
            <a:pPr lvl="0"/>
            <a:endParaRPr kumimoji="1" lang="en-US" altLang="zh-CN" sz="2100" b="1" dirty="0">
              <a:solidFill>
                <a:srgbClr val="1D6EF7"/>
              </a:solidFill>
              <a:latin typeface="Arial" panose="020B0604020202020204" pitchFamily="34" charset="0"/>
              <a:ea typeface="SimHei" panose="02010609060101010101" pitchFamily="49" charset="-122"/>
              <a:cs typeface="Arial" panose="020B0604020202020204" pitchFamily="34" charset="0"/>
            </a:endParaRPr>
          </a:p>
          <a:p>
            <a:pPr lvl="0"/>
            <a:r>
              <a:rPr kumimoji="1" lang="zh-CN" altLang="en-US" sz="2100" b="1" dirty="0">
                <a:solidFill>
                  <a:srgbClr val="1D6EF7"/>
                </a:solidFill>
                <a:latin typeface="Arial" panose="020B0604020202020204" pitchFamily="34" charset="0"/>
                <a:ea typeface="SimHei" panose="02010609060101010101" pitchFamily="49" charset="-122"/>
                <a:cs typeface="Arial" panose="020B0604020202020204" pitchFamily="34" charset="0"/>
              </a:rPr>
              <a:t>我们就像有一个又大又快的存储器，</a:t>
            </a:r>
            <a:endParaRPr kumimoji="1" lang="en-US" altLang="zh-CN" sz="2100" b="1" dirty="0">
              <a:solidFill>
                <a:srgbClr val="1D6EF7"/>
              </a:solidFill>
              <a:latin typeface="Arial" panose="020B0604020202020204" pitchFamily="34" charset="0"/>
              <a:ea typeface="SimHei" panose="02010609060101010101" pitchFamily="49" charset="-122"/>
              <a:cs typeface="Arial" panose="020B0604020202020204" pitchFamily="34" charset="0"/>
            </a:endParaRPr>
          </a:p>
          <a:p>
            <a:pPr lvl="0"/>
            <a:endParaRPr kumimoji="1" lang="en-US" altLang="zh-CN" sz="2100" b="1" dirty="0">
              <a:solidFill>
                <a:srgbClr val="1D6EF7"/>
              </a:solidFill>
              <a:latin typeface="Arial" panose="020B0604020202020204" pitchFamily="34" charset="0"/>
              <a:ea typeface="SimHei" panose="02010609060101010101" pitchFamily="49" charset="-122"/>
              <a:cs typeface="Arial" panose="020B0604020202020204" pitchFamily="34" charset="0"/>
            </a:endParaRPr>
          </a:p>
          <a:p>
            <a:pPr lvl="0"/>
            <a:r>
              <a:rPr kumimoji="1" lang="zh-CN" altLang="en-US" sz="2100" b="1" dirty="0">
                <a:solidFill>
                  <a:srgbClr val="1D6EF7"/>
                </a:solidFill>
                <a:latin typeface="Arial" panose="020B0604020202020204" pitchFamily="34" charset="0"/>
                <a:ea typeface="SimHei" panose="02010609060101010101" pitchFamily="49" charset="-122"/>
                <a:cs typeface="Arial" panose="020B0604020202020204" pitchFamily="34" charset="0"/>
              </a:rPr>
              <a:t>感觉不到缓存的“小”和主存的“慢”</a:t>
            </a:r>
          </a:p>
        </p:txBody>
      </p:sp>
    </p:spTree>
    <p:extLst>
      <p:ext uri="{BB962C8B-B14F-4D97-AF65-F5344CB8AC3E}">
        <p14:creationId xmlns:p14="http://schemas.microsoft.com/office/powerpoint/2010/main" val="7357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35B6-A6A1-8A4F-BC4F-9F094837A51B}"/>
              </a:ext>
            </a:extLst>
          </p:cNvPr>
          <p:cNvSpPr>
            <a:spLocks noGrp="1"/>
          </p:cNvSpPr>
          <p:nvPr>
            <p:ph type="title"/>
          </p:nvPr>
        </p:nvSpPr>
        <p:spPr/>
        <p:txBody>
          <a:bodyPr/>
          <a:lstStyle/>
          <a:p>
            <a:r>
              <a:rPr lang="zh-CN" altLang="en-US" dirty="0">
                <a:latin typeface="SimHei" panose="02010609060101010101" pitchFamily="49" charset="-122"/>
                <a:ea typeface="SimHei" panose="02010609060101010101" pitchFamily="49" charset="-122"/>
              </a:rPr>
              <a:t>层次化存储器</a:t>
            </a:r>
            <a:r>
              <a:rPr lang="en-CN" dirty="0">
                <a:latin typeface="SimHei" panose="02010609060101010101" pitchFamily="49" charset="-122"/>
                <a:ea typeface="SimHei" panose="02010609060101010101" pitchFamily="49" charset="-122"/>
              </a:rPr>
              <a:t>的分析</a:t>
            </a:r>
          </a:p>
        </p:txBody>
      </p:sp>
      <p:sp>
        <p:nvSpPr>
          <p:cNvPr id="3" name="Content Placeholder 2">
            <a:extLst>
              <a:ext uri="{FF2B5EF4-FFF2-40B4-BE49-F238E27FC236}">
                <a16:creationId xmlns:a16="http://schemas.microsoft.com/office/drawing/2014/main" id="{FF1C50D3-4E07-4148-BB0D-41AF81B47322}"/>
              </a:ext>
            </a:extLst>
          </p:cNvPr>
          <p:cNvSpPr>
            <a:spLocks noGrp="1"/>
          </p:cNvSpPr>
          <p:nvPr>
            <p:ph sz="half" idx="1"/>
          </p:nvPr>
        </p:nvSpPr>
        <p:spPr>
          <a:xfrm>
            <a:off x="216881" y="3429000"/>
            <a:ext cx="4278919" cy="2022873"/>
          </a:xfrm>
        </p:spPr>
        <p:txBody>
          <a:bodyPr>
            <a:normAutofit/>
          </a:bodyPr>
          <a:lstStyle/>
          <a:p>
            <a:r>
              <a:rPr lang="zh-CN" altLang="en-US" b="1" dirty="0">
                <a:solidFill>
                  <a:srgbClr val="0432FF"/>
                </a:solidFill>
                <a:latin typeface="STKaiti" panose="02010600040101010101" pitchFamily="2" charset="-122"/>
                <a:ea typeface="STKaiti" panose="02010600040101010101" pitchFamily="2" charset="-122"/>
              </a:rPr>
              <a:t>缓存命中</a:t>
            </a:r>
            <a:r>
              <a:rPr lang="en-US" altLang="zh-CN" b="1" dirty="0">
                <a:solidFill>
                  <a:srgbClr val="0432FF"/>
                </a:solidFill>
                <a:latin typeface="STKaiti" panose="02010600040101010101" pitchFamily="2" charset="-122"/>
                <a:ea typeface="STKaiti" panose="02010600040101010101" pitchFamily="2" charset="-122"/>
              </a:rPr>
              <a:t>(</a:t>
            </a:r>
            <a:r>
              <a:rPr lang="en-US" b="1" dirty="0">
                <a:solidFill>
                  <a:srgbClr val="0432FF"/>
                </a:solidFill>
                <a:latin typeface="STKaiti" panose="02010600040101010101" pitchFamily="2" charset="-122"/>
                <a:ea typeface="STKaiti" panose="02010600040101010101" pitchFamily="2" charset="-122"/>
              </a:rPr>
              <a:t>hit)</a:t>
            </a:r>
          </a:p>
          <a:p>
            <a:pPr lvl="1"/>
            <a:r>
              <a:rPr lang="zh-CN" altLang="en-US" dirty="0">
                <a:latin typeface="STKaiti" panose="02010600040101010101" pitchFamily="2" charset="-122"/>
                <a:ea typeface="STKaiti" panose="02010600040101010101" pitchFamily="2" charset="-122"/>
              </a:rPr>
              <a:t>要访问的数据正好在这一层缓存</a:t>
            </a:r>
          </a:p>
          <a:p>
            <a:endParaRPr lang="en-CN" dirty="0">
              <a:latin typeface="STKaiti" panose="02010600040101010101" pitchFamily="2" charset="-122"/>
              <a:ea typeface="STKaiti" panose="02010600040101010101" pitchFamily="2" charset="-122"/>
            </a:endParaRPr>
          </a:p>
        </p:txBody>
      </p:sp>
      <p:sp>
        <p:nvSpPr>
          <p:cNvPr id="4" name="Content Placeholder 3">
            <a:extLst>
              <a:ext uri="{FF2B5EF4-FFF2-40B4-BE49-F238E27FC236}">
                <a16:creationId xmlns:a16="http://schemas.microsoft.com/office/drawing/2014/main" id="{5706069D-87BD-D14C-B9C2-88C6B7B42EC7}"/>
              </a:ext>
            </a:extLst>
          </p:cNvPr>
          <p:cNvSpPr>
            <a:spLocks noGrp="1"/>
          </p:cNvSpPr>
          <p:nvPr>
            <p:ph sz="half" idx="2"/>
          </p:nvPr>
        </p:nvSpPr>
        <p:spPr>
          <a:xfrm>
            <a:off x="2476498" y="5222095"/>
            <a:ext cx="5943601" cy="1001813"/>
          </a:xfrm>
        </p:spPr>
        <p:txBody>
          <a:bodyPr>
            <a:normAutofit/>
          </a:bodyPr>
          <a:lstStyle/>
          <a:p>
            <a:r>
              <a:rPr lang="en-CN" b="1" dirty="0">
                <a:solidFill>
                  <a:srgbClr val="7030A0"/>
                </a:solidFill>
                <a:latin typeface="STKaiti" panose="02010600040101010101" pitchFamily="2" charset="-122"/>
                <a:ea typeface="STKaiti" panose="02010600040101010101" pitchFamily="2" charset="-122"/>
              </a:rPr>
              <a:t>命中率</a:t>
            </a:r>
          </a:p>
          <a:p>
            <a:pPr lvl="1"/>
            <a:r>
              <a:rPr kumimoji="1" lang="zh-CN" altLang="en-US" dirty="0">
                <a:latin typeface="STKaiti" panose="02010600040101010101" pitchFamily="2" charset="-122"/>
                <a:ea typeface="STKaiti" panose="02010600040101010101" pitchFamily="2" charset="-122"/>
              </a:rPr>
              <a:t>命中率越高，性能越好</a:t>
            </a:r>
            <a:endParaRPr lang="en-CN" dirty="0">
              <a:latin typeface="STKaiti" panose="02010600040101010101" pitchFamily="2" charset="-122"/>
              <a:ea typeface="STKaiti" panose="02010600040101010101" pitchFamily="2" charset="-122"/>
            </a:endParaRPr>
          </a:p>
        </p:txBody>
      </p:sp>
      <p:sp>
        <p:nvSpPr>
          <p:cNvPr id="5" name="Slide Number Placeholder 4">
            <a:extLst>
              <a:ext uri="{FF2B5EF4-FFF2-40B4-BE49-F238E27FC236}">
                <a16:creationId xmlns:a16="http://schemas.microsoft.com/office/drawing/2014/main" id="{DB9A9010-9273-9745-ACA6-32B62DB90415}"/>
              </a:ext>
            </a:extLst>
          </p:cNvPr>
          <p:cNvSpPr>
            <a:spLocks noGrp="1"/>
          </p:cNvSpPr>
          <p:nvPr>
            <p:ph type="sldNum" sz="quarter" idx="12"/>
          </p:nvPr>
        </p:nvSpPr>
        <p:spPr/>
        <p:txBody>
          <a:bodyPr/>
          <a:lstStyle/>
          <a:p>
            <a:fld id="{176ACFD1-D213-4B9C-817B-45486DBF105A}" type="slidenum">
              <a:rPr lang="en-US" smtClean="0">
                <a:solidFill>
                  <a:prstClr val="black"/>
                </a:solidFill>
              </a:rPr>
              <a:pPr/>
              <a:t>20</a:t>
            </a:fld>
            <a:endParaRPr lang="en-US">
              <a:solidFill>
                <a:prstClr val="black"/>
              </a:solidFill>
            </a:endParaRPr>
          </a:p>
        </p:txBody>
      </p:sp>
      <p:sp>
        <p:nvSpPr>
          <p:cNvPr id="6" name="Rectangle 4">
            <a:extLst>
              <a:ext uri="{FF2B5EF4-FFF2-40B4-BE49-F238E27FC236}">
                <a16:creationId xmlns:a16="http://schemas.microsoft.com/office/drawing/2014/main" id="{70EEAF53-66B1-6145-835D-DF2FF250B4DB}"/>
              </a:ext>
            </a:extLst>
          </p:cNvPr>
          <p:cNvSpPr>
            <a:spLocks noChangeArrowheads="1"/>
          </p:cNvSpPr>
          <p:nvPr/>
        </p:nvSpPr>
        <p:spPr bwMode="auto">
          <a:xfrm>
            <a:off x="4132184" y="2088518"/>
            <a:ext cx="1009176" cy="568447"/>
          </a:xfrm>
          <a:prstGeom prst="rect">
            <a:avLst/>
          </a:prstGeom>
          <a:solidFill>
            <a:schemeClr val="tx2">
              <a:lumMod val="20000"/>
              <a:lumOff val="80000"/>
            </a:schemeClr>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7" name="Rectangle 5">
            <a:extLst>
              <a:ext uri="{FF2B5EF4-FFF2-40B4-BE49-F238E27FC236}">
                <a16:creationId xmlns:a16="http://schemas.microsoft.com/office/drawing/2014/main" id="{926CA002-B47E-5B4E-A2D8-23829AD69A73}"/>
              </a:ext>
            </a:extLst>
          </p:cNvPr>
          <p:cNvSpPr>
            <a:spLocks noChangeArrowheads="1"/>
          </p:cNvSpPr>
          <p:nvPr/>
        </p:nvSpPr>
        <p:spPr bwMode="auto">
          <a:xfrm>
            <a:off x="4106362" y="2167381"/>
            <a:ext cx="1098161" cy="3417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28" tIns="33515" rIns="67028" bIns="33515">
            <a:spAutoFit/>
          </a:bodyPr>
          <a:lstStyle/>
          <a:p>
            <a:pPr algn="ctr" defTabSz="665839" eaLnBrk="0" hangingPunct="0"/>
            <a:r>
              <a:rPr lang="zh-CN" altLang="en-US" sz="1781" dirty="0">
                <a:ln w="0"/>
                <a:effectLst>
                  <a:outerShdw blurRad="38100" dist="19050" dir="2700000" algn="tl" rotWithShape="0">
                    <a:schemeClr val="dk1">
                      <a:alpha val="40000"/>
                    </a:schemeClr>
                  </a:outerShdw>
                </a:effectLst>
                <a:latin typeface="STKaiti" panose="02010600040101010101" pitchFamily="2" charset="-122"/>
                <a:ea typeface="STKaiti" panose="02010600040101010101" pitchFamily="2" charset="-122"/>
              </a:rPr>
              <a:t>缓存</a:t>
            </a:r>
          </a:p>
        </p:txBody>
      </p:sp>
      <p:sp>
        <p:nvSpPr>
          <p:cNvPr id="8" name="Rectangle 6">
            <a:extLst>
              <a:ext uri="{FF2B5EF4-FFF2-40B4-BE49-F238E27FC236}">
                <a16:creationId xmlns:a16="http://schemas.microsoft.com/office/drawing/2014/main" id="{8CFB4A96-8430-9647-A88B-56B25BD0965E}"/>
              </a:ext>
            </a:extLst>
          </p:cNvPr>
          <p:cNvSpPr>
            <a:spLocks noChangeArrowheads="1"/>
          </p:cNvSpPr>
          <p:nvPr/>
        </p:nvSpPr>
        <p:spPr bwMode="auto">
          <a:xfrm>
            <a:off x="2224800" y="2207860"/>
            <a:ext cx="739698" cy="2909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zh-CN" altLang="en-US" sz="1451" b="1">
                <a:latin typeface="STKaiti" panose="02010600040101010101" pitchFamily="2" charset="-122"/>
                <a:ea typeface="STKaiti" panose="02010600040101010101" pitchFamily="2" charset="-122"/>
              </a:rPr>
              <a:t>处理器 </a:t>
            </a:r>
          </a:p>
        </p:txBody>
      </p:sp>
      <p:sp>
        <p:nvSpPr>
          <p:cNvPr id="9" name="Line 7">
            <a:extLst>
              <a:ext uri="{FF2B5EF4-FFF2-40B4-BE49-F238E27FC236}">
                <a16:creationId xmlns:a16="http://schemas.microsoft.com/office/drawing/2014/main" id="{9DEE5659-E42C-EC46-9D97-F6DE68CC4B67}"/>
              </a:ext>
            </a:extLst>
          </p:cNvPr>
          <p:cNvSpPr>
            <a:spLocks noChangeShapeType="1"/>
          </p:cNvSpPr>
          <p:nvPr/>
        </p:nvSpPr>
        <p:spPr bwMode="auto">
          <a:xfrm>
            <a:off x="2408001" y="1919972"/>
            <a:ext cx="913912"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0" name="Line 8">
            <a:extLst>
              <a:ext uri="{FF2B5EF4-FFF2-40B4-BE49-F238E27FC236}">
                <a16:creationId xmlns:a16="http://schemas.microsoft.com/office/drawing/2014/main" id="{7CE3573C-3292-1148-B6EA-4FAE825E39F2}"/>
              </a:ext>
            </a:extLst>
          </p:cNvPr>
          <p:cNvSpPr>
            <a:spLocks noChangeShapeType="1"/>
          </p:cNvSpPr>
          <p:nvPr/>
        </p:nvSpPr>
        <p:spPr bwMode="auto">
          <a:xfrm>
            <a:off x="3321912" y="1919973"/>
            <a:ext cx="0" cy="79980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1" name="Line 9">
            <a:extLst>
              <a:ext uri="{FF2B5EF4-FFF2-40B4-BE49-F238E27FC236}">
                <a16:creationId xmlns:a16="http://schemas.microsoft.com/office/drawing/2014/main" id="{7C47C7B8-564D-7E47-B96D-F76A908E8464}"/>
              </a:ext>
            </a:extLst>
          </p:cNvPr>
          <p:cNvSpPr>
            <a:spLocks noChangeShapeType="1"/>
          </p:cNvSpPr>
          <p:nvPr/>
        </p:nvSpPr>
        <p:spPr bwMode="auto">
          <a:xfrm>
            <a:off x="2350423" y="2719776"/>
            <a:ext cx="971489"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2" name="Line 10">
            <a:extLst>
              <a:ext uri="{FF2B5EF4-FFF2-40B4-BE49-F238E27FC236}">
                <a16:creationId xmlns:a16="http://schemas.microsoft.com/office/drawing/2014/main" id="{A7D4DE8E-7E18-174C-B76F-5C1748AAD000}"/>
              </a:ext>
            </a:extLst>
          </p:cNvPr>
          <p:cNvSpPr>
            <a:spLocks noChangeShapeType="1"/>
          </p:cNvSpPr>
          <p:nvPr/>
        </p:nvSpPr>
        <p:spPr bwMode="auto">
          <a:xfrm>
            <a:off x="5951633" y="1919972"/>
            <a:ext cx="856334"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3" name="Line 11">
            <a:extLst>
              <a:ext uri="{FF2B5EF4-FFF2-40B4-BE49-F238E27FC236}">
                <a16:creationId xmlns:a16="http://schemas.microsoft.com/office/drawing/2014/main" id="{F96DB18F-F202-7041-8030-169ECFA54E2C}"/>
              </a:ext>
            </a:extLst>
          </p:cNvPr>
          <p:cNvSpPr>
            <a:spLocks noChangeShapeType="1"/>
          </p:cNvSpPr>
          <p:nvPr/>
        </p:nvSpPr>
        <p:spPr bwMode="auto">
          <a:xfrm>
            <a:off x="5951633" y="1919973"/>
            <a:ext cx="0" cy="79980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4" name="Line 12">
            <a:extLst>
              <a:ext uri="{FF2B5EF4-FFF2-40B4-BE49-F238E27FC236}">
                <a16:creationId xmlns:a16="http://schemas.microsoft.com/office/drawing/2014/main" id="{B88610C4-94B3-854A-B597-FCC86128D49B}"/>
              </a:ext>
            </a:extLst>
          </p:cNvPr>
          <p:cNvSpPr>
            <a:spLocks noChangeShapeType="1"/>
          </p:cNvSpPr>
          <p:nvPr/>
        </p:nvSpPr>
        <p:spPr bwMode="auto">
          <a:xfrm>
            <a:off x="5951633" y="2719776"/>
            <a:ext cx="856334"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5" name="Rectangle 13">
            <a:extLst>
              <a:ext uri="{FF2B5EF4-FFF2-40B4-BE49-F238E27FC236}">
                <a16:creationId xmlns:a16="http://schemas.microsoft.com/office/drawing/2014/main" id="{FDE0B812-61A0-C843-844C-655486288B66}"/>
              </a:ext>
            </a:extLst>
          </p:cNvPr>
          <p:cNvSpPr>
            <a:spLocks noChangeArrowheads="1"/>
          </p:cNvSpPr>
          <p:nvPr/>
        </p:nvSpPr>
        <p:spPr bwMode="auto">
          <a:xfrm>
            <a:off x="5996648" y="2153423"/>
            <a:ext cx="925646" cy="2909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zh-CN" altLang="en-US" sz="1451" b="1" dirty="0">
                <a:latin typeface="STKaiti" panose="02010600040101010101" pitchFamily="2" charset="-122"/>
                <a:ea typeface="STKaiti" panose="02010600040101010101" pitchFamily="2" charset="-122"/>
              </a:rPr>
              <a:t>主存储器 </a:t>
            </a:r>
          </a:p>
        </p:txBody>
      </p:sp>
      <p:sp>
        <p:nvSpPr>
          <p:cNvPr id="16" name="Line 14">
            <a:extLst>
              <a:ext uri="{FF2B5EF4-FFF2-40B4-BE49-F238E27FC236}">
                <a16:creationId xmlns:a16="http://schemas.microsoft.com/office/drawing/2014/main" id="{1C3C1FE0-0981-2D4C-8B1E-007649B89C28}"/>
              </a:ext>
            </a:extLst>
          </p:cNvPr>
          <p:cNvSpPr>
            <a:spLocks noChangeShapeType="1"/>
          </p:cNvSpPr>
          <p:nvPr/>
        </p:nvSpPr>
        <p:spPr bwMode="auto">
          <a:xfrm>
            <a:off x="3321913" y="2186922"/>
            <a:ext cx="800850"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7" name="Line 15">
            <a:extLst>
              <a:ext uri="{FF2B5EF4-FFF2-40B4-BE49-F238E27FC236}">
                <a16:creationId xmlns:a16="http://schemas.microsoft.com/office/drawing/2014/main" id="{7AD9CF1A-3E21-B341-A785-C3760973483B}"/>
              </a:ext>
            </a:extLst>
          </p:cNvPr>
          <p:cNvSpPr>
            <a:spLocks noChangeShapeType="1"/>
          </p:cNvSpPr>
          <p:nvPr/>
        </p:nvSpPr>
        <p:spPr bwMode="auto">
          <a:xfrm>
            <a:off x="3321913" y="2559605"/>
            <a:ext cx="80085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8" name="Line 16">
            <a:extLst>
              <a:ext uri="{FF2B5EF4-FFF2-40B4-BE49-F238E27FC236}">
                <a16:creationId xmlns:a16="http://schemas.microsoft.com/office/drawing/2014/main" id="{5FF88244-03C6-A24D-97A5-4307CC4C3BEF}"/>
              </a:ext>
            </a:extLst>
          </p:cNvPr>
          <p:cNvSpPr>
            <a:spLocks noChangeShapeType="1"/>
          </p:cNvSpPr>
          <p:nvPr/>
        </p:nvSpPr>
        <p:spPr bwMode="auto">
          <a:xfrm>
            <a:off x="5150782" y="2186922"/>
            <a:ext cx="800851"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19" name="Rectangle 17">
            <a:extLst>
              <a:ext uri="{FF2B5EF4-FFF2-40B4-BE49-F238E27FC236}">
                <a16:creationId xmlns:a16="http://schemas.microsoft.com/office/drawing/2014/main" id="{D9E83BBB-8F64-5643-904F-036F242AC18D}"/>
              </a:ext>
            </a:extLst>
          </p:cNvPr>
          <p:cNvSpPr>
            <a:spLocks noChangeArrowheads="1"/>
          </p:cNvSpPr>
          <p:nvPr/>
        </p:nvSpPr>
        <p:spPr bwMode="auto">
          <a:xfrm>
            <a:off x="3350391" y="1918925"/>
            <a:ext cx="816642" cy="3139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sz="1600" b="1" dirty="0">
                <a:latin typeface="STKaiti" panose="02010600040101010101" pitchFamily="2" charset="-122"/>
                <a:ea typeface="STKaiti" panose="02010600040101010101" pitchFamily="2" charset="-122"/>
              </a:rPr>
              <a:t>Address</a:t>
            </a:r>
          </a:p>
        </p:txBody>
      </p:sp>
      <p:sp>
        <p:nvSpPr>
          <p:cNvPr id="20" name="Rectangle 18">
            <a:extLst>
              <a:ext uri="{FF2B5EF4-FFF2-40B4-BE49-F238E27FC236}">
                <a16:creationId xmlns:a16="http://schemas.microsoft.com/office/drawing/2014/main" id="{189AF303-870D-F547-A9FA-0B1BA01769BE}"/>
              </a:ext>
            </a:extLst>
          </p:cNvPr>
          <p:cNvSpPr>
            <a:spLocks noChangeArrowheads="1"/>
          </p:cNvSpPr>
          <p:nvPr/>
        </p:nvSpPr>
        <p:spPr bwMode="auto">
          <a:xfrm>
            <a:off x="5121683" y="1918925"/>
            <a:ext cx="816642" cy="3139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sz="1600" b="1">
                <a:latin typeface="STKaiti" panose="02010600040101010101" pitchFamily="2" charset="-122"/>
                <a:ea typeface="STKaiti" panose="02010600040101010101" pitchFamily="2" charset="-122"/>
              </a:rPr>
              <a:t>Address</a:t>
            </a:r>
          </a:p>
        </p:txBody>
      </p:sp>
      <p:sp>
        <p:nvSpPr>
          <p:cNvPr id="21" name="Rectangle 19">
            <a:extLst>
              <a:ext uri="{FF2B5EF4-FFF2-40B4-BE49-F238E27FC236}">
                <a16:creationId xmlns:a16="http://schemas.microsoft.com/office/drawing/2014/main" id="{7D039E16-7B98-A947-BFBD-3A1D40D09824}"/>
              </a:ext>
            </a:extLst>
          </p:cNvPr>
          <p:cNvSpPr>
            <a:spLocks noChangeArrowheads="1"/>
          </p:cNvSpPr>
          <p:nvPr/>
        </p:nvSpPr>
        <p:spPr bwMode="auto">
          <a:xfrm>
            <a:off x="5310953" y="2557511"/>
            <a:ext cx="632296" cy="3446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b="1">
                <a:latin typeface="STKaiti" panose="02010600040101010101" pitchFamily="2" charset="-122"/>
                <a:ea typeface="STKaiti" panose="02010600040101010101" pitchFamily="2" charset="-122"/>
              </a:rPr>
              <a:t>Data</a:t>
            </a:r>
          </a:p>
        </p:txBody>
      </p:sp>
      <p:sp>
        <p:nvSpPr>
          <p:cNvPr id="22" name="Rectangle 20">
            <a:extLst>
              <a:ext uri="{FF2B5EF4-FFF2-40B4-BE49-F238E27FC236}">
                <a16:creationId xmlns:a16="http://schemas.microsoft.com/office/drawing/2014/main" id="{ED00B64B-AD5E-A042-A852-A7737C7EE84D}"/>
              </a:ext>
            </a:extLst>
          </p:cNvPr>
          <p:cNvSpPr>
            <a:spLocks noChangeArrowheads="1"/>
          </p:cNvSpPr>
          <p:nvPr/>
        </p:nvSpPr>
        <p:spPr bwMode="auto">
          <a:xfrm>
            <a:off x="3482082" y="2557511"/>
            <a:ext cx="632296" cy="3446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b="1">
                <a:latin typeface="STKaiti" panose="02010600040101010101" pitchFamily="2" charset="-122"/>
                <a:ea typeface="STKaiti" panose="02010600040101010101" pitchFamily="2" charset="-122"/>
              </a:rPr>
              <a:t>Data</a:t>
            </a:r>
          </a:p>
        </p:txBody>
      </p:sp>
      <p:sp>
        <p:nvSpPr>
          <p:cNvPr id="23" name="Line 21">
            <a:extLst>
              <a:ext uri="{FF2B5EF4-FFF2-40B4-BE49-F238E27FC236}">
                <a16:creationId xmlns:a16="http://schemas.microsoft.com/office/drawing/2014/main" id="{67773DCE-F27C-C741-8883-C7D086181B97}"/>
              </a:ext>
            </a:extLst>
          </p:cNvPr>
          <p:cNvSpPr>
            <a:spLocks noChangeShapeType="1"/>
          </p:cNvSpPr>
          <p:nvPr/>
        </p:nvSpPr>
        <p:spPr bwMode="auto">
          <a:xfrm>
            <a:off x="4122763" y="2559605"/>
            <a:ext cx="182887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24" name="Freeform 23">
            <a:extLst>
              <a:ext uri="{FF2B5EF4-FFF2-40B4-BE49-F238E27FC236}">
                <a16:creationId xmlns:a16="http://schemas.microsoft.com/office/drawing/2014/main" id="{8F2B4E90-F2A2-354E-8A46-79E5AABA1583}"/>
              </a:ext>
            </a:extLst>
          </p:cNvPr>
          <p:cNvSpPr/>
          <p:nvPr/>
        </p:nvSpPr>
        <p:spPr>
          <a:xfrm>
            <a:off x="3357349" y="2239086"/>
            <a:ext cx="737033" cy="255896"/>
          </a:xfrm>
          <a:custGeom>
            <a:avLst/>
            <a:gdLst>
              <a:gd name="connsiteX0" fmla="*/ 0 w 982710"/>
              <a:gd name="connsiteY0" fmla="*/ 0 h 341194"/>
              <a:gd name="connsiteX1" fmla="*/ 982638 w 982710"/>
              <a:gd name="connsiteY1" fmla="*/ 150125 h 341194"/>
              <a:gd name="connsiteX2" fmla="*/ 40943 w 982710"/>
              <a:gd name="connsiteY2" fmla="*/ 341194 h 341194"/>
            </a:gdLst>
            <a:ahLst/>
            <a:cxnLst>
              <a:cxn ang="0">
                <a:pos x="connsiteX0" y="connsiteY0"/>
              </a:cxn>
              <a:cxn ang="0">
                <a:pos x="connsiteX1" y="connsiteY1"/>
              </a:cxn>
              <a:cxn ang="0">
                <a:pos x="connsiteX2" y="connsiteY2"/>
              </a:cxn>
            </a:cxnLst>
            <a:rect l="l" t="t" r="r" b="b"/>
            <a:pathLst>
              <a:path w="982710" h="341194">
                <a:moveTo>
                  <a:pt x="0" y="0"/>
                </a:moveTo>
                <a:cubicBezTo>
                  <a:pt x="487907" y="46629"/>
                  <a:pt x="975814" y="93259"/>
                  <a:pt x="982638" y="150125"/>
                </a:cubicBezTo>
                <a:cubicBezTo>
                  <a:pt x="989462" y="206991"/>
                  <a:pt x="515202" y="274092"/>
                  <a:pt x="40943" y="341194"/>
                </a:cubicBezTo>
              </a:path>
            </a:pathLst>
          </a:custGeom>
          <a:noFill/>
          <a:ln>
            <a:solidFill>
              <a:srgbClr val="0432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Freeform 24">
            <a:extLst>
              <a:ext uri="{FF2B5EF4-FFF2-40B4-BE49-F238E27FC236}">
                <a16:creationId xmlns:a16="http://schemas.microsoft.com/office/drawing/2014/main" id="{79AA1E07-277F-D443-89DD-206A66690C4D}"/>
              </a:ext>
            </a:extLst>
          </p:cNvPr>
          <p:cNvSpPr/>
          <p:nvPr/>
        </p:nvSpPr>
        <p:spPr>
          <a:xfrm>
            <a:off x="3369329" y="2186923"/>
            <a:ext cx="2772158" cy="370589"/>
          </a:xfrm>
          <a:custGeom>
            <a:avLst/>
            <a:gdLst>
              <a:gd name="connsiteX0" fmla="*/ 0 w 982710"/>
              <a:gd name="connsiteY0" fmla="*/ 0 h 341194"/>
              <a:gd name="connsiteX1" fmla="*/ 982638 w 982710"/>
              <a:gd name="connsiteY1" fmla="*/ 150125 h 341194"/>
              <a:gd name="connsiteX2" fmla="*/ 40943 w 982710"/>
              <a:gd name="connsiteY2" fmla="*/ 341194 h 341194"/>
            </a:gdLst>
            <a:ahLst/>
            <a:cxnLst>
              <a:cxn ang="0">
                <a:pos x="connsiteX0" y="connsiteY0"/>
              </a:cxn>
              <a:cxn ang="0">
                <a:pos x="connsiteX1" y="connsiteY1"/>
              </a:cxn>
              <a:cxn ang="0">
                <a:pos x="connsiteX2" y="connsiteY2"/>
              </a:cxn>
            </a:cxnLst>
            <a:rect l="l" t="t" r="r" b="b"/>
            <a:pathLst>
              <a:path w="982710" h="341194">
                <a:moveTo>
                  <a:pt x="0" y="0"/>
                </a:moveTo>
                <a:cubicBezTo>
                  <a:pt x="487907" y="46629"/>
                  <a:pt x="975814" y="93259"/>
                  <a:pt x="982638" y="150125"/>
                </a:cubicBezTo>
                <a:cubicBezTo>
                  <a:pt x="989462" y="206991"/>
                  <a:pt x="515202" y="274092"/>
                  <a:pt x="40943" y="341194"/>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7" name="Rectangle 26">
            <a:extLst>
              <a:ext uri="{FF2B5EF4-FFF2-40B4-BE49-F238E27FC236}">
                <a16:creationId xmlns:a16="http://schemas.microsoft.com/office/drawing/2014/main" id="{D65796FC-1D89-944E-A29E-5E7038FE84A6}"/>
              </a:ext>
            </a:extLst>
          </p:cNvPr>
          <p:cNvSpPr/>
          <p:nvPr/>
        </p:nvSpPr>
        <p:spPr>
          <a:xfrm>
            <a:off x="4495799" y="3434956"/>
            <a:ext cx="4278919" cy="1335750"/>
          </a:xfrm>
          <a:prstGeom prst="rect">
            <a:avLst/>
          </a:prstGeom>
        </p:spPr>
        <p:txBody>
          <a:bodyPr wrap="square">
            <a:spAutoFit/>
          </a:bodyPr>
          <a:lstStyle/>
          <a:p>
            <a:pPr marL="257175" indent="-257175">
              <a:spcBef>
                <a:spcPct val="20000"/>
              </a:spcBef>
              <a:buFont typeface="Arial" panose="020B0604020202020204" pitchFamily="34" charset="0"/>
              <a:buChar char="•"/>
            </a:pPr>
            <a:r>
              <a:rPr lang="zh-CN" altLang="en-US" sz="2800" b="1" dirty="0">
                <a:solidFill>
                  <a:srgbClr val="C00000"/>
                </a:solidFill>
                <a:latin typeface="STKaiti" panose="02010600040101010101" pitchFamily="2" charset="-122"/>
                <a:ea typeface="STKaiti" panose="02010600040101010101" pitchFamily="2" charset="-122"/>
              </a:rPr>
              <a:t>缓存缺失</a:t>
            </a:r>
            <a:r>
              <a:rPr lang="en-US" altLang="zh-CN" sz="2800" b="1" dirty="0">
                <a:solidFill>
                  <a:srgbClr val="C00000"/>
                </a:solidFill>
                <a:latin typeface="STKaiti" panose="02010600040101010101" pitchFamily="2" charset="-122"/>
                <a:ea typeface="STKaiti" panose="02010600040101010101" pitchFamily="2" charset="-122"/>
              </a:rPr>
              <a:t>(</a:t>
            </a:r>
            <a:r>
              <a:rPr lang="en-US" sz="2800" b="1" dirty="0">
                <a:solidFill>
                  <a:srgbClr val="C00000"/>
                </a:solidFill>
                <a:latin typeface="STKaiti" panose="02010600040101010101" pitchFamily="2" charset="-122"/>
                <a:ea typeface="STKaiti" panose="02010600040101010101" pitchFamily="2" charset="-122"/>
              </a:rPr>
              <a:t>miss)</a:t>
            </a:r>
          </a:p>
          <a:p>
            <a:pPr marL="557213" lvl="1" indent="-214313">
              <a:spcBef>
                <a:spcPct val="20000"/>
              </a:spcBef>
              <a:buFont typeface="Arial" panose="020B0604020202020204" pitchFamily="34" charset="0"/>
              <a:buChar char="–"/>
            </a:pPr>
            <a:r>
              <a:rPr lang="zh-CN" altLang="en-US" sz="2400" b="1" dirty="0">
                <a:solidFill>
                  <a:prstClr val="black"/>
                </a:solidFill>
                <a:latin typeface="STKaiti" panose="02010600040101010101" pitchFamily="2" charset="-122"/>
                <a:ea typeface="STKaiti" panose="02010600040101010101" pitchFamily="2" charset="-122"/>
              </a:rPr>
              <a:t>要访问的数据不在这一层缓存，而在下面的层次</a:t>
            </a:r>
            <a:endParaRPr lang="zh-CN" altLang="en-US" sz="2000" b="1" dirty="0">
              <a:solidFill>
                <a:prstClr val="black"/>
              </a:solidFill>
              <a:latin typeface="STKaiti" panose="02010600040101010101" pitchFamily="2" charset="-122"/>
              <a:ea typeface="STKaiti" panose="02010600040101010101" pitchFamily="2" charset="-122"/>
            </a:endParaRPr>
          </a:p>
        </p:txBody>
      </p:sp>
      <mc:AlternateContent xmlns:mc="http://schemas.openxmlformats.org/markup-compatibility/2006">
        <mc:Choice xmlns:p14="http://schemas.microsoft.com/office/powerpoint/2010/main" Requires="p14">
          <p:contentPart p14:bwMode="auto" r:id="rId3">
            <p14:nvContentPartPr>
              <p14:cNvPr id="26" name="墨迹 25">
                <a:extLst>
                  <a:ext uri="{FF2B5EF4-FFF2-40B4-BE49-F238E27FC236}">
                    <a16:creationId xmlns:a16="http://schemas.microsoft.com/office/drawing/2014/main" id="{ED3ABE5A-7917-6BFF-E8AE-31B28B9C1042}"/>
                  </a:ext>
                </a:extLst>
              </p14:cNvPr>
              <p14:cNvContentPartPr/>
              <p14:nvPr/>
            </p14:nvContentPartPr>
            <p14:xfrm>
              <a:off x="4184280" y="4934880"/>
              <a:ext cx="739440" cy="828360"/>
            </p14:xfrm>
          </p:contentPart>
        </mc:Choice>
        <mc:Fallback>
          <p:pic>
            <p:nvPicPr>
              <p:cNvPr id="26" name="墨迹 25">
                <a:extLst>
                  <a:ext uri="{FF2B5EF4-FFF2-40B4-BE49-F238E27FC236}">
                    <a16:creationId xmlns:a16="http://schemas.microsoft.com/office/drawing/2014/main" id="{ED3ABE5A-7917-6BFF-E8AE-31B28B9C1042}"/>
                  </a:ext>
                </a:extLst>
              </p:cNvPr>
              <p:cNvPicPr/>
              <p:nvPr/>
            </p:nvPicPr>
            <p:blipFill>
              <a:blip r:embed="rId4"/>
              <a:stretch>
                <a:fillRect/>
              </a:stretch>
            </p:blipFill>
            <p:spPr>
              <a:xfrm>
                <a:off x="4174920" y="4925520"/>
                <a:ext cx="758160" cy="847080"/>
              </a:xfrm>
              <a:prstGeom prst="rect">
                <a:avLst/>
              </a:prstGeom>
            </p:spPr>
          </p:pic>
        </mc:Fallback>
      </mc:AlternateContent>
    </p:spTree>
    <p:extLst>
      <p:ext uri="{BB962C8B-B14F-4D97-AF65-F5344CB8AC3E}">
        <p14:creationId xmlns:p14="http://schemas.microsoft.com/office/powerpoint/2010/main" val="1643169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24" grpId="0" animBg="1"/>
      <p:bldP spid="25" grpId="0" animBg="1"/>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9D3586-9C20-4243-B066-29D0A2DCF9C1}"/>
              </a:ext>
            </a:extLst>
          </p:cNvPr>
          <p:cNvSpPr>
            <a:spLocks noGrp="1"/>
          </p:cNvSpPr>
          <p:nvPr>
            <p:ph type="title"/>
          </p:nvPr>
        </p:nvSpPr>
        <p:spPr/>
        <p:txBody>
          <a:bodyPr/>
          <a:lstStyle/>
          <a:p>
            <a:r>
              <a:rPr lang="zh-CN" altLang="en-US" dirty="0">
                <a:latin typeface="SimHei" panose="02010609060101010101" pitchFamily="49" charset="-122"/>
                <a:ea typeface="SimHei" panose="02010609060101010101" pitchFamily="49" charset="-122"/>
              </a:rPr>
              <a:t>层次化存储器</a:t>
            </a:r>
            <a:r>
              <a:rPr lang="en-CN" dirty="0">
                <a:latin typeface="SimHei" panose="02010609060101010101" pitchFamily="49" charset="-122"/>
                <a:ea typeface="SimHei" panose="02010609060101010101" pitchFamily="49" charset="-122"/>
              </a:rPr>
              <a:t>的分析</a:t>
            </a:r>
          </a:p>
        </p:txBody>
      </p:sp>
      <p:sp>
        <p:nvSpPr>
          <p:cNvPr id="5" name="Slide Number Placeholder 4">
            <a:extLst>
              <a:ext uri="{FF2B5EF4-FFF2-40B4-BE49-F238E27FC236}">
                <a16:creationId xmlns:a16="http://schemas.microsoft.com/office/drawing/2014/main" id="{A8316A52-5D3A-C447-BB83-BE3C75ED4F35}"/>
              </a:ext>
            </a:extLst>
          </p:cNvPr>
          <p:cNvSpPr>
            <a:spLocks noGrp="1"/>
          </p:cNvSpPr>
          <p:nvPr>
            <p:ph type="sldNum" sz="quarter" idx="12"/>
          </p:nvPr>
        </p:nvSpPr>
        <p:spPr/>
        <p:txBody>
          <a:bodyPr/>
          <a:lstStyle/>
          <a:p>
            <a:fld id="{176ACFD1-D213-4B9C-817B-45486DBF105A}" type="slidenum">
              <a:rPr lang="en-US" smtClean="0">
                <a:solidFill>
                  <a:prstClr val="black"/>
                </a:solidFill>
              </a:rPr>
              <a:pPr/>
              <a:t>21</a:t>
            </a:fld>
            <a:endParaRPr lang="en-US">
              <a:solidFill>
                <a:prstClr val="black"/>
              </a:solidFill>
            </a:endParaRPr>
          </a:p>
        </p:txBody>
      </p:sp>
      <p:sp>
        <p:nvSpPr>
          <p:cNvPr id="8" name="Text Box 2">
            <a:extLst>
              <a:ext uri="{FF2B5EF4-FFF2-40B4-BE49-F238E27FC236}">
                <a16:creationId xmlns:a16="http://schemas.microsoft.com/office/drawing/2014/main" id="{053EBCC4-34FA-E945-8818-8E2CFA6021D5}"/>
              </a:ext>
            </a:extLst>
          </p:cNvPr>
          <p:cNvSpPr txBox="1">
            <a:spLocks noChangeArrowheads="1"/>
          </p:cNvSpPr>
          <p:nvPr/>
        </p:nvSpPr>
        <p:spPr bwMode="auto">
          <a:xfrm>
            <a:off x="457200" y="2844791"/>
            <a:ext cx="4569988" cy="8923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89" tIns="33295" rIns="66589" bIns="33295">
            <a:spAutoFit/>
          </a:bodyPr>
          <a:lstStyle>
            <a:lvl1pPr defTabSz="1009650" eaLnBrk="0" hangingPunct="0">
              <a:defRPr>
                <a:solidFill>
                  <a:schemeClr val="tx1"/>
                </a:solidFill>
                <a:latin typeface="Tahoma" pitchFamily="34" charset="0"/>
                <a:ea typeface="宋体" charset="-122"/>
              </a:defRPr>
            </a:lvl1pPr>
            <a:lvl2pPr marL="504825"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781" b="1" dirty="0">
                <a:latin typeface="STKaiti" panose="02010600040101010101" pitchFamily="2" charset="-122"/>
                <a:ea typeface="STKaiti" panose="02010600040101010101" pitchFamily="2" charset="-122"/>
              </a:rPr>
              <a:t>例：两级存储系统</a:t>
            </a:r>
          </a:p>
          <a:p>
            <a:pPr lvl="1" eaLnBrk="1" hangingPunct="1"/>
            <a:r>
              <a:rPr kumimoji="1" lang="zh-CN" altLang="en-US" sz="1781" b="1" dirty="0">
                <a:latin typeface="STKaiti" panose="02010600040101010101" pitchFamily="2" charset="-122"/>
                <a:ea typeface="STKaiti" panose="02010600040101010101" pitchFamily="2" charset="-122"/>
              </a:rPr>
              <a:t>  缓存</a:t>
            </a:r>
            <a:r>
              <a:rPr kumimoji="1" lang="en-US" altLang="zh-CN" sz="1781" b="1" dirty="0">
                <a:latin typeface="STKaiti" panose="02010600040101010101" pitchFamily="2" charset="-122"/>
                <a:ea typeface="STKaiti" panose="02010600040101010101" pitchFamily="2" charset="-122"/>
              </a:rPr>
              <a:t>	</a:t>
            </a:r>
            <a:r>
              <a:rPr kumimoji="1" lang="zh-CN" altLang="en-US" sz="1781" b="1" dirty="0">
                <a:latin typeface="STKaiti" panose="02010600040101010101" pitchFamily="2" charset="-122"/>
                <a:ea typeface="STKaiti" panose="02010600040101010101" pitchFamily="2" charset="-122"/>
              </a:rPr>
              <a:t>访问时间</a:t>
            </a:r>
            <a:r>
              <a:rPr kumimoji="1" lang="en-US" altLang="zh-CN" sz="1781" b="1" dirty="0">
                <a:latin typeface="STKaiti" panose="02010600040101010101" pitchFamily="2" charset="-122"/>
                <a:ea typeface="STKaiti" panose="02010600040101010101" pitchFamily="2" charset="-122"/>
              </a:rPr>
              <a:t>T</a:t>
            </a:r>
            <a:r>
              <a:rPr kumimoji="1" lang="en-US" altLang="zh-CN" sz="1781" b="1" baseline="-25000" dirty="0">
                <a:latin typeface="STKaiti" panose="02010600040101010101" pitchFamily="2" charset="-122"/>
                <a:ea typeface="STKaiti" panose="02010600040101010101" pitchFamily="2" charset="-122"/>
              </a:rPr>
              <a:t>A1</a:t>
            </a:r>
            <a:r>
              <a:rPr kumimoji="1" lang="zh-CN" altLang="en-US" sz="1781" b="1" dirty="0">
                <a:latin typeface="STKaiti" panose="02010600040101010101" pitchFamily="2" charset="-122"/>
                <a:ea typeface="STKaiti" panose="02010600040101010101" pitchFamily="2" charset="-122"/>
              </a:rPr>
              <a:t>， 命中率</a:t>
            </a:r>
            <a:r>
              <a:rPr kumimoji="1" lang="en-US" altLang="zh-CN" sz="1781" b="1" dirty="0">
                <a:latin typeface="STKaiti" panose="02010600040101010101" pitchFamily="2" charset="-122"/>
                <a:ea typeface="STKaiti" panose="02010600040101010101" pitchFamily="2" charset="-122"/>
              </a:rPr>
              <a:t>H</a:t>
            </a:r>
          </a:p>
          <a:p>
            <a:pPr lvl="1" eaLnBrk="1" hangingPunct="1"/>
            <a:r>
              <a:rPr kumimoji="1" lang="en-US" altLang="zh-CN" sz="1781" b="1" dirty="0">
                <a:latin typeface="STKaiti" panose="02010600040101010101" pitchFamily="2" charset="-122"/>
                <a:ea typeface="STKaiti" panose="02010600040101010101" pitchFamily="2" charset="-122"/>
              </a:rPr>
              <a:t>  </a:t>
            </a:r>
            <a:r>
              <a:rPr kumimoji="1" lang="zh-CN" altLang="en-US" sz="1781" b="1" dirty="0">
                <a:latin typeface="STKaiti" panose="02010600040101010101" pitchFamily="2" charset="-122"/>
                <a:ea typeface="STKaiti" panose="02010600040101010101" pitchFamily="2" charset="-122"/>
              </a:rPr>
              <a:t>主存</a:t>
            </a:r>
            <a:r>
              <a:rPr kumimoji="1" lang="en-US" altLang="zh-CN" sz="1781" b="1" dirty="0">
                <a:latin typeface="STKaiti" panose="02010600040101010101" pitchFamily="2" charset="-122"/>
                <a:ea typeface="STKaiti" panose="02010600040101010101" pitchFamily="2" charset="-122"/>
              </a:rPr>
              <a:t>	</a:t>
            </a:r>
            <a:r>
              <a:rPr kumimoji="1" lang="zh-CN" altLang="en-US" sz="1781" b="1" dirty="0">
                <a:latin typeface="STKaiti" panose="02010600040101010101" pitchFamily="2" charset="-122"/>
                <a:ea typeface="STKaiti" panose="02010600040101010101" pitchFamily="2" charset="-122"/>
              </a:rPr>
              <a:t>访问时间</a:t>
            </a:r>
            <a:r>
              <a:rPr kumimoji="1" lang="en-US" altLang="zh-CN" sz="1781" b="1" dirty="0">
                <a:latin typeface="STKaiti" panose="02010600040101010101" pitchFamily="2" charset="-122"/>
                <a:ea typeface="STKaiti" panose="02010600040101010101" pitchFamily="2" charset="-122"/>
              </a:rPr>
              <a:t>T</a:t>
            </a:r>
            <a:r>
              <a:rPr kumimoji="1" lang="en-US" altLang="zh-CN" sz="1781" b="1" baseline="-25000" dirty="0">
                <a:latin typeface="STKaiti" panose="02010600040101010101" pitchFamily="2" charset="-122"/>
                <a:ea typeface="STKaiti" panose="02010600040101010101" pitchFamily="2" charset="-122"/>
              </a:rPr>
              <a:t>A2</a:t>
            </a:r>
            <a:r>
              <a:rPr kumimoji="1" lang="zh-CN" altLang="en-US" sz="1781" b="1" baseline="-25000" dirty="0">
                <a:latin typeface="STKaiti" panose="02010600040101010101" pitchFamily="2" charset="-122"/>
                <a:ea typeface="STKaiti" panose="02010600040101010101" pitchFamily="2" charset="-122"/>
              </a:rPr>
              <a:t> </a:t>
            </a:r>
            <a:r>
              <a:rPr lang="en-US" dirty="0">
                <a:ea typeface="SimHei" panose="02010609060101010101" pitchFamily="49" charset="-122"/>
              </a:rPr>
              <a:t>(&gt;&gt;TA1)</a:t>
            </a:r>
          </a:p>
        </p:txBody>
      </p:sp>
      <p:sp>
        <p:nvSpPr>
          <p:cNvPr id="9" name="Text Box 3">
            <a:extLst>
              <a:ext uri="{FF2B5EF4-FFF2-40B4-BE49-F238E27FC236}">
                <a16:creationId xmlns:a16="http://schemas.microsoft.com/office/drawing/2014/main" id="{6CF153FC-2ACB-0044-A7DE-B46BAE94B406}"/>
              </a:ext>
            </a:extLst>
          </p:cNvPr>
          <p:cNvSpPr txBox="1">
            <a:spLocks noChangeArrowheads="1"/>
          </p:cNvSpPr>
          <p:nvPr/>
        </p:nvSpPr>
        <p:spPr bwMode="auto">
          <a:xfrm>
            <a:off x="466621" y="4131608"/>
            <a:ext cx="1969917" cy="3412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781" b="1" dirty="0">
                <a:latin typeface="STKaiti" panose="02010600040101010101" pitchFamily="2" charset="-122"/>
                <a:ea typeface="STKaiti" panose="02010600040101010101" pitchFamily="2" charset="-122"/>
              </a:rPr>
              <a:t>则</a:t>
            </a:r>
            <a:r>
              <a:rPr kumimoji="1" lang="zh-CN" altLang="en-US" sz="1781" b="1" dirty="0">
                <a:solidFill>
                  <a:schemeClr val="hlink"/>
                </a:solidFill>
                <a:latin typeface="STKaiti" panose="02010600040101010101" pitchFamily="2" charset="-122"/>
                <a:ea typeface="STKaiti" panose="02010600040101010101" pitchFamily="2" charset="-122"/>
              </a:rPr>
              <a:t>平均访问时间</a:t>
            </a:r>
            <a:r>
              <a:rPr kumimoji="1" lang="zh-CN" altLang="en-US" sz="1781" b="1" dirty="0">
                <a:latin typeface="STKaiti" panose="02010600040101010101" pitchFamily="2" charset="-122"/>
                <a:ea typeface="STKaiti" panose="02010600040101010101" pitchFamily="2" charset="-122"/>
              </a:rPr>
              <a:t>    </a:t>
            </a:r>
            <a:endParaRPr kumimoji="1" lang="en-US" altLang="zh-CN" sz="1781" b="1" dirty="0">
              <a:latin typeface="STKaiti" panose="02010600040101010101" pitchFamily="2" charset="-122"/>
              <a:ea typeface="STKaiti" panose="02010600040101010101" pitchFamily="2" charset="-122"/>
            </a:endParaRPr>
          </a:p>
        </p:txBody>
      </p:sp>
      <p:sp>
        <p:nvSpPr>
          <p:cNvPr id="10" name="Text Box 4">
            <a:extLst>
              <a:ext uri="{FF2B5EF4-FFF2-40B4-BE49-F238E27FC236}">
                <a16:creationId xmlns:a16="http://schemas.microsoft.com/office/drawing/2014/main" id="{EE864451-9033-E942-A31A-DCEE9406C5FF}"/>
              </a:ext>
            </a:extLst>
          </p:cNvPr>
          <p:cNvSpPr txBox="1">
            <a:spLocks noChangeArrowheads="1"/>
          </p:cNvSpPr>
          <p:nvPr/>
        </p:nvSpPr>
        <p:spPr bwMode="auto">
          <a:xfrm>
            <a:off x="332631" y="5681174"/>
            <a:ext cx="3424192" cy="3727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lnSpc>
                <a:spcPct val="130000"/>
              </a:lnSpc>
            </a:pPr>
            <a:r>
              <a:rPr kumimoji="1" lang="zh-CN" altLang="en-US" sz="1781" b="1" dirty="0">
                <a:solidFill>
                  <a:schemeClr val="hlink"/>
                </a:solidFill>
                <a:latin typeface="STKaiti" panose="02010600040101010101" pitchFamily="2" charset="-122"/>
                <a:ea typeface="STKaiti" panose="02010600040101010101" pitchFamily="2" charset="-122"/>
              </a:rPr>
              <a:t>访问时间比                   访问效率</a:t>
            </a:r>
            <a:endParaRPr kumimoji="1" lang="zh-CN" altLang="en-US" sz="1781" b="1" dirty="0">
              <a:latin typeface="STKaiti" panose="02010600040101010101" pitchFamily="2" charset="-122"/>
              <a:ea typeface="STKaiti" panose="02010600040101010101" pitchFamily="2" charset="-122"/>
            </a:endParaRPr>
          </a:p>
        </p:txBody>
      </p:sp>
      <p:grpSp>
        <p:nvGrpSpPr>
          <p:cNvPr id="11" name="Group 6">
            <a:extLst>
              <a:ext uri="{FF2B5EF4-FFF2-40B4-BE49-F238E27FC236}">
                <a16:creationId xmlns:a16="http://schemas.microsoft.com/office/drawing/2014/main" id="{DA91A125-C3E8-524B-9B5C-CDF293D4D6C5}"/>
              </a:ext>
            </a:extLst>
          </p:cNvPr>
          <p:cNvGrpSpPr>
            <a:grpSpLocks noChangeAspect="1"/>
          </p:cNvGrpSpPr>
          <p:nvPr/>
        </p:nvGrpSpPr>
        <p:grpSpPr bwMode="auto">
          <a:xfrm>
            <a:off x="1534966" y="5552814"/>
            <a:ext cx="787241" cy="640680"/>
            <a:chOff x="2011" y="2382"/>
            <a:chExt cx="661" cy="577"/>
          </a:xfrm>
        </p:grpSpPr>
        <p:sp>
          <p:nvSpPr>
            <p:cNvPr id="12" name="AutoShape 7">
              <a:extLst>
                <a:ext uri="{FF2B5EF4-FFF2-40B4-BE49-F238E27FC236}">
                  <a16:creationId xmlns:a16="http://schemas.microsoft.com/office/drawing/2014/main" id="{13174506-CB5F-5849-A65D-6F0019577C2E}"/>
                </a:ext>
              </a:extLst>
            </p:cNvPr>
            <p:cNvSpPr>
              <a:spLocks noChangeAspect="1" noChangeArrowheads="1" noTextEdit="1"/>
            </p:cNvSpPr>
            <p:nvPr/>
          </p:nvSpPr>
          <p:spPr bwMode="auto">
            <a:xfrm>
              <a:off x="2011" y="2382"/>
              <a:ext cx="661"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latin typeface="STKaiti" panose="02010600040101010101" pitchFamily="2" charset="-122"/>
                <a:ea typeface="STKaiti" panose="02010600040101010101" pitchFamily="2" charset="-122"/>
              </a:endParaRPr>
            </a:p>
          </p:txBody>
        </p:sp>
        <p:sp>
          <p:nvSpPr>
            <p:cNvPr id="13" name="Line 8">
              <a:extLst>
                <a:ext uri="{FF2B5EF4-FFF2-40B4-BE49-F238E27FC236}">
                  <a16:creationId xmlns:a16="http://schemas.microsoft.com/office/drawing/2014/main" id="{9EC2C424-5DE2-DD49-84BB-8807FF54CEBE}"/>
                </a:ext>
              </a:extLst>
            </p:cNvPr>
            <p:cNvSpPr>
              <a:spLocks noChangeShapeType="1"/>
            </p:cNvSpPr>
            <p:nvPr/>
          </p:nvSpPr>
          <p:spPr bwMode="auto">
            <a:xfrm>
              <a:off x="2342" y="2659"/>
              <a:ext cx="294" cy="1"/>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latin typeface="STKaiti" panose="02010600040101010101" pitchFamily="2" charset="-122"/>
                <a:ea typeface="STKaiti" panose="02010600040101010101" pitchFamily="2" charset="-122"/>
              </a:endParaRPr>
            </a:p>
          </p:txBody>
        </p:sp>
        <p:sp>
          <p:nvSpPr>
            <p:cNvPr id="14" name="Rectangle 9">
              <a:extLst>
                <a:ext uri="{FF2B5EF4-FFF2-40B4-BE49-F238E27FC236}">
                  <a16:creationId xmlns:a16="http://schemas.microsoft.com/office/drawing/2014/main" id="{08051331-0FAF-5047-9727-741CF63207F6}"/>
                </a:ext>
              </a:extLst>
            </p:cNvPr>
            <p:cNvSpPr>
              <a:spLocks noChangeArrowheads="1"/>
            </p:cNvSpPr>
            <p:nvPr/>
          </p:nvSpPr>
          <p:spPr bwMode="auto">
            <a:xfrm>
              <a:off x="2547" y="2808"/>
              <a:ext cx="50"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b="1">
                  <a:latin typeface="STKaiti" panose="02010600040101010101" pitchFamily="2" charset="-122"/>
                  <a:ea typeface="STKaiti" panose="02010600040101010101" pitchFamily="2" charset="-122"/>
                </a:rPr>
                <a:t>1</a:t>
              </a:r>
              <a:endParaRPr lang="en-US" altLang="zh-CN" sz="923" b="1">
                <a:latin typeface="STKaiti" panose="02010600040101010101" pitchFamily="2" charset="-122"/>
                <a:ea typeface="STKaiti" panose="02010600040101010101" pitchFamily="2" charset="-122"/>
              </a:endParaRPr>
            </a:p>
          </p:txBody>
        </p:sp>
        <p:sp>
          <p:nvSpPr>
            <p:cNvPr id="15" name="Rectangle 10">
              <a:extLst>
                <a:ext uri="{FF2B5EF4-FFF2-40B4-BE49-F238E27FC236}">
                  <a16:creationId xmlns:a16="http://schemas.microsoft.com/office/drawing/2014/main" id="{F9114A9C-0C5E-5843-8214-46D74087C576}"/>
                </a:ext>
              </a:extLst>
            </p:cNvPr>
            <p:cNvSpPr>
              <a:spLocks noChangeArrowheads="1"/>
            </p:cNvSpPr>
            <p:nvPr/>
          </p:nvSpPr>
          <p:spPr bwMode="auto">
            <a:xfrm>
              <a:off x="2549" y="2528"/>
              <a:ext cx="50"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b="1">
                  <a:latin typeface="STKaiti" panose="02010600040101010101" pitchFamily="2" charset="-122"/>
                  <a:ea typeface="STKaiti" panose="02010600040101010101" pitchFamily="2" charset="-122"/>
                </a:rPr>
                <a:t>2</a:t>
              </a:r>
              <a:endParaRPr lang="en-US" altLang="zh-CN" sz="923" b="1">
                <a:latin typeface="STKaiti" panose="02010600040101010101" pitchFamily="2" charset="-122"/>
                <a:ea typeface="STKaiti" panose="02010600040101010101" pitchFamily="2" charset="-122"/>
              </a:endParaRPr>
            </a:p>
          </p:txBody>
        </p:sp>
        <p:sp>
          <p:nvSpPr>
            <p:cNvPr id="16" name="Rectangle 11">
              <a:extLst>
                <a:ext uri="{FF2B5EF4-FFF2-40B4-BE49-F238E27FC236}">
                  <a16:creationId xmlns:a16="http://schemas.microsoft.com/office/drawing/2014/main" id="{8DDE9ABE-1D3A-2B4A-99BF-ACFDFE4EAD18}"/>
                </a:ext>
              </a:extLst>
            </p:cNvPr>
            <p:cNvSpPr>
              <a:spLocks noChangeArrowheads="1"/>
            </p:cNvSpPr>
            <p:nvPr/>
          </p:nvSpPr>
          <p:spPr bwMode="auto">
            <a:xfrm>
              <a:off x="2470" y="2809"/>
              <a:ext cx="74"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b="1" i="1">
                  <a:latin typeface="STKaiti" panose="02010600040101010101" pitchFamily="2" charset="-122"/>
                  <a:ea typeface="STKaiti" panose="02010600040101010101" pitchFamily="2" charset="-122"/>
                </a:rPr>
                <a:t>A</a:t>
              </a:r>
              <a:endParaRPr lang="en-US" altLang="zh-CN" sz="923" b="1">
                <a:latin typeface="STKaiti" panose="02010600040101010101" pitchFamily="2" charset="-122"/>
                <a:ea typeface="STKaiti" panose="02010600040101010101" pitchFamily="2" charset="-122"/>
              </a:endParaRPr>
            </a:p>
          </p:txBody>
        </p:sp>
        <p:sp>
          <p:nvSpPr>
            <p:cNvPr id="17" name="Rectangle 12">
              <a:extLst>
                <a:ext uri="{FF2B5EF4-FFF2-40B4-BE49-F238E27FC236}">
                  <a16:creationId xmlns:a16="http://schemas.microsoft.com/office/drawing/2014/main" id="{26ABDCBD-22D7-E941-9899-3C005F90F318}"/>
                </a:ext>
              </a:extLst>
            </p:cNvPr>
            <p:cNvSpPr>
              <a:spLocks noChangeArrowheads="1"/>
            </p:cNvSpPr>
            <p:nvPr/>
          </p:nvSpPr>
          <p:spPr bwMode="auto">
            <a:xfrm>
              <a:off x="2464" y="2529"/>
              <a:ext cx="74"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b="1" i="1">
                  <a:latin typeface="STKaiti" panose="02010600040101010101" pitchFamily="2" charset="-122"/>
                  <a:ea typeface="STKaiti" panose="02010600040101010101" pitchFamily="2" charset="-122"/>
                </a:rPr>
                <a:t>A</a:t>
              </a:r>
              <a:endParaRPr lang="en-US" altLang="zh-CN" sz="923" b="1">
                <a:latin typeface="STKaiti" panose="02010600040101010101" pitchFamily="2" charset="-122"/>
                <a:ea typeface="STKaiti" panose="02010600040101010101" pitchFamily="2" charset="-122"/>
              </a:endParaRPr>
            </a:p>
          </p:txBody>
        </p:sp>
        <p:sp>
          <p:nvSpPr>
            <p:cNvPr id="18" name="Rectangle 13">
              <a:extLst>
                <a:ext uri="{FF2B5EF4-FFF2-40B4-BE49-F238E27FC236}">
                  <a16:creationId xmlns:a16="http://schemas.microsoft.com/office/drawing/2014/main" id="{CEDF9079-B44A-F646-8F63-E5B5C448388A}"/>
                </a:ext>
              </a:extLst>
            </p:cNvPr>
            <p:cNvSpPr>
              <a:spLocks noChangeArrowheads="1"/>
            </p:cNvSpPr>
            <p:nvPr/>
          </p:nvSpPr>
          <p:spPr bwMode="auto">
            <a:xfrm>
              <a:off x="2348" y="2687"/>
              <a:ext cx="122"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b="1" i="1">
                  <a:latin typeface="STKaiti" panose="02010600040101010101" pitchFamily="2" charset="-122"/>
                  <a:ea typeface="STKaiti" panose="02010600040101010101" pitchFamily="2" charset="-122"/>
                </a:rPr>
                <a:t>T</a:t>
              </a:r>
              <a:endParaRPr lang="en-US" altLang="zh-CN" sz="923" b="1">
                <a:latin typeface="STKaiti" panose="02010600040101010101" pitchFamily="2" charset="-122"/>
                <a:ea typeface="STKaiti" panose="02010600040101010101" pitchFamily="2" charset="-122"/>
              </a:endParaRPr>
            </a:p>
          </p:txBody>
        </p:sp>
        <p:sp>
          <p:nvSpPr>
            <p:cNvPr id="19" name="Rectangle 14">
              <a:extLst>
                <a:ext uri="{FF2B5EF4-FFF2-40B4-BE49-F238E27FC236}">
                  <a16:creationId xmlns:a16="http://schemas.microsoft.com/office/drawing/2014/main" id="{7F586E1D-13A8-8048-9813-D4A5BAAC28C6}"/>
                </a:ext>
              </a:extLst>
            </p:cNvPr>
            <p:cNvSpPr>
              <a:spLocks noChangeArrowheads="1"/>
            </p:cNvSpPr>
            <p:nvPr/>
          </p:nvSpPr>
          <p:spPr bwMode="auto">
            <a:xfrm>
              <a:off x="2343" y="2408"/>
              <a:ext cx="122"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b="1" i="1">
                  <a:latin typeface="STKaiti" panose="02010600040101010101" pitchFamily="2" charset="-122"/>
                  <a:ea typeface="STKaiti" panose="02010600040101010101" pitchFamily="2" charset="-122"/>
                </a:rPr>
                <a:t>T</a:t>
              </a:r>
              <a:endParaRPr lang="en-US" altLang="zh-CN" sz="923" b="1">
                <a:latin typeface="STKaiti" panose="02010600040101010101" pitchFamily="2" charset="-122"/>
                <a:ea typeface="STKaiti" panose="02010600040101010101" pitchFamily="2" charset="-122"/>
              </a:endParaRPr>
            </a:p>
          </p:txBody>
        </p:sp>
        <p:sp>
          <p:nvSpPr>
            <p:cNvPr id="20" name="Rectangle 15">
              <a:extLst>
                <a:ext uri="{FF2B5EF4-FFF2-40B4-BE49-F238E27FC236}">
                  <a16:creationId xmlns:a16="http://schemas.microsoft.com/office/drawing/2014/main" id="{ACC83A2E-4017-C04F-A546-CF868829726B}"/>
                </a:ext>
              </a:extLst>
            </p:cNvPr>
            <p:cNvSpPr>
              <a:spLocks noChangeArrowheads="1"/>
            </p:cNvSpPr>
            <p:nvPr/>
          </p:nvSpPr>
          <p:spPr bwMode="auto">
            <a:xfrm>
              <a:off x="2041" y="2536"/>
              <a:ext cx="77"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b="1" i="1">
                  <a:latin typeface="STKaiti" panose="02010600040101010101" pitchFamily="2" charset="-122"/>
                  <a:ea typeface="STKaiti" panose="02010600040101010101" pitchFamily="2" charset="-122"/>
                </a:rPr>
                <a:t>r</a:t>
              </a:r>
              <a:endParaRPr lang="en-US" altLang="zh-CN" sz="923" b="1">
                <a:latin typeface="STKaiti" panose="02010600040101010101" pitchFamily="2" charset="-122"/>
                <a:ea typeface="STKaiti" panose="02010600040101010101" pitchFamily="2" charset="-122"/>
              </a:endParaRPr>
            </a:p>
          </p:txBody>
        </p:sp>
        <p:sp>
          <p:nvSpPr>
            <p:cNvPr id="21" name="Rectangle 16">
              <a:extLst>
                <a:ext uri="{FF2B5EF4-FFF2-40B4-BE49-F238E27FC236}">
                  <a16:creationId xmlns:a16="http://schemas.microsoft.com/office/drawing/2014/main" id="{2A34906B-86FE-9146-850E-862E1C097592}"/>
                </a:ext>
              </a:extLst>
            </p:cNvPr>
            <p:cNvSpPr>
              <a:spLocks noChangeArrowheads="1"/>
            </p:cNvSpPr>
            <p:nvPr/>
          </p:nvSpPr>
          <p:spPr bwMode="auto">
            <a:xfrm>
              <a:off x="2177" y="2513"/>
              <a:ext cx="133"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b="1">
                  <a:latin typeface="STKaiti" panose="02010600040101010101" pitchFamily="2" charset="-122"/>
                  <a:ea typeface="STKaiti" panose="02010600040101010101" pitchFamily="2" charset="-122"/>
                </a:rPr>
                <a:t>=</a:t>
              </a:r>
              <a:endParaRPr lang="en-US" altLang="zh-CN" sz="923" b="1">
                <a:latin typeface="STKaiti" panose="02010600040101010101" pitchFamily="2" charset="-122"/>
                <a:ea typeface="STKaiti" panose="02010600040101010101" pitchFamily="2" charset="-122"/>
              </a:endParaRPr>
            </a:p>
          </p:txBody>
        </p:sp>
      </p:grpSp>
      <p:grpSp>
        <p:nvGrpSpPr>
          <p:cNvPr id="22" name="Group 17">
            <a:extLst>
              <a:ext uri="{FF2B5EF4-FFF2-40B4-BE49-F238E27FC236}">
                <a16:creationId xmlns:a16="http://schemas.microsoft.com/office/drawing/2014/main" id="{B6B3919D-76F5-B64C-B8E0-6386A48336B2}"/>
              </a:ext>
            </a:extLst>
          </p:cNvPr>
          <p:cNvGrpSpPr>
            <a:grpSpLocks noChangeAspect="1"/>
          </p:cNvGrpSpPr>
          <p:nvPr/>
        </p:nvGrpSpPr>
        <p:grpSpPr bwMode="auto">
          <a:xfrm>
            <a:off x="3575719" y="5586175"/>
            <a:ext cx="812366" cy="660570"/>
            <a:chOff x="2031" y="2972"/>
            <a:chExt cx="682" cy="595"/>
          </a:xfrm>
        </p:grpSpPr>
        <p:sp>
          <p:nvSpPr>
            <p:cNvPr id="23" name="AutoShape 18">
              <a:extLst>
                <a:ext uri="{FF2B5EF4-FFF2-40B4-BE49-F238E27FC236}">
                  <a16:creationId xmlns:a16="http://schemas.microsoft.com/office/drawing/2014/main" id="{1914A1C1-A255-3242-B484-7CE0FC926FD3}"/>
                </a:ext>
              </a:extLst>
            </p:cNvPr>
            <p:cNvSpPr>
              <a:spLocks noChangeAspect="1" noChangeArrowheads="1" noTextEdit="1"/>
            </p:cNvSpPr>
            <p:nvPr/>
          </p:nvSpPr>
          <p:spPr bwMode="auto">
            <a:xfrm>
              <a:off x="2031" y="2972"/>
              <a:ext cx="682" cy="5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latin typeface="STKaiti" panose="02010600040101010101" pitchFamily="2" charset="-122"/>
                <a:ea typeface="STKaiti" panose="02010600040101010101" pitchFamily="2" charset="-122"/>
              </a:endParaRPr>
            </a:p>
          </p:txBody>
        </p:sp>
        <p:sp>
          <p:nvSpPr>
            <p:cNvPr id="24" name="Line 19">
              <a:extLst>
                <a:ext uri="{FF2B5EF4-FFF2-40B4-BE49-F238E27FC236}">
                  <a16:creationId xmlns:a16="http://schemas.microsoft.com/office/drawing/2014/main" id="{88BD4C6A-A609-5D4D-B6DA-57E3982AF2AD}"/>
                </a:ext>
              </a:extLst>
            </p:cNvPr>
            <p:cNvSpPr>
              <a:spLocks noChangeShapeType="1"/>
            </p:cNvSpPr>
            <p:nvPr/>
          </p:nvSpPr>
          <p:spPr bwMode="auto">
            <a:xfrm>
              <a:off x="2372" y="3258"/>
              <a:ext cx="293" cy="1"/>
            </a:xfrm>
            <a:prstGeom prst="line">
              <a:avLst/>
            </a:prstGeom>
            <a:noFill/>
            <a:ln w="14288">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latin typeface="STKaiti" panose="02010600040101010101" pitchFamily="2" charset="-122"/>
                <a:ea typeface="STKaiti" panose="02010600040101010101" pitchFamily="2" charset="-122"/>
              </a:endParaRPr>
            </a:p>
          </p:txBody>
        </p:sp>
        <p:sp>
          <p:nvSpPr>
            <p:cNvPr id="25" name="Rectangle 20">
              <a:extLst>
                <a:ext uri="{FF2B5EF4-FFF2-40B4-BE49-F238E27FC236}">
                  <a16:creationId xmlns:a16="http://schemas.microsoft.com/office/drawing/2014/main" id="{7B95EC23-D273-3A4B-92C0-21DCB428D45F}"/>
                </a:ext>
              </a:extLst>
            </p:cNvPr>
            <p:cNvSpPr>
              <a:spLocks noChangeArrowheads="1"/>
            </p:cNvSpPr>
            <p:nvPr/>
          </p:nvSpPr>
          <p:spPr bwMode="auto">
            <a:xfrm>
              <a:off x="2527" y="3412"/>
              <a:ext cx="85" cy="1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121" b="1" i="1">
                  <a:latin typeface="STKaiti" panose="02010600040101010101" pitchFamily="2" charset="-122"/>
                  <a:ea typeface="STKaiti" panose="02010600040101010101" pitchFamily="2" charset="-122"/>
                </a:rPr>
                <a:t>A</a:t>
              </a:r>
              <a:endParaRPr lang="en-US" altLang="zh-CN" sz="923" b="1">
                <a:latin typeface="STKaiti" panose="02010600040101010101" pitchFamily="2" charset="-122"/>
                <a:ea typeface="STKaiti" panose="02010600040101010101" pitchFamily="2" charset="-122"/>
              </a:endParaRPr>
            </a:p>
          </p:txBody>
        </p:sp>
        <p:sp>
          <p:nvSpPr>
            <p:cNvPr id="26" name="Rectangle 21">
              <a:extLst>
                <a:ext uri="{FF2B5EF4-FFF2-40B4-BE49-F238E27FC236}">
                  <a16:creationId xmlns:a16="http://schemas.microsoft.com/office/drawing/2014/main" id="{1FF4A038-474C-274D-BF56-06752617D493}"/>
                </a:ext>
              </a:extLst>
            </p:cNvPr>
            <p:cNvSpPr>
              <a:spLocks noChangeArrowheads="1"/>
            </p:cNvSpPr>
            <p:nvPr/>
          </p:nvSpPr>
          <p:spPr bwMode="auto">
            <a:xfrm>
              <a:off x="2499" y="3124"/>
              <a:ext cx="85" cy="1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121" b="1" i="1">
                  <a:latin typeface="STKaiti" panose="02010600040101010101" pitchFamily="2" charset="-122"/>
                  <a:ea typeface="STKaiti" panose="02010600040101010101" pitchFamily="2" charset="-122"/>
                </a:rPr>
                <a:t>A</a:t>
              </a:r>
              <a:endParaRPr lang="en-US" altLang="zh-CN" sz="923" b="1">
                <a:latin typeface="STKaiti" panose="02010600040101010101" pitchFamily="2" charset="-122"/>
                <a:ea typeface="STKaiti" panose="02010600040101010101" pitchFamily="2" charset="-122"/>
              </a:endParaRPr>
            </a:p>
          </p:txBody>
        </p:sp>
        <p:sp>
          <p:nvSpPr>
            <p:cNvPr id="27" name="Rectangle 22">
              <a:extLst>
                <a:ext uri="{FF2B5EF4-FFF2-40B4-BE49-F238E27FC236}">
                  <a16:creationId xmlns:a16="http://schemas.microsoft.com/office/drawing/2014/main" id="{6E51813C-B9B0-8044-A8DD-9ED65C4BB648}"/>
                </a:ext>
              </a:extLst>
            </p:cNvPr>
            <p:cNvSpPr>
              <a:spLocks noChangeArrowheads="1"/>
            </p:cNvSpPr>
            <p:nvPr/>
          </p:nvSpPr>
          <p:spPr bwMode="auto">
            <a:xfrm>
              <a:off x="2401" y="3286"/>
              <a:ext cx="127" cy="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913" b="1" i="1">
                  <a:latin typeface="STKaiti" panose="02010600040101010101" pitchFamily="2" charset="-122"/>
                  <a:ea typeface="STKaiti" panose="02010600040101010101" pitchFamily="2" charset="-122"/>
                </a:rPr>
                <a:t>T</a:t>
              </a:r>
              <a:endParaRPr lang="en-US" altLang="zh-CN" sz="923" b="1">
                <a:latin typeface="STKaiti" panose="02010600040101010101" pitchFamily="2" charset="-122"/>
                <a:ea typeface="STKaiti" panose="02010600040101010101" pitchFamily="2" charset="-122"/>
              </a:endParaRPr>
            </a:p>
          </p:txBody>
        </p:sp>
        <p:sp>
          <p:nvSpPr>
            <p:cNvPr id="28" name="Rectangle 23">
              <a:extLst>
                <a:ext uri="{FF2B5EF4-FFF2-40B4-BE49-F238E27FC236}">
                  <a16:creationId xmlns:a16="http://schemas.microsoft.com/office/drawing/2014/main" id="{695C8327-2D6E-9B48-A0D1-75C955BDDD5A}"/>
                </a:ext>
              </a:extLst>
            </p:cNvPr>
            <p:cNvSpPr>
              <a:spLocks noChangeArrowheads="1"/>
            </p:cNvSpPr>
            <p:nvPr/>
          </p:nvSpPr>
          <p:spPr bwMode="auto">
            <a:xfrm>
              <a:off x="2373" y="2998"/>
              <a:ext cx="127" cy="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913" b="1" i="1">
                  <a:latin typeface="STKaiti" panose="02010600040101010101" pitchFamily="2" charset="-122"/>
                  <a:ea typeface="STKaiti" panose="02010600040101010101" pitchFamily="2" charset="-122"/>
                </a:rPr>
                <a:t>T</a:t>
              </a:r>
              <a:endParaRPr lang="en-US" altLang="zh-CN" sz="923" b="1">
                <a:latin typeface="STKaiti" panose="02010600040101010101" pitchFamily="2" charset="-122"/>
                <a:ea typeface="STKaiti" panose="02010600040101010101" pitchFamily="2" charset="-122"/>
              </a:endParaRPr>
            </a:p>
          </p:txBody>
        </p:sp>
        <p:sp>
          <p:nvSpPr>
            <p:cNvPr id="29" name="Rectangle 24">
              <a:extLst>
                <a:ext uri="{FF2B5EF4-FFF2-40B4-BE49-F238E27FC236}">
                  <a16:creationId xmlns:a16="http://schemas.microsoft.com/office/drawing/2014/main" id="{668FC216-6A1E-DE4A-B703-A9419361C466}"/>
                </a:ext>
              </a:extLst>
            </p:cNvPr>
            <p:cNvSpPr>
              <a:spLocks noChangeArrowheads="1"/>
            </p:cNvSpPr>
            <p:nvPr/>
          </p:nvSpPr>
          <p:spPr bwMode="auto">
            <a:xfrm>
              <a:off x="2059" y="3130"/>
              <a:ext cx="89" cy="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913" b="1" i="1">
                  <a:latin typeface="STKaiti" panose="02010600040101010101" pitchFamily="2" charset="-122"/>
                  <a:ea typeface="STKaiti" panose="02010600040101010101" pitchFamily="2" charset="-122"/>
                </a:rPr>
                <a:t>e</a:t>
              </a:r>
              <a:endParaRPr lang="en-US" altLang="zh-CN" sz="923" b="1">
                <a:latin typeface="STKaiti" panose="02010600040101010101" pitchFamily="2" charset="-122"/>
                <a:ea typeface="STKaiti" panose="02010600040101010101" pitchFamily="2" charset="-122"/>
              </a:endParaRPr>
            </a:p>
          </p:txBody>
        </p:sp>
        <p:sp>
          <p:nvSpPr>
            <p:cNvPr id="30" name="Rectangle 25">
              <a:extLst>
                <a:ext uri="{FF2B5EF4-FFF2-40B4-BE49-F238E27FC236}">
                  <a16:creationId xmlns:a16="http://schemas.microsoft.com/office/drawing/2014/main" id="{F8DA610F-8D33-C64E-A4DD-9311291138DD}"/>
                </a:ext>
              </a:extLst>
            </p:cNvPr>
            <p:cNvSpPr>
              <a:spLocks noChangeArrowheads="1"/>
            </p:cNvSpPr>
            <p:nvPr/>
          </p:nvSpPr>
          <p:spPr bwMode="auto">
            <a:xfrm>
              <a:off x="2578" y="3123"/>
              <a:ext cx="57" cy="1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121" b="1">
                  <a:latin typeface="STKaiti" panose="02010600040101010101" pitchFamily="2" charset="-122"/>
                  <a:ea typeface="STKaiti" panose="02010600040101010101" pitchFamily="2" charset="-122"/>
                </a:rPr>
                <a:t>1</a:t>
              </a:r>
              <a:endParaRPr lang="en-US" altLang="zh-CN" sz="923" b="1">
                <a:latin typeface="STKaiti" panose="02010600040101010101" pitchFamily="2" charset="-122"/>
                <a:ea typeface="STKaiti" panose="02010600040101010101" pitchFamily="2" charset="-122"/>
              </a:endParaRPr>
            </a:p>
          </p:txBody>
        </p:sp>
        <p:sp>
          <p:nvSpPr>
            <p:cNvPr id="31" name="Rectangle 26">
              <a:extLst>
                <a:ext uri="{FF2B5EF4-FFF2-40B4-BE49-F238E27FC236}">
                  <a16:creationId xmlns:a16="http://schemas.microsoft.com/office/drawing/2014/main" id="{9FC65AA9-E845-BD42-A865-3AC33E9E7AA1}"/>
                </a:ext>
              </a:extLst>
            </p:cNvPr>
            <p:cNvSpPr>
              <a:spLocks noChangeArrowheads="1"/>
            </p:cNvSpPr>
            <p:nvPr/>
          </p:nvSpPr>
          <p:spPr bwMode="auto">
            <a:xfrm>
              <a:off x="2203" y="3107"/>
              <a:ext cx="137" cy="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913" b="1">
                  <a:latin typeface="STKaiti" panose="02010600040101010101" pitchFamily="2" charset="-122"/>
                  <a:ea typeface="STKaiti" panose="02010600040101010101" pitchFamily="2" charset="-122"/>
                </a:rPr>
                <a:t>=</a:t>
              </a:r>
              <a:endParaRPr lang="en-US" altLang="zh-CN" sz="923" b="1">
                <a:latin typeface="STKaiti" panose="02010600040101010101" pitchFamily="2" charset="-122"/>
                <a:ea typeface="STKaiti" panose="02010600040101010101" pitchFamily="2" charset="-122"/>
              </a:endParaRPr>
            </a:p>
          </p:txBody>
        </p:sp>
      </p:grpSp>
      <p:sp>
        <p:nvSpPr>
          <p:cNvPr id="47" name="Text Box 44">
            <a:extLst>
              <a:ext uri="{FF2B5EF4-FFF2-40B4-BE49-F238E27FC236}">
                <a16:creationId xmlns:a16="http://schemas.microsoft.com/office/drawing/2014/main" id="{749491E7-0046-C447-A36F-681367C8D2F0}"/>
              </a:ext>
            </a:extLst>
          </p:cNvPr>
          <p:cNvSpPr txBox="1">
            <a:spLocks noChangeArrowheads="1"/>
          </p:cNvSpPr>
          <p:nvPr/>
        </p:nvSpPr>
        <p:spPr bwMode="auto">
          <a:xfrm>
            <a:off x="1995972" y="4152080"/>
            <a:ext cx="4462586" cy="3412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89" tIns="33295" rIns="66589" bIns="33295">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781" b="1" dirty="0">
                <a:latin typeface="STKaiti" panose="02010600040101010101" pitchFamily="2" charset="-122"/>
                <a:ea typeface="STKaiti" panose="02010600040101010101" pitchFamily="2" charset="-122"/>
              </a:rPr>
              <a:t>  </a:t>
            </a:r>
            <a:r>
              <a:rPr kumimoji="1" lang="en-US" altLang="zh-CN" sz="1781" b="1" dirty="0">
                <a:latin typeface="STKaiti" panose="02010600040101010101" pitchFamily="2" charset="-122"/>
                <a:ea typeface="STKaiti" panose="02010600040101010101" pitchFamily="2" charset="-122"/>
              </a:rPr>
              <a:t>T</a:t>
            </a:r>
            <a:r>
              <a:rPr kumimoji="1" lang="en-US" altLang="zh-CN" sz="1781" b="1" baseline="-25000" dirty="0">
                <a:latin typeface="STKaiti" panose="02010600040101010101" pitchFamily="2" charset="-122"/>
                <a:ea typeface="STKaiti" panose="02010600040101010101" pitchFamily="2" charset="-122"/>
              </a:rPr>
              <a:t>A</a:t>
            </a:r>
            <a:r>
              <a:rPr kumimoji="1" lang="en-US" altLang="zh-CN" sz="1781" b="1" dirty="0">
                <a:latin typeface="STKaiti" panose="02010600040101010101" pitchFamily="2" charset="-122"/>
                <a:ea typeface="STKaiti" panose="02010600040101010101" pitchFamily="2" charset="-122"/>
              </a:rPr>
              <a:t>=</a:t>
            </a:r>
            <a:r>
              <a:rPr kumimoji="1" lang="en-US" altLang="zh-CN" sz="1781" b="1" dirty="0">
                <a:solidFill>
                  <a:srgbClr val="028051"/>
                </a:solidFill>
                <a:latin typeface="STKaiti" panose="02010600040101010101" pitchFamily="2" charset="-122"/>
                <a:ea typeface="STKaiti" panose="02010600040101010101" pitchFamily="2" charset="-122"/>
              </a:rPr>
              <a:t>HT</a:t>
            </a:r>
            <a:r>
              <a:rPr kumimoji="1" lang="en-US" altLang="zh-CN" sz="1781" b="1" baseline="-25000" dirty="0">
                <a:solidFill>
                  <a:srgbClr val="028051"/>
                </a:solidFill>
                <a:latin typeface="STKaiti" panose="02010600040101010101" pitchFamily="2" charset="-122"/>
                <a:ea typeface="STKaiti" panose="02010600040101010101" pitchFamily="2" charset="-122"/>
              </a:rPr>
              <a:t>A1</a:t>
            </a:r>
            <a:r>
              <a:rPr kumimoji="1" lang="en-US" altLang="zh-CN" sz="1781" b="1" dirty="0">
                <a:solidFill>
                  <a:srgbClr val="C00000"/>
                </a:solidFill>
                <a:latin typeface="STKaiti" panose="02010600040101010101" pitchFamily="2" charset="-122"/>
                <a:ea typeface="STKaiti" panose="02010600040101010101" pitchFamily="2" charset="-122"/>
              </a:rPr>
              <a:t>+(1-H)(T</a:t>
            </a:r>
            <a:r>
              <a:rPr kumimoji="1" lang="en-US" altLang="zh-CN" sz="1781" b="1" baseline="-25000" dirty="0">
                <a:solidFill>
                  <a:srgbClr val="C00000"/>
                </a:solidFill>
                <a:latin typeface="STKaiti" panose="02010600040101010101" pitchFamily="2" charset="-122"/>
                <a:ea typeface="STKaiti" panose="02010600040101010101" pitchFamily="2" charset="-122"/>
              </a:rPr>
              <a:t>A1</a:t>
            </a:r>
            <a:r>
              <a:rPr kumimoji="1" lang="en-US" altLang="zh-CN" sz="1781" b="1" dirty="0">
                <a:solidFill>
                  <a:srgbClr val="C00000"/>
                </a:solidFill>
                <a:latin typeface="STKaiti" panose="02010600040101010101" pitchFamily="2" charset="-122"/>
                <a:ea typeface="STKaiti" panose="02010600040101010101" pitchFamily="2" charset="-122"/>
              </a:rPr>
              <a:t>+T</a:t>
            </a:r>
            <a:r>
              <a:rPr kumimoji="1" lang="en-US" altLang="zh-CN" sz="1781" b="1" baseline="-25000" dirty="0">
                <a:solidFill>
                  <a:srgbClr val="C00000"/>
                </a:solidFill>
                <a:latin typeface="STKaiti" panose="02010600040101010101" pitchFamily="2" charset="-122"/>
                <a:ea typeface="STKaiti" panose="02010600040101010101" pitchFamily="2" charset="-122"/>
              </a:rPr>
              <a:t>A2</a:t>
            </a:r>
            <a:r>
              <a:rPr kumimoji="1" lang="en-US" altLang="zh-CN" sz="1781" b="1" dirty="0">
                <a:solidFill>
                  <a:srgbClr val="C00000"/>
                </a:solidFill>
                <a:latin typeface="STKaiti" panose="02010600040101010101" pitchFamily="2" charset="-122"/>
                <a:ea typeface="STKaiti" panose="02010600040101010101" pitchFamily="2" charset="-122"/>
              </a:rPr>
              <a:t>) </a:t>
            </a:r>
            <a:r>
              <a:rPr kumimoji="1" lang="en-US" altLang="zh-CN" sz="1781" b="1" dirty="0">
                <a:latin typeface="STKaiti" panose="02010600040101010101" pitchFamily="2" charset="-122"/>
                <a:ea typeface="STKaiti" panose="02010600040101010101" pitchFamily="2" charset="-122"/>
              </a:rPr>
              <a:t>= T</a:t>
            </a:r>
            <a:r>
              <a:rPr kumimoji="1" lang="en-US" altLang="zh-CN" sz="1781" b="1" baseline="-25000" dirty="0">
                <a:latin typeface="STKaiti" panose="02010600040101010101" pitchFamily="2" charset="-122"/>
                <a:ea typeface="STKaiti" panose="02010600040101010101" pitchFamily="2" charset="-122"/>
              </a:rPr>
              <a:t>A1</a:t>
            </a:r>
            <a:r>
              <a:rPr kumimoji="1" lang="en-US" altLang="zh-CN" sz="1781" b="1" dirty="0">
                <a:latin typeface="STKaiti" panose="02010600040101010101" pitchFamily="2" charset="-122"/>
                <a:ea typeface="STKaiti" panose="02010600040101010101" pitchFamily="2" charset="-122"/>
              </a:rPr>
              <a:t> +(1-H)T</a:t>
            </a:r>
            <a:r>
              <a:rPr kumimoji="1" lang="en-US" altLang="zh-CN" sz="1781" b="1" baseline="-25000" dirty="0">
                <a:latin typeface="STKaiti" panose="02010600040101010101" pitchFamily="2" charset="-122"/>
                <a:ea typeface="STKaiti" panose="02010600040101010101" pitchFamily="2" charset="-122"/>
              </a:rPr>
              <a:t>A2</a:t>
            </a:r>
            <a:r>
              <a:rPr kumimoji="1" lang="en-US" altLang="zh-CN" sz="1781" b="1" dirty="0">
                <a:latin typeface="STKaiti" panose="02010600040101010101" pitchFamily="2" charset="-122"/>
                <a:ea typeface="STKaiti" panose="02010600040101010101" pitchFamily="2" charset="-122"/>
              </a:rPr>
              <a:t> </a:t>
            </a:r>
          </a:p>
        </p:txBody>
      </p:sp>
      <p:grpSp>
        <p:nvGrpSpPr>
          <p:cNvPr id="85" name="Group 84">
            <a:extLst>
              <a:ext uri="{FF2B5EF4-FFF2-40B4-BE49-F238E27FC236}">
                <a16:creationId xmlns:a16="http://schemas.microsoft.com/office/drawing/2014/main" id="{2FD83F62-4E93-BD4D-A5FA-2E9DB769244D}"/>
              </a:ext>
            </a:extLst>
          </p:cNvPr>
          <p:cNvGrpSpPr/>
          <p:nvPr/>
        </p:nvGrpSpPr>
        <p:grpSpPr>
          <a:xfrm>
            <a:off x="4647707" y="5583034"/>
            <a:ext cx="2671595" cy="680963"/>
            <a:chOff x="4040518" y="5343981"/>
            <a:chExt cx="3562127" cy="907950"/>
          </a:xfrm>
        </p:grpSpPr>
        <p:grpSp>
          <p:nvGrpSpPr>
            <p:cNvPr id="32" name="Group 27">
              <a:extLst>
                <a:ext uri="{FF2B5EF4-FFF2-40B4-BE49-F238E27FC236}">
                  <a16:creationId xmlns:a16="http://schemas.microsoft.com/office/drawing/2014/main" id="{9A979393-E7AB-F548-BDFE-B2CF4AF7E1EC}"/>
                </a:ext>
              </a:extLst>
            </p:cNvPr>
            <p:cNvGrpSpPr>
              <a:grpSpLocks noChangeAspect="1"/>
            </p:cNvGrpSpPr>
            <p:nvPr/>
          </p:nvGrpSpPr>
          <p:grpSpPr bwMode="auto">
            <a:xfrm>
              <a:off x="5476815" y="5343981"/>
              <a:ext cx="2125830" cy="820907"/>
              <a:chOff x="704" y="3431"/>
              <a:chExt cx="1339" cy="555"/>
            </a:xfrm>
          </p:grpSpPr>
          <p:sp>
            <p:nvSpPr>
              <p:cNvPr id="33" name="AutoShape 28">
                <a:extLst>
                  <a:ext uri="{FF2B5EF4-FFF2-40B4-BE49-F238E27FC236}">
                    <a16:creationId xmlns:a16="http://schemas.microsoft.com/office/drawing/2014/main" id="{60F1D340-4BE7-6343-9849-65E1444AFF96}"/>
                  </a:ext>
                </a:extLst>
              </p:cNvPr>
              <p:cNvSpPr>
                <a:spLocks noChangeAspect="1" noChangeArrowheads="1" noTextEdit="1"/>
              </p:cNvSpPr>
              <p:nvPr/>
            </p:nvSpPr>
            <p:spPr bwMode="auto">
              <a:xfrm>
                <a:off x="704" y="3431"/>
                <a:ext cx="1339" cy="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latin typeface="STKaiti" panose="02010600040101010101" pitchFamily="2" charset="-122"/>
                  <a:ea typeface="STKaiti" panose="02010600040101010101" pitchFamily="2" charset="-122"/>
                </a:endParaRPr>
              </a:p>
            </p:txBody>
          </p:sp>
          <p:sp>
            <p:nvSpPr>
              <p:cNvPr id="34" name="Line 29">
                <a:extLst>
                  <a:ext uri="{FF2B5EF4-FFF2-40B4-BE49-F238E27FC236}">
                    <a16:creationId xmlns:a16="http://schemas.microsoft.com/office/drawing/2014/main" id="{A69D6483-A203-A347-8AD2-18FBF966BC0F}"/>
                  </a:ext>
                </a:extLst>
              </p:cNvPr>
              <p:cNvSpPr>
                <a:spLocks noChangeShapeType="1"/>
              </p:cNvSpPr>
              <p:nvPr/>
            </p:nvSpPr>
            <p:spPr bwMode="auto">
              <a:xfrm>
                <a:off x="1031" y="3704"/>
                <a:ext cx="966" cy="1"/>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latin typeface="STKaiti" panose="02010600040101010101" pitchFamily="2" charset="-122"/>
                  <a:ea typeface="STKaiti" panose="02010600040101010101" pitchFamily="2" charset="-122"/>
                </a:endParaRPr>
              </a:p>
            </p:txBody>
          </p:sp>
          <p:sp>
            <p:nvSpPr>
              <p:cNvPr id="35" name="Rectangle 30">
                <a:extLst>
                  <a:ext uri="{FF2B5EF4-FFF2-40B4-BE49-F238E27FC236}">
                    <a16:creationId xmlns:a16="http://schemas.microsoft.com/office/drawing/2014/main" id="{79A89964-550D-3549-8C0B-38F10220B87F}"/>
                  </a:ext>
                </a:extLst>
              </p:cNvPr>
              <p:cNvSpPr>
                <a:spLocks noChangeArrowheads="1"/>
              </p:cNvSpPr>
              <p:nvPr/>
            </p:nvSpPr>
            <p:spPr bwMode="auto">
              <a:xfrm>
                <a:off x="1922" y="3726"/>
                <a:ext cx="74"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i="1" dirty="0">
                    <a:latin typeface="STKaiti" panose="02010600040101010101" pitchFamily="2" charset="-122"/>
                    <a:ea typeface="STKaiti" panose="02010600040101010101" pitchFamily="2" charset="-122"/>
                  </a:rPr>
                  <a:t>r</a:t>
                </a:r>
                <a:endParaRPr lang="en-US" altLang="zh-CN" sz="923" b="1" dirty="0">
                  <a:latin typeface="STKaiti" panose="02010600040101010101" pitchFamily="2" charset="-122"/>
                  <a:ea typeface="STKaiti" panose="02010600040101010101" pitchFamily="2" charset="-122"/>
                </a:endParaRPr>
              </a:p>
            </p:txBody>
          </p:sp>
          <p:sp>
            <p:nvSpPr>
              <p:cNvPr id="36" name="Rectangle 31">
                <a:extLst>
                  <a:ext uri="{FF2B5EF4-FFF2-40B4-BE49-F238E27FC236}">
                    <a16:creationId xmlns:a16="http://schemas.microsoft.com/office/drawing/2014/main" id="{16A2258D-C672-A145-AD0B-B7BC80A4C08A}"/>
                  </a:ext>
                </a:extLst>
              </p:cNvPr>
              <p:cNvSpPr>
                <a:spLocks noChangeArrowheads="1"/>
              </p:cNvSpPr>
              <p:nvPr/>
            </p:nvSpPr>
            <p:spPr bwMode="auto">
              <a:xfrm>
                <a:off x="1641" y="3732"/>
                <a:ext cx="155"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i="1" dirty="0">
                    <a:latin typeface="STKaiti" panose="02010600040101010101" pitchFamily="2" charset="-122"/>
                    <a:ea typeface="STKaiti" panose="02010600040101010101" pitchFamily="2" charset="-122"/>
                  </a:rPr>
                  <a:t>H</a:t>
                </a:r>
                <a:endParaRPr lang="en-US" altLang="zh-CN" sz="923" b="1" dirty="0">
                  <a:latin typeface="STKaiti" panose="02010600040101010101" pitchFamily="2" charset="-122"/>
                  <a:ea typeface="STKaiti" panose="02010600040101010101" pitchFamily="2" charset="-122"/>
                </a:endParaRPr>
              </a:p>
            </p:txBody>
          </p:sp>
          <p:sp>
            <p:nvSpPr>
              <p:cNvPr id="37" name="Rectangle 32">
                <a:extLst>
                  <a:ext uri="{FF2B5EF4-FFF2-40B4-BE49-F238E27FC236}">
                    <a16:creationId xmlns:a16="http://schemas.microsoft.com/office/drawing/2014/main" id="{CF31AC95-5591-D845-8124-4B0BF2859BDE}"/>
                  </a:ext>
                </a:extLst>
              </p:cNvPr>
              <p:cNvSpPr>
                <a:spLocks noChangeArrowheads="1"/>
              </p:cNvSpPr>
              <p:nvPr/>
            </p:nvSpPr>
            <p:spPr bwMode="auto">
              <a:xfrm>
                <a:off x="1044" y="3732"/>
                <a:ext cx="90"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i="1" dirty="0">
                    <a:latin typeface="STKaiti" panose="02010600040101010101" pitchFamily="2" charset="-122"/>
                    <a:ea typeface="STKaiti" panose="02010600040101010101" pitchFamily="2" charset="-122"/>
                  </a:rPr>
                  <a:t>1</a:t>
                </a:r>
                <a:endParaRPr lang="en-US" altLang="zh-CN" sz="923" b="1" dirty="0">
                  <a:latin typeface="STKaiti" panose="02010600040101010101" pitchFamily="2" charset="-122"/>
                  <a:ea typeface="STKaiti" panose="02010600040101010101" pitchFamily="2" charset="-122"/>
                </a:endParaRPr>
              </a:p>
            </p:txBody>
          </p:sp>
          <p:sp>
            <p:nvSpPr>
              <p:cNvPr id="38" name="Rectangle 33">
                <a:extLst>
                  <a:ext uri="{FF2B5EF4-FFF2-40B4-BE49-F238E27FC236}">
                    <a16:creationId xmlns:a16="http://schemas.microsoft.com/office/drawing/2014/main" id="{5812F0B5-641D-4741-B44D-35103FD43D03}"/>
                  </a:ext>
                </a:extLst>
              </p:cNvPr>
              <p:cNvSpPr>
                <a:spLocks noChangeArrowheads="1"/>
              </p:cNvSpPr>
              <p:nvPr/>
            </p:nvSpPr>
            <p:spPr bwMode="auto">
              <a:xfrm>
                <a:off x="731" y="3582"/>
                <a:ext cx="82"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i="1">
                    <a:latin typeface="STKaiti" panose="02010600040101010101" pitchFamily="2" charset="-122"/>
                    <a:ea typeface="STKaiti" panose="02010600040101010101" pitchFamily="2" charset="-122"/>
                  </a:rPr>
                  <a:t>e</a:t>
                </a:r>
                <a:endParaRPr lang="en-US" altLang="zh-CN" sz="923" b="1">
                  <a:latin typeface="STKaiti" panose="02010600040101010101" pitchFamily="2" charset="-122"/>
                  <a:ea typeface="STKaiti" panose="02010600040101010101" pitchFamily="2" charset="-122"/>
                </a:endParaRPr>
              </a:p>
            </p:txBody>
          </p:sp>
          <p:sp>
            <p:nvSpPr>
              <p:cNvPr id="39" name="Rectangle 34">
                <a:extLst>
                  <a:ext uri="{FF2B5EF4-FFF2-40B4-BE49-F238E27FC236}">
                    <a16:creationId xmlns:a16="http://schemas.microsoft.com/office/drawing/2014/main" id="{A162331E-F7A2-CA4D-AA70-B906CFDB7782}"/>
                  </a:ext>
                </a:extLst>
              </p:cNvPr>
              <p:cNvSpPr>
                <a:spLocks noChangeArrowheads="1"/>
              </p:cNvSpPr>
              <p:nvPr/>
            </p:nvSpPr>
            <p:spPr bwMode="auto">
              <a:xfrm>
                <a:off x="1799" y="3739"/>
                <a:ext cx="63"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dirty="0">
                    <a:latin typeface="STKaiti" panose="02010600040101010101" pitchFamily="2" charset="-122"/>
                    <a:ea typeface="STKaiti" panose="02010600040101010101" pitchFamily="2" charset="-122"/>
                  </a:rPr>
                  <a:t>)</a:t>
                </a:r>
                <a:endParaRPr lang="en-US" altLang="zh-CN" sz="923" b="1" dirty="0">
                  <a:latin typeface="STKaiti" panose="02010600040101010101" pitchFamily="2" charset="-122"/>
                  <a:ea typeface="STKaiti" panose="02010600040101010101" pitchFamily="2" charset="-122"/>
                </a:endParaRPr>
              </a:p>
            </p:txBody>
          </p:sp>
          <p:sp>
            <p:nvSpPr>
              <p:cNvPr id="40" name="Rectangle 35">
                <a:extLst>
                  <a:ext uri="{FF2B5EF4-FFF2-40B4-BE49-F238E27FC236}">
                    <a16:creationId xmlns:a16="http://schemas.microsoft.com/office/drawing/2014/main" id="{916F888B-64C9-8146-B596-18E06ECD2E33}"/>
                  </a:ext>
                </a:extLst>
              </p:cNvPr>
              <p:cNvSpPr>
                <a:spLocks noChangeArrowheads="1"/>
              </p:cNvSpPr>
              <p:nvPr/>
            </p:nvSpPr>
            <p:spPr bwMode="auto">
              <a:xfrm>
                <a:off x="1371" y="3732"/>
                <a:ext cx="90"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a:latin typeface="STKaiti" panose="02010600040101010101" pitchFamily="2" charset="-122"/>
                    <a:ea typeface="STKaiti" panose="02010600040101010101" pitchFamily="2" charset="-122"/>
                  </a:rPr>
                  <a:t>1</a:t>
                </a:r>
                <a:endParaRPr lang="en-US" altLang="zh-CN" sz="923" b="1">
                  <a:latin typeface="STKaiti" panose="02010600040101010101" pitchFamily="2" charset="-122"/>
                  <a:ea typeface="STKaiti" panose="02010600040101010101" pitchFamily="2" charset="-122"/>
                </a:endParaRPr>
              </a:p>
            </p:txBody>
          </p:sp>
          <p:sp>
            <p:nvSpPr>
              <p:cNvPr id="41" name="Rectangle 36">
                <a:extLst>
                  <a:ext uri="{FF2B5EF4-FFF2-40B4-BE49-F238E27FC236}">
                    <a16:creationId xmlns:a16="http://schemas.microsoft.com/office/drawing/2014/main" id="{4B5265D9-3A3E-E74F-9245-2A2B389A608B}"/>
                  </a:ext>
                </a:extLst>
              </p:cNvPr>
              <p:cNvSpPr>
                <a:spLocks noChangeArrowheads="1"/>
              </p:cNvSpPr>
              <p:nvPr/>
            </p:nvSpPr>
            <p:spPr bwMode="auto">
              <a:xfrm>
                <a:off x="1310" y="3732"/>
                <a:ext cx="65"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dirty="0">
                    <a:latin typeface="STKaiti" panose="02010600040101010101" pitchFamily="2" charset="-122"/>
                    <a:ea typeface="STKaiti" panose="02010600040101010101" pitchFamily="2" charset="-122"/>
                  </a:rPr>
                  <a:t>(</a:t>
                </a:r>
                <a:endParaRPr lang="en-US" altLang="zh-CN" sz="923" b="1" dirty="0">
                  <a:latin typeface="STKaiti" panose="02010600040101010101" pitchFamily="2" charset="-122"/>
                  <a:ea typeface="STKaiti" panose="02010600040101010101" pitchFamily="2" charset="-122"/>
                </a:endParaRPr>
              </a:p>
            </p:txBody>
          </p:sp>
          <p:sp>
            <p:nvSpPr>
              <p:cNvPr id="42" name="Rectangle 37">
                <a:extLst>
                  <a:ext uri="{FF2B5EF4-FFF2-40B4-BE49-F238E27FC236}">
                    <a16:creationId xmlns:a16="http://schemas.microsoft.com/office/drawing/2014/main" id="{CD880B19-9B17-894E-A680-69956A8F2880}"/>
                  </a:ext>
                </a:extLst>
              </p:cNvPr>
              <p:cNvSpPr>
                <a:spLocks noChangeArrowheads="1"/>
              </p:cNvSpPr>
              <p:nvPr/>
            </p:nvSpPr>
            <p:spPr bwMode="auto">
              <a:xfrm>
                <a:off x="1465" y="3456"/>
                <a:ext cx="90"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a:latin typeface="STKaiti" panose="02010600040101010101" pitchFamily="2" charset="-122"/>
                    <a:ea typeface="STKaiti" panose="02010600040101010101" pitchFamily="2" charset="-122"/>
                  </a:rPr>
                  <a:t>1</a:t>
                </a:r>
                <a:endParaRPr lang="en-US" altLang="zh-CN" sz="923" b="1">
                  <a:latin typeface="STKaiti" panose="02010600040101010101" pitchFamily="2" charset="-122"/>
                  <a:ea typeface="STKaiti" panose="02010600040101010101" pitchFamily="2" charset="-122"/>
                </a:endParaRPr>
              </a:p>
            </p:txBody>
          </p:sp>
          <p:sp>
            <p:nvSpPr>
              <p:cNvPr id="43" name="Rectangle 38">
                <a:extLst>
                  <a:ext uri="{FF2B5EF4-FFF2-40B4-BE49-F238E27FC236}">
                    <a16:creationId xmlns:a16="http://schemas.microsoft.com/office/drawing/2014/main" id="{78EF1615-2773-EB47-9598-44CE3D5421C1}"/>
                  </a:ext>
                </a:extLst>
              </p:cNvPr>
              <p:cNvSpPr>
                <a:spLocks noChangeArrowheads="1"/>
              </p:cNvSpPr>
              <p:nvPr/>
            </p:nvSpPr>
            <p:spPr bwMode="auto">
              <a:xfrm>
                <a:off x="1494" y="3710"/>
                <a:ext cx="61"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a:latin typeface="STKaiti" panose="02010600040101010101" pitchFamily="2" charset="-122"/>
                    <a:ea typeface="STKaiti" panose="02010600040101010101" pitchFamily="2" charset="-122"/>
                  </a:rPr>
                  <a:t>-</a:t>
                </a:r>
                <a:endParaRPr lang="en-US" altLang="zh-CN" sz="923" b="1">
                  <a:latin typeface="STKaiti" panose="02010600040101010101" pitchFamily="2" charset="-122"/>
                  <a:ea typeface="STKaiti" panose="02010600040101010101" pitchFamily="2" charset="-122"/>
                </a:endParaRPr>
              </a:p>
            </p:txBody>
          </p:sp>
          <p:sp>
            <p:nvSpPr>
              <p:cNvPr id="44" name="Rectangle 39">
                <a:extLst>
                  <a:ext uri="{FF2B5EF4-FFF2-40B4-BE49-F238E27FC236}">
                    <a16:creationId xmlns:a16="http://schemas.microsoft.com/office/drawing/2014/main" id="{224A8317-50D6-E445-AB64-546ACA5B635E}"/>
                  </a:ext>
                </a:extLst>
              </p:cNvPr>
              <p:cNvSpPr>
                <a:spLocks noChangeArrowheads="1"/>
              </p:cNvSpPr>
              <p:nvPr/>
            </p:nvSpPr>
            <p:spPr bwMode="auto">
              <a:xfrm>
                <a:off x="1166" y="3710"/>
                <a:ext cx="128"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a:latin typeface="STKaiti" panose="02010600040101010101" pitchFamily="2" charset="-122"/>
                    <a:ea typeface="STKaiti" panose="02010600040101010101" pitchFamily="2" charset="-122"/>
                  </a:rPr>
                  <a:t>+</a:t>
                </a:r>
                <a:endParaRPr lang="en-US" altLang="zh-CN" sz="923" b="1">
                  <a:latin typeface="STKaiti" panose="02010600040101010101" pitchFamily="2" charset="-122"/>
                  <a:ea typeface="STKaiti" panose="02010600040101010101" pitchFamily="2" charset="-122"/>
                </a:endParaRPr>
              </a:p>
            </p:txBody>
          </p:sp>
          <p:sp>
            <p:nvSpPr>
              <p:cNvPr id="45" name="Rectangle 40">
                <a:extLst>
                  <a:ext uri="{FF2B5EF4-FFF2-40B4-BE49-F238E27FC236}">
                    <a16:creationId xmlns:a16="http://schemas.microsoft.com/office/drawing/2014/main" id="{ACF40D8F-325F-F549-9AD4-C956D642FE35}"/>
                  </a:ext>
                </a:extLst>
              </p:cNvPr>
              <p:cNvSpPr>
                <a:spLocks noChangeArrowheads="1"/>
              </p:cNvSpPr>
              <p:nvPr/>
            </p:nvSpPr>
            <p:spPr bwMode="auto">
              <a:xfrm>
                <a:off x="868" y="3560"/>
                <a:ext cx="128" cy="2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781" b="1">
                    <a:latin typeface="STKaiti" panose="02010600040101010101" pitchFamily="2" charset="-122"/>
                    <a:ea typeface="STKaiti" panose="02010600040101010101" pitchFamily="2" charset="-122"/>
                  </a:rPr>
                  <a:t>=</a:t>
                </a:r>
                <a:endParaRPr lang="en-US" altLang="zh-CN" sz="923" b="1">
                  <a:latin typeface="STKaiti" panose="02010600040101010101" pitchFamily="2" charset="-122"/>
                  <a:ea typeface="STKaiti" panose="02010600040101010101" pitchFamily="2" charset="-122"/>
                </a:endParaRPr>
              </a:p>
            </p:txBody>
          </p:sp>
        </p:grpSp>
        <p:sp>
          <p:nvSpPr>
            <p:cNvPr id="48" name="AutoShape 45">
              <a:extLst>
                <a:ext uri="{FF2B5EF4-FFF2-40B4-BE49-F238E27FC236}">
                  <a16:creationId xmlns:a16="http://schemas.microsoft.com/office/drawing/2014/main" id="{817582A1-5213-E042-9BC6-B726D42D861F}"/>
                </a:ext>
              </a:extLst>
            </p:cNvPr>
            <p:cNvSpPr>
              <a:spLocks noChangeArrowheads="1"/>
            </p:cNvSpPr>
            <p:nvPr/>
          </p:nvSpPr>
          <p:spPr bwMode="auto">
            <a:xfrm>
              <a:off x="4040518" y="5355880"/>
              <a:ext cx="1096421" cy="896051"/>
            </a:xfrm>
            <a:prstGeom prst="rightArrow">
              <a:avLst>
                <a:gd name="adj1" fmla="val 50000"/>
                <a:gd name="adj2" fmla="val 51320"/>
              </a:avLst>
            </a:prstGeom>
            <a:noFill/>
            <a:ln w="127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0718" tIns="30359" rIns="60718" bIns="30359" anchor="ctr">
              <a:spAutoFit/>
            </a:bodyPr>
            <a:lstStyle/>
            <a:p>
              <a:endParaRPr lang="zh-CN" altLang="en-US">
                <a:latin typeface="STKaiti" panose="02010600040101010101" pitchFamily="2" charset="-122"/>
                <a:ea typeface="STKaiti" panose="02010600040101010101" pitchFamily="2" charset="-122"/>
              </a:endParaRPr>
            </a:p>
          </p:txBody>
        </p:sp>
      </p:grpSp>
      <p:sp>
        <p:nvSpPr>
          <p:cNvPr id="50" name="Rectangle 4">
            <a:extLst>
              <a:ext uri="{FF2B5EF4-FFF2-40B4-BE49-F238E27FC236}">
                <a16:creationId xmlns:a16="http://schemas.microsoft.com/office/drawing/2014/main" id="{1D4DB20F-F48F-3046-9A3A-53BEB2C8B3AF}"/>
              </a:ext>
            </a:extLst>
          </p:cNvPr>
          <p:cNvSpPr>
            <a:spLocks noChangeArrowheads="1"/>
          </p:cNvSpPr>
          <p:nvPr/>
        </p:nvSpPr>
        <p:spPr bwMode="auto">
          <a:xfrm>
            <a:off x="2693008" y="1933893"/>
            <a:ext cx="1009176" cy="568447"/>
          </a:xfrm>
          <a:prstGeom prst="rect">
            <a:avLst/>
          </a:prstGeom>
          <a:solidFill>
            <a:schemeClr val="tx2">
              <a:lumMod val="20000"/>
              <a:lumOff val="80000"/>
            </a:schemeClr>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1" name="Rectangle 5">
            <a:extLst>
              <a:ext uri="{FF2B5EF4-FFF2-40B4-BE49-F238E27FC236}">
                <a16:creationId xmlns:a16="http://schemas.microsoft.com/office/drawing/2014/main" id="{2FBBCD9A-4D86-3044-8230-140E05D153B2}"/>
              </a:ext>
            </a:extLst>
          </p:cNvPr>
          <p:cNvSpPr>
            <a:spLocks noChangeArrowheads="1"/>
          </p:cNvSpPr>
          <p:nvPr/>
        </p:nvSpPr>
        <p:spPr bwMode="auto">
          <a:xfrm>
            <a:off x="2667185" y="2012755"/>
            <a:ext cx="1098161" cy="3417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28" tIns="33515" rIns="67028" bIns="33515">
            <a:spAutoFit/>
          </a:bodyPr>
          <a:lstStyle/>
          <a:p>
            <a:pPr algn="ctr" defTabSz="665839" eaLnBrk="0" hangingPunct="0"/>
            <a:r>
              <a:rPr lang="zh-CN" altLang="en-US" sz="1781" b="1" dirty="0">
                <a:solidFill>
                  <a:srgbClr val="0432FF"/>
                </a:solidFill>
                <a:latin typeface="STKaiti" panose="02010600040101010101" pitchFamily="2" charset="-122"/>
                <a:ea typeface="STKaiti" panose="02010600040101010101" pitchFamily="2" charset="-122"/>
              </a:rPr>
              <a:t>缓存</a:t>
            </a:r>
          </a:p>
        </p:txBody>
      </p:sp>
      <p:sp>
        <p:nvSpPr>
          <p:cNvPr id="52" name="Rectangle 6">
            <a:extLst>
              <a:ext uri="{FF2B5EF4-FFF2-40B4-BE49-F238E27FC236}">
                <a16:creationId xmlns:a16="http://schemas.microsoft.com/office/drawing/2014/main" id="{7DD3AA40-A7F2-224F-96B4-100C76D1FBB7}"/>
              </a:ext>
            </a:extLst>
          </p:cNvPr>
          <p:cNvSpPr>
            <a:spLocks noChangeArrowheads="1"/>
          </p:cNvSpPr>
          <p:nvPr/>
        </p:nvSpPr>
        <p:spPr bwMode="auto">
          <a:xfrm>
            <a:off x="785624" y="2053234"/>
            <a:ext cx="739698" cy="2909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zh-CN" altLang="en-US" sz="1451" b="1">
                <a:latin typeface="STKaiti" panose="02010600040101010101" pitchFamily="2" charset="-122"/>
                <a:ea typeface="STKaiti" panose="02010600040101010101" pitchFamily="2" charset="-122"/>
              </a:rPr>
              <a:t>处理器 </a:t>
            </a:r>
          </a:p>
        </p:txBody>
      </p:sp>
      <p:sp>
        <p:nvSpPr>
          <p:cNvPr id="53" name="Line 7">
            <a:extLst>
              <a:ext uri="{FF2B5EF4-FFF2-40B4-BE49-F238E27FC236}">
                <a16:creationId xmlns:a16="http://schemas.microsoft.com/office/drawing/2014/main" id="{96611484-5CC8-CF4B-A0D7-ACC24669F169}"/>
              </a:ext>
            </a:extLst>
          </p:cNvPr>
          <p:cNvSpPr>
            <a:spLocks noChangeShapeType="1"/>
          </p:cNvSpPr>
          <p:nvPr/>
        </p:nvSpPr>
        <p:spPr bwMode="auto">
          <a:xfrm>
            <a:off x="968824" y="1765347"/>
            <a:ext cx="913912"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4" name="Line 8">
            <a:extLst>
              <a:ext uri="{FF2B5EF4-FFF2-40B4-BE49-F238E27FC236}">
                <a16:creationId xmlns:a16="http://schemas.microsoft.com/office/drawing/2014/main" id="{1968A4A5-A5D0-7346-B500-52AD0A067C5C}"/>
              </a:ext>
            </a:extLst>
          </p:cNvPr>
          <p:cNvSpPr>
            <a:spLocks noChangeShapeType="1"/>
          </p:cNvSpPr>
          <p:nvPr/>
        </p:nvSpPr>
        <p:spPr bwMode="auto">
          <a:xfrm>
            <a:off x="1882736" y="1765347"/>
            <a:ext cx="0" cy="79980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5" name="Line 9">
            <a:extLst>
              <a:ext uri="{FF2B5EF4-FFF2-40B4-BE49-F238E27FC236}">
                <a16:creationId xmlns:a16="http://schemas.microsoft.com/office/drawing/2014/main" id="{4D63E2CC-F549-C94B-89CD-57738B00FC43}"/>
              </a:ext>
            </a:extLst>
          </p:cNvPr>
          <p:cNvSpPr>
            <a:spLocks noChangeShapeType="1"/>
          </p:cNvSpPr>
          <p:nvPr/>
        </p:nvSpPr>
        <p:spPr bwMode="auto">
          <a:xfrm>
            <a:off x="911247" y="2565151"/>
            <a:ext cx="971489"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6" name="Line 10">
            <a:extLst>
              <a:ext uri="{FF2B5EF4-FFF2-40B4-BE49-F238E27FC236}">
                <a16:creationId xmlns:a16="http://schemas.microsoft.com/office/drawing/2014/main" id="{6880C42C-B411-804E-834D-739C9B98C636}"/>
              </a:ext>
            </a:extLst>
          </p:cNvPr>
          <p:cNvSpPr>
            <a:spLocks noChangeShapeType="1"/>
          </p:cNvSpPr>
          <p:nvPr/>
        </p:nvSpPr>
        <p:spPr bwMode="auto">
          <a:xfrm>
            <a:off x="4512457" y="1765347"/>
            <a:ext cx="856334"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7" name="Line 11">
            <a:extLst>
              <a:ext uri="{FF2B5EF4-FFF2-40B4-BE49-F238E27FC236}">
                <a16:creationId xmlns:a16="http://schemas.microsoft.com/office/drawing/2014/main" id="{2A15AB9C-0F79-0441-9AA3-6BE534BF91BE}"/>
              </a:ext>
            </a:extLst>
          </p:cNvPr>
          <p:cNvSpPr>
            <a:spLocks noChangeShapeType="1"/>
          </p:cNvSpPr>
          <p:nvPr/>
        </p:nvSpPr>
        <p:spPr bwMode="auto">
          <a:xfrm>
            <a:off x="4512456" y="1765347"/>
            <a:ext cx="0" cy="79980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8" name="Line 12">
            <a:extLst>
              <a:ext uri="{FF2B5EF4-FFF2-40B4-BE49-F238E27FC236}">
                <a16:creationId xmlns:a16="http://schemas.microsoft.com/office/drawing/2014/main" id="{47F9D290-5839-7140-97FA-1AA45DE40BD8}"/>
              </a:ext>
            </a:extLst>
          </p:cNvPr>
          <p:cNvSpPr>
            <a:spLocks noChangeShapeType="1"/>
          </p:cNvSpPr>
          <p:nvPr/>
        </p:nvSpPr>
        <p:spPr bwMode="auto">
          <a:xfrm>
            <a:off x="4512457" y="2565151"/>
            <a:ext cx="856334"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59" name="Rectangle 13">
            <a:extLst>
              <a:ext uri="{FF2B5EF4-FFF2-40B4-BE49-F238E27FC236}">
                <a16:creationId xmlns:a16="http://schemas.microsoft.com/office/drawing/2014/main" id="{24C5EBC9-EB3D-0B41-91DB-28F701A6C97E}"/>
              </a:ext>
            </a:extLst>
          </p:cNvPr>
          <p:cNvSpPr>
            <a:spLocks noChangeArrowheads="1"/>
          </p:cNvSpPr>
          <p:nvPr/>
        </p:nvSpPr>
        <p:spPr bwMode="auto">
          <a:xfrm>
            <a:off x="4557471" y="1998798"/>
            <a:ext cx="925646" cy="2909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zh-CN" altLang="en-US" sz="1451" b="1" dirty="0">
                <a:latin typeface="STKaiti" panose="02010600040101010101" pitchFamily="2" charset="-122"/>
                <a:ea typeface="STKaiti" panose="02010600040101010101" pitchFamily="2" charset="-122"/>
              </a:rPr>
              <a:t>主存储器 </a:t>
            </a:r>
          </a:p>
        </p:txBody>
      </p:sp>
      <p:sp>
        <p:nvSpPr>
          <p:cNvPr id="60" name="Line 14">
            <a:extLst>
              <a:ext uri="{FF2B5EF4-FFF2-40B4-BE49-F238E27FC236}">
                <a16:creationId xmlns:a16="http://schemas.microsoft.com/office/drawing/2014/main" id="{BD8C6E3F-4E7F-A24C-BA4E-E2FBEF4124D2}"/>
              </a:ext>
            </a:extLst>
          </p:cNvPr>
          <p:cNvSpPr>
            <a:spLocks noChangeShapeType="1"/>
          </p:cNvSpPr>
          <p:nvPr/>
        </p:nvSpPr>
        <p:spPr bwMode="auto">
          <a:xfrm>
            <a:off x="1882736" y="2032297"/>
            <a:ext cx="800850"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61" name="Line 15">
            <a:extLst>
              <a:ext uri="{FF2B5EF4-FFF2-40B4-BE49-F238E27FC236}">
                <a16:creationId xmlns:a16="http://schemas.microsoft.com/office/drawing/2014/main" id="{5A9E7743-E3CF-5541-981F-A49E2822D984}"/>
              </a:ext>
            </a:extLst>
          </p:cNvPr>
          <p:cNvSpPr>
            <a:spLocks noChangeShapeType="1"/>
          </p:cNvSpPr>
          <p:nvPr/>
        </p:nvSpPr>
        <p:spPr bwMode="auto">
          <a:xfrm>
            <a:off x="1882736" y="2404980"/>
            <a:ext cx="80085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62" name="Line 16">
            <a:extLst>
              <a:ext uri="{FF2B5EF4-FFF2-40B4-BE49-F238E27FC236}">
                <a16:creationId xmlns:a16="http://schemas.microsoft.com/office/drawing/2014/main" id="{90C4693C-C64C-254B-849D-37832E624B35}"/>
              </a:ext>
            </a:extLst>
          </p:cNvPr>
          <p:cNvSpPr>
            <a:spLocks noChangeShapeType="1"/>
          </p:cNvSpPr>
          <p:nvPr/>
        </p:nvSpPr>
        <p:spPr bwMode="auto">
          <a:xfrm>
            <a:off x="3711606" y="2032297"/>
            <a:ext cx="800851"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63" name="Rectangle 17">
            <a:extLst>
              <a:ext uri="{FF2B5EF4-FFF2-40B4-BE49-F238E27FC236}">
                <a16:creationId xmlns:a16="http://schemas.microsoft.com/office/drawing/2014/main" id="{0E86DBD3-9E73-3E4F-AEBD-2444978AC7FE}"/>
              </a:ext>
            </a:extLst>
          </p:cNvPr>
          <p:cNvSpPr>
            <a:spLocks noChangeArrowheads="1"/>
          </p:cNvSpPr>
          <p:nvPr/>
        </p:nvSpPr>
        <p:spPr bwMode="auto">
          <a:xfrm>
            <a:off x="1911214" y="1764300"/>
            <a:ext cx="816642" cy="3139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sz="1600" b="1" dirty="0">
                <a:latin typeface="STKaiti" panose="02010600040101010101" pitchFamily="2" charset="-122"/>
                <a:ea typeface="STKaiti" panose="02010600040101010101" pitchFamily="2" charset="-122"/>
              </a:rPr>
              <a:t>Address</a:t>
            </a:r>
          </a:p>
        </p:txBody>
      </p:sp>
      <p:sp>
        <p:nvSpPr>
          <p:cNvPr id="64" name="Rectangle 18">
            <a:extLst>
              <a:ext uri="{FF2B5EF4-FFF2-40B4-BE49-F238E27FC236}">
                <a16:creationId xmlns:a16="http://schemas.microsoft.com/office/drawing/2014/main" id="{89430D38-2066-E64F-BC8D-1617D1EDFD45}"/>
              </a:ext>
            </a:extLst>
          </p:cNvPr>
          <p:cNvSpPr>
            <a:spLocks noChangeArrowheads="1"/>
          </p:cNvSpPr>
          <p:nvPr/>
        </p:nvSpPr>
        <p:spPr bwMode="auto">
          <a:xfrm>
            <a:off x="3682507" y="1764300"/>
            <a:ext cx="816642" cy="3139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sz="1600" b="1">
                <a:latin typeface="STKaiti" panose="02010600040101010101" pitchFamily="2" charset="-122"/>
                <a:ea typeface="STKaiti" panose="02010600040101010101" pitchFamily="2" charset="-122"/>
              </a:rPr>
              <a:t>Address</a:t>
            </a:r>
          </a:p>
        </p:txBody>
      </p:sp>
      <p:sp>
        <p:nvSpPr>
          <p:cNvPr id="65" name="Rectangle 19">
            <a:extLst>
              <a:ext uri="{FF2B5EF4-FFF2-40B4-BE49-F238E27FC236}">
                <a16:creationId xmlns:a16="http://schemas.microsoft.com/office/drawing/2014/main" id="{6E06EB46-B757-CE48-A6DD-A279D6A44025}"/>
              </a:ext>
            </a:extLst>
          </p:cNvPr>
          <p:cNvSpPr>
            <a:spLocks noChangeArrowheads="1"/>
          </p:cNvSpPr>
          <p:nvPr/>
        </p:nvSpPr>
        <p:spPr bwMode="auto">
          <a:xfrm>
            <a:off x="3810232" y="2385302"/>
            <a:ext cx="632296" cy="3446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b="1">
                <a:latin typeface="STKaiti" panose="02010600040101010101" pitchFamily="2" charset="-122"/>
                <a:ea typeface="STKaiti" panose="02010600040101010101" pitchFamily="2" charset="-122"/>
              </a:rPr>
              <a:t>Data</a:t>
            </a:r>
          </a:p>
        </p:txBody>
      </p:sp>
      <p:sp>
        <p:nvSpPr>
          <p:cNvPr id="66" name="Rectangle 20">
            <a:extLst>
              <a:ext uri="{FF2B5EF4-FFF2-40B4-BE49-F238E27FC236}">
                <a16:creationId xmlns:a16="http://schemas.microsoft.com/office/drawing/2014/main" id="{3DFF72F3-AC69-714A-B099-9441009FC077}"/>
              </a:ext>
            </a:extLst>
          </p:cNvPr>
          <p:cNvSpPr>
            <a:spLocks noChangeArrowheads="1"/>
          </p:cNvSpPr>
          <p:nvPr/>
        </p:nvSpPr>
        <p:spPr bwMode="auto">
          <a:xfrm>
            <a:off x="1981362" y="2385302"/>
            <a:ext cx="632296" cy="3446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28" tIns="33515" rIns="67028" bIns="33515">
            <a:spAutoFit/>
          </a:bodyPr>
          <a:lstStyle/>
          <a:p>
            <a:pPr defTabSz="665839" eaLnBrk="0" hangingPunct="0"/>
            <a:r>
              <a:rPr lang="en-US" altLang="zh-CN" b="1" dirty="0">
                <a:latin typeface="STKaiti" panose="02010600040101010101" pitchFamily="2" charset="-122"/>
                <a:ea typeface="STKaiti" panose="02010600040101010101" pitchFamily="2" charset="-122"/>
              </a:rPr>
              <a:t>Data</a:t>
            </a:r>
          </a:p>
        </p:txBody>
      </p:sp>
      <p:sp>
        <p:nvSpPr>
          <p:cNvPr id="67" name="Line 21">
            <a:extLst>
              <a:ext uri="{FF2B5EF4-FFF2-40B4-BE49-F238E27FC236}">
                <a16:creationId xmlns:a16="http://schemas.microsoft.com/office/drawing/2014/main" id="{936438DB-3B1A-1A49-8EDE-3B199486B34A}"/>
              </a:ext>
            </a:extLst>
          </p:cNvPr>
          <p:cNvSpPr>
            <a:spLocks noChangeShapeType="1"/>
          </p:cNvSpPr>
          <p:nvPr/>
        </p:nvSpPr>
        <p:spPr bwMode="auto">
          <a:xfrm>
            <a:off x="2683587" y="2404980"/>
            <a:ext cx="1828870" cy="0"/>
          </a:xfrm>
          <a:prstGeom prst="line">
            <a:avLst/>
          </a:prstGeom>
          <a:noFill/>
          <a:ln w="38100" cmpd="dbl">
            <a:solidFill>
              <a:schemeClr val="tx1"/>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STKaiti" panose="02010600040101010101" pitchFamily="2" charset="-122"/>
              <a:ea typeface="STKaiti" panose="02010600040101010101" pitchFamily="2" charset="-122"/>
            </a:endParaRPr>
          </a:p>
        </p:txBody>
      </p:sp>
      <p:sp>
        <p:nvSpPr>
          <p:cNvPr id="68" name="TextBox 67">
            <a:extLst>
              <a:ext uri="{FF2B5EF4-FFF2-40B4-BE49-F238E27FC236}">
                <a16:creationId xmlns:a16="http://schemas.microsoft.com/office/drawing/2014/main" id="{1AC28869-D373-3C40-A562-980A669660FE}"/>
              </a:ext>
            </a:extLst>
          </p:cNvPr>
          <p:cNvSpPr txBox="1"/>
          <p:nvPr/>
        </p:nvSpPr>
        <p:spPr>
          <a:xfrm>
            <a:off x="3293924" y="4658401"/>
            <a:ext cx="723275" cy="415498"/>
          </a:xfrm>
          <a:prstGeom prst="rect">
            <a:avLst/>
          </a:prstGeom>
          <a:noFill/>
        </p:spPr>
        <p:txBody>
          <a:bodyPr wrap="none" rtlCol="0">
            <a:spAutoFit/>
          </a:bodyPr>
          <a:lstStyle/>
          <a:p>
            <a:r>
              <a:rPr lang="en-CN" sz="2100" b="1" dirty="0">
                <a:solidFill>
                  <a:srgbClr val="028051"/>
                </a:solidFill>
                <a:latin typeface="STKaiti" panose="02010600040101010101" pitchFamily="2" charset="-122"/>
                <a:ea typeface="STKaiti" panose="02010600040101010101" pitchFamily="2" charset="-122"/>
              </a:rPr>
              <a:t>命中</a:t>
            </a:r>
          </a:p>
        </p:txBody>
      </p:sp>
      <p:cxnSp>
        <p:nvCxnSpPr>
          <p:cNvPr id="70" name="Straight Arrow Connector 69">
            <a:extLst>
              <a:ext uri="{FF2B5EF4-FFF2-40B4-BE49-F238E27FC236}">
                <a16:creationId xmlns:a16="http://schemas.microsoft.com/office/drawing/2014/main" id="{C604D479-F3F3-5246-8C85-C2D83B9A266C}"/>
              </a:ext>
            </a:extLst>
          </p:cNvPr>
          <p:cNvCxnSpPr/>
          <p:nvPr/>
        </p:nvCxnSpPr>
        <p:spPr>
          <a:xfrm flipH="1" flipV="1">
            <a:off x="3074095" y="4472865"/>
            <a:ext cx="242492" cy="210543"/>
          </a:xfrm>
          <a:prstGeom prst="straightConnector1">
            <a:avLst/>
          </a:prstGeom>
          <a:ln w="28575">
            <a:solidFill>
              <a:srgbClr val="02805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C79D6AA3-6D31-D34A-8343-5E01B53958E7}"/>
              </a:ext>
            </a:extLst>
          </p:cNvPr>
          <p:cNvSpPr txBox="1"/>
          <p:nvPr/>
        </p:nvSpPr>
        <p:spPr>
          <a:xfrm>
            <a:off x="4647707" y="4639935"/>
            <a:ext cx="992579" cy="415498"/>
          </a:xfrm>
          <a:prstGeom prst="rect">
            <a:avLst/>
          </a:prstGeom>
          <a:noFill/>
        </p:spPr>
        <p:txBody>
          <a:bodyPr wrap="none" rtlCol="0">
            <a:spAutoFit/>
          </a:bodyPr>
          <a:lstStyle/>
          <a:p>
            <a:r>
              <a:rPr lang="en-CN" sz="2100" b="1" dirty="0">
                <a:solidFill>
                  <a:srgbClr val="C00000"/>
                </a:solidFill>
                <a:latin typeface="STKaiti" panose="02010600040101010101" pitchFamily="2" charset="-122"/>
                <a:ea typeface="STKaiti" panose="02010600040101010101" pitchFamily="2" charset="-122"/>
              </a:rPr>
              <a:t>未命中</a:t>
            </a:r>
          </a:p>
        </p:txBody>
      </p:sp>
      <p:cxnSp>
        <p:nvCxnSpPr>
          <p:cNvPr id="72" name="Straight Arrow Connector 71">
            <a:extLst>
              <a:ext uri="{FF2B5EF4-FFF2-40B4-BE49-F238E27FC236}">
                <a16:creationId xmlns:a16="http://schemas.microsoft.com/office/drawing/2014/main" id="{D65F3437-0517-9945-9E4C-FCA900038C71}"/>
              </a:ext>
            </a:extLst>
          </p:cNvPr>
          <p:cNvCxnSpPr/>
          <p:nvPr/>
        </p:nvCxnSpPr>
        <p:spPr>
          <a:xfrm flipH="1" flipV="1">
            <a:off x="4487091" y="4515645"/>
            <a:ext cx="242492" cy="21054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B9844AD2-69A5-9449-98E3-0C57090852CF}"/>
              </a:ext>
            </a:extLst>
          </p:cNvPr>
          <p:cNvGrpSpPr/>
          <p:nvPr/>
        </p:nvGrpSpPr>
        <p:grpSpPr>
          <a:xfrm>
            <a:off x="5849835" y="1343789"/>
            <a:ext cx="3140586" cy="2462604"/>
            <a:chOff x="7917918" y="213977"/>
            <a:chExt cx="4187448" cy="3283472"/>
          </a:xfrm>
        </p:grpSpPr>
        <p:pic>
          <p:nvPicPr>
            <p:cNvPr id="73" name="Picture 2">
              <a:extLst>
                <a:ext uri="{FF2B5EF4-FFF2-40B4-BE49-F238E27FC236}">
                  <a16:creationId xmlns:a16="http://schemas.microsoft.com/office/drawing/2014/main" id="{8C206F48-9BCE-844D-B10D-08D79915B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918" y="213977"/>
              <a:ext cx="4187448" cy="328347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74" name="Group 38">
              <a:extLst>
                <a:ext uri="{FF2B5EF4-FFF2-40B4-BE49-F238E27FC236}">
                  <a16:creationId xmlns:a16="http://schemas.microsoft.com/office/drawing/2014/main" id="{E957D14A-A81F-6F4A-BE4D-BD382BE0F685}"/>
                </a:ext>
              </a:extLst>
            </p:cNvPr>
            <p:cNvGrpSpPr>
              <a:grpSpLocks noChangeAspect="1"/>
            </p:cNvGrpSpPr>
            <p:nvPr/>
          </p:nvGrpSpPr>
          <p:grpSpPr bwMode="auto">
            <a:xfrm>
              <a:off x="9498128" y="355160"/>
              <a:ext cx="1049655" cy="854240"/>
              <a:chOff x="2011" y="2382"/>
              <a:chExt cx="661" cy="577"/>
            </a:xfrm>
          </p:grpSpPr>
          <p:sp>
            <p:nvSpPr>
              <p:cNvPr id="75" name="AutoShape 39">
                <a:extLst>
                  <a:ext uri="{FF2B5EF4-FFF2-40B4-BE49-F238E27FC236}">
                    <a16:creationId xmlns:a16="http://schemas.microsoft.com/office/drawing/2014/main" id="{4656A026-26A4-B641-99B5-ED805CEF503B}"/>
                  </a:ext>
                </a:extLst>
              </p:cNvPr>
              <p:cNvSpPr>
                <a:spLocks noChangeAspect="1" noChangeArrowheads="1" noTextEdit="1"/>
              </p:cNvSpPr>
              <p:nvPr/>
            </p:nvSpPr>
            <p:spPr bwMode="auto">
              <a:xfrm>
                <a:off x="2011" y="2382"/>
                <a:ext cx="661"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6" name="Line 40">
                <a:extLst>
                  <a:ext uri="{FF2B5EF4-FFF2-40B4-BE49-F238E27FC236}">
                    <a16:creationId xmlns:a16="http://schemas.microsoft.com/office/drawing/2014/main" id="{9AAED9A1-4881-0549-9CFE-73BCD5B04903}"/>
                  </a:ext>
                </a:extLst>
              </p:cNvPr>
              <p:cNvSpPr>
                <a:spLocks noChangeShapeType="1"/>
              </p:cNvSpPr>
              <p:nvPr/>
            </p:nvSpPr>
            <p:spPr bwMode="auto">
              <a:xfrm>
                <a:off x="2342" y="2659"/>
                <a:ext cx="294" cy="1"/>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77" name="Rectangle 41">
                <a:extLst>
                  <a:ext uri="{FF2B5EF4-FFF2-40B4-BE49-F238E27FC236}">
                    <a16:creationId xmlns:a16="http://schemas.microsoft.com/office/drawing/2014/main" id="{19C65AFF-ED4F-B940-BB9E-AFEB0E901AA3}"/>
                  </a:ext>
                </a:extLst>
              </p:cNvPr>
              <p:cNvSpPr>
                <a:spLocks noChangeArrowheads="1"/>
              </p:cNvSpPr>
              <p:nvPr/>
            </p:nvSpPr>
            <p:spPr bwMode="auto">
              <a:xfrm>
                <a:off x="2547" y="2808"/>
                <a:ext cx="54"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dirty="0">
                    <a:latin typeface="Times New Roman" pitchFamily="18" charset="0"/>
                    <a:ea typeface="SimHei" panose="02010609060101010101" pitchFamily="49" charset="-122"/>
                  </a:rPr>
                  <a:t>1</a:t>
                </a:r>
                <a:endParaRPr lang="en-US" altLang="zh-CN" sz="923" dirty="0">
                  <a:latin typeface="Times New Roman" pitchFamily="18" charset="0"/>
                  <a:ea typeface="SimHei" panose="02010609060101010101" pitchFamily="49" charset="-122"/>
                </a:endParaRPr>
              </a:p>
            </p:txBody>
          </p:sp>
          <p:sp>
            <p:nvSpPr>
              <p:cNvPr id="78" name="Rectangle 42">
                <a:extLst>
                  <a:ext uri="{FF2B5EF4-FFF2-40B4-BE49-F238E27FC236}">
                    <a16:creationId xmlns:a16="http://schemas.microsoft.com/office/drawing/2014/main" id="{66D58697-0A2C-A949-A136-60851A64C83D}"/>
                  </a:ext>
                </a:extLst>
              </p:cNvPr>
              <p:cNvSpPr>
                <a:spLocks noChangeArrowheads="1"/>
              </p:cNvSpPr>
              <p:nvPr/>
            </p:nvSpPr>
            <p:spPr bwMode="auto">
              <a:xfrm>
                <a:off x="2549" y="2528"/>
                <a:ext cx="54"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dirty="0">
                    <a:latin typeface="Times New Roman" pitchFamily="18" charset="0"/>
                    <a:ea typeface="SimHei" panose="02010609060101010101" pitchFamily="49" charset="-122"/>
                  </a:rPr>
                  <a:t>2</a:t>
                </a:r>
                <a:endParaRPr lang="en-US" altLang="zh-CN" sz="923" dirty="0">
                  <a:latin typeface="Times New Roman" pitchFamily="18" charset="0"/>
                  <a:ea typeface="SimHei" panose="02010609060101010101" pitchFamily="49" charset="-122"/>
                </a:endParaRPr>
              </a:p>
            </p:txBody>
          </p:sp>
          <p:sp>
            <p:nvSpPr>
              <p:cNvPr id="79" name="Rectangle 43">
                <a:extLst>
                  <a:ext uri="{FF2B5EF4-FFF2-40B4-BE49-F238E27FC236}">
                    <a16:creationId xmlns:a16="http://schemas.microsoft.com/office/drawing/2014/main" id="{52A48E70-EBC7-9C44-A379-89953D8C8B59}"/>
                  </a:ext>
                </a:extLst>
              </p:cNvPr>
              <p:cNvSpPr>
                <a:spLocks noChangeArrowheads="1"/>
              </p:cNvSpPr>
              <p:nvPr/>
            </p:nvSpPr>
            <p:spPr bwMode="auto">
              <a:xfrm>
                <a:off x="2470" y="2809"/>
                <a:ext cx="77"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dirty="0">
                    <a:latin typeface="Times New Roman" pitchFamily="18" charset="0"/>
                    <a:ea typeface="SimHei" panose="02010609060101010101" pitchFamily="49" charset="-122"/>
                  </a:rPr>
                  <a:t>A</a:t>
                </a:r>
                <a:endParaRPr lang="en-US" altLang="zh-CN" sz="923" dirty="0">
                  <a:latin typeface="Times New Roman" pitchFamily="18" charset="0"/>
                  <a:ea typeface="SimHei" panose="02010609060101010101" pitchFamily="49" charset="-122"/>
                </a:endParaRPr>
              </a:p>
            </p:txBody>
          </p:sp>
          <p:sp>
            <p:nvSpPr>
              <p:cNvPr id="80" name="Rectangle 44">
                <a:extLst>
                  <a:ext uri="{FF2B5EF4-FFF2-40B4-BE49-F238E27FC236}">
                    <a16:creationId xmlns:a16="http://schemas.microsoft.com/office/drawing/2014/main" id="{C085B031-CA24-2B4A-B894-F0714592832E}"/>
                  </a:ext>
                </a:extLst>
              </p:cNvPr>
              <p:cNvSpPr>
                <a:spLocks noChangeArrowheads="1"/>
              </p:cNvSpPr>
              <p:nvPr/>
            </p:nvSpPr>
            <p:spPr bwMode="auto">
              <a:xfrm>
                <a:off x="2464" y="2529"/>
                <a:ext cx="77" cy="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989" dirty="0">
                    <a:latin typeface="Times New Roman" pitchFamily="18" charset="0"/>
                    <a:ea typeface="SimHei" panose="02010609060101010101" pitchFamily="49" charset="-122"/>
                  </a:rPr>
                  <a:t>A</a:t>
                </a:r>
                <a:endParaRPr lang="en-US" altLang="zh-CN" sz="923" dirty="0">
                  <a:latin typeface="Times New Roman" pitchFamily="18" charset="0"/>
                  <a:ea typeface="SimHei" panose="02010609060101010101" pitchFamily="49" charset="-122"/>
                </a:endParaRPr>
              </a:p>
            </p:txBody>
          </p:sp>
          <p:sp>
            <p:nvSpPr>
              <p:cNvPr id="81" name="Rectangle 45">
                <a:extLst>
                  <a:ext uri="{FF2B5EF4-FFF2-40B4-BE49-F238E27FC236}">
                    <a16:creationId xmlns:a16="http://schemas.microsoft.com/office/drawing/2014/main" id="{1ACAC440-70C1-0B46-B862-F807011B582E}"/>
                  </a:ext>
                </a:extLst>
              </p:cNvPr>
              <p:cNvSpPr>
                <a:spLocks noChangeArrowheads="1"/>
              </p:cNvSpPr>
              <p:nvPr/>
            </p:nvSpPr>
            <p:spPr bwMode="auto">
              <a:xfrm>
                <a:off x="2348" y="2687"/>
                <a:ext cx="121"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dirty="0">
                    <a:latin typeface="Times New Roman" pitchFamily="18" charset="0"/>
                    <a:ea typeface="SimHei" panose="02010609060101010101" pitchFamily="49" charset="-122"/>
                  </a:rPr>
                  <a:t>T</a:t>
                </a:r>
                <a:endParaRPr lang="en-US" altLang="zh-CN" sz="923" dirty="0">
                  <a:latin typeface="Times New Roman" pitchFamily="18" charset="0"/>
                  <a:ea typeface="SimHei" panose="02010609060101010101" pitchFamily="49" charset="-122"/>
                </a:endParaRPr>
              </a:p>
            </p:txBody>
          </p:sp>
          <p:sp>
            <p:nvSpPr>
              <p:cNvPr id="82" name="Rectangle 46">
                <a:extLst>
                  <a:ext uri="{FF2B5EF4-FFF2-40B4-BE49-F238E27FC236}">
                    <a16:creationId xmlns:a16="http://schemas.microsoft.com/office/drawing/2014/main" id="{5B9C04E7-AE14-3F47-A001-7E4297D79FAC}"/>
                  </a:ext>
                </a:extLst>
              </p:cNvPr>
              <p:cNvSpPr>
                <a:spLocks noChangeArrowheads="1"/>
              </p:cNvSpPr>
              <p:nvPr/>
            </p:nvSpPr>
            <p:spPr bwMode="auto">
              <a:xfrm>
                <a:off x="2343" y="2408"/>
                <a:ext cx="121"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dirty="0">
                    <a:latin typeface="Times New Roman" pitchFamily="18" charset="0"/>
                    <a:ea typeface="SimHei" panose="02010609060101010101" pitchFamily="49" charset="-122"/>
                  </a:rPr>
                  <a:t>T</a:t>
                </a:r>
                <a:endParaRPr lang="en-US" altLang="zh-CN" sz="923" dirty="0">
                  <a:latin typeface="Times New Roman" pitchFamily="18" charset="0"/>
                  <a:ea typeface="SimHei" panose="02010609060101010101" pitchFamily="49" charset="-122"/>
                </a:endParaRPr>
              </a:p>
            </p:txBody>
          </p:sp>
          <p:sp>
            <p:nvSpPr>
              <p:cNvPr id="83" name="Rectangle 47">
                <a:extLst>
                  <a:ext uri="{FF2B5EF4-FFF2-40B4-BE49-F238E27FC236}">
                    <a16:creationId xmlns:a16="http://schemas.microsoft.com/office/drawing/2014/main" id="{A6BFB996-BC9B-204F-ADD0-9F81F9B9E1C6}"/>
                  </a:ext>
                </a:extLst>
              </p:cNvPr>
              <p:cNvSpPr>
                <a:spLocks noChangeArrowheads="1"/>
              </p:cNvSpPr>
              <p:nvPr/>
            </p:nvSpPr>
            <p:spPr bwMode="auto">
              <a:xfrm>
                <a:off x="2041" y="2536"/>
                <a:ext cx="66"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dirty="0">
                    <a:latin typeface="Times New Roman" pitchFamily="18" charset="0"/>
                    <a:ea typeface="SimHei" panose="02010609060101010101" pitchFamily="49" charset="-122"/>
                  </a:rPr>
                  <a:t>r</a:t>
                </a:r>
                <a:endParaRPr lang="en-US" altLang="zh-CN" sz="923" dirty="0">
                  <a:latin typeface="Times New Roman" pitchFamily="18" charset="0"/>
                  <a:ea typeface="SimHei" panose="02010609060101010101" pitchFamily="49" charset="-122"/>
                </a:endParaRPr>
              </a:p>
            </p:txBody>
          </p:sp>
          <p:sp>
            <p:nvSpPr>
              <p:cNvPr id="84" name="Rectangle 48">
                <a:extLst>
                  <a:ext uri="{FF2B5EF4-FFF2-40B4-BE49-F238E27FC236}">
                    <a16:creationId xmlns:a16="http://schemas.microsoft.com/office/drawing/2014/main" id="{7C660A69-5CF4-634C-BCF1-BD1D895722E5}"/>
                  </a:ext>
                </a:extLst>
              </p:cNvPr>
              <p:cNvSpPr>
                <a:spLocks noChangeArrowheads="1"/>
              </p:cNvSpPr>
              <p:nvPr/>
            </p:nvSpPr>
            <p:spPr bwMode="auto">
              <a:xfrm>
                <a:off x="2177" y="2513"/>
                <a:ext cx="109" cy="2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665839"/>
                <a:r>
                  <a:rPr lang="en-US" altLang="zh-CN" sz="1847" dirty="0">
                    <a:latin typeface="Symbol" pitchFamily="18" charset="2"/>
                    <a:ea typeface="SimHei" panose="02010609060101010101" pitchFamily="49" charset="-122"/>
                  </a:rPr>
                  <a:t>=</a:t>
                </a:r>
                <a:endParaRPr lang="en-US" altLang="zh-CN" sz="923" dirty="0">
                  <a:latin typeface="Times New Roman" pitchFamily="18" charset="0"/>
                  <a:ea typeface="SimHei" panose="02010609060101010101" pitchFamily="49" charset="-122"/>
                </a:endParaRPr>
              </a:p>
            </p:txBody>
          </p:sp>
        </p:grpSp>
      </p:grpSp>
      <p:sp>
        <p:nvSpPr>
          <p:cNvPr id="2" name="Rectangle 1">
            <a:extLst>
              <a:ext uri="{FF2B5EF4-FFF2-40B4-BE49-F238E27FC236}">
                <a16:creationId xmlns:a16="http://schemas.microsoft.com/office/drawing/2014/main" id="{350C55FB-BE7C-2C4E-968D-A3513B532F2B}"/>
              </a:ext>
            </a:extLst>
          </p:cNvPr>
          <p:cNvSpPr/>
          <p:nvPr/>
        </p:nvSpPr>
        <p:spPr>
          <a:xfrm>
            <a:off x="6713465" y="3995090"/>
            <a:ext cx="2015869"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400" dirty="0">
                <a:latin typeface="STKaiti" panose="02010600040101010101" pitchFamily="2" charset="-122"/>
                <a:ea typeface="STKaiti" panose="02010600040101010101" pitchFamily="2" charset="-122"/>
              </a:rPr>
              <a:t>命中率提升，最终访问性能逼近高速缓存</a:t>
            </a:r>
            <a:endParaRPr lang="en-CN" sz="2400" dirty="0">
              <a:latin typeface="STKaiti" panose="02010600040101010101" pitchFamily="2" charset="-122"/>
              <a:ea typeface="STKaiti" panose="02010600040101010101" pitchFamily="2" charset="-122"/>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149FC9CA-659A-E831-BC9E-A78541E504CF}"/>
                  </a:ext>
                </a:extLst>
              </p14:cNvPr>
              <p14:cNvContentPartPr/>
              <p14:nvPr/>
            </p14:nvContentPartPr>
            <p14:xfrm>
              <a:off x="6108840" y="4203360"/>
              <a:ext cx="360" cy="360"/>
            </p14:xfrm>
          </p:contentPart>
        </mc:Choice>
        <mc:Fallback xmlns="">
          <p:pic>
            <p:nvPicPr>
              <p:cNvPr id="3" name="墨迹 2">
                <a:extLst>
                  <a:ext uri="{FF2B5EF4-FFF2-40B4-BE49-F238E27FC236}">
                    <a16:creationId xmlns:a16="http://schemas.microsoft.com/office/drawing/2014/main" id="{149FC9CA-659A-E831-BC9E-A78541E504CF}"/>
                  </a:ext>
                </a:extLst>
              </p:cNvPr>
              <p:cNvPicPr/>
              <p:nvPr/>
            </p:nvPicPr>
            <p:blipFill>
              <a:blip r:embed="rId5"/>
              <a:stretch>
                <a:fillRect/>
              </a:stretch>
            </p:blipFill>
            <p:spPr>
              <a:xfrm>
                <a:off x="6099480" y="4194000"/>
                <a:ext cx="19080" cy="19080"/>
              </a:xfrm>
              <a:prstGeom prst="rect">
                <a:avLst/>
              </a:prstGeom>
            </p:spPr>
          </p:pic>
        </mc:Fallback>
      </mc:AlternateContent>
    </p:spTree>
    <p:extLst>
      <p:ext uri="{BB962C8B-B14F-4D97-AF65-F5344CB8AC3E}">
        <p14:creationId xmlns:p14="http://schemas.microsoft.com/office/powerpoint/2010/main" val="35209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22" presetClass="entr" presetSubtype="8" fill="hold" nodeType="with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wipe(left)">
                                      <p:cBhvr>
                                        <p:cTn id="27" dur="500"/>
                                        <p:tgtEl>
                                          <p:spTgt spid="85"/>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47" grpId="0"/>
      <p:bldP spid="68" grpId="0"/>
      <p:bldP spid="71" grpId="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a:t>
            </a:r>
            <a:r>
              <a:rPr lang="en-US" altLang="zh-CN" dirty="0"/>
              <a:t>Cache</a:t>
            </a:r>
            <a:r>
              <a:rPr lang="zh-CN" altLang="en-US" dirty="0"/>
              <a:t>）技术：基本结构</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22</a:t>
            </a:fld>
            <a:endParaRPr lang="en-US" altLang="zh-CN"/>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241266" y="3034933"/>
                <a:ext cx="8902733" cy="3650407"/>
              </a:xfrm>
            </p:spPr>
            <p:txBody>
              <a:bodyPr/>
              <a:lstStyle/>
              <a:p>
                <a:pPr marL="514350" indent="-457200">
                  <a:spcBef>
                    <a:spcPts val="1000"/>
                  </a:spcBef>
                </a:pPr>
                <a:r>
                  <a:rPr kumimoji="1" lang="zh-CN" altLang="en-US" sz="2800" dirty="0"/>
                  <a:t>没有</a:t>
                </a:r>
                <a:r>
                  <a:rPr kumimoji="1" lang="en-US" altLang="zh-CN" sz="2800" dirty="0"/>
                  <a:t>cache</a:t>
                </a:r>
                <a:r>
                  <a:rPr kumimoji="1" lang="zh-CN" altLang="en-US" sz="2800" dirty="0"/>
                  <a:t>的时候平均访问时间？</a:t>
                </a:r>
                <a:endParaRPr kumimoji="1" lang="en-US" altLang="zh-CN" sz="2800" dirty="0"/>
              </a:p>
              <a:p>
                <a:pPr marL="914400" lvl="1" indent="-457200">
                  <a:spcBef>
                    <a:spcPts val="1000"/>
                  </a:spcBef>
                </a:pPr>
                <a14:m>
                  <m:oMath xmlns:m="http://schemas.openxmlformats.org/officeDocument/2006/math">
                    <m:sSub>
                      <m:sSubPr>
                        <m:ctrlPr>
                          <a:rPr lang="en-US" altLang="zh-CN" sz="2400" b="0" i="1">
                            <a:latin typeface="Cambria Math" panose="02040503050406030204" pitchFamily="18" charset="0"/>
                          </a:rPr>
                        </m:ctrlPr>
                      </m:sSubPr>
                      <m:e>
                        <m:r>
                          <m:rPr>
                            <m:sty m:val="p"/>
                          </m:rPr>
                          <a:rPr lang="en-US" altLang="zh-CN" sz="2400" b="0" i="0">
                            <a:latin typeface="Cambria Math" panose="02040503050406030204" pitchFamily="18" charset="0"/>
                          </a:rPr>
                          <m:t>t</m:t>
                        </m:r>
                      </m:e>
                      <m:sub>
                        <m:r>
                          <m:rPr>
                            <m:sty m:val="p"/>
                          </m:rPr>
                          <a:rPr lang="en-US" altLang="zh-CN" sz="2400" b="0" i="0">
                            <a:latin typeface="Cambria Math" panose="02040503050406030204" pitchFamily="18" charset="0"/>
                          </a:rPr>
                          <m:t>m</m:t>
                        </m:r>
                      </m:sub>
                    </m:sSub>
                    <m:r>
                      <a:rPr lang="en-US" altLang="zh-CN" sz="2400" b="0" i="0">
                        <a:latin typeface="Cambria Math" panose="02040503050406030204" pitchFamily="18" charset="0"/>
                      </a:rPr>
                      <m:t>=</m:t>
                    </m:r>
                  </m:oMath>
                </a14:m>
                <a:r>
                  <a:rPr lang="en-US" altLang="zh-CN" sz="2400" b="0" dirty="0"/>
                  <a:t>40ns</a:t>
                </a:r>
                <a:endParaRPr kumimoji="1" lang="en-US" altLang="zh-CN" sz="2400" b="0" dirty="0"/>
              </a:p>
              <a:p>
                <a:pPr marL="514350" indent="-457200">
                  <a:spcBef>
                    <a:spcPts val="1000"/>
                  </a:spcBef>
                </a:pPr>
                <a:r>
                  <a:rPr kumimoji="1" lang="zh-CN" altLang="en-US" sz="2800" dirty="0"/>
                  <a:t>命中率</a:t>
                </a:r>
                <a:r>
                  <a:rPr kumimoji="1" lang="en-US" altLang="zh-CN" sz="2800" dirty="0"/>
                  <a:t>75%</a:t>
                </a:r>
                <a:r>
                  <a:rPr kumimoji="1" lang="zh-CN" altLang="en-US" sz="2800" dirty="0"/>
                  <a:t>时，平均访问时间是多少？</a:t>
                </a:r>
                <a:endParaRPr kumimoji="1" lang="en-US" altLang="zh-CN" sz="2800" dirty="0"/>
              </a:p>
              <a:p>
                <a:pPr marL="914400" lvl="1" indent="-457200">
                  <a:spcBef>
                    <a:spcPts val="1000"/>
                  </a:spcBef>
                </a:pPr>
                <a14:m>
                  <m:oMath xmlns:m="http://schemas.openxmlformats.org/officeDocument/2006/math">
                    <m:r>
                      <m:rPr>
                        <m:nor/>
                      </m:rPr>
                      <a:rPr kumimoji="1" lang="en-US" altLang="zh-CN" sz="2400" b="0" dirty="0"/>
                      <m:t>4+(1</m:t>
                    </m:r>
                    <m:r>
                      <m:rPr>
                        <m:nor/>
                      </m:rPr>
                      <a:rPr kumimoji="1" lang="en-US" altLang="zh-CN" sz="2400" b="0" i="0" dirty="0" smtClean="0"/>
                      <m:t>−</m:t>
                    </m:r>
                    <m:r>
                      <m:rPr>
                        <m:nor/>
                      </m:rPr>
                      <a:rPr kumimoji="1" lang="en-US" altLang="zh-CN" sz="2400" b="0" dirty="0"/>
                      <m:t>0.75)</m:t>
                    </m:r>
                    <m:r>
                      <a:rPr kumimoji="1" lang="en-US" altLang="zh-CN" sz="2400" b="0" i="1" dirty="0" smtClean="0">
                        <a:latin typeface="Cambria Math" panose="02040503050406030204" pitchFamily="18" charset="0"/>
                        <a:ea typeface="Cambria Math" panose="02040503050406030204" pitchFamily="18" charset="0"/>
                      </a:rPr>
                      <m:t>×</m:t>
                    </m:r>
                    <m:r>
                      <m:rPr>
                        <m:nor/>
                      </m:rPr>
                      <a:rPr kumimoji="1" lang="en-US" altLang="zh-CN" sz="2400" b="0" dirty="0"/>
                      <m:t>40 = 14</m:t>
                    </m:r>
                    <m:r>
                      <m:rPr>
                        <m:nor/>
                      </m:rPr>
                      <a:rPr kumimoji="1" lang="en-US" altLang="zh-CN" sz="2400" b="0" dirty="0"/>
                      <m:t>ns</m:t>
                    </m:r>
                  </m:oMath>
                </a14:m>
                <a:endParaRPr kumimoji="1" lang="en-US" altLang="zh-CN" sz="2400" b="0" dirty="0"/>
              </a:p>
              <a:p>
                <a:pPr marL="514350" indent="-457200">
                  <a:spcBef>
                    <a:spcPts val="1000"/>
                  </a:spcBef>
                </a:pPr>
                <a:r>
                  <a:rPr kumimoji="1" lang="zh-CN" altLang="en-US" sz="2800" dirty="0"/>
                  <a:t>为了使平均访问时间降为</a:t>
                </a:r>
                <a:r>
                  <a:rPr kumimoji="1" lang="en-US" altLang="zh-CN" sz="2800" dirty="0"/>
                  <a:t>5ns, </a:t>
                </a:r>
                <a:r>
                  <a:rPr kumimoji="1" lang="zh-CN" altLang="en-US" sz="2800" dirty="0"/>
                  <a:t>命中率需要达到多少？</a:t>
                </a:r>
                <a:endParaRPr kumimoji="1" lang="en-US" altLang="zh-CN" sz="2800" dirty="0"/>
              </a:p>
              <a:p>
                <a:pPr marL="914400" lvl="1" indent="-457200">
                  <a:spcBef>
                    <a:spcPts val="1000"/>
                  </a:spcBef>
                </a:pPr>
                <a14:m>
                  <m:oMath xmlns:m="http://schemas.openxmlformats.org/officeDocument/2006/math">
                    <m:r>
                      <m:rPr>
                        <m:nor/>
                      </m:rPr>
                      <a:rPr kumimoji="1" lang="en-US" altLang="zh-CN" sz="2400" b="0" dirty="0"/>
                      <m:t>4+(1−</m:t>
                    </m:r>
                    <m:r>
                      <m:rPr>
                        <m:sty m:val="p"/>
                      </m:rPr>
                      <a:rPr kumimoji="1" lang="en-US" altLang="zh-CN" sz="2400" b="0" i="1" dirty="0" smtClean="0">
                        <a:latin typeface="Cambria Math" panose="02040503050406030204" pitchFamily="18" charset="0"/>
                      </a:rPr>
                      <m:t>H</m:t>
                    </m:r>
                    <m:r>
                      <m:rPr>
                        <m:nor/>
                      </m:rPr>
                      <a:rPr kumimoji="1" lang="en-US" altLang="zh-CN" sz="2400" b="0" dirty="0"/>
                      <m:t>)</m:t>
                    </m:r>
                    <m:r>
                      <a:rPr kumimoji="1" lang="en-US" altLang="zh-CN" sz="2400" b="0" i="1" dirty="0">
                        <a:latin typeface="Cambria Math" panose="02040503050406030204" pitchFamily="18" charset="0"/>
                        <a:ea typeface="Cambria Math" panose="02040503050406030204" pitchFamily="18" charset="0"/>
                      </a:rPr>
                      <m:t>×</m:t>
                    </m:r>
                    <m:r>
                      <m:rPr>
                        <m:nor/>
                      </m:rPr>
                      <a:rPr kumimoji="1" lang="en-US" altLang="zh-CN" sz="2400" b="0" dirty="0"/>
                      <m:t>40 = </m:t>
                    </m:r>
                    <m:r>
                      <m:rPr>
                        <m:nor/>
                      </m:rPr>
                      <a:rPr kumimoji="1" lang="en-US" altLang="zh-CN" sz="2400" b="0" i="0" dirty="0" smtClean="0"/>
                      <m:t>5</m:t>
                    </m:r>
                    <m:r>
                      <m:rPr>
                        <m:nor/>
                      </m:rPr>
                      <a:rPr kumimoji="1" lang="en-US" altLang="zh-CN" sz="2400" b="0" dirty="0"/>
                      <m:t>ns</m:t>
                    </m:r>
                  </m:oMath>
                </a14:m>
                <a:endParaRPr kumimoji="1" lang="en-US" altLang="zh-CN" sz="2400" b="0" dirty="0"/>
              </a:p>
              <a:p>
                <a:pPr marL="914400" lvl="1" indent="-457200">
                  <a:spcBef>
                    <a:spcPts val="1000"/>
                  </a:spcBef>
                </a:pPr>
                <a14:m>
                  <m:oMath xmlns:m="http://schemas.openxmlformats.org/officeDocument/2006/math">
                    <m:r>
                      <m:rPr>
                        <m:sty m:val="p"/>
                      </m:rPr>
                      <a:rPr kumimoji="1" lang="en-US" altLang="zh-CN" sz="2400" b="0" i="1" dirty="0">
                        <a:latin typeface="Cambria Math" panose="02040503050406030204" pitchFamily="18" charset="0"/>
                      </a:rPr>
                      <m:t>H</m:t>
                    </m:r>
                    <m:r>
                      <m:rPr>
                        <m:nor/>
                      </m:rPr>
                      <a:rPr kumimoji="1" lang="en-US" altLang="zh-CN" sz="2400" b="0" i="0" dirty="0" smtClean="0"/>
                      <m:t>=</m:t>
                    </m:r>
                    <m:r>
                      <m:rPr>
                        <m:nor/>
                      </m:rPr>
                      <a:rPr kumimoji="1" lang="en-US" altLang="zh-CN" sz="2400" b="0" dirty="0"/>
                      <m:t>1–(5−4)/40 = 97.5%</m:t>
                    </m:r>
                  </m:oMath>
                </a14:m>
                <a:endParaRPr kumimoji="1" lang="en-US" altLang="zh-CN" sz="2400" b="0" dirty="0"/>
              </a:p>
            </p:txBody>
          </p:sp>
        </mc:Choice>
        <mc:Fallback xmlns="">
          <p:sp>
            <p:nvSpPr>
              <p:cNvPr id="4" name="内容占位符 2">
                <a:extLst>
                  <a:ext uri="{FF2B5EF4-FFF2-40B4-BE49-F238E27FC236}">
                    <a16:creationId xmlns:a16="http://schemas.microsoft.com/office/drawing/2014/main" id="{FBE02D7A-4922-804D-B66B-910F9081B8A5}"/>
                  </a:ext>
                </a:extLst>
              </p:cNvPr>
              <p:cNvSpPr>
                <a:spLocks noGrp="1" noRot="1" noChangeAspect="1" noMove="1" noResize="1" noEditPoints="1" noAdjustHandles="1" noChangeArrowheads="1" noChangeShapeType="1" noTextEdit="1"/>
              </p:cNvSpPr>
              <p:nvPr>
                <p:ph idx="1"/>
              </p:nvPr>
            </p:nvSpPr>
            <p:spPr>
              <a:xfrm>
                <a:off x="241266" y="3034933"/>
                <a:ext cx="8902733" cy="3650407"/>
              </a:xfrm>
              <a:blipFill>
                <a:blip r:embed="rId3"/>
                <a:stretch>
                  <a:fillRect l="-713" t="-2431" r="-2710" b="-1389"/>
                </a:stretch>
              </a:blipFill>
            </p:spPr>
            <p:txBody>
              <a:bodyPr/>
              <a:lstStyle/>
              <a:p>
                <a:r>
                  <a:rPr lang="zh-CN" altLang="en-US">
                    <a:noFill/>
                  </a:rPr>
                  <a:t> </a:t>
                </a:r>
              </a:p>
            </p:txBody>
          </p:sp>
        </mc:Fallback>
      </mc:AlternateContent>
      <p:grpSp>
        <p:nvGrpSpPr>
          <p:cNvPr id="39" name="组合 38">
            <a:extLst>
              <a:ext uri="{FF2B5EF4-FFF2-40B4-BE49-F238E27FC236}">
                <a16:creationId xmlns:a16="http://schemas.microsoft.com/office/drawing/2014/main" id="{908C5119-236A-1640-8442-FD39E78D52AC}"/>
              </a:ext>
            </a:extLst>
          </p:cNvPr>
          <p:cNvGrpSpPr/>
          <p:nvPr/>
        </p:nvGrpSpPr>
        <p:grpSpPr>
          <a:xfrm>
            <a:off x="1482356" y="1477889"/>
            <a:ext cx="6086683" cy="829018"/>
            <a:chOff x="1609681" y="1570489"/>
            <a:chExt cx="6086683" cy="829018"/>
          </a:xfrm>
        </p:grpSpPr>
        <p:sp>
          <p:nvSpPr>
            <p:cNvPr id="14" name="Line 12">
              <a:extLst>
                <a:ext uri="{FF2B5EF4-FFF2-40B4-BE49-F238E27FC236}">
                  <a16:creationId xmlns:a16="http://schemas.microsoft.com/office/drawing/2014/main" id="{5477CEC6-B5FB-9D46-BDF2-1D0C27454501}"/>
                </a:ext>
              </a:extLst>
            </p:cNvPr>
            <p:cNvSpPr>
              <a:spLocks noChangeShapeType="1"/>
            </p:cNvSpPr>
            <p:nvPr/>
          </p:nvSpPr>
          <p:spPr bwMode="auto">
            <a:xfrm>
              <a:off x="5323970" y="2031588"/>
              <a:ext cx="10440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mc:AlternateContent xmlns:mc="http://schemas.openxmlformats.org/markup-compatibility/2006" xmlns:a14="http://schemas.microsoft.com/office/drawing/2010/main">
          <mc:Choice Requires="a14">
            <p:sp>
              <p:nvSpPr>
                <p:cNvPr id="15" name="Rectangle 13">
                  <a:extLst>
                    <a:ext uri="{FF2B5EF4-FFF2-40B4-BE49-F238E27FC236}">
                      <a16:creationId xmlns:a16="http://schemas.microsoft.com/office/drawing/2014/main" id="{25347142-E4FD-D845-9BD8-A406D856513E}"/>
                    </a:ext>
                  </a:extLst>
                </p:cNvPr>
                <p:cNvSpPr>
                  <a:spLocks noChangeArrowheads="1"/>
                </p:cNvSpPr>
                <p:nvPr/>
              </p:nvSpPr>
              <p:spPr bwMode="auto">
                <a:xfrm>
                  <a:off x="3053261" y="1570489"/>
                  <a:ext cx="975677" cy="379638"/>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14:m>
                    <m:oMath xmlns:m="http://schemas.openxmlformats.org/officeDocument/2006/math">
                      <m:sSub>
                        <m:sSubPr>
                          <m:ctrlPr>
                            <a:rPr lang="en-US" altLang="zh-CN" b="1" i="1" smtClean="0">
                              <a:latin typeface="Cambria Math" panose="02040503050406030204" pitchFamily="18" charset="0"/>
                              <a:ea typeface="+mn-ea"/>
                            </a:rPr>
                          </m:ctrlPr>
                        </m:sSubPr>
                        <m:e>
                          <m:r>
                            <m:rPr>
                              <m:sty m:val="p"/>
                            </m:rPr>
                            <a:rPr lang="en-US" altLang="zh-CN" b="1" i="1">
                              <a:latin typeface="Cambria Math" panose="02040503050406030204" pitchFamily="18" charset="0"/>
                              <a:ea typeface="+mn-ea"/>
                            </a:rPr>
                            <m:t>t</m:t>
                          </m:r>
                        </m:e>
                        <m:sub>
                          <m:r>
                            <m:rPr>
                              <m:sty m:val="p"/>
                            </m:rPr>
                            <a:rPr lang="en-US" altLang="zh-CN" b="1" i="1">
                              <a:latin typeface="Cambria Math" panose="02040503050406030204" pitchFamily="18" charset="0"/>
                              <a:ea typeface="+mn-ea"/>
                            </a:rPr>
                            <m:t>c</m:t>
                          </m:r>
                        </m:sub>
                      </m:sSub>
                      <m:r>
                        <a:rPr lang="en-US" altLang="zh-CN" b="1" i="1" smtClean="0">
                          <a:latin typeface="Cambria Math" panose="02040503050406030204" pitchFamily="18" charset="0"/>
                          <a:ea typeface="+mn-ea"/>
                        </a:rPr>
                        <m:t>=</m:t>
                      </m:r>
                    </m:oMath>
                  </a14:m>
                  <a:r>
                    <a:rPr lang="en-US" altLang="zh-CN" b="1" dirty="0">
                      <a:latin typeface="+mn-ea"/>
                      <a:ea typeface="+mn-ea"/>
                    </a:rPr>
                    <a:t>4ns</a:t>
                  </a:r>
                </a:p>
              </p:txBody>
            </p:sp>
          </mc:Choice>
          <mc:Fallback xmlns="">
            <p:sp>
              <p:nvSpPr>
                <p:cNvPr id="15" name="Rectangle 13">
                  <a:extLst>
                    <a:ext uri="{FF2B5EF4-FFF2-40B4-BE49-F238E27FC236}">
                      <a16:creationId xmlns:a16="http://schemas.microsoft.com/office/drawing/2014/main" id="{25347142-E4FD-D845-9BD8-A406D856513E}"/>
                    </a:ext>
                  </a:extLst>
                </p:cNvPr>
                <p:cNvSpPr>
                  <a:spLocks noRot="1" noChangeAspect="1" noMove="1" noResize="1" noEditPoints="1" noAdjustHandles="1" noChangeArrowheads="1" noChangeShapeType="1" noTextEdit="1"/>
                </p:cNvSpPr>
                <p:nvPr/>
              </p:nvSpPr>
              <p:spPr bwMode="auto">
                <a:xfrm>
                  <a:off x="3053261" y="1570489"/>
                  <a:ext cx="975677" cy="379638"/>
                </a:xfrm>
                <a:prstGeom prst="rect">
                  <a:avLst/>
                </a:prstGeom>
                <a:blipFill>
                  <a:blip r:embed="rId4"/>
                  <a:stretch>
                    <a:fillRect t="-9677" r="-2564" b="-19355"/>
                  </a:stretch>
                </a:bli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Rectangle 14">
                  <a:extLst>
                    <a:ext uri="{FF2B5EF4-FFF2-40B4-BE49-F238E27FC236}">
                      <a16:creationId xmlns:a16="http://schemas.microsoft.com/office/drawing/2014/main" id="{D7811F68-BF05-354F-82E9-5112AD66F311}"/>
                    </a:ext>
                  </a:extLst>
                </p:cNvPr>
                <p:cNvSpPr>
                  <a:spLocks noChangeArrowheads="1"/>
                </p:cNvSpPr>
                <p:nvPr/>
              </p:nvSpPr>
              <p:spPr bwMode="auto">
                <a:xfrm>
                  <a:off x="5271784" y="1626776"/>
                  <a:ext cx="1163228" cy="379638"/>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14:m>
                    <m:oMath xmlns:m="http://schemas.openxmlformats.org/officeDocument/2006/math">
                      <m:sSub>
                        <m:sSubPr>
                          <m:ctrlPr>
                            <a:rPr lang="en-US" altLang="zh-CN" b="1" i="1" smtClean="0">
                              <a:latin typeface="Cambria Math" panose="02040503050406030204" pitchFamily="18" charset="0"/>
                              <a:ea typeface="+mn-ea"/>
                            </a:rPr>
                          </m:ctrlPr>
                        </m:sSubPr>
                        <m:e>
                          <m:r>
                            <m:rPr>
                              <m:sty m:val="p"/>
                            </m:rPr>
                            <a:rPr lang="en-US" altLang="zh-CN" b="1" i="1">
                              <a:latin typeface="Cambria Math" panose="02040503050406030204" pitchFamily="18" charset="0"/>
                              <a:ea typeface="+mn-ea"/>
                            </a:rPr>
                            <m:t>t</m:t>
                          </m:r>
                        </m:e>
                        <m:sub>
                          <m:r>
                            <m:rPr>
                              <m:sty m:val="p"/>
                            </m:rPr>
                            <a:rPr lang="en-US" altLang="zh-CN" b="1" i="1">
                              <a:latin typeface="Cambria Math" panose="02040503050406030204" pitchFamily="18" charset="0"/>
                              <a:ea typeface="+mn-ea"/>
                            </a:rPr>
                            <m:t>m</m:t>
                          </m:r>
                        </m:sub>
                      </m:sSub>
                      <m:r>
                        <a:rPr lang="en-US" altLang="zh-CN" b="1" i="1" smtClean="0">
                          <a:latin typeface="Cambria Math" panose="02040503050406030204" pitchFamily="18" charset="0"/>
                          <a:ea typeface="+mn-ea"/>
                        </a:rPr>
                        <m:t>=</m:t>
                      </m:r>
                    </m:oMath>
                  </a14:m>
                  <a:r>
                    <a:rPr lang="en-US" altLang="zh-CN" b="1" dirty="0">
                      <a:latin typeface="+mn-ea"/>
                      <a:ea typeface="+mn-ea"/>
                    </a:rPr>
                    <a:t>40ns</a:t>
                  </a:r>
                </a:p>
              </p:txBody>
            </p:sp>
          </mc:Choice>
          <mc:Fallback xmlns="">
            <p:sp>
              <p:nvSpPr>
                <p:cNvPr id="16" name="Rectangle 14">
                  <a:extLst>
                    <a:ext uri="{FF2B5EF4-FFF2-40B4-BE49-F238E27FC236}">
                      <a16:creationId xmlns:a16="http://schemas.microsoft.com/office/drawing/2014/main" id="{D7811F68-BF05-354F-82E9-5112AD66F311}"/>
                    </a:ext>
                  </a:extLst>
                </p:cNvPr>
                <p:cNvSpPr>
                  <a:spLocks noRot="1" noChangeAspect="1" noMove="1" noResize="1" noEditPoints="1" noAdjustHandles="1" noChangeArrowheads="1" noChangeShapeType="1" noTextEdit="1"/>
                </p:cNvSpPr>
                <p:nvPr/>
              </p:nvSpPr>
              <p:spPr bwMode="auto">
                <a:xfrm>
                  <a:off x="5271784" y="1626776"/>
                  <a:ext cx="1163228" cy="379638"/>
                </a:xfrm>
                <a:prstGeom prst="rect">
                  <a:avLst/>
                </a:prstGeom>
                <a:blipFill>
                  <a:blip r:embed="rId5"/>
                  <a:stretch>
                    <a:fillRect t="-6452" r="-3261" b="-19355"/>
                  </a:stretch>
                </a:bli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8" name="Line 16">
              <a:extLst>
                <a:ext uri="{FF2B5EF4-FFF2-40B4-BE49-F238E27FC236}">
                  <a16:creationId xmlns:a16="http://schemas.microsoft.com/office/drawing/2014/main" id="{FC16857C-0D82-5E43-801A-D6FD81E421A3}"/>
                </a:ext>
              </a:extLst>
            </p:cNvPr>
            <p:cNvSpPr>
              <a:spLocks noChangeShapeType="1"/>
            </p:cNvSpPr>
            <p:nvPr/>
          </p:nvSpPr>
          <p:spPr bwMode="auto">
            <a:xfrm>
              <a:off x="3084205" y="1973714"/>
              <a:ext cx="8820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0" name="Rectangle 4">
              <a:extLst>
                <a:ext uri="{FF2B5EF4-FFF2-40B4-BE49-F238E27FC236}">
                  <a16:creationId xmlns:a16="http://schemas.microsoft.com/office/drawing/2014/main" id="{AEECC5E2-D6BE-624F-8F47-9ED439B9F3A6}"/>
                </a:ext>
              </a:extLst>
            </p:cNvPr>
            <p:cNvSpPr>
              <a:spLocks noChangeArrowheads="1"/>
            </p:cNvSpPr>
            <p:nvPr/>
          </p:nvSpPr>
          <p:spPr bwMode="auto">
            <a:xfrm>
              <a:off x="3963943" y="1685132"/>
              <a:ext cx="1357313" cy="538163"/>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1" name="Rectangle 5">
              <a:extLst>
                <a:ext uri="{FF2B5EF4-FFF2-40B4-BE49-F238E27FC236}">
                  <a16:creationId xmlns:a16="http://schemas.microsoft.com/office/drawing/2014/main" id="{F172AE1E-FBCA-9B41-9BDC-D1DACCEFE503}"/>
                </a:ext>
              </a:extLst>
            </p:cNvPr>
            <p:cNvSpPr>
              <a:spLocks noChangeArrowheads="1"/>
            </p:cNvSpPr>
            <p:nvPr/>
          </p:nvSpPr>
          <p:spPr bwMode="auto">
            <a:xfrm>
              <a:off x="4165112" y="1733616"/>
              <a:ext cx="1045577" cy="4411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defTabSz="1009650" eaLnBrk="0" hangingPunct="0"/>
              <a:r>
                <a:rPr lang="en-US" altLang="zh-CN" sz="2200" b="1" dirty="0">
                  <a:latin typeface="+mn-ea"/>
                  <a:ea typeface="+mn-ea"/>
                </a:rPr>
                <a:t>Cache</a:t>
              </a:r>
            </a:p>
          </p:txBody>
        </p:sp>
        <p:sp>
          <p:nvSpPr>
            <p:cNvPr id="22" name="Rectangle 6">
              <a:extLst>
                <a:ext uri="{FF2B5EF4-FFF2-40B4-BE49-F238E27FC236}">
                  <a16:creationId xmlns:a16="http://schemas.microsoft.com/office/drawing/2014/main" id="{16E371E7-A6CC-354C-BB45-84185537A806}"/>
                </a:ext>
              </a:extLst>
            </p:cNvPr>
            <p:cNvSpPr>
              <a:spLocks noChangeArrowheads="1"/>
            </p:cNvSpPr>
            <p:nvPr/>
          </p:nvSpPr>
          <p:spPr bwMode="auto">
            <a:xfrm>
              <a:off x="1810550" y="1808957"/>
              <a:ext cx="1109367" cy="4104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zh-CN" altLang="en-US" sz="2000" b="1" dirty="0">
                  <a:latin typeface="+mn-ea"/>
                  <a:ea typeface="+mn-ea"/>
                </a:rPr>
                <a:t>处理器</a:t>
              </a:r>
              <a:r>
                <a:rPr lang="en-US" altLang="zh-CN" sz="2000" b="1" dirty="0">
                  <a:latin typeface="+mn-ea"/>
                  <a:ea typeface="+mn-ea"/>
                </a:rPr>
                <a:t> </a:t>
              </a:r>
            </a:p>
          </p:txBody>
        </p:sp>
        <p:sp>
          <p:nvSpPr>
            <p:cNvPr id="23" name="Line 7">
              <a:extLst>
                <a:ext uri="{FF2B5EF4-FFF2-40B4-BE49-F238E27FC236}">
                  <a16:creationId xmlns:a16="http://schemas.microsoft.com/office/drawing/2014/main" id="{7EA53F63-D6DC-7447-8FFF-D746D56DA29C}"/>
                </a:ext>
              </a:extLst>
            </p:cNvPr>
            <p:cNvSpPr>
              <a:spLocks noChangeShapeType="1"/>
            </p:cNvSpPr>
            <p:nvPr/>
          </p:nvSpPr>
          <p:spPr bwMode="auto">
            <a:xfrm>
              <a:off x="1609681" y="1591470"/>
              <a:ext cx="1476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4" name="Line 8">
              <a:extLst>
                <a:ext uri="{FF2B5EF4-FFF2-40B4-BE49-F238E27FC236}">
                  <a16:creationId xmlns:a16="http://schemas.microsoft.com/office/drawing/2014/main" id="{BF28BB33-972A-4840-8C26-7467F0013A2F}"/>
                </a:ext>
              </a:extLst>
            </p:cNvPr>
            <p:cNvSpPr>
              <a:spLocks noChangeShapeType="1"/>
            </p:cNvSpPr>
            <p:nvPr/>
          </p:nvSpPr>
          <p:spPr bwMode="auto">
            <a:xfrm>
              <a:off x="1609681" y="2399507"/>
              <a:ext cx="1476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5" name="Line 9">
              <a:extLst>
                <a:ext uri="{FF2B5EF4-FFF2-40B4-BE49-F238E27FC236}">
                  <a16:creationId xmlns:a16="http://schemas.microsoft.com/office/drawing/2014/main" id="{5C196F7A-2E7A-6940-BB15-AAD28A9D5FAA}"/>
                </a:ext>
              </a:extLst>
            </p:cNvPr>
            <p:cNvSpPr>
              <a:spLocks noChangeShapeType="1"/>
            </p:cNvSpPr>
            <p:nvPr/>
          </p:nvSpPr>
          <p:spPr bwMode="auto">
            <a:xfrm>
              <a:off x="6364364" y="1591470"/>
              <a:ext cx="1332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6" name="Line 10">
              <a:extLst>
                <a:ext uri="{FF2B5EF4-FFF2-40B4-BE49-F238E27FC236}">
                  <a16:creationId xmlns:a16="http://schemas.microsoft.com/office/drawing/2014/main" id="{D8DD22A0-2F93-2C4A-9E19-9FB9DCC48BBE}"/>
                </a:ext>
              </a:extLst>
            </p:cNvPr>
            <p:cNvSpPr>
              <a:spLocks noChangeShapeType="1"/>
            </p:cNvSpPr>
            <p:nvPr/>
          </p:nvSpPr>
          <p:spPr bwMode="auto">
            <a:xfrm>
              <a:off x="6364364" y="1591470"/>
              <a:ext cx="0" cy="80803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7" name="Line 11">
              <a:extLst>
                <a:ext uri="{FF2B5EF4-FFF2-40B4-BE49-F238E27FC236}">
                  <a16:creationId xmlns:a16="http://schemas.microsoft.com/office/drawing/2014/main" id="{AD933AA2-ABDF-2C4E-9577-58C870E92C6A}"/>
                </a:ext>
              </a:extLst>
            </p:cNvPr>
            <p:cNvSpPr>
              <a:spLocks noChangeShapeType="1"/>
            </p:cNvSpPr>
            <p:nvPr/>
          </p:nvSpPr>
          <p:spPr bwMode="auto">
            <a:xfrm>
              <a:off x="6364363" y="2399507"/>
              <a:ext cx="1332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8" name="Rectangle 12">
              <a:extLst>
                <a:ext uri="{FF2B5EF4-FFF2-40B4-BE49-F238E27FC236}">
                  <a16:creationId xmlns:a16="http://schemas.microsoft.com/office/drawing/2014/main" id="{C8974D5C-4A2E-0141-B997-FA011F48D70D}"/>
                </a:ext>
              </a:extLst>
            </p:cNvPr>
            <p:cNvSpPr>
              <a:spLocks noChangeArrowheads="1"/>
            </p:cNvSpPr>
            <p:nvPr/>
          </p:nvSpPr>
          <p:spPr bwMode="auto">
            <a:xfrm>
              <a:off x="6432627" y="1739628"/>
              <a:ext cx="1237607" cy="4104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zh-CN" altLang="en-US" sz="2000" b="1" dirty="0">
                  <a:latin typeface="+mn-ea"/>
                  <a:ea typeface="+mn-ea"/>
                </a:rPr>
                <a:t>主存储器</a:t>
              </a:r>
              <a:endParaRPr lang="en-US" altLang="zh-CN" sz="2000" b="1" dirty="0">
                <a:latin typeface="+mn-ea"/>
                <a:ea typeface="+mn-ea"/>
              </a:endParaRPr>
            </a:p>
          </p:txBody>
        </p:sp>
        <p:sp>
          <p:nvSpPr>
            <p:cNvPr id="35" name="Line 19">
              <a:extLst>
                <a:ext uri="{FF2B5EF4-FFF2-40B4-BE49-F238E27FC236}">
                  <a16:creationId xmlns:a16="http://schemas.microsoft.com/office/drawing/2014/main" id="{F8AD4283-0FBB-5148-B636-3C9C4192F3BC}"/>
                </a:ext>
              </a:extLst>
            </p:cNvPr>
            <p:cNvSpPr>
              <a:spLocks noChangeShapeType="1"/>
            </p:cNvSpPr>
            <p:nvPr/>
          </p:nvSpPr>
          <p:spPr bwMode="auto">
            <a:xfrm>
              <a:off x="3082881" y="1591470"/>
              <a:ext cx="0" cy="80803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grpSp>
      <p:sp>
        <p:nvSpPr>
          <p:cNvPr id="40" name="Rectangle 17">
            <a:extLst>
              <a:ext uri="{FF2B5EF4-FFF2-40B4-BE49-F238E27FC236}">
                <a16:creationId xmlns:a16="http://schemas.microsoft.com/office/drawing/2014/main" id="{BE7DBD9C-CCA6-3A4A-9EE2-531D3DFA10F1}"/>
              </a:ext>
            </a:extLst>
          </p:cNvPr>
          <p:cNvSpPr>
            <a:spLocks noChangeArrowheads="1"/>
          </p:cNvSpPr>
          <p:nvPr/>
        </p:nvSpPr>
        <p:spPr bwMode="auto">
          <a:xfrm>
            <a:off x="2202604" y="2453165"/>
            <a:ext cx="4291328" cy="4719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zh-CN" altLang="en-US" sz="2400" b="1" dirty="0">
                <a:latin typeface="+mn-ea"/>
                <a:ea typeface="+mn-ea"/>
              </a:rPr>
              <a:t>平均访问时间 </a:t>
            </a:r>
            <a:r>
              <a:rPr lang="en-US" altLang="zh-CN" sz="2400" b="1" dirty="0">
                <a:latin typeface="+mn-ea"/>
                <a:ea typeface="+mn-ea"/>
              </a:rPr>
              <a:t>=</a:t>
            </a:r>
            <a:r>
              <a:rPr lang="zh-CN" altLang="en-US" sz="2400" b="1" dirty="0">
                <a:latin typeface="+mn-ea"/>
                <a:ea typeface="+mn-ea"/>
              </a:rPr>
              <a:t> </a:t>
            </a:r>
            <a:r>
              <a:rPr lang="en-US" altLang="zh-CN" sz="2400" b="1" dirty="0">
                <a:latin typeface="+mn-ea"/>
                <a:ea typeface="+mn-ea"/>
              </a:rPr>
              <a:t>t</a:t>
            </a:r>
            <a:r>
              <a:rPr lang="en-US" altLang="zh-CN" sz="2400" b="1" baseline="-25000" dirty="0">
                <a:latin typeface="+mn-ea"/>
                <a:ea typeface="+mn-ea"/>
              </a:rPr>
              <a:t>c</a:t>
            </a:r>
            <a:r>
              <a:rPr lang="en-US" altLang="zh-CN" sz="2400" b="1" dirty="0">
                <a:latin typeface="+mn-ea"/>
                <a:ea typeface="+mn-ea"/>
              </a:rPr>
              <a:t>+(1 - H)t</a:t>
            </a:r>
            <a:r>
              <a:rPr lang="en-US" altLang="zh-CN" sz="2400" b="1" baseline="-25000" dirty="0">
                <a:latin typeface="+mn-ea"/>
                <a:ea typeface="+mn-ea"/>
              </a:rPr>
              <a:t>m</a:t>
            </a:r>
          </a:p>
        </p:txBody>
      </p:sp>
      <p:grpSp>
        <p:nvGrpSpPr>
          <p:cNvPr id="41" name="Group 22">
            <a:extLst>
              <a:ext uri="{FF2B5EF4-FFF2-40B4-BE49-F238E27FC236}">
                <a16:creationId xmlns:a16="http://schemas.microsoft.com/office/drawing/2014/main" id="{FC005FD5-9D20-9E4C-A839-0A9E49E6C8FC}"/>
              </a:ext>
            </a:extLst>
          </p:cNvPr>
          <p:cNvGrpSpPr>
            <a:grpSpLocks/>
          </p:cNvGrpSpPr>
          <p:nvPr/>
        </p:nvGrpSpPr>
        <p:grpSpPr bwMode="auto">
          <a:xfrm>
            <a:off x="4352800" y="5586048"/>
            <a:ext cx="4142583" cy="1095926"/>
            <a:chOff x="3315" y="3201"/>
            <a:chExt cx="2294" cy="651"/>
          </a:xfrm>
        </p:grpSpPr>
        <p:sp>
          <p:nvSpPr>
            <p:cNvPr id="42" name="Oval 23">
              <a:extLst>
                <a:ext uri="{FF2B5EF4-FFF2-40B4-BE49-F238E27FC236}">
                  <a16:creationId xmlns:a16="http://schemas.microsoft.com/office/drawing/2014/main" id="{211113C2-A784-A74A-8D7E-A5CBA2682E49}"/>
                </a:ext>
              </a:extLst>
            </p:cNvPr>
            <p:cNvSpPr>
              <a:spLocks noChangeArrowheads="1"/>
            </p:cNvSpPr>
            <p:nvPr/>
          </p:nvSpPr>
          <p:spPr bwMode="auto">
            <a:xfrm>
              <a:off x="4080" y="3201"/>
              <a:ext cx="1529" cy="651"/>
            </a:xfrm>
            <a:prstGeom prst="ellipse">
              <a:avLst/>
            </a:prstGeom>
            <a:noFill/>
            <a:ln w="9525">
              <a:solidFill>
                <a:schemeClr val="tx1"/>
              </a:solidFill>
              <a:round/>
              <a:headEnd/>
              <a:tailEnd type="none" w="lg" len="lg"/>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nchor="ctr">
              <a:spAutoFit/>
            </a:bodyPr>
            <a:lstStyle/>
            <a:p>
              <a:pPr lvl="0" algn="ctr" defTabSz="1009650" eaLnBrk="0" hangingPunct="0"/>
              <a:r>
                <a:rPr lang="zh-CN" altLang="en-US" sz="2200" dirty="0">
                  <a:solidFill>
                    <a:srgbClr val="0432FF"/>
                  </a:solidFill>
                  <a:latin typeface="SimHei" panose="02010609060101010101" pitchFamily="49" charset="-122"/>
                  <a:ea typeface="SimHei" panose="02010609060101010101" pitchFamily="49" charset="-122"/>
                </a:rPr>
                <a:t>注意：命中率要非常接近</a:t>
              </a:r>
              <a:r>
                <a:rPr lang="en-US" altLang="zh-CN" sz="2200" dirty="0">
                  <a:solidFill>
                    <a:srgbClr val="0432FF"/>
                  </a:solidFill>
                  <a:latin typeface="SimHei" panose="02010609060101010101" pitchFamily="49" charset="-122"/>
                  <a:ea typeface="SimHei" panose="02010609060101010101" pitchFamily="49" charset="-122"/>
                </a:rPr>
                <a:t>1</a:t>
              </a:r>
            </a:p>
          </p:txBody>
        </p:sp>
        <p:sp>
          <p:nvSpPr>
            <p:cNvPr id="43" name="Line 24">
              <a:extLst>
                <a:ext uri="{FF2B5EF4-FFF2-40B4-BE49-F238E27FC236}">
                  <a16:creationId xmlns:a16="http://schemas.microsoft.com/office/drawing/2014/main" id="{9DE50328-B869-5840-A0BF-04B1CE534D7C}"/>
                </a:ext>
              </a:extLst>
            </p:cNvPr>
            <p:cNvSpPr>
              <a:spLocks noChangeShapeType="1"/>
            </p:cNvSpPr>
            <p:nvPr/>
          </p:nvSpPr>
          <p:spPr bwMode="auto">
            <a:xfrm flipH="1">
              <a:off x="3315" y="3534"/>
              <a:ext cx="765" cy="13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2075" tIns="46038" rIns="92075" bIns="46038">
              <a:spAutoFit/>
            </a:bodyPr>
            <a:lstStyle/>
            <a:p>
              <a:endParaRPr lang="zh-CN" altLang="en-US">
                <a:latin typeface="+mn-ea"/>
                <a:ea typeface="+mn-ea"/>
              </a:endParaRPr>
            </a:p>
          </p:txBody>
        </p:sp>
      </p:grpSp>
    </p:spTree>
    <p:extLst>
      <p:ext uri="{BB962C8B-B14F-4D97-AF65-F5344CB8AC3E}">
        <p14:creationId xmlns:p14="http://schemas.microsoft.com/office/powerpoint/2010/main" val="2039706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35B6-A6A1-8A4F-BC4F-9F094837A51B}"/>
              </a:ext>
            </a:extLst>
          </p:cNvPr>
          <p:cNvSpPr>
            <a:spLocks noGrp="1"/>
          </p:cNvSpPr>
          <p:nvPr>
            <p:ph type="title"/>
          </p:nvPr>
        </p:nvSpPr>
        <p:spPr/>
        <p:txBody>
          <a:bodyPr/>
          <a:lstStyle/>
          <a:p>
            <a:r>
              <a:rPr lang="en-CN" dirty="0">
                <a:latin typeface="SimHei" panose="02010609060101010101" pitchFamily="49" charset="-122"/>
                <a:ea typeface="SimHei" panose="02010609060101010101" pitchFamily="49" charset="-122"/>
              </a:rPr>
              <a:t>缓存性能的分析</a:t>
            </a:r>
            <a:r>
              <a:rPr lang="zh-CN" altLang="en-US" dirty="0">
                <a:latin typeface="SimHei" panose="02010609060101010101" pitchFamily="49" charset="-122"/>
                <a:ea typeface="SimHei" panose="02010609060101010101" pitchFamily="49" charset="-122"/>
              </a:rPr>
              <a:t>：二级缓存</a:t>
            </a:r>
            <a:endParaRPr lang="en-CN" dirty="0">
              <a:latin typeface="SimHei" panose="02010609060101010101" pitchFamily="49" charset="-122"/>
              <a:ea typeface="SimHei" panose="02010609060101010101" pitchFamily="49" charset="-122"/>
            </a:endParaRPr>
          </a:p>
        </p:txBody>
      </p:sp>
      <p:sp>
        <p:nvSpPr>
          <p:cNvPr id="5" name="Slide Number Placeholder 4">
            <a:extLst>
              <a:ext uri="{FF2B5EF4-FFF2-40B4-BE49-F238E27FC236}">
                <a16:creationId xmlns:a16="http://schemas.microsoft.com/office/drawing/2014/main" id="{DB9A9010-9273-9745-ACA6-32B62DB90415}"/>
              </a:ext>
            </a:extLst>
          </p:cNvPr>
          <p:cNvSpPr>
            <a:spLocks noGrp="1"/>
          </p:cNvSpPr>
          <p:nvPr>
            <p:ph type="sldNum" sz="quarter" idx="12"/>
          </p:nvPr>
        </p:nvSpPr>
        <p:spPr/>
        <p:txBody>
          <a:bodyPr/>
          <a:lstStyle/>
          <a:p>
            <a:fld id="{176ACFD1-D213-4B9C-817B-45486DBF105A}" type="slidenum">
              <a:rPr lang="en-US" smtClean="0">
                <a:solidFill>
                  <a:prstClr val="black"/>
                </a:solidFill>
              </a:rPr>
              <a:pPr/>
              <a:t>23</a:t>
            </a:fld>
            <a:endParaRPr lang="en-US">
              <a:solidFill>
                <a:prstClr val="black"/>
              </a:solidFill>
            </a:endParaRPr>
          </a:p>
        </p:txBody>
      </p:sp>
      <p:grpSp>
        <p:nvGrpSpPr>
          <p:cNvPr id="148" name="Group 147">
            <a:extLst>
              <a:ext uri="{FF2B5EF4-FFF2-40B4-BE49-F238E27FC236}">
                <a16:creationId xmlns:a16="http://schemas.microsoft.com/office/drawing/2014/main" id="{04F34A54-D2D4-8A43-B5CB-0C321F608DCD}"/>
              </a:ext>
            </a:extLst>
          </p:cNvPr>
          <p:cNvGrpSpPr/>
          <p:nvPr/>
        </p:nvGrpSpPr>
        <p:grpSpPr>
          <a:xfrm>
            <a:off x="199216" y="1852903"/>
            <a:ext cx="3938597" cy="3386323"/>
            <a:chOff x="265621" y="1327537"/>
            <a:chExt cx="5251462" cy="4515098"/>
          </a:xfrm>
        </p:grpSpPr>
        <p:sp>
          <p:nvSpPr>
            <p:cNvPr id="53" name="Rectangle 2">
              <a:extLst>
                <a:ext uri="{FF2B5EF4-FFF2-40B4-BE49-F238E27FC236}">
                  <a16:creationId xmlns:a16="http://schemas.microsoft.com/office/drawing/2014/main" id="{3A100899-E04F-1641-9B49-D61D6EDDE74E}"/>
                </a:ext>
              </a:extLst>
            </p:cNvPr>
            <p:cNvSpPr>
              <a:spLocks noChangeArrowheads="1"/>
            </p:cNvSpPr>
            <p:nvPr/>
          </p:nvSpPr>
          <p:spPr bwMode="auto">
            <a:xfrm>
              <a:off x="327321" y="1541097"/>
              <a:ext cx="1422338" cy="1326027"/>
            </a:xfrm>
            <a:prstGeom prst="rect">
              <a:avLst/>
            </a:prstGeom>
            <a:solidFill>
              <a:srgbClr val="FFFFFF"/>
            </a:solidFill>
            <a:ln w="25400">
              <a:solidFill>
                <a:srgbClr val="E7030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54" name="Rectangle 4">
              <a:extLst>
                <a:ext uri="{FF2B5EF4-FFF2-40B4-BE49-F238E27FC236}">
                  <a16:creationId xmlns:a16="http://schemas.microsoft.com/office/drawing/2014/main" id="{40BD6185-E5E1-DE49-A458-9A21C135A5EA}"/>
                </a:ext>
              </a:extLst>
            </p:cNvPr>
            <p:cNvSpPr>
              <a:spLocks noChangeArrowheads="1"/>
            </p:cNvSpPr>
            <p:nvPr/>
          </p:nvSpPr>
          <p:spPr bwMode="auto">
            <a:xfrm>
              <a:off x="374778" y="1969613"/>
              <a:ext cx="559877" cy="582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2400" dirty="0">
                  <a:solidFill>
                    <a:srgbClr val="333399"/>
                  </a:solidFill>
                  <a:ea typeface="SimHei" panose="02010609060101010101" pitchFamily="49" charset="-122"/>
                </a:rPr>
                <a:t>P </a:t>
              </a:r>
            </a:p>
          </p:txBody>
        </p:sp>
        <p:sp>
          <p:nvSpPr>
            <p:cNvPr id="55" name="Line 5">
              <a:extLst>
                <a:ext uri="{FF2B5EF4-FFF2-40B4-BE49-F238E27FC236}">
                  <a16:creationId xmlns:a16="http://schemas.microsoft.com/office/drawing/2014/main" id="{3424C03E-1725-0040-8543-C08298123B6B}"/>
                </a:ext>
              </a:extLst>
            </p:cNvPr>
            <p:cNvSpPr>
              <a:spLocks noChangeShapeType="1"/>
            </p:cNvSpPr>
            <p:nvPr/>
          </p:nvSpPr>
          <p:spPr bwMode="auto">
            <a:xfrm>
              <a:off x="847961" y="2098028"/>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56" name="Line 6">
              <a:extLst>
                <a:ext uri="{FF2B5EF4-FFF2-40B4-BE49-F238E27FC236}">
                  <a16:creationId xmlns:a16="http://schemas.microsoft.com/office/drawing/2014/main" id="{7528F896-5E4D-4E48-AD42-4AB87306F806}"/>
                </a:ext>
              </a:extLst>
            </p:cNvPr>
            <p:cNvSpPr>
              <a:spLocks noChangeShapeType="1"/>
            </p:cNvSpPr>
            <p:nvPr/>
          </p:nvSpPr>
          <p:spPr bwMode="auto">
            <a:xfrm>
              <a:off x="847961" y="2240401"/>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57" name="Line 7">
              <a:extLst>
                <a:ext uri="{FF2B5EF4-FFF2-40B4-BE49-F238E27FC236}">
                  <a16:creationId xmlns:a16="http://schemas.microsoft.com/office/drawing/2014/main" id="{0C559943-715D-6F42-9DA3-D3255A3679DC}"/>
                </a:ext>
              </a:extLst>
            </p:cNvPr>
            <p:cNvSpPr>
              <a:spLocks noChangeShapeType="1"/>
            </p:cNvSpPr>
            <p:nvPr/>
          </p:nvSpPr>
          <p:spPr bwMode="auto">
            <a:xfrm>
              <a:off x="847961" y="2381379"/>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a:solidFill>
                  <a:srgbClr val="000000"/>
                </a:solidFill>
                <a:latin typeface="STKaiti" panose="02010600040101010101" pitchFamily="2" charset="-122"/>
                <a:ea typeface="STKaiti" panose="02010600040101010101" pitchFamily="2" charset="-122"/>
              </a:endParaRPr>
            </a:p>
          </p:txBody>
        </p:sp>
        <p:sp>
          <p:nvSpPr>
            <p:cNvPr id="58" name="Line 8">
              <a:extLst>
                <a:ext uri="{FF2B5EF4-FFF2-40B4-BE49-F238E27FC236}">
                  <a16:creationId xmlns:a16="http://schemas.microsoft.com/office/drawing/2014/main" id="{FB665F2D-4EF4-614C-8842-C5C8919087CE}"/>
                </a:ext>
              </a:extLst>
            </p:cNvPr>
            <p:cNvSpPr>
              <a:spLocks noChangeShapeType="1"/>
            </p:cNvSpPr>
            <p:nvPr/>
          </p:nvSpPr>
          <p:spPr bwMode="auto">
            <a:xfrm>
              <a:off x="847961" y="2523752"/>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a:solidFill>
                  <a:srgbClr val="000000"/>
                </a:solidFill>
                <a:latin typeface="STKaiti" panose="02010600040101010101" pitchFamily="2" charset="-122"/>
                <a:ea typeface="STKaiti" panose="02010600040101010101" pitchFamily="2" charset="-122"/>
              </a:endParaRPr>
            </a:p>
          </p:txBody>
        </p:sp>
        <p:sp>
          <p:nvSpPr>
            <p:cNvPr id="59" name="Rectangle 9">
              <a:extLst>
                <a:ext uri="{FF2B5EF4-FFF2-40B4-BE49-F238E27FC236}">
                  <a16:creationId xmlns:a16="http://schemas.microsoft.com/office/drawing/2014/main" id="{0722EB9A-F63A-F940-8FD5-4DC7DBC94E03}"/>
                </a:ext>
              </a:extLst>
            </p:cNvPr>
            <p:cNvSpPr>
              <a:spLocks noChangeArrowheads="1"/>
            </p:cNvSpPr>
            <p:nvPr/>
          </p:nvSpPr>
          <p:spPr bwMode="auto">
            <a:xfrm>
              <a:off x="653569" y="1525824"/>
              <a:ext cx="1095237" cy="377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1400" dirty="0">
                  <a:solidFill>
                    <a:srgbClr val="333399"/>
                  </a:solidFill>
                  <a:latin typeface="Arial" charset="0"/>
                  <a:ea typeface="SimHei" panose="02010609060101010101" pitchFamily="49" charset="-122"/>
                </a:rPr>
                <a:t>registers</a:t>
              </a:r>
            </a:p>
          </p:txBody>
        </p:sp>
        <p:sp>
          <p:nvSpPr>
            <p:cNvPr id="60" name="Line 10">
              <a:extLst>
                <a:ext uri="{FF2B5EF4-FFF2-40B4-BE49-F238E27FC236}">
                  <a16:creationId xmlns:a16="http://schemas.microsoft.com/office/drawing/2014/main" id="{F0E2F315-574E-1B45-B1C8-67E9699D339E}"/>
                </a:ext>
              </a:extLst>
            </p:cNvPr>
            <p:cNvSpPr>
              <a:spLocks noChangeShapeType="1"/>
            </p:cNvSpPr>
            <p:nvPr/>
          </p:nvSpPr>
          <p:spPr bwMode="auto">
            <a:xfrm flipV="1">
              <a:off x="2753251" y="2227839"/>
              <a:ext cx="1447463" cy="12563"/>
            </a:xfrm>
            <a:prstGeom prst="line">
              <a:avLst/>
            </a:prstGeom>
            <a:noFill/>
            <a:ln w="38100" cmpd="dbl">
              <a:solidFill>
                <a:srgbClr val="E70303"/>
              </a:solidFill>
              <a:round/>
              <a:headEnd type="stealth" w="med" len="me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61" name="Rectangle 11">
              <a:extLst>
                <a:ext uri="{FF2B5EF4-FFF2-40B4-BE49-F238E27FC236}">
                  <a16:creationId xmlns:a16="http://schemas.microsoft.com/office/drawing/2014/main" id="{E2A955BB-94DE-1444-9F25-C8B6FFEB0994}"/>
                </a:ext>
              </a:extLst>
            </p:cNvPr>
            <p:cNvSpPr>
              <a:spLocks noChangeArrowheads="1"/>
            </p:cNvSpPr>
            <p:nvPr/>
          </p:nvSpPr>
          <p:spPr bwMode="auto">
            <a:xfrm>
              <a:off x="2127925" y="2040800"/>
              <a:ext cx="659221" cy="582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2400" dirty="0">
                  <a:solidFill>
                    <a:srgbClr val="333399"/>
                  </a:solidFill>
                  <a:ea typeface="SimHei" panose="02010609060101010101" pitchFamily="49" charset="-122"/>
                </a:rPr>
                <a:t>L1</a:t>
              </a:r>
            </a:p>
          </p:txBody>
        </p:sp>
        <p:sp>
          <p:nvSpPr>
            <p:cNvPr id="62" name="Rectangle 12">
              <a:extLst>
                <a:ext uri="{FF2B5EF4-FFF2-40B4-BE49-F238E27FC236}">
                  <a16:creationId xmlns:a16="http://schemas.microsoft.com/office/drawing/2014/main" id="{FE223D58-CD22-3349-99F3-1F34B95081C2}"/>
                </a:ext>
              </a:extLst>
            </p:cNvPr>
            <p:cNvSpPr>
              <a:spLocks noChangeArrowheads="1"/>
            </p:cNvSpPr>
            <p:nvPr/>
          </p:nvSpPr>
          <p:spPr bwMode="auto">
            <a:xfrm>
              <a:off x="4106935" y="1998006"/>
              <a:ext cx="1274773"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zh-CN" altLang="en-US" sz="1600" b="1" dirty="0">
                  <a:solidFill>
                    <a:srgbClr val="333399"/>
                  </a:solidFill>
                  <a:latin typeface="STKaiti" panose="02010600040101010101" pitchFamily="2" charset="-122"/>
                  <a:ea typeface="STKaiti" panose="02010600040101010101" pitchFamily="2" charset="-122"/>
                </a:rPr>
                <a:t>主存储器</a:t>
              </a:r>
            </a:p>
          </p:txBody>
        </p:sp>
        <p:sp>
          <p:nvSpPr>
            <p:cNvPr id="63" name="Line 13">
              <a:extLst>
                <a:ext uri="{FF2B5EF4-FFF2-40B4-BE49-F238E27FC236}">
                  <a16:creationId xmlns:a16="http://schemas.microsoft.com/office/drawing/2014/main" id="{43D49BA8-CB5C-924F-B71E-D3C34369EB64}"/>
                </a:ext>
              </a:extLst>
            </p:cNvPr>
            <p:cNvSpPr>
              <a:spLocks noChangeShapeType="1"/>
            </p:cNvSpPr>
            <p:nvPr/>
          </p:nvSpPr>
          <p:spPr bwMode="auto">
            <a:xfrm>
              <a:off x="1762221" y="2240401"/>
              <a:ext cx="381059" cy="0"/>
            </a:xfrm>
            <a:prstGeom prst="line">
              <a:avLst/>
            </a:prstGeom>
            <a:noFill/>
            <a:ln w="38100" cmpd="dbl">
              <a:solidFill>
                <a:srgbClr val="E70303"/>
              </a:solidFill>
              <a:round/>
              <a:headEnd type="stealth" w="med" len="me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64" name="Rectangle 14">
              <a:extLst>
                <a:ext uri="{FF2B5EF4-FFF2-40B4-BE49-F238E27FC236}">
                  <a16:creationId xmlns:a16="http://schemas.microsoft.com/office/drawing/2014/main" id="{5C0631CD-3BF6-6F49-A6B6-3ECFCE91D4ED}"/>
                </a:ext>
              </a:extLst>
            </p:cNvPr>
            <p:cNvSpPr>
              <a:spLocks noChangeArrowheads="1"/>
            </p:cNvSpPr>
            <p:nvPr/>
          </p:nvSpPr>
          <p:spPr bwMode="auto">
            <a:xfrm>
              <a:off x="416789" y="3181746"/>
              <a:ext cx="1274773"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zh-CN" altLang="en-US" sz="1600" b="1" dirty="0">
                  <a:solidFill>
                    <a:srgbClr val="1D6EF7"/>
                  </a:solidFill>
                  <a:latin typeface="STKaiti" panose="02010600040101010101" pitchFamily="2" charset="-122"/>
                  <a:ea typeface="STKaiti" panose="02010600040101010101" pitchFamily="2" charset="-122"/>
                </a:rPr>
                <a:t>访问时间</a:t>
              </a:r>
            </a:p>
          </p:txBody>
        </p:sp>
        <p:sp>
          <p:nvSpPr>
            <p:cNvPr id="66" name="Rectangle 16">
              <a:extLst>
                <a:ext uri="{FF2B5EF4-FFF2-40B4-BE49-F238E27FC236}">
                  <a16:creationId xmlns:a16="http://schemas.microsoft.com/office/drawing/2014/main" id="{069DDFAE-7506-A846-8281-71CF7492AE77}"/>
                </a:ext>
              </a:extLst>
            </p:cNvPr>
            <p:cNvSpPr>
              <a:spLocks noChangeArrowheads="1"/>
            </p:cNvSpPr>
            <p:nvPr/>
          </p:nvSpPr>
          <p:spPr bwMode="auto">
            <a:xfrm>
              <a:off x="2051155" y="3207702"/>
              <a:ext cx="778912"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zh-CN" altLang="en-US" sz="1600" b="1">
                  <a:solidFill>
                    <a:srgbClr val="1D6EF7"/>
                  </a:solidFill>
                  <a:latin typeface="STKaiti" panose="02010600040101010101" pitchFamily="2" charset="-122"/>
                  <a:ea typeface="STKaiti" panose="02010600040101010101" pitchFamily="2" charset="-122"/>
                </a:rPr>
                <a:t> </a:t>
              </a:r>
              <a:r>
                <a:rPr lang="en-US" altLang="zh-CN" sz="1600" b="1">
                  <a:solidFill>
                    <a:srgbClr val="1D6EF7"/>
                  </a:solidFill>
                  <a:latin typeface="STKaiti" panose="02010600040101010101" pitchFamily="2" charset="-122"/>
                  <a:ea typeface="STKaiti" panose="02010600040101010101" pitchFamily="2" charset="-122"/>
                </a:rPr>
                <a:t>1 clk</a:t>
              </a:r>
            </a:p>
          </p:txBody>
        </p:sp>
        <p:sp>
          <p:nvSpPr>
            <p:cNvPr id="67" name="Rectangle 17">
              <a:extLst>
                <a:ext uri="{FF2B5EF4-FFF2-40B4-BE49-F238E27FC236}">
                  <a16:creationId xmlns:a16="http://schemas.microsoft.com/office/drawing/2014/main" id="{BACC9710-DF19-0B45-A44A-F9297CD481F8}"/>
                </a:ext>
              </a:extLst>
            </p:cNvPr>
            <p:cNvSpPr>
              <a:spLocks noChangeArrowheads="1"/>
            </p:cNvSpPr>
            <p:nvPr/>
          </p:nvSpPr>
          <p:spPr bwMode="auto">
            <a:xfrm>
              <a:off x="4167707" y="3207703"/>
              <a:ext cx="943487"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1600" b="1" dirty="0">
                  <a:solidFill>
                    <a:srgbClr val="1D6EF7"/>
                  </a:solidFill>
                  <a:latin typeface="STKaiti" panose="02010600040101010101" pitchFamily="2" charset="-122"/>
                  <a:ea typeface="STKaiti" panose="02010600040101010101" pitchFamily="2" charset="-122"/>
                </a:rPr>
                <a:t>10 </a:t>
              </a:r>
              <a:r>
                <a:rPr lang="en-US" altLang="zh-CN" sz="1600" b="1" dirty="0" err="1">
                  <a:solidFill>
                    <a:srgbClr val="1D6EF7"/>
                  </a:solidFill>
                  <a:latin typeface="STKaiti" panose="02010600040101010101" pitchFamily="2" charset="-122"/>
                  <a:ea typeface="STKaiti" panose="02010600040101010101" pitchFamily="2" charset="-122"/>
                </a:rPr>
                <a:t>clks</a:t>
              </a:r>
              <a:endParaRPr lang="en-US" altLang="zh-CN" sz="1600" b="1" dirty="0">
                <a:solidFill>
                  <a:srgbClr val="1D6EF7"/>
                </a:solidFill>
                <a:latin typeface="STKaiti" panose="02010600040101010101" pitchFamily="2" charset="-122"/>
                <a:ea typeface="STKaiti" panose="02010600040101010101" pitchFamily="2" charset="-122"/>
              </a:endParaRPr>
            </a:p>
          </p:txBody>
        </p:sp>
        <p:sp>
          <p:nvSpPr>
            <p:cNvPr id="68" name="Rectangle 18">
              <a:extLst>
                <a:ext uri="{FF2B5EF4-FFF2-40B4-BE49-F238E27FC236}">
                  <a16:creationId xmlns:a16="http://schemas.microsoft.com/office/drawing/2014/main" id="{1CBE25EF-F5F5-344A-AD13-009BAAA94DF3}"/>
                </a:ext>
              </a:extLst>
            </p:cNvPr>
            <p:cNvSpPr>
              <a:spLocks noChangeArrowheads="1"/>
            </p:cNvSpPr>
            <p:nvPr/>
          </p:nvSpPr>
          <p:spPr bwMode="auto">
            <a:xfrm>
              <a:off x="4195623" y="1327537"/>
              <a:ext cx="1118049" cy="1753147"/>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69" name="Rectangle 19">
              <a:extLst>
                <a:ext uri="{FF2B5EF4-FFF2-40B4-BE49-F238E27FC236}">
                  <a16:creationId xmlns:a16="http://schemas.microsoft.com/office/drawing/2014/main" id="{23C640A3-9D41-1F44-A075-0A01C2582869}"/>
                </a:ext>
              </a:extLst>
            </p:cNvPr>
            <p:cNvSpPr>
              <a:spLocks noChangeArrowheads="1"/>
            </p:cNvSpPr>
            <p:nvPr/>
          </p:nvSpPr>
          <p:spPr bwMode="auto">
            <a:xfrm>
              <a:off x="2155842" y="1825843"/>
              <a:ext cx="584848" cy="829116"/>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70" name="Rectangle 20">
              <a:extLst>
                <a:ext uri="{FF2B5EF4-FFF2-40B4-BE49-F238E27FC236}">
                  <a16:creationId xmlns:a16="http://schemas.microsoft.com/office/drawing/2014/main" id="{46A75077-4562-ED4C-942E-6508B8FEF459}"/>
                </a:ext>
              </a:extLst>
            </p:cNvPr>
            <p:cNvSpPr>
              <a:spLocks noChangeArrowheads="1"/>
            </p:cNvSpPr>
            <p:nvPr/>
          </p:nvSpPr>
          <p:spPr bwMode="auto">
            <a:xfrm>
              <a:off x="860523" y="1968217"/>
              <a:ext cx="660222" cy="686742"/>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dirty="0">
                <a:solidFill>
                  <a:srgbClr val="000000"/>
                </a:solidFill>
                <a:ea typeface="SimHei" panose="02010609060101010101" pitchFamily="49" charset="-122"/>
              </a:endParaRPr>
            </a:p>
          </p:txBody>
        </p:sp>
        <p:sp>
          <p:nvSpPr>
            <p:cNvPr id="71" name="Rectangle 21">
              <a:extLst>
                <a:ext uri="{FF2B5EF4-FFF2-40B4-BE49-F238E27FC236}">
                  <a16:creationId xmlns:a16="http://schemas.microsoft.com/office/drawing/2014/main" id="{8225965C-8014-4B41-AE79-48DB3723952A}"/>
                </a:ext>
              </a:extLst>
            </p:cNvPr>
            <p:cNvSpPr>
              <a:spLocks noChangeArrowheads="1"/>
            </p:cNvSpPr>
            <p:nvPr/>
          </p:nvSpPr>
          <p:spPr bwMode="auto">
            <a:xfrm>
              <a:off x="312884" y="3965630"/>
              <a:ext cx="3545376" cy="455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zh-CN" altLang="en-US" b="1" dirty="0">
                  <a:solidFill>
                    <a:srgbClr val="000000"/>
                  </a:solidFill>
                  <a:latin typeface="STKaiti" panose="02010600040101010101" pitchFamily="2" charset="-122"/>
                  <a:ea typeface="STKaiti" panose="02010600040101010101" pitchFamily="2" charset="-122"/>
                </a:rPr>
                <a:t>平均访问时间 </a:t>
              </a:r>
              <a:r>
                <a:rPr lang="en-US" altLang="zh-CN" b="1" dirty="0">
                  <a:solidFill>
                    <a:srgbClr val="000000"/>
                  </a:solidFill>
                  <a:latin typeface="STKaiti" panose="02010600040101010101" pitchFamily="2" charset="-122"/>
                  <a:ea typeface="STKaiti" panose="02010600040101010101" pitchFamily="2" charset="-122"/>
                </a:rPr>
                <a:t> =</a:t>
              </a:r>
              <a:endParaRPr lang="en-US" altLang="zh-CN" b="1" dirty="0">
                <a:solidFill>
                  <a:srgbClr val="808080"/>
                </a:solidFill>
                <a:latin typeface="STKaiti" panose="02010600040101010101" pitchFamily="2" charset="-122"/>
                <a:ea typeface="STKaiti" panose="02010600040101010101" pitchFamily="2" charset="-122"/>
              </a:endParaRPr>
            </a:p>
          </p:txBody>
        </p:sp>
        <p:sp>
          <p:nvSpPr>
            <p:cNvPr id="72" name="Rectangle 22">
              <a:extLst>
                <a:ext uri="{FF2B5EF4-FFF2-40B4-BE49-F238E27FC236}">
                  <a16:creationId xmlns:a16="http://schemas.microsoft.com/office/drawing/2014/main" id="{506CB408-0C7A-5044-B3CD-9B92AA79BAA5}"/>
                </a:ext>
              </a:extLst>
            </p:cNvPr>
            <p:cNvSpPr>
              <a:spLocks noChangeArrowheads="1"/>
            </p:cNvSpPr>
            <p:nvPr/>
          </p:nvSpPr>
          <p:spPr bwMode="auto">
            <a:xfrm>
              <a:off x="2676798" y="3937837"/>
              <a:ext cx="1626193" cy="45500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p>
              <a:pPr defTabSz="665839" eaLnBrk="0" hangingPunct="0"/>
              <a:r>
                <a:rPr lang="en-US" altLang="zh-CN" b="1" dirty="0" err="1">
                  <a:solidFill>
                    <a:srgbClr val="333399"/>
                  </a:solidFill>
                  <a:latin typeface="STKaiti" panose="02010600040101010101" pitchFamily="2" charset="-122"/>
                  <a:ea typeface="STKaiti" panose="02010600040101010101" pitchFamily="2" charset="-122"/>
                </a:rPr>
                <a:t>t</a:t>
              </a:r>
              <a:r>
                <a:rPr lang="en-US" altLang="zh-CN" b="1" baseline="-25000" dirty="0" err="1">
                  <a:solidFill>
                    <a:srgbClr val="333399"/>
                  </a:solidFill>
                  <a:latin typeface="STKaiti" panose="02010600040101010101" pitchFamily="2" charset="-122"/>
                  <a:ea typeface="STKaiti" panose="02010600040101010101" pitchFamily="2" charset="-122"/>
                </a:rPr>
                <a:t>h</a:t>
              </a:r>
              <a:r>
                <a:rPr lang="en-US" altLang="zh-CN" b="1" dirty="0">
                  <a:solidFill>
                    <a:srgbClr val="333399"/>
                  </a:solidFill>
                  <a:latin typeface="STKaiti" panose="02010600040101010101" pitchFamily="2" charset="-122"/>
                  <a:ea typeface="STKaiti" panose="02010600040101010101" pitchFamily="2" charset="-122"/>
                </a:rPr>
                <a:t> + (1-</a:t>
              </a:r>
              <a:r>
                <a:rPr lang="en-US" altLang="zh-CN" b="1" dirty="0">
                  <a:solidFill>
                    <a:srgbClr val="333399"/>
                  </a:solidFill>
                  <a:latin typeface="STKaiti" panose="02010600040101010101" pitchFamily="2" charset="-122"/>
                  <a:ea typeface="STKaiti" panose="02010600040101010101" pitchFamily="2" charset="-122"/>
                  <a:sym typeface="Symbol" pitchFamily="18" charset="2"/>
                </a:rPr>
                <a:t>h)t</a:t>
              </a:r>
              <a:r>
                <a:rPr lang="en-US" altLang="zh-CN" b="1" baseline="-25000" dirty="0">
                  <a:solidFill>
                    <a:srgbClr val="333399"/>
                  </a:solidFill>
                  <a:latin typeface="STKaiti" panose="02010600040101010101" pitchFamily="2" charset="-122"/>
                  <a:ea typeface="STKaiti" panose="02010600040101010101" pitchFamily="2" charset="-122"/>
                  <a:sym typeface="Symbol" pitchFamily="18" charset="2"/>
                </a:rPr>
                <a:t>m</a:t>
              </a:r>
            </a:p>
          </p:txBody>
        </p:sp>
        <p:sp>
          <p:nvSpPr>
            <p:cNvPr id="73" name="Rectangle 23">
              <a:extLst>
                <a:ext uri="{FF2B5EF4-FFF2-40B4-BE49-F238E27FC236}">
                  <a16:creationId xmlns:a16="http://schemas.microsoft.com/office/drawing/2014/main" id="{4B2A3320-7A71-CF4C-B3F8-B5AA9B2E3932}"/>
                </a:ext>
              </a:extLst>
            </p:cNvPr>
            <p:cNvSpPr>
              <a:spLocks noChangeArrowheads="1"/>
            </p:cNvSpPr>
            <p:nvPr/>
          </p:nvSpPr>
          <p:spPr bwMode="auto">
            <a:xfrm>
              <a:off x="265621" y="4998927"/>
              <a:ext cx="3650884" cy="455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zh-CN" altLang="en-US" b="1" dirty="0">
                  <a:solidFill>
                    <a:srgbClr val="000000"/>
                  </a:solidFill>
                  <a:latin typeface="STKaiti" panose="02010600040101010101" pitchFamily="2" charset="-122"/>
                  <a:ea typeface="STKaiti" panose="02010600040101010101" pitchFamily="2" charset="-122"/>
                </a:rPr>
                <a:t>平均访问时间 </a:t>
              </a:r>
              <a:r>
                <a:rPr lang="en-US" altLang="zh-CN" b="1" dirty="0">
                  <a:solidFill>
                    <a:srgbClr val="000000"/>
                  </a:solidFill>
                  <a:latin typeface="STKaiti" panose="02010600040101010101" pitchFamily="2" charset="-122"/>
                  <a:ea typeface="STKaiti" panose="02010600040101010101" pitchFamily="2" charset="-122"/>
                </a:rPr>
                <a:t>= </a:t>
              </a:r>
            </a:p>
          </p:txBody>
        </p:sp>
        <p:sp>
          <p:nvSpPr>
            <p:cNvPr id="74" name="Rectangle 24">
              <a:extLst>
                <a:ext uri="{FF2B5EF4-FFF2-40B4-BE49-F238E27FC236}">
                  <a16:creationId xmlns:a16="http://schemas.microsoft.com/office/drawing/2014/main" id="{0928719B-826F-1543-8488-FD6C2D84110A}"/>
                </a:ext>
              </a:extLst>
            </p:cNvPr>
            <p:cNvSpPr>
              <a:spLocks noChangeArrowheads="1"/>
            </p:cNvSpPr>
            <p:nvPr/>
          </p:nvSpPr>
          <p:spPr bwMode="auto">
            <a:xfrm>
              <a:off x="2561466" y="4973327"/>
              <a:ext cx="2955617" cy="86930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p>
              <a:pPr defTabSz="665839" eaLnBrk="0" hangingPunct="0"/>
              <a:r>
                <a:rPr lang="en-US" altLang="zh-CN" sz="2000" b="1" dirty="0">
                  <a:solidFill>
                    <a:srgbClr val="333399"/>
                  </a:solidFill>
                  <a:latin typeface="STKaiti" panose="02010600040101010101" pitchFamily="2" charset="-122"/>
                  <a:ea typeface="STKaiti" panose="02010600040101010101" pitchFamily="2" charset="-122"/>
                </a:rPr>
                <a:t>1 + 0.30*10 = </a:t>
              </a:r>
              <a:r>
                <a:rPr lang="en-US" altLang="zh-CN" sz="2000" b="1" dirty="0">
                  <a:solidFill>
                    <a:srgbClr val="009999"/>
                  </a:solidFill>
                  <a:latin typeface="STKaiti" panose="02010600040101010101" pitchFamily="2" charset="-122"/>
                  <a:ea typeface="STKaiti" panose="02010600040101010101" pitchFamily="2" charset="-122"/>
                </a:rPr>
                <a:t>4 </a:t>
              </a:r>
              <a:r>
                <a:rPr lang="en-US" altLang="zh-CN" sz="2000" b="1" dirty="0" err="1">
                  <a:solidFill>
                    <a:srgbClr val="009999"/>
                  </a:solidFill>
                  <a:latin typeface="STKaiti" panose="02010600040101010101" pitchFamily="2" charset="-122"/>
                  <a:ea typeface="STKaiti" panose="02010600040101010101" pitchFamily="2" charset="-122"/>
                </a:rPr>
                <a:t>clks</a:t>
              </a:r>
              <a:endParaRPr lang="en-US" altLang="zh-CN" sz="2000" b="1" dirty="0">
                <a:solidFill>
                  <a:srgbClr val="333399"/>
                </a:solidFill>
                <a:latin typeface="STKaiti" panose="02010600040101010101" pitchFamily="2" charset="-122"/>
                <a:ea typeface="STKaiti" panose="02010600040101010101" pitchFamily="2" charset="-122"/>
              </a:endParaRPr>
            </a:p>
            <a:p>
              <a:pPr defTabSz="665839" eaLnBrk="0" hangingPunct="0"/>
              <a:r>
                <a:rPr lang="en-US" altLang="zh-CN" b="1" dirty="0">
                  <a:solidFill>
                    <a:srgbClr val="333399"/>
                  </a:solidFill>
                  <a:latin typeface="STKaiti" panose="02010600040101010101" pitchFamily="2" charset="-122"/>
                  <a:ea typeface="STKaiti" panose="02010600040101010101" pitchFamily="2" charset="-122"/>
                </a:rPr>
                <a:t>(</a:t>
              </a:r>
              <a:r>
                <a:rPr lang="zh-CN" altLang="en-US" b="1" dirty="0">
                  <a:solidFill>
                    <a:srgbClr val="333399"/>
                  </a:solidFill>
                  <a:latin typeface="STKaiti" panose="02010600040101010101" pitchFamily="2" charset="-122"/>
                  <a:ea typeface="STKaiti" panose="02010600040101010101" pitchFamily="2" charset="-122"/>
                </a:rPr>
                <a:t>比没有</a:t>
              </a:r>
              <a:r>
                <a:rPr lang="en-US" altLang="zh-CN" b="1" dirty="0">
                  <a:solidFill>
                    <a:srgbClr val="333399"/>
                  </a:solidFill>
                  <a:latin typeface="STKaiti" panose="02010600040101010101" pitchFamily="2" charset="-122"/>
                  <a:ea typeface="STKaiti" panose="02010600040101010101" pitchFamily="2" charset="-122"/>
                </a:rPr>
                <a:t>cache</a:t>
              </a:r>
              <a:r>
                <a:rPr lang="zh-CN" altLang="en-US" b="1" dirty="0">
                  <a:solidFill>
                    <a:srgbClr val="333399"/>
                  </a:solidFill>
                  <a:latin typeface="STKaiti" panose="02010600040101010101" pitchFamily="2" charset="-122"/>
                  <a:ea typeface="STKaiti" panose="02010600040101010101" pitchFamily="2" charset="-122"/>
                </a:rPr>
                <a:t>时强</a:t>
              </a:r>
              <a:r>
                <a:rPr lang="en-US" altLang="zh-CN" b="1" dirty="0">
                  <a:solidFill>
                    <a:srgbClr val="333399"/>
                  </a:solidFill>
                  <a:latin typeface="STKaiti" panose="02010600040101010101" pitchFamily="2" charset="-122"/>
                  <a:ea typeface="STKaiti" panose="02010600040101010101" pitchFamily="2" charset="-122"/>
                </a:rPr>
                <a:t>)</a:t>
              </a:r>
              <a:endParaRPr lang="en-US" altLang="zh-CN" sz="2000" b="1" baseline="-25000" dirty="0">
                <a:solidFill>
                  <a:srgbClr val="333399"/>
                </a:solidFill>
                <a:latin typeface="STKaiti" panose="02010600040101010101" pitchFamily="2" charset="-122"/>
                <a:ea typeface="STKaiti" panose="02010600040101010101" pitchFamily="2" charset="-122"/>
                <a:sym typeface="Symbol" pitchFamily="18" charset="2"/>
              </a:endParaRPr>
            </a:p>
          </p:txBody>
        </p:sp>
        <p:sp>
          <p:nvSpPr>
            <p:cNvPr id="77" name="Rectangle 27">
              <a:extLst>
                <a:ext uri="{FF2B5EF4-FFF2-40B4-BE49-F238E27FC236}">
                  <a16:creationId xmlns:a16="http://schemas.microsoft.com/office/drawing/2014/main" id="{7170A183-D0E1-7F43-9634-65ABF17D8306}"/>
                </a:ext>
              </a:extLst>
            </p:cNvPr>
            <p:cNvSpPr>
              <a:spLocks noChangeArrowheads="1"/>
            </p:cNvSpPr>
            <p:nvPr/>
          </p:nvSpPr>
          <p:spPr bwMode="auto">
            <a:xfrm>
              <a:off x="312884" y="4462541"/>
              <a:ext cx="2406390" cy="455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zh-CN" altLang="en-US" b="1" dirty="0">
                  <a:solidFill>
                    <a:srgbClr val="009999"/>
                  </a:solidFill>
                  <a:latin typeface="STKaiti" panose="02010600040101010101" pitchFamily="2" charset="-122"/>
                  <a:ea typeface="STKaiti" panose="02010600040101010101" pitchFamily="2" charset="-122"/>
                </a:rPr>
                <a:t>假定 </a:t>
              </a:r>
              <a:r>
                <a:rPr lang="en-US" altLang="zh-CN" b="1" dirty="0">
                  <a:solidFill>
                    <a:srgbClr val="009999"/>
                  </a:solidFill>
                  <a:latin typeface="STKaiti" panose="02010600040101010101" pitchFamily="2" charset="-122"/>
                  <a:ea typeface="STKaiti" panose="02010600040101010101" pitchFamily="2" charset="-122"/>
                  <a:sym typeface="Symbol" pitchFamily="18" charset="2"/>
                </a:rPr>
                <a:t>h</a:t>
              </a:r>
              <a:r>
                <a:rPr lang="en-US" altLang="zh-CN" b="1" baseline="-25000" dirty="0">
                  <a:solidFill>
                    <a:srgbClr val="009999"/>
                  </a:solidFill>
                  <a:latin typeface="STKaiti" panose="02010600040101010101" pitchFamily="2" charset="-122"/>
                  <a:ea typeface="STKaiti" panose="02010600040101010101" pitchFamily="2" charset="-122"/>
                  <a:sym typeface="Symbol" pitchFamily="18" charset="2"/>
                </a:rPr>
                <a:t>L1</a:t>
              </a:r>
              <a:r>
                <a:rPr lang="en-US" altLang="zh-CN" b="1" dirty="0">
                  <a:solidFill>
                    <a:srgbClr val="009999"/>
                  </a:solidFill>
                  <a:latin typeface="STKaiti" panose="02010600040101010101" pitchFamily="2" charset="-122"/>
                  <a:ea typeface="STKaiti" panose="02010600040101010101" pitchFamily="2" charset="-122"/>
                  <a:sym typeface="Symbol" pitchFamily="18" charset="2"/>
                </a:rPr>
                <a:t> = 70%</a:t>
              </a:r>
              <a:endParaRPr lang="en-US" altLang="zh-CN" b="1" dirty="0">
                <a:solidFill>
                  <a:srgbClr val="808080"/>
                </a:solidFill>
                <a:latin typeface="STKaiti" panose="02010600040101010101" pitchFamily="2" charset="-122"/>
                <a:ea typeface="STKaiti" panose="02010600040101010101" pitchFamily="2" charset="-122"/>
              </a:endParaRPr>
            </a:p>
          </p:txBody>
        </p:sp>
      </p:grpSp>
      <p:sp>
        <p:nvSpPr>
          <p:cNvPr id="114" name="Rectangle 4">
            <a:extLst>
              <a:ext uri="{FF2B5EF4-FFF2-40B4-BE49-F238E27FC236}">
                <a16:creationId xmlns:a16="http://schemas.microsoft.com/office/drawing/2014/main" id="{0B9AF3D7-F4C4-B84F-BA6F-345C600C614F}"/>
              </a:ext>
            </a:extLst>
          </p:cNvPr>
          <p:cNvSpPr>
            <a:spLocks noChangeArrowheads="1"/>
          </p:cNvSpPr>
          <p:nvPr/>
        </p:nvSpPr>
        <p:spPr bwMode="auto">
          <a:xfrm>
            <a:off x="4566239" y="4699701"/>
            <a:ext cx="1675488" cy="3417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zh-CN" altLang="en-US" sz="1781" b="1" dirty="0">
                <a:solidFill>
                  <a:srgbClr val="000000"/>
                </a:solidFill>
                <a:latin typeface="STKaiti" panose="02010600040101010101" pitchFamily="2" charset="-122"/>
                <a:ea typeface="STKaiti" panose="02010600040101010101" pitchFamily="2" charset="-122"/>
              </a:rPr>
              <a:t>平均访问时间</a:t>
            </a:r>
            <a:endParaRPr lang="en-US" altLang="zh-CN" sz="1781" b="1" dirty="0">
              <a:solidFill>
                <a:srgbClr val="000000"/>
              </a:solidFill>
              <a:latin typeface="STKaiti" panose="02010600040101010101" pitchFamily="2" charset="-122"/>
              <a:ea typeface="STKaiti" panose="02010600040101010101" pitchFamily="2" charset="-122"/>
            </a:endParaRPr>
          </a:p>
        </p:txBody>
      </p:sp>
      <p:sp>
        <p:nvSpPr>
          <p:cNvPr id="115" name="Rectangle 5">
            <a:extLst>
              <a:ext uri="{FF2B5EF4-FFF2-40B4-BE49-F238E27FC236}">
                <a16:creationId xmlns:a16="http://schemas.microsoft.com/office/drawing/2014/main" id="{4A2762B5-CE2D-E146-A2AB-2F3246EEA909}"/>
              </a:ext>
            </a:extLst>
          </p:cNvPr>
          <p:cNvSpPr>
            <a:spLocks noChangeArrowheads="1"/>
          </p:cNvSpPr>
          <p:nvPr/>
        </p:nvSpPr>
        <p:spPr bwMode="auto">
          <a:xfrm>
            <a:off x="6016439" y="4720794"/>
            <a:ext cx="3019817" cy="95975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p>
            <a:pPr defTabSz="665839" eaLnBrk="0" hangingPunct="0"/>
            <a:r>
              <a:rPr lang="en-US" altLang="zh-CN" sz="2000" b="1" dirty="0">
                <a:solidFill>
                  <a:srgbClr val="000000"/>
                </a:solidFill>
                <a:latin typeface="STKaiti" panose="02010600040101010101" pitchFamily="2" charset="-122"/>
                <a:ea typeface="STKaiti" panose="02010600040101010101" pitchFamily="2" charset="-122"/>
              </a:rPr>
              <a:t>=</a:t>
            </a:r>
            <a:r>
              <a:rPr lang="zh-CN" altLang="en-US" sz="2000" b="1" dirty="0">
                <a:solidFill>
                  <a:srgbClr val="000000"/>
                </a:solidFill>
                <a:latin typeface="STKaiti" panose="02010600040101010101" pitchFamily="2" charset="-122"/>
                <a:ea typeface="STKaiti" panose="02010600040101010101" pitchFamily="2" charset="-122"/>
              </a:rPr>
              <a:t> </a:t>
            </a:r>
            <a:r>
              <a:rPr lang="en-US" altLang="zh-CN" sz="2000" b="1" dirty="0">
                <a:solidFill>
                  <a:srgbClr val="000000"/>
                </a:solidFill>
                <a:latin typeface="STKaiti" panose="02010600040101010101" pitchFamily="2" charset="-122"/>
                <a:ea typeface="STKaiti" panose="02010600040101010101" pitchFamily="2" charset="-122"/>
              </a:rPr>
              <a:t>1 + 0.30*(5+0.10*10)</a:t>
            </a:r>
          </a:p>
          <a:p>
            <a:pPr defTabSz="665839" eaLnBrk="0" hangingPunct="0"/>
            <a:r>
              <a:rPr lang="en-US" altLang="zh-CN" sz="2000" b="1" dirty="0">
                <a:solidFill>
                  <a:srgbClr val="000000"/>
                </a:solidFill>
                <a:latin typeface="STKaiti" panose="02010600040101010101" pitchFamily="2" charset="-122"/>
                <a:ea typeface="STKaiti" panose="02010600040101010101" pitchFamily="2" charset="-122"/>
              </a:rPr>
              <a:t>= 1 + 0.3*6 = </a:t>
            </a:r>
            <a:r>
              <a:rPr lang="en-US" altLang="zh-CN" sz="2000" b="1" dirty="0">
                <a:solidFill>
                  <a:srgbClr val="00B050"/>
                </a:solidFill>
                <a:latin typeface="STKaiti" panose="02010600040101010101" pitchFamily="2" charset="-122"/>
                <a:ea typeface="STKaiti" panose="02010600040101010101" pitchFamily="2" charset="-122"/>
              </a:rPr>
              <a:t>2.8 </a:t>
            </a:r>
            <a:r>
              <a:rPr lang="en-US" altLang="zh-CN" sz="2000" b="1" dirty="0" err="1">
                <a:solidFill>
                  <a:srgbClr val="00B050"/>
                </a:solidFill>
                <a:latin typeface="STKaiti" panose="02010600040101010101" pitchFamily="2" charset="-122"/>
                <a:ea typeface="STKaiti" panose="02010600040101010101" pitchFamily="2" charset="-122"/>
              </a:rPr>
              <a:t>clks</a:t>
            </a:r>
            <a:endParaRPr lang="en-US" altLang="zh-CN" sz="2000" b="1" dirty="0">
              <a:solidFill>
                <a:srgbClr val="00B050"/>
              </a:solidFill>
              <a:latin typeface="STKaiti" panose="02010600040101010101" pitchFamily="2" charset="-122"/>
              <a:ea typeface="STKaiti" panose="02010600040101010101" pitchFamily="2" charset="-122"/>
            </a:endParaRPr>
          </a:p>
          <a:p>
            <a:pPr defTabSz="665839" eaLnBrk="0" hangingPunct="0"/>
            <a:r>
              <a:rPr lang="en-US" altLang="zh-CN" b="1" dirty="0">
                <a:solidFill>
                  <a:srgbClr val="000000"/>
                </a:solidFill>
                <a:latin typeface="STKaiti" panose="02010600040101010101" pitchFamily="2" charset="-122"/>
                <a:ea typeface="STKaiti" panose="02010600040101010101" pitchFamily="2" charset="-122"/>
              </a:rPr>
              <a:t>(better than L1 only</a:t>
            </a:r>
            <a:r>
              <a:rPr lang="zh-CN" altLang="en-US" b="1" dirty="0">
                <a:solidFill>
                  <a:srgbClr val="000000"/>
                </a:solidFill>
                <a:latin typeface="STKaiti" panose="02010600040101010101" pitchFamily="2" charset="-122"/>
                <a:ea typeface="STKaiti" panose="02010600040101010101" pitchFamily="2" charset="-122"/>
              </a:rPr>
              <a:t> </a:t>
            </a:r>
            <a:r>
              <a:rPr lang="en-US" altLang="zh-CN" b="1" dirty="0">
                <a:solidFill>
                  <a:srgbClr val="000000"/>
                </a:solidFill>
                <a:latin typeface="STKaiti" panose="02010600040101010101" pitchFamily="2" charset="-122"/>
                <a:ea typeface="STKaiti" panose="02010600040101010101" pitchFamily="2" charset="-122"/>
              </a:rPr>
              <a:t>–</a:t>
            </a:r>
            <a:r>
              <a:rPr lang="zh-CN" altLang="en-US" b="1" dirty="0">
                <a:solidFill>
                  <a:srgbClr val="000000"/>
                </a:solidFill>
                <a:latin typeface="STKaiti" panose="02010600040101010101" pitchFamily="2" charset="-122"/>
                <a:ea typeface="STKaiti" panose="02010600040101010101" pitchFamily="2" charset="-122"/>
              </a:rPr>
              <a:t> </a:t>
            </a:r>
            <a:r>
              <a:rPr lang="en-US" altLang="zh-CN" b="1" dirty="0">
                <a:solidFill>
                  <a:srgbClr val="000000"/>
                </a:solidFill>
                <a:latin typeface="STKaiti" panose="02010600040101010101" pitchFamily="2" charset="-122"/>
                <a:ea typeface="STKaiti" panose="02010600040101010101" pitchFamily="2" charset="-122"/>
              </a:rPr>
              <a:t>4</a:t>
            </a:r>
            <a:r>
              <a:rPr lang="zh-CN" altLang="en-US" b="1" dirty="0">
                <a:solidFill>
                  <a:srgbClr val="000000"/>
                </a:solidFill>
                <a:latin typeface="STKaiti" panose="02010600040101010101" pitchFamily="2" charset="-122"/>
                <a:ea typeface="STKaiti" panose="02010600040101010101" pitchFamily="2" charset="-122"/>
              </a:rPr>
              <a:t> </a:t>
            </a:r>
            <a:r>
              <a:rPr lang="en-US" altLang="zh-CN" b="1" dirty="0" err="1">
                <a:solidFill>
                  <a:srgbClr val="000000"/>
                </a:solidFill>
                <a:latin typeface="STKaiti" panose="02010600040101010101" pitchFamily="2" charset="-122"/>
                <a:ea typeface="STKaiti" panose="02010600040101010101" pitchFamily="2" charset="-122"/>
              </a:rPr>
              <a:t>clks</a:t>
            </a:r>
            <a:r>
              <a:rPr lang="en-US" altLang="zh-CN" b="1" dirty="0">
                <a:solidFill>
                  <a:srgbClr val="000000"/>
                </a:solidFill>
                <a:latin typeface="STKaiti" panose="02010600040101010101" pitchFamily="2" charset="-122"/>
                <a:ea typeface="STKaiti" panose="02010600040101010101" pitchFamily="2" charset="-122"/>
              </a:rPr>
              <a:t>)</a:t>
            </a:r>
            <a:endParaRPr lang="en-US" altLang="zh-CN" sz="2000" b="1" baseline="-25000" dirty="0">
              <a:solidFill>
                <a:srgbClr val="000000"/>
              </a:solidFill>
              <a:latin typeface="STKaiti" panose="02010600040101010101" pitchFamily="2" charset="-122"/>
              <a:ea typeface="STKaiti" panose="02010600040101010101" pitchFamily="2" charset="-122"/>
              <a:sym typeface="Symbol" pitchFamily="18" charset="2"/>
            </a:endParaRPr>
          </a:p>
        </p:txBody>
      </p:sp>
      <p:grpSp>
        <p:nvGrpSpPr>
          <p:cNvPr id="149" name="Group 148">
            <a:extLst>
              <a:ext uri="{FF2B5EF4-FFF2-40B4-BE49-F238E27FC236}">
                <a16:creationId xmlns:a16="http://schemas.microsoft.com/office/drawing/2014/main" id="{765F0A68-2352-064F-9C94-F74612A081B1}"/>
              </a:ext>
            </a:extLst>
          </p:cNvPr>
          <p:cNvGrpSpPr/>
          <p:nvPr/>
        </p:nvGrpSpPr>
        <p:grpSpPr>
          <a:xfrm>
            <a:off x="4870338" y="1798937"/>
            <a:ext cx="3757853" cy="1770106"/>
            <a:chOff x="6587563" y="1255582"/>
            <a:chExt cx="5010469" cy="2360140"/>
          </a:xfrm>
        </p:grpSpPr>
        <p:sp>
          <p:nvSpPr>
            <p:cNvPr id="118" name="Rectangle 8">
              <a:extLst>
                <a:ext uri="{FF2B5EF4-FFF2-40B4-BE49-F238E27FC236}">
                  <a16:creationId xmlns:a16="http://schemas.microsoft.com/office/drawing/2014/main" id="{94C922B5-9370-F045-ADA1-E16E5F75DA9D}"/>
                </a:ext>
              </a:extLst>
            </p:cNvPr>
            <p:cNvSpPr>
              <a:spLocks noChangeArrowheads="1"/>
            </p:cNvSpPr>
            <p:nvPr/>
          </p:nvSpPr>
          <p:spPr bwMode="auto">
            <a:xfrm>
              <a:off x="6587563" y="1469142"/>
              <a:ext cx="1422338" cy="1326027"/>
            </a:xfrm>
            <a:prstGeom prst="rect">
              <a:avLst/>
            </a:prstGeom>
            <a:solidFill>
              <a:srgbClr val="FFFFFF"/>
            </a:solidFill>
            <a:ln w="25400">
              <a:solidFill>
                <a:srgbClr val="E7030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19" name="Rectangle 9">
              <a:extLst>
                <a:ext uri="{FF2B5EF4-FFF2-40B4-BE49-F238E27FC236}">
                  <a16:creationId xmlns:a16="http://schemas.microsoft.com/office/drawing/2014/main" id="{A80E8C13-4859-F349-A3DE-4691C1564F8F}"/>
                </a:ext>
              </a:extLst>
            </p:cNvPr>
            <p:cNvSpPr>
              <a:spLocks noChangeArrowheads="1"/>
            </p:cNvSpPr>
            <p:nvPr/>
          </p:nvSpPr>
          <p:spPr bwMode="auto">
            <a:xfrm>
              <a:off x="6635020" y="1897658"/>
              <a:ext cx="559877" cy="582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2400" dirty="0">
                  <a:solidFill>
                    <a:srgbClr val="333399"/>
                  </a:solidFill>
                  <a:latin typeface="+mj-lt"/>
                  <a:ea typeface="STKaiti" panose="02010600040101010101" pitchFamily="2" charset="-122"/>
                </a:rPr>
                <a:t>P </a:t>
              </a:r>
            </a:p>
          </p:txBody>
        </p:sp>
        <p:sp>
          <p:nvSpPr>
            <p:cNvPr id="120" name="Line 10">
              <a:extLst>
                <a:ext uri="{FF2B5EF4-FFF2-40B4-BE49-F238E27FC236}">
                  <a16:creationId xmlns:a16="http://schemas.microsoft.com/office/drawing/2014/main" id="{4F1071CD-1E38-574E-85D2-FD38BD1AC75E}"/>
                </a:ext>
              </a:extLst>
            </p:cNvPr>
            <p:cNvSpPr>
              <a:spLocks noChangeShapeType="1"/>
            </p:cNvSpPr>
            <p:nvPr/>
          </p:nvSpPr>
          <p:spPr bwMode="auto">
            <a:xfrm>
              <a:off x="7108202" y="2026072"/>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21" name="Line 11">
              <a:extLst>
                <a:ext uri="{FF2B5EF4-FFF2-40B4-BE49-F238E27FC236}">
                  <a16:creationId xmlns:a16="http://schemas.microsoft.com/office/drawing/2014/main" id="{CB2664CC-55DA-154F-9776-2B665B39E9C8}"/>
                </a:ext>
              </a:extLst>
            </p:cNvPr>
            <p:cNvSpPr>
              <a:spLocks noChangeShapeType="1"/>
            </p:cNvSpPr>
            <p:nvPr/>
          </p:nvSpPr>
          <p:spPr bwMode="auto">
            <a:xfrm>
              <a:off x="7108202" y="2168446"/>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22" name="Line 12">
              <a:extLst>
                <a:ext uri="{FF2B5EF4-FFF2-40B4-BE49-F238E27FC236}">
                  <a16:creationId xmlns:a16="http://schemas.microsoft.com/office/drawing/2014/main" id="{0FEF6D4E-A1B5-1D44-9DAD-EE1AE5337ED2}"/>
                </a:ext>
              </a:extLst>
            </p:cNvPr>
            <p:cNvSpPr>
              <a:spLocks noChangeShapeType="1"/>
            </p:cNvSpPr>
            <p:nvPr/>
          </p:nvSpPr>
          <p:spPr bwMode="auto">
            <a:xfrm>
              <a:off x="7108202" y="2309424"/>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23" name="Line 13">
              <a:extLst>
                <a:ext uri="{FF2B5EF4-FFF2-40B4-BE49-F238E27FC236}">
                  <a16:creationId xmlns:a16="http://schemas.microsoft.com/office/drawing/2014/main" id="{80FB74A6-F960-594C-B2FE-A35764EB6379}"/>
                </a:ext>
              </a:extLst>
            </p:cNvPr>
            <p:cNvSpPr>
              <a:spLocks noChangeShapeType="1"/>
            </p:cNvSpPr>
            <p:nvPr/>
          </p:nvSpPr>
          <p:spPr bwMode="auto">
            <a:xfrm>
              <a:off x="7108202" y="2451797"/>
              <a:ext cx="685346" cy="0"/>
            </a:xfrm>
            <a:prstGeom prst="line">
              <a:avLst/>
            </a:prstGeom>
            <a:noFill/>
            <a:ln w="25400">
              <a:solidFill>
                <a:srgbClr val="E703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24" name="Rectangle 14">
              <a:extLst>
                <a:ext uri="{FF2B5EF4-FFF2-40B4-BE49-F238E27FC236}">
                  <a16:creationId xmlns:a16="http://schemas.microsoft.com/office/drawing/2014/main" id="{E60E53EC-AE6B-F240-A055-E0C6D1768832}"/>
                </a:ext>
              </a:extLst>
            </p:cNvPr>
            <p:cNvSpPr>
              <a:spLocks noChangeArrowheads="1"/>
            </p:cNvSpPr>
            <p:nvPr/>
          </p:nvSpPr>
          <p:spPr bwMode="auto">
            <a:xfrm>
              <a:off x="6904140" y="1515498"/>
              <a:ext cx="1095237" cy="377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1400" dirty="0">
                  <a:solidFill>
                    <a:srgbClr val="333399"/>
                  </a:solidFill>
                  <a:latin typeface="+mn-lt"/>
                  <a:ea typeface="STKaiti" panose="02010600040101010101" pitchFamily="2" charset="-122"/>
                </a:rPr>
                <a:t>registers</a:t>
              </a:r>
            </a:p>
          </p:txBody>
        </p:sp>
        <p:sp>
          <p:nvSpPr>
            <p:cNvPr id="125" name="Line 15">
              <a:extLst>
                <a:ext uri="{FF2B5EF4-FFF2-40B4-BE49-F238E27FC236}">
                  <a16:creationId xmlns:a16="http://schemas.microsoft.com/office/drawing/2014/main" id="{414BC87D-EB7F-D74A-B9D4-9FCAAE77176A}"/>
                </a:ext>
              </a:extLst>
            </p:cNvPr>
            <p:cNvSpPr>
              <a:spLocks noChangeShapeType="1"/>
            </p:cNvSpPr>
            <p:nvPr/>
          </p:nvSpPr>
          <p:spPr bwMode="auto">
            <a:xfrm>
              <a:off x="9013492" y="2168446"/>
              <a:ext cx="381059" cy="0"/>
            </a:xfrm>
            <a:prstGeom prst="line">
              <a:avLst/>
            </a:prstGeom>
            <a:noFill/>
            <a:ln w="38100" cmpd="dbl">
              <a:solidFill>
                <a:srgbClr val="E70303"/>
              </a:solidFill>
              <a:round/>
              <a:headEnd type="stealth" w="med" len="me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26" name="Rectangle 16">
              <a:extLst>
                <a:ext uri="{FF2B5EF4-FFF2-40B4-BE49-F238E27FC236}">
                  <a16:creationId xmlns:a16="http://schemas.microsoft.com/office/drawing/2014/main" id="{791CD8CE-29B8-8845-8BBD-2BCD17B121FA}"/>
                </a:ext>
              </a:extLst>
            </p:cNvPr>
            <p:cNvSpPr>
              <a:spLocks noChangeArrowheads="1"/>
            </p:cNvSpPr>
            <p:nvPr/>
          </p:nvSpPr>
          <p:spPr bwMode="auto">
            <a:xfrm>
              <a:off x="8388165" y="1968846"/>
              <a:ext cx="659221" cy="582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2400" dirty="0">
                  <a:solidFill>
                    <a:srgbClr val="333399"/>
                  </a:solidFill>
                  <a:latin typeface="+mn-lt"/>
                  <a:ea typeface="STKaiti" panose="02010600040101010101" pitchFamily="2" charset="-122"/>
                </a:rPr>
                <a:t>L1</a:t>
              </a:r>
            </a:p>
          </p:txBody>
        </p:sp>
        <p:sp>
          <p:nvSpPr>
            <p:cNvPr id="127" name="Rectangle 17">
              <a:extLst>
                <a:ext uri="{FF2B5EF4-FFF2-40B4-BE49-F238E27FC236}">
                  <a16:creationId xmlns:a16="http://schemas.microsoft.com/office/drawing/2014/main" id="{51D09996-9CA3-F144-B51D-967EDE58E849}"/>
                </a:ext>
              </a:extLst>
            </p:cNvPr>
            <p:cNvSpPr>
              <a:spLocks noChangeArrowheads="1"/>
            </p:cNvSpPr>
            <p:nvPr/>
          </p:nvSpPr>
          <p:spPr bwMode="auto">
            <a:xfrm>
              <a:off x="9377803" y="1968846"/>
              <a:ext cx="659221" cy="582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2400">
                  <a:solidFill>
                    <a:srgbClr val="333399"/>
                  </a:solidFill>
                  <a:latin typeface="+mn-lt"/>
                  <a:ea typeface="STKaiti" panose="02010600040101010101" pitchFamily="2" charset="-122"/>
                </a:rPr>
                <a:t>L2</a:t>
              </a:r>
            </a:p>
          </p:txBody>
        </p:sp>
        <p:sp>
          <p:nvSpPr>
            <p:cNvPr id="128" name="Rectangle 18">
              <a:extLst>
                <a:ext uri="{FF2B5EF4-FFF2-40B4-BE49-F238E27FC236}">
                  <a16:creationId xmlns:a16="http://schemas.microsoft.com/office/drawing/2014/main" id="{D9803FDE-DD3C-C742-9B55-48439F48B666}"/>
                </a:ext>
              </a:extLst>
            </p:cNvPr>
            <p:cNvSpPr>
              <a:spLocks noChangeArrowheads="1"/>
            </p:cNvSpPr>
            <p:nvPr/>
          </p:nvSpPr>
          <p:spPr bwMode="auto">
            <a:xfrm>
              <a:off x="10324643" y="1962852"/>
              <a:ext cx="1273389"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zh-CN" altLang="en-US" sz="1600" b="1" dirty="0">
                  <a:solidFill>
                    <a:srgbClr val="333399"/>
                  </a:solidFill>
                  <a:latin typeface="STKaiti" panose="02010600040101010101" pitchFamily="2" charset="-122"/>
                  <a:ea typeface="STKaiti" panose="02010600040101010101" pitchFamily="2" charset="-122"/>
                </a:rPr>
                <a:t>主存储器</a:t>
              </a:r>
            </a:p>
          </p:txBody>
        </p:sp>
        <p:sp>
          <p:nvSpPr>
            <p:cNvPr id="129" name="Line 19">
              <a:extLst>
                <a:ext uri="{FF2B5EF4-FFF2-40B4-BE49-F238E27FC236}">
                  <a16:creationId xmlns:a16="http://schemas.microsoft.com/office/drawing/2014/main" id="{0E00D6E2-12DD-DA4D-ABFC-7824B7BFEFCD}"/>
                </a:ext>
              </a:extLst>
            </p:cNvPr>
            <p:cNvSpPr>
              <a:spLocks noChangeShapeType="1"/>
            </p:cNvSpPr>
            <p:nvPr/>
          </p:nvSpPr>
          <p:spPr bwMode="auto">
            <a:xfrm>
              <a:off x="8022462" y="2168446"/>
              <a:ext cx="381059" cy="0"/>
            </a:xfrm>
            <a:prstGeom prst="line">
              <a:avLst/>
            </a:prstGeom>
            <a:noFill/>
            <a:ln w="38100" cmpd="dbl">
              <a:solidFill>
                <a:srgbClr val="E70303"/>
              </a:solidFill>
              <a:round/>
              <a:headEnd type="stealth" w="med" len="me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30" name="Line 20">
              <a:extLst>
                <a:ext uri="{FF2B5EF4-FFF2-40B4-BE49-F238E27FC236}">
                  <a16:creationId xmlns:a16="http://schemas.microsoft.com/office/drawing/2014/main" id="{E06AA3DB-9016-3C4D-A295-8663F8EAFDD4}"/>
                </a:ext>
              </a:extLst>
            </p:cNvPr>
            <p:cNvSpPr>
              <a:spLocks noChangeShapeType="1"/>
            </p:cNvSpPr>
            <p:nvPr/>
          </p:nvSpPr>
          <p:spPr bwMode="auto">
            <a:xfrm>
              <a:off x="10003128" y="2168446"/>
              <a:ext cx="381058" cy="0"/>
            </a:xfrm>
            <a:prstGeom prst="line">
              <a:avLst/>
            </a:prstGeom>
            <a:noFill/>
            <a:ln w="38100" cmpd="dbl">
              <a:solidFill>
                <a:srgbClr val="E70303"/>
              </a:solidFill>
              <a:round/>
              <a:headEnd type="stealth" w="med" len="med"/>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31" name="Rectangle 21">
              <a:extLst>
                <a:ext uri="{FF2B5EF4-FFF2-40B4-BE49-F238E27FC236}">
                  <a16:creationId xmlns:a16="http://schemas.microsoft.com/office/drawing/2014/main" id="{55E99D22-1FC1-284E-B1CD-45B0B79BB411}"/>
                </a:ext>
              </a:extLst>
            </p:cNvPr>
            <p:cNvSpPr>
              <a:spLocks noChangeArrowheads="1"/>
            </p:cNvSpPr>
            <p:nvPr/>
          </p:nvSpPr>
          <p:spPr bwMode="auto">
            <a:xfrm>
              <a:off x="6840926" y="3170141"/>
              <a:ext cx="1274773"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zh-CN" altLang="en-US" sz="1600" b="1" dirty="0">
                  <a:solidFill>
                    <a:srgbClr val="1D6EF7"/>
                  </a:solidFill>
                  <a:latin typeface="STKaiti" panose="02010600040101010101" pitchFamily="2" charset="-122"/>
                  <a:ea typeface="STKaiti" panose="02010600040101010101" pitchFamily="2" charset="-122"/>
                </a:rPr>
                <a:t>访问时间</a:t>
              </a:r>
            </a:p>
          </p:txBody>
        </p:sp>
        <p:sp>
          <p:nvSpPr>
            <p:cNvPr id="133" name="Rectangle 23">
              <a:extLst>
                <a:ext uri="{FF2B5EF4-FFF2-40B4-BE49-F238E27FC236}">
                  <a16:creationId xmlns:a16="http://schemas.microsoft.com/office/drawing/2014/main" id="{E9769246-8083-7D4E-8242-32DE0BA42ACF}"/>
                </a:ext>
              </a:extLst>
            </p:cNvPr>
            <p:cNvSpPr>
              <a:spLocks noChangeArrowheads="1"/>
            </p:cNvSpPr>
            <p:nvPr/>
          </p:nvSpPr>
          <p:spPr bwMode="auto">
            <a:xfrm>
              <a:off x="8331152" y="3197197"/>
              <a:ext cx="751127"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zh-CN" altLang="en-US" sz="1600" b="1">
                  <a:solidFill>
                    <a:srgbClr val="1D6EF7"/>
                  </a:solidFill>
                  <a:latin typeface="STKaiti" panose="02010600040101010101" pitchFamily="2" charset="-122"/>
                  <a:ea typeface="STKaiti" panose="02010600040101010101" pitchFamily="2" charset="-122"/>
                </a:rPr>
                <a:t> </a:t>
              </a:r>
              <a:r>
                <a:rPr lang="en-US" altLang="zh-CN" sz="1600" b="1">
                  <a:solidFill>
                    <a:srgbClr val="1D6EF7"/>
                  </a:solidFill>
                  <a:latin typeface="STKaiti" panose="02010600040101010101" pitchFamily="2" charset="-122"/>
                  <a:ea typeface="STKaiti" panose="02010600040101010101" pitchFamily="2" charset="-122"/>
                </a:rPr>
                <a:t>1 clk</a:t>
              </a:r>
            </a:p>
          </p:txBody>
        </p:sp>
        <p:sp>
          <p:nvSpPr>
            <p:cNvPr id="134" name="Rectangle 24">
              <a:extLst>
                <a:ext uri="{FF2B5EF4-FFF2-40B4-BE49-F238E27FC236}">
                  <a16:creationId xmlns:a16="http://schemas.microsoft.com/office/drawing/2014/main" id="{356ED818-ED33-124E-BBB1-2ACDDA941172}"/>
                </a:ext>
              </a:extLst>
            </p:cNvPr>
            <p:cNvSpPr>
              <a:spLocks noChangeArrowheads="1"/>
            </p:cNvSpPr>
            <p:nvPr/>
          </p:nvSpPr>
          <p:spPr bwMode="auto">
            <a:xfrm>
              <a:off x="9322181" y="3197197"/>
              <a:ext cx="783187"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1600" b="1" dirty="0">
                  <a:solidFill>
                    <a:srgbClr val="1D6EF7"/>
                  </a:solidFill>
                  <a:latin typeface="STKaiti" panose="02010600040101010101" pitchFamily="2" charset="-122"/>
                  <a:ea typeface="STKaiti" panose="02010600040101010101" pitchFamily="2" charset="-122"/>
                </a:rPr>
                <a:t>5 </a:t>
              </a:r>
              <a:r>
                <a:rPr lang="en-US" altLang="zh-CN" sz="1600" b="1" dirty="0" err="1">
                  <a:solidFill>
                    <a:srgbClr val="1D6EF7"/>
                  </a:solidFill>
                  <a:latin typeface="STKaiti" panose="02010600040101010101" pitchFamily="2" charset="-122"/>
                  <a:ea typeface="STKaiti" panose="02010600040101010101" pitchFamily="2" charset="-122"/>
                </a:rPr>
                <a:t>clks</a:t>
              </a:r>
              <a:endParaRPr lang="en-US" altLang="zh-CN" sz="1600" b="1" dirty="0">
                <a:solidFill>
                  <a:srgbClr val="1D6EF7"/>
                </a:solidFill>
                <a:latin typeface="STKaiti" panose="02010600040101010101" pitchFamily="2" charset="-122"/>
                <a:ea typeface="STKaiti" panose="02010600040101010101" pitchFamily="2" charset="-122"/>
              </a:endParaRPr>
            </a:p>
          </p:txBody>
        </p:sp>
        <p:sp>
          <p:nvSpPr>
            <p:cNvPr id="135" name="Rectangle 25">
              <a:extLst>
                <a:ext uri="{FF2B5EF4-FFF2-40B4-BE49-F238E27FC236}">
                  <a16:creationId xmlns:a16="http://schemas.microsoft.com/office/drawing/2014/main" id="{D338AD3E-2DC3-E542-AA5E-A0A4F7C81421}"/>
                </a:ext>
              </a:extLst>
            </p:cNvPr>
            <p:cNvSpPr>
              <a:spLocks noChangeArrowheads="1"/>
            </p:cNvSpPr>
            <p:nvPr/>
          </p:nvSpPr>
          <p:spPr bwMode="auto">
            <a:xfrm>
              <a:off x="10370944" y="3197197"/>
              <a:ext cx="911427" cy="41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7017" tIns="33509" rIns="67017" bIns="33509">
              <a:spAutoFit/>
            </a:bodyPr>
            <a:lstStyle/>
            <a:p>
              <a:pPr defTabSz="665839" eaLnBrk="0" hangingPunct="0"/>
              <a:r>
                <a:rPr lang="en-US" altLang="zh-CN" sz="1600" b="1">
                  <a:solidFill>
                    <a:srgbClr val="1D6EF7"/>
                  </a:solidFill>
                  <a:latin typeface="STKaiti" panose="02010600040101010101" pitchFamily="2" charset="-122"/>
                  <a:ea typeface="STKaiti" panose="02010600040101010101" pitchFamily="2" charset="-122"/>
                </a:rPr>
                <a:t>10 clks</a:t>
              </a:r>
            </a:p>
          </p:txBody>
        </p:sp>
        <p:sp>
          <p:nvSpPr>
            <p:cNvPr id="136" name="Rectangle 26">
              <a:extLst>
                <a:ext uri="{FF2B5EF4-FFF2-40B4-BE49-F238E27FC236}">
                  <a16:creationId xmlns:a16="http://schemas.microsoft.com/office/drawing/2014/main" id="{85740159-3B56-6844-91EA-21ED122FE15E}"/>
                </a:ext>
              </a:extLst>
            </p:cNvPr>
            <p:cNvSpPr>
              <a:spLocks noChangeArrowheads="1"/>
            </p:cNvSpPr>
            <p:nvPr/>
          </p:nvSpPr>
          <p:spPr bwMode="auto">
            <a:xfrm>
              <a:off x="9407113" y="1540328"/>
              <a:ext cx="583452" cy="1254840"/>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37" name="Rectangle 27">
              <a:extLst>
                <a:ext uri="{FF2B5EF4-FFF2-40B4-BE49-F238E27FC236}">
                  <a16:creationId xmlns:a16="http://schemas.microsoft.com/office/drawing/2014/main" id="{BAEB7320-DF74-E44E-B8AA-04FDFBB09DB4}"/>
                </a:ext>
              </a:extLst>
            </p:cNvPr>
            <p:cNvSpPr>
              <a:spLocks noChangeArrowheads="1"/>
            </p:cNvSpPr>
            <p:nvPr/>
          </p:nvSpPr>
          <p:spPr bwMode="auto">
            <a:xfrm>
              <a:off x="10396749" y="1255582"/>
              <a:ext cx="1118049" cy="1895520"/>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38" name="Rectangle 28">
              <a:extLst>
                <a:ext uri="{FF2B5EF4-FFF2-40B4-BE49-F238E27FC236}">
                  <a16:creationId xmlns:a16="http://schemas.microsoft.com/office/drawing/2014/main" id="{E53E4176-B605-4C4A-AAFE-3A638DE9DEF0}"/>
                </a:ext>
              </a:extLst>
            </p:cNvPr>
            <p:cNvSpPr>
              <a:spLocks noChangeArrowheads="1"/>
            </p:cNvSpPr>
            <p:nvPr/>
          </p:nvSpPr>
          <p:spPr bwMode="auto">
            <a:xfrm>
              <a:off x="8416083" y="1753889"/>
              <a:ext cx="584848" cy="829116"/>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sp>
          <p:nvSpPr>
            <p:cNvPr id="139" name="Rectangle 29">
              <a:extLst>
                <a:ext uri="{FF2B5EF4-FFF2-40B4-BE49-F238E27FC236}">
                  <a16:creationId xmlns:a16="http://schemas.microsoft.com/office/drawing/2014/main" id="{00E282EC-2ECD-5F48-B4FF-1609F8332F01}"/>
                </a:ext>
              </a:extLst>
            </p:cNvPr>
            <p:cNvSpPr>
              <a:spLocks noChangeArrowheads="1"/>
            </p:cNvSpPr>
            <p:nvPr/>
          </p:nvSpPr>
          <p:spPr bwMode="auto">
            <a:xfrm>
              <a:off x="7120764" y="1896262"/>
              <a:ext cx="660222" cy="686742"/>
            </a:xfrm>
            <a:prstGeom prst="rect">
              <a:avLst/>
            </a:prstGeom>
            <a:noFill/>
            <a:ln w="25400">
              <a:solidFill>
                <a:srgbClr val="E70303"/>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350" kern="0">
                <a:solidFill>
                  <a:srgbClr val="000000"/>
                </a:solidFill>
                <a:latin typeface="STKaiti" panose="02010600040101010101" pitchFamily="2" charset="-122"/>
                <a:ea typeface="STKaiti" panose="02010600040101010101" pitchFamily="2" charset="-122"/>
              </a:endParaRPr>
            </a:p>
          </p:txBody>
        </p:sp>
      </p:grpSp>
      <p:grpSp>
        <p:nvGrpSpPr>
          <p:cNvPr id="150" name="Group 149">
            <a:extLst>
              <a:ext uri="{FF2B5EF4-FFF2-40B4-BE49-F238E27FC236}">
                <a16:creationId xmlns:a16="http://schemas.microsoft.com/office/drawing/2014/main" id="{BDD00429-B2E2-964B-BDB0-28228B7B40CB}"/>
              </a:ext>
            </a:extLst>
          </p:cNvPr>
          <p:cNvGrpSpPr/>
          <p:nvPr/>
        </p:nvGrpSpPr>
        <p:grpSpPr>
          <a:xfrm>
            <a:off x="4443578" y="3747213"/>
            <a:ext cx="4691042" cy="944903"/>
            <a:chOff x="6018552" y="3853282"/>
            <a:chExt cx="6254722" cy="1259870"/>
          </a:xfrm>
        </p:grpSpPr>
        <p:sp>
          <p:nvSpPr>
            <p:cNvPr id="113" name="Rectangle 3">
              <a:extLst>
                <a:ext uri="{FF2B5EF4-FFF2-40B4-BE49-F238E27FC236}">
                  <a16:creationId xmlns:a16="http://schemas.microsoft.com/office/drawing/2014/main" id="{AE9840CF-6584-3B4A-B650-72DD6EE93C84}"/>
                </a:ext>
              </a:extLst>
            </p:cNvPr>
            <p:cNvSpPr>
              <a:spLocks noChangeArrowheads="1"/>
            </p:cNvSpPr>
            <p:nvPr/>
          </p:nvSpPr>
          <p:spPr bwMode="auto">
            <a:xfrm>
              <a:off x="6055473" y="3857001"/>
              <a:ext cx="2576447" cy="455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zh-CN" altLang="en-US" b="1" dirty="0">
                  <a:solidFill>
                    <a:srgbClr val="000000"/>
                  </a:solidFill>
                  <a:latin typeface="STKaiti" panose="02010600040101010101" pitchFamily="2" charset="-122"/>
                  <a:ea typeface="STKaiti" panose="02010600040101010101" pitchFamily="2" charset="-122"/>
                </a:rPr>
                <a:t>平均访问时间 </a:t>
              </a:r>
              <a:r>
                <a:rPr lang="en-US" altLang="zh-CN" b="1" dirty="0">
                  <a:solidFill>
                    <a:srgbClr val="000000"/>
                  </a:solidFill>
                  <a:latin typeface="STKaiti" panose="02010600040101010101" pitchFamily="2" charset="-122"/>
                  <a:ea typeface="STKaiti" panose="02010600040101010101" pitchFamily="2" charset="-122"/>
                </a:rPr>
                <a:t>=</a:t>
              </a:r>
              <a:endParaRPr lang="en-US" altLang="zh-CN" b="1" dirty="0">
                <a:solidFill>
                  <a:srgbClr val="808080"/>
                </a:solidFill>
                <a:latin typeface="STKaiti" panose="02010600040101010101" pitchFamily="2" charset="-122"/>
                <a:ea typeface="STKaiti" panose="02010600040101010101" pitchFamily="2" charset="-122"/>
              </a:endParaRPr>
            </a:p>
          </p:txBody>
        </p:sp>
        <p:sp>
          <p:nvSpPr>
            <p:cNvPr id="117" name="Rectangle 7">
              <a:extLst>
                <a:ext uri="{FF2B5EF4-FFF2-40B4-BE49-F238E27FC236}">
                  <a16:creationId xmlns:a16="http://schemas.microsoft.com/office/drawing/2014/main" id="{493E9797-63FD-FC42-BD62-AC94C134F472}"/>
                </a:ext>
              </a:extLst>
            </p:cNvPr>
            <p:cNvSpPr>
              <a:spLocks noChangeArrowheads="1"/>
            </p:cNvSpPr>
            <p:nvPr/>
          </p:nvSpPr>
          <p:spPr bwMode="auto">
            <a:xfrm>
              <a:off x="6018552" y="4657523"/>
              <a:ext cx="1714610" cy="455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67017" tIns="33509" rIns="67017" bIns="33509">
              <a:spAutoFit/>
            </a:bodyPr>
            <a:lstStyle/>
            <a:p>
              <a:pPr defTabSz="665839" eaLnBrk="0" hangingPunct="0"/>
              <a:r>
                <a:rPr lang="en-US" altLang="zh-CN" b="1" dirty="0">
                  <a:solidFill>
                    <a:srgbClr val="009999"/>
                  </a:solidFill>
                  <a:latin typeface="STKaiti" panose="02010600040101010101" pitchFamily="2" charset="-122"/>
                  <a:ea typeface="STKaiti" panose="02010600040101010101" pitchFamily="2" charset="-122"/>
                  <a:sym typeface="Symbol" pitchFamily="18" charset="2"/>
                </a:rPr>
                <a:t>h</a:t>
              </a:r>
              <a:r>
                <a:rPr lang="en-US" altLang="zh-CN" b="1" baseline="-25000" dirty="0">
                  <a:solidFill>
                    <a:srgbClr val="009999"/>
                  </a:solidFill>
                  <a:latin typeface="STKaiti" panose="02010600040101010101" pitchFamily="2" charset="-122"/>
                  <a:ea typeface="STKaiti" panose="02010600040101010101" pitchFamily="2" charset="-122"/>
                  <a:sym typeface="Symbol" pitchFamily="18" charset="2"/>
                </a:rPr>
                <a:t>L2</a:t>
              </a:r>
              <a:r>
                <a:rPr lang="en-US" altLang="zh-CN" b="1" dirty="0">
                  <a:solidFill>
                    <a:srgbClr val="009999"/>
                  </a:solidFill>
                  <a:latin typeface="STKaiti" panose="02010600040101010101" pitchFamily="2" charset="-122"/>
                  <a:ea typeface="STKaiti" panose="02010600040101010101" pitchFamily="2" charset="-122"/>
                  <a:sym typeface="Symbol" pitchFamily="18" charset="2"/>
                </a:rPr>
                <a:t> = 90%</a:t>
              </a:r>
            </a:p>
          </p:txBody>
        </p:sp>
        <p:sp>
          <p:nvSpPr>
            <p:cNvPr id="140" name="Text Box 30">
              <a:extLst>
                <a:ext uri="{FF2B5EF4-FFF2-40B4-BE49-F238E27FC236}">
                  <a16:creationId xmlns:a16="http://schemas.microsoft.com/office/drawing/2014/main" id="{8D0B8A8F-A742-8C44-9EB9-94AD77310510}"/>
                </a:ext>
              </a:extLst>
            </p:cNvPr>
            <p:cNvSpPr txBox="1">
              <a:spLocks noChangeArrowheads="1"/>
            </p:cNvSpPr>
            <p:nvPr/>
          </p:nvSpPr>
          <p:spPr bwMode="auto">
            <a:xfrm>
              <a:off x="9920386" y="4638238"/>
              <a:ext cx="2352888" cy="45894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hlink"/>
                  </a:solidFill>
                  <a:miter lim="800000"/>
                  <a:headEnd type="none" w="sm" len="sm"/>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fontAlgn="base">
                <a:spcBef>
                  <a:spcPct val="0"/>
                </a:spcBef>
                <a:spcAft>
                  <a:spcPct val="0"/>
                </a:spcAft>
              </a:pPr>
              <a:r>
                <a:rPr lang="en-US" altLang="zh-CN" b="1" i="1" dirty="0">
                  <a:solidFill>
                    <a:srgbClr val="E70303"/>
                  </a:solidFill>
                  <a:latin typeface="STKaiti" panose="02010600040101010101" pitchFamily="2" charset="-122"/>
                  <a:ea typeface="STKaiti" panose="02010600040101010101" pitchFamily="2" charset="-122"/>
                </a:rPr>
                <a:t>L2</a:t>
              </a:r>
              <a:r>
                <a:rPr lang="zh-CN" altLang="en-US" b="1" i="1" dirty="0">
                  <a:solidFill>
                    <a:srgbClr val="E70303"/>
                  </a:solidFill>
                  <a:latin typeface="STKaiti" panose="02010600040101010101" pitchFamily="2" charset="-122"/>
                  <a:ea typeface="STKaiti" panose="02010600040101010101" pitchFamily="2" charset="-122"/>
                </a:rPr>
                <a:t>平均访问时间</a:t>
              </a:r>
              <a:endParaRPr lang="en-US" altLang="zh-CN" b="1" i="1" dirty="0">
                <a:solidFill>
                  <a:srgbClr val="E70303"/>
                </a:solidFill>
                <a:latin typeface="STKaiti" panose="02010600040101010101" pitchFamily="2" charset="-122"/>
                <a:ea typeface="STKaiti" panose="02010600040101010101" pitchFamily="2" charset="-122"/>
              </a:endParaRPr>
            </a:p>
          </p:txBody>
        </p:sp>
        <p:sp>
          <p:nvSpPr>
            <p:cNvPr id="141" name="Line 31">
              <a:extLst>
                <a:ext uri="{FF2B5EF4-FFF2-40B4-BE49-F238E27FC236}">
                  <a16:creationId xmlns:a16="http://schemas.microsoft.com/office/drawing/2014/main" id="{476B8C6F-8CD3-7A4D-8A01-7006EE07F9F7}"/>
                </a:ext>
              </a:extLst>
            </p:cNvPr>
            <p:cNvSpPr>
              <a:spLocks noChangeShapeType="1"/>
            </p:cNvSpPr>
            <p:nvPr/>
          </p:nvSpPr>
          <p:spPr bwMode="auto">
            <a:xfrm flipH="1" flipV="1">
              <a:off x="10193661" y="4318954"/>
              <a:ext cx="0" cy="396194"/>
            </a:xfrm>
            <a:prstGeom prst="line">
              <a:avLst/>
            </a:prstGeom>
            <a:noFill/>
            <a:ln w="12700">
              <a:solidFill>
                <a:srgbClr val="E70303"/>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a:solidFill>
                  <a:srgbClr val="000000"/>
                </a:solidFill>
                <a:latin typeface="STKaiti" panose="02010600040101010101" pitchFamily="2" charset="-122"/>
                <a:ea typeface="STKaiti" panose="02010600040101010101" pitchFamily="2" charset="-122"/>
              </a:endParaRPr>
            </a:p>
          </p:txBody>
        </p:sp>
        <p:sp>
          <p:nvSpPr>
            <p:cNvPr id="142" name="Text Box 32">
              <a:extLst>
                <a:ext uri="{FF2B5EF4-FFF2-40B4-BE49-F238E27FC236}">
                  <a16:creationId xmlns:a16="http://schemas.microsoft.com/office/drawing/2014/main" id="{9D160A31-C1CA-A841-B220-98249C93202D}"/>
                </a:ext>
              </a:extLst>
            </p:cNvPr>
            <p:cNvSpPr txBox="1">
              <a:spLocks noChangeArrowheads="1"/>
            </p:cNvSpPr>
            <p:nvPr/>
          </p:nvSpPr>
          <p:spPr bwMode="auto">
            <a:xfrm>
              <a:off x="7492277" y="4620546"/>
              <a:ext cx="2352888" cy="45894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hlink"/>
                  </a:solidFill>
                  <a:miter lim="800000"/>
                  <a:headEnd type="none" w="sm" len="sm"/>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fontAlgn="base">
                <a:spcBef>
                  <a:spcPct val="0"/>
                </a:spcBef>
                <a:spcAft>
                  <a:spcPct val="0"/>
                </a:spcAft>
              </a:pPr>
              <a:r>
                <a:rPr lang="en-US" altLang="zh-CN" b="1" i="1" dirty="0">
                  <a:solidFill>
                    <a:srgbClr val="E70303"/>
                  </a:solidFill>
                  <a:latin typeface="STKaiti" panose="02010600040101010101" pitchFamily="2" charset="-122"/>
                  <a:ea typeface="STKaiti" panose="02010600040101010101" pitchFamily="2" charset="-122"/>
                </a:rPr>
                <a:t>L1</a:t>
              </a:r>
              <a:r>
                <a:rPr lang="zh-CN" altLang="en-US" b="1" i="1" dirty="0">
                  <a:solidFill>
                    <a:srgbClr val="E70303"/>
                  </a:solidFill>
                  <a:latin typeface="STKaiti" panose="02010600040101010101" pitchFamily="2" charset="-122"/>
                  <a:ea typeface="STKaiti" panose="02010600040101010101" pitchFamily="2" charset="-122"/>
                </a:rPr>
                <a:t>平均访问时间</a:t>
              </a:r>
              <a:endParaRPr lang="en-US" altLang="zh-CN" b="1" i="1" dirty="0">
                <a:solidFill>
                  <a:srgbClr val="E70303"/>
                </a:solidFill>
                <a:latin typeface="STKaiti" panose="02010600040101010101" pitchFamily="2" charset="-122"/>
                <a:ea typeface="STKaiti" panose="02010600040101010101" pitchFamily="2" charset="-122"/>
              </a:endParaRPr>
            </a:p>
          </p:txBody>
        </p:sp>
        <p:sp>
          <p:nvSpPr>
            <p:cNvPr id="143" name="Line 33">
              <a:extLst>
                <a:ext uri="{FF2B5EF4-FFF2-40B4-BE49-F238E27FC236}">
                  <a16:creationId xmlns:a16="http://schemas.microsoft.com/office/drawing/2014/main" id="{F90C4357-14D3-6445-A409-539613787A18}"/>
                </a:ext>
              </a:extLst>
            </p:cNvPr>
            <p:cNvSpPr>
              <a:spLocks noChangeShapeType="1"/>
            </p:cNvSpPr>
            <p:nvPr/>
          </p:nvSpPr>
          <p:spPr bwMode="auto">
            <a:xfrm flipH="1" flipV="1">
              <a:off x="8621898" y="4308288"/>
              <a:ext cx="0" cy="416108"/>
            </a:xfrm>
            <a:prstGeom prst="line">
              <a:avLst/>
            </a:prstGeom>
            <a:noFill/>
            <a:ln w="12700">
              <a:solidFill>
                <a:srgbClr val="E70303"/>
              </a:solidFill>
              <a:round/>
              <a:headEnd type="none" w="sm" len="sm"/>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defTabSz="685800">
                <a:defRPr/>
              </a:pPr>
              <a:endParaRPr lang="zh-CN" altLang="en-US" sz="1400" kern="0">
                <a:solidFill>
                  <a:srgbClr val="000000"/>
                </a:solidFill>
                <a:latin typeface="STKaiti" panose="02010600040101010101" pitchFamily="2" charset="-122"/>
                <a:ea typeface="STKaiti" panose="02010600040101010101" pitchFamily="2" charset="-122"/>
              </a:endParaRPr>
            </a:p>
          </p:txBody>
        </p:sp>
        <p:sp>
          <p:nvSpPr>
            <p:cNvPr id="144" name="Rectangle 34">
              <a:extLst>
                <a:ext uri="{FF2B5EF4-FFF2-40B4-BE49-F238E27FC236}">
                  <a16:creationId xmlns:a16="http://schemas.microsoft.com/office/drawing/2014/main" id="{A28050C6-6471-194C-B2D7-F7D6AAFE7F9F}"/>
                </a:ext>
              </a:extLst>
            </p:cNvPr>
            <p:cNvSpPr>
              <a:spLocks noChangeArrowheads="1"/>
            </p:cNvSpPr>
            <p:nvPr/>
          </p:nvSpPr>
          <p:spPr bwMode="auto">
            <a:xfrm>
              <a:off x="9274226" y="3853282"/>
              <a:ext cx="1656116" cy="45500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p>
              <a:pPr defTabSz="665839" eaLnBrk="0" hangingPunct="0"/>
              <a:r>
                <a:rPr lang="en-US" altLang="zh-CN" b="1">
                  <a:solidFill>
                    <a:srgbClr val="333399"/>
                  </a:solidFill>
                  <a:latin typeface="STKaiti" panose="02010600040101010101" pitchFamily="2" charset="-122"/>
                  <a:ea typeface="STKaiti" panose="02010600040101010101" pitchFamily="2" charset="-122"/>
                </a:rPr>
                <a:t>t</a:t>
              </a:r>
              <a:r>
                <a:rPr lang="en-US" altLang="zh-CN" b="1" baseline="-25000">
                  <a:solidFill>
                    <a:srgbClr val="333399"/>
                  </a:solidFill>
                  <a:latin typeface="STKaiti" panose="02010600040101010101" pitchFamily="2" charset="-122"/>
                  <a:ea typeface="STKaiti" panose="02010600040101010101" pitchFamily="2" charset="-122"/>
                </a:rPr>
                <a:t>h</a:t>
              </a:r>
              <a:r>
                <a:rPr lang="en-US" altLang="zh-CN" b="1">
                  <a:solidFill>
                    <a:srgbClr val="333399"/>
                  </a:solidFill>
                  <a:latin typeface="STKaiti" panose="02010600040101010101" pitchFamily="2" charset="-122"/>
                  <a:ea typeface="STKaiti" panose="02010600040101010101" pitchFamily="2" charset="-122"/>
                </a:rPr>
                <a:t> + (1-</a:t>
              </a:r>
              <a:r>
                <a:rPr lang="en-US" altLang="zh-CN" b="1">
                  <a:solidFill>
                    <a:srgbClr val="333399"/>
                  </a:solidFill>
                  <a:latin typeface="STKaiti" panose="02010600040101010101" pitchFamily="2" charset="-122"/>
                  <a:ea typeface="STKaiti" panose="02010600040101010101" pitchFamily="2" charset="-122"/>
                  <a:sym typeface="Symbol" pitchFamily="18" charset="2"/>
                </a:rPr>
                <a:t>)t</a:t>
              </a:r>
              <a:r>
                <a:rPr lang="en-US" altLang="zh-CN" b="1" baseline="-25000">
                  <a:solidFill>
                    <a:srgbClr val="333399"/>
                  </a:solidFill>
                  <a:latin typeface="STKaiti" panose="02010600040101010101" pitchFamily="2" charset="-122"/>
                  <a:ea typeface="STKaiti" panose="02010600040101010101" pitchFamily="2" charset="-122"/>
                  <a:sym typeface="Symbol" pitchFamily="18" charset="2"/>
                </a:rPr>
                <a:t>m</a:t>
              </a:r>
            </a:p>
          </p:txBody>
        </p:sp>
        <p:sp>
          <p:nvSpPr>
            <p:cNvPr id="145" name="Rectangle 35">
              <a:extLst>
                <a:ext uri="{FF2B5EF4-FFF2-40B4-BE49-F238E27FC236}">
                  <a16:creationId xmlns:a16="http://schemas.microsoft.com/office/drawing/2014/main" id="{1012E0E1-6AF1-4742-965A-2DD1EDE8CDC2}"/>
                </a:ext>
              </a:extLst>
            </p:cNvPr>
            <p:cNvSpPr>
              <a:spLocks noChangeArrowheads="1"/>
            </p:cNvSpPr>
            <p:nvPr/>
          </p:nvSpPr>
          <p:spPr bwMode="auto">
            <a:xfrm>
              <a:off x="8368341" y="3883990"/>
              <a:ext cx="3690861" cy="458940"/>
            </a:xfrm>
            <a:prstGeom prst="rect">
              <a:avLst/>
            </a:prstGeom>
            <a:solidFill>
              <a:srgbClr val="FFFFFF"/>
            </a:solid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6556" tIns="33278" rIns="66556" bIns="33278">
              <a:spAutoFit/>
            </a:bodyPr>
            <a:lstStyle/>
            <a:p>
              <a:pPr defTabSz="665839" eaLnBrk="0" hangingPunct="0">
                <a:defRPr/>
              </a:pPr>
              <a:r>
                <a:rPr lang="en-US" altLang="zh-CN" b="1" kern="0" dirty="0">
                  <a:solidFill>
                    <a:srgbClr val="000000"/>
                  </a:solidFill>
                  <a:latin typeface="STKaiti" panose="02010600040101010101" pitchFamily="2" charset="-122"/>
                  <a:ea typeface="STKaiti" panose="02010600040101010101" pitchFamily="2" charset="-122"/>
                </a:rPr>
                <a:t>t</a:t>
              </a:r>
              <a:r>
                <a:rPr lang="en-US" altLang="zh-CN" b="1" kern="0" baseline="-25000" dirty="0">
                  <a:solidFill>
                    <a:srgbClr val="000000"/>
                  </a:solidFill>
                  <a:latin typeface="STKaiti" panose="02010600040101010101" pitchFamily="2" charset="-122"/>
                  <a:ea typeface="STKaiti" panose="02010600040101010101" pitchFamily="2" charset="-122"/>
                </a:rPr>
                <a:t>L1</a:t>
              </a:r>
              <a:r>
                <a:rPr lang="en-US" altLang="zh-CN" b="1" kern="0" dirty="0">
                  <a:solidFill>
                    <a:srgbClr val="000000"/>
                  </a:solidFill>
                  <a:latin typeface="STKaiti" panose="02010600040101010101" pitchFamily="2" charset="-122"/>
                  <a:ea typeface="STKaiti" panose="02010600040101010101" pitchFamily="2" charset="-122"/>
                </a:rPr>
                <a:t> + (1-</a:t>
              </a:r>
              <a:r>
                <a:rPr lang="en-US" altLang="zh-CN" b="1" kern="0" dirty="0">
                  <a:solidFill>
                    <a:srgbClr val="000000"/>
                  </a:solidFill>
                  <a:latin typeface="STKaiti" panose="02010600040101010101" pitchFamily="2" charset="-122"/>
                  <a:ea typeface="STKaiti" panose="02010600040101010101" pitchFamily="2" charset="-122"/>
                  <a:sym typeface="Symbol" pitchFamily="18" charset="2"/>
                </a:rPr>
                <a:t>h</a:t>
              </a:r>
              <a:r>
                <a:rPr lang="en-US" altLang="zh-CN" b="1" kern="0" baseline="-25000" dirty="0">
                  <a:solidFill>
                    <a:srgbClr val="000000"/>
                  </a:solidFill>
                  <a:latin typeface="STKaiti" panose="02010600040101010101" pitchFamily="2" charset="-122"/>
                  <a:ea typeface="STKaiti" panose="02010600040101010101" pitchFamily="2" charset="-122"/>
                  <a:sym typeface="Symbol" pitchFamily="18" charset="2"/>
                </a:rPr>
                <a:t>L1</a:t>
              </a:r>
              <a:r>
                <a:rPr lang="en-US" altLang="zh-CN" b="1" kern="0" dirty="0">
                  <a:solidFill>
                    <a:srgbClr val="000000"/>
                  </a:solidFill>
                  <a:latin typeface="STKaiti" panose="02010600040101010101" pitchFamily="2" charset="-122"/>
                  <a:ea typeface="STKaiti" panose="02010600040101010101" pitchFamily="2" charset="-122"/>
                  <a:sym typeface="Symbol" pitchFamily="18" charset="2"/>
                </a:rPr>
                <a:t>)(</a:t>
              </a:r>
              <a:r>
                <a:rPr lang="en-US" altLang="zh-CN" b="1" kern="0" dirty="0">
                  <a:solidFill>
                    <a:srgbClr val="000000"/>
                  </a:solidFill>
                  <a:latin typeface="STKaiti" panose="02010600040101010101" pitchFamily="2" charset="-122"/>
                  <a:ea typeface="STKaiti" panose="02010600040101010101" pitchFamily="2" charset="-122"/>
                </a:rPr>
                <a:t>t</a:t>
              </a:r>
              <a:r>
                <a:rPr lang="en-US" altLang="zh-CN" b="1" kern="0" baseline="-25000" dirty="0">
                  <a:solidFill>
                    <a:srgbClr val="000000"/>
                  </a:solidFill>
                  <a:latin typeface="STKaiti" panose="02010600040101010101" pitchFamily="2" charset="-122"/>
                  <a:ea typeface="STKaiti" panose="02010600040101010101" pitchFamily="2" charset="-122"/>
                </a:rPr>
                <a:t>L2</a:t>
              </a:r>
              <a:r>
                <a:rPr lang="en-US" altLang="zh-CN" b="1" kern="0" dirty="0">
                  <a:solidFill>
                    <a:srgbClr val="000000"/>
                  </a:solidFill>
                  <a:latin typeface="STKaiti" panose="02010600040101010101" pitchFamily="2" charset="-122"/>
                  <a:ea typeface="STKaiti" panose="02010600040101010101" pitchFamily="2" charset="-122"/>
                </a:rPr>
                <a:t> + (1-</a:t>
              </a:r>
              <a:r>
                <a:rPr lang="en-US" altLang="zh-CN" b="1" kern="0" dirty="0">
                  <a:solidFill>
                    <a:srgbClr val="000000"/>
                  </a:solidFill>
                  <a:latin typeface="STKaiti" panose="02010600040101010101" pitchFamily="2" charset="-122"/>
                  <a:ea typeface="STKaiti" panose="02010600040101010101" pitchFamily="2" charset="-122"/>
                  <a:sym typeface="Symbol" pitchFamily="18" charset="2"/>
                </a:rPr>
                <a:t>h</a:t>
              </a:r>
              <a:r>
                <a:rPr lang="en-US" altLang="zh-CN" b="1" kern="0" baseline="-25000" dirty="0">
                  <a:solidFill>
                    <a:srgbClr val="000000"/>
                  </a:solidFill>
                  <a:latin typeface="STKaiti" panose="02010600040101010101" pitchFamily="2" charset="-122"/>
                  <a:ea typeface="STKaiti" panose="02010600040101010101" pitchFamily="2" charset="-122"/>
                  <a:sym typeface="Symbol" pitchFamily="18" charset="2"/>
                </a:rPr>
                <a:t>L2</a:t>
              </a:r>
              <a:r>
                <a:rPr lang="en-US" altLang="zh-CN" b="1" kern="0" dirty="0">
                  <a:solidFill>
                    <a:srgbClr val="000000"/>
                  </a:solidFill>
                  <a:latin typeface="STKaiti" panose="02010600040101010101" pitchFamily="2" charset="-122"/>
                  <a:ea typeface="STKaiti" panose="02010600040101010101" pitchFamily="2" charset="-122"/>
                  <a:sym typeface="Symbol" pitchFamily="18" charset="2"/>
                </a:rPr>
                <a:t>)t</a:t>
              </a:r>
              <a:r>
                <a:rPr lang="en-US" altLang="zh-CN" b="1" kern="0" baseline="-25000" dirty="0">
                  <a:solidFill>
                    <a:srgbClr val="000000"/>
                  </a:solidFill>
                  <a:latin typeface="STKaiti" panose="02010600040101010101" pitchFamily="2" charset="-122"/>
                  <a:ea typeface="STKaiti" panose="02010600040101010101" pitchFamily="2" charset="-122"/>
                  <a:sym typeface="Symbol" pitchFamily="18" charset="2"/>
                </a:rPr>
                <a:t>m</a:t>
              </a:r>
              <a:r>
                <a:rPr lang="en-US" altLang="zh-CN" b="1" kern="0" dirty="0">
                  <a:solidFill>
                    <a:srgbClr val="000000"/>
                  </a:solidFill>
                  <a:latin typeface="STKaiti" panose="02010600040101010101" pitchFamily="2" charset="-122"/>
                  <a:ea typeface="STKaiti" panose="02010600040101010101" pitchFamily="2" charset="-122"/>
                  <a:sym typeface="Symbol" pitchFamily="18" charset="2"/>
                </a:rPr>
                <a:t>)</a:t>
              </a:r>
              <a:endParaRPr lang="en-US" altLang="zh-CN" b="1" kern="0" baseline="-25000" dirty="0">
                <a:solidFill>
                  <a:srgbClr val="000000"/>
                </a:solidFill>
                <a:latin typeface="STKaiti" panose="02010600040101010101" pitchFamily="2" charset="-122"/>
                <a:ea typeface="STKaiti" panose="02010600040101010101" pitchFamily="2" charset="-122"/>
                <a:sym typeface="Symbol" pitchFamily="18" charset="2"/>
              </a:endParaRPr>
            </a:p>
          </p:txBody>
        </p:sp>
      </p:grpSp>
    </p:spTree>
    <p:extLst>
      <p:ext uri="{BB962C8B-B14F-4D97-AF65-F5344CB8AC3E}">
        <p14:creationId xmlns:p14="http://schemas.microsoft.com/office/powerpoint/2010/main" val="354247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CCB4AF4-AC04-999A-0707-3C7FB179AEA8}"/>
              </a:ext>
            </a:extLst>
          </p:cNvPr>
          <p:cNvSpPr>
            <a:spLocks noGrp="1"/>
          </p:cNvSpPr>
          <p:nvPr>
            <p:ph type="sldNum" sz="quarter" idx="12"/>
          </p:nvPr>
        </p:nvSpPr>
        <p:spPr/>
        <p:txBody>
          <a:bodyPr/>
          <a:lstStyle/>
          <a:p>
            <a:fld id="{3F2AB43A-8F39-40F7-AB51-66BE5F0EDC88}" type="slidenum">
              <a:rPr lang="en-US" altLang="zh-CN" smtClean="0"/>
              <a:pPr/>
              <a:t>24</a:t>
            </a:fld>
            <a:endParaRPr lang="en-US" altLang="zh-CN"/>
          </a:p>
        </p:txBody>
      </p:sp>
      <p:sp>
        <p:nvSpPr>
          <p:cNvPr id="5" name="文本框 4">
            <a:extLst>
              <a:ext uri="{FF2B5EF4-FFF2-40B4-BE49-F238E27FC236}">
                <a16:creationId xmlns:a16="http://schemas.microsoft.com/office/drawing/2014/main" id="{89E596C1-2CF1-37FB-E274-17B21568BB15}"/>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spcBef>
                <a:spcPts val="879"/>
              </a:spcBef>
            </a:pPr>
            <a:r>
              <a:rPr kumimoji="1" lang="zh-CN" altLang="en-US" sz="2800" dirty="0">
                <a:ea typeface="SimHei" panose="02010609060101010101" pitchFamily="49" charset="-122"/>
              </a:rPr>
              <a:t>以下关于存储器体系结构的描述错误的是：</a:t>
            </a:r>
          </a:p>
        </p:txBody>
      </p:sp>
      <p:sp>
        <p:nvSpPr>
          <p:cNvPr id="6" name="文本框 5">
            <a:extLst>
              <a:ext uri="{FF2B5EF4-FFF2-40B4-BE49-F238E27FC236}">
                <a16:creationId xmlns:a16="http://schemas.microsoft.com/office/drawing/2014/main" id="{072132EF-76AD-90E7-29EF-DE1BDF439BA5}"/>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a:spcBef>
                <a:spcPts val="879"/>
              </a:spcBef>
            </a:pPr>
            <a:r>
              <a:rPr kumimoji="1" lang="zh-CN" altLang="en-US" sz="2400" dirty="0">
                <a:latin typeface="+mn-ea"/>
                <a:ea typeface="SimHei" panose="02010609060101010101" pitchFamily="49" charset="-122"/>
              </a:rPr>
              <a:t>不存在容量足够大、速度足够快并且成本足够低的单一存储器</a:t>
            </a:r>
          </a:p>
        </p:txBody>
      </p:sp>
      <p:sp>
        <p:nvSpPr>
          <p:cNvPr id="7" name="文本框 6">
            <a:extLst>
              <a:ext uri="{FF2B5EF4-FFF2-40B4-BE49-F238E27FC236}">
                <a16:creationId xmlns:a16="http://schemas.microsoft.com/office/drawing/2014/main" id="{BE4DEE21-7A6F-611B-A0A2-1B826604E7DA}"/>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kumimoji="1" lang="zh-CN" altLang="en-US" sz="2400" dirty="0">
                <a:latin typeface="+mn-ea"/>
                <a:ea typeface="SimHei" panose="02010609060101010101" pitchFamily="49" charset="-122"/>
              </a:rPr>
              <a:t>一般程序设计过程中需要设计局部性较好的程序来提高命中率</a:t>
            </a:r>
            <a:endParaRPr lang="zh-CN" altLang="en-US" sz="24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8" name="文本框 7">
            <a:extLst>
              <a:ext uri="{FF2B5EF4-FFF2-40B4-BE49-F238E27FC236}">
                <a16:creationId xmlns:a16="http://schemas.microsoft.com/office/drawing/2014/main" id="{F3CC65E0-8DA6-C4E7-8C9A-E07DF02D936E}"/>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a:spcBef>
                <a:spcPts val="879"/>
              </a:spcBef>
            </a:pPr>
            <a:r>
              <a:rPr kumimoji="1" lang="zh-CN" altLang="en-US" sz="2400" dirty="0">
                <a:latin typeface="+mn-ea"/>
                <a:ea typeface="SimHei" panose="02010609060101010101" pitchFamily="49" charset="-122"/>
              </a:rPr>
              <a:t>相同容量，不同结构的存储器成本一般是不同的</a:t>
            </a:r>
          </a:p>
        </p:txBody>
      </p:sp>
      <p:sp>
        <p:nvSpPr>
          <p:cNvPr id="9" name="文本框 8">
            <a:extLst>
              <a:ext uri="{FF2B5EF4-FFF2-40B4-BE49-F238E27FC236}">
                <a16:creationId xmlns:a16="http://schemas.microsoft.com/office/drawing/2014/main" id="{878FA03D-5209-952C-0260-0324A00EDADC}"/>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kumimoji="1" lang="zh-CN" altLang="en-US" sz="2400" dirty="0">
                <a:latin typeface="+mn-ea"/>
                <a:ea typeface="SimHei" panose="02010609060101010101" pitchFamily="49" charset="-122"/>
              </a:rPr>
              <a:t>辅助存储器</a:t>
            </a:r>
            <a:r>
              <a:rPr kumimoji="1" lang="en-US" altLang="zh-CN" sz="2400" dirty="0">
                <a:latin typeface="+mn-ea"/>
                <a:ea typeface="SimHei" panose="02010609060101010101" pitchFamily="49" charset="-122"/>
              </a:rPr>
              <a:t>(</a:t>
            </a:r>
            <a:r>
              <a:rPr kumimoji="1" lang="zh-CN" altLang="en-US" sz="2400" dirty="0">
                <a:latin typeface="+mn-ea"/>
                <a:ea typeface="SimHei" panose="02010609060101010101" pitchFamily="49" charset="-122"/>
              </a:rPr>
              <a:t>外存</a:t>
            </a:r>
            <a:r>
              <a:rPr kumimoji="1" lang="en-US" altLang="zh-CN" sz="2400" dirty="0">
                <a:latin typeface="+mn-ea"/>
                <a:ea typeface="SimHei" panose="02010609060101010101" pitchFamily="49" charset="-122"/>
              </a:rPr>
              <a:t>)</a:t>
            </a:r>
            <a:r>
              <a:rPr kumimoji="1" lang="zh-CN" altLang="en-US" sz="2400" dirty="0">
                <a:latin typeface="+mn-ea"/>
                <a:ea typeface="SimHei" panose="02010609060101010101" pitchFamily="49" charset="-122"/>
              </a:rPr>
              <a:t>处于存储器体系结构中最接近运算器的层次</a:t>
            </a:r>
            <a:endParaRPr lang="zh-CN" altLang="en-US" sz="24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0" name="椭圆 9">
            <a:extLst>
              <a:ext uri="{FF2B5EF4-FFF2-40B4-BE49-F238E27FC236}">
                <a16:creationId xmlns:a16="http://schemas.microsoft.com/office/drawing/2014/main" id="{00A2C886-A851-F00F-55EB-3DA6CD57FC0B}"/>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A</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1" name="椭圆 10">
            <a:extLst>
              <a:ext uri="{FF2B5EF4-FFF2-40B4-BE49-F238E27FC236}">
                <a16:creationId xmlns:a16="http://schemas.microsoft.com/office/drawing/2014/main" id="{08441EA8-ED3A-2EDA-F344-4076D84CBD1A}"/>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B</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2" name="椭圆 11">
            <a:extLst>
              <a:ext uri="{FF2B5EF4-FFF2-40B4-BE49-F238E27FC236}">
                <a16:creationId xmlns:a16="http://schemas.microsoft.com/office/drawing/2014/main" id="{801CE110-7CCE-B01C-3211-09F934D7348C}"/>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C</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3" name="椭圆 12">
            <a:extLst>
              <a:ext uri="{FF2B5EF4-FFF2-40B4-BE49-F238E27FC236}">
                <a16:creationId xmlns:a16="http://schemas.microsoft.com/office/drawing/2014/main" id="{144BD053-1B34-1EDF-6C09-5CE201F4065C}"/>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D</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A74432A7-B9B7-3B1D-4151-6B3FFF2F3B3E}"/>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rPr>
              <a:t>提交</a:t>
            </a:r>
          </a:p>
        </p:txBody>
      </p:sp>
      <mc:AlternateContent xmlns:mc="http://schemas.openxmlformats.org/markup-compatibility/2006">
        <mc:Choice xmlns:p14="http://schemas.microsoft.com/office/powerpoint/2010/main" Requires="p14">
          <p:contentPart p14:bwMode="auto" r:id="rId19">
            <p14:nvContentPartPr>
              <p14:cNvPr id="3" name="墨迹 2">
                <a:extLst>
                  <a:ext uri="{FF2B5EF4-FFF2-40B4-BE49-F238E27FC236}">
                    <a16:creationId xmlns:a16="http://schemas.microsoft.com/office/drawing/2014/main" id="{D7E7B189-9DA1-742C-AE98-2E89F429C262}"/>
                  </a:ext>
                </a:extLst>
              </p14:cNvPr>
              <p14:cNvContentPartPr/>
              <p14:nvPr/>
            </p14:nvContentPartPr>
            <p14:xfrm>
              <a:off x="5878080" y="3106800"/>
              <a:ext cx="360" cy="360"/>
            </p14:xfrm>
          </p:contentPart>
        </mc:Choice>
        <mc:Fallback>
          <p:pic>
            <p:nvPicPr>
              <p:cNvPr id="3" name="墨迹 2">
                <a:extLst>
                  <a:ext uri="{FF2B5EF4-FFF2-40B4-BE49-F238E27FC236}">
                    <a16:creationId xmlns:a16="http://schemas.microsoft.com/office/drawing/2014/main" id="{D7E7B189-9DA1-742C-AE98-2E89F429C262}"/>
                  </a:ext>
                </a:extLst>
              </p:cNvPr>
              <p:cNvPicPr/>
              <p:nvPr/>
            </p:nvPicPr>
            <p:blipFill>
              <a:blip r:embed="rId20"/>
              <a:stretch>
                <a:fillRect/>
              </a:stretch>
            </p:blipFill>
            <p:spPr>
              <a:xfrm>
                <a:off x="5868720" y="3097440"/>
                <a:ext cx="19080" cy="19080"/>
              </a:xfrm>
              <a:prstGeom prst="rect">
                <a:avLst/>
              </a:prstGeom>
            </p:spPr>
          </p:pic>
        </mc:Fallback>
      </mc:AlternateContent>
      <p:grpSp>
        <p:nvGrpSpPr>
          <p:cNvPr id="19" name="组合 18">
            <a:extLst>
              <a:ext uri="{FF2B5EF4-FFF2-40B4-BE49-F238E27FC236}">
                <a16:creationId xmlns:a16="http://schemas.microsoft.com/office/drawing/2014/main" id="{2CC655E2-AEF3-215B-7C16-AB63B14451A9}"/>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30477030-A4CF-A07F-50F6-52A73F0AECE8}"/>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7192355F-AF06-286F-ADDB-8C2088DC00DF}"/>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D9CC3DB5-3613-223F-5B22-D64185D9E31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AA799D95-F8AE-E049-981F-A8A64DA69374}"/>
                </a:ext>
              </a:extLst>
            </p:cNvPr>
            <p:cNvSpPr txBox="1"/>
            <p:nvPr>
              <p:custDataLst>
                <p:tags r:id="rId17"/>
              </p:custDataLst>
            </p:nvPr>
          </p:nvSpPr>
          <p:spPr>
            <a:xfrm>
              <a:off x="15925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SimHei" panose="02010609060101010101" pitchFamily="49" charset="-122"/>
                  <a:ea typeface="SimHei" panose="02010609060101010101" pitchFamily="49" charset="-122"/>
                  <a:sym typeface="Microsoft Yahei" panose="020B0503020204020204" pitchFamily="34" charset="-122"/>
                </a:rPr>
                <a:t>1</a:t>
              </a:r>
              <a:r>
                <a:rPr lang="zh-CN" altLang="en-US" sz="2000" dirty="0">
                  <a:solidFill>
                    <a:srgbClr val="808080"/>
                  </a:solidFill>
                  <a:latin typeface="SimHei" panose="02010609060101010101" pitchFamily="49" charset="-122"/>
                  <a:ea typeface="SimHei" panose="02010609060101010101" pitchFamily="49"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73122295-4F31-9C55-2006-CDBC3C86EB30}"/>
              </a:ext>
            </a:extLst>
          </p:cNvPr>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827605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25</a:t>
            </a:fld>
            <a:endParaRPr lang="en-US" altLang="zh-CN"/>
          </a:p>
        </p:txBody>
      </p:sp>
      <p:sp>
        <p:nvSpPr>
          <p:cNvPr id="4" name="内容占位符 2">
            <a:extLst>
              <a:ext uri="{FF2B5EF4-FFF2-40B4-BE49-F238E27FC236}">
                <a16:creationId xmlns:a16="http://schemas.microsoft.com/office/drawing/2014/main" id="{CA1552BA-4327-A147-B565-E435AE2EEDCF}"/>
              </a:ext>
            </a:extLst>
          </p:cNvPr>
          <p:cNvSpPr>
            <a:spLocks noGrp="1"/>
          </p:cNvSpPr>
          <p:nvPr>
            <p:ph idx="1"/>
          </p:nvPr>
        </p:nvSpPr>
        <p:spPr>
          <a:xfrm>
            <a:off x="457200" y="1551432"/>
            <a:ext cx="8229600" cy="4693793"/>
          </a:xfrm>
        </p:spPr>
        <p:txBody>
          <a:bodyPr/>
          <a:lstStyle/>
          <a:p>
            <a:pPr marL="514350" indent="-457200">
              <a:spcBef>
                <a:spcPts val="1000"/>
              </a:spcBef>
            </a:pPr>
            <a:r>
              <a:rPr lang="zh-CN" altLang="en-US" dirty="0"/>
              <a:t>习题解析</a:t>
            </a:r>
            <a:endParaRPr kumimoji="1" lang="en-US" altLang="zh-CN" dirty="0">
              <a:solidFill>
                <a:srgbClr val="FF0000"/>
              </a:solidFill>
            </a:endParaRPr>
          </a:p>
          <a:p>
            <a:pPr marL="914400" lvl="1" indent="-457200">
              <a:spcBef>
                <a:spcPts val="1000"/>
              </a:spcBef>
              <a:buFont typeface="+mj-lt"/>
              <a:buAutoNum type="alphaUcPeriod"/>
            </a:pPr>
            <a:r>
              <a:rPr lang="zh-CN" altLang="en-US" sz="2400" dirty="0"/>
              <a:t>正确，这是我们研究存储器层次结构的主要动机。</a:t>
            </a:r>
            <a:endParaRPr lang="en-US" altLang="zh-CN" sz="2400" dirty="0"/>
          </a:p>
          <a:p>
            <a:pPr marL="914400" lvl="1" indent="-457200">
              <a:spcBef>
                <a:spcPts val="1000"/>
              </a:spcBef>
              <a:buFont typeface="+mj-lt"/>
              <a:buAutoNum type="alphaUcPeriod"/>
            </a:pPr>
            <a:r>
              <a:rPr lang="zh-CN" altLang="en-US" sz="2400" dirty="0"/>
              <a:t>正确，只有保证高命中率我们才能主观感觉获得了一个理想的存储器。</a:t>
            </a:r>
            <a:endParaRPr lang="en-US" altLang="zh-CN" sz="2400" dirty="0"/>
          </a:p>
          <a:p>
            <a:pPr marL="914400" lvl="1" indent="-457200">
              <a:spcBef>
                <a:spcPts val="1000"/>
              </a:spcBef>
              <a:buFont typeface="+mj-lt"/>
              <a:buAutoNum type="alphaUcPeriod"/>
            </a:pPr>
            <a:r>
              <a:rPr lang="zh-CN" altLang="en-US" sz="2400" dirty="0"/>
              <a:t>正确，半导体存储器的成本主要和面积有关。在容量相同时，</a:t>
            </a:r>
            <a:r>
              <a:rPr lang="en-US" altLang="zh-CN" sz="2400" dirty="0"/>
              <a:t>6</a:t>
            </a:r>
            <a:r>
              <a:rPr lang="zh-CN" altLang="en-US" sz="2400" dirty="0"/>
              <a:t>管</a:t>
            </a:r>
            <a:r>
              <a:rPr lang="en-US" altLang="zh-CN" sz="2400" dirty="0"/>
              <a:t>SRAM</a:t>
            </a:r>
            <a:r>
              <a:rPr lang="zh-CN" altLang="en-US" sz="2400" dirty="0"/>
              <a:t>的面积比单管</a:t>
            </a:r>
            <a:r>
              <a:rPr lang="en-US" altLang="zh-CN" sz="2400" dirty="0"/>
              <a:t>DRAM</a:t>
            </a:r>
            <a:r>
              <a:rPr lang="zh-CN" altLang="en-US" sz="2400" dirty="0"/>
              <a:t>的面积大多，其成本也就高得多。</a:t>
            </a:r>
            <a:endParaRPr lang="en-US" altLang="zh-CN" sz="2400" dirty="0"/>
          </a:p>
          <a:p>
            <a:pPr marL="914400" lvl="1" indent="-457200">
              <a:spcBef>
                <a:spcPts val="1000"/>
              </a:spcBef>
              <a:buFont typeface="+mj-lt"/>
              <a:buAutoNum type="alphaUcPeriod"/>
            </a:pPr>
            <a:r>
              <a:rPr lang="zh-CN" altLang="en-US" sz="2400" dirty="0">
                <a:solidFill>
                  <a:srgbClr val="0432FF"/>
                </a:solidFill>
              </a:rPr>
              <a:t>错误，</a:t>
            </a:r>
            <a:r>
              <a:rPr kumimoji="1" lang="zh-CN" altLang="en-US" sz="2400" dirty="0">
                <a:solidFill>
                  <a:srgbClr val="0432FF"/>
                </a:solidFill>
                <a:latin typeface="+mn-ea"/>
              </a:rPr>
              <a:t>辅助存储器</a:t>
            </a:r>
            <a:r>
              <a:rPr kumimoji="1" lang="en-US" altLang="zh-CN" sz="2400" dirty="0">
                <a:solidFill>
                  <a:srgbClr val="0432FF"/>
                </a:solidFill>
                <a:latin typeface="+mn-ea"/>
              </a:rPr>
              <a:t>(</a:t>
            </a:r>
            <a:r>
              <a:rPr kumimoji="1" lang="zh-CN" altLang="en-US" sz="2400" dirty="0">
                <a:solidFill>
                  <a:srgbClr val="0432FF"/>
                </a:solidFill>
                <a:latin typeface="+mn-ea"/>
              </a:rPr>
              <a:t>外存</a:t>
            </a:r>
            <a:r>
              <a:rPr kumimoji="1" lang="en-US" altLang="zh-CN" sz="2400" dirty="0">
                <a:solidFill>
                  <a:srgbClr val="0432FF"/>
                </a:solidFill>
                <a:latin typeface="+mn-ea"/>
              </a:rPr>
              <a:t>)</a:t>
            </a:r>
            <a:r>
              <a:rPr kumimoji="1" lang="zh-CN" altLang="en-US" sz="2400" dirty="0">
                <a:solidFill>
                  <a:srgbClr val="0432FF"/>
                </a:solidFill>
                <a:latin typeface="+mn-ea"/>
              </a:rPr>
              <a:t>应当处于存储器体系结构中最远离运算器的层次，选项刚好说反了。</a:t>
            </a:r>
            <a:endParaRPr kumimoji="1" lang="en-US" altLang="zh-CN" sz="2400" dirty="0">
              <a:solidFill>
                <a:srgbClr val="0432FF"/>
              </a:solidFill>
            </a:endParaRPr>
          </a:p>
          <a:p>
            <a:pPr marL="914400" lvl="1" indent="-457200">
              <a:spcBef>
                <a:spcPts val="1000"/>
              </a:spcBef>
              <a:buFont typeface="+mj-lt"/>
              <a:buAutoNum type="alphaUcPeriod"/>
            </a:pPr>
            <a:endParaRPr lang="en-US" altLang="zh-CN" sz="2400" dirty="0"/>
          </a:p>
          <a:p>
            <a:pPr marL="914400" lvl="1" indent="-457200">
              <a:spcBef>
                <a:spcPts val="1000"/>
              </a:spcBef>
              <a:buFont typeface="+mj-lt"/>
              <a:buAutoNum type="alphaUcPeriod"/>
            </a:pPr>
            <a:endParaRPr lang="en-US" altLang="zh-CN" sz="2400" dirty="0"/>
          </a:p>
          <a:p>
            <a:pPr marL="914400" lvl="1" indent="-457200">
              <a:spcBef>
                <a:spcPts val="1000"/>
              </a:spcBef>
              <a:buFont typeface="+mj-lt"/>
              <a:buAutoNum type="alphaUcPeriod"/>
            </a:pPr>
            <a:endParaRPr lang="en-US" altLang="zh-CN" sz="2400" dirty="0"/>
          </a:p>
          <a:p>
            <a:pPr marL="914400" lvl="1" indent="-457200">
              <a:spcBef>
                <a:spcPts val="1000"/>
              </a:spcBef>
              <a:buFont typeface="+mj-lt"/>
              <a:buAutoNum type="alphaUcPeriod"/>
            </a:pPr>
            <a:endParaRPr lang="zh-CN" altLang="en-US" sz="2400" dirty="0"/>
          </a:p>
        </p:txBody>
      </p:sp>
      <p:sp>
        <p:nvSpPr>
          <p:cNvPr id="18" name="TitleBackground">
            <a:extLst>
              <a:ext uri="{FF2B5EF4-FFF2-40B4-BE49-F238E27FC236}">
                <a16:creationId xmlns:a16="http://schemas.microsoft.com/office/drawing/2014/main" id="{3A5E1CD1-6C31-4C46-A4DD-0F1A87FAC53E}"/>
              </a:ext>
            </a:extLst>
          </p:cNvPr>
          <p:cNvSpPr/>
          <p:nvPr>
            <p:custDataLst>
              <p:tags r:id="rId1"/>
            </p:custDataLst>
          </p:nvPr>
        </p:nvSpPr>
        <p:spPr>
          <a:xfrm>
            <a:off x="0" y="220436"/>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a:extLst>
              <a:ext uri="{FF2B5EF4-FFF2-40B4-BE49-F238E27FC236}">
                <a16:creationId xmlns:a16="http://schemas.microsoft.com/office/drawing/2014/main" id="{16A810D8-5192-4234-8CF5-9EBF045FD254}"/>
              </a:ext>
            </a:extLst>
          </p:cNvPr>
          <p:cNvSpPr/>
          <p:nvPr>
            <p:custDataLst>
              <p:tags r:id="rId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a:extLst>
              <a:ext uri="{FF2B5EF4-FFF2-40B4-BE49-F238E27FC236}">
                <a16:creationId xmlns:a16="http://schemas.microsoft.com/office/drawing/2014/main" id="{97A04B58-1593-4DD7-AFFB-78BA4E8F6CAD}"/>
              </a:ext>
            </a:extLst>
          </p:cNvPr>
          <p:cNvSpPr txBox="1"/>
          <p:nvPr>
            <p:custDataLst>
              <p:tags r:id="rId3"/>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rPr>
              <a:t>习题解析 答案：</a:t>
            </a:r>
            <a:r>
              <a:rPr lang="en-US" altLang="zh-CN" sz="2600" dirty="0">
                <a:solidFill>
                  <a:srgbClr val="0432FF"/>
                </a:solidFill>
                <a:latin typeface="SimHei" panose="02010609060101010101" pitchFamily="49" charset="-122"/>
                <a:ea typeface="SimHei" panose="02010609060101010101" pitchFamily="49" charset="-122"/>
                <a:sym typeface="Microsoft Yahei" panose="020B0503020204020204" pitchFamily="34" charset="-122"/>
              </a:rPr>
              <a:t>D</a:t>
            </a:r>
            <a:endParaRPr lang="zh-CN" altLang="en-US" sz="2600" dirty="0">
              <a:solidFill>
                <a:srgbClr val="0432FF"/>
              </a:solidFill>
              <a:latin typeface="SimHei" panose="02010609060101010101" pitchFamily="49" charset="-122"/>
              <a:ea typeface="SimHei" panose="02010609060101010101" pitchFamily="49" charset="-122"/>
              <a:sym typeface="Microsoft Yahei" panose="020B0503020204020204" pitchFamily="34" charset="-122"/>
            </a:endParaRPr>
          </a:p>
        </p:txBody>
      </p:sp>
    </p:spTree>
    <p:extLst>
      <p:ext uri="{BB962C8B-B14F-4D97-AF65-F5344CB8AC3E}">
        <p14:creationId xmlns:p14="http://schemas.microsoft.com/office/powerpoint/2010/main" val="466273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缓存技术基础</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26</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t>Cache</a:t>
            </a:r>
            <a:r>
              <a:rPr kumimoji="1" lang="zh-CN" altLang="en-CN" dirty="0"/>
              <a:t>特点</a:t>
            </a:r>
            <a:r>
              <a:rPr kumimoji="1" lang="zh-CN" altLang="en-US" dirty="0"/>
              <a:t>？</a:t>
            </a:r>
            <a:endParaRPr kumimoji="1" lang="en-US" altLang="zh-CN" sz="2400" dirty="0"/>
          </a:p>
          <a:p>
            <a:pPr marL="914400" lvl="1" indent="-457200">
              <a:spcBef>
                <a:spcPts val="1000"/>
              </a:spcBef>
            </a:pPr>
            <a:r>
              <a:rPr lang="zh-CN" altLang="en-US" sz="2400" dirty="0">
                <a:latin typeface="STKaiti" panose="02010600040101010101" pitchFamily="2" charset="-122"/>
                <a:ea typeface="STKaiti" panose="02010600040101010101" pitchFamily="2" charset="-122"/>
              </a:rPr>
              <a:t>容量小，访问速度快</a:t>
            </a:r>
            <a:endParaRPr lang="en-US" altLang="zh-CN" sz="2400" dirty="0">
              <a:latin typeface="STKaiti" panose="02010600040101010101" pitchFamily="2" charset="-122"/>
              <a:ea typeface="STKaiti" panose="02010600040101010101" pitchFamily="2" charset="-122"/>
            </a:endParaRPr>
          </a:p>
          <a:p>
            <a:pPr marL="914400" lvl="1" indent="-457200">
              <a:spcBef>
                <a:spcPts val="1000"/>
              </a:spcBef>
            </a:pPr>
            <a:r>
              <a:rPr lang="zh-CN" altLang="en-US" sz="2400" dirty="0">
                <a:latin typeface="STKaiti" panose="02010600040101010101" pitchFamily="2" charset="-122"/>
                <a:ea typeface="STKaiti" panose="02010600040101010101" pitchFamily="2" charset="-122"/>
              </a:rPr>
              <a:t>命中率</a:t>
            </a:r>
            <a:endParaRPr lang="en-US" altLang="zh-CN" sz="2400" dirty="0">
              <a:latin typeface="STKaiti" panose="02010600040101010101" pitchFamily="2" charset="-122"/>
              <a:ea typeface="STKaiti" panose="02010600040101010101" pitchFamily="2" charset="-122"/>
            </a:endParaRPr>
          </a:p>
          <a:p>
            <a:pPr marL="914400" lvl="1" indent="-457200">
              <a:spcBef>
                <a:spcPts val="1000"/>
              </a:spcBef>
            </a:pPr>
            <a:r>
              <a:rPr lang="zh-CN" altLang="en-US" sz="2400" dirty="0">
                <a:latin typeface="STKaiti" panose="02010600040101010101" pitchFamily="2" charset="-122"/>
                <a:ea typeface="STKaiti" panose="02010600040101010101" pitchFamily="2" charset="-122"/>
              </a:rPr>
              <a:t>临时存一部分内存数据（需要有所选择）</a:t>
            </a:r>
          </a:p>
          <a:p>
            <a:pPr marL="914400" lvl="1" indent="-457200">
              <a:spcBef>
                <a:spcPts val="1000"/>
              </a:spcBef>
            </a:pPr>
            <a:r>
              <a:rPr lang="zh-CN" altLang="en-US" sz="2400" dirty="0">
                <a:latin typeface="STKaiti" panose="02010600040101010101" pitchFamily="2" charset="-122"/>
                <a:ea typeface="STKaiti" panose="02010600040101010101" pitchFamily="2" charset="-122"/>
              </a:rPr>
              <a:t>对程序员透明</a:t>
            </a:r>
          </a:p>
          <a:p>
            <a:pPr marL="914400" lvl="1" indent="-457200">
              <a:spcBef>
                <a:spcPts val="1000"/>
              </a:spcBef>
            </a:pPr>
            <a:r>
              <a:rPr lang="zh-CN" altLang="en-US" sz="2400" dirty="0">
                <a:latin typeface="STKaiti" panose="02010600040101010101" pitchFamily="2" charset="-122"/>
                <a:ea typeface="STKaiti" panose="02010600040101010101" pitchFamily="2" charset="-122"/>
              </a:rPr>
              <a:t>与处理器就近（如在同一芯片上）集成</a:t>
            </a:r>
            <a:endParaRPr lang="en-US" altLang="zh-CN" sz="2400" dirty="0">
              <a:latin typeface="STKaiti" panose="02010600040101010101" pitchFamily="2" charset="-122"/>
              <a:ea typeface="STKaiti" panose="02010600040101010101" pitchFamily="2" charset="-122"/>
            </a:endParaRPr>
          </a:p>
          <a:p>
            <a:pPr marL="914400" lvl="1" indent="-457200">
              <a:spcBef>
                <a:spcPts val="1000"/>
              </a:spcBef>
            </a:pPr>
            <a:r>
              <a:rPr lang="zh-CN" altLang="en-US" sz="2400" dirty="0">
                <a:latin typeface="STKaiti" panose="02010600040101010101" pitchFamily="2" charset="-122"/>
                <a:ea typeface="STKaiti" panose="02010600040101010101" pitchFamily="2" charset="-122"/>
              </a:rPr>
              <a:t>包括数据</a:t>
            </a:r>
            <a:r>
              <a:rPr lang="en-US" altLang="zh-CN" sz="2400" dirty="0">
                <a:latin typeface="STKaiti" panose="02010600040101010101" pitchFamily="2" charset="-122"/>
                <a:ea typeface="STKaiti" panose="02010600040101010101" pitchFamily="2" charset="-122"/>
              </a:rPr>
              <a:t>cache</a:t>
            </a:r>
            <a:r>
              <a:rPr lang="zh-CN" altLang="en-US" sz="2400" dirty="0">
                <a:latin typeface="STKaiti" panose="02010600040101010101" pitchFamily="2" charset="-122"/>
                <a:ea typeface="STKaiti" panose="02010600040101010101" pitchFamily="2" charset="-122"/>
              </a:rPr>
              <a:t>和指令</a:t>
            </a:r>
            <a:r>
              <a:rPr lang="en-US" altLang="zh-CN" sz="2400" dirty="0">
                <a:latin typeface="STKaiti" panose="02010600040101010101" pitchFamily="2" charset="-122"/>
                <a:ea typeface="STKaiti" panose="02010600040101010101" pitchFamily="2" charset="-122"/>
              </a:rPr>
              <a:t>cache</a:t>
            </a:r>
          </a:p>
          <a:p>
            <a:pPr marL="914400" lvl="1" indent="-457200">
              <a:spcBef>
                <a:spcPts val="1000"/>
              </a:spcBef>
            </a:pPr>
            <a:r>
              <a:rPr lang="zh-CN" altLang="en-US" sz="2400" dirty="0">
                <a:latin typeface="STKaiti" panose="02010600040101010101" pitchFamily="2" charset="-122"/>
                <a:ea typeface="STKaiti" panose="02010600040101010101" pitchFamily="2" charset="-122"/>
              </a:rPr>
              <a:t>包括</a:t>
            </a:r>
            <a:r>
              <a:rPr lang="en-US" altLang="zh-CN" sz="2400" dirty="0">
                <a:latin typeface="STKaiti" panose="02010600040101010101" pitchFamily="2" charset="-122"/>
                <a:ea typeface="STKaiti" panose="02010600040101010101" pitchFamily="2" charset="-122"/>
              </a:rPr>
              <a:t>CMOS</a:t>
            </a:r>
            <a:r>
              <a:rPr lang="zh-CN" altLang="en-US" sz="2400" dirty="0">
                <a:latin typeface="STKaiti" panose="02010600040101010101" pitchFamily="2" charset="-122"/>
                <a:ea typeface="STKaiti" panose="02010600040101010101" pitchFamily="2" charset="-122"/>
              </a:rPr>
              <a:t> </a:t>
            </a:r>
            <a:r>
              <a:rPr lang="en-US" altLang="zh-CN" sz="2400" dirty="0">
                <a:latin typeface="STKaiti" panose="02010600040101010101" pitchFamily="2" charset="-122"/>
                <a:ea typeface="STKaiti" panose="02010600040101010101" pitchFamily="2" charset="-122"/>
              </a:rPr>
              <a:t>SRAM</a:t>
            </a:r>
            <a:r>
              <a:rPr lang="zh-CN" altLang="en-US" sz="2400" dirty="0">
                <a:latin typeface="STKaiti" panose="02010600040101010101" pitchFamily="2" charset="-122"/>
                <a:ea typeface="STKaiti" panose="02010600040101010101" pitchFamily="2" charset="-122"/>
              </a:rPr>
              <a:t>和其他新兴片上存储器</a:t>
            </a:r>
            <a:endParaRPr lang="en-US" altLang="zh-CN" sz="2400" dirty="0">
              <a:latin typeface="STKaiti" panose="02010600040101010101" pitchFamily="2" charset="-122"/>
              <a:ea typeface="STKaiti" panose="02010600040101010101" pitchFamily="2" charset="-122"/>
            </a:endParaRPr>
          </a:p>
          <a:p>
            <a:pPr marL="914400" lvl="1" indent="-457200">
              <a:spcBef>
                <a:spcPts val="1000"/>
              </a:spcBef>
            </a:pPr>
            <a:r>
              <a:rPr lang="zh-CN" altLang="en-US" sz="2400" dirty="0">
                <a:latin typeface="STKaiti" panose="02010600040101010101" pitchFamily="2" charset="-122"/>
                <a:ea typeface="STKaiti" panose="02010600040101010101" pitchFamily="2" charset="-122"/>
              </a:rPr>
              <a:t>其他特点</a:t>
            </a:r>
            <a:endParaRPr lang="en-US" altLang="zh-CN" sz="2400" dirty="0">
              <a:latin typeface="STKaiti" panose="02010600040101010101" pitchFamily="2" charset="-122"/>
              <a:ea typeface="STKaiti" panose="02010600040101010101" pitchFamily="2" charset="-122"/>
            </a:endParaRPr>
          </a:p>
          <a:p>
            <a:pPr marL="914400" lvl="1" indent="-457200">
              <a:spcBef>
                <a:spcPts val="1000"/>
              </a:spcBef>
            </a:pPr>
            <a:endParaRPr lang="zh-CN" altLang="en-US" sz="2400" dirty="0">
              <a:latin typeface="STKaiti" panose="02010600040101010101" pitchFamily="2" charset="-122"/>
              <a:ea typeface="STKaiti" panose="02010600040101010101" pitchFamily="2" charset="-122"/>
            </a:endParaRPr>
          </a:p>
          <a:p>
            <a:pPr marL="914400" lvl="1" indent="-457200">
              <a:spcBef>
                <a:spcPts val="1000"/>
              </a:spcBef>
            </a:pPr>
            <a:endParaRPr lang="en-US" altLang="zh-CN" sz="2400" dirty="0"/>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3117CC1A-23B3-EA20-79E8-95F0F093F856}"/>
                  </a:ext>
                </a:extLst>
              </p14:cNvPr>
              <p14:cNvContentPartPr/>
              <p14:nvPr/>
            </p14:nvContentPartPr>
            <p14:xfrm>
              <a:off x="6652440" y="2515320"/>
              <a:ext cx="360" cy="360"/>
            </p14:xfrm>
          </p:contentPart>
        </mc:Choice>
        <mc:Fallback>
          <p:pic>
            <p:nvPicPr>
              <p:cNvPr id="5" name="墨迹 4">
                <a:extLst>
                  <a:ext uri="{FF2B5EF4-FFF2-40B4-BE49-F238E27FC236}">
                    <a16:creationId xmlns:a16="http://schemas.microsoft.com/office/drawing/2014/main" id="{3117CC1A-23B3-EA20-79E8-95F0F093F856}"/>
                  </a:ext>
                </a:extLst>
              </p:cNvPr>
              <p:cNvPicPr/>
              <p:nvPr/>
            </p:nvPicPr>
            <p:blipFill>
              <a:blip r:embed="rId4"/>
              <a:stretch>
                <a:fillRect/>
              </a:stretch>
            </p:blipFill>
            <p:spPr>
              <a:xfrm>
                <a:off x="6643080" y="2505960"/>
                <a:ext cx="19080" cy="19080"/>
              </a:xfrm>
              <a:prstGeom prst="rect">
                <a:avLst/>
              </a:prstGeom>
            </p:spPr>
          </p:pic>
        </mc:Fallback>
      </mc:AlternateContent>
    </p:spTree>
    <p:extLst>
      <p:ext uri="{BB962C8B-B14F-4D97-AF65-F5344CB8AC3E}">
        <p14:creationId xmlns:p14="http://schemas.microsoft.com/office/powerpoint/2010/main" val="1630430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0"/>
            <a:ext cx="8229600" cy="4732506"/>
          </a:xfrm>
        </p:spPr>
        <p:txBody>
          <a:bodyPr/>
          <a:lstStyle/>
          <a:p>
            <a:r>
              <a:rPr lang="zh-CN" altLang="en-US" dirty="0"/>
              <a:t>复习与回顾</a:t>
            </a:r>
            <a:endParaRPr lang="en-US" altLang="zh-CN" dirty="0"/>
          </a:p>
          <a:p>
            <a:pPr marL="342900" lvl="1" indent="-342900">
              <a:buFontTx/>
              <a:buChar char="•"/>
            </a:pPr>
            <a:r>
              <a:rPr lang="zh-CN" altLang="en-US" sz="3200" dirty="0"/>
              <a:t>存储器系统基础：半导体存储器</a:t>
            </a:r>
            <a:endParaRPr lang="en-US" altLang="zh-CN" dirty="0"/>
          </a:p>
          <a:p>
            <a:r>
              <a:rPr lang="zh-CN" altLang="en-US" dirty="0"/>
              <a:t>存储器系统的设计理论</a:t>
            </a:r>
            <a:endParaRPr lang="en-US" altLang="zh-CN" dirty="0"/>
          </a:p>
          <a:p>
            <a:r>
              <a:rPr lang="en-US" altLang="zh-CN" dirty="0">
                <a:solidFill>
                  <a:srgbClr val="0432FF"/>
                </a:solidFill>
              </a:rPr>
              <a:t>Cache</a:t>
            </a:r>
            <a:r>
              <a:rPr lang="zh-CN" altLang="en-US" dirty="0">
                <a:solidFill>
                  <a:srgbClr val="0432FF"/>
                </a:solidFill>
              </a:rPr>
              <a:t>技术实现</a:t>
            </a:r>
            <a:endParaRPr lang="en-US" altLang="zh-CN" dirty="0">
              <a:solidFill>
                <a:srgbClr val="0432FF"/>
              </a:solidFill>
            </a:endParaRPr>
          </a:p>
          <a:p>
            <a:r>
              <a:rPr lang="en-US" altLang="zh-CN" dirty="0"/>
              <a:t>Cache</a:t>
            </a:r>
            <a:r>
              <a:rPr lang="zh-CN" altLang="en-US" dirty="0"/>
              <a:t>性能评估</a:t>
            </a:r>
          </a:p>
        </p:txBody>
      </p:sp>
      <p:sp>
        <p:nvSpPr>
          <p:cNvPr id="4" name="灯片编号占位符 3"/>
          <p:cNvSpPr>
            <a:spLocks noGrp="1"/>
          </p:cNvSpPr>
          <p:nvPr>
            <p:ph type="sldNum" sz="quarter" idx="12"/>
          </p:nvPr>
        </p:nvSpPr>
        <p:spPr/>
        <p:txBody>
          <a:bodyPr/>
          <a:lstStyle/>
          <a:p>
            <a:fld id="{14659731-6BD7-46E7-8D3C-2F3AC07E20B1}" type="slidenum">
              <a:rPr lang="en-US" altLang="zh-CN" smtClean="0"/>
              <a:pPr/>
              <a:t>27</a:t>
            </a:fld>
            <a:endParaRPr lang="en-US" altLang="zh-CN"/>
          </a:p>
        </p:txBody>
      </p:sp>
      <p:sp>
        <p:nvSpPr>
          <p:cNvPr id="8" name="标题 7">
            <a:extLst>
              <a:ext uri="{FF2B5EF4-FFF2-40B4-BE49-F238E27FC236}">
                <a16:creationId xmlns:a16="http://schemas.microsoft.com/office/drawing/2014/main" id="{A4AFA0D0-3ABC-9E4B-A473-CF0D454A0F50}"/>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4206035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a:t>
            </a:r>
            <a:r>
              <a:rPr lang="en-US" altLang="zh-CN" dirty="0"/>
              <a:t>Cache</a:t>
            </a:r>
            <a:r>
              <a:rPr lang="zh-CN" altLang="en-US" dirty="0"/>
              <a:t>）：技术实现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28</a:t>
            </a:fld>
            <a:endParaRPr lang="en-US" altLang="zh-CN"/>
          </a:p>
        </p:txBody>
      </p:sp>
      <p:sp>
        <p:nvSpPr>
          <p:cNvPr id="7" name="内容占位符 2">
            <a:extLst>
              <a:ext uri="{FF2B5EF4-FFF2-40B4-BE49-F238E27FC236}">
                <a16:creationId xmlns:a16="http://schemas.microsoft.com/office/drawing/2014/main" id="{44AD668E-C9A5-DB48-A89D-D4F75849297A}"/>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solidFill>
                  <a:srgbClr val="0432FF"/>
                </a:solidFill>
              </a:rPr>
              <a:t>Cache</a:t>
            </a:r>
            <a:r>
              <a:rPr kumimoji="1" lang="zh-CN" altLang="en-US" dirty="0">
                <a:solidFill>
                  <a:srgbClr val="0432FF"/>
                </a:solidFill>
              </a:rPr>
              <a:t>技术实现</a:t>
            </a:r>
            <a:endParaRPr kumimoji="1" lang="en-US" altLang="zh-CN" dirty="0">
              <a:solidFill>
                <a:srgbClr val="0432FF"/>
              </a:solidFill>
            </a:endParaRPr>
          </a:p>
          <a:p>
            <a:pPr marL="914400" lvl="1" indent="-457200">
              <a:spcBef>
                <a:spcPts val="1000"/>
              </a:spcBef>
              <a:buFont typeface="+mj-lt"/>
              <a:buAutoNum type="arabicPeriod"/>
            </a:pPr>
            <a:r>
              <a:rPr lang="en-US" altLang="zh-CN" sz="2400" dirty="0">
                <a:solidFill>
                  <a:srgbClr val="0432FF"/>
                </a:solidFill>
              </a:rPr>
              <a:t>Cache</a:t>
            </a:r>
            <a:r>
              <a:rPr lang="zh-CN" altLang="en-US" sz="2400" dirty="0">
                <a:solidFill>
                  <a:srgbClr val="0432FF"/>
                </a:solidFill>
              </a:rPr>
              <a:t>基本结构</a:t>
            </a:r>
          </a:p>
          <a:p>
            <a:pPr marL="1314450" lvl="2" indent="-457200">
              <a:spcBef>
                <a:spcPts val="1000"/>
              </a:spcBef>
              <a:buFont typeface="Wingdings" pitchFamily="2" charset="2"/>
              <a:buChar char="Ø"/>
            </a:pPr>
            <a:r>
              <a:rPr lang="en-US" altLang="zh-CN" sz="2000" dirty="0">
                <a:solidFill>
                  <a:srgbClr val="0432FF"/>
                </a:solidFill>
              </a:rPr>
              <a:t>Cache</a:t>
            </a:r>
            <a:r>
              <a:rPr lang="zh-CN" altLang="en-US" sz="2000" dirty="0">
                <a:solidFill>
                  <a:srgbClr val="0432FF"/>
                </a:solidFill>
              </a:rPr>
              <a:t>的存储体结构、寻址流程</a:t>
            </a:r>
          </a:p>
          <a:p>
            <a:pPr marL="914400" lvl="1" indent="-457200">
              <a:spcBef>
                <a:spcPts val="1000"/>
              </a:spcBef>
              <a:buFont typeface="+mj-lt"/>
              <a:buAutoNum type="arabicPeriod"/>
            </a:pPr>
            <a:r>
              <a:rPr lang="en-US" altLang="zh-CN" sz="2400" dirty="0"/>
              <a:t>Cache</a:t>
            </a:r>
            <a:r>
              <a:rPr lang="zh-CN" altLang="en-US" sz="2400" dirty="0"/>
              <a:t>地址映像方式</a:t>
            </a:r>
          </a:p>
          <a:p>
            <a:pPr marL="1314450" lvl="2" indent="-457200">
              <a:spcBef>
                <a:spcPts val="1000"/>
              </a:spcBef>
              <a:buFont typeface="Wingdings" pitchFamily="2" charset="2"/>
              <a:buChar char="Ø"/>
            </a:pPr>
            <a:r>
              <a:rPr lang="zh-CN" altLang="en-US" sz="2000" dirty="0"/>
              <a:t>直接映像、全相连映像、组相联映像</a:t>
            </a:r>
          </a:p>
          <a:p>
            <a:pPr marL="914400" lvl="1" indent="-457200">
              <a:spcBef>
                <a:spcPts val="1000"/>
              </a:spcBef>
              <a:buFont typeface="+mj-lt"/>
              <a:buAutoNum type="arabicPeriod"/>
            </a:pPr>
            <a:r>
              <a:rPr lang="en-US" altLang="zh-CN" sz="2400" dirty="0"/>
              <a:t>Cache</a:t>
            </a:r>
            <a:r>
              <a:rPr lang="zh-CN" altLang="en-US" sz="2400" dirty="0"/>
              <a:t>数据的替换及更新</a:t>
            </a:r>
          </a:p>
          <a:p>
            <a:pPr marL="914400" lvl="1" indent="-457200">
              <a:spcBef>
                <a:spcPts val="1000"/>
              </a:spcBef>
              <a:buFont typeface="+mj-lt"/>
              <a:buAutoNum type="arabicPeriod"/>
            </a:pPr>
            <a:r>
              <a:rPr lang="en-US" altLang="zh-CN" sz="2400" dirty="0"/>
              <a:t>Cache</a:t>
            </a:r>
            <a:r>
              <a:rPr lang="zh-CN" altLang="en-US" sz="2400" dirty="0"/>
              <a:t>的作用</a:t>
            </a:r>
            <a:endParaRPr lang="en-US" altLang="zh-CN" sz="2400" dirty="0"/>
          </a:p>
        </p:txBody>
      </p:sp>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5FD8A574-FE2D-2E09-AC91-8FBC93678F84}"/>
                  </a:ext>
                </a:extLst>
              </p14:cNvPr>
              <p14:cNvContentPartPr/>
              <p14:nvPr/>
            </p14:nvContentPartPr>
            <p14:xfrm>
              <a:off x="6046560" y="2140200"/>
              <a:ext cx="360" cy="360"/>
            </p14:xfrm>
          </p:contentPart>
        </mc:Choice>
        <mc:Fallback xmlns="">
          <p:pic>
            <p:nvPicPr>
              <p:cNvPr id="4" name="墨迹 3">
                <a:extLst>
                  <a:ext uri="{FF2B5EF4-FFF2-40B4-BE49-F238E27FC236}">
                    <a16:creationId xmlns:a16="http://schemas.microsoft.com/office/drawing/2014/main" id="{5FD8A574-FE2D-2E09-AC91-8FBC93678F84}"/>
                  </a:ext>
                </a:extLst>
              </p:cNvPr>
              <p:cNvPicPr/>
              <p:nvPr/>
            </p:nvPicPr>
            <p:blipFill>
              <a:blip r:embed="rId4"/>
              <a:stretch>
                <a:fillRect/>
              </a:stretch>
            </p:blipFill>
            <p:spPr>
              <a:xfrm>
                <a:off x="6037200" y="2130840"/>
                <a:ext cx="19080" cy="19080"/>
              </a:xfrm>
              <a:prstGeom prst="rect">
                <a:avLst/>
              </a:prstGeom>
            </p:spPr>
          </p:pic>
        </mc:Fallback>
      </mc:AlternateContent>
    </p:spTree>
    <p:extLst>
      <p:ext uri="{BB962C8B-B14F-4D97-AF65-F5344CB8AC3E}">
        <p14:creationId xmlns:p14="http://schemas.microsoft.com/office/powerpoint/2010/main" val="43635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3682B1-28B7-0E4B-B2D7-F29E7C8ABAD4}"/>
              </a:ext>
            </a:extLst>
          </p:cNvPr>
          <p:cNvSpPr>
            <a:spLocks noGrp="1"/>
          </p:cNvSpPr>
          <p:nvPr>
            <p:ph type="sldNum" sz="quarter" idx="12"/>
          </p:nvPr>
        </p:nvSpPr>
        <p:spPr/>
        <p:txBody>
          <a:bodyPr/>
          <a:lstStyle/>
          <a:p>
            <a:fld id="{14659731-6BD7-46E7-8D3C-2F3AC07E20B1}" type="slidenum">
              <a:rPr lang="en-US" altLang="zh-CN" smtClean="0"/>
              <a:pPr/>
              <a:t>29</a:t>
            </a:fld>
            <a:endParaRPr lang="en-US" altLang="zh-CN"/>
          </a:p>
        </p:txBody>
      </p:sp>
      <p:sp>
        <p:nvSpPr>
          <p:cNvPr id="7" name="Rectangle 6">
            <a:extLst>
              <a:ext uri="{FF2B5EF4-FFF2-40B4-BE49-F238E27FC236}">
                <a16:creationId xmlns:a16="http://schemas.microsoft.com/office/drawing/2014/main" id="{A1B355EB-E7F7-D24A-B98A-DB7201DD20ED}"/>
              </a:ext>
            </a:extLst>
          </p:cNvPr>
          <p:cNvSpPr/>
          <p:nvPr/>
        </p:nvSpPr>
        <p:spPr>
          <a:xfrm>
            <a:off x="1804954" y="1613106"/>
            <a:ext cx="5087202" cy="369332"/>
          </a:xfrm>
          <a:prstGeom prst="rect">
            <a:avLst/>
          </a:prstGeom>
        </p:spPr>
        <p:txBody>
          <a:bodyPr wrap="square">
            <a:spAutoFit/>
          </a:bodyPr>
          <a:lstStyle/>
          <a:p>
            <a:pPr algn="ctr"/>
            <a:r>
              <a:rPr lang="zh-CN" altLang="en-US" b="1" dirty="0">
                <a:latin typeface="+mn-lt"/>
                <a:ea typeface="+mn-ea"/>
              </a:rPr>
              <a:t>基本概念</a:t>
            </a:r>
            <a:r>
              <a:rPr lang="en-US" altLang="zh-CN" b="1" dirty="0">
                <a:latin typeface="+mn-lt"/>
                <a:ea typeface="+mn-ea"/>
              </a:rPr>
              <a:t>: </a:t>
            </a:r>
            <a:r>
              <a:rPr lang="zh-CN" altLang="en-US" b="1" dirty="0">
                <a:latin typeface="+mn-lt"/>
                <a:ea typeface="+mn-ea"/>
              </a:rPr>
              <a:t>块（</a:t>
            </a:r>
            <a:r>
              <a:rPr lang="en-US" altLang="zh-CN" b="1" dirty="0">
                <a:solidFill>
                  <a:srgbClr val="0432FF"/>
                </a:solidFill>
                <a:latin typeface="+mn-lt"/>
                <a:ea typeface="+mn-ea"/>
              </a:rPr>
              <a:t>Block</a:t>
            </a:r>
            <a:r>
              <a:rPr lang="zh-CN" altLang="en-US" b="1" dirty="0">
                <a:solidFill>
                  <a:srgbClr val="0432FF"/>
                </a:solidFill>
                <a:latin typeface="+mn-lt"/>
                <a:ea typeface="+mn-ea"/>
              </a:rPr>
              <a:t>）</a:t>
            </a:r>
            <a:r>
              <a:rPr lang="en-US" altLang="zh-CN" b="1" dirty="0">
                <a:latin typeface="+mn-lt"/>
                <a:ea typeface="+mn-ea"/>
              </a:rPr>
              <a:t> </a:t>
            </a:r>
            <a:r>
              <a:rPr lang="zh-CN" altLang="en-US" b="1" dirty="0">
                <a:latin typeface="+mn-lt"/>
                <a:ea typeface="+mn-ea"/>
              </a:rPr>
              <a:t>、行（</a:t>
            </a:r>
            <a:r>
              <a:rPr lang="en-US" altLang="zh-CN" b="1" dirty="0">
                <a:latin typeface="+mn-lt"/>
                <a:ea typeface="+mn-ea"/>
              </a:rPr>
              <a:t> </a:t>
            </a:r>
            <a:r>
              <a:rPr lang="en-US" altLang="zh-CN" b="1" dirty="0">
                <a:solidFill>
                  <a:srgbClr val="00B050"/>
                </a:solidFill>
                <a:latin typeface="+mn-lt"/>
                <a:ea typeface="+mn-ea"/>
              </a:rPr>
              <a:t>Line</a:t>
            </a:r>
            <a:r>
              <a:rPr lang="zh-CN" altLang="en-US" b="1" dirty="0">
                <a:solidFill>
                  <a:srgbClr val="00B050"/>
                </a:solidFill>
                <a:latin typeface="+mn-lt"/>
                <a:ea typeface="+mn-ea"/>
              </a:rPr>
              <a:t>）</a:t>
            </a:r>
            <a:endParaRPr lang="en-CN" dirty="0">
              <a:solidFill>
                <a:srgbClr val="00B050"/>
              </a:solidFill>
              <a:latin typeface="+mn-lt"/>
              <a:ea typeface="+mn-ea"/>
            </a:endParaRPr>
          </a:p>
        </p:txBody>
      </p:sp>
      <p:sp>
        <p:nvSpPr>
          <p:cNvPr id="62" name="标题 1">
            <a:extLst>
              <a:ext uri="{FF2B5EF4-FFF2-40B4-BE49-F238E27FC236}">
                <a16:creationId xmlns:a16="http://schemas.microsoft.com/office/drawing/2014/main" id="{2128E20E-6ABF-4612-8EE0-CC1B176C11E4}"/>
              </a:ext>
            </a:extLst>
          </p:cNvPr>
          <p:cNvSpPr>
            <a:spLocks noGrp="1"/>
          </p:cNvSpPr>
          <p:nvPr>
            <p:ph type="title"/>
          </p:nvPr>
        </p:nvSpPr>
        <p:spPr>
          <a:xfrm>
            <a:off x="457200" y="136525"/>
            <a:ext cx="8229600" cy="1143000"/>
          </a:xfrm>
        </p:spPr>
        <p:txBody>
          <a:bodyPr/>
          <a:lstStyle/>
          <a:p>
            <a:r>
              <a:rPr lang="zh-CN" altLang="en-US" dirty="0"/>
              <a:t>缓存技术：</a:t>
            </a:r>
            <a:r>
              <a:rPr lang="en-US" altLang="zh-CN" dirty="0"/>
              <a:t>Cache</a:t>
            </a:r>
            <a:r>
              <a:rPr lang="zh-CN" altLang="en-US" dirty="0"/>
              <a:t>存储体</a:t>
            </a:r>
            <a:endParaRPr lang="zh-CN" altLang="en-US" dirty="0">
              <a:latin typeface="+mn-lt"/>
            </a:endParaRPr>
          </a:p>
        </p:txBody>
      </p:sp>
      <p:sp>
        <p:nvSpPr>
          <p:cNvPr id="3" name="Rectangle 6">
            <a:extLst>
              <a:ext uri="{FF2B5EF4-FFF2-40B4-BE49-F238E27FC236}">
                <a16:creationId xmlns:a16="http://schemas.microsoft.com/office/drawing/2014/main" id="{D4A54DC3-9DFA-B35A-8A36-6A44911EFA44}"/>
              </a:ext>
            </a:extLst>
          </p:cNvPr>
          <p:cNvSpPr/>
          <p:nvPr/>
        </p:nvSpPr>
        <p:spPr>
          <a:xfrm>
            <a:off x="1114816" y="2847816"/>
            <a:ext cx="2638688" cy="369332"/>
          </a:xfrm>
          <a:prstGeom prst="rect">
            <a:avLst/>
          </a:prstGeom>
        </p:spPr>
        <p:txBody>
          <a:bodyPr wrap="square">
            <a:spAutoFit/>
          </a:bodyPr>
          <a:lstStyle/>
          <a:p>
            <a:pPr algn="ctr"/>
            <a:r>
              <a:rPr lang="en-US" altLang="zh-CN" b="1" dirty="0">
                <a:solidFill>
                  <a:srgbClr val="0432FF"/>
                </a:solidFill>
                <a:latin typeface="+mj-lt"/>
              </a:rPr>
              <a:t>Main memory</a:t>
            </a:r>
            <a:endParaRPr lang="en-CN" dirty="0">
              <a:solidFill>
                <a:srgbClr val="0432FF"/>
              </a:solidFill>
              <a:latin typeface="+mj-lt"/>
            </a:endParaRPr>
          </a:p>
        </p:txBody>
      </p:sp>
      <p:sp>
        <p:nvSpPr>
          <p:cNvPr id="12" name="Rectangle 6">
            <a:extLst>
              <a:ext uri="{FF2B5EF4-FFF2-40B4-BE49-F238E27FC236}">
                <a16:creationId xmlns:a16="http://schemas.microsoft.com/office/drawing/2014/main" id="{7E5BEB51-975B-8AC1-E929-A24CF6B21701}"/>
              </a:ext>
            </a:extLst>
          </p:cNvPr>
          <p:cNvSpPr/>
          <p:nvPr/>
        </p:nvSpPr>
        <p:spPr>
          <a:xfrm>
            <a:off x="5572812" y="2847816"/>
            <a:ext cx="2638688" cy="369332"/>
          </a:xfrm>
          <a:prstGeom prst="rect">
            <a:avLst/>
          </a:prstGeom>
        </p:spPr>
        <p:txBody>
          <a:bodyPr wrap="square">
            <a:spAutoFit/>
          </a:bodyPr>
          <a:lstStyle/>
          <a:p>
            <a:pPr algn="ctr"/>
            <a:r>
              <a:rPr lang="en-US" altLang="zh-CN" b="1" dirty="0">
                <a:solidFill>
                  <a:srgbClr val="00B050"/>
                </a:solidFill>
                <a:latin typeface="+mj-lt"/>
              </a:rPr>
              <a:t>Cache</a:t>
            </a:r>
            <a:endParaRPr lang="en-CN" dirty="0">
              <a:solidFill>
                <a:srgbClr val="00B050"/>
              </a:solidFill>
              <a:latin typeface="+mj-lt"/>
            </a:endParaRPr>
          </a:p>
        </p:txBody>
      </p:sp>
      <p:sp>
        <p:nvSpPr>
          <p:cNvPr id="13" name="Rectangle 6">
            <a:extLst>
              <a:ext uri="{FF2B5EF4-FFF2-40B4-BE49-F238E27FC236}">
                <a16:creationId xmlns:a16="http://schemas.microsoft.com/office/drawing/2014/main" id="{F84DFE06-7763-6855-17FA-F2869FAA42F7}"/>
              </a:ext>
            </a:extLst>
          </p:cNvPr>
          <p:cNvSpPr/>
          <p:nvPr/>
        </p:nvSpPr>
        <p:spPr>
          <a:xfrm>
            <a:off x="2119557" y="2092980"/>
            <a:ext cx="5087202" cy="369332"/>
          </a:xfrm>
          <a:prstGeom prst="rect">
            <a:avLst/>
          </a:prstGeom>
        </p:spPr>
        <p:txBody>
          <a:bodyPr wrap="square">
            <a:spAutoFit/>
          </a:bodyPr>
          <a:lstStyle/>
          <a:p>
            <a:pPr algn="ctr"/>
            <a:r>
              <a:rPr kumimoji="0" lang="zh-CN" altLang="en-US" sz="1800" u="none" strike="noStrike" kern="1200" cap="none" spc="0" normalizeH="0" baseline="0" noProof="0" dirty="0">
                <a:ln>
                  <a:noFill/>
                </a:ln>
                <a:effectLst/>
                <a:uLnTx/>
                <a:uFillTx/>
                <a:latin typeface="SimHei" panose="02010609060101010101" pitchFamily="49" charset="-122"/>
                <a:ea typeface="SimHei" panose="02010609060101010101" pitchFamily="49" charset="-122"/>
                <a:cs typeface="+mn-cs"/>
              </a:rPr>
              <a:t>数据传输以块</a:t>
            </a:r>
            <a:r>
              <a:rPr kumimoji="0" lang="en-US" altLang="zh-CN" sz="1800" u="none" strike="noStrike" kern="1200" cap="none" spc="0" normalizeH="0" baseline="0" noProof="0" dirty="0">
                <a:ln>
                  <a:noFill/>
                </a:ln>
                <a:effectLst/>
                <a:uLnTx/>
                <a:uFillTx/>
                <a:latin typeface="SimHei" panose="02010609060101010101" pitchFamily="49" charset="-122"/>
                <a:ea typeface="SimHei" panose="02010609060101010101" pitchFamily="49" charset="-122"/>
                <a:cs typeface="+mn-cs"/>
              </a:rPr>
              <a:t>(</a:t>
            </a:r>
            <a:r>
              <a:rPr kumimoji="0" lang="zh-CN" altLang="en-US" sz="1800" u="none" strike="noStrike" kern="1200" cap="none" spc="0" normalizeH="0" baseline="0" noProof="0" dirty="0">
                <a:ln>
                  <a:noFill/>
                </a:ln>
                <a:effectLst/>
                <a:uLnTx/>
                <a:uFillTx/>
                <a:latin typeface="SimHei" panose="02010609060101010101" pitchFamily="49" charset="-122"/>
                <a:ea typeface="SimHei" panose="02010609060101010101" pitchFamily="49" charset="-122"/>
                <a:cs typeface="+mn-cs"/>
              </a:rPr>
              <a:t>或行</a:t>
            </a:r>
            <a:r>
              <a:rPr kumimoji="0" lang="en-US" altLang="zh-CN" sz="1800" u="none" strike="noStrike" kern="1200" cap="none" spc="0" normalizeH="0" baseline="0" noProof="0" dirty="0">
                <a:ln>
                  <a:noFill/>
                </a:ln>
                <a:effectLst/>
                <a:uLnTx/>
                <a:uFillTx/>
                <a:latin typeface="SimHei" panose="02010609060101010101" pitchFamily="49" charset="-122"/>
                <a:ea typeface="SimHei" panose="02010609060101010101" pitchFamily="49" charset="-122"/>
                <a:cs typeface="+mn-cs"/>
              </a:rPr>
              <a:t>)</a:t>
            </a:r>
            <a:r>
              <a:rPr kumimoji="0" lang="zh-CN" altLang="en-US" sz="1800" u="none" strike="noStrike" kern="1200" cap="none" spc="0" normalizeH="0" baseline="0" noProof="0" dirty="0">
                <a:ln>
                  <a:noFill/>
                </a:ln>
                <a:effectLst/>
                <a:uLnTx/>
                <a:uFillTx/>
                <a:latin typeface="SimHei" panose="02010609060101010101" pitchFamily="49" charset="-122"/>
                <a:ea typeface="SimHei" panose="02010609060101010101" pitchFamily="49" charset="-122"/>
                <a:cs typeface="+mn-cs"/>
              </a:rPr>
              <a:t>为单位</a:t>
            </a:r>
            <a:endParaRPr lang="en-CN" dirty="0">
              <a:latin typeface="+mj-lt"/>
            </a:endParaRPr>
          </a:p>
        </p:txBody>
      </p:sp>
      <p:sp>
        <p:nvSpPr>
          <p:cNvPr id="15" name="Rectangle 2">
            <a:extLst>
              <a:ext uri="{FF2B5EF4-FFF2-40B4-BE49-F238E27FC236}">
                <a16:creationId xmlns:a16="http://schemas.microsoft.com/office/drawing/2014/main" id="{D840B9DA-7F8A-EBBB-87C3-EB30014C2B19}"/>
              </a:ext>
            </a:extLst>
          </p:cNvPr>
          <p:cNvSpPr>
            <a:spLocks noChangeArrowheads="1"/>
          </p:cNvSpPr>
          <p:nvPr/>
        </p:nvSpPr>
        <p:spPr bwMode="auto">
          <a:xfrm>
            <a:off x="-1715505" y="3455154"/>
            <a:ext cx="206692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a:solidFill>
                  <a:srgbClr val="000000"/>
                </a:solidFill>
                <a:latin typeface="Times New Roman" pitchFamily="18" charset="0"/>
              </a:rPr>
              <a:t>                               </a:t>
            </a:r>
            <a:endParaRPr lang="zh-CN" altLang="en-US" sz="1400" b="1">
              <a:solidFill>
                <a:schemeClr val="folHlink"/>
              </a:solidFill>
              <a:latin typeface="Times New Roman" pitchFamily="18" charset="0"/>
            </a:endParaRPr>
          </a:p>
        </p:txBody>
      </p:sp>
      <p:sp>
        <p:nvSpPr>
          <p:cNvPr id="17" name="Rectangle 4">
            <a:extLst>
              <a:ext uri="{FF2B5EF4-FFF2-40B4-BE49-F238E27FC236}">
                <a16:creationId xmlns:a16="http://schemas.microsoft.com/office/drawing/2014/main" id="{5042CA5A-0A2C-8DCE-FF11-084E6D6C066D}"/>
              </a:ext>
            </a:extLst>
          </p:cNvPr>
          <p:cNvSpPr>
            <a:spLocks noChangeArrowheads="1"/>
          </p:cNvSpPr>
          <p:nvPr/>
        </p:nvSpPr>
        <p:spPr bwMode="auto">
          <a:xfrm>
            <a:off x="-1715505" y="3829804"/>
            <a:ext cx="20002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b="1">
                <a:latin typeface="Times New Roman" pitchFamily="18" charset="0"/>
              </a:rPr>
              <a:t>   </a:t>
            </a:r>
            <a:endParaRPr lang="zh-CN" altLang="en-US" sz="1400" b="1">
              <a:latin typeface="Times New Roman" pitchFamily="18" charset="0"/>
            </a:endParaRPr>
          </a:p>
        </p:txBody>
      </p:sp>
      <p:grpSp>
        <p:nvGrpSpPr>
          <p:cNvPr id="69" name="组合 68">
            <a:extLst>
              <a:ext uri="{FF2B5EF4-FFF2-40B4-BE49-F238E27FC236}">
                <a16:creationId xmlns:a16="http://schemas.microsoft.com/office/drawing/2014/main" id="{C6A9896C-CCE4-0714-6D7B-FB516D79C0F8}"/>
              </a:ext>
            </a:extLst>
          </p:cNvPr>
          <p:cNvGrpSpPr/>
          <p:nvPr/>
        </p:nvGrpSpPr>
        <p:grpSpPr>
          <a:xfrm>
            <a:off x="1370513" y="3284006"/>
            <a:ext cx="2028825" cy="3317875"/>
            <a:chOff x="1370513" y="3284006"/>
            <a:chExt cx="2028825" cy="3317875"/>
          </a:xfrm>
        </p:grpSpPr>
        <p:sp>
          <p:nvSpPr>
            <p:cNvPr id="19" name="Rectangle 6">
              <a:extLst>
                <a:ext uri="{FF2B5EF4-FFF2-40B4-BE49-F238E27FC236}">
                  <a16:creationId xmlns:a16="http://schemas.microsoft.com/office/drawing/2014/main" id="{76A6059F-3AAE-A071-E563-D59E9A3510BA}"/>
                </a:ext>
              </a:extLst>
            </p:cNvPr>
            <p:cNvSpPr>
              <a:spLocks noChangeArrowheads="1"/>
            </p:cNvSpPr>
            <p:nvPr/>
          </p:nvSpPr>
          <p:spPr bwMode="auto">
            <a:xfrm>
              <a:off x="1370513" y="3284006"/>
              <a:ext cx="2028825" cy="430213"/>
            </a:xfrm>
            <a:prstGeom prst="rect">
              <a:avLst/>
            </a:prstGeom>
            <a:solidFill>
              <a:srgbClr val="CCFFFF"/>
            </a:solidFill>
            <a:ln w="17463">
              <a:solidFill>
                <a:srgbClr val="000000"/>
              </a:solidFill>
              <a:miter lim="800000"/>
              <a:headEnd/>
              <a:tailEnd/>
            </a:ln>
          </p:spPr>
          <p:txBody>
            <a:bodyPr/>
            <a:lstStyle/>
            <a:p>
              <a:endParaRPr lang="zh-CN" altLang="en-US"/>
            </a:p>
          </p:txBody>
        </p:sp>
        <p:sp>
          <p:nvSpPr>
            <p:cNvPr id="20" name="Rectangle 10">
              <a:extLst>
                <a:ext uri="{FF2B5EF4-FFF2-40B4-BE49-F238E27FC236}">
                  <a16:creationId xmlns:a16="http://schemas.microsoft.com/office/drawing/2014/main" id="{68F211D1-55FF-167D-AFC1-420A3E99583A}"/>
                </a:ext>
              </a:extLst>
            </p:cNvPr>
            <p:cNvSpPr>
              <a:spLocks noChangeArrowheads="1"/>
            </p:cNvSpPr>
            <p:nvPr/>
          </p:nvSpPr>
          <p:spPr bwMode="auto">
            <a:xfrm>
              <a:off x="1370513" y="3695169"/>
              <a:ext cx="2028825" cy="392112"/>
            </a:xfrm>
            <a:prstGeom prst="rect">
              <a:avLst/>
            </a:prstGeom>
            <a:solidFill>
              <a:srgbClr val="CCFFFF"/>
            </a:solidFill>
            <a:ln w="17463">
              <a:solidFill>
                <a:srgbClr val="000000"/>
              </a:solidFill>
              <a:miter lim="800000"/>
              <a:headEnd/>
              <a:tailEnd/>
            </a:ln>
          </p:spPr>
          <p:txBody>
            <a:bodyPr/>
            <a:lstStyle/>
            <a:p>
              <a:endParaRPr lang="zh-CN" altLang="en-US"/>
            </a:p>
          </p:txBody>
        </p:sp>
        <p:sp>
          <p:nvSpPr>
            <p:cNvPr id="22" name="Rectangle 18">
              <a:extLst>
                <a:ext uri="{FF2B5EF4-FFF2-40B4-BE49-F238E27FC236}">
                  <a16:creationId xmlns:a16="http://schemas.microsoft.com/office/drawing/2014/main" id="{F71B3701-DE53-5CFB-177F-DC53DDCAD3F9}"/>
                </a:ext>
              </a:extLst>
            </p:cNvPr>
            <p:cNvSpPr>
              <a:spLocks noChangeArrowheads="1"/>
            </p:cNvSpPr>
            <p:nvPr/>
          </p:nvSpPr>
          <p:spPr bwMode="auto">
            <a:xfrm>
              <a:off x="1370513" y="4069819"/>
              <a:ext cx="2028825" cy="2085975"/>
            </a:xfrm>
            <a:prstGeom prst="rect">
              <a:avLst/>
            </a:prstGeom>
            <a:solidFill>
              <a:srgbClr val="CCFFFF"/>
            </a:solidFill>
            <a:ln w="17463">
              <a:solidFill>
                <a:srgbClr val="000000"/>
              </a:solidFill>
              <a:miter lim="800000"/>
              <a:headEnd/>
              <a:tailEnd/>
            </a:ln>
          </p:spPr>
          <p:txBody>
            <a:bodyPr/>
            <a:lstStyle/>
            <a:p>
              <a:endParaRPr lang="zh-CN" altLang="en-US"/>
            </a:p>
          </p:txBody>
        </p:sp>
        <p:sp>
          <p:nvSpPr>
            <p:cNvPr id="23" name="Rectangle 19">
              <a:extLst>
                <a:ext uri="{FF2B5EF4-FFF2-40B4-BE49-F238E27FC236}">
                  <a16:creationId xmlns:a16="http://schemas.microsoft.com/office/drawing/2014/main" id="{809ED379-9B2B-FBEA-46AF-F8F4A44D88C7}"/>
                </a:ext>
              </a:extLst>
            </p:cNvPr>
            <p:cNvSpPr>
              <a:spLocks noChangeArrowheads="1"/>
            </p:cNvSpPr>
            <p:nvPr/>
          </p:nvSpPr>
          <p:spPr bwMode="auto">
            <a:xfrm>
              <a:off x="2193509" y="4747681"/>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b="1">
                  <a:latin typeface="Times New Roman" pitchFamily="18" charset="0"/>
                </a:rPr>
                <a:t>…</a:t>
              </a:r>
              <a:endParaRPr lang="en-US" altLang="zh-CN" sz="1400" b="1">
                <a:latin typeface="Times New Roman" pitchFamily="18" charset="0"/>
              </a:endParaRPr>
            </a:p>
          </p:txBody>
        </p:sp>
        <p:sp>
          <p:nvSpPr>
            <p:cNvPr id="28" name="Rectangle 32">
              <a:extLst>
                <a:ext uri="{FF2B5EF4-FFF2-40B4-BE49-F238E27FC236}">
                  <a16:creationId xmlns:a16="http://schemas.microsoft.com/office/drawing/2014/main" id="{C0DEB854-0EBC-123A-0D1D-DAD9D98EFD48}"/>
                </a:ext>
              </a:extLst>
            </p:cNvPr>
            <p:cNvSpPr>
              <a:spLocks noChangeArrowheads="1"/>
            </p:cNvSpPr>
            <p:nvPr/>
          </p:nvSpPr>
          <p:spPr bwMode="auto">
            <a:xfrm>
              <a:off x="1370513" y="6155794"/>
              <a:ext cx="2028825" cy="446087"/>
            </a:xfrm>
            <a:prstGeom prst="rect">
              <a:avLst/>
            </a:prstGeom>
            <a:solidFill>
              <a:srgbClr val="CCFFFF"/>
            </a:solidFill>
            <a:ln w="17463">
              <a:solidFill>
                <a:srgbClr val="000000"/>
              </a:solidFill>
              <a:miter lim="800000"/>
              <a:headEnd/>
              <a:tailEnd/>
            </a:ln>
          </p:spPr>
          <p:txBody>
            <a:bodyPr/>
            <a:lstStyle/>
            <a:p>
              <a:endParaRPr lang="zh-CN" altLang="en-US"/>
            </a:p>
          </p:txBody>
        </p:sp>
        <p:sp>
          <p:nvSpPr>
            <p:cNvPr id="29" name="Rectangle 35">
              <a:extLst>
                <a:ext uri="{FF2B5EF4-FFF2-40B4-BE49-F238E27FC236}">
                  <a16:creationId xmlns:a16="http://schemas.microsoft.com/office/drawing/2014/main" id="{E841A1B4-C380-8F17-7AAC-8E4967441AC0}"/>
                </a:ext>
              </a:extLst>
            </p:cNvPr>
            <p:cNvSpPr>
              <a:spLocks noChangeArrowheads="1"/>
            </p:cNvSpPr>
            <p:nvPr/>
          </p:nvSpPr>
          <p:spPr bwMode="auto">
            <a:xfrm>
              <a:off x="2309396" y="6209769"/>
              <a:ext cx="6667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b="1">
                  <a:latin typeface="Times New Roman" pitchFamily="18" charset="0"/>
                </a:rPr>
                <a:t> </a:t>
              </a:r>
              <a:endParaRPr lang="zh-CN" altLang="en-US" sz="1400" b="1">
                <a:latin typeface="Times New Roman" pitchFamily="18" charset="0"/>
              </a:endParaRPr>
            </a:p>
          </p:txBody>
        </p:sp>
        <p:sp>
          <p:nvSpPr>
            <p:cNvPr id="45" name="Rectangle 8">
              <a:extLst>
                <a:ext uri="{FF2B5EF4-FFF2-40B4-BE49-F238E27FC236}">
                  <a16:creationId xmlns:a16="http://schemas.microsoft.com/office/drawing/2014/main" id="{206D07E1-4F8F-713E-A36B-6C44DF535DA0}"/>
                </a:ext>
              </a:extLst>
            </p:cNvPr>
            <p:cNvSpPr>
              <a:spLocks noChangeArrowheads="1"/>
            </p:cNvSpPr>
            <p:nvPr/>
          </p:nvSpPr>
          <p:spPr bwMode="auto">
            <a:xfrm>
              <a:off x="1966503" y="3342646"/>
              <a:ext cx="81913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j-lt"/>
                  <a:ea typeface="+mn-ea"/>
                </a:rPr>
                <a:t>Block 0</a:t>
              </a:r>
              <a:endParaRPr lang="en-US" altLang="zh-CN" sz="1400" b="1" dirty="0">
                <a:latin typeface="+mj-lt"/>
                <a:ea typeface="+mn-ea"/>
              </a:endParaRPr>
            </a:p>
          </p:txBody>
        </p:sp>
        <p:sp>
          <p:nvSpPr>
            <p:cNvPr id="64" name="Rectangle 8">
              <a:extLst>
                <a:ext uri="{FF2B5EF4-FFF2-40B4-BE49-F238E27FC236}">
                  <a16:creationId xmlns:a16="http://schemas.microsoft.com/office/drawing/2014/main" id="{55AC28E6-B3F5-55BC-FE16-7D550EFB4F08}"/>
                </a:ext>
              </a:extLst>
            </p:cNvPr>
            <p:cNvSpPr>
              <a:spLocks noChangeArrowheads="1"/>
            </p:cNvSpPr>
            <p:nvPr/>
          </p:nvSpPr>
          <p:spPr bwMode="auto">
            <a:xfrm>
              <a:off x="1974556" y="3728119"/>
              <a:ext cx="82073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j-lt"/>
                  <a:ea typeface="+mn-ea"/>
                </a:rPr>
                <a:t>Block 1</a:t>
              </a:r>
              <a:endParaRPr lang="en-US" altLang="zh-CN" sz="1400" b="1" dirty="0">
                <a:latin typeface="+mj-lt"/>
                <a:ea typeface="+mn-ea"/>
              </a:endParaRPr>
            </a:p>
          </p:txBody>
        </p:sp>
        <p:sp>
          <p:nvSpPr>
            <p:cNvPr id="65" name="Rectangle 8">
              <a:extLst>
                <a:ext uri="{FF2B5EF4-FFF2-40B4-BE49-F238E27FC236}">
                  <a16:creationId xmlns:a16="http://schemas.microsoft.com/office/drawing/2014/main" id="{85D9035D-0CE7-A059-1585-C7580E78505B}"/>
                </a:ext>
              </a:extLst>
            </p:cNvPr>
            <p:cNvSpPr>
              <a:spLocks noChangeArrowheads="1"/>
            </p:cNvSpPr>
            <p:nvPr/>
          </p:nvSpPr>
          <p:spPr bwMode="auto">
            <a:xfrm>
              <a:off x="1843874" y="6253445"/>
              <a:ext cx="103874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j-lt"/>
                  <a:ea typeface="+mn-ea"/>
                </a:rPr>
                <a:t>Block L-1</a:t>
              </a:r>
              <a:endParaRPr lang="en-US" altLang="zh-CN" sz="1400" b="1" dirty="0">
                <a:latin typeface="+mj-lt"/>
                <a:ea typeface="+mn-ea"/>
              </a:endParaRPr>
            </a:p>
          </p:txBody>
        </p:sp>
      </p:grpSp>
      <p:grpSp>
        <p:nvGrpSpPr>
          <p:cNvPr id="68" name="组合 67">
            <a:extLst>
              <a:ext uri="{FF2B5EF4-FFF2-40B4-BE49-F238E27FC236}">
                <a16:creationId xmlns:a16="http://schemas.microsoft.com/office/drawing/2014/main" id="{7FD944D2-202C-1B17-BFC8-142195104D43}"/>
              </a:ext>
            </a:extLst>
          </p:cNvPr>
          <p:cNvGrpSpPr/>
          <p:nvPr/>
        </p:nvGrpSpPr>
        <p:grpSpPr>
          <a:xfrm>
            <a:off x="6166266" y="3284006"/>
            <a:ext cx="1568450" cy="1749425"/>
            <a:chOff x="6166266" y="3646066"/>
            <a:chExt cx="1568450" cy="1749425"/>
          </a:xfrm>
        </p:grpSpPr>
        <p:sp>
          <p:nvSpPr>
            <p:cNvPr id="21" name="Rectangle 14">
              <a:extLst>
                <a:ext uri="{FF2B5EF4-FFF2-40B4-BE49-F238E27FC236}">
                  <a16:creationId xmlns:a16="http://schemas.microsoft.com/office/drawing/2014/main" id="{736F2229-F042-1642-DD0B-2453D90F1948}"/>
                </a:ext>
              </a:extLst>
            </p:cNvPr>
            <p:cNvSpPr>
              <a:spLocks noChangeArrowheads="1"/>
            </p:cNvSpPr>
            <p:nvPr/>
          </p:nvSpPr>
          <p:spPr bwMode="auto">
            <a:xfrm>
              <a:off x="6166266" y="3646066"/>
              <a:ext cx="1568450" cy="446088"/>
            </a:xfrm>
            <a:prstGeom prst="rect">
              <a:avLst/>
            </a:prstGeom>
            <a:solidFill>
              <a:srgbClr val="FFFF99"/>
            </a:solidFill>
            <a:ln w="17463">
              <a:solidFill>
                <a:srgbClr val="000000"/>
              </a:solidFill>
              <a:miter lim="800000"/>
              <a:headEnd/>
              <a:tailEnd/>
            </a:ln>
          </p:spPr>
          <p:txBody>
            <a:bodyPr/>
            <a:lstStyle/>
            <a:p>
              <a:endParaRPr lang="zh-CN" altLang="en-US"/>
            </a:p>
          </p:txBody>
        </p:sp>
        <p:sp>
          <p:nvSpPr>
            <p:cNvPr id="24" name="Rectangle 20">
              <a:extLst>
                <a:ext uri="{FF2B5EF4-FFF2-40B4-BE49-F238E27FC236}">
                  <a16:creationId xmlns:a16="http://schemas.microsoft.com/office/drawing/2014/main" id="{53D6C1CD-406F-9D87-FE53-D823B9CBB4DF}"/>
                </a:ext>
              </a:extLst>
            </p:cNvPr>
            <p:cNvSpPr>
              <a:spLocks noChangeArrowheads="1"/>
            </p:cNvSpPr>
            <p:nvPr/>
          </p:nvSpPr>
          <p:spPr bwMode="auto">
            <a:xfrm>
              <a:off x="6166266" y="4074691"/>
              <a:ext cx="1568450" cy="444500"/>
            </a:xfrm>
            <a:prstGeom prst="rect">
              <a:avLst/>
            </a:prstGeom>
            <a:solidFill>
              <a:srgbClr val="FFFF99"/>
            </a:solidFill>
            <a:ln w="17463">
              <a:solidFill>
                <a:srgbClr val="000000"/>
              </a:solidFill>
              <a:miter lim="800000"/>
              <a:headEnd/>
              <a:tailEnd/>
            </a:ln>
          </p:spPr>
          <p:txBody>
            <a:bodyPr/>
            <a:lstStyle/>
            <a:p>
              <a:endParaRPr lang="zh-CN" altLang="en-US"/>
            </a:p>
          </p:txBody>
        </p:sp>
        <p:sp>
          <p:nvSpPr>
            <p:cNvPr id="25" name="Rectangle 24">
              <a:extLst>
                <a:ext uri="{FF2B5EF4-FFF2-40B4-BE49-F238E27FC236}">
                  <a16:creationId xmlns:a16="http://schemas.microsoft.com/office/drawing/2014/main" id="{81DC0B18-2045-D678-100E-0ED69F6CFF5E}"/>
                </a:ext>
              </a:extLst>
            </p:cNvPr>
            <p:cNvSpPr>
              <a:spLocks noChangeArrowheads="1"/>
            </p:cNvSpPr>
            <p:nvPr/>
          </p:nvSpPr>
          <p:spPr bwMode="auto">
            <a:xfrm>
              <a:off x="6166266" y="4503316"/>
              <a:ext cx="1568450" cy="446088"/>
            </a:xfrm>
            <a:prstGeom prst="rect">
              <a:avLst/>
            </a:prstGeom>
            <a:solidFill>
              <a:srgbClr val="FFFF99"/>
            </a:solidFill>
            <a:ln w="17463">
              <a:solidFill>
                <a:srgbClr val="000000"/>
              </a:solidFill>
              <a:miter lim="800000"/>
              <a:headEnd/>
              <a:tailEnd/>
            </a:ln>
          </p:spPr>
          <p:txBody>
            <a:bodyPr/>
            <a:lstStyle/>
            <a:p>
              <a:endParaRPr lang="zh-CN" altLang="en-US"/>
            </a:p>
          </p:txBody>
        </p:sp>
        <p:sp>
          <p:nvSpPr>
            <p:cNvPr id="26" name="Rectangle 25">
              <a:extLst>
                <a:ext uri="{FF2B5EF4-FFF2-40B4-BE49-F238E27FC236}">
                  <a16:creationId xmlns:a16="http://schemas.microsoft.com/office/drawing/2014/main" id="{DA418596-3801-87B5-22F4-2742921940D4}"/>
                </a:ext>
              </a:extLst>
            </p:cNvPr>
            <p:cNvSpPr>
              <a:spLocks noChangeArrowheads="1"/>
            </p:cNvSpPr>
            <p:nvPr/>
          </p:nvSpPr>
          <p:spPr bwMode="auto">
            <a:xfrm>
              <a:off x="6860376" y="4475535"/>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b="1" dirty="0">
                  <a:latin typeface="Times New Roman" pitchFamily="18" charset="0"/>
                </a:rPr>
                <a:t>…</a:t>
              </a:r>
              <a:endParaRPr lang="en-US" altLang="zh-CN" sz="1400" b="1" dirty="0">
                <a:latin typeface="Times New Roman" pitchFamily="18" charset="0"/>
              </a:endParaRPr>
            </a:p>
          </p:txBody>
        </p:sp>
        <p:sp>
          <p:nvSpPr>
            <p:cNvPr id="27" name="Rectangle 26">
              <a:extLst>
                <a:ext uri="{FF2B5EF4-FFF2-40B4-BE49-F238E27FC236}">
                  <a16:creationId xmlns:a16="http://schemas.microsoft.com/office/drawing/2014/main" id="{3E1F2998-FBB7-1FD7-1E3E-525CDDB5BC2B}"/>
                </a:ext>
              </a:extLst>
            </p:cNvPr>
            <p:cNvSpPr>
              <a:spLocks noChangeArrowheads="1"/>
            </p:cNvSpPr>
            <p:nvPr/>
          </p:nvSpPr>
          <p:spPr bwMode="auto">
            <a:xfrm>
              <a:off x="6166266" y="4930354"/>
              <a:ext cx="1568450" cy="465137"/>
            </a:xfrm>
            <a:prstGeom prst="rect">
              <a:avLst/>
            </a:prstGeom>
            <a:solidFill>
              <a:srgbClr val="FFFF99"/>
            </a:solidFill>
            <a:ln w="17463">
              <a:solidFill>
                <a:srgbClr val="000000"/>
              </a:solidFill>
              <a:miter lim="800000"/>
              <a:headEnd/>
              <a:tailEnd/>
            </a:ln>
          </p:spPr>
          <p:txBody>
            <a:bodyPr/>
            <a:lstStyle/>
            <a:p>
              <a:endParaRPr lang="zh-CN" altLang="en-US"/>
            </a:p>
          </p:txBody>
        </p:sp>
        <p:sp>
          <p:nvSpPr>
            <p:cNvPr id="63" name="Rectangle 16">
              <a:extLst>
                <a:ext uri="{FF2B5EF4-FFF2-40B4-BE49-F238E27FC236}">
                  <a16:creationId xmlns:a16="http://schemas.microsoft.com/office/drawing/2014/main" id="{D274F016-361C-A36F-8EAA-D7ADF7349861}"/>
                </a:ext>
              </a:extLst>
            </p:cNvPr>
            <p:cNvSpPr>
              <a:spLocks noChangeArrowheads="1"/>
            </p:cNvSpPr>
            <p:nvPr/>
          </p:nvSpPr>
          <p:spPr bwMode="auto">
            <a:xfrm>
              <a:off x="6606634" y="3710787"/>
              <a:ext cx="66684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j-lt"/>
                  <a:ea typeface="+mn-ea"/>
                </a:rPr>
                <a:t>Line 0</a:t>
              </a:r>
              <a:endParaRPr lang="en-US" altLang="zh-CN" sz="1400" b="1" dirty="0">
                <a:latin typeface="+mj-lt"/>
                <a:ea typeface="+mn-ea"/>
              </a:endParaRPr>
            </a:p>
          </p:txBody>
        </p:sp>
        <p:sp>
          <p:nvSpPr>
            <p:cNvPr id="66" name="Rectangle 16">
              <a:extLst>
                <a:ext uri="{FF2B5EF4-FFF2-40B4-BE49-F238E27FC236}">
                  <a16:creationId xmlns:a16="http://schemas.microsoft.com/office/drawing/2014/main" id="{1D1DEB6E-3513-5A87-3CA6-BB099387E3CF}"/>
                </a:ext>
              </a:extLst>
            </p:cNvPr>
            <p:cNvSpPr>
              <a:spLocks noChangeArrowheads="1"/>
            </p:cNvSpPr>
            <p:nvPr/>
          </p:nvSpPr>
          <p:spPr bwMode="auto">
            <a:xfrm>
              <a:off x="6606634" y="4160054"/>
              <a:ext cx="66684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j-lt"/>
                  <a:ea typeface="+mn-ea"/>
                </a:rPr>
                <a:t>Line 1</a:t>
              </a:r>
              <a:endParaRPr lang="en-US" altLang="zh-CN" sz="1400" b="1" dirty="0">
                <a:latin typeface="+mj-lt"/>
                <a:ea typeface="+mn-ea"/>
              </a:endParaRPr>
            </a:p>
          </p:txBody>
        </p:sp>
        <p:sp>
          <p:nvSpPr>
            <p:cNvPr id="67" name="Rectangle 16">
              <a:extLst>
                <a:ext uri="{FF2B5EF4-FFF2-40B4-BE49-F238E27FC236}">
                  <a16:creationId xmlns:a16="http://schemas.microsoft.com/office/drawing/2014/main" id="{E6ED21D5-CD5A-0251-55A3-6B9D9459475F}"/>
                </a:ext>
              </a:extLst>
            </p:cNvPr>
            <p:cNvSpPr>
              <a:spLocks noChangeArrowheads="1"/>
            </p:cNvSpPr>
            <p:nvPr/>
          </p:nvSpPr>
          <p:spPr bwMode="auto">
            <a:xfrm>
              <a:off x="6484805" y="5026480"/>
              <a:ext cx="91050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j-lt"/>
                  <a:ea typeface="+mn-ea"/>
                </a:rPr>
                <a:t>Line N-1</a:t>
              </a:r>
              <a:endParaRPr lang="en-US" altLang="zh-CN" sz="1400" b="1" dirty="0">
                <a:latin typeface="+mj-lt"/>
                <a:ea typeface="+mn-ea"/>
              </a:endParaRPr>
            </a:p>
          </p:txBody>
        </p:sp>
      </p:grpSp>
      <p:sp>
        <p:nvSpPr>
          <p:cNvPr id="5" name="对话气泡: 圆角矩形 4">
            <a:extLst>
              <a:ext uri="{FF2B5EF4-FFF2-40B4-BE49-F238E27FC236}">
                <a16:creationId xmlns:a16="http://schemas.microsoft.com/office/drawing/2014/main" id="{2E1B4172-637D-1093-8164-A7CB57D164A8}"/>
              </a:ext>
            </a:extLst>
          </p:cNvPr>
          <p:cNvSpPr/>
          <p:nvPr/>
        </p:nvSpPr>
        <p:spPr>
          <a:xfrm>
            <a:off x="3705616" y="4767621"/>
            <a:ext cx="2379406" cy="1388173"/>
          </a:xfrm>
          <a:prstGeom prst="wedgeRoundRectCallout">
            <a:avLst>
              <a:gd name="adj1" fmla="val -12092"/>
              <a:gd name="adj2" fmla="val -77923"/>
              <a:gd name="adj3" fmla="val 16667"/>
            </a:avLst>
          </a:prstGeom>
          <a:solidFill>
            <a:schemeClr val="bg1">
              <a:lumMod val="9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注意：一个块内有多个地址的数据！即便访问的只是一个地址的数据，也会把这个数据所在的整个块的数据放到缓存的某行中。</a:t>
            </a:r>
          </a:p>
        </p:txBody>
      </p:sp>
      <p:sp>
        <p:nvSpPr>
          <p:cNvPr id="6" name="箭头: 左右 5">
            <a:extLst>
              <a:ext uri="{FF2B5EF4-FFF2-40B4-BE49-F238E27FC236}">
                <a16:creationId xmlns:a16="http://schemas.microsoft.com/office/drawing/2014/main" id="{9B443D83-F4C5-991E-3B85-8795EEE6916B}"/>
              </a:ext>
            </a:extLst>
          </p:cNvPr>
          <p:cNvSpPr/>
          <p:nvPr/>
        </p:nvSpPr>
        <p:spPr>
          <a:xfrm>
            <a:off x="3601230" y="3820214"/>
            <a:ext cx="2325329" cy="479874"/>
          </a:xfrm>
          <a:prstGeom prst="leftRightArrow">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400">
              <a:solidFill>
                <a:schemeClr val="tx1"/>
              </a:solidFill>
            </a:endParaRPr>
          </a:p>
        </p:txBody>
      </p:sp>
    </p:spTree>
    <p:extLst>
      <p:ext uri="{BB962C8B-B14F-4D97-AF65-F5344CB8AC3E}">
        <p14:creationId xmlns:p14="http://schemas.microsoft.com/office/powerpoint/2010/main" val="30517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74" name="Text Box 20"/>
          <p:cNvSpPr txBox="1">
            <a:spLocks noChangeArrowheads="1"/>
          </p:cNvSpPr>
          <p:nvPr/>
        </p:nvSpPr>
        <p:spPr bwMode="auto">
          <a:xfrm>
            <a:off x="4758001" y="2574785"/>
            <a:ext cx="4333316" cy="11725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88785" tIns="44393" rIns="88785" bIns="44393">
            <a:spAutoFit/>
          </a:bodyPr>
          <a:lstStyle>
            <a:lvl1pPr marL="200025" indent="-200025"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285750" marR="0" lvl="0" indent="-285750" algn="l" defTabSz="100965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1" lang="zh-CN" altLang="en-US" sz="1759" u="none" strike="noStrike" kern="1200" cap="none" spc="0" normalizeH="0" baseline="0" noProof="0" dirty="0">
                <a:ln>
                  <a:noFill/>
                </a:ln>
                <a:solidFill>
                  <a:srgbClr val="0432FF"/>
                </a:solidFill>
                <a:effectLst/>
                <a:uLnTx/>
                <a:uFillTx/>
                <a:latin typeface="Times New Roman" pitchFamily="18" charset="0"/>
                <a:ea typeface="SimHei" panose="02010609060101010101" pitchFamily="49" charset="-122"/>
                <a:cs typeface="+mn-cs"/>
              </a:rPr>
              <a:t>数据：</a:t>
            </a:r>
            <a:r>
              <a:rPr kumimoji="1" lang="en-US" altLang="zh-CN" sz="1759"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N</a:t>
            </a:r>
            <a:r>
              <a:rPr kumimoji="1" lang="zh-CN" altLang="en-US" sz="1759"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个</a:t>
            </a:r>
            <a:r>
              <a:rPr kumimoji="1" lang="en-US" altLang="zh-CN" sz="1759" u="none" strike="noStrike" kern="1200" cap="none" spc="0" normalizeH="0" baseline="0" noProof="0" dirty="0">
                <a:ln>
                  <a:noFill/>
                </a:ln>
                <a:solidFill>
                  <a:srgbClr val="009999"/>
                </a:solidFill>
                <a:effectLst/>
                <a:uLnTx/>
                <a:uFillTx/>
                <a:latin typeface="Times New Roman" pitchFamily="18" charset="0"/>
                <a:ea typeface="SimHei" panose="02010609060101010101" pitchFamily="49" charset="-122"/>
                <a:cs typeface="+mn-cs"/>
              </a:rPr>
              <a:t>Cache</a:t>
            </a:r>
            <a:r>
              <a:rPr kumimoji="1" lang="zh-CN" altLang="en-US" sz="1759" u="none" strike="noStrike" kern="1200" cap="none" spc="0" normalizeH="0" baseline="0" noProof="0" dirty="0">
                <a:ln>
                  <a:noFill/>
                </a:ln>
                <a:solidFill>
                  <a:srgbClr val="009999"/>
                </a:solidFill>
                <a:effectLst/>
                <a:uLnTx/>
                <a:uFillTx/>
                <a:latin typeface="Times New Roman" pitchFamily="18" charset="0"/>
                <a:ea typeface="SimHei" panose="02010609060101010101" pitchFamily="49" charset="-122"/>
                <a:cs typeface="+mn-cs"/>
              </a:rPr>
              <a:t>行</a:t>
            </a:r>
            <a:r>
              <a:rPr kumimoji="1" lang="en-US" altLang="zh-CN" sz="1759" u="none" strike="noStrike" kern="1200" cap="none" spc="0" normalizeH="0" baseline="0" noProof="0" dirty="0">
                <a:ln>
                  <a:noFill/>
                </a:ln>
                <a:solidFill>
                  <a:srgbClr val="009999"/>
                </a:solidFill>
                <a:effectLst/>
                <a:uLnTx/>
                <a:uFillTx/>
                <a:latin typeface="Times New Roman" pitchFamily="18" charset="0"/>
                <a:ea typeface="SimHei" panose="02010609060101010101" pitchFamily="49" charset="-122"/>
                <a:cs typeface="+mn-cs"/>
              </a:rPr>
              <a:t>(Cache Line) </a:t>
            </a:r>
            <a:r>
              <a:rPr kumimoji="1" lang="zh-CN" altLang="en-US" sz="1759" u="none" strike="noStrike" kern="1200" cap="none" spc="0" normalizeH="0" baseline="0" noProof="0" dirty="0">
                <a:ln>
                  <a:noFill/>
                </a:ln>
                <a:solidFill>
                  <a:srgbClr val="009999"/>
                </a:solidFill>
                <a:effectLst/>
                <a:uLnTx/>
                <a:uFillTx/>
                <a:latin typeface="Times New Roman" pitchFamily="18" charset="0"/>
                <a:ea typeface="SimHei" panose="02010609060101010101" pitchFamily="49" charset="-122"/>
                <a:cs typeface="+mn-cs"/>
              </a:rPr>
              <a:t>，</a:t>
            </a:r>
            <a:r>
              <a:rPr kumimoji="1" lang="zh-CN" altLang="en-US" sz="1759"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每行临时存放主存中一个块的数据</a:t>
            </a:r>
          </a:p>
          <a:p>
            <a:pPr marL="285750" marR="0" lvl="0" indent="-285750" algn="l" defTabSz="100965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1" lang="zh-CN" altLang="en-US" sz="1759" u="none" strike="noStrike" kern="1200" cap="none" spc="0" normalizeH="0" baseline="0" noProof="0" dirty="0">
                <a:ln>
                  <a:noFill/>
                </a:ln>
                <a:solidFill>
                  <a:srgbClr val="0432FF"/>
                </a:solidFill>
                <a:effectLst/>
                <a:uLnTx/>
                <a:uFillTx/>
                <a:latin typeface="Times New Roman" pitchFamily="18" charset="0"/>
                <a:ea typeface="SimHei" panose="02010609060101010101" pitchFamily="49" charset="-122"/>
                <a:cs typeface="+mn-cs"/>
              </a:rPr>
              <a:t>标签：</a:t>
            </a:r>
            <a:r>
              <a:rPr kumimoji="1" lang="zh-CN" altLang="en-US" sz="1759"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用于指定是哪一块主存的副本</a:t>
            </a:r>
          </a:p>
          <a:p>
            <a:pPr marL="285750" marR="0" lvl="0" indent="-285750" algn="l" defTabSz="100965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1" lang="zh-CN" altLang="en-US" sz="1759" u="none" strike="noStrike" kern="1200" cap="none" spc="0" normalizeH="0" baseline="0" noProof="0" dirty="0">
                <a:ln>
                  <a:noFill/>
                </a:ln>
                <a:solidFill>
                  <a:srgbClr val="0432FF"/>
                </a:solidFill>
                <a:effectLst/>
                <a:uLnTx/>
                <a:uFillTx/>
                <a:latin typeface="Times New Roman" pitchFamily="18" charset="0"/>
                <a:ea typeface="SimHei" panose="02010609060101010101" pitchFamily="49" charset="-122"/>
                <a:cs typeface="+mn-cs"/>
              </a:rPr>
              <a:t>有效位：</a:t>
            </a:r>
            <a:r>
              <a:rPr kumimoji="1" lang="zh-CN" altLang="en-US" sz="1759"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该行数据是否有效（后面讲）</a:t>
            </a:r>
          </a:p>
        </p:txBody>
      </p:sp>
      <p:sp>
        <p:nvSpPr>
          <p:cNvPr id="49181" name="Text Box 27"/>
          <p:cNvSpPr txBox="1">
            <a:spLocks noChangeArrowheads="1"/>
          </p:cNvSpPr>
          <p:nvPr/>
        </p:nvSpPr>
        <p:spPr bwMode="auto">
          <a:xfrm>
            <a:off x="5219590" y="1963135"/>
            <a:ext cx="1427922" cy="3745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80000"/>
              </a:spcBef>
              <a:spcAft>
                <a:spcPct val="0"/>
              </a:spcAft>
              <a:buClrTx/>
              <a:buSzTx/>
              <a:buFontTx/>
              <a:buNone/>
              <a:tabLst/>
              <a:defRPr/>
            </a:pPr>
            <a:r>
              <a:rPr kumimoji="0" lang="en-US" altLang="zh-CN" sz="1847"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Cache</a:t>
            </a:r>
            <a:r>
              <a:rPr kumimoji="0" lang="zh-CN" altLang="en-US" sz="1847"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地址</a:t>
            </a:r>
          </a:p>
        </p:txBody>
      </p:sp>
      <p:sp>
        <p:nvSpPr>
          <p:cNvPr id="49186" name="Rectangle 32"/>
          <p:cNvSpPr>
            <a:spLocks noChangeArrowheads="1"/>
          </p:cNvSpPr>
          <p:nvPr/>
        </p:nvSpPr>
        <p:spPr bwMode="auto">
          <a:xfrm>
            <a:off x="6687989" y="2001509"/>
            <a:ext cx="1998811" cy="358748"/>
          </a:xfrm>
          <a:prstGeom prst="rect">
            <a:avLst/>
          </a:prstGeom>
          <a:noFill/>
          <a:ln w="9525" algn="ctr">
            <a:solidFill>
              <a:schemeClr val="tx1"/>
            </a:solidFill>
            <a:miter lim="800000"/>
            <a:headEnd type="none" w="sm" len="sm"/>
            <a:tailEnd type="none" w="sm" len="sm"/>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80957" tIns="40479" rIns="80957" bIns="40479"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9187" name="Line 33"/>
          <p:cNvSpPr>
            <a:spLocks noChangeShapeType="1"/>
          </p:cNvSpPr>
          <p:nvPr/>
        </p:nvSpPr>
        <p:spPr bwMode="auto">
          <a:xfrm>
            <a:off x="7639937" y="1972907"/>
            <a:ext cx="0" cy="403391"/>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80957" tIns="40479" rIns="80957" bIns="40479"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9188" name="Rectangle 34"/>
          <p:cNvSpPr>
            <a:spLocks noChangeArrowheads="1"/>
          </p:cNvSpPr>
          <p:nvPr/>
        </p:nvSpPr>
        <p:spPr bwMode="auto">
          <a:xfrm>
            <a:off x="7741833" y="2038510"/>
            <a:ext cx="815337" cy="279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89401" tIns="44701" rIns="89401" bIns="44701">
            <a:spAutoFit/>
          </a:bodyPr>
          <a:lstStyle/>
          <a:p>
            <a:pPr marL="0" marR="0" lvl="0" indent="0" algn="l" defTabSz="887785" rtl="0" eaLnBrk="1" fontAlgn="base" latinLnBrk="0" hangingPunct="1">
              <a:lnSpc>
                <a:spcPct val="100000"/>
              </a:lnSpc>
              <a:spcBef>
                <a:spcPct val="0"/>
              </a:spcBef>
              <a:spcAft>
                <a:spcPct val="0"/>
              </a:spcAft>
              <a:buClrTx/>
              <a:buSzTx/>
              <a:buFontTx/>
              <a:buNone/>
              <a:tabLst/>
              <a:defRPr/>
            </a:pPr>
            <a:r>
              <a:rPr kumimoji="0" lang="zh-CN" altLang="en-US" sz="1231"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行内地址</a:t>
            </a:r>
          </a:p>
        </p:txBody>
      </p:sp>
      <p:sp>
        <p:nvSpPr>
          <p:cNvPr id="49189" name="Rectangle 35"/>
          <p:cNvSpPr>
            <a:spLocks noChangeArrowheads="1"/>
          </p:cNvSpPr>
          <p:nvPr/>
        </p:nvSpPr>
        <p:spPr bwMode="auto">
          <a:xfrm>
            <a:off x="6655887" y="2048281"/>
            <a:ext cx="919533" cy="279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89401" tIns="44701" rIns="89401" bIns="44701">
            <a:spAutoFit/>
          </a:bodyPr>
          <a:lstStyle/>
          <a:p>
            <a:pPr marL="0" marR="0" lvl="0" indent="0" algn="l" defTabSz="887785" rtl="0" eaLnBrk="1" fontAlgn="base" latinLnBrk="0" hangingPunct="1">
              <a:lnSpc>
                <a:spcPct val="100000"/>
              </a:lnSpc>
              <a:spcBef>
                <a:spcPct val="0"/>
              </a:spcBef>
              <a:spcAft>
                <a:spcPct val="0"/>
              </a:spcAft>
              <a:buClrTx/>
              <a:buSzTx/>
              <a:buFontTx/>
              <a:buNone/>
              <a:tabLst/>
              <a:defRPr/>
            </a:pPr>
            <a:r>
              <a:rPr kumimoji="0" lang="en-US" altLang="zh-CN" sz="1231"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Cache</a:t>
            </a:r>
            <a:r>
              <a:rPr kumimoji="0" lang="zh-CN" altLang="en-US" sz="1231"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行号</a:t>
            </a:r>
          </a:p>
        </p:txBody>
      </p:sp>
      <p:sp>
        <p:nvSpPr>
          <p:cNvPr id="49157" name="Text Box 3"/>
          <p:cNvSpPr txBox="1">
            <a:spLocks noChangeArrowheads="1"/>
          </p:cNvSpPr>
          <p:nvPr/>
        </p:nvSpPr>
        <p:spPr bwMode="auto">
          <a:xfrm>
            <a:off x="187789" y="1504709"/>
            <a:ext cx="2631609" cy="3974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1" lang="zh-CN" altLang="en-US" sz="20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主存存储格式</a:t>
            </a:r>
          </a:p>
        </p:txBody>
      </p:sp>
      <p:sp>
        <p:nvSpPr>
          <p:cNvPr id="49182" name="Rectangle 28"/>
          <p:cNvSpPr>
            <a:spLocks noChangeArrowheads="1"/>
          </p:cNvSpPr>
          <p:nvPr/>
        </p:nvSpPr>
        <p:spPr bwMode="auto">
          <a:xfrm>
            <a:off x="1553480" y="2093352"/>
            <a:ext cx="2049972" cy="358748"/>
          </a:xfrm>
          <a:prstGeom prst="rect">
            <a:avLst/>
          </a:prstGeom>
          <a:solidFill>
            <a:schemeClr val="bg1"/>
          </a:solidFill>
          <a:ln w="9525" algn="ctr">
            <a:solidFill>
              <a:schemeClr val="tx1"/>
            </a:solidFill>
            <a:miter lim="800000"/>
            <a:headEnd type="none" w="sm" len="sm"/>
            <a:tailEnd type="none" w="sm" len="sm"/>
          </a:ln>
          <a:effectLst/>
          <a:extLs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square" lIns="80957" tIns="40479" rIns="80957" bIns="40479"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9183" name="Line 29"/>
          <p:cNvSpPr>
            <a:spLocks noChangeShapeType="1"/>
          </p:cNvSpPr>
          <p:nvPr/>
        </p:nvSpPr>
        <p:spPr bwMode="auto">
          <a:xfrm>
            <a:off x="2670561" y="2082418"/>
            <a:ext cx="0" cy="358748"/>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square" lIns="80957" tIns="40479" rIns="80957" bIns="40479"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9184" name="Rectangle 30"/>
          <p:cNvSpPr>
            <a:spLocks noChangeArrowheads="1"/>
          </p:cNvSpPr>
          <p:nvPr/>
        </p:nvSpPr>
        <p:spPr bwMode="auto">
          <a:xfrm>
            <a:off x="2735080" y="2130354"/>
            <a:ext cx="843978" cy="279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square" lIns="89401" tIns="44701" rIns="89401" bIns="44701">
            <a:spAutoFit/>
          </a:bodyPr>
          <a:lstStyle/>
          <a:p>
            <a:pPr marL="0" marR="0" lvl="0" indent="0" algn="l" defTabSz="887785" rtl="0" eaLnBrk="1" fontAlgn="base" latinLnBrk="0" hangingPunct="1">
              <a:lnSpc>
                <a:spcPct val="100000"/>
              </a:lnSpc>
              <a:spcBef>
                <a:spcPct val="0"/>
              </a:spcBef>
              <a:spcAft>
                <a:spcPct val="0"/>
              </a:spcAft>
              <a:buClrTx/>
              <a:buSzTx/>
              <a:buFontTx/>
              <a:buNone/>
              <a:tabLst/>
              <a:defRPr/>
            </a:pPr>
            <a:r>
              <a:rPr kumimoji="0" lang="zh-CN" altLang="en-US" sz="1231"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块内地址</a:t>
            </a:r>
          </a:p>
        </p:txBody>
      </p:sp>
      <p:sp>
        <p:nvSpPr>
          <p:cNvPr id="49185" name="Rectangle 31"/>
          <p:cNvSpPr>
            <a:spLocks noChangeArrowheads="1"/>
          </p:cNvSpPr>
          <p:nvPr/>
        </p:nvSpPr>
        <p:spPr bwMode="auto">
          <a:xfrm>
            <a:off x="1503594" y="2131749"/>
            <a:ext cx="820788" cy="279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square" lIns="89401" tIns="44701" rIns="89401" bIns="44701">
            <a:spAutoFit/>
          </a:bodyPr>
          <a:lstStyle/>
          <a:p>
            <a:pPr marL="0" marR="0" lvl="0" indent="0" algn="l" defTabSz="887785" rtl="0" eaLnBrk="1" fontAlgn="base" latinLnBrk="0" hangingPunct="1">
              <a:lnSpc>
                <a:spcPct val="100000"/>
              </a:lnSpc>
              <a:spcBef>
                <a:spcPct val="0"/>
              </a:spcBef>
              <a:spcAft>
                <a:spcPct val="0"/>
              </a:spcAft>
              <a:buClrTx/>
              <a:buSzTx/>
              <a:buFontTx/>
              <a:buNone/>
              <a:tabLst/>
              <a:defRPr/>
            </a:pPr>
            <a:r>
              <a:rPr kumimoji="0" lang="zh-CN" altLang="en-US" sz="1231"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主存块号</a:t>
            </a:r>
          </a:p>
        </p:txBody>
      </p:sp>
      <p:sp>
        <p:nvSpPr>
          <p:cNvPr id="49190" name="Text Box 36"/>
          <p:cNvSpPr txBox="1">
            <a:spLocks noChangeArrowheads="1"/>
          </p:cNvSpPr>
          <p:nvPr/>
        </p:nvSpPr>
        <p:spPr bwMode="auto">
          <a:xfrm>
            <a:off x="235216" y="2089408"/>
            <a:ext cx="1253747" cy="3745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squar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50000"/>
              </a:spcBef>
              <a:spcAft>
                <a:spcPct val="0"/>
              </a:spcAft>
              <a:buClrTx/>
              <a:buSzTx/>
              <a:buFontTx/>
              <a:buNone/>
              <a:tabLst/>
              <a:defRPr/>
            </a:pPr>
            <a:r>
              <a:rPr kumimoji="0" lang="zh-CN" altLang="en-US" sz="1847"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主存地址</a:t>
            </a:r>
          </a:p>
        </p:txBody>
      </p:sp>
      <p:sp>
        <p:nvSpPr>
          <p:cNvPr id="49166" name="Text Box 12"/>
          <p:cNvSpPr txBox="1">
            <a:spLocks noChangeArrowheads="1"/>
          </p:cNvSpPr>
          <p:nvPr/>
        </p:nvSpPr>
        <p:spPr bwMode="auto">
          <a:xfrm>
            <a:off x="5655239" y="1477290"/>
            <a:ext cx="1960241" cy="3974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1" lang="en-US" altLang="zh-CN" sz="20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Cache </a:t>
            </a:r>
            <a:r>
              <a:rPr kumimoji="1" lang="zh-CN" altLang="en-US" sz="20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存储格式</a:t>
            </a:r>
            <a:endParaRPr kumimoji="1" lang="en-US" altLang="zh-CN" sz="20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endParaRPr>
          </a:p>
        </p:txBody>
      </p:sp>
      <p:sp>
        <p:nvSpPr>
          <p:cNvPr id="2" name="Slide Number Placeholder 1">
            <a:extLst>
              <a:ext uri="{FF2B5EF4-FFF2-40B4-BE49-F238E27FC236}">
                <a16:creationId xmlns:a16="http://schemas.microsoft.com/office/drawing/2014/main" id="{5F3682B1-28B7-0E4B-B2D7-F29E7C8ABAD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40" name="Rectangle 2">
            <a:extLst>
              <a:ext uri="{FF2B5EF4-FFF2-40B4-BE49-F238E27FC236}">
                <a16:creationId xmlns:a16="http://schemas.microsoft.com/office/drawing/2014/main" id="{4B131CED-2707-7B49-B3D2-B3B15DE15D62}"/>
              </a:ext>
            </a:extLst>
          </p:cNvPr>
          <p:cNvSpPr>
            <a:spLocks noChangeArrowheads="1"/>
          </p:cNvSpPr>
          <p:nvPr/>
        </p:nvSpPr>
        <p:spPr bwMode="auto">
          <a:xfrm>
            <a:off x="941593" y="3225377"/>
            <a:ext cx="1399064" cy="2728823"/>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1" name="Line 4">
            <a:extLst>
              <a:ext uri="{FF2B5EF4-FFF2-40B4-BE49-F238E27FC236}">
                <a16:creationId xmlns:a16="http://schemas.microsoft.com/office/drawing/2014/main" id="{FFC09B23-D270-8A44-B82A-43D1C7485EA4}"/>
              </a:ext>
            </a:extLst>
          </p:cNvPr>
          <p:cNvSpPr>
            <a:spLocks noChangeShapeType="1"/>
          </p:cNvSpPr>
          <p:nvPr/>
        </p:nvSpPr>
        <p:spPr bwMode="auto">
          <a:xfrm>
            <a:off x="947540" y="3994472"/>
            <a:ext cx="139906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2" name="AutoShape 5">
            <a:extLst>
              <a:ext uri="{FF2B5EF4-FFF2-40B4-BE49-F238E27FC236}">
                <a16:creationId xmlns:a16="http://schemas.microsoft.com/office/drawing/2014/main" id="{6F945391-BF5A-4B45-A63B-D9E7509D1027}"/>
              </a:ext>
            </a:extLst>
          </p:cNvPr>
          <p:cNvSpPr>
            <a:spLocks/>
          </p:cNvSpPr>
          <p:nvPr/>
        </p:nvSpPr>
        <p:spPr bwMode="auto">
          <a:xfrm>
            <a:off x="2417970" y="3240731"/>
            <a:ext cx="124890" cy="741179"/>
          </a:xfrm>
          <a:prstGeom prst="rightBrace">
            <a:avLst>
              <a:gd name="adj1" fmla="val 52679"/>
              <a:gd name="adj2" fmla="val 50000"/>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3" name="Text Box 6">
            <a:extLst>
              <a:ext uri="{FF2B5EF4-FFF2-40B4-BE49-F238E27FC236}">
                <a16:creationId xmlns:a16="http://schemas.microsoft.com/office/drawing/2014/main" id="{DA85C2B4-52FE-C24F-809A-86062DA774D6}"/>
              </a:ext>
            </a:extLst>
          </p:cNvPr>
          <p:cNvSpPr txBox="1">
            <a:spLocks noChangeArrowheads="1"/>
          </p:cNvSpPr>
          <p:nvPr/>
        </p:nvSpPr>
        <p:spPr bwMode="auto">
          <a:xfrm>
            <a:off x="2579359" y="3421983"/>
            <a:ext cx="724064" cy="366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块</a:t>
            </a: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0</a:t>
            </a:r>
          </a:p>
        </p:txBody>
      </p:sp>
      <p:sp>
        <p:nvSpPr>
          <p:cNvPr id="44" name="AutoShape 7">
            <a:extLst>
              <a:ext uri="{FF2B5EF4-FFF2-40B4-BE49-F238E27FC236}">
                <a16:creationId xmlns:a16="http://schemas.microsoft.com/office/drawing/2014/main" id="{1E1C0EE0-21C6-424F-A81E-9DA4415E9CE6}"/>
              </a:ext>
            </a:extLst>
          </p:cNvPr>
          <p:cNvSpPr>
            <a:spLocks/>
          </p:cNvSpPr>
          <p:nvPr/>
        </p:nvSpPr>
        <p:spPr bwMode="auto">
          <a:xfrm>
            <a:off x="2386747" y="5257688"/>
            <a:ext cx="93667" cy="661617"/>
          </a:xfrm>
          <a:prstGeom prst="rightBrace">
            <a:avLst>
              <a:gd name="adj1" fmla="val 62699"/>
              <a:gd name="adj2" fmla="val 50000"/>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6" name="Text Box 8">
            <a:extLst>
              <a:ext uri="{FF2B5EF4-FFF2-40B4-BE49-F238E27FC236}">
                <a16:creationId xmlns:a16="http://schemas.microsoft.com/office/drawing/2014/main" id="{35E41E58-FC1F-7F4A-ACB3-3C373FCF4010}"/>
              </a:ext>
            </a:extLst>
          </p:cNvPr>
          <p:cNvSpPr txBox="1">
            <a:spLocks noChangeArrowheads="1"/>
          </p:cNvSpPr>
          <p:nvPr/>
        </p:nvSpPr>
        <p:spPr bwMode="auto">
          <a:xfrm>
            <a:off x="2563674" y="5395873"/>
            <a:ext cx="811784" cy="366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块</a:t>
            </a: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L-1</a:t>
            </a:r>
          </a:p>
        </p:txBody>
      </p:sp>
      <p:sp>
        <p:nvSpPr>
          <p:cNvPr id="48" name="Line 21">
            <a:extLst>
              <a:ext uri="{FF2B5EF4-FFF2-40B4-BE49-F238E27FC236}">
                <a16:creationId xmlns:a16="http://schemas.microsoft.com/office/drawing/2014/main" id="{980D028A-305A-F24A-8B27-79924A1FA4F1}"/>
              </a:ext>
            </a:extLst>
          </p:cNvPr>
          <p:cNvSpPr>
            <a:spLocks noChangeShapeType="1"/>
          </p:cNvSpPr>
          <p:nvPr/>
        </p:nvSpPr>
        <p:spPr bwMode="auto">
          <a:xfrm flipH="1">
            <a:off x="940105" y="5226979"/>
            <a:ext cx="1391630" cy="0"/>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80957" tIns="40479" rIns="80957" bIns="40479"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49" name="Text Box 25">
            <a:extLst>
              <a:ext uri="{FF2B5EF4-FFF2-40B4-BE49-F238E27FC236}">
                <a16:creationId xmlns:a16="http://schemas.microsoft.com/office/drawing/2014/main" id="{D606A447-2946-0A46-B1CF-4BE70351BCC1}"/>
              </a:ext>
            </a:extLst>
          </p:cNvPr>
          <p:cNvSpPr txBox="1">
            <a:spLocks noChangeArrowheads="1"/>
          </p:cNvSpPr>
          <p:nvPr/>
        </p:nvSpPr>
        <p:spPr bwMode="auto">
          <a:xfrm>
            <a:off x="1484014" y="4455092"/>
            <a:ext cx="545905" cy="3948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vert="eaVert" wrap="non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0" lang="en-US" altLang="zh-CN" sz="2374"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a:t>
            </a:r>
          </a:p>
        </p:txBody>
      </p:sp>
      <p:sp>
        <p:nvSpPr>
          <p:cNvPr id="4" name="Rectangle 3">
            <a:extLst>
              <a:ext uri="{FF2B5EF4-FFF2-40B4-BE49-F238E27FC236}">
                <a16:creationId xmlns:a16="http://schemas.microsoft.com/office/drawing/2014/main" id="{12BB0205-79DD-214B-A44F-3DADF3A31E6C}"/>
              </a:ext>
            </a:extLst>
          </p:cNvPr>
          <p:cNvSpPr/>
          <p:nvPr/>
        </p:nvSpPr>
        <p:spPr>
          <a:xfrm>
            <a:off x="241974" y="2636003"/>
            <a:ext cx="4314001" cy="369332"/>
          </a:xfrm>
          <a:prstGeom prst="rect">
            <a:avLst/>
          </a:prstGeom>
        </p:spPr>
        <p:txBody>
          <a:bodyPr wrap="none">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L</a:t>
            </a:r>
            <a:r>
              <a:rPr kumimoji="1" lang="zh-CN"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个</a:t>
            </a:r>
            <a:r>
              <a:rPr kumimoji="1" lang="zh-CN" altLang="zh-CN" sz="1800" u="none" strike="noStrike" kern="1200" cap="none" spc="0" normalizeH="0" baseline="0" noProof="0" dirty="0">
                <a:ln>
                  <a:noFill/>
                </a:ln>
                <a:solidFill>
                  <a:srgbClr val="0432FF"/>
                </a:solidFill>
                <a:effectLst/>
                <a:uLnTx/>
                <a:uFillTx/>
                <a:latin typeface="Times New Roman" pitchFamily="18" charset="0"/>
                <a:ea typeface="SimHei" panose="02010609060101010101" pitchFamily="49" charset="-122"/>
                <a:cs typeface="+mn-cs"/>
              </a:rPr>
              <a:t>块</a:t>
            </a:r>
            <a:r>
              <a:rPr kumimoji="1" lang="en-US" altLang="zh-CN" sz="1800" u="none" strike="noStrike" kern="1200" cap="none" spc="0" normalizeH="0" baseline="0" noProof="0" dirty="0">
                <a:ln>
                  <a:noFill/>
                </a:ln>
                <a:solidFill>
                  <a:srgbClr val="0432FF"/>
                </a:solidFill>
                <a:effectLst/>
                <a:uLnTx/>
                <a:uFillTx/>
                <a:latin typeface="Times New Roman" pitchFamily="18" charset="0"/>
                <a:ea typeface="SimHei" panose="02010609060101010101" pitchFamily="49" charset="-122"/>
                <a:cs typeface="+mn-cs"/>
              </a:rPr>
              <a:t>(Block)</a:t>
            </a: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，每块</a:t>
            </a: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K</a:t>
            </a: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个</a:t>
            </a:r>
            <a:r>
              <a:rPr kumimoji="1" lang="zh-CN" altLang="en-US" sz="1800" u="none" strike="noStrike" kern="1200" cap="none" spc="0" normalizeH="0" baseline="0" noProof="0" dirty="0">
                <a:ln>
                  <a:noFill/>
                </a:ln>
                <a:solidFill>
                  <a:srgbClr val="0432FF"/>
                </a:solidFill>
                <a:effectLst/>
                <a:uLnTx/>
                <a:uFillTx/>
                <a:latin typeface="Times New Roman" pitchFamily="18" charset="0"/>
                <a:ea typeface="SimHei" panose="02010609060101010101" pitchFamily="49" charset="-122"/>
                <a:cs typeface="+mn-cs"/>
              </a:rPr>
              <a:t>地址连续</a:t>
            </a: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字节</a:t>
            </a:r>
          </a:p>
        </p:txBody>
      </p:sp>
      <p:sp>
        <p:nvSpPr>
          <p:cNvPr id="50" name="Text Box 13">
            <a:extLst>
              <a:ext uri="{FF2B5EF4-FFF2-40B4-BE49-F238E27FC236}">
                <a16:creationId xmlns:a16="http://schemas.microsoft.com/office/drawing/2014/main" id="{02791802-4F64-9144-B6A5-06BEDF17C2F6}"/>
              </a:ext>
            </a:extLst>
          </p:cNvPr>
          <p:cNvSpPr txBox="1">
            <a:spLocks noChangeArrowheads="1"/>
          </p:cNvSpPr>
          <p:nvPr/>
        </p:nvSpPr>
        <p:spPr bwMode="auto">
          <a:xfrm>
            <a:off x="5187299" y="3808342"/>
            <a:ext cx="975997" cy="366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1" lang="zh-CN" altLang="en-US" sz="1143"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标签</a:t>
            </a: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 </a:t>
            </a:r>
            <a:r>
              <a:rPr kumimoji="1" lang="zh-CN" altLang="en-US" sz="1143"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有效位</a:t>
            </a:r>
          </a:p>
        </p:txBody>
      </p:sp>
      <p:sp>
        <p:nvSpPr>
          <p:cNvPr id="51" name="Text Box 14">
            <a:extLst>
              <a:ext uri="{FF2B5EF4-FFF2-40B4-BE49-F238E27FC236}">
                <a16:creationId xmlns:a16="http://schemas.microsoft.com/office/drawing/2014/main" id="{26558E66-5C98-F34F-8929-57057701BE19}"/>
              </a:ext>
            </a:extLst>
          </p:cNvPr>
          <p:cNvSpPr txBox="1">
            <a:spLocks noChangeArrowheads="1"/>
          </p:cNvSpPr>
          <p:nvPr/>
        </p:nvSpPr>
        <p:spPr bwMode="auto">
          <a:xfrm>
            <a:off x="6920486" y="3873544"/>
            <a:ext cx="471051" cy="2655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1" lang="zh-CN" altLang="en-US" sz="1143"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数据</a:t>
            </a:r>
          </a:p>
        </p:txBody>
      </p:sp>
      <p:sp>
        <p:nvSpPr>
          <p:cNvPr id="52" name="Text Box 18">
            <a:extLst>
              <a:ext uri="{FF2B5EF4-FFF2-40B4-BE49-F238E27FC236}">
                <a16:creationId xmlns:a16="http://schemas.microsoft.com/office/drawing/2014/main" id="{A6461E0A-88AE-6843-9AC5-29C46C54B815}"/>
              </a:ext>
            </a:extLst>
          </p:cNvPr>
          <p:cNvSpPr txBox="1">
            <a:spLocks noChangeArrowheads="1"/>
          </p:cNvSpPr>
          <p:nvPr/>
        </p:nvSpPr>
        <p:spPr bwMode="auto">
          <a:xfrm>
            <a:off x="4693828" y="4122934"/>
            <a:ext cx="527156" cy="366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ctr" defTabSz="1009650" rtl="0" eaLnBrk="1" fontAlgn="base" latinLnBrk="0" hangingPunct="1">
              <a:lnSpc>
                <a:spcPct val="100000"/>
              </a:lnSpc>
              <a:spcBef>
                <a:spcPct val="0"/>
              </a:spcBef>
              <a:spcAft>
                <a:spcPct val="0"/>
              </a:spcAft>
              <a:buClrTx/>
              <a:buSzTx/>
              <a:buFontTx/>
              <a:buNone/>
              <a:tabLst/>
              <a:defRPr/>
            </a:pP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行</a:t>
            </a: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0</a:t>
            </a:r>
          </a:p>
        </p:txBody>
      </p:sp>
      <p:sp>
        <p:nvSpPr>
          <p:cNvPr id="53" name="Text Box 19">
            <a:extLst>
              <a:ext uri="{FF2B5EF4-FFF2-40B4-BE49-F238E27FC236}">
                <a16:creationId xmlns:a16="http://schemas.microsoft.com/office/drawing/2014/main" id="{86F85238-BD3B-2546-8ECD-F42CB7961DFB}"/>
              </a:ext>
            </a:extLst>
          </p:cNvPr>
          <p:cNvSpPr txBox="1">
            <a:spLocks noChangeArrowheads="1"/>
          </p:cNvSpPr>
          <p:nvPr/>
        </p:nvSpPr>
        <p:spPr bwMode="auto">
          <a:xfrm>
            <a:off x="4572000" y="5632336"/>
            <a:ext cx="770813" cy="366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ctr" defTabSz="1009650" rtl="0" eaLnBrk="1" fontAlgn="base" latinLnBrk="0" hangingPunct="1">
              <a:lnSpc>
                <a:spcPct val="100000"/>
              </a:lnSpc>
              <a:spcBef>
                <a:spcPct val="0"/>
              </a:spcBef>
              <a:spcAft>
                <a:spcPct val="0"/>
              </a:spcAft>
              <a:buClrTx/>
              <a:buSzTx/>
              <a:buFontTx/>
              <a:buNone/>
              <a:tabLst/>
              <a:defRPr/>
            </a:pP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行</a:t>
            </a: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N-1</a:t>
            </a:r>
          </a:p>
        </p:txBody>
      </p:sp>
      <p:grpSp>
        <p:nvGrpSpPr>
          <p:cNvPr id="54" name="Group 53">
            <a:extLst>
              <a:ext uri="{FF2B5EF4-FFF2-40B4-BE49-F238E27FC236}">
                <a16:creationId xmlns:a16="http://schemas.microsoft.com/office/drawing/2014/main" id="{2EB68AB5-1D70-D548-8FB9-8A4D72A9F821}"/>
              </a:ext>
            </a:extLst>
          </p:cNvPr>
          <p:cNvGrpSpPr/>
          <p:nvPr/>
        </p:nvGrpSpPr>
        <p:grpSpPr>
          <a:xfrm>
            <a:off x="5253021" y="4143019"/>
            <a:ext cx="3056764" cy="1860971"/>
            <a:chOff x="5570708" y="3780937"/>
            <a:chExt cx="2791635" cy="1557731"/>
          </a:xfrm>
        </p:grpSpPr>
        <p:sp>
          <p:nvSpPr>
            <p:cNvPr id="55" name="Rectangle 10">
              <a:extLst>
                <a:ext uri="{FF2B5EF4-FFF2-40B4-BE49-F238E27FC236}">
                  <a16:creationId xmlns:a16="http://schemas.microsoft.com/office/drawing/2014/main" id="{38F1BE33-8DF4-634D-8437-78E992B026AE}"/>
                </a:ext>
              </a:extLst>
            </p:cNvPr>
            <p:cNvSpPr>
              <a:spLocks noChangeArrowheads="1"/>
            </p:cNvSpPr>
            <p:nvPr/>
          </p:nvSpPr>
          <p:spPr bwMode="auto">
            <a:xfrm>
              <a:off x="5572103" y="3792102"/>
              <a:ext cx="2774885" cy="1546566"/>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6" name="Line 11">
              <a:extLst>
                <a:ext uri="{FF2B5EF4-FFF2-40B4-BE49-F238E27FC236}">
                  <a16:creationId xmlns:a16="http://schemas.microsoft.com/office/drawing/2014/main" id="{BAF5CE75-378F-2A42-A185-3CF3B3D9B3F7}"/>
                </a:ext>
              </a:extLst>
            </p:cNvPr>
            <p:cNvSpPr>
              <a:spLocks noChangeShapeType="1"/>
            </p:cNvSpPr>
            <p:nvPr/>
          </p:nvSpPr>
          <p:spPr bwMode="auto">
            <a:xfrm>
              <a:off x="5965724" y="3790706"/>
              <a:ext cx="0" cy="154656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7" name="Line 15">
              <a:extLst>
                <a:ext uri="{FF2B5EF4-FFF2-40B4-BE49-F238E27FC236}">
                  <a16:creationId xmlns:a16="http://schemas.microsoft.com/office/drawing/2014/main" id="{1D5A44B8-2AD0-1341-8FCE-E3E9AABA9971}"/>
                </a:ext>
              </a:extLst>
            </p:cNvPr>
            <p:cNvSpPr>
              <a:spLocks noChangeShapeType="1"/>
            </p:cNvSpPr>
            <p:nvPr/>
          </p:nvSpPr>
          <p:spPr bwMode="auto">
            <a:xfrm>
              <a:off x="5570708" y="4068474"/>
              <a:ext cx="27916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8" name="Line 16">
              <a:extLst>
                <a:ext uri="{FF2B5EF4-FFF2-40B4-BE49-F238E27FC236}">
                  <a16:creationId xmlns:a16="http://schemas.microsoft.com/office/drawing/2014/main" id="{5663BE07-4335-834B-8C68-363B8D284B3F}"/>
                </a:ext>
              </a:extLst>
            </p:cNvPr>
            <p:cNvSpPr>
              <a:spLocks noChangeShapeType="1"/>
            </p:cNvSpPr>
            <p:nvPr/>
          </p:nvSpPr>
          <p:spPr bwMode="auto">
            <a:xfrm>
              <a:off x="5572103" y="5032984"/>
              <a:ext cx="277488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59" name="Line 17">
              <a:extLst>
                <a:ext uri="{FF2B5EF4-FFF2-40B4-BE49-F238E27FC236}">
                  <a16:creationId xmlns:a16="http://schemas.microsoft.com/office/drawing/2014/main" id="{8BA7216B-EE12-8A40-AD57-9827A1F20B39}"/>
                </a:ext>
              </a:extLst>
            </p:cNvPr>
            <p:cNvSpPr>
              <a:spLocks noChangeShapeType="1"/>
            </p:cNvSpPr>
            <p:nvPr/>
          </p:nvSpPr>
          <p:spPr bwMode="auto">
            <a:xfrm>
              <a:off x="5572103" y="4389512"/>
              <a:ext cx="277488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sp>
          <p:nvSpPr>
            <p:cNvPr id="60" name="Text Box 26">
              <a:extLst>
                <a:ext uri="{FF2B5EF4-FFF2-40B4-BE49-F238E27FC236}">
                  <a16:creationId xmlns:a16="http://schemas.microsoft.com/office/drawing/2014/main" id="{DA80541A-1E4D-B44F-9B4B-9BB432A3A9F3}"/>
                </a:ext>
              </a:extLst>
            </p:cNvPr>
            <p:cNvSpPr txBox="1">
              <a:spLocks noChangeArrowheads="1"/>
            </p:cNvSpPr>
            <p:nvPr/>
          </p:nvSpPr>
          <p:spPr bwMode="auto">
            <a:xfrm>
              <a:off x="6837861" y="4533281"/>
              <a:ext cx="498556" cy="3948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vert="eaVert" wrap="squar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l" defTabSz="1009650" rtl="0" eaLnBrk="1" fontAlgn="base" latinLnBrk="0" hangingPunct="1">
                <a:lnSpc>
                  <a:spcPct val="100000"/>
                </a:lnSpc>
                <a:spcBef>
                  <a:spcPct val="0"/>
                </a:spcBef>
                <a:spcAft>
                  <a:spcPct val="0"/>
                </a:spcAft>
                <a:buClrTx/>
                <a:buSzTx/>
                <a:buFontTx/>
                <a:buNone/>
                <a:tabLst/>
                <a:defRPr/>
              </a:pPr>
              <a:r>
                <a:rPr kumimoji="0" lang="en-US" altLang="zh-CN" sz="2374"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a:t>
              </a:r>
            </a:p>
          </p:txBody>
        </p:sp>
        <p:sp>
          <p:nvSpPr>
            <p:cNvPr id="61" name="Line 37">
              <a:extLst>
                <a:ext uri="{FF2B5EF4-FFF2-40B4-BE49-F238E27FC236}">
                  <a16:creationId xmlns:a16="http://schemas.microsoft.com/office/drawing/2014/main" id="{6FED7B36-E6A3-A146-9E4A-B19D9F3FE5F5}"/>
                </a:ext>
              </a:extLst>
            </p:cNvPr>
            <p:cNvSpPr>
              <a:spLocks noChangeShapeType="1"/>
            </p:cNvSpPr>
            <p:nvPr/>
          </p:nvSpPr>
          <p:spPr bwMode="auto">
            <a:xfrm>
              <a:off x="6296533" y="3780937"/>
              <a:ext cx="0" cy="1553544"/>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80957" tIns="40479" rIns="80957" bIns="40479"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endParaRPr>
            </a:p>
          </p:txBody>
        </p:sp>
      </p:grpSp>
      <p:sp>
        <p:nvSpPr>
          <p:cNvPr id="7" name="Rectangle 6">
            <a:extLst>
              <a:ext uri="{FF2B5EF4-FFF2-40B4-BE49-F238E27FC236}">
                <a16:creationId xmlns:a16="http://schemas.microsoft.com/office/drawing/2014/main" id="{A1B355EB-E7F7-D24A-B98A-DB7201DD20ED}"/>
              </a:ext>
            </a:extLst>
          </p:cNvPr>
          <p:cNvSpPr/>
          <p:nvPr/>
        </p:nvSpPr>
        <p:spPr>
          <a:xfrm>
            <a:off x="1603416" y="6254179"/>
            <a:ext cx="5700897" cy="369332"/>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强调：</a:t>
            </a:r>
            <a:r>
              <a:rPr kumimoji="0" lang="en-US" altLang="zh-CN"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Cache</a:t>
            </a:r>
            <a:r>
              <a:rPr kumimoji="0" lang="zh-CN" altLang="en-US"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与主存之间的数据传输以块</a:t>
            </a:r>
            <a:r>
              <a:rPr kumimoji="0" lang="en-US" altLang="zh-CN"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a:t>
            </a:r>
            <a:r>
              <a:rPr kumimoji="0" lang="zh-CN" altLang="en-US"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或行</a:t>
            </a:r>
            <a:r>
              <a:rPr kumimoji="0" lang="en-US" altLang="zh-CN"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a:t>
            </a:r>
            <a:r>
              <a:rPr kumimoji="0" lang="zh-CN" altLang="en-US" sz="1800" u="none" strike="noStrike" kern="1200" cap="none" spc="0" normalizeH="0" baseline="0" noProof="0" dirty="0">
                <a:ln>
                  <a:noFill/>
                </a:ln>
                <a:solidFill>
                  <a:srgbClr val="0432FF"/>
                </a:solidFill>
                <a:effectLst/>
                <a:uLnTx/>
                <a:uFillTx/>
                <a:latin typeface="SimHei" panose="02010609060101010101" pitchFamily="49" charset="-122"/>
                <a:ea typeface="SimHei" panose="02010609060101010101" pitchFamily="49" charset="-122"/>
                <a:cs typeface="+mn-cs"/>
              </a:rPr>
              <a:t>为单位</a:t>
            </a:r>
            <a:endParaRPr kumimoji="0" lang="en-CN" sz="1800" u="none" strike="noStrike" kern="1200" cap="none" spc="0" normalizeH="0" baseline="0" noProof="0" dirty="0">
              <a:ln>
                <a:noFill/>
              </a:ln>
              <a:solidFill>
                <a:srgbClr val="0432FF"/>
              </a:solidFill>
              <a:effectLst/>
              <a:uLnTx/>
              <a:uFillTx/>
              <a:latin typeface="Arial" charset="0"/>
              <a:ea typeface="SimHei" panose="02010609060101010101" pitchFamily="49" charset="-122"/>
              <a:cs typeface="+mn-cs"/>
            </a:endParaRPr>
          </a:p>
        </p:txBody>
      </p:sp>
      <p:sp>
        <p:nvSpPr>
          <p:cNvPr id="39" name="Text Box 25">
            <a:extLst>
              <a:ext uri="{FF2B5EF4-FFF2-40B4-BE49-F238E27FC236}">
                <a16:creationId xmlns:a16="http://schemas.microsoft.com/office/drawing/2014/main" id="{9857CEA3-013B-0142-A453-097E2FE032A9}"/>
              </a:ext>
            </a:extLst>
          </p:cNvPr>
          <p:cNvSpPr txBox="1">
            <a:spLocks noChangeArrowheads="1"/>
          </p:cNvSpPr>
          <p:nvPr/>
        </p:nvSpPr>
        <p:spPr bwMode="auto">
          <a:xfrm>
            <a:off x="4684454" y="4998126"/>
            <a:ext cx="545905" cy="3948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vert="eaVert" wrap="none" lIns="89401" tIns="44701" rIns="89401" bIns="44701">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ctr" defTabSz="1009650" rtl="0" eaLnBrk="1" fontAlgn="base" latinLnBrk="0" hangingPunct="1">
              <a:lnSpc>
                <a:spcPct val="100000"/>
              </a:lnSpc>
              <a:spcBef>
                <a:spcPct val="0"/>
              </a:spcBef>
              <a:spcAft>
                <a:spcPct val="0"/>
              </a:spcAft>
              <a:buClrTx/>
              <a:buSzTx/>
              <a:buFontTx/>
              <a:buNone/>
              <a:tabLst/>
              <a:defRPr/>
            </a:pPr>
            <a:r>
              <a:rPr kumimoji="0" lang="en-US" altLang="zh-CN" sz="2374"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a:t>
            </a:r>
          </a:p>
        </p:txBody>
      </p:sp>
      <p:sp>
        <p:nvSpPr>
          <p:cNvPr id="47" name="Text Box 18">
            <a:extLst>
              <a:ext uri="{FF2B5EF4-FFF2-40B4-BE49-F238E27FC236}">
                <a16:creationId xmlns:a16="http://schemas.microsoft.com/office/drawing/2014/main" id="{9C0578B3-299F-454D-BEB3-868A4A55EDB1}"/>
              </a:ext>
            </a:extLst>
          </p:cNvPr>
          <p:cNvSpPr txBox="1">
            <a:spLocks noChangeArrowheads="1"/>
          </p:cNvSpPr>
          <p:nvPr/>
        </p:nvSpPr>
        <p:spPr bwMode="auto">
          <a:xfrm>
            <a:off x="4693828" y="4498410"/>
            <a:ext cx="527156" cy="366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785" tIns="44393" rIns="88785" bIns="4439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marL="0" marR="0" lvl="0" indent="0" algn="ctr" defTabSz="1009650" rtl="0" eaLnBrk="1" fontAlgn="base" latinLnBrk="0" hangingPunct="1">
              <a:lnSpc>
                <a:spcPct val="100000"/>
              </a:lnSpc>
              <a:spcBef>
                <a:spcPct val="0"/>
              </a:spcBef>
              <a:spcAft>
                <a:spcPct val="0"/>
              </a:spcAft>
              <a:buClrTx/>
              <a:buSzTx/>
              <a:buFontTx/>
              <a:buNone/>
              <a:tabLst/>
              <a:defRPr/>
            </a:pPr>
            <a:r>
              <a:rPr kumimoji="1" lang="zh-CN" altLang="en-US"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行</a:t>
            </a:r>
            <a:r>
              <a:rPr kumimoji="1" lang="en-US" altLang="zh-CN" sz="1800" u="none" strike="noStrike" kern="1200" cap="none" spc="0" normalizeH="0" baseline="0" noProof="0" dirty="0">
                <a:ln>
                  <a:noFill/>
                </a:ln>
                <a:solidFill>
                  <a:srgbClr val="000000"/>
                </a:solidFill>
                <a:effectLst/>
                <a:uLnTx/>
                <a:uFillTx/>
                <a:latin typeface="Times New Roman" pitchFamily="18" charset="0"/>
                <a:ea typeface="SimHei" panose="02010609060101010101" pitchFamily="49" charset="-122"/>
                <a:cs typeface="+mn-cs"/>
              </a:rPr>
              <a:t>1</a:t>
            </a:r>
          </a:p>
        </p:txBody>
      </p:sp>
      <p:sp>
        <p:nvSpPr>
          <p:cNvPr id="6" name="标题 1">
            <a:extLst>
              <a:ext uri="{FF2B5EF4-FFF2-40B4-BE49-F238E27FC236}">
                <a16:creationId xmlns:a16="http://schemas.microsoft.com/office/drawing/2014/main" id="{DE722565-C4F9-241E-A749-683FAC8CB6E1}"/>
              </a:ext>
            </a:extLst>
          </p:cNvPr>
          <p:cNvSpPr>
            <a:spLocks noGrp="1"/>
          </p:cNvSpPr>
          <p:nvPr>
            <p:ph type="title"/>
          </p:nvPr>
        </p:nvSpPr>
        <p:spPr>
          <a:xfrm>
            <a:off x="457200" y="136525"/>
            <a:ext cx="8229600" cy="1143000"/>
          </a:xfrm>
        </p:spPr>
        <p:txBody>
          <a:bodyPr/>
          <a:lstStyle/>
          <a:p>
            <a:r>
              <a:rPr lang="zh-CN" altLang="en-US" dirty="0"/>
              <a:t>缓存技术：</a:t>
            </a:r>
            <a:r>
              <a:rPr lang="en-US" altLang="zh-CN" dirty="0"/>
              <a:t>Cache</a:t>
            </a:r>
            <a:r>
              <a:rPr lang="zh-CN" altLang="en-US" dirty="0"/>
              <a:t>存储体</a:t>
            </a:r>
          </a:p>
        </p:txBody>
      </p:sp>
    </p:spTree>
    <p:extLst>
      <p:ext uri="{BB962C8B-B14F-4D97-AF65-F5344CB8AC3E}">
        <p14:creationId xmlns:p14="http://schemas.microsoft.com/office/powerpoint/2010/main" val="507396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存储体</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1059673"/>
          </a:xfrm>
        </p:spPr>
        <p:txBody>
          <a:bodyPr/>
          <a:lstStyle/>
          <a:p>
            <a:pPr marL="514350" indent="-457200">
              <a:spcBef>
                <a:spcPts val="1000"/>
              </a:spcBef>
            </a:pPr>
            <a:r>
              <a:rPr kumimoji="1" lang="zh-CN" altLang="en-US" sz="2400" dirty="0">
                <a:solidFill>
                  <a:srgbClr val="0432FF"/>
                </a:solidFill>
              </a:rPr>
              <a:t>注意</a:t>
            </a:r>
            <a:r>
              <a:rPr kumimoji="1" lang="en-US" altLang="zh-CN" sz="2400" dirty="0"/>
              <a:t>: </a:t>
            </a:r>
            <a:r>
              <a:rPr kumimoji="1" lang="zh-CN" altLang="en-US" sz="2400" dirty="0"/>
              <a:t>每个</a:t>
            </a:r>
            <a:r>
              <a:rPr kumimoji="1" lang="en-US" altLang="zh-CN" sz="2400" dirty="0"/>
              <a:t>cache</a:t>
            </a:r>
            <a:r>
              <a:rPr kumimoji="1" lang="zh-CN" altLang="en-US" sz="2400" dirty="0"/>
              <a:t>行都包含一块“</a:t>
            </a:r>
            <a:r>
              <a:rPr kumimoji="1" lang="en-US" altLang="zh-CN" sz="2400" dirty="0"/>
              <a:t>block”</a:t>
            </a:r>
            <a:r>
              <a:rPr kumimoji="1" lang="zh-CN" altLang="en-US" sz="2400" dirty="0"/>
              <a:t>数据</a:t>
            </a:r>
          </a:p>
          <a:p>
            <a:pPr marL="914400" lvl="1" indent="-457200">
              <a:spcBef>
                <a:spcPts val="1000"/>
              </a:spcBef>
            </a:pPr>
            <a:r>
              <a:rPr kumimoji="1" lang="zh-CN" altLang="en-US" sz="2000" dirty="0"/>
              <a:t>标签为</a:t>
            </a:r>
            <a:r>
              <a:rPr kumimoji="1" lang="en-US" altLang="zh-CN" sz="2000" dirty="0"/>
              <a:t>100</a:t>
            </a:r>
            <a:r>
              <a:rPr kumimoji="1" lang="zh-CN" altLang="en-US" sz="2000" dirty="0"/>
              <a:t>的行可能包含地址为 </a:t>
            </a:r>
            <a:r>
              <a:rPr kumimoji="1" lang="en-US" altLang="zh-CN" sz="2000" dirty="0"/>
              <a:t>100</a:t>
            </a:r>
            <a:r>
              <a:rPr kumimoji="1" lang="en-US" altLang="zh-CN" sz="2000" dirty="0">
                <a:solidFill>
                  <a:srgbClr val="0432FF"/>
                </a:solidFill>
              </a:rPr>
              <a:t>0</a:t>
            </a:r>
            <a:r>
              <a:rPr kumimoji="1" lang="en-US" altLang="zh-CN" sz="2000" dirty="0"/>
              <a:t>, 100</a:t>
            </a:r>
            <a:r>
              <a:rPr kumimoji="1" lang="en-US" altLang="zh-CN" sz="2000" dirty="0">
                <a:solidFill>
                  <a:srgbClr val="0432FF"/>
                </a:solidFill>
              </a:rPr>
              <a:t>1</a:t>
            </a:r>
            <a:r>
              <a:rPr kumimoji="1" lang="en-US" altLang="zh-CN" sz="2000" dirty="0"/>
              <a:t>, 100</a:t>
            </a:r>
            <a:r>
              <a:rPr kumimoji="1" lang="en-US" altLang="zh-CN" sz="2000" dirty="0">
                <a:solidFill>
                  <a:srgbClr val="0432FF"/>
                </a:solidFill>
              </a:rPr>
              <a:t>2</a:t>
            </a:r>
            <a:r>
              <a:rPr kumimoji="1" lang="en-US" altLang="zh-CN" sz="2000" dirty="0"/>
              <a:t>, 100</a:t>
            </a:r>
            <a:r>
              <a:rPr kumimoji="1" lang="en-US" altLang="zh-CN" sz="2000" dirty="0">
                <a:solidFill>
                  <a:srgbClr val="0432FF"/>
                </a:solidFill>
              </a:rPr>
              <a:t>F</a:t>
            </a:r>
            <a:r>
              <a:rPr kumimoji="1" lang="zh-CN" altLang="en-US" sz="2000" dirty="0"/>
              <a:t>的数据</a:t>
            </a:r>
          </a:p>
        </p:txBody>
      </p:sp>
      <p:sp>
        <p:nvSpPr>
          <p:cNvPr id="5" name="Line 2">
            <a:extLst>
              <a:ext uri="{FF2B5EF4-FFF2-40B4-BE49-F238E27FC236}">
                <a16:creationId xmlns:a16="http://schemas.microsoft.com/office/drawing/2014/main" id="{EB44DDE2-3DB3-454D-A84D-ABF1E085BB1A}"/>
              </a:ext>
            </a:extLst>
          </p:cNvPr>
          <p:cNvSpPr>
            <a:spLocks noChangeShapeType="1"/>
          </p:cNvSpPr>
          <p:nvPr/>
        </p:nvSpPr>
        <p:spPr bwMode="auto">
          <a:xfrm flipH="1">
            <a:off x="1358776" y="4243974"/>
            <a:ext cx="1076737" cy="269031"/>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6" name="Line 3">
            <a:extLst>
              <a:ext uri="{FF2B5EF4-FFF2-40B4-BE49-F238E27FC236}">
                <a16:creationId xmlns:a16="http://schemas.microsoft.com/office/drawing/2014/main" id="{2F8D39F0-7D32-BE46-B84C-55A447FC7D1D}"/>
              </a:ext>
            </a:extLst>
          </p:cNvPr>
          <p:cNvSpPr>
            <a:spLocks noChangeShapeType="1"/>
          </p:cNvSpPr>
          <p:nvPr/>
        </p:nvSpPr>
        <p:spPr bwMode="auto">
          <a:xfrm flipH="1">
            <a:off x="3525331" y="3505458"/>
            <a:ext cx="61516" cy="329189"/>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7" name="Line 4">
            <a:extLst>
              <a:ext uri="{FF2B5EF4-FFF2-40B4-BE49-F238E27FC236}">
                <a16:creationId xmlns:a16="http://schemas.microsoft.com/office/drawing/2014/main" id="{263C1474-DE2E-CD41-BB09-F610568396D8}"/>
              </a:ext>
            </a:extLst>
          </p:cNvPr>
          <p:cNvSpPr>
            <a:spLocks noChangeShapeType="1"/>
          </p:cNvSpPr>
          <p:nvPr/>
        </p:nvSpPr>
        <p:spPr bwMode="auto">
          <a:xfrm flipH="1">
            <a:off x="3982355" y="3505458"/>
            <a:ext cx="372987" cy="314119"/>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8" name="Rectangle 6">
            <a:extLst>
              <a:ext uri="{FF2B5EF4-FFF2-40B4-BE49-F238E27FC236}">
                <a16:creationId xmlns:a16="http://schemas.microsoft.com/office/drawing/2014/main" id="{03BB7C04-0F7E-1D42-854A-286C191B5D19}"/>
              </a:ext>
            </a:extLst>
          </p:cNvPr>
          <p:cNvSpPr>
            <a:spLocks noChangeArrowheads="1"/>
          </p:cNvSpPr>
          <p:nvPr/>
        </p:nvSpPr>
        <p:spPr bwMode="auto">
          <a:xfrm>
            <a:off x="2215943" y="3717781"/>
            <a:ext cx="4201387" cy="1991355"/>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9" name="Line 7">
            <a:extLst>
              <a:ext uri="{FF2B5EF4-FFF2-40B4-BE49-F238E27FC236}">
                <a16:creationId xmlns:a16="http://schemas.microsoft.com/office/drawing/2014/main" id="{4A41B6EB-39AF-1143-A861-EC6E17750997}"/>
              </a:ext>
            </a:extLst>
          </p:cNvPr>
          <p:cNvSpPr>
            <a:spLocks noChangeShapeType="1"/>
          </p:cNvSpPr>
          <p:nvPr/>
        </p:nvSpPr>
        <p:spPr bwMode="auto">
          <a:xfrm>
            <a:off x="2206090" y="4042201"/>
            <a:ext cx="3765061"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0" name="Line 8">
            <a:extLst>
              <a:ext uri="{FF2B5EF4-FFF2-40B4-BE49-F238E27FC236}">
                <a16:creationId xmlns:a16="http://schemas.microsoft.com/office/drawing/2014/main" id="{B1D39B0A-FF9E-504D-975C-D2C51C1D2EAA}"/>
              </a:ext>
            </a:extLst>
          </p:cNvPr>
          <p:cNvSpPr>
            <a:spLocks noChangeShapeType="1"/>
          </p:cNvSpPr>
          <p:nvPr/>
        </p:nvSpPr>
        <p:spPr bwMode="auto">
          <a:xfrm>
            <a:off x="2206091" y="4378490"/>
            <a:ext cx="376506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1" name="Line 9">
            <a:extLst>
              <a:ext uri="{FF2B5EF4-FFF2-40B4-BE49-F238E27FC236}">
                <a16:creationId xmlns:a16="http://schemas.microsoft.com/office/drawing/2014/main" id="{C3FE069D-FBBB-404B-85C3-92849DE78A05}"/>
              </a:ext>
            </a:extLst>
          </p:cNvPr>
          <p:cNvSpPr>
            <a:spLocks noChangeShapeType="1"/>
          </p:cNvSpPr>
          <p:nvPr/>
        </p:nvSpPr>
        <p:spPr bwMode="auto">
          <a:xfrm>
            <a:off x="2206091" y="4713459"/>
            <a:ext cx="376506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2" name="Line 10">
            <a:extLst>
              <a:ext uri="{FF2B5EF4-FFF2-40B4-BE49-F238E27FC236}">
                <a16:creationId xmlns:a16="http://schemas.microsoft.com/office/drawing/2014/main" id="{ACB0E10B-2182-E240-AFD6-72CA5CAD0289}"/>
              </a:ext>
            </a:extLst>
          </p:cNvPr>
          <p:cNvSpPr>
            <a:spLocks noChangeShapeType="1"/>
          </p:cNvSpPr>
          <p:nvPr/>
        </p:nvSpPr>
        <p:spPr bwMode="auto">
          <a:xfrm>
            <a:off x="2206090" y="5049747"/>
            <a:ext cx="3994483"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3" name="Line 11">
            <a:extLst>
              <a:ext uri="{FF2B5EF4-FFF2-40B4-BE49-F238E27FC236}">
                <a16:creationId xmlns:a16="http://schemas.microsoft.com/office/drawing/2014/main" id="{1331B570-5BD1-B348-AB4E-5EFAE685B980}"/>
              </a:ext>
            </a:extLst>
          </p:cNvPr>
          <p:cNvSpPr>
            <a:spLocks noChangeShapeType="1"/>
          </p:cNvSpPr>
          <p:nvPr/>
        </p:nvSpPr>
        <p:spPr bwMode="auto">
          <a:xfrm>
            <a:off x="2206091" y="5384717"/>
            <a:ext cx="376506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4" name="Line 12">
            <a:extLst>
              <a:ext uri="{FF2B5EF4-FFF2-40B4-BE49-F238E27FC236}">
                <a16:creationId xmlns:a16="http://schemas.microsoft.com/office/drawing/2014/main" id="{159636C2-EC08-954D-ABF6-5FFB2C3CFADA}"/>
              </a:ext>
            </a:extLst>
          </p:cNvPr>
          <p:cNvSpPr>
            <a:spLocks noChangeShapeType="1"/>
          </p:cNvSpPr>
          <p:nvPr/>
        </p:nvSpPr>
        <p:spPr bwMode="auto">
          <a:xfrm>
            <a:off x="4970420" y="3707231"/>
            <a:ext cx="0" cy="20137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5" name="Line 13">
            <a:extLst>
              <a:ext uri="{FF2B5EF4-FFF2-40B4-BE49-F238E27FC236}">
                <a16:creationId xmlns:a16="http://schemas.microsoft.com/office/drawing/2014/main" id="{C4E9A9B4-B5BC-7E4C-A2B5-CF378CC0C1C4}"/>
              </a:ext>
            </a:extLst>
          </p:cNvPr>
          <p:cNvSpPr>
            <a:spLocks noChangeShapeType="1"/>
          </p:cNvSpPr>
          <p:nvPr/>
        </p:nvSpPr>
        <p:spPr bwMode="auto">
          <a:xfrm>
            <a:off x="3125188" y="3707231"/>
            <a:ext cx="0" cy="201377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6" name="Line 14">
            <a:extLst>
              <a:ext uri="{FF2B5EF4-FFF2-40B4-BE49-F238E27FC236}">
                <a16:creationId xmlns:a16="http://schemas.microsoft.com/office/drawing/2014/main" id="{6E01490C-BC6F-4A4C-A933-DFA319A20068}"/>
              </a:ext>
            </a:extLst>
          </p:cNvPr>
          <p:cNvSpPr>
            <a:spLocks noChangeShapeType="1"/>
          </p:cNvSpPr>
          <p:nvPr/>
        </p:nvSpPr>
        <p:spPr bwMode="auto">
          <a:xfrm>
            <a:off x="3586848" y="3707231"/>
            <a:ext cx="0" cy="20137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7" name="Line 15">
            <a:extLst>
              <a:ext uri="{FF2B5EF4-FFF2-40B4-BE49-F238E27FC236}">
                <a16:creationId xmlns:a16="http://schemas.microsoft.com/office/drawing/2014/main" id="{77E455FB-88BE-C341-9C97-A4F151898476}"/>
              </a:ext>
            </a:extLst>
          </p:cNvPr>
          <p:cNvSpPr>
            <a:spLocks noChangeShapeType="1"/>
          </p:cNvSpPr>
          <p:nvPr/>
        </p:nvSpPr>
        <p:spPr bwMode="auto">
          <a:xfrm>
            <a:off x="4048508" y="3707231"/>
            <a:ext cx="0" cy="20137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8" name="Line 16">
            <a:extLst>
              <a:ext uri="{FF2B5EF4-FFF2-40B4-BE49-F238E27FC236}">
                <a16:creationId xmlns:a16="http://schemas.microsoft.com/office/drawing/2014/main" id="{85A28466-C158-CC4F-8B2A-2C017E471F7D}"/>
              </a:ext>
            </a:extLst>
          </p:cNvPr>
          <p:cNvSpPr>
            <a:spLocks noChangeShapeType="1"/>
          </p:cNvSpPr>
          <p:nvPr/>
        </p:nvSpPr>
        <p:spPr bwMode="auto">
          <a:xfrm>
            <a:off x="4510167" y="3707231"/>
            <a:ext cx="0" cy="20137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19" name="Line 17">
            <a:extLst>
              <a:ext uri="{FF2B5EF4-FFF2-40B4-BE49-F238E27FC236}">
                <a16:creationId xmlns:a16="http://schemas.microsoft.com/office/drawing/2014/main" id="{2B04717E-126D-2B4A-B6A6-0B66474975F6}"/>
              </a:ext>
            </a:extLst>
          </p:cNvPr>
          <p:cNvSpPr>
            <a:spLocks noChangeShapeType="1"/>
          </p:cNvSpPr>
          <p:nvPr/>
        </p:nvSpPr>
        <p:spPr bwMode="auto">
          <a:xfrm>
            <a:off x="5971152" y="3707231"/>
            <a:ext cx="0" cy="20137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0" name="Line 18">
            <a:extLst>
              <a:ext uri="{FF2B5EF4-FFF2-40B4-BE49-F238E27FC236}">
                <a16:creationId xmlns:a16="http://schemas.microsoft.com/office/drawing/2014/main" id="{478EC602-1928-444A-B65A-EDAB2B3421BA}"/>
              </a:ext>
            </a:extLst>
          </p:cNvPr>
          <p:cNvSpPr>
            <a:spLocks noChangeShapeType="1"/>
          </p:cNvSpPr>
          <p:nvPr/>
        </p:nvSpPr>
        <p:spPr bwMode="auto">
          <a:xfrm>
            <a:off x="5971152" y="4042201"/>
            <a:ext cx="45884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1" name="Line 19">
            <a:extLst>
              <a:ext uri="{FF2B5EF4-FFF2-40B4-BE49-F238E27FC236}">
                <a16:creationId xmlns:a16="http://schemas.microsoft.com/office/drawing/2014/main" id="{519076C4-712D-D346-9A05-56C3F99EEB15}"/>
              </a:ext>
            </a:extLst>
          </p:cNvPr>
          <p:cNvSpPr>
            <a:spLocks noChangeShapeType="1"/>
          </p:cNvSpPr>
          <p:nvPr/>
        </p:nvSpPr>
        <p:spPr bwMode="auto">
          <a:xfrm>
            <a:off x="5971152" y="4378490"/>
            <a:ext cx="45884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2" name="Line 20">
            <a:extLst>
              <a:ext uri="{FF2B5EF4-FFF2-40B4-BE49-F238E27FC236}">
                <a16:creationId xmlns:a16="http://schemas.microsoft.com/office/drawing/2014/main" id="{C0D51E3A-88BD-6B44-B6CE-55F376CFB574}"/>
              </a:ext>
            </a:extLst>
          </p:cNvPr>
          <p:cNvSpPr>
            <a:spLocks noChangeShapeType="1"/>
          </p:cNvSpPr>
          <p:nvPr/>
        </p:nvSpPr>
        <p:spPr bwMode="auto">
          <a:xfrm>
            <a:off x="5971152" y="4713459"/>
            <a:ext cx="45884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3" name="Line 21">
            <a:extLst>
              <a:ext uri="{FF2B5EF4-FFF2-40B4-BE49-F238E27FC236}">
                <a16:creationId xmlns:a16="http://schemas.microsoft.com/office/drawing/2014/main" id="{C1C2831D-00BF-414F-BACF-15B58E5D5A67}"/>
              </a:ext>
            </a:extLst>
          </p:cNvPr>
          <p:cNvSpPr>
            <a:spLocks noChangeShapeType="1"/>
          </p:cNvSpPr>
          <p:nvPr/>
        </p:nvSpPr>
        <p:spPr bwMode="auto">
          <a:xfrm>
            <a:off x="5971152" y="5049747"/>
            <a:ext cx="45884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4" name="Line 22">
            <a:extLst>
              <a:ext uri="{FF2B5EF4-FFF2-40B4-BE49-F238E27FC236}">
                <a16:creationId xmlns:a16="http://schemas.microsoft.com/office/drawing/2014/main" id="{AD9A2C40-1E2F-7E40-9114-684CCBF0D784}"/>
              </a:ext>
            </a:extLst>
          </p:cNvPr>
          <p:cNvSpPr>
            <a:spLocks noChangeShapeType="1"/>
          </p:cNvSpPr>
          <p:nvPr/>
        </p:nvSpPr>
        <p:spPr bwMode="auto">
          <a:xfrm>
            <a:off x="5971152" y="5384717"/>
            <a:ext cx="45884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5" name="Line 23">
            <a:extLst>
              <a:ext uri="{FF2B5EF4-FFF2-40B4-BE49-F238E27FC236}">
                <a16:creationId xmlns:a16="http://schemas.microsoft.com/office/drawing/2014/main" id="{1F533A17-35FE-CE48-A140-73748E30530A}"/>
              </a:ext>
            </a:extLst>
          </p:cNvPr>
          <p:cNvSpPr>
            <a:spLocks noChangeShapeType="1"/>
          </p:cNvSpPr>
          <p:nvPr/>
        </p:nvSpPr>
        <p:spPr bwMode="auto">
          <a:xfrm>
            <a:off x="5123837" y="3909005"/>
            <a:ext cx="615078"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6" name="Line 24">
            <a:extLst>
              <a:ext uri="{FF2B5EF4-FFF2-40B4-BE49-F238E27FC236}">
                <a16:creationId xmlns:a16="http://schemas.microsoft.com/office/drawing/2014/main" id="{F29631AB-6874-C944-A0EC-8A15DA09E9F4}"/>
              </a:ext>
            </a:extLst>
          </p:cNvPr>
          <p:cNvSpPr>
            <a:spLocks noChangeShapeType="1"/>
          </p:cNvSpPr>
          <p:nvPr/>
        </p:nvSpPr>
        <p:spPr bwMode="auto">
          <a:xfrm>
            <a:off x="5123837" y="4176716"/>
            <a:ext cx="615078"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7" name="Line 25">
            <a:extLst>
              <a:ext uri="{FF2B5EF4-FFF2-40B4-BE49-F238E27FC236}">
                <a16:creationId xmlns:a16="http://schemas.microsoft.com/office/drawing/2014/main" id="{9E0EE75B-5081-6C47-95B8-ED7307687F3E}"/>
              </a:ext>
            </a:extLst>
          </p:cNvPr>
          <p:cNvSpPr>
            <a:spLocks noChangeShapeType="1"/>
          </p:cNvSpPr>
          <p:nvPr/>
        </p:nvSpPr>
        <p:spPr bwMode="auto">
          <a:xfrm>
            <a:off x="5123837" y="5586490"/>
            <a:ext cx="615078"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29" name="Rectangle 27">
            <a:extLst>
              <a:ext uri="{FF2B5EF4-FFF2-40B4-BE49-F238E27FC236}">
                <a16:creationId xmlns:a16="http://schemas.microsoft.com/office/drawing/2014/main" id="{0A07DBD0-FAE0-0A44-B8BC-1DCC1B278140}"/>
              </a:ext>
            </a:extLst>
          </p:cNvPr>
          <p:cNvSpPr>
            <a:spLocks noChangeArrowheads="1"/>
          </p:cNvSpPr>
          <p:nvPr/>
        </p:nvSpPr>
        <p:spPr bwMode="auto">
          <a:xfrm>
            <a:off x="574798" y="4472122"/>
            <a:ext cx="1187930" cy="6566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01644" tIns="50823" rIns="101644" bIns="50823">
            <a:spAutoFit/>
          </a:bodyPr>
          <a:lstStyle/>
          <a:p>
            <a:pPr marL="0" marR="0" lvl="0" indent="0" algn="l" defTabSz="1009650" rtl="0" eaLnBrk="0" fontAlgn="base" latinLnBrk="0" hangingPunct="0">
              <a:lnSpc>
                <a:spcPct val="100000"/>
              </a:lnSpc>
              <a:spcBef>
                <a:spcPct val="0"/>
              </a:spcBef>
              <a:spcAft>
                <a:spcPct val="0"/>
              </a:spcAft>
              <a:buClrTx/>
              <a:buSzTx/>
              <a:buFontTx/>
              <a:buNone/>
              <a:tabLst/>
              <a:defRPr/>
            </a:pPr>
            <a:r>
              <a:rPr kumimoji="0" lang="zh-CN" altLang="en-US"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  地址</a:t>
            </a:r>
          </a:p>
          <a:p>
            <a:pPr marL="0" marR="0" lvl="0" indent="0" algn="l" defTabSz="1009650" rtl="0" eaLnBrk="0" fontAlgn="base" latinLnBrk="0" hangingPunct="0">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  </a:t>
            </a:r>
            <a:r>
              <a:rPr kumimoji="0" lang="zh-CN" altLang="en-US"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标签</a:t>
            </a:r>
          </a:p>
        </p:txBody>
      </p:sp>
      <p:sp>
        <p:nvSpPr>
          <p:cNvPr id="30" name="Rectangle 28">
            <a:extLst>
              <a:ext uri="{FF2B5EF4-FFF2-40B4-BE49-F238E27FC236}">
                <a16:creationId xmlns:a16="http://schemas.microsoft.com/office/drawing/2014/main" id="{7EE79FED-0DD3-8743-88AA-A76996CA25AE}"/>
              </a:ext>
            </a:extLst>
          </p:cNvPr>
          <p:cNvSpPr>
            <a:spLocks noChangeArrowheads="1"/>
          </p:cNvSpPr>
          <p:nvPr/>
        </p:nvSpPr>
        <p:spPr bwMode="auto">
          <a:xfrm>
            <a:off x="3109706" y="3715145"/>
            <a:ext cx="511447" cy="34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marL="0" marR="0" lvl="0" indent="0" algn="l" defTabSz="1009650" rtl="0" eaLnBrk="0" fontAlgn="base" latinLnBrk="0" hangingPunct="0">
              <a:lnSpc>
                <a:spcPct val="70000"/>
              </a:lnSpc>
              <a:spcBef>
                <a:spcPct val="0"/>
              </a:spcBef>
              <a:spcAft>
                <a:spcPct val="0"/>
              </a:spcAft>
              <a:buClrTx/>
              <a:buSzTx/>
              <a:buFontTx/>
              <a:buNone/>
              <a:tabLst/>
              <a:defRPr/>
            </a:pP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Data</a:t>
            </a:r>
          </a:p>
          <a:p>
            <a:pPr marL="0" marR="0" lvl="0" indent="0" algn="l" defTabSz="1009650" rtl="0" eaLnBrk="0" fontAlgn="base" latinLnBrk="0" hangingPunct="0">
              <a:lnSpc>
                <a:spcPct val="70000"/>
              </a:lnSpc>
              <a:spcBef>
                <a:spcPct val="0"/>
              </a:spcBef>
              <a:spcAft>
                <a:spcPct val="0"/>
              </a:spcAft>
              <a:buClrTx/>
              <a:buSzTx/>
              <a:buFontTx/>
              <a:buNone/>
              <a:tabLst/>
              <a:defRPr/>
            </a:pP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Byte</a:t>
            </a:r>
          </a:p>
        </p:txBody>
      </p:sp>
      <p:sp>
        <p:nvSpPr>
          <p:cNvPr id="31" name="Rectangle 29">
            <a:extLst>
              <a:ext uri="{FF2B5EF4-FFF2-40B4-BE49-F238E27FC236}">
                <a16:creationId xmlns:a16="http://schemas.microsoft.com/office/drawing/2014/main" id="{809E5CF8-25E1-8F4E-BE4C-720B19C5901F}"/>
              </a:ext>
            </a:extLst>
          </p:cNvPr>
          <p:cNvSpPr>
            <a:spLocks noChangeArrowheads="1"/>
          </p:cNvSpPr>
          <p:nvPr/>
        </p:nvSpPr>
        <p:spPr bwMode="auto">
          <a:xfrm>
            <a:off x="3571366" y="3715145"/>
            <a:ext cx="511447" cy="34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marL="0" marR="0" lvl="0" indent="0" algn="l" defTabSz="1009650" rtl="0" eaLnBrk="0" fontAlgn="base" latinLnBrk="0" hangingPunct="0">
              <a:lnSpc>
                <a:spcPct val="70000"/>
              </a:lnSpc>
              <a:spcBef>
                <a:spcPct val="0"/>
              </a:spcBef>
              <a:spcAft>
                <a:spcPct val="0"/>
              </a:spcAft>
              <a:buClrTx/>
              <a:buSzTx/>
              <a:buFontTx/>
              <a:buNone/>
              <a:tabLst/>
              <a:defRPr/>
            </a:pP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Data</a:t>
            </a:r>
          </a:p>
          <a:p>
            <a:pPr marL="0" marR="0" lvl="0" indent="0" algn="l" defTabSz="1009650" rtl="0" eaLnBrk="0" fontAlgn="base" latinLnBrk="0" hangingPunct="0">
              <a:lnSpc>
                <a:spcPct val="70000"/>
              </a:lnSpc>
              <a:spcBef>
                <a:spcPct val="0"/>
              </a:spcBef>
              <a:spcAft>
                <a:spcPct val="0"/>
              </a:spcAft>
              <a:buClrTx/>
              <a:buSzTx/>
              <a:buFontTx/>
              <a:buNone/>
              <a:tabLst/>
              <a:defRPr/>
            </a:pP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Byte</a:t>
            </a:r>
          </a:p>
        </p:txBody>
      </p:sp>
      <p:sp>
        <p:nvSpPr>
          <p:cNvPr id="32" name="Rectangle 30">
            <a:extLst>
              <a:ext uri="{FF2B5EF4-FFF2-40B4-BE49-F238E27FC236}">
                <a16:creationId xmlns:a16="http://schemas.microsoft.com/office/drawing/2014/main" id="{387CA4F5-727E-E348-AF9E-D5704AFB6545}"/>
              </a:ext>
            </a:extLst>
          </p:cNvPr>
          <p:cNvSpPr>
            <a:spLocks noChangeArrowheads="1"/>
          </p:cNvSpPr>
          <p:nvPr/>
        </p:nvSpPr>
        <p:spPr bwMode="auto">
          <a:xfrm>
            <a:off x="3109706" y="4051433"/>
            <a:ext cx="511447" cy="34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marL="0" marR="0" lvl="0" indent="0" algn="l" defTabSz="1009650" rtl="0" eaLnBrk="0" fontAlgn="base" latinLnBrk="0" hangingPunct="0">
              <a:lnSpc>
                <a:spcPct val="70000"/>
              </a:lnSpc>
              <a:spcBef>
                <a:spcPct val="0"/>
              </a:spcBef>
              <a:spcAft>
                <a:spcPct val="0"/>
              </a:spcAft>
              <a:buClrTx/>
              <a:buSzTx/>
              <a:buFontTx/>
              <a:buNone/>
              <a:tabLst/>
              <a:defRPr/>
            </a:pP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Data</a:t>
            </a:r>
          </a:p>
          <a:p>
            <a:pPr marL="0" marR="0" lvl="0" indent="0" algn="l" defTabSz="1009650" rtl="0" eaLnBrk="0" fontAlgn="base" latinLnBrk="0" hangingPunct="0">
              <a:lnSpc>
                <a:spcPct val="70000"/>
              </a:lnSpc>
              <a:spcBef>
                <a:spcPct val="0"/>
              </a:spcBef>
              <a:spcAft>
                <a:spcPct val="0"/>
              </a:spcAft>
              <a:buClrTx/>
              <a:buSzTx/>
              <a:buFontTx/>
              <a:buNone/>
              <a:tabLst/>
              <a:defRPr/>
            </a:pP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Byte</a:t>
            </a:r>
          </a:p>
        </p:txBody>
      </p:sp>
      <p:sp>
        <p:nvSpPr>
          <p:cNvPr id="33" name="Rectangle 31">
            <a:extLst>
              <a:ext uri="{FF2B5EF4-FFF2-40B4-BE49-F238E27FC236}">
                <a16:creationId xmlns:a16="http://schemas.microsoft.com/office/drawing/2014/main" id="{23DB6A7D-E378-AD44-9658-69138ECC170F}"/>
              </a:ext>
            </a:extLst>
          </p:cNvPr>
          <p:cNvSpPr>
            <a:spLocks noChangeArrowheads="1"/>
          </p:cNvSpPr>
          <p:nvPr/>
        </p:nvSpPr>
        <p:spPr bwMode="auto">
          <a:xfrm>
            <a:off x="7181602" y="3687306"/>
            <a:ext cx="1962398" cy="6566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marL="0" marR="0" lvl="0" indent="0" algn="l" defTabSz="1009650" rtl="0" eaLnBrk="0" fontAlgn="base" latinLnBrk="0" hangingPunct="0">
              <a:lnSpc>
                <a:spcPct val="100000"/>
              </a:lnSpc>
              <a:spcBef>
                <a:spcPct val="0"/>
              </a:spcBef>
              <a:spcAft>
                <a:spcPct val="0"/>
              </a:spcAft>
              <a:buClrTx/>
              <a:buSzTx/>
              <a:buFontTx/>
              <a:buNone/>
              <a:tabLst/>
              <a:defRPr/>
            </a:pPr>
            <a:r>
              <a:rPr kumimoji="0" lang="en-US" altLang="zh-CN"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Cache</a:t>
            </a:r>
            <a:r>
              <a:rPr kumimoji="0" lang="zh-CN" altLang="en-US"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行</a:t>
            </a:r>
            <a:r>
              <a:rPr kumimoji="0" lang="en-US" altLang="zh-CN"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t>
            </a:r>
            <a:r>
              <a:rPr kumimoji="0" lang="zh-CN" altLang="en-US"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以</a:t>
            </a:r>
            <a:r>
              <a:rPr kumimoji="0" lang="zh-CN" altLang="en-US" sz="1800" u="none" strike="noStrike" kern="1200" cap="none" spc="0" normalizeH="0" baseline="0" noProof="0" dirty="0">
                <a:ln>
                  <a:noFill/>
                </a:ln>
                <a:solidFill>
                  <a:srgbClr val="000000"/>
                </a:solidFill>
                <a:effectLst/>
                <a:uLnTx/>
                <a:uFillTx/>
                <a:latin typeface="Arial" charset="0"/>
                <a:ea typeface="SimHei" panose="02010609060101010101" pitchFamily="49" charset="-122"/>
                <a:cs typeface="+mn-cs"/>
              </a:rPr>
              <a:t>一行存</a:t>
            </a:r>
            <a:r>
              <a:rPr kumimoji="0" lang="en-US" altLang="zh-CN"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16</a:t>
            </a:r>
            <a:r>
              <a:rPr kumimoji="0" lang="zh-CN" altLang="en-US"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字节为例）</a:t>
            </a:r>
            <a:endParaRPr kumimoji="0" lang="en-US" altLang="zh-CN" sz="18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34" name="Rectangle 32">
            <a:extLst>
              <a:ext uri="{FF2B5EF4-FFF2-40B4-BE49-F238E27FC236}">
                <a16:creationId xmlns:a16="http://schemas.microsoft.com/office/drawing/2014/main" id="{84D13EC1-6383-8144-9920-03AF889D3FA0}"/>
              </a:ext>
            </a:extLst>
          </p:cNvPr>
          <p:cNvSpPr>
            <a:spLocks noChangeArrowheads="1"/>
          </p:cNvSpPr>
          <p:nvPr/>
        </p:nvSpPr>
        <p:spPr bwMode="auto">
          <a:xfrm>
            <a:off x="2380621" y="3773170"/>
            <a:ext cx="503432" cy="318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marL="0" marR="0" lvl="0" indent="0" algn="ctr" defTabSz="100965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100</a:t>
            </a:r>
          </a:p>
        </p:txBody>
      </p:sp>
      <p:sp>
        <p:nvSpPr>
          <p:cNvPr id="35" name="Rectangle 33">
            <a:extLst>
              <a:ext uri="{FF2B5EF4-FFF2-40B4-BE49-F238E27FC236}">
                <a16:creationId xmlns:a16="http://schemas.microsoft.com/office/drawing/2014/main" id="{6C2D7EC7-BFDF-5143-83B7-8E790A8AE01C}"/>
              </a:ext>
            </a:extLst>
          </p:cNvPr>
          <p:cNvSpPr>
            <a:spLocks noChangeArrowheads="1"/>
          </p:cNvSpPr>
          <p:nvPr/>
        </p:nvSpPr>
        <p:spPr bwMode="auto">
          <a:xfrm>
            <a:off x="2385559" y="4108140"/>
            <a:ext cx="493557" cy="318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marL="0" marR="0" lvl="0" indent="0" algn="ctr" defTabSz="100965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011</a:t>
            </a:r>
          </a:p>
        </p:txBody>
      </p:sp>
      <p:sp>
        <p:nvSpPr>
          <p:cNvPr id="36" name="Rectangle 34">
            <a:extLst>
              <a:ext uri="{FF2B5EF4-FFF2-40B4-BE49-F238E27FC236}">
                <a16:creationId xmlns:a16="http://schemas.microsoft.com/office/drawing/2014/main" id="{82CDDD88-52F3-AB4A-ADA0-B551440DB530}"/>
              </a:ext>
            </a:extLst>
          </p:cNvPr>
          <p:cNvSpPr>
            <a:spLocks noChangeArrowheads="1"/>
          </p:cNvSpPr>
          <p:nvPr/>
        </p:nvSpPr>
        <p:spPr bwMode="auto">
          <a:xfrm>
            <a:off x="2380621" y="4444428"/>
            <a:ext cx="503432" cy="318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marL="0" marR="0" lvl="0" indent="0" algn="ctr" defTabSz="1009650" rtl="0" eaLnBrk="0" fontAlgn="base" latinLnBrk="0" hangingPunct="0">
              <a:lnSpc>
                <a:spcPct val="100000"/>
              </a:lnSpc>
              <a:spcBef>
                <a:spcPct val="0"/>
              </a:spcBef>
              <a:spcAft>
                <a:spcPct val="0"/>
              </a:spcAft>
              <a:buClrTx/>
              <a:buSzTx/>
              <a:buFontTx/>
              <a:buNone/>
              <a:tabLst/>
              <a:defRPr/>
            </a:pPr>
            <a:r>
              <a:rPr kumimoji="0" lang="en-US" altLang="zh-CN"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101</a:t>
            </a:r>
          </a:p>
        </p:txBody>
      </p:sp>
      <p:sp>
        <p:nvSpPr>
          <p:cNvPr id="37" name="Line 35">
            <a:extLst>
              <a:ext uri="{FF2B5EF4-FFF2-40B4-BE49-F238E27FC236}">
                <a16:creationId xmlns:a16="http://schemas.microsoft.com/office/drawing/2014/main" id="{3009CE3F-9569-0841-AFB4-55E3A939A6DF}"/>
              </a:ext>
            </a:extLst>
          </p:cNvPr>
          <p:cNvSpPr>
            <a:spLocks noChangeShapeType="1"/>
          </p:cNvSpPr>
          <p:nvPr/>
        </p:nvSpPr>
        <p:spPr bwMode="auto">
          <a:xfrm flipH="1">
            <a:off x="6660827" y="3862704"/>
            <a:ext cx="537665" cy="0"/>
          </a:xfrm>
          <a:prstGeom prst="line">
            <a:avLst/>
          </a:prstGeom>
          <a:noFill/>
          <a:ln w="25400">
            <a:solidFill>
              <a:schemeClr val="tx1"/>
            </a:solidFill>
            <a:round/>
            <a:headEnd type="stealth" w="med" len="med"/>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38" name="Arc 36">
            <a:extLst>
              <a:ext uri="{FF2B5EF4-FFF2-40B4-BE49-F238E27FC236}">
                <a16:creationId xmlns:a16="http://schemas.microsoft.com/office/drawing/2014/main" id="{2CBBCD4A-17F6-F542-90E5-4FEACE7D1A9B}"/>
              </a:ext>
            </a:extLst>
          </p:cNvPr>
          <p:cNvSpPr>
            <a:spLocks/>
          </p:cNvSpPr>
          <p:nvPr/>
        </p:nvSpPr>
        <p:spPr bwMode="auto">
          <a:xfrm>
            <a:off x="6472685" y="3707231"/>
            <a:ext cx="154825" cy="334970"/>
          </a:xfrm>
          <a:custGeom>
            <a:avLst/>
            <a:gdLst>
              <a:gd name="T0" fmla="*/ 0 w 21824"/>
              <a:gd name="T1" fmla="*/ 7353 h 43103"/>
              <a:gd name="T2" fmla="*/ 9284210 w 21824"/>
              <a:gd name="T3" fmla="*/ 330116602 h 43103"/>
              <a:gd name="T4" fmla="*/ 918045 w 21824"/>
              <a:gd name="T5" fmla="*/ 165429579 h 43103"/>
              <a:gd name="T6" fmla="*/ 0 60000 65536"/>
              <a:gd name="T7" fmla="*/ 0 60000 65536"/>
              <a:gd name="T8" fmla="*/ 0 60000 65536"/>
            </a:gdLst>
            <a:ahLst/>
            <a:cxnLst>
              <a:cxn ang="T6">
                <a:pos x="T0" y="T1"/>
              </a:cxn>
              <a:cxn ang="T7">
                <a:pos x="T2" y="T3"/>
              </a:cxn>
              <a:cxn ang="T8">
                <a:pos x="T4" y="T5"/>
              </a:cxn>
            </a:cxnLst>
            <a:rect l="0" t="0" r="r" b="b"/>
            <a:pathLst>
              <a:path w="21824" h="43103" fill="none" extrusionOk="0">
                <a:moveTo>
                  <a:pt x="0" y="1"/>
                </a:moveTo>
                <a:cubicBezTo>
                  <a:pt x="74" y="0"/>
                  <a:pt x="149" y="-1"/>
                  <a:pt x="224" y="0"/>
                </a:cubicBezTo>
                <a:cubicBezTo>
                  <a:pt x="12153" y="0"/>
                  <a:pt x="21824" y="9670"/>
                  <a:pt x="21824" y="21600"/>
                </a:cubicBezTo>
                <a:cubicBezTo>
                  <a:pt x="21824" y="32738"/>
                  <a:pt x="13353" y="42050"/>
                  <a:pt x="2265" y="43103"/>
                </a:cubicBezTo>
              </a:path>
              <a:path w="21824" h="43103" stroke="0" extrusionOk="0">
                <a:moveTo>
                  <a:pt x="0" y="1"/>
                </a:moveTo>
                <a:cubicBezTo>
                  <a:pt x="74" y="0"/>
                  <a:pt x="149" y="-1"/>
                  <a:pt x="224" y="0"/>
                </a:cubicBezTo>
                <a:cubicBezTo>
                  <a:pt x="12153" y="0"/>
                  <a:pt x="21824" y="9670"/>
                  <a:pt x="21824" y="21600"/>
                </a:cubicBezTo>
                <a:cubicBezTo>
                  <a:pt x="21824" y="32738"/>
                  <a:pt x="13353" y="42050"/>
                  <a:pt x="2265" y="43103"/>
                </a:cubicBezTo>
                <a:lnTo>
                  <a:pt x="224" y="21600"/>
                </a:lnTo>
                <a:lnTo>
                  <a:pt x="0"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39" name="Rectangle 38">
            <a:extLst>
              <a:ext uri="{FF2B5EF4-FFF2-40B4-BE49-F238E27FC236}">
                <a16:creationId xmlns:a16="http://schemas.microsoft.com/office/drawing/2014/main" id="{A2A21AE8-B182-5940-908E-03AFE3C1E8B2}"/>
              </a:ext>
            </a:extLst>
          </p:cNvPr>
          <p:cNvSpPr>
            <a:spLocks noChangeArrowheads="1"/>
          </p:cNvSpPr>
          <p:nvPr/>
        </p:nvSpPr>
        <p:spPr bwMode="auto">
          <a:xfrm>
            <a:off x="6658465" y="4282303"/>
            <a:ext cx="2288290" cy="379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marL="0" marR="0" lvl="0" indent="0" algn="ctr" defTabSz="1009650" rtl="0" eaLnBrk="0" fontAlgn="base" latinLnBrk="0" hangingPunct="0">
              <a:lnSpc>
                <a:spcPct val="100000"/>
              </a:lnSpc>
              <a:spcBef>
                <a:spcPct val="0"/>
              </a:spcBef>
              <a:spcAft>
                <a:spcPct val="0"/>
              </a:spcAft>
              <a:buClrTx/>
              <a:buSzTx/>
              <a:buFontTx/>
              <a:buNone/>
              <a:tabLst/>
              <a:defRPr/>
            </a:pPr>
            <a:r>
              <a:rPr kumimoji="0" lang="zh-CN" altLang="en-US" sz="1800" u="none" strike="noStrike" kern="1200" cap="none" spc="0" normalizeH="0" baseline="0" noProof="0" dirty="0">
                <a:ln>
                  <a:noFill/>
                </a:ln>
                <a:solidFill>
                  <a:srgbClr val="0432FF"/>
                </a:solidFill>
                <a:effectLst/>
                <a:uLnTx/>
                <a:uFillTx/>
                <a:latin typeface="Arial"/>
                <a:ea typeface="SimHei" panose="02010609060101010101" pitchFamily="49" charset="-122"/>
                <a:cs typeface="+mn-cs"/>
              </a:rPr>
              <a:t>对应主存一个数据块</a:t>
            </a:r>
          </a:p>
        </p:txBody>
      </p:sp>
      <p:sp>
        <p:nvSpPr>
          <p:cNvPr id="40" name="Rectangle 39">
            <a:extLst>
              <a:ext uri="{FF2B5EF4-FFF2-40B4-BE49-F238E27FC236}">
                <a16:creationId xmlns:a16="http://schemas.microsoft.com/office/drawing/2014/main" id="{4D6B5AC5-C27E-694A-968A-D0CB73ABDDD7}"/>
              </a:ext>
            </a:extLst>
          </p:cNvPr>
          <p:cNvSpPr>
            <a:spLocks noChangeArrowheads="1"/>
          </p:cNvSpPr>
          <p:nvPr/>
        </p:nvSpPr>
        <p:spPr bwMode="auto">
          <a:xfrm>
            <a:off x="2879116" y="3092343"/>
            <a:ext cx="1430193" cy="407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marL="0" marR="0" lvl="0" indent="0" algn="ctr" defTabSz="1009650" rtl="0" eaLnBrk="0" fontAlgn="base" latinLnBrk="0" hangingPunct="0">
              <a:lnSpc>
                <a:spcPct val="90000"/>
              </a:lnSpc>
              <a:spcBef>
                <a:spcPct val="0"/>
              </a:spcBef>
              <a:spcAft>
                <a:spcPct val="0"/>
              </a:spcAft>
              <a:buClrTx/>
              <a:buSzTx/>
              <a:buFontTx/>
              <a:buNone/>
              <a:tabLst/>
              <a:defRPr/>
            </a:pPr>
            <a:r>
              <a:rPr kumimoji="0" lang="zh-CN" altLang="en-US"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主存储器 </a:t>
            </a: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100</a:t>
            </a:r>
            <a:r>
              <a:rPr kumimoji="0" lang="en-US" altLang="zh-CN" sz="1100" u="none" strike="noStrike" kern="1200" cap="none" spc="0" normalizeH="0" baseline="0" noProof="0" dirty="0">
                <a:ln>
                  <a:noFill/>
                </a:ln>
                <a:solidFill>
                  <a:srgbClr val="0432FF"/>
                </a:solidFill>
                <a:effectLst/>
                <a:uLnTx/>
                <a:uFillTx/>
                <a:latin typeface="Arial"/>
                <a:ea typeface="SimHei" panose="02010609060101010101" pitchFamily="49" charset="-122"/>
                <a:cs typeface="+mn-cs"/>
              </a:rPr>
              <a:t>0</a:t>
            </a:r>
          </a:p>
          <a:p>
            <a:pPr marL="0" marR="0" lvl="0" indent="0" algn="ctr" defTabSz="1009650" rtl="0" eaLnBrk="0" fontAlgn="base" latinLnBrk="0" hangingPunct="0">
              <a:lnSpc>
                <a:spcPct val="90000"/>
              </a:lnSpc>
              <a:spcBef>
                <a:spcPct val="0"/>
              </a:spcBef>
              <a:spcAft>
                <a:spcPct val="0"/>
              </a:spcAft>
              <a:buClrTx/>
              <a:buSzTx/>
              <a:buFontTx/>
              <a:buNone/>
              <a:tabLst/>
              <a:defRPr/>
            </a:pPr>
            <a:r>
              <a:rPr kumimoji="0" lang="zh-CN" altLang="en-US"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地址处内容的拷贝</a:t>
            </a:r>
            <a:endPar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41" name="Rectangle 40">
            <a:extLst>
              <a:ext uri="{FF2B5EF4-FFF2-40B4-BE49-F238E27FC236}">
                <a16:creationId xmlns:a16="http://schemas.microsoft.com/office/drawing/2014/main" id="{9EB79F98-E1F6-8F40-96FF-DA9DC2356C9F}"/>
              </a:ext>
            </a:extLst>
          </p:cNvPr>
          <p:cNvSpPr>
            <a:spLocks noChangeArrowheads="1"/>
          </p:cNvSpPr>
          <p:nvPr/>
        </p:nvSpPr>
        <p:spPr bwMode="auto">
          <a:xfrm>
            <a:off x="4159542" y="3092343"/>
            <a:ext cx="1430193" cy="407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marL="0" marR="0" lvl="0" indent="0" algn="ctr" defTabSz="1009650" rtl="0" eaLnBrk="0" fontAlgn="base" latinLnBrk="0" hangingPunct="0">
              <a:lnSpc>
                <a:spcPct val="90000"/>
              </a:lnSpc>
              <a:spcBef>
                <a:spcPct val="0"/>
              </a:spcBef>
              <a:spcAft>
                <a:spcPct val="0"/>
              </a:spcAft>
              <a:buClrTx/>
              <a:buSzTx/>
              <a:buFontTx/>
              <a:buNone/>
              <a:tabLst/>
              <a:defRPr/>
            </a:pPr>
            <a:r>
              <a:rPr kumimoji="0" lang="zh-CN" altLang="en-US"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主存储器 </a:t>
            </a: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100</a:t>
            </a:r>
            <a:r>
              <a:rPr kumimoji="0" lang="en-US" altLang="zh-CN" sz="1100" u="none" strike="noStrike" kern="1200" cap="none" spc="0" normalizeH="0" baseline="0" noProof="0" dirty="0">
                <a:ln>
                  <a:noFill/>
                </a:ln>
                <a:solidFill>
                  <a:srgbClr val="0432FF"/>
                </a:solidFill>
                <a:effectLst/>
                <a:uLnTx/>
                <a:uFillTx/>
                <a:latin typeface="Arial"/>
                <a:ea typeface="SimHei" panose="02010609060101010101" pitchFamily="49" charset="-122"/>
                <a:cs typeface="+mn-cs"/>
              </a:rPr>
              <a:t>1</a:t>
            </a:r>
          </a:p>
          <a:p>
            <a:pPr marL="0" marR="0" lvl="0" indent="0" algn="ctr" defTabSz="1009650" rtl="0" eaLnBrk="0" fontAlgn="base" latinLnBrk="0" hangingPunct="0">
              <a:lnSpc>
                <a:spcPct val="90000"/>
              </a:lnSpc>
              <a:spcBef>
                <a:spcPct val="0"/>
              </a:spcBef>
              <a:spcAft>
                <a:spcPct val="0"/>
              </a:spcAft>
              <a:buClrTx/>
              <a:buSzTx/>
              <a:buFontTx/>
              <a:buNone/>
              <a:tabLst/>
              <a:defRPr/>
            </a:pPr>
            <a:r>
              <a:rPr kumimoji="0" lang="zh-CN" altLang="en-US"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地址处内容的拷贝</a:t>
            </a:r>
            <a:endPar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43" name="Rectangle 42">
            <a:extLst>
              <a:ext uri="{FF2B5EF4-FFF2-40B4-BE49-F238E27FC236}">
                <a16:creationId xmlns:a16="http://schemas.microsoft.com/office/drawing/2014/main" id="{23807BFB-1A73-154B-9EA1-C505C5166B42}"/>
              </a:ext>
            </a:extLst>
          </p:cNvPr>
          <p:cNvSpPr/>
          <p:nvPr/>
        </p:nvSpPr>
        <p:spPr>
          <a:xfrm>
            <a:off x="3105132" y="3719102"/>
            <a:ext cx="3292142" cy="324419"/>
          </a:xfrm>
          <a:prstGeom prst="rect">
            <a:avLst/>
          </a:prstGeom>
          <a:noFill/>
          <a:ln w="57150">
            <a:solidFill>
              <a:srgbClr val="0432FF"/>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N" sz="1800" u="none" strike="noStrike" kern="1200" cap="none" spc="0" normalizeH="0" baseline="0" noProof="0">
              <a:ln>
                <a:noFill/>
              </a:ln>
              <a:solidFill>
                <a:srgbClr val="000000"/>
              </a:solidFill>
              <a:effectLst/>
              <a:uLnTx/>
              <a:uFillTx/>
              <a:latin typeface="Arial"/>
              <a:ea typeface="SimHei" panose="02010609060101010101" pitchFamily="49" charset="-122"/>
              <a:cs typeface="+mn-cs"/>
            </a:endParaRPr>
          </a:p>
        </p:txBody>
      </p:sp>
      <p:sp>
        <p:nvSpPr>
          <p:cNvPr id="44" name="Line 4">
            <a:extLst>
              <a:ext uri="{FF2B5EF4-FFF2-40B4-BE49-F238E27FC236}">
                <a16:creationId xmlns:a16="http://schemas.microsoft.com/office/drawing/2014/main" id="{78B8B745-9727-EF49-896A-9E207AB23381}"/>
              </a:ext>
            </a:extLst>
          </p:cNvPr>
          <p:cNvSpPr>
            <a:spLocks noChangeShapeType="1"/>
          </p:cNvSpPr>
          <p:nvPr/>
        </p:nvSpPr>
        <p:spPr bwMode="auto">
          <a:xfrm flipH="1">
            <a:off x="6251606" y="3499471"/>
            <a:ext cx="372988" cy="324628"/>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4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p:sp>
        <p:nvSpPr>
          <p:cNvPr id="45" name="Rectangle 44">
            <a:extLst>
              <a:ext uri="{FF2B5EF4-FFF2-40B4-BE49-F238E27FC236}">
                <a16:creationId xmlns:a16="http://schemas.microsoft.com/office/drawing/2014/main" id="{28FE4A52-296B-FF4E-8AF4-29722C05AC49}"/>
              </a:ext>
            </a:extLst>
          </p:cNvPr>
          <p:cNvSpPr>
            <a:spLocks noChangeArrowheads="1"/>
          </p:cNvSpPr>
          <p:nvPr/>
        </p:nvSpPr>
        <p:spPr bwMode="auto">
          <a:xfrm>
            <a:off x="6203711" y="3092343"/>
            <a:ext cx="1430193" cy="407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marL="0" marR="0" lvl="0" indent="0" algn="ctr" defTabSz="1009650" rtl="0" eaLnBrk="0" fontAlgn="base" latinLnBrk="0" hangingPunct="0">
              <a:lnSpc>
                <a:spcPct val="90000"/>
              </a:lnSpc>
              <a:spcBef>
                <a:spcPct val="0"/>
              </a:spcBef>
              <a:spcAft>
                <a:spcPct val="0"/>
              </a:spcAft>
              <a:buClrTx/>
              <a:buSzTx/>
              <a:buFontTx/>
              <a:buNone/>
              <a:tabLst/>
              <a:defRPr/>
            </a:pPr>
            <a:r>
              <a:rPr kumimoji="0" lang="zh-CN" altLang="en-US"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主存储器 </a:t>
            </a:r>
            <a:r>
              <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100</a:t>
            </a:r>
            <a:r>
              <a:rPr kumimoji="0" lang="en-US" altLang="zh-CN" sz="1100" u="none" strike="noStrike" kern="1200" cap="none" spc="0" normalizeH="0" baseline="0" noProof="0" dirty="0">
                <a:ln>
                  <a:noFill/>
                </a:ln>
                <a:solidFill>
                  <a:srgbClr val="0432FF"/>
                </a:solidFill>
                <a:effectLst/>
                <a:uLnTx/>
                <a:uFillTx/>
                <a:latin typeface="Arial"/>
                <a:ea typeface="SimHei" panose="02010609060101010101" pitchFamily="49" charset="-122"/>
                <a:cs typeface="+mn-cs"/>
              </a:rPr>
              <a:t>F</a:t>
            </a:r>
          </a:p>
          <a:p>
            <a:pPr marL="0" marR="0" lvl="0" indent="0" algn="ctr" defTabSz="1009650" rtl="0" eaLnBrk="0" fontAlgn="base" latinLnBrk="0" hangingPunct="0">
              <a:lnSpc>
                <a:spcPct val="90000"/>
              </a:lnSpc>
              <a:spcBef>
                <a:spcPct val="0"/>
              </a:spcBef>
              <a:spcAft>
                <a:spcPct val="0"/>
              </a:spcAft>
              <a:buClrTx/>
              <a:buSzTx/>
              <a:buFontTx/>
              <a:buNone/>
              <a:tabLst/>
              <a:defRPr/>
            </a:pPr>
            <a:r>
              <a:rPr kumimoji="0" lang="zh-CN" altLang="en-US"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地址处内容的拷贝</a:t>
            </a:r>
            <a:endParaRPr kumimoji="0" lang="en-US" altLang="zh-CN" sz="1100" u="none" strike="noStrike" kern="1200" cap="none" spc="0" normalizeH="0" baseline="0" noProof="0" dirty="0">
              <a:ln>
                <a:noFill/>
              </a:ln>
              <a:solidFill>
                <a:srgbClr val="000000"/>
              </a:solidFill>
              <a:effectLst/>
              <a:uLnTx/>
              <a:uFillTx/>
              <a:latin typeface="Arial"/>
              <a:ea typeface="SimHei" panose="02010609060101010101" pitchFamily="49" charset="-122"/>
              <a:cs typeface="+mn-cs"/>
            </a:endParaRPr>
          </a:p>
        </p:txBody>
      </p:sp>
      <mc:AlternateContent xmlns:mc="http://schemas.openxmlformats.org/markup-compatibility/2006">
        <mc:Choice xmlns:p14="http://schemas.microsoft.com/office/powerpoint/2010/main" Requires="p14">
          <p:contentPart p14:bwMode="auto" r:id="rId3">
            <p14:nvContentPartPr>
              <p14:cNvPr id="28" name="墨迹 27">
                <a:extLst>
                  <a:ext uri="{FF2B5EF4-FFF2-40B4-BE49-F238E27FC236}">
                    <a16:creationId xmlns:a16="http://schemas.microsoft.com/office/drawing/2014/main" id="{0C62251A-A259-681B-61F7-A26E64FCAEA9}"/>
                  </a:ext>
                </a:extLst>
              </p14:cNvPr>
              <p14:cNvContentPartPr/>
              <p14:nvPr/>
            </p14:nvContentPartPr>
            <p14:xfrm>
              <a:off x="893520" y="5076360"/>
              <a:ext cx="1945080" cy="1352520"/>
            </p14:xfrm>
          </p:contentPart>
        </mc:Choice>
        <mc:Fallback>
          <p:pic>
            <p:nvPicPr>
              <p:cNvPr id="28" name="墨迹 27">
                <a:extLst>
                  <a:ext uri="{FF2B5EF4-FFF2-40B4-BE49-F238E27FC236}">
                    <a16:creationId xmlns:a16="http://schemas.microsoft.com/office/drawing/2014/main" id="{0C62251A-A259-681B-61F7-A26E64FCAEA9}"/>
                  </a:ext>
                </a:extLst>
              </p:cNvPr>
              <p:cNvPicPr/>
              <p:nvPr/>
            </p:nvPicPr>
            <p:blipFill>
              <a:blip r:embed="rId4"/>
              <a:stretch>
                <a:fillRect/>
              </a:stretch>
            </p:blipFill>
            <p:spPr>
              <a:xfrm>
                <a:off x="884160" y="5067000"/>
                <a:ext cx="1963800" cy="1371240"/>
              </a:xfrm>
              <a:prstGeom prst="rect">
                <a:avLst/>
              </a:prstGeom>
            </p:spPr>
          </p:pic>
        </mc:Fallback>
      </mc:AlternateContent>
    </p:spTree>
    <p:extLst>
      <p:ext uri="{BB962C8B-B14F-4D97-AF65-F5344CB8AC3E}">
        <p14:creationId xmlns:p14="http://schemas.microsoft.com/office/powerpoint/2010/main" val="1369256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 Cache</a:t>
            </a:r>
            <a:r>
              <a:rPr lang="zh-CN" altLang="en-US" dirty="0"/>
              <a:t>存储体</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设计</a:t>
            </a:r>
            <a:r>
              <a:rPr kumimoji="1" lang="en-US" altLang="zh-CN" dirty="0"/>
              <a:t>Cache</a:t>
            </a:r>
            <a:r>
              <a:rPr kumimoji="1" lang="zh-CN" altLang="en-US" dirty="0"/>
              <a:t>是面临两个问题</a:t>
            </a:r>
            <a:endParaRPr kumimoji="1" lang="en-US" altLang="zh-CN" dirty="0"/>
          </a:p>
          <a:p>
            <a:pPr marL="914400" lvl="1" indent="-457200">
              <a:spcBef>
                <a:spcPts val="1000"/>
              </a:spcBef>
            </a:pPr>
            <a:r>
              <a:rPr lang="zh-CN" altLang="en-US" sz="2400" dirty="0"/>
              <a:t>怎样知道</a:t>
            </a:r>
            <a:r>
              <a:rPr lang="en-US" altLang="zh-CN" sz="2400" dirty="0"/>
              <a:t>Cache</a:t>
            </a:r>
            <a:r>
              <a:rPr lang="zh-CN" altLang="en-US" sz="2400" dirty="0"/>
              <a:t>是否命中？也就是怎样知道要访问的数据已经存在于</a:t>
            </a:r>
            <a:r>
              <a:rPr lang="en-US" altLang="zh-CN" sz="2400" dirty="0"/>
              <a:t>Cache</a:t>
            </a:r>
            <a:r>
              <a:rPr lang="zh-CN" altLang="en-US" sz="2400" dirty="0"/>
              <a:t>中？</a:t>
            </a:r>
          </a:p>
          <a:p>
            <a:pPr marL="1314450" lvl="2" indent="-457200">
              <a:spcBef>
                <a:spcPts val="1000"/>
              </a:spcBef>
              <a:buFont typeface="Wingdings" pitchFamily="2" charset="2"/>
              <a:buChar char="ü"/>
            </a:pPr>
            <a:r>
              <a:rPr lang="zh-CN" altLang="en-US" sz="2000" dirty="0">
                <a:solidFill>
                  <a:srgbClr val="0432FF"/>
                </a:solidFill>
              </a:rPr>
              <a:t>解决方法</a:t>
            </a:r>
            <a:r>
              <a:rPr lang="zh-CN" altLang="en-US" sz="2000" dirty="0"/>
              <a:t>：检查标签地址（同等地址）和</a:t>
            </a:r>
            <a:r>
              <a:rPr lang="zh-CN" altLang="en-CN" sz="2000" dirty="0"/>
              <a:t>有效位</a:t>
            </a:r>
            <a:r>
              <a:rPr lang="zh-CN" altLang="en-US" sz="2000" dirty="0"/>
              <a:t>（最新数据）</a:t>
            </a:r>
          </a:p>
          <a:p>
            <a:pPr marL="914400" lvl="1" indent="-457200">
              <a:spcBef>
                <a:spcPts val="1000"/>
              </a:spcBef>
            </a:pPr>
            <a:r>
              <a:rPr lang="zh-CN" altLang="en-US" sz="2400" dirty="0"/>
              <a:t>如果要访问的数据在</a:t>
            </a:r>
            <a:r>
              <a:rPr lang="en-US" altLang="zh-CN" sz="2400" dirty="0"/>
              <a:t>Cache</a:t>
            </a:r>
            <a:r>
              <a:rPr lang="zh-CN" altLang="en-US" sz="2400" dirty="0"/>
              <a:t>中，怎样确定该数据在</a:t>
            </a:r>
            <a:r>
              <a:rPr lang="en-US" altLang="zh-CN" sz="2400" dirty="0"/>
              <a:t>Cache</a:t>
            </a:r>
            <a:r>
              <a:rPr lang="zh-CN" altLang="en-US" sz="2400" dirty="0"/>
              <a:t>中的存储位置，只能遍历吗？</a:t>
            </a:r>
          </a:p>
          <a:p>
            <a:pPr marL="1314450" lvl="2" indent="-457200">
              <a:spcBef>
                <a:spcPts val="1000"/>
              </a:spcBef>
              <a:buFont typeface="Wingdings" pitchFamily="2" charset="2"/>
              <a:buChar char="ü"/>
            </a:pPr>
            <a:r>
              <a:rPr lang="zh-CN" altLang="en-US" sz="2000" dirty="0">
                <a:solidFill>
                  <a:srgbClr val="0432FF"/>
                </a:solidFill>
              </a:rPr>
              <a:t>解决方法</a:t>
            </a:r>
            <a:r>
              <a:rPr lang="zh-CN" altLang="en-US" sz="2000" dirty="0"/>
              <a:t>：在内存地址和</a:t>
            </a:r>
            <a:r>
              <a:rPr lang="en-US" altLang="zh-CN" sz="2000" dirty="0"/>
              <a:t>Cache</a:t>
            </a:r>
            <a:r>
              <a:rPr lang="zh-CN" altLang="en-US" sz="2000" dirty="0"/>
              <a:t>地址之间建立一种确定的逻辑关系</a:t>
            </a:r>
            <a:r>
              <a:rPr lang="en-US" altLang="zh-CN" sz="2000" dirty="0"/>
              <a:t>——</a:t>
            </a:r>
            <a:r>
              <a:rPr lang="zh-CN" altLang="en-US" sz="2000" dirty="0"/>
              <a:t>地址映像，并搜索</a:t>
            </a:r>
            <a:endParaRPr lang="en-US" altLang="zh-CN" sz="2000" dirty="0"/>
          </a:p>
        </p:txBody>
      </p:sp>
    </p:spTree>
    <p:extLst>
      <p:ext uri="{BB962C8B-B14F-4D97-AF65-F5344CB8AC3E}">
        <p14:creationId xmlns:p14="http://schemas.microsoft.com/office/powerpoint/2010/main" val="2748306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3C8E582-179D-7999-57C8-F72357CA5D4E}"/>
              </a:ext>
            </a:extLst>
          </p:cNvPr>
          <p:cNvSpPr>
            <a:spLocks noGrp="1"/>
          </p:cNvSpPr>
          <p:nvPr>
            <p:ph type="sldNum" sz="quarter" idx="12"/>
          </p:nvPr>
        </p:nvSpPr>
        <p:spPr/>
        <p:txBody>
          <a:bodyPr/>
          <a:lstStyle/>
          <a:p>
            <a:fld id="{3F2AB43A-8F39-40F7-AB51-66BE5F0EDC88}" type="slidenum">
              <a:rPr lang="en-US" altLang="zh-CN" smtClean="0"/>
              <a:pPr/>
              <a:t>33</a:t>
            </a:fld>
            <a:endParaRPr lang="en-US" altLang="zh-CN"/>
          </a:p>
        </p:txBody>
      </p:sp>
      <p:sp>
        <p:nvSpPr>
          <p:cNvPr id="5" name="文本框 4">
            <a:extLst>
              <a:ext uri="{FF2B5EF4-FFF2-40B4-BE49-F238E27FC236}">
                <a16:creationId xmlns:a16="http://schemas.microsoft.com/office/drawing/2014/main" id="{048F7C0C-044B-E9AB-8CF9-00B664ECBEB9}"/>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spcBef>
                <a:spcPts val="879"/>
              </a:spcBef>
            </a:pPr>
            <a:r>
              <a:rPr kumimoji="1" lang="zh-CN" altLang="en-US" sz="3200" dirty="0">
                <a:ea typeface="SimHei" panose="02010609060101010101" pitchFamily="49" charset="-122"/>
              </a:rPr>
              <a:t>以下关于</a:t>
            </a:r>
            <a:r>
              <a:rPr kumimoji="1" lang="en-US" altLang="zh-CN" sz="3200" dirty="0">
                <a:ea typeface="SimHei" panose="02010609060101010101" pitchFamily="49" charset="-122"/>
              </a:rPr>
              <a:t>Cache</a:t>
            </a:r>
            <a:r>
              <a:rPr kumimoji="1" lang="zh-CN" altLang="en-US" sz="3200" dirty="0">
                <a:ea typeface="SimHei" panose="02010609060101010101" pitchFamily="49" charset="-122"/>
              </a:rPr>
              <a:t>的描述</a:t>
            </a:r>
            <a:r>
              <a:rPr kumimoji="1" lang="zh-CN" altLang="en-US" sz="3200" dirty="0">
                <a:solidFill>
                  <a:srgbClr val="0432FF"/>
                </a:solidFill>
                <a:ea typeface="SimHei" panose="02010609060101010101" pitchFamily="49" charset="-122"/>
              </a:rPr>
              <a:t>正确</a:t>
            </a:r>
            <a:r>
              <a:rPr kumimoji="1" lang="zh-CN" altLang="en-US" sz="3200" dirty="0">
                <a:ea typeface="SimHei" panose="02010609060101010101" pitchFamily="49" charset="-122"/>
              </a:rPr>
              <a:t>的是：</a:t>
            </a:r>
          </a:p>
        </p:txBody>
      </p:sp>
      <p:sp>
        <p:nvSpPr>
          <p:cNvPr id="6" name="文本框 5">
            <a:extLst>
              <a:ext uri="{FF2B5EF4-FFF2-40B4-BE49-F238E27FC236}">
                <a16:creationId xmlns:a16="http://schemas.microsoft.com/office/drawing/2014/main" id="{82093900-5432-CD31-776F-4338C3950C23}"/>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kumimoji="1" lang="zh-CN" altLang="en-US" sz="2800" dirty="0">
                <a:latin typeface="+mn-lt"/>
                <a:ea typeface="SimHei" panose="02010609060101010101" pitchFamily="49" charset="-122"/>
              </a:rPr>
              <a:t>对程序设计人员是透明的，由硬件控制</a:t>
            </a:r>
            <a:endPar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7" name="文本框 6">
            <a:extLst>
              <a:ext uri="{FF2B5EF4-FFF2-40B4-BE49-F238E27FC236}">
                <a16:creationId xmlns:a16="http://schemas.microsoft.com/office/drawing/2014/main" id="{840F052A-CF64-934B-081F-07485D41BE4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kumimoji="1" lang="en" altLang="zh-CN" sz="2800" dirty="0">
                <a:latin typeface="+mn-lt"/>
                <a:ea typeface="SimHei" panose="02010609060101010101" pitchFamily="49" charset="-122"/>
              </a:rPr>
              <a:t>Cache</a:t>
            </a:r>
            <a:r>
              <a:rPr kumimoji="1" lang="zh-CN" altLang="en-US" sz="2800" dirty="0">
                <a:latin typeface="+mn-lt"/>
                <a:ea typeface="SimHei" panose="02010609060101010101" pitchFamily="49" charset="-122"/>
              </a:rPr>
              <a:t>利用了程序的局部性原理</a:t>
            </a:r>
            <a:endPar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8" name="文本框 7">
            <a:extLst>
              <a:ext uri="{FF2B5EF4-FFF2-40B4-BE49-F238E27FC236}">
                <a16:creationId xmlns:a16="http://schemas.microsoft.com/office/drawing/2014/main" id="{56E1F86E-0D74-3A8A-BC75-5A266C7BBE37}"/>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kumimoji="1" lang="en" altLang="zh-CN" sz="2800" dirty="0">
                <a:latin typeface="+mn-lt"/>
                <a:ea typeface="SimHei" panose="02010609060101010101" pitchFamily="49" charset="-122"/>
              </a:rPr>
              <a:t>Cache</a:t>
            </a:r>
            <a:r>
              <a:rPr kumimoji="1" lang="zh-CN" altLang="en-US" sz="2800" dirty="0">
                <a:latin typeface="+mn-lt"/>
                <a:ea typeface="SimHei" panose="02010609060101010101" pitchFamily="49" charset="-122"/>
              </a:rPr>
              <a:t>分行，主存分块，</a:t>
            </a:r>
            <a:r>
              <a:rPr kumimoji="1" lang="en" altLang="zh-CN" sz="2800" dirty="0">
                <a:latin typeface="+mn-lt"/>
                <a:ea typeface="SimHei" panose="02010609060101010101" pitchFamily="49" charset="-122"/>
              </a:rPr>
              <a:t>Cache</a:t>
            </a:r>
            <a:r>
              <a:rPr kumimoji="1" lang="zh-CN" altLang="en-US" sz="2800" dirty="0">
                <a:latin typeface="+mn-lt"/>
                <a:ea typeface="SimHei" panose="02010609060101010101" pitchFamily="49" charset="-122"/>
              </a:rPr>
              <a:t>行大小和主存块大小必须相同</a:t>
            </a:r>
            <a:endPar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9" name="文本框 8">
            <a:extLst>
              <a:ext uri="{FF2B5EF4-FFF2-40B4-BE49-F238E27FC236}">
                <a16:creationId xmlns:a16="http://schemas.microsoft.com/office/drawing/2014/main" id="{61370641-95F2-38B2-083D-77296E5A1FC4}"/>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kumimoji="1" lang="zh-CN" altLang="en-US" sz="2800" dirty="0">
                <a:latin typeface="+mn-lt"/>
                <a:ea typeface="SimHei" panose="02010609060101010101" pitchFamily="49" charset="-122"/>
              </a:rPr>
              <a:t>数据不能同时出现在</a:t>
            </a:r>
            <a:r>
              <a:rPr kumimoji="1" lang="en" altLang="zh-CN" sz="2800" dirty="0">
                <a:latin typeface="+mn-lt"/>
                <a:ea typeface="SimHei" panose="02010609060101010101" pitchFamily="49" charset="-122"/>
              </a:rPr>
              <a:t>Cache</a:t>
            </a:r>
            <a:r>
              <a:rPr kumimoji="1" lang="zh-CN" altLang="en-US" sz="2800" dirty="0">
                <a:latin typeface="+mn-lt"/>
                <a:ea typeface="SimHei" panose="02010609060101010101" pitchFamily="49" charset="-122"/>
              </a:rPr>
              <a:t>和主存中</a:t>
            </a:r>
            <a:endPar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0" name="矩形 9">
            <a:extLst>
              <a:ext uri="{FF2B5EF4-FFF2-40B4-BE49-F238E27FC236}">
                <a16:creationId xmlns:a16="http://schemas.microsoft.com/office/drawing/2014/main" id="{82331305-9CA0-875C-37C7-74FE790475AA}"/>
              </a:ext>
            </a:extLst>
          </p:cNvPr>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A</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1" name="矩形 10">
            <a:extLst>
              <a:ext uri="{FF2B5EF4-FFF2-40B4-BE49-F238E27FC236}">
                <a16:creationId xmlns:a16="http://schemas.microsoft.com/office/drawing/2014/main" id="{40D2C618-0275-E89B-3DD5-4A61A3E99817}"/>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B</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2" name="矩形 11">
            <a:extLst>
              <a:ext uri="{FF2B5EF4-FFF2-40B4-BE49-F238E27FC236}">
                <a16:creationId xmlns:a16="http://schemas.microsoft.com/office/drawing/2014/main" id="{B1B834E2-A1E4-3A4A-4F72-9EA40ECE1F15}"/>
              </a:ext>
            </a:extLst>
          </p:cNvPr>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C</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3" name="矩形 12">
            <a:extLst>
              <a:ext uri="{FF2B5EF4-FFF2-40B4-BE49-F238E27FC236}">
                <a16:creationId xmlns:a16="http://schemas.microsoft.com/office/drawing/2014/main" id="{882EB911-6AC3-1DAD-7519-37D6B83D73C1}"/>
              </a:ext>
            </a:extLst>
          </p:cNvPr>
          <p:cNvSpPr>
            <a:spLocks noChangeAspect="1"/>
          </p:cNvSpPr>
          <p:nvPr>
            <p:custDataLst>
              <p:tags r:id="rId10"/>
            </p:custDataLst>
          </p:nvPr>
        </p:nvSpPr>
        <p:spPr>
          <a:xfrm>
            <a:off x="1114425" y="542210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D</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6760B854-F230-6976-2DBA-285AC3D9B3F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0406E06E-D852-34CA-5B86-F2928D07076D}"/>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C0509340-A6F0-CAA5-8952-31FDA95E77CD}"/>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EA1DEE2D-734D-B924-D16F-E9069BF82D2A}"/>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4B90B18A-B6B9-7910-3BAB-C7C69DAD357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rPr>
                <a:t>多选题</a:t>
              </a:r>
            </a:p>
          </p:txBody>
        </p:sp>
        <p:sp>
          <p:nvSpPr>
            <p:cNvPr id="18" name="TipText">
              <a:extLst>
                <a:ext uri="{FF2B5EF4-FFF2-40B4-BE49-F238E27FC236}">
                  <a16:creationId xmlns:a16="http://schemas.microsoft.com/office/drawing/2014/main" id="{120452A3-C4B3-0AC9-BD62-1C6887E978D9}"/>
                </a:ext>
              </a:extLst>
            </p:cNvPr>
            <p:cNvSpPr txBox="1"/>
            <p:nvPr>
              <p:custDataLst>
                <p:tags r:id="rId17"/>
              </p:custDataLst>
            </p:nvPr>
          </p:nvSpPr>
          <p:spPr>
            <a:xfrm>
              <a:off x="15925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SimHei" panose="02010609060101010101" pitchFamily="49" charset="-122"/>
                  <a:ea typeface="SimHei" panose="02010609060101010101" pitchFamily="49" charset="-122"/>
                  <a:sym typeface="Microsoft Yahei" panose="020B0503020204020204" pitchFamily="34" charset="-122"/>
                </a:rPr>
                <a:t>1</a:t>
              </a:r>
              <a:r>
                <a:rPr lang="zh-CN" altLang="en-US" sz="2000" dirty="0">
                  <a:solidFill>
                    <a:srgbClr val="808080"/>
                  </a:solidFill>
                  <a:latin typeface="SimHei" panose="02010609060101010101" pitchFamily="49" charset="-122"/>
                  <a:ea typeface="SimHei" panose="02010609060101010101" pitchFamily="49"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2B08F005-668C-E730-7788-6EB721DE1397}"/>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78237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34</a:t>
            </a:fld>
            <a:endParaRPr lang="en-US" altLang="zh-CN"/>
          </a:p>
        </p:txBody>
      </p:sp>
      <p:sp>
        <p:nvSpPr>
          <p:cNvPr id="4" name="内容占位符 2">
            <a:extLst>
              <a:ext uri="{FF2B5EF4-FFF2-40B4-BE49-F238E27FC236}">
                <a16:creationId xmlns:a16="http://schemas.microsoft.com/office/drawing/2014/main" id="{CA1552BA-4327-A147-B565-E435AE2EEDCF}"/>
              </a:ext>
            </a:extLst>
          </p:cNvPr>
          <p:cNvSpPr>
            <a:spLocks noGrp="1"/>
          </p:cNvSpPr>
          <p:nvPr>
            <p:ph idx="1"/>
          </p:nvPr>
        </p:nvSpPr>
        <p:spPr>
          <a:xfrm>
            <a:off x="457200" y="1551432"/>
            <a:ext cx="8229600" cy="4693793"/>
          </a:xfrm>
        </p:spPr>
        <p:txBody>
          <a:bodyPr/>
          <a:lstStyle/>
          <a:p>
            <a:pPr marL="514350" indent="-457200">
              <a:spcBef>
                <a:spcPts val="1000"/>
              </a:spcBef>
            </a:pPr>
            <a:r>
              <a:rPr lang="zh-CN" altLang="en-US" dirty="0"/>
              <a:t>习题解析</a:t>
            </a:r>
            <a:endParaRPr kumimoji="1" lang="en-US" altLang="zh-CN" dirty="0">
              <a:solidFill>
                <a:srgbClr val="FF0000"/>
              </a:solidFill>
            </a:endParaRPr>
          </a:p>
          <a:p>
            <a:pPr marL="914400" lvl="1" indent="-457200">
              <a:spcBef>
                <a:spcPts val="1000"/>
              </a:spcBef>
              <a:buFont typeface="+mj-lt"/>
              <a:buAutoNum type="alphaUcPeriod"/>
            </a:pPr>
            <a:r>
              <a:rPr lang="zh-CN" altLang="en-US" sz="2400" dirty="0"/>
              <a:t>正确，</a:t>
            </a:r>
            <a:r>
              <a:rPr lang="en-US" altLang="zh-CN" sz="2400" dirty="0"/>
              <a:t>Cache</a:t>
            </a:r>
            <a:r>
              <a:rPr lang="zh-CN" altLang="en-US" sz="2400" dirty="0"/>
              <a:t>的基本概念中提及。</a:t>
            </a:r>
            <a:endParaRPr lang="en-US" altLang="zh-CN" sz="2400" dirty="0"/>
          </a:p>
          <a:p>
            <a:pPr marL="914400" lvl="1" indent="-457200">
              <a:spcBef>
                <a:spcPts val="1000"/>
              </a:spcBef>
              <a:buFont typeface="+mj-lt"/>
              <a:buAutoNum type="alphaUcPeriod"/>
            </a:pPr>
            <a:r>
              <a:rPr lang="zh-CN" altLang="en-US" sz="2400" dirty="0"/>
              <a:t>正确，局部性原理是</a:t>
            </a:r>
            <a:r>
              <a:rPr lang="en-US" altLang="zh-CN" sz="2400" dirty="0"/>
              <a:t>Cache</a:t>
            </a:r>
            <a:r>
              <a:rPr lang="zh-CN" altLang="en-US" sz="2400" dirty="0"/>
              <a:t>技术遵循的一个基本原理。</a:t>
            </a:r>
            <a:endParaRPr lang="en-US" altLang="zh-CN" sz="2400" dirty="0"/>
          </a:p>
          <a:p>
            <a:pPr marL="914400" lvl="1" indent="-457200">
              <a:spcBef>
                <a:spcPts val="1000"/>
              </a:spcBef>
              <a:buFont typeface="+mj-lt"/>
              <a:buAutoNum type="alphaUcPeriod"/>
            </a:pPr>
            <a:r>
              <a:rPr lang="zh-CN" altLang="en-US" sz="2400" dirty="0"/>
              <a:t>正确，</a:t>
            </a:r>
            <a:r>
              <a:rPr lang="en-US" altLang="zh-CN" sz="2400" dirty="0"/>
              <a:t>Cache</a:t>
            </a:r>
            <a:r>
              <a:rPr lang="zh-CN" altLang="en-US" sz="2400" dirty="0"/>
              <a:t>与主存之间的数据传输以块</a:t>
            </a:r>
            <a:r>
              <a:rPr lang="en-US" altLang="zh-CN" sz="2400" dirty="0"/>
              <a:t>(</a:t>
            </a:r>
            <a:r>
              <a:rPr lang="zh-CN" altLang="en-US" sz="2400" dirty="0"/>
              <a:t>或行</a:t>
            </a:r>
            <a:r>
              <a:rPr lang="en-US" altLang="zh-CN" sz="2400" dirty="0"/>
              <a:t>)</a:t>
            </a:r>
            <a:r>
              <a:rPr lang="zh-CN" altLang="en-US" sz="2400" dirty="0"/>
              <a:t>为单位，</a:t>
            </a:r>
            <a:r>
              <a:rPr kumimoji="1" lang="en" altLang="zh-CN" sz="2400" dirty="0"/>
              <a:t> Cache</a:t>
            </a:r>
            <a:r>
              <a:rPr kumimoji="1" lang="zh-CN" altLang="en-US" sz="2400" dirty="0"/>
              <a:t>行大小和主存块大小完全相同</a:t>
            </a:r>
            <a:r>
              <a:rPr lang="zh-CN" altLang="en-US" sz="2400" dirty="0"/>
              <a:t>。</a:t>
            </a:r>
            <a:endParaRPr lang="en-US" altLang="zh-CN" sz="2400" dirty="0"/>
          </a:p>
          <a:p>
            <a:pPr marL="914400" lvl="1" indent="-457200">
              <a:spcBef>
                <a:spcPts val="1000"/>
              </a:spcBef>
              <a:buFont typeface="+mj-lt"/>
              <a:buAutoNum type="alphaUcPeriod"/>
            </a:pPr>
            <a:r>
              <a:rPr lang="zh-CN" altLang="en-US" sz="2400" dirty="0">
                <a:solidFill>
                  <a:srgbClr val="0432FF"/>
                </a:solidFill>
              </a:rPr>
              <a:t>错误，</a:t>
            </a:r>
            <a:r>
              <a:rPr kumimoji="1" lang="en-US" altLang="zh-CN" sz="2400" dirty="0">
                <a:solidFill>
                  <a:srgbClr val="0432FF"/>
                </a:solidFill>
                <a:latin typeface="+mn-ea"/>
              </a:rPr>
              <a:t>Cache</a:t>
            </a:r>
            <a:r>
              <a:rPr kumimoji="1" lang="zh-CN" altLang="en-US" sz="2400" dirty="0">
                <a:solidFill>
                  <a:srgbClr val="0432FF"/>
                </a:solidFill>
                <a:latin typeface="+mn-ea"/>
              </a:rPr>
              <a:t>会保存最近用到的主存数据的副本，应用程序的数据可以同时出现在</a:t>
            </a:r>
            <a:r>
              <a:rPr kumimoji="1" lang="en-US" altLang="zh-CN" sz="2400" dirty="0">
                <a:solidFill>
                  <a:srgbClr val="0432FF"/>
                </a:solidFill>
                <a:latin typeface="+mn-ea"/>
              </a:rPr>
              <a:t>Cache</a:t>
            </a:r>
            <a:r>
              <a:rPr kumimoji="1" lang="zh-CN" altLang="en-US" sz="2400" dirty="0">
                <a:solidFill>
                  <a:srgbClr val="0432FF"/>
                </a:solidFill>
                <a:latin typeface="+mn-ea"/>
              </a:rPr>
              <a:t>和主存中。</a:t>
            </a:r>
            <a:endParaRPr kumimoji="1" lang="en-US" altLang="zh-CN" sz="2400" dirty="0">
              <a:solidFill>
                <a:srgbClr val="FF0000"/>
              </a:solidFill>
            </a:endParaRPr>
          </a:p>
          <a:p>
            <a:pPr marL="914400" lvl="1" indent="-457200">
              <a:spcBef>
                <a:spcPts val="1000"/>
              </a:spcBef>
              <a:buFont typeface="+mj-lt"/>
              <a:buAutoNum type="alphaUcPeriod"/>
            </a:pPr>
            <a:endParaRPr lang="en-US" altLang="zh-CN" sz="2400" dirty="0"/>
          </a:p>
          <a:p>
            <a:pPr marL="914400" lvl="1" indent="-457200">
              <a:spcBef>
                <a:spcPts val="1000"/>
              </a:spcBef>
              <a:buFont typeface="+mj-lt"/>
              <a:buAutoNum type="alphaUcPeriod"/>
            </a:pPr>
            <a:endParaRPr lang="en-US" altLang="zh-CN" sz="2400" dirty="0"/>
          </a:p>
          <a:p>
            <a:pPr marL="914400" lvl="1" indent="-457200">
              <a:spcBef>
                <a:spcPts val="1000"/>
              </a:spcBef>
              <a:buFont typeface="+mj-lt"/>
              <a:buAutoNum type="alphaUcPeriod"/>
            </a:pPr>
            <a:endParaRPr lang="en-US" altLang="zh-CN" sz="2400" dirty="0"/>
          </a:p>
          <a:p>
            <a:pPr marL="914400" lvl="1" indent="-457200">
              <a:spcBef>
                <a:spcPts val="1000"/>
              </a:spcBef>
              <a:buFont typeface="+mj-lt"/>
              <a:buAutoNum type="alphaUcPeriod"/>
            </a:pPr>
            <a:endParaRPr lang="zh-CN" altLang="en-US" sz="2400" dirty="0"/>
          </a:p>
        </p:txBody>
      </p:sp>
      <p:sp>
        <p:nvSpPr>
          <p:cNvPr id="7" name="TitleBackground">
            <a:extLst>
              <a:ext uri="{FF2B5EF4-FFF2-40B4-BE49-F238E27FC236}">
                <a16:creationId xmlns:a16="http://schemas.microsoft.com/office/drawing/2014/main" id="{36ED5988-3AAA-44E8-AF5A-FFDD0985FBF2}"/>
              </a:ext>
            </a:extLst>
          </p:cNvPr>
          <p:cNvSpPr/>
          <p:nvPr>
            <p:custDataLst>
              <p:tags r:id="rId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a:extLst>
              <a:ext uri="{FF2B5EF4-FFF2-40B4-BE49-F238E27FC236}">
                <a16:creationId xmlns:a16="http://schemas.microsoft.com/office/drawing/2014/main" id="{A1B7ADF2-FA48-435C-9B50-552A572F8503}"/>
              </a:ext>
            </a:extLst>
          </p:cNvPr>
          <p:cNvSpPr/>
          <p:nvPr>
            <p:custDataLst>
              <p:tags r:id="rId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a:extLst>
              <a:ext uri="{FF2B5EF4-FFF2-40B4-BE49-F238E27FC236}">
                <a16:creationId xmlns:a16="http://schemas.microsoft.com/office/drawing/2014/main" id="{F7CADB5E-2F2A-4247-90C3-0F599470536B}"/>
              </a:ext>
            </a:extLst>
          </p:cNvPr>
          <p:cNvSpPr txBox="1"/>
          <p:nvPr>
            <p:custDataLst>
              <p:tags r:id="rId3"/>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rPr>
              <a:t>习题解析 答案：</a:t>
            </a:r>
            <a:r>
              <a:rPr lang="en-US" altLang="zh-CN" sz="2600" dirty="0">
                <a:solidFill>
                  <a:srgbClr val="0432FF"/>
                </a:solidFill>
                <a:latin typeface="SimHei" panose="02010609060101010101" pitchFamily="49" charset="-122"/>
                <a:ea typeface="SimHei" panose="02010609060101010101" pitchFamily="49" charset="-122"/>
                <a:sym typeface="Microsoft Yahei" panose="020B0503020204020204" pitchFamily="34" charset="-122"/>
              </a:rPr>
              <a:t>ABC</a:t>
            </a:r>
            <a:endParaRPr lang="zh-CN" altLang="en-US" sz="2600" dirty="0">
              <a:solidFill>
                <a:srgbClr val="0432FF"/>
              </a:solidFill>
              <a:latin typeface="SimHei" panose="02010609060101010101" pitchFamily="49" charset="-122"/>
              <a:ea typeface="SimHei" panose="02010609060101010101" pitchFamily="49" charset="-122"/>
              <a:sym typeface="Microsoft Yahei" panose="020B0503020204020204" pitchFamily="34" charset="-122"/>
            </a:endParaRPr>
          </a:p>
        </p:txBody>
      </p:sp>
    </p:spTree>
    <p:extLst>
      <p:ext uri="{BB962C8B-B14F-4D97-AF65-F5344CB8AC3E}">
        <p14:creationId xmlns:p14="http://schemas.microsoft.com/office/powerpoint/2010/main" val="7558835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缓存技术实现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35</a:t>
            </a:fld>
            <a:endParaRPr lang="en-US" altLang="zh-CN"/>
          </a:p>
        </p:txBody>
      </p:sp>
      <p:sp>
        <p:nvSpPr>
          <p:cNvPr id="7" name="内容占位符 2">
            <a:extLst>
              <a:ext uri="{FF2B5EF4-FFF2-40B4-BE49-F238E27FC236}">
                <a16:creationId xmlns:a16="http://schemas.microsoft.com/office/drawing/2014/main" id="{44AD668E-C9A5-DB48-A89D-D4F75849297A}"/>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solidFill>
                  <a:srgbClr val="0432FF"/>
                </a:solidFill>
              </a:rPr>
              <a:t>缓存技术实现</a:t>
            </a:r>
            <a:endParaRPr lang="zh-CN" altLang="en-US" sz="2000" dirty="0">
              <a:solidFill>
                <a:srgbClr val="0432FF"/>
              </a:solidFill>
            </a:endParaRPr>
          </a:p>
          <a:p>
            <a:pPr marL="914400" lvl="1" indent="-457200">
              <a:spcBef>
                <a:spcPts val="1000"/>
              </a:spcBef>
              <a:buFont typeface="+mj-lt"/>
              <a:buAutoNum type="arabicPeriod"/>
            </a:pPr>
            <a:r>
              <a:rPr lang="en-US" altLang="zh-CN" sz="2400" dirty="0"/>
              <a:t>Cache</a:t>
            </a:r>
            <a:r>
              <a:rPr lang="zh-CN" altLang="en-US" sz="2400" dirty="0"/>
              <a:t>基本结构</a:t>
            </a:r>
          </a:p>
          <a:p>
            <a:pPr marL="1314450" lvl="2" indent="-457200">
              <a:spcBef>
                <a:spcPts val="1000"/>
              </a:spcBef>
              <a:buFont typeface="Wingdings" pitchFamily="2" charset="2"/>
              <a:buChar char="Ø"/>
            </a:pPr>
            <a:r>
              <a:rPr lang="en-US" altLang="zh-CN" sz="2000" dirty="0"/>
              <a:t>Cache</a:t>
            </a:r>
            <a:r>
              <a:rPr lang="zh-CN" altLang="en-US" sz="2000" dirty="0"/>
              <a:t>的存储体结构、寻址流程</a:t>
            </a:r>
          </a:p>
          <a:p>
            <a:pPr marL="914400" lvl="1" indent="-457200">
              <a:spcBef>
                <a:spcPts val="1000"/>
              </a:spcBef>
              <a:buFont typeface="+mj-lt"/>
              <a:buAutoNum type="arabicPeriod"/>
            </a:pPr>
            <a:r>
              <a:rPr lang="en-US" altLang="zh-CN" sz="2400" dirty="0">
                <a:solidFill>
                  <a:srgbClr val="0432FF"/>
                </a:solidFill>
              </a:rPr>
              <a:t>Cache</a:t>
            </a:r>
            <a:r>
              <a:rPr lang="zh-CN" altLang="en-US" sz="2400" dirty="0">
                <a:solidFill>
                  <a:srgbClr val="0432FF"/>
                </a:solidFill>
              </a:rPr>
              <a:t>地址映像方式</a:t>
            </a:r>
          </a:p>
          <a:p>
            <a:pPr marL="1314450" lvl="2" indent="-457200">
              <a:spcBef>
                <a:spcPts val="1000"/>
              </a:spcBef>
              <a:buFont typeface="Wingdings" pitchFamily="2" charset="2"/>
              <a:buChar char="Ø"/>
            </a:pPr>
            <a:r>
              <a:rPr lang="zh-CN" altLang="en-US" sz="2000" dirty="0">
                <a:solidFill>
                  <a:srgbClr val="0432FF"/>
                </a:solidFill>
              </a:rPr>
              <a:t>全相连映像、直接映像、组相联映像</a:t>
            </a:r>
          </a:p>
          <a:p>
            <a:pPr marL="914400" lvl="1" indent="-457200">
              <a:spcBef>
                <a:spcPts val="1000"/>
              </a:spcBef>
              <a:buFont typeface="+mj-lt"/>
              <a:buAutoNum type="arabicPeriod"/>
            </a:pPr>
            <a:r>
              <a:rPr lang="en-US" altLang="zh-CN" sz="2400" dirty="0"/>
              <a:t>Cache</a:t>
            </a:r>
            <a:r>
              <a:rPr lang="zh-CN" altLang="en-US" sz="2400" dirty="0"/>
              <a:t>数据的替换及更新</a:t>
            </a:r>
          </a:p>
          <a:p>
            <a:pPr marL="914400" lvl="1" indent="-457200">
              <a:spcBef>
                <a:spcPts val="1000"/>
              </a:spcBef>
              <a:buFont typeface="+mj-lt"/>
              <a:buAutoNum type="arabicPeriod"/>
            </a:pPr>
            <a:r>
              <a:rPr lang="en-US" altLang="zh-CN" sz="2400" dirty="0"/>
              <a:t>Cache</a:t>
            </a:r>
            <a:r>
              <a:rPr lang="zh-CN" altLang="en-US" sz="2400" dirty="0"/>
              <a:t>的作用</a:t>
            </a:r>
            <a:endParaRPr lang="en-US" altLang="zh-CN" sz="2400" dirty="0"/>
          </a:p>
        </p:txBody>
      </p:sp>
    </p:spTree>
    <p:extLst>
      <p:ext uri="{BB962C8B-B14F-4D97-AF65-F5344CB8AC3E}">
        <p14:creationId xmlns:p14="http://schemas.microsoft.com/office/powerpoint/2010/main" val="1207651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36</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394700" cy="5034563"/>
          </a:xfrm>
        </p:spPr>
        <p:txBody>
          <a:bodyPr/>
          <a:lstStyle/>
          <a:p>
            <a:pPr marL="514350" indent="-457200">
              <a:spcBef>
                <a:spcPts val="1000"/>
              </a:spcBef>
            </a:pPr>
            <a:r>
              <a:rPr kumimoji="1" lang="zh-CN" altLang="en-US" dirty="0"/>
              <a:t>当前，一共有三种主流的地址映像方式，分别是：</a:t>
            </a:r>
            <a:endParaRPr kumimoji="1" lang="en-US" altLang="zh-CN" dirty="0"/>
          </a:p>
          <a:p>
            <a:pPr marL="914400" lvl="1" indent="-457200">
              <a:spcBef>
                <a:spcPts val="1000"/>
              </a:spcBef>
            </a:pPr>
            <a:r>
              <a:rPr lang="zh-CN" altLang="en-US" sz="2400" dirty="0">
                <a:solidFill>
                  <a:srgbClr val="0432FF"/>
                </a:solidFill>
              </a:rPr>
              <a:t>全相联映像</a:t>
            </a:r>
            <a:r>
              <a:rPr lang="en-US" altLang="zh-CN" sz="2400" dirty="0"/>
              <a:t>: </a:t>
            </a:r>
            <a:r>
              <a:rPr lang="zh-CN" altLang="en-US" sz="2400" dirty="0"/>
              <a:t>主存块可以放在</a:t>
            </a:r>
            <a:r>
              <a:rPr lang="en-US" altLang="zh-CN" sz="2400" dirty="0"/>
              <a:t>Cache</a:t>
            </a:r>
            <a:r>
              <a:rPr lang="zh-CN" altLang="en-US" sz="2400" dirty="0"/>
              <a:t>的任意行中</a:t>
            </a:r>
            <a:endParaRPr lang="en-US" altLang="zh-CN" sz="2000" dirty="0"/>
          </a:p>
          <a:p>
            <a:pPr marL="914400" lvl="1" indent="-457200">
              <a:spcBef>
                <a:spcPts val="1000"/>
              </a:spcBef>
            </a:pPr>
            <a:endParaRPr lang="en-US" altLang="zh-CN" sz="2400" dirty="0">
              <a:solidFill>
                <a:srgbClr val="0432FF"/>
              </a:solidFill>
            </a:endParaRPr>
          </a:p>
          <a:p>
            <a:pPr marL="914400" lvl="1" indent="-457200">
              <a:spcBef>
                <a:spcPts val="1000"/>
              </a:spcBef>
            </a:pPr>
            <a:r>
              <a:rPr lang="zh-CN" altLang="en-US" sz="2400" dirty="0">
                <a:solidFill>
                  <a:srgbClr val="0432FF"/>
                </a:solidFill>
              </a:rPr>
              <a:t>直接映像</a:t>
            </a:r>
            <a:r>
              <a:rPr lang="en-US" altLang="zh-CN" sz="2400" dirty="0"/>
              <a:t>: </a:t>
            </a:r>
            <a:r>
              <a:rPr lang="zh-CN" altLang="en-US" sz="2400" dirty="0"/>
              <a:t>主存块只可能在</a:t>
            </a:r>
            <a:r>
              <a:rPr lang="en-US" altLang="zh-CN" sz="2400" dirty="0"/>
              <a:t>Cache</a:t>
            </a:r>
            <a:r>
              <a:rPr lang="zh-CN" altLang="en-US" sz="2400" dirty="0"/>
              <a:t>的某个特定行中</a:t>
            </a:r>
            <a:endParaRPr lang="en-US" altLang="zh-CN" sz="2400" dirty="0"/>
          </a:p>
          <a:p>
            <a:pPr marL="457200" lvl="1" indent="0">
              <a:spcBef>
                <a:spcPts val="1000"/>
              </a:spcBef>
              <a:buNone/>
            </a:pPr>
            <a:endParaRPr lang="en-US" altLang="zh-CN" sz="2400" dirty="0">
              <a:solidFill>
                <a:srgbClr val="FF0000"/>
              </a:solidFill>
            </a:endParaRPr>
          </a:p>
          <a:p>
            <a:pPr marL="914400" lvl="1" indent="-457200">
              <a:spcBef>
                <a:spcPts val="1000"/>
              </a:spcBef>
            </a:pPr>
            <a:r>
              <a:rPr lang="zh-CN" altLang="en-US" sz="2400" dirty="0">
                <a:solidFill>
                  <a:srgbClr val="0432FF"/>
                </a:solidFill>
              </a:rPr>
              <a:t>组相联映像</a:t>
            </a:r>
            <a:r>
              <a:rPr lang="en-US" altLang="zh-CN" sz="2400" dirty="0"/>
              <a:t>: </a:t>
            </a:r>
            <a:r>
              <a:rPr lang="zh-CN" altLang="en-US" sz="2400" dirty="0"/>
              <a:t>主存块可以放在</a:t>
            </a:r>
            <a:r>
              <a:rPr lang="en-US" altLang="zh-CN" sz="2400" dirty="0"/>
              <a:t>Cache</a:t>
            </a:r>
            <a:r>
              <a:rPr lang="zh-CN" altLang="en-US" sz="2400" dirty="0"/>
              <a:t>中的</a:t>
            </a:r>
            <a:r>
              <a:rPr lang="en-US" altLang="zh-CN" sz="2400" dirty="0"/>
              <a:t>n</a:t>
            </a:r>
            <a:r>
              <a:rPr lang="zh-CN" altLang="en-US" sz="2400" dirty="0"/>
              <a:t>个特定行中，</a:t>
            </a:r>
            <a:r>
              <a:rPr lang="en-US" altLang="zh-CN" sz="2400" dirty="0"/>
              <a:t>n</a:t>
            </a:r>
            <a:r>
              <a:rPr lang="zh-CN" altLang="en-US" sz="2400" dirty="0"/>
              <a:t>一般在</a:t>
            </a:r>
            <a:r>
              <a:rPr lang="en-US" altLang="zh-CN" sz="2400" dirty="0"/>
              <a:t>2</a:t>
            </a:r>
            <a:r>
              <a:rPr lang="zh-CN" altLang="en-US" sz="2400" dirty="0"/>
              <a:t>到</a:t>
            </a:r>
            <a:r>
              <a:rPr lang="en-US" altLang="zh-CN" sz="2400" dirty="0"/>
              <a:t>8</a:t>
            </a:r>
            <a:r>
              <a:rPr lang="zh-CN" altLang="en-US" sz="2400" dirty="0"/>
              <a:t>之间，将这</a:t>
            </a:r>
            <a:r>
              <a:rPr lang="en-US" altLang="zh-CN" sz="2400" dirty="0"/>
              <a:t>n</a:t>
            </a:r>
            <a:r>
              <a:rPr lang="zh-CN" altLang="en-US" sz="2400" dirty="0"/>
              <a:t>个行称为一个</a:t>
            </a:r>
            <a:r>
              <a:rPr lang="en-US" altLang="zh-CN" sz="2400" dirty="0"/>
              <a:t>Cache</a:t>
            </a:r>
            <a:r>
              <a:rPr lang="zh-CN" altLang="en-US" sz="2400" dirty="0"/>
              <a:t>组。</a:t>
            </a:r>
            <a:endParaRPr lang="en-US" altLang="zh-CN" sz="2000" dirty="0"/>
          </a:p>
        </p:txBody>
      </p:sp>
    </p:spTree>
    <p:extLst>
      <p:ext uri="{BB962C8B-B14F-4D97-AF65-F5344CB8AC3E}">
        <p14:creationId xmlns:p14="http://schemas.microsoft.com/office/powerpoint/2010/main" val="2680139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37</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313032"/>
            <a:ext cx="8229600" cy="4779793"/>
          </a:xfrm>
        </p:spPr>
        <p:txBody>
          <a:bodyPr/>
          <a:lstStyle/>
          <a:p>
            <a:pPr marL="514350" indent="-457200">
              <a:spcBef>
                <a:spcPts val="1000"/>
              </a:spcBef>
            </a:pPr>
            <a:r>
              <a:rPr kumimoji="1" lang="zh-CN" altLang="en-US" dirty="0"/>
              <a:t>全相联映像</a:t>
            </a:r>
            <a:endParaRPr kumimoji="1" lang="en-US" altLang="zh-CN" dirty="0"/>
          </a:p>
          <a:p>
            <a:pPr marL="914400" lvl="1" indent="-457200">
              <a:spcBef>
                <a:spcPts val="1000"/>
              </a:spcBef>
            </a:pPr>
            <a:r>
              <a:rPr lang="zh-CN" altLang="en-US" sz="2400" dirty="0"/>
              <a:t>为了解决直接映像中缺失率高的问题，在全相连映像中，主存块可以放在</a:t>
            </a:r>
            <a:r>
              <a:rPr lang="en-US" altLang="zh-CN" sz="2400" dirty="0"/>
              <a:t>cache</a:t>
            </a:r>
            <a:r>
              <a:rPr lang="zh-CN" altLang="en-US" sz="2400" dirty="0"/>
              <a:t>的任意行。</a:t>
            </a:r>
            <a:endParaRPr lang="en-US" altLang="zh-CN" sz="2000" dirty="0"/>
          </a:p>
        </p:txBody>
      </p:sp>
      <p:grpSp>
        <p:nvGrpSpPr>
          <p:cNvPr id="5" name="组合 4">
            <a:extLst>
              <a:ext uri="{FF2B5EF4-FFF2-40B4-BE49-F238E27FC236}">
                <a16:creationId xmlns:a16="http://schemas.microsoft.com/office/drawing/2014/main" id="{56B4F588-217E-1749-9B73-37CC45AD77DE}"/>
              </a:ext>
            </a:extLst>
          </p:cNvPr>
          <p:cNvGrpSpPr/>
          <p:nvPr/>
        </p:nvGrpSpPr>
        <p:grpSpPr>
          <a:xfrm>
            <a:off x="1835696" y="2880059"/>
            <a:ext cx="5472608" cy="3769241"/>
            <a:chOff x="4551784" y="2837934"/>
            <a:chExt cx="5472608" cy="3769241"/>
          </a:xfrm>
        </p:grpSpPr>
        <p:sp>
          <p:nvSpPr>
            <p:cNvPr id="6" name="Rectangle 2">
              <a:extLst>
                <a:ext uri="{FF2B5EF4-FFF2-40B4-BE49-F238E27FC236}">
                  <a16:creationId xmlns:a16="http://schemas.microsoft.com/office/drawing/2014/main" id="{F54FBDDF-696C-C048-ABF8-6246CDA44557}"/>
                </a:ext>
              </a:extLst>
            </p:cNvPr>
            <p:cNvSpPr>
              <a:spLocks noChangeArrowheads="1"/>
            </p:cNvSpPr>
            <p:nvPr/>
          </p:nvSpPr>
          <p:spPr bwMode="auto">
            <a:xfrm>
              <a:off x="4591050" y="3022600"/>
              <a:ext cx="206692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solidFill>
                    <a:srgbClr val="000000"/>
                  </a:solidFill>
                  <a:latin typeface="Times New Roman" pitchFamily="18" charset="0"/>
                  <a:ea typeface="SimHei" panose="02010609060101010101" pitchFamily="49" charset="-122"/>
                </a:rPr>
                <a:t>                               </a:t>
              </a:r>
              <a:endParaRPr lang="zh-CN" altLang="en-US" sz="1400" dirty="0">
                <a:solidFill>
                  <a:schemeClr val="folHlink"/>
                </a:solidFill>
                <a:latin typeface="Times New Roman" pitchFamily="18" charset="0"/>
                <a:ea typeface="SimHei" panose="02010609060101010101" pitchFamily="49" charset="-122"/>
              </a:endParaRPr>
            </a:p>
          </p:txBody>
        </p:sp>
        <p:sp>
          <p:nvSpPr>
            <p:cNvPr id="7" name="Rectangle 3">
              <a:extLst>
                <a:ext uri="{FF2B5EF4-FFF2-40B4-BE49-F238E27FC236}">
                  <a16:creationId xmlns:a16="http://schemas.microsoft.com/office/drawing/2014/main" id="{1E747409-20BA-FC46-805D-054D0E32C9A2}"/>
                </a:ext>
              </a:extLst>
            </p:cNvPr>
            <p:cNvSpPr>
              <a:spLocks noChangeArrowheads="1"/>
            </p:cNvSpPr>
            <p:nvPr/>
          </p:nvSpPr>
          <p:spPr bwMode="auto">
            <a:xfrm>
              <a:off x="8700599" y="2837934"/>
              <a:ext cx="61875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400" dirty="0">
                  <a:latin typeface="SimHei" panose="02010609060101010101" pitchFamily="49" charset="-122"/>
                  <a:ea typeface="SimHei" panose="02010609060101010101" pitchFamily="49" charset="-122"/>
                </a:rPr>
                <a:t>主存</a:t>
              </a:r>
              <a:endParaRPr lang="zh-CN" altLang="en-US" sz="2400" dirty="0">
                <a:latin typeface="Times New Roman" pitchFamily="18" charset="0"/>
                <a:ea typeface="SimHei" panose="02010609060101010101" pitchFamily="49" charset="-122"/>
              </a:endParaRPr>
            </a:p>
          </p:txBody>
        </p:sp>
        <p:sp>
          <p:nvSpPr>
            <p:cNvPr id="8" name="Rectangle 4">
              <a:extLst>
                <a:ext uri="{FF2B5EF4-FFF2-40B4-BE49-F238E27FC236}">
                  <a16:creationId xmlns:a16="http://schemas.microsoft.com/office/drawing/2014/main" id="{5DCED585-DA1B-0B45-97CF-68600F96020D}"/>
                </a:ext>
              </a:extLst>
            </p:cNvPr>
            <p:cNvSpPr>
              <a:spLocks noChangeArrowheads="1"/>
            </p:cNvSpPr>
            <p:nvPr/>
          </p:nvSpPr>
          <p:spPr bwMode="auto">
            <a:xfrm>
              <a:off x="4591050" y="3397250"/>
              <a:ext cx="20002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Times New Roman" pitchFamily="18" charset="0"/>
                  <a:ea typeface="SimHei" panose="02010609060101010101" pitchFamily="49" charset="-122"/>
                </a:rPr>
                <a:t>   </a:t>
              </a:r>
              <a:endParaRPr lang="zh-CN" altLang="en-US" sz="1400" dirty="0">
                <a:latin typeface="Times New Roman" pitchFamily="18" charset="0"/>
                <a:ea typeface="SimHei" panose="02010609060101010101" pitchFamily="49" charset="-122"/>
              </a:endParaRPr>
            </a:p>
          </p:txBody>
        </p:sp>
        <p:sp>
          <p:nvSpPr>
            <p:cNvPr id="9" name="Rectangle 5">
              <a:extLst>
                <a:ext uri="{FF2B5EF4-FFF2-40B4-BE49-F238E27FC236}">
                  <a16:creationId xmlns:a16="http://schemas.microsoft.com/office/drawing/2014/main" id="{C2A2E604-6D40-8746-86B4-E4790049280E}"/>
                </a:ext>
              </a:extLst>
            </p:cNvPr>
            <p:cNvSpPr>
              <a:spLocks noChangeArrowheads="1"/>
            </p:cNvSpPr>
            <p:nvPr/>
          </p:nvSpPr>
          <p:spPr bwMode="auto">
            <a:xfrm>
              <a:off x="4927876" y="3503612"/>
              <a:ext cx="77745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400" b="1" dirty="0">
                  <a:latin typeface="+mn-ea"/>
                  <a:ea typeface="+mn-ea"/>
                </a:rPr>
                <a:t>Cache</a:t>
              </a:r>
            </a:p>
          </p:txBody>
        </p:sp>
        <p:sp>
          <p:nvSpPr>
            <p:cNvPr id="10" name="Rectangle 6">
              <a:extLst>
                <a:ext uri="{FF2B5EF4-FFF2-40B4-BE49-F238E27FC236}">
                  <a16:creationId xmlns:a16="http://schemas.microsoft.com/office/drawing/2014/main" id="{2E3C1676-67C7-3B49-9096-D357CD9ACA9A}"/>
                </a:ext>
              </a:extLst>
            </p:cNvPr>
            <p:cNvSpPr>
              <a:spLocks noChangeArrowheads="1"/>
            </p:cNvSpPr>
            <p:nvPr/>
          </p:nvSpPr>
          <p:spPr bwMode="auto">
            <a:xfrm>
              <a:off x="7995567" y="3289300"/>
              <a:ext cx="2028825" cy="430213"/>
            </a:xfrm>
            <a:prstGeom prst="rect">
              <a:avLst/>
            </a:prstGeom>
            <a:solidFill>
              <a:srgbClr val="CCFFFF"/>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11" name="Rectangle 7">
              <a:extLst>
                <a:ext uri="{FF2B5EF4-FFF2-40B4-BE49-F238E27FC236}">
                  <a16:creationId xmlns:a16="http://schemas.microsoft.com/office/drawing/2014/main" id="{CB642775-415B-3A4D-B8B1-4B24CDE494A2}"/>
                </a:ext>
              </a:extLst>
            </p:cNvPr>
            <p:cNvSpPr>
              <a:spLocks noChangeArrowheads="1"/>
            </p:cNvSpPr>
            <p:nvPr/>
          </p:nvSpPr>
          <p:spPr bwMode="auto">
            <a:xfrm>
              <a:off x="8551863" y="3343275"/>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12" name="Rectangle 8">
              <a:extLst>
                <a:ext uri="{FF2B5EF4-FFF2-40B4-BE49-F238E27FC236}">
                  <a16:creationId xmlns:a16="http://schemas.microsoft.com/office/drawing/2014/main" id="{B2362C50-9073-B94E-A5A1-C6D47B4EB53B}"/>
                </a:ext>
              </a:extLst>
            </p:cNvPr>
            <p:cNvSpPr>
              <a:spLocks noChangeArrowheads="1"/>
            </p:cNvSpPr>
            <p:nvPr/>
          </p:nvSpPr>
          <p:spPr bwMode="auto">
            <a:xfrm>
              <a:off x="8877300" y="3325813"/>
              <a:ext cx="13335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0</a:t>
              </a:r>
              <a:endParaRPr lang="en-US" altLang="zh-CN" sz="1400" dirty="0">
                <a:latin typeface="Times New Roman" pitchFamily="18" charset="0"/>
                <a:ea typeface="SimHei" panose="02010609060101010101" pitchFamily="49" charset="-122"/>
              </a:endParaRPr>
            </a:p>
          </p:txBody>
        </p:sp>
        <p:sp>
          <p:nvSpPr>
            <p:cNvPr id="13" name="Rectangle 9">
              <a:extLst>
                <a:ext uri="{FF2B5EF4-FFF2-40B4-BE49-F238E27FC236}">
                  <a16:creationId xmlns:a16="http://schemas.microsoft.com/office/drawing/2014/main" id="{86896BC0-B719-7C4D-9EE3-9A84B9C10B6A}"/>
                </a:ext>
              </a:extLst>
            </p:cNvPr>
            <p:cNvSpPr>
              <a:spLocks noChangeArrowheads="1"/>
            </p:cNvSpPr>
            <p:nvPr/>
          </p:nvSpPr>
          <p:spPr bwMode="auto">
            <a:xfrm>
              <a:off x="9067800" y="3343275"/>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14" name="Rectangle 10">
              <a:extLst>
                <a:ext uri="{FF2B5EF4-FFF2-40B4-BE49-F238E27FC236}">
                  <a16:creationId xmlns:a16="http://schemas.microsoft.com/office/drawing/2014/main" id="{38F34E35-A36D-E447-8EB8-D48A176FFF63}"/>
                </a:ext>
              </a:extLst>
            </p:cNvPr>
            <p:cNvSpPr>
              <a:spLocks noChangeArrowheads="1"/>
            </p:cNvSpPr>
            <p:nvPr/>
          </p:nvSpPr>
          <p:spPr bwMode="auto">
            <a:xfrm>
              <a:off x="7995567" y="3700463"/>
              <a:ext cx="2028825" cy="392112"/>
            </a:xfrm>
            <a:prstGeom prst="rect">
              <a:avLst/>
            </a:prstGeom>
            <a:solidFill>
              <a:srgbClr val="CCFFFF"/>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15" name="Rectangle 11">
              <a:extLst>
                <a:ext uri="{FF2B5EF4-FFF2-40B4-BE49-F238E27FC236}">
                  <a16:creationId xmlns:a16="http://schemas.microsoft.com/office/drawing/2014/main" id="{A61CC7F9-7025-5745-B71D-89004265E089}"/>
                </a:ext>
              </a:extLst>
            </p:cNvPr>
            <p:cNvSpPr>
              <a:spLocks noChangeArrowheads="1"/>
            </p:cNvSpPr>
            <p:nvPr/>
          </p:nvSpPr>
          <p:spPr bwMode="auto">
            <a:xfrm>
              <a:off x="8551863" y="3770313"/>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16" name="Rectangle 12">
              <a:extLst>
                <a:ext uri="{FF2B5EF4-FFF2-40B4-BE49-F238E27FC236}">
                  <a16:creationId xmlns:a16="http://schemas.microsoft.com/office/drawing/2014/main" id="{59284DC9-EB56-344C-AFBF-3B488B20163C}"/>
                </a:ext>
              </a:extLst>
            </p:cNvPr>
            <p:cNvSpPr>
              <a:spLocks noChangeArrowheads="1"/>
            </p:cNvSpPr>
            <p:nvPr/>
          </p:nvSpPr>
          <p:spPr bwMode="auto">
            <a:xfrm>
              <a:off x="8877300" y="3754438"/>
              <a:ext cx="13335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17" name="Rectangle 13">
              <a:extLst>
                <a:ext uri="{FF2B5EF4-FFF2-40B4-BE49-F238E27FC236}">
                  <a16:creationId xmlns:a16="http://schemas.microsoft.com/office/drawing/2014/main" id="{66D5422F-F8A4-284C-94AA-78BCFBB6B05D}"/>
                </a:ext>
              </a:extLst>
            </p:cNvPr>
            <p:cNvSpPr>
              <a:spLocks noChangeArrowheads="1"/>
            </p:cNvSpPr>
            <p:nvPr/>
          </p:nvSpPr>
          <p:spPr bwMode="auto">
            <a:xfrm>
              <a:off x="9067800" y="3770313"/>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18" name="Rectangle 14">
              <a:extLst>
                <a:ext uri="{FF2B5EF4-FFF2-40B4-BE49-F238E27FC236}">
                  <a16:creationId xmlns:a16="http://schemas.microsoft.com/office/drawing/2014/main" id="{42EE07D2-58D4-7144-AD0E-F80C79078519}"/>
                </a:ext>
              </a:extLst>
            </p:cNvPr>
            <p:cNvSpPr>
              <a:spLocks noChangeArrowheads="1"/>
            </p:cNvSpPr>
            <p:nvPr/>
          </p:nvSpPr>
          <p:spPr bwMode="auto">
            <a:xfrm>
              <a:off x="4551784" y="4003675"/>
              <a:ext cx="1568450" cy="446088"/>
            </a:xfrm>
            <a:prstGeom prst="rect">
              <a:avLst/>
            </a:prstGeom>
            <a:solidFill>
              <a:srgbClr val="FFFF99"/>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19" name="Rectangle 15">
              <a:extLst>
                <a:ext uri="{FF2B5EF4-FFF2-40B4-BE49-F238E27FC236}">
                  <a16:creationId xmlns:a16="http://schemas.microsoft.com/office/drawing/2014/main" id="{AFFCEC0E-51FB-7B4A-BADB-7B2C26E7EBD2}"/>
                </a:ext>
              </a:extLst>
            </p:cNvPr>
            <p:cNvSpPr>
              <a:spLocks noChangeArrowheads="1"/>
            </p:cNvSpPr>
            <p:nvPr/>
          </p:nvSpPr>
          <p:spPr bwMode="auto">
            <a:xfrm>
              <a:off x="4953000" y="4075113"/>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20" name="Rectangle 16">
              <a:extLst>
                <a:ext uri="{FF2B5EF4-FFF2-40B4-BE49-F238E27FC236}">
                  <a16:creationId xmlns:a16="http://schemas.microsoft.com/office/drawing/2014/main" id="{6435A46B-43FB-A446-A984-8E809EB27A83}"/>
                </a:ext>
              </a:extLst>
            </p:cNvPr>
            <p:cNvSpPr>
              <a:spLocks noChangeArrowheads="1"/>
            </p:cNvSpPr>
            <p:nvPr/>
          </p:nvSpPr>
          <p:spPr bwMode="auto">
            <a:xfrm>
              <a:off x="5280025" y="4057650"/>
              <a:ext cx="13335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0</a:t>
              </a:r>
              <a:endParaRPr lang="en-US" altLang="zh-CN" sz="1400" dirty="0">
                <a:latin typeface="Times New Roman" pitchFamily="18" charset="0"/>
                <a:ea typeface="SimHei" panose="02010609060101010101" pitchFamily="49" charset="-122"/>
              </a:endParaRPr>
            </a:p>
          </p:txBody>
        </p:sp>
        <p:sp>
          <p:nvSpPr>
            <p:cNvPr id="21" name="Rectangle 17">
              <a:extLst>
                <a:ext uri="{FF2B5EF4-FFF2-40B4-BE49-F238E27FC236}">
                  <a16:creationId xmlns:a16="http://schemas.microsoft.com/office/drawing/2014/main" id="{003A2057-789C-C94D-91E4-3A096039838C}"/>
                </a:ext>
              </a:extLst>
            </p:cNvPr>
            <p:cNvSpPr>
              <a:spLocks noChangeArrowheads="1"/>
            </p:cNvSpPr>
            <p:nvPr/>
          </p:nvSpPr>
          <p:spPr bwMode="auto">
            <a:xfrm>
              <a:off x="5472113" y="4075113"/>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22" name="Rectangle 18">
              <a:extLst>
                <a:ext uri="{FF2B5EF4-FFF2-40B4-BE49-F238E27FC236}">
                  <a16:creationId xmlns:a16="http://schemas.microsoft.com/office/drawing/2014/main" id="{B3C48291-F051-F048-84A4-1549DF414501}"/>
                </a:ext>
              </a:extLst>
            </p:cNvPr>
            <p:cNvSpPr>
              <a:spLocks noChangeArrowheads="1"/>
            </p:cNvSpPr>
            <p:nvPr/>
          </p:nvSpPr>
          <p:spPr bwMode="auto">
            <a:xfrm>
              <a:off x="7995567" y="4075113"/>
              <a:ext cx="2028825" cy="2085975"/>
            </a:xfrm>
            <a:prstGeom prst="rect">
              <a:avLst/>
            </a:prstGeom>
            <a:solidFill>
              <a:srgbClr val="CCFFFF"/>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23" name="Rectangle 19">
              <a:extLst>
                <a:ext uri="{FF2B5EF4-FFF2-40B4-BE49-F238E27FC236}">
                  <a16:creationId xmlns:a16="http://schemas.microsoft.com/office/drawing/2014/main" id="{0EB0E435-6BD8-7044-939B-E86AD93AE46A}"/>
                </a:ext>
              </a:extLst>
            </p:cNvPr>
            <p:cNvSpPr>
              <a:spLocks noChangeArrowheads="1"/>
            </p:cNvSpPr>
            <p:nvPr/>
          </p:nvSpPr>
          <p:spPr bwMode="auto">
            <a:xfrm>
              <a:off x="8818563" y="4752975"/>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24" name="Rectangle 20">
              <a:extLst>
                <a:ext uri="{FF2B5EF4-FFF2-40B4-BE49-F238E27FC236}">
                  <a16:creationId xmlns:a16="http://schemas.microsoft.com/office/drawing/2014/main" id="{BA9661B6-69DB-0D4F-94E6-DB5EBB987F07}"/>
                </a:ext>
              </a:extLst>
            </p:cNvPr>
            <p:cNvSpPr>
              <a:spLocks noChangeArrowheads="1"/>
            </p:cNvSpPr>
            <p:nvPr/>
          </p:nvSpPr>
          <p:spPr bwMode="auto">
            <a:xfrm>
              <a:off x="4551784" y="4432300"/>
              <a:ext cx="1568450" cy="444500"/>
            </a:xfrm>
            <a:prstGeom prst="rect">
              <a:avLst/>
            </a:prstGeom>
            <a:solidFill>
              <a:srgbClr val="FFFF99"/>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25" name="Rectangle 21">
              <a:extLst>
                <a:ext uri="{FF2B5EF4-FFF2-40B4-BE49-F238E27FC236}">
                  <a16:creationId xmlns:a16="http://schemas.microsoft.com/office/drawing/2014/main" id="{2521B890-8220-C842-BB4E-35B556B7EE2B}"/>
                </a:ext>
              </a:extLst>
            </p:cNvPr>
            <p:cNvSpPr>
              <a:spLocks noChangeArrowheads="1"/>
            </p:cNvSpPr>
            <p:nvPr/>
          </p:nvSpPr>
          <p:spPr bwMode="auto">
            <a:xfrm>
              <a:off x="4953000" y="4503738"/>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26" name="Rectangle 22">
              <a:extLst>
                <a:ext uri="{FF2B5EF4-FFF2-40B4-BE49-F238E27FC236}">
                  <a16:creationId xmlns:a16="http://schemas.microsoft.com/office/drawing/2014/main" id="{810D7778-6C6B-944A-ACEB-0A6143E4703B}"/>
                </a:ext>
              </a:extLst>
            </p:cNvPr>
            <p:cNvSpPr>
              <a:spLocks noChangeArrowheads="1"/>
            </p:cNvSpPr>
            <p:nvPr/>
          </p:nvSpPr>
          <p:spPr bwMode="auto">
            <a:xfrm>
              <a:off x="5280025" y="4484688"/>
              <a:ext cx="13335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27" name="Rectangle 23">
              <a:extLst>
                <a:ext uri="{FF2B5EF4-FFF2-40B4-BE49-F238E27FC236}">
                  <a16:creationId xmlns:a16="http://schemas.microsoft.com/office/drawing/2014/main" id="{B403047F-941E-FB41-9299-D5E9AC1F618B}"/>
                </a:ext>
              </a:extLst>
            </p:cNvPr>
            <p:cNvSpPr>
              <a:spLocks noChangeArrowheads="1"/>
            </p:cNvSpPr>
            <p:nvPr/>
          </p:nvSpPr>
          <p:spPr bwMode="auto">
            <a:xfrm>
              <a:off x="5472113" y="4503738"/>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28" name="Rectangle 24">
              <a:extLst>
                <a:ext uri="{FF2B5EF4-FFF2-40B4-BE49-F238E27FC236}">
                  <a16:creationId xmlns:a16="http://schemas.microsoft.com/office/drawing/2014/main" id="{D4CE32F8-CAA9-7A47-A199-9A124DB614BB}"/>
                </a:ext>
              </a:extLst>
            </p:cNvPr>
            <p:cNvSpPr>
              <a:spLocks noChangeArrowheads="1"/>
            </p:cNvSpPr>
            <p:nvPr/>
          </p:nvSpPr>
          <p:spPr bwMode="auto">
            <a:xfrm>
              <a:off x="4551784" y="4860925"/>
              <a:ext cx="1568450" cy="446088"/>
            </a:xfrm>
            <a:prstGeom prst="rect">
              <a:avLst/>
            </a:prstGeom>
            <a:solidFill>
              <a:srgbClr val="FFFF99"/>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29" name="Rectangle 25">
              <a:extLst>
                <a:ext uri="{FF2B5EF4-FFF2-40B4-BE49-F238E27FC236}">
                  <a16:creationId xmlns:a16="http://schemas.microsoft.com/office/drawing/2014/main" id="{F1351793-EEDB-004E-B195-50DF4388F807}"/>
                </a:ext>
              </a:extLst>
            </p:cNvPr>
            <p:cNvSpPr>
              <a:spLocks noChangeArrowheads="1"/>
            </p:cNvSpPr>
            <p:nvPr/>
          </p:nvSpPr>
          <p:spPr bwMode="auto">
            <a:xfrm>
              <a:off x="5245894" y="4833144"/>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30" name="Rectangle 26">
              <a:extLst>
                <a:ext uri="{FF2B5EF4-FFF2-40B4-BE49-F238E27FC236}">
                  <a16:creationId xmlns:a16="http://schemas.microsoft.com/office/drawing/2014/main" id="{37FF947B-9670-104F-A95E-1CF1878E8761}"/>
                </a:ext>
              </a:extLst>
            </p:cNvPr>
            <p:cNvSpPr>
              <a:spLocks noChangeArrowheads="1"/>
            </p:cNvSpPr>
            <p:nvPr/>
          </p:nvSpPr>
          <p:spPr bwMode="auto">
            <a:xfrm>
              <a:off x="4551784" y="5287963"/>
              <a:ext cx="1568450" cy="465137"/>
            </a:xfrm>
            <a:prstGeom prst="rect">
              <a:avLst/>
            </a:prstGeom>
            <a:solidFill>
              <a:srgbClr val="FFFF99"/>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31" name="Rectangle 27">
              <a:extLst>
                <a:ext uri="{FF2B5EF4-FFF2-40B4-BE49-F238E27FC236}">
                  <a16:creationId xmlns:a16="http://schemas.microsoft.com/office/drawing/2014/main" id="{3C40C091-DF67-FB43-8BED-3BD83F58AC1B}"/>
                </a:ext>
              </a:extLst>
            </p:cNvPr>
            <p:cNvSpPr>
              <a:spLocks noChangeArrowheads="1"/>
            </p:cNvSpPr>
            <p:nvPr/>
          </p:nvSpPr>
          <p:spPr bwMode="auto">
            <a:xfrm>
              <a:off x="4802188" y="5359400"/>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32" name="Rectangle 28">
              <a:extLst>
                <a:ext uri="{FF2B5EF4-FFF2-40B4-BE49-F238E27FC236}">
                  <a16:creationId xmlns:a16="http://schemas.microsoft.com/office/drawing/2014/main" id="{25C2E344-9F27-DC47-8268-913F233E578D}"/>
                </a:ext>
              </a:extLst>
            </p:cNvPr>
            <p:cNvSpPr>
              <a:spLocks noChangeArrowheads="1"/>
            </p:cNvSpPr>
            <p:nvPr/>
          </p:nvSpPr>
          <p:spPr bwMode="auto">
            <a:xfrm>
              <a:off x="5126038" y="5341938"/>
              <a:ext cx="193964" cy="323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N</a:t>
              </a:r>
              <a:endParaRPr lang="en-US" altLang="zh-CN" sz="1400" dirty="0">
                <a:latin typeface="Times New Roman" pitchFamily="18" charset="0"/>
                <a:ea typeface="SimHei" panose="02010609060101010101" pitchFamily="49" charset="-122"/>
              </a:endParaRPr>
            </a:p>
          </p:txBody>
        </p:sp>
        <p:sp>
          <p:nvSpPr>
            <p:cNvPr id="33" name="Rectangle 29">
              <a:extLst>
                <a:ext uri="{FF2B5EF4-FFF2-40B4-BE49-F238E27FC236}">
                  <a16:creationId xmlns:a16="http://schemas.microsoft.com/office/drawing/2014/main" id="{78FE1B79-F0C5-E04B-B9CF-A0CCFC1E210C}"/>
                </a:ext>
              </a:extLst>
            </p:cNvPr>
            <p:cNvSpPr>
              <a:spLocks noChangeArrowheads="1"/>
            </p:cNvSpPr>
            <p:nvPr/>
          </p:nvSpPr>
          <p:spPr bwMode="auto">
            <a:xfrm>
              <a:off x="5299075" y="5341938"/>
              <a:ext cx="160338"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Courier New" pitchFamily="49"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34" name="Rectangle 30">
              <a:extLst>
                <a:ext uri="{FF2B5EF4-FFF2-40B4-BE49-F238E27FC236}">
                  <a16:creationId xmlns:a16="http://schemas.microsoft.com/office/drawing/2014/main" id="{0A136C50-F654-7C4C-93B6-7FAC756C2439}"/>
                </a:ext>
              </a:extLst>
            </p:cNvPr>
            <p:cNvSpPr>
              <a:spLocks noChangeArrowheads="1"/>
            </p:cNvSpPr>
            <p:nvPr/>
          </p:nvSpPr>
          <p:spPr bwMode="auto">
            <a:xfrm>
              <a:off x="5451475" y="5341938"/>
              <a:ext cx="13335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35" name="Rectangle 31">
              <a:extLst>
                <a:ext uri="{FF2B5EF4-FFF2-40B4-BE49-F238E27FC236}">
                  <a16:creationId xmlns:a16="http://schemas.microsoft.com/office/drawing/2014/main" id="{A9D7661B-B7CC-CB48-B94C-119E7A4F50FC}"/>
                </a:ext>
              </a:extLst>
            </p:cNvPr>
            <p:cNvSpPr>
              <a:spLocks noChangeArrowheads="1"/>
            </p:cNvSpPr>
            <p:nvPr/>
          </p:nvSpPr>
          <p:spPr bwMode="auto">
            <a:xfrm>
              <a:off x="5643563" y="5359400"/>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36" name="Rectangle 32">
              <a:extLst>
                <a:ext uri="{FF2B5EF4-FFF2-40B4-BE49-F238E27FC236}">
                  <a16:creationId xmlns:a16="http://schemas.microsoft.com/office/drawing/2014/main" id="{ECFBB8B4-8DB2-BA45-9617-207A31F31A7C}"/>
                </a:ext>
              </a:extLst>
            </p:cNvPr>
            <p:cNvSpPr>
              <a:spLocks noChangeArrowheads="1"/>
            </p:cNvSpPr>
            <p:nvPr/>
          </p:nvSpPr>
          <p:spPr bwMode="auto">
            <a:xfrm>
              <a:off x="7995567" y="6161088"/>
              <a:ext cx="2028825" cy="446087"/>
            </a:xfrm>
            <a:prstGeom prst="rect">
              <a:avLst/>
            </a:prstGeom>
            <a:solidFill>
              <a:srgbClr val="CCFFFF"/>
            </a:solidFill>
            <a:ln w="17463">
              <a:solidFill>
                <a:srgbClr val="000000"/>
              </a:solidFill>
              <a:miter lim="800000"/>
              <a:headEnd/>
              <a:tailEnd/>
            </a:ln>
          </p:spPr>
          <p:txBody>
            <a:bodyPr/>
            <a:lstStyle/>
            <a:p>
              <a:endParaRPr lang="zh-CN" altLang="en-US" dirty="0">
                <a:ea typeface="SimHei" panose="02010609060101010101" pitchFamily="49" charset="-122"/>
              </a:endParaRPr>
            </a:p>
          </p:txBody>
        </p:sp>
        <p:sp>
          <p:nvSpPr>
            <p:cNvPr id="37" name="Rectangle 33">
              <a:extLst>
                <a:ext uri="{FF2B5EF4-FFF2-40B4-BE49-F238E27FC236}">
                  <a16:creationId xmlns:a16="http://schemas.microsoft.com/office/drawing/2014/main" id="{B0C3FECE-481C-7048-AB2F-C31F86410D8A}"/>
                </a:ext>
              </a:extLst>
            </p:cNvPr>
            <p:cNvSpPr>
              <a:spLocks noChangeArrowheads="1"/>
            </p:cNvSpPr>
            <p:nvPr/>
          </p:nvSpPr>
          <p:spPr bwMode="auto">
            <a:xfrm>
              <a:off x="8456613" y="6234113"/>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38" name="Rectangle 34">
              <a:extLst>
                <a:ext uri="{FF2B5EF4-FFF2-40B4-BE49-F238E27FC236}">
                  <a16:creationId xmlns:a16="http://schemas.microsoft.com/office/drawing/2014/main" id="{9A091851-85D2-144E-9BDA-11CE1DC05B42}"/>
                </a:ext>
              </a:extLst>
            </p:cNvPr>
            <p:cNvSpPr>
              <a:spLocks noChangeArrowheads="1"/>
            </p:cNvSpPr>
            <p:nvPr/>
          </p:nvSpPr>
          <p:spPr bwMode="auto">
            <a:xfrm>
              <a:off x="8780463" y="6215063"/>
              <a:ext cx="165110" cy="323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Times New Roman" pitchFamily="18" charset="0"/>
                  <a:ea typeface="SimHei" panose="02010609060101010101" pitchFamily="49" charset="-122"/>
                </a:rPr>
                <a:t>L</a:t>
              </a:r>
              <a:endParaRPr lang="en-US" altLang="zh-CN" sz="1400" dirty="0">
                <a:latin typeface="Times New Roman" pitchFamily="18" charset="0"/>
                <a:ea typeface="SimHei" panose="02010609060101010101" pitchFamily="49" charset="-122"/>
              </a:endParaRPr>
            </a:p>
          </p:txBody>
        </p:sp>
        <p:sp>
          <p:nvSpPr>
            <p:cNvPr id="39" name="Rectangle 35">
              <a:extLst>
                <a:ext uri="{FF2B5EF4-FFF2-40B4-BE49-F238E27FC236}">
                  <a16:creationId xmlns:a16="http://schemas.microsoft.com/office/drawing/2014/main" id="{DE0C3506-AF50-514A-868B-8D777D26C0B3}"/>
                </a:ext>
              </a:extLst>
            </p:cNvPr>
            <p:cNvSpPr>
              <a:spLocks noChangeArrowheads="1"/>
            </p:cNvSpPr>
            <p:nvPr/>
          </p:nvSpPr>
          <p:spPr bwMode="auto">
            <a:xfrm>
              <a:off x="8934450" y="6215063"/>
              <a:ext cx="6667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Times New Roman" pitchFamily="18" charset="0"/>
                  <a:ea typeface="SimHei" panose="02010609060101010101" pitchFamily="49" charset="-122"/>
                </a:rPr>
                <a:t> </a:t>
              </a:r>
              <a:endParaRPr lang="zh-CN" altLang="en-US" sz="1400" dirty="0">
                <a:latin typeface="Times New Roman" pitchFamily="18" charset="0"/>
                <a:ea typeface="SimHei" panose="02010609060101010101" pitchFamily="49" charset="-122"/>
              </a:endParaRPr>
            </a:p>
          </p:txBody>
        </p:sp>
        <p:sp>
          <p:nvSpPr>
            <p:cNvPr id="40" name="Rectangle 36">
              <a:extLst>
                <a:ext uri="{FF2B5EF4-FFF2-40B4-BE49-F238E27FC236}">
                  <a16:creationId xmlns:a16="http://schemas.microsoft.com/office/drawing/2014/main" id="{CC17C9C6-14AD-3048-8932-B3E230E1E962}"/>
                </a:ext>
              </a:extLst>
            </p:cNvPr>
            <p:cNvSpPr>
              <a:spLocks noChangeArrowheads="1"/>
            </p:cNvSpPr>
            <p:nvPr/>
          </p:nvSpPr>
          <p:spPr bwMode="auto">
            <a:xfrm>
              <a:off x="9010650" y="6215063"/>
              <a:ext cx="160338"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100" dirty="0">
                  <a:latin typeface="Courier New" pitchFamily="49"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41" name="Rectangle 37">
              <a:extLst>
                <a:ext uri="{FF2B5EF4-FFF2-40B4-BE49-F238E27FC236}">
                  <a16:creationId xmlns:a16="http://schemas.microsoft.com/office/drawing/2014/main" id="{B6C8CCAC-2034-AA47-8E91-4148B7E6622D}"/>
                </a:ext>
              </a:extLst>
            </p:cNvPr>
            <p:cNvSpPr>
              <a:spLocks noChangeArrowheads="1"/>
            </p:cNvSpPr>
            <p:nvPr/>
          </p:nvSpPr>
          <p:spPr bwMode="auto">
            <a:xfrm>
              <a:off x="9164638" y="6215063"/>
              <a:ext cx="20002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Times New Roman" pitchFamily="18" charset="0"/>
                  <a:ea typeface="SimHei" panose="02010609060101010101" pitchFamily="49" charset="-122"/>
                </a:rPr>
                <a:t> </a:t>
              </a:r>
              <a:r>
                <a:rPr lang="en-US" altLang="zh-CN" sz="2100"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42" name="Rectangle 38">
              <a:extLst>
                <a:ext uri="{FF2B5EF4-FFF2-40B4-BE49-F238E27FC236}">
                  <a16:creationId xmlns:a16="http://schemas.microsoft.com/office/drawing/2014/main" id="{A3CF838B-832D-0C4E-97BC-872EEE90811E}"/>
                </a:ext>
              </a:extLst>
            </p:cNvPr>
            <p:cNvSpPr>
              <a:spLocks noChangeArrowheads="1"/>
            </p:cNvSpPr>
            <p:nvPr/>
          </p:nvSpPr>
          <p:spPr bwMode="auto">
            <a:xfrm>
              <a:off x="9431338" y="6234113"/>
              <a:ext cx="2667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43" name="Line 39">
              <a:extLst>
                <a:ext uri="{FF2B5EF4-FFF2-40B4-BE49-F238E27FC236}">
                  <a16:creationId xmlns:a16="http://schemas.microsoft.com/office/drawing/2014/main" id="{ADFB6030-3307-3A48-ADA0-6F9ABEC96AA2}"/>
                </a:ext>
              </a:extLst>
            </p:cNvPr>
            <p:cNvSpPr>
              <a:spLocks noChangeShapeType="1"/>
            </p:cNvSpPr>
            <p:nvPr/>
          </p:nvSpPr>
          <p:spPr bwMode="auto">
            <a:xfrm flipH="1">
              <a:off x="6121400" y="3468688"/>
              <a:ext cx="1855788" cy="677862"/>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44" name="Line 40">
              <a:extLst>
                <a:ext uri="{FF2B5EF4-FFF2-40B4-BE49-F238E27FC236}">
                  <a16:creationId xmlns:a16="http://schemas.microsoft.com/office/drawing/2014/main" id="{4848DDEF-8FC0-844E-A0DD-16E8B16879B3}"/>
                </a:ext>
              </a:extLst>
            </p:cNvPr>
            <p:cNvSpPr>
              <a:spLocks noChangeShapeType="1"/>
            </p:cNvSpPr>
            <p:nvPr/>
          </p:nvSpPr>
          <p:spPr bwMode="auto">
            <a:xfrm flipH="1">
              <a:off x="6121400" y="3843338"/>
              <a:ext cx="1855788" cy="730250"/>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45" name="Line 41">
              <a:extLst>
                <a:ext uri="{FF2B5EF4-FFF2-40B4-BE49-F238E27FC236}">
                  <a16:creationId xmlns:a16="http://schemas.microsoft.com/office/drawing/2014/main" id="{D2C7FD78-D263-F44C-9332-7586D47D087A}"/>
                </a:ext>
              </a:extLst>
            </p:cNvPr>
            <p:cNvSpPr>
              <a:spLocks noChangeShapeType="1"/>
            </p:cNvSpPr>
            <p:nvPr/>
          </p:nvSpPr>
          <p:spPr bwMode="auto">
            <a:xfrm>
              <a:off x="6121400" y="5591175"/>
              <a:ext cx="1855788" cy="731838"/>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46" name="Line 42">
              <a:extLst>
                <a:ext uri="{FF2B5EF4-FFF2-40B4-BE49-F238E27FC236}">
                  <a16:creationId xmlns:a16="http://schemas.microsoft.com/office/drawing/2014/main" id="{6B901B0C-78F7-ED4A-8908-AC109A9C98F8}"/>
                </a:ext>
              </a:extLst>
            </p:cNvPr>
            <p:cNvSpPr>
              <a:spLocks noChangeShapeType="1"/>
            </p:cNvSpPr>
            <p:nvPr/>
          </p:nvSpPr>
          <p:spPr bwMode="auto">
            <a:xfrm>
              <a:off x="6121400" y="4146550"/>
              <a:ext cx="1855788" cy="2176463"/>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47" name="Line 43">
              <a:extLst>
                <a:ext uri="{FF2B5EF4-FFF2-40B4-BE49-F238E27FC236}">
                  <a16:creationId xmlns:a16="http://schemas.microsoft.com/office/drawing/2014/main" id="{12EE8B58-C26F-0047-B91E-8E2FCF54E683}"/>
                </a:ext>
              </a:extLst>
            </p:cNvPr>
            <p:cNvSpPr>
              <a:spLocks noChangeShapeType="1"/>
            </p:cNvSpPr>
            <p:nvPr/>
          </p:nvSpPr>
          <p:spPr bwMode="auto">
            <a:xfrm>
              <a:off x="6121400" y="4573588"/>
              <a:ext cx="1855788" cy="1749425"/>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48" name="Line 44">
              <a:extLst>
                <a:ext uri="{FF2B5EF4-FFF2-40B4-BE49-F238E27FC236}">
                  <a16:creationId xmlns:a16="http://schemas.microsoft.com/office/drawing/2014/main" id="{E6F8C313-264B-3840-8BB5-F72315075653}"/>
                </a:ext>
              </a:extLst>
            </p:cNvPr>
            <p:cNvSpPr>
              <a:spLocks noChangeShapeType="1"/>
            </p:cNvSpPr>
            <p:nvPr/>
          </p:nvSpPr>
          <p:spPr bwMode="auto">
            <a:xfrm flipH="1">
              <a:off x="6121400" y="3468688"/>
              <a:ext cx="1855788" cy="2105025"/>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49" name="Line 45">
              <a:extLst>
                <a:ext uri="{FF2B5EF4-FFF2-40B4-BE49-F238E27FC236}">
                  <a16:creationId xmlns:a16="http://schemas.microsoft.com/office/drawing/2014/main" id="{114E7725-2203-B743-992F-839D94ED6440}"/>
                </a:ext>
              </a:extLst>
            </p:cNvPr>
            <p:cNvSpPr>
              <a:spLocks noChangeShapeType="1"/>
            </p:cNvSpPr>
            <p:nvPr/>
          </p:nvSpPr>
          <p:spPr bwMode="auto">
            <a:xfrm flipH="1">
              <a:off x="6121400" y="3843338"/>
              <a:ext cx="1855788" cy="1730375"/>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50" name="Line 46">
              <a:extLst>
                <a:ext uri="{FF2B5EF4-FFF2-40B4-BE49-F238E27FC236}">
                  <a16:creationId xmlns:a16="http://schemas.microsoft.com/office/drawing/2014/main" id="{CF853905-B370-EE46-AC02-88DA168218D2}"/>
                </a:ext>
              </a:extLst>
            </p:cNvPr>
            <p:cNvSpPr>
              <a:spLocks noChangeShapeType="1"/>
            </p:cNvSpPr>
            <p:nvPr/>
          </p:nvSpPr>
          <p:spPr bwMode="auto">
            <a:xfrm flipH="1">
              <a:off x="6121400" y="3843338"/>
              <a:ext cx="1855788" cy="303212"/>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51" name="Line 47">
              <a:extLst>
                <a:ext uri="{FF2B5EF4-FFF2-40B4-BE49-F238E27FC236}">
                  <a16:creationId xmlns:a16="http://schemas.microsoft.com/office/drawing/2014/main" id="{BB380DB6-74F2-3F4A-A0BD-59F764A85C7C}"/>
                </a:ext>
              </a:extLst>
            </p:cNvPr>
            <p:cNvSpPr>
              <a:spLocks noChangeShapeType="1"/>
            </p:cNvSpPr>
            <p:nvPr/>
          </p:nvSpPr>
          <p:spPr bwMode="auto">
            <a:xfrm flipH="1">
              <a:off x="6121400" y="3468688"/>
              <a:ext cx="1855788" cy="1104900"/>
            </a:xfrm>
            <a:prstGeom prst="line">
              <a:avLst/>
            </a:prstGeom>
            <a:noFill/>
            <a:ln w="17463">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grpSp>
    </p:spTree>
    <p:extLst>
      <p:ext uri="{BB962C8B-B14F-4D97-AF65-F5344CB8AC3E}">
        <p14:creationId xmlns:p14="http://schemas.microsoft.com/office/powerpoint/2010/main" val="4286202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38</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19829" y="1412055"/>
            <a:ext cx="7119938" cy="489912"/>
          </a:xfrm>
        </p:spPr>
        <p:txBody>
          <a:bodyPr/>
          <a:lstStyle/>
          <a:p>
            <a:pPr marL="514350" indent="-457200" algn="just">
              <a:spcBef>
                <a:spcPts val="1000"/>
              </a:spcBef>
            </a:pPr>
            <a:r>
              <a:rPr kumimoji="1" lang="zh-CN" altLang="en-US" sz="2000" dirty="0"/>
              <a:t>全相联映像：</a:t>
            </a:r>
            <a:r>
              <a:rPr lang="zh-CN" altLang="en-US" sz="2000" dirty="0"/>
              <a:t>每个主存块可装入</a:t>
            </a:r>
            <a:r>
              <a:rPr lang="en-US" altLang="zh-CN" sz="2000" dirty="0"/>
              <a:t>Cache</a:t>
            </a:r>
            <a:r>
              <a:rPr lang="zh-CN" altLang="en-US" sz="2000" dirty="0"/>
              <a:t>中</a:t>
            </a:r>
            <a:r>
              <a:rPr lang="zh-CN" altLang="en-US" sz="2000" dirty="0">
                <a:solidFill>
                  <a:srgbClr val="0432FF"/>
                </a:solidFill>
              </a:rPr>
              <a:t>任一</a:t>
            </a:r>
            <a:r>
              <a:rPr lang="zh-CN" altLang="en-US" sz="2000" dirty="0"/>
              <a:t>行中</a:t>
            </a:r>
            <a:endParaRPr lang="en-US" altLang="zh-CN" sz="2000" dirty="0"/>
          </a:p>
          <a:p>
            <a:pPr marL="514350" indent="-457200" algn="just">
              <a:spcBef>
                <a:spcPts val="1000"/>
              </a:spcBef>
            </a:pPr>
            <a:r>
              <a:rPr lang="zh-CN" altLang="en-US" sz="2000" dirty="0"/>
              <a:t>示例：</a:t>
            </a:r>
          </a:p>
        </p:txBody>
      </p:sp>
      <p:sp>
        <p:nvSpPr>
          <p:cNvPr id="6" name="Rectangle 4">
            <a:extLst>
              <a:ext uri="{FF2B5EF4-FFF2-40B4-BE49-F238E27FC236}">
                <a16:creationId xmlns:a16="http://schemas.microsoft.com/office/drawing/2014/main" id="{677D1A66-8D5F-5341-9D38-511AF4CE89EB}"/>
              </a:ext>
            </a:extLst>
          </p:cNvPr>
          <p:cNvSpPr>
            <a:spLocks noChangeArrowheads="1"/>
          </p:cNvSpPr>
          <p:nvPr/>
        </p:nvSpPr>
        <p:spPr bwMode="auto">
          <a:xfrm>
            <a:off x="5574865" y="1850094"/>
            <a:ext cx="46487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STKaiti" panose="02010600040101010101" pitchFamily="2" charset="-122"/>
                <a:ea typeface="STKaiti" panose="02010600040101010101" pitchFamily="2" charset="-122"/>
              </a:rPr>
              <a:t>主存</a:t>
            </a:r>
            <a:endParaRPr lang="zh-CN" altLang="en-US" sz="1400" b="1">
              <a:latin typeface="STKaiti" panose="02010600040101010101" pitchFamily="2" charset="-122"/>
              <a:ea typeface="STKaiti" panose="02010600040101010101" pitchFamily="2" charset="-122"/>
            </a:endParaRPr>
          </a:p>
        </p:txBody>
      </p:sp>
      <p:sp>
        <p:nvSpPr>
          <p:cNvPr id="7" name="Rectangle 5">
            <a:extLst>
              <a:ext uri="{FF2B5EF4-FFF2-40B4-BE49-F238E27FC236}">
                <a16:creationId xmlns:a16="http://schemas.microsoft.com/office/drawing/2014/main" id="{6C5CB188-1B4E-3C43-B88F-4729A36CDDCA}"/>
              </a:ext>
            </a:extLst>
          </p:cNvPr>
          <p:cNvSpPr>
            <a:spLocks noChangeArrowheads="1"/>
          </p:cNvSpPr>
          <p:nvPr/>
        </p:nvSpPr>
        <p:spPr bwMode="auto">
          <a:xfrm>
            <a:off x="1628279" y="2757370"/>
            <a:ext cx="58509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dirty="0">
                <a:latin typeface="STKaiti" panose="02010600040101010101" pitchFamily="2" charset="-122"/>
                <a:ea typeface="STKaiti" panose="02010600040101010101" pitchFamily="2" charset="-122"/>
              </a:rPr>
              <a:t>Cache</a:t>
            </a:r>
            <a:endParaRPr lang="en-US" altLang="zh-CN" sz="1400" b="1" dirty="0">
              <a:latin typeface="STKaiti" panose="02010600040101010101" pitchFamily="2" charset="-122"/>
              <a:ea typeface="STKaiti" panose="02010600040101010101" pitchFamily="2" charset="-122"/>
            </a:endParaRPr>
          </a:p>
        </p:txBody>
      </p:sp>
      <p:sp>
        <p:nvSpPr>
          <p:cNvPr id="8" name="Rectangle 6">
            <a:extLst>
              <a:ext uri="{FF2B5EF4-FFF2-40B4-BE49-F238E27FC236}">
                <a16:creationId xmlns:a16="http://schemas.microsoft.com/office/drawing/2014/main" id="{F2A53596-B80B-C143-86AC-D8ED9923C115}"/>
              </a:ext>
            </a:extLst>
          </p:cNvPr>
          <p:cNvSpPr>
            <a:spLocks noChangeArrowheads="1"/>
          </p:cNvSpPr>
          <p:nvPr/>
        </p:nvSpPr>
        <p:spPr bwMode="auto">
          <a:xfrm>
            <a:off x="4990664" y="2224744"/>
            <a:ext cx="1969856" cy="434975"/>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12" name="Rectangle 10">
            <a:extLst>
              <a:ext uri="{FF2B5EF4-FFF2-40B4-BE49-F238E27FC236}">
                <a16:creationId xmlns:a16="http://schemas.microsoft.com/office/drawing/2014/main" id="{57193120-72CF-944C-939F-01FAC10A9549}"/>
              </a:ext>
            </a:extLst>
          </p:cNvPr>
          <p:cNvSpPr>
            <a:spLocks noChangeArrowheads="1"/>
          </p:cNvSpPr>
          <p:nvPr/>
        </p:nvSpPr>
        <p:spPr bwMode="auto">
          <a:xfrm>
            <a:off x="4990664" y="2663604"/>
            <a:ext cx="1969855" cy="432677"/>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16" name="Rectangle 14">
            <a:extLst>
              <a:ext uri="{FF2B5EF4-FFF2-40B4-BE49-F238E27FC236}">
                <a16:creationId xmlns:a16="http://schemas.microsoft.com/office/drawing/2014/main" id="{066DB05E-41B3-3F47-ADAC-9868AA3E8B5C}"/>
              </a:ext>
            </a:extLst>
          </p:cNvPr>
          <p:cNvSpPr>
            <a:spLocks noChangeArrowheads="1"/>
          </p:cNvSpPr>
          <p:nvPr/>
        </p:nvSpPr>
        <p:spPr bwMode="auto">
          <a:xfrm>
            <a:off x="1867261" y="3128032"/>
            <a:ext cx="1980000" cy="388937"/>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20" name="Rectangle 18">
            <a:extLst>
              <a:ext uri="{FF2B5EF4-FFF2-40B4-BE49-F238E27FC236}">
                <a16:creationId xmlns:a16="http://schemas.microsoft.com/office/drawing/2014/main" id="{01892CE8-DB36-FE42-A429-C00B0BB4586E}"/>
              </a:ext>
            </a:extLst>
          </p:cNvPr>
          <p:cNvSpPr>
            <a:spLocks noChangeArrowheads="1"/>
          </p:cNvSpPr>
          <p:nvPr/>
        </p:nvSpPr>
        <p:spPr bwMode="auto">
          <a:xfrm>
            <a:off x="4990664" y="3096282"/>
            <a:ext cx="1969856" cy="436562"/>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22" name="Rectangle 20">
            <a:extLst>
              <a:ext uri="{FF2B5EF4-FFF2-40B4-BE49-F238E27FC236}">
                <a16:creationId xmlns:a16="http://schemas.microsoft.com/office/drawing/2014/main" id="{F670F4A7-B472-A646-AAE8-D3FA5C2CE6BC}"/>
              </a:ext>
            </a:extLst>
          </p:cNvPr>
          <p:cNvSpPr>
            <a:spLocks noChangeArrowheads="1"/>
          </p:cNvSpPr>
          <p:nvPr/>
        </p:nvSpPr>
        <p:spPr bwMode="auto">
          <a:xfrm>
            <a:off x="1867261" y="3501094"/>
            <a:ext cx="1980000" cy="388938"/>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26" name="Rectangle 24">
            <a:extLst>
              <a:ext uri="{FF2B5EF4-FFF2-40B4-BE49-F238E27FC236}">
                <a16:creationId xmlns:a16="http://schemas.microsoft.com/office/drawing/2014/main" id="{A88BCFA4-E2EA-CD45-9FD1-6A493490E7EF}"/>
              </a:ext>
            </a:extLst>
          </p:cNvPr>
          <p:cNvSpPr>
            <a:spLocks noChangeArrowheads="1"/>
          </p:cNvSpPr>
          <p:nvPr/>
        </p:nvSpPr>
        <p:spPr bwMode="auto">
          <a:xfrm>
            <a:off x="4990664" y="3532844"/>
            <a:ext cx="1969856" cy="434975"/>
          </a:xfrm>
          <a:prstGeom prst="rect">
            <a:avLst/>
          </a:prstGeom>
          <a:solidFill>
            <a:srgbClr val="CCFFFF"/>
          </a:solidFill>
          <a:ln w="14288">
            <a:solidFill>
              <a:srgbClr val="000000"/>
            </a:solidFill>
            <a:miter lim="800000"/>
            <a:headEnd/>
            <a:tailEnd/>
          </a:ln>
        </p:spPr>
        <p:txBody>
          <a:bodyPr/>
          <a:lstStyle/>
          <a:p>
            <a:endParaRPr lang="zh-CN" altLang="en-US" dirty="0">
              <a:latin typeface="+mn-ea"/>
              <a:ea typeface="+mn-ea"/>
            </a:endParaRPr>
          </a:p>
        </p:txBody>
      </p:sp>
      <p:sp>
        <p:nvSpPr>
          <p:cNvPr id="32" name="Rectangle 30">
            <a:extLst>
              <a:ext uri="{FF2B5EF4-FFF2-40B4-BE49-F238E27FC236}">
                <a16:creationId xmlns:a16="http://schemas.microsoft.com/office/drawing/2014/main" id="{276873C8-54CC-CA40-BB86-A5252387A858}"/>
              </a:ext>
            </a:extLst>
          </p:cNvPr>
          <p:cNvSpPr>
            <a:spLocks noChangeArrowheads="1"/>
          </p:cNvSpPr>
          <p:nvPr/>
        </p:nvSpPr>
        <p:spPr bwMode="auto">
          <a:xfrm>
            <a:off x="4990665" y="3967819"/>
            <a:ext cx="1752600" cy="838200"/>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33" name="Rectangle 31">
            <a:extLst>
              <a:ext uri="{FF2B5EF4-FFF2-40B4-BE49-F238E27FC236}">
                <a16:creationId xmlns:a16="http://schemas.microsoft.com/office/drawing/2014/main" id="{02E58067-6777-4E49-8F45-ED53D2F6CAE1}"/>
              </a:ext>
            </a:extLst>
          </p:cNvPr>
          <p:cNvSpPr>
            <a:spLocks noChangeArrowheads="1"/>
          </p:cNvSpPr>
          <p:nvPr/>
        </p:nvSpPr>
        <p:spPr bwMode="auto">
          <a:xfrm>
            <a:off x="5762190" y="5958544"/>
            <a:ext cx="2837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sz="2200" b="1">
                <a:latin typeface="+mn-ea"/>
                <a:ea typeface="+mn-ea"/>
              </a:rPr>
              <a:t>…</a:t>
            </a:r>
          </a:p>
        </p:txBody>
      </p:sp>
      <p:sp>
        <p:nvSpPr>
          <p:cNvPr id="34" name="Rectangle 32">
            <a:extLst>
              <a:ext uri="{FF2B5EF4-FFF2-40B4-BE49-F238E27FC236}">
                <a16:creationId xmlns:a16="http://schemas.microsoft.com/office/drawing/2014/main" id="{F9DAC014-19BF-7D43-B6F7-4174A60785FD}"/>
              </a:ext>
            </a:extLst>
          </p:cNvPr>
          <p:cNvSpPr>
            <a:spLocks noChangeArrowheads="1"/>
          </p:cNvSpPr>
          <p:nvPr/>
        </p:nvSpPr>
        <p:spPr bwMode="auto">
          <a:xfrm>
            <a:off x="1867261" y="3890032"/>
            <a:ext cx="1980000" cy="388937"/>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36" name="Rectangle 34">
            <a:extLst>
              <a:ext uri="{FF2B5EF4-FFF2-40B4-BE49-F238E27FC236}">
                <a16:creationId xmlns:a16="http://schemas.microsoft.com/office/drawing/2014/main" id="{0DA8E60D-5AC4-4E45-867E-EE469BF1509B}"/>
              </a:ext>
            </a:extLst>
          </p:cNvPr>
          <p:cNvSpPr>
            <a:spLocks noChangeArrowheads="1"/>
          </p:cNvSpPr>
          <p:nvPr/>
        </p:nvSpPr>
        <p:spPr bwMode="auto">
          <a:xfrm>
            <a:off x="4990664" y="3967819"/>
            <a:ext cx="1969856" cy="450850"/>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40" name="Rectangle 38">
            <a:extLst>
              <a:ext uri="{FF2B5EF4-FFF2-40B4-BE49-F238E27FC236}">
                <a16:creationId xmlns:a16="http://schemas.microsoft.com/office/drawing/2014/main" id="{88D97B6B-586F-C946-854D-05B5BCD3F3C7}"/>
              </a:ext>
            </a:extLst>
          </p:cNvPr>
          <p:cNvSpPr>
            <a:spLocks noChangeArrowheads="1"/>
          </p:cNvSpPr>
          <p:nvPr/>
        </p:nvSpPr>
        <p:spPr bwMode="auto">
          <a:xfrm>
            <a:off x="1867261" y="4264682"/>
            <a:ext cx="1980000" cy="388937"/>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46" name="Rectangle 44">
            <a:extLst>
              <a:ext uri="{FF2B5EF4-FFF2-40B4-BE49-F238E27FC236}">
                <a16:creationId xmlns:a16="http://schemas.microsoft.com/office/drawing/2014/main" id="{E2EA1F2F-FC2F-4B4C-B5A7-EB676F3B1C71}"/>
              </a:ext>
            </a:extLst>
          </p:cNvPr>
          <p:cNvSpPr>
            <a:spLocks noChangeArrowheads="1"/>
          </p:cNvSpPr>
          <p:nvPr/>
        </p:nvSpPr>
        <p:spPr bwMode="auto">
          <a:xfrm>
            <a:off x="4990664" y="4418670"/>
            <a:ext cx="1969855" cy="420688"/>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50" name="Rectangle 48">
            <a:extLst>
              <a:ext uri="{FF2B5EF4-FFF2-40B4-BE49-F238E27FC236}">
                <a16:creationId xmlns:a16="http://schemas.microsoft.com/office/drawing/2014/main" id="{6D80FA4F-8426-EA45-9D53-4F59BA3082B4}"/>
              </a:ext>
            </a:extLst>
          </p:cNvPr>
          <p:cNvSpPr>
            <a:spLocks noChangeArrowheads="1"/>
          </p:cNvSpPr>
          <p:nvPr/>
        </p:nvSpPr>
        <p:spPr bwMode="auto">
          <a:xfrm>
            <a:off x="4990664" y="4839357"/>
            <a:ext cx="1969856" cy="452437"/>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52" name="Rectangle 50">
            <a:extLst>
              <a:ext uri="{FF2B5EF4-FFF2-40B4-BE49-F238E27FC236}">
                <a16:creationId xmlns:a16="http://schemas.microsoft.com/office/drawing/2014/main" id="{210FFF18-4A21-FB40-B41C-A1AB8C27A2D9}"/>
              </a:ext>
            </a:extLst>
          </p:cNvPr>
          <p:cNvSpPr>
            <a:spLocks noChangeArrowheads="1"/>
          </p:cNvSpPr>
          <p:nvPr/>
        </p:nvSpPr>
        <p:spPr bwMode="auto">
          <a:xfrm>
            <a:off x="4990664" y="5275919"/>
            <a:ext cx="1969856" cy="450850"/>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57" name="Line 55">
            <a:extLst>
              <a:ext uri="{FF2B5EF4-FFF2-40B4-BE49-F238E27FC236}">
                <a16:creationId xmlns:a16="http://schemas.microsoft.com/office/drawing/2014/main" id="{0DB3192B-96E6-0046-A492-C88BD8B24FD9}"/>
              </a:ext>
            </a:extLst>
          </p:cNvPr>
          <p:cNvSpPr>
            <a:spLocks noChangeShapeType="1"/>
          </p:cNvSpPr>
          <p:nvPr/>
        </p:nvSpPr>
        <p:spPr bwMode="auto">
          <a:xfrm flipH="1">
            <a:off x="3847260" y="2535894"/>
            <a:ext cx="1143404" cy="810674"/>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9" name="Line 57">
            <a:extLst>
              <a:ext uri="{FF2B5EF4-FFF2-40B4-BE49-F238E27FC236}">
                <a16:creationId xmlns:a16="http://schemas.microsoft.com/office/drawing/2014/main" id="{6C1A7B08-5CB6-0E4E-A18D-5DF454C87DA6}"/>
              </a:ext>
            </a:extLst>
          </p:cNvPr>
          <p:cNvSpPr>
            <a:spLocks noChangeShapeType="1"/>
          </p:cNvSpPr>
          <p:nvPr/>
        </p:nvSpPr>
        <p:spPr bwMode="auto">
          <a:xfrm>
            <a:off x="3847260" y="4448833"/>
            <a:ext cx="1152930" cy="1057274"/>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0" name="Line 58">
            <a:extLst>
              <a:ext uri="{FF2B5EF4-FFF2-40B4-BE49-F238E27FC236}">
                <a16:creationId xmlns:a16="http://schemas.microsoft.com/office/drawing/2014/main" id="{85367C5D-D21F-1246-933A-D6B09EF1DABA}"/>
              </a:ext>
            </a:extLst>
          </p:cNvPr>
          <p:cNvSpPr>
            <a:spLocks noChangeShapeType="1"/>
          </p:cNvSpPr>
          <p:nvPr/>
        </p:nvSpPr>
        <p:spPr bwMode="auto">
          <a:xfrm>
            <a:off x="3867899" y="3361348"/>
            <a:ext cx="1143404" cy="882696"/>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1" name="Line 59">
            <a:extLst>
              <a:ext uri="{FF2B5EF4-FFF2-40B4-BE49-F238E27FC236}">
                <a16:creationId xmlns:a16="http://schemas.microsoft.com/office/drawing/2014/main" id="{55061339-2656-AC47-A241-B09800D39232}"/>
              </a:ext>
            </a:extLst>
          </p:cNvPr>
          <p:cNvSpPr>
            <a:spLocks noChangeShapeType="1"/>
          </p:cNvSpPr>
          <p:nvPr/>
        </p:nvSpPr>
        <p:spPr bwMode="auto">
          <a:xfrm>
            <a:off x="3893654" y="3720169"/>
            <a:ext cx="1106535" cy="850900"/>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2" name="Line 60">
            <a:extLst>
              <a:ext uri="{FF2B5EF4-FFF2-40B4-BE49-F238E27FC236}">
                <a16:creationId xmlns:a16="http://schemas.microsoft.com/office/drawing/2014/main" id="{21A20B53-DD04-1B45-BCB1-7AB5070A9260}"/>
              </a:ext>
            </a:extLst>
          </p:cNvPr>
          <p:cNvSpPr>
            <a:spLocks noChangeShapeType="1"/>
          </p:cNvSpPr>
          <p:nvPr/>
        </p:nvSpPr>
        <p:spPr bwMode="auto">
          <a:xfrm flipH="1">
            <a:off x="3836144" y="3797910"/>
            <a:ext cx="1164042" cy="644741"/>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3" name="Line 69">
            <a:extLst>
              <a:ext uri="{FF2B5EF4-FFF2-40B4-BE49-F238E27FC236}">
                <a16:creationId xmlns:a16="http://schemas.microsoft.com/office/drawing/2014/main" id="{B6045F92-3C0A-BA43-A0F5-ADE82448E98B}"/>
              </a:ext>
            </a:extLst>
          </p:cNvPr>
          <p:cNvSpPr>
            <a:spLocks noChangeShapeType="1"/>
          </p:cNvSpPr>
          <p:nvPr/>
        </p:nvSpPr>
        <p:spPr bwMode="auto">
          <a:xfrm>
            <a:off x="4990665" y="5720816"/>
            <a:ext cx="0" cy="787400"/>
          </a:xfrm>
          <a:prstGeom prst="line">
            <a:avLst/>
          </a:prstGeom>
          <a:noFill/>
          <a:ln w="1905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a:latin typeface="+mn-ea"/>
              <a:ea typeface="+mn-ea"/>
            </a:endParaRPr>
          </a:p>
        </p:txBody>
      </p:sp>
      <p:sp>
        <p:nvSpPr>
          <p:cNvPr id="64" name="Line 70">
            <a:extLst>
              <a:ext uri="{FF2B5EF4-FFF2-40B4-BE49-F238E27FC236}">
                <a16:creationId xmlns:a16="http://schemas.microsoft.com/office/drawing/2014/main" id="{C7AFD704-5415-7741-BC7C-6AFD3BC5D66F}"/>
              </a:ext>
            </a:extLst>
          </p:cNvPr>
          <p:cNvSpPr>
            <a:spLocks noChangeShapeType="1"/>
          </p:cNvSpPr>
          <p:nvPr/>
        </p:nvSpPr>
        <p:spPr bwMode="auto">
          <a:xfrm>
            <a:off x="6960519" y="5720816"/>
            <a:ext cx="0" cy="787400"/>
          </a:xfrm>
          <a:prstGeom prst="line">
            <a:avLst/>
          </a:prstGeom>
          <a:noFill/>
          <a:ln w="1905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92075" tIns="46038" rIns="92075" bIns="46038" anchor="ctr">
            <a:spAutoFit/>
          </a:bodyPr>
          <a:lstStyle/>
          <a:p>
            <a:endParaRPr lang="zh-CN" altLang="en-US" dirty="0">
              <a:latin typeface="+mn-ea"/>
              <a:ea typeface="+mn-ea"/>
            </a:endParaRPr>
          </a:p>
        </p:txBody>
      </p:sp>
      <p:sp>
        <p:nvSpPr>
          <p:cNvPr id="65" name="TextBox 64">
            <a:extLst>
              <a:ext uri="{FF2B5EF4-FFF2-40B4-BE49-F238E27FC236}">
                <a16:creationId xmlns:a16="http://schemas.microsoft.com/office/drawing/2014/main" id="{C6B85807-9657-2648-A783-D4D84B2052FE}"/>
              </a:ext>
            </a:extLst>
          </p:cNvPr>
          <p:cNvSpPr txBox="1"/>
          <p:nvPr/>
        </p:nvSpPr>
        <p:spPr>
          <a:xfrm>
            <a:off x="4876967" y="2266540"/>
            <a:ext cx="1984839"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0</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AB0</a:t>
            </a:r>
            <a:r>
              <a:rPr lang="en-US" sz="1600" b="1" dirty="0">
                <a:solidFill>
                  <a:srgbClr val="FF0000"/>
                </a:solidFill>
                <a:latin typeface="STKaiti" panose="02010600040101010101" pitchFamily="2" charset="-122"/>
                <a:ea typeface="STKaiti" panose="02010600040101010101" pitchFamily="2" charset="-122"/>
              </a:rPr>
              <a:t>(</a:t>
            </a:r>
            <a:r>
              <a:rPr lang="en-CN" sz="1600" b="1" dirty="0">
                <a:solidFill>
                  <a:srgbClr val="FF0000"/>
                </a:solidFill>
                <a:latin typeface="STKaiti" panose="02010600040101010101" pitchFamily="2" charset="-122"/>
                <a:ea typeface="STKaiti" panose="02010600040101010101" pitchFamily="2" charset="-122"/>
              </a:rPr>
              <a:t>0-F)</a:t>
            </a:r>
          </a:p>
        </p:txBody>
      </p:sp>
      <p:sp>
        <p:nvSpPr>
          <p:cNvPr id="120" name="TextBox 119">
            <a:extLst>
              <a:ext uri="{FF2B5EF4-FFF2-40B4-BE49-F238E27FC236}">
                <a16:creationId xmlns:a16="http://schemas.microsoft.com/office/drawing/2014/main" id="{600F0612-EDD2-1445-9D26-A0CE9518488A}"/>
              </a:ext>
            </a:extLst>
          </p:cNvPr>
          <p:cNvSpPr txBox="1"/>
          <p:nvPr/>
        </p:nvSpPr>
        <p:spPr>
          <a:xfrm>
            <a:off x="4878561" y="2682745"/>
            <a:ext cx="2036135"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AB1</a:t>
            </a:r>
            <a:r>
              <a:rPr lang="en-US" sz="1600" b="1" dirty="0">
                <a:solidFill>
                  <a:srgbClr val="FF0000"/>
                </a:solidFill>
                <a:latin typeface="STKaiti" panose="02010600040101010101" pitchFamily="2" charset="-122"/>
                <a:ea typeface="STKaiti" panose="02010600040101010101" pitchFamily="2" charset="-122"/>
              </a:rPr>
              <a:t>(</a:t>
            </a:r>
            <a:r>
              <a:rPr lang="en-CN" sz="1600" b="1" dirty="0">
                <a:solidFill>
                  <a:srgbClr val="FF0000"/>
                </a:solidFill>
                <a:latin typeface="STKaiti" panose="02010600040101010101" pitchFamily="2" charset="-122"/>
                <a:ea typeface="STKaiti" panose="02010600040101010101" pitchFamily="2" charset="-122"/>
              </a:rPr>
              <a:t>0-F)</a:t>
            </a:r>
          </a:p>
        </p:txBody>
      </p:sp>
      <p:sp>
        <p:nvSpPr>
          <p:cNvPr id="121" name="TextBox 120">
            <a:extLst>
              <a:ext uri="{FF2B5EF4-FFF2-40B4-BE49-F238E27FC236}">
                <a16:creationId xmlns:a16="http://schemas.microsoft.com/office/drawing/2014/main" id="{F594C2E2-BA58-BE46-8734-54B5983BF840}"/>
              </a:ext>
            </a:extLst>
          </p:cNvPr>
          <p:cNvSpPr txBox="1"/>
          <p:nvPr/>
        </p:nvSpPr>
        <p:spPr>
          <a:xfrm>
            <a:off x="4881909" y="3536730"/>
            <a:ext cx="2133918"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15</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ABF</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122" name="TextBox 121">
            <a:extLst>
              <a:ext uri="{FF2B5EF4-FFF2-40B4-BE49-F238E27FC236}">
                <a16:creationId xmlns:a16="http://schemas.microsoft.com/office/drawing/2014/main" id="{1573685A-9D2C-1A48-963E-AABDC456EBB6}"/>
              </a:ext>
            </a:extLst>
          </p:cNvPr>
          <p:cNvSpPr txBox="1"/>
          <p:nvPr/>
        </p:nvSpPr>
        <p:spPr>
          <a:xfrm>
            <a:off x="4885082" y="4039049"/>
            <a:ext cx="2056973"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16</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AC0</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123" name="TextBox 122">
            <a:extLst>
              <a:ext uri="{FF2B5EF4-FFF2-40B4-BE49-F238E27FC236}">
                <a16:creationId xmlns:a16="http://schemas.microsoft.com/office/drawing/2014/main" id="{BA4D66A8-B51F-8349-8973-CB56D75E7E51}"/>
              </a:ext>
            </a:extLst>
          </p:cNvPr>
          <p:cNvSpPr txBox="1"/>
          <p:nvPr/>
        </p:nvSpPr>
        <p:spPr>
          <a:xfrm>
            <a:off x="4903549" y="4455351"/>
            <a:ext cx="2056973"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17</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AC1</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124" name="TextBox 123">
            <a:extLst>
              <a:ext uri="{FF2B5EF4-FFF2-40B4-BE49-F238E27FC236}">
                <a16:creationId xmlns:a16="http://schemas.microsoft.com/office/drawing/2014/main" id="{92EEBAAE-8D6B-3441-ABE6-2A7E82431652}"/>
              </a:ext>
            </a:extLst>
          </p:cNvPr>
          <p:cNvSpPr txBox="1"/>
          <p:nvPr/>
        </p:nvSpPr>
        <p:spPr>
          <a:xfrm>
            <a:off x="4888129" y="5338721"/>
            <a:ext cx="2076209"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31</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ACF</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127" name="Rectangle 14">
            <a:extLst>
              <a:ext uri="{FF2B5EF4-FFF2-40B4-BE49-F238E27FC236}">
                <a16:creationId xmlns:a16="http://schemas.microsoft.com/office/drawing/2014/main" id="{F5D8983B-4E9D-7D47-BE4C-CA6485A04978}"/>
              </a:ext>
            </a:extLst>
          </p:cNvPr>
          <p:cNvSpPr>
            <a:spLocks noChangeArrowheads="1"/>
          </p:cNvSpPr>
          <p:nvPr/>
        </p:nvSpPr>
        <p:spPr bwMode="auto">
          <a:xfrm>
            <a:off x="736080" y="3886856"/>
            <a:ext cx="1131182" cy="399027"/>
          </a:xfrm>
          <a:prstGeom prst="rect">
            <a:avLst/>
          </a:prstGeom>
          <a:solidFill>
            <a:schemeClr val="bg1"/>
          </a:solidFill>
          <a:ln w="14288">
            <a:solidFill>
              <a:srgbClr val="000000"/>
            </a:solidFill>
            <a:miter lim="800000"/>
            <a:headEnd/>
            <a:tailEnd/>
          </a:ln>
        </p:spPr>
        <p:txBody>
          <a:bodyPr/>
          <a:lstStyle/>
          <a:p>
            <a:r>
              <a:rPr lang="en-US" altLang="zh-CN" sz="1600" b="1" dirty="0">
                <a:latin typeface="STKaiti" panose="02010600040101010101" pitchFamily="2" charset="-122"/>
                <a:ea typeface="STKaiti" panose="02010600040101010101" pitchFamily="2" charset="-122"/>
              </a:rPr>
              <a:t>TAG:</a:t>
            </a:r>
            <a:endParaRPr lang="zh-CN" altLang="en-US" sz="1600" b="1" dirty="0">
              <a:solidFill>
                <a:srgbClr val="FF0000"/>
              </a:solidFill>
              <a:latin typeface="STKaiti" panose="02010600040101010101" pitchFamily="2" charset="-122"/>
              <a:ea typeface="STKaiti" panose="02010600040101010101" pitchFamily="2" charset="-122"/>
            </a:endParaRPr>
          </a:p>
        </p:txBody>
      </p:sp>
      <p:sp>
        <p:nvSpPr>
          <p:cNvPr id="66" name="TextBox 65">
            <a:extLst>
              <a:ext uri="{FF2B5EF4-FFF2-40B4-BE49-F238E27FC236}">
                <a16:creationId xmlns:a16="http://schemas.microsoft.com/office/drawing/2014/main" id="{EDAEF5A7-48E1-F14E-AF92-3A0929D46EA4}"/>
              </a:ext>
            </a:extLst>
          </p:cNvPr>
          <p:cNvSpPr txBox="1"/>
          <p:nvPr/>
        </p:nvSpPr>
        <p:spPr>
          <a:xfrm>
            <a:off x="7402882" y="2224744"/>
            <a:ext cx="164091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CN" dirty="0">
                <a:latin typeface="STKaiti" panose="02010600040101010101" pitchFamily="2" charset="-122"/>
                <a:ea typeface="STKaiti" panose="02010600040101010101" pitchFamily="2" charset="-122"/>
              </a:rPr>
              <a:t>每个块</a:t>
            </a:r>
            <a:r>
              <a:rPr lang="en-US" altLang="zh-CN" dirty="0">
                <a:latin typeface="STKaiti" panose="02010600040101010101" pitchFamily="2" charset="-122"/>
                <a:ea typeface="STKaiti" panose="02010600040101010101" pitchFamily="2" charset="-122"/>
              </a:rPr>
              <a:t>16</a:t>
            </a:r>
            <a:r>
              <a:rPr lang="zh-CN" altLang="en-US" dirty="0">
                <a:latin typeface="STKaiti" panose="02010600040101010101" pitchFamily="2" charset="-122"/>
                <a:ea typeface="STKaiti" panose="02010600040101010101" pitchFamily="2" charset="-122"/>
              </a:rPr>
              <a:t>个内存地址（即</a:t>
            </a:r>
            <a:r>
              <a:rPr lang="en-US" altLang="zh-CN" dirty="0">
                <a:latin typeface="STKaiti" panose="02010600040101010101" pitchFamily="2" charset="-122"/>
                <a:ea typeface="STKaiti" panose="02010600040101010101" pitchFamily="2" charset="-122"/>
              </a:rPr>
              <a:t>16</a:t>
            </a:r>
            <a:r>
              <a:rPr lang="zh-CN" altLang="en-US" dirty="0">
                <a:latin typeface="STKaiti" panose="02010600040101010101" pitchFamily="2" charset="-122"/>
                <a:ea typeface="STKaiti" panose="02010600040101010101" pitchFamily="2" charset="-122"/>
              </a:rPr>
              <a:t>个字节），对应</a:t>
            </a:r>
            <a:r>
              <a:rPr lang="zh-CN" altLang="en-CN" dirty="0">
                <a:latin typeface="STKaiti" panose="02010600040101010101" pitchFamily="2" charset="-122"/>
                <a:ea typeface="STKaiti" panose="02010600040101010101" pitchFamily="2" charset="-122"/>
              </a:rPr>
              <a:t>最</a:t>
            </a:r>
            <a:r>
              <a:rPr lang="zh-CN" altLang="en-US" dirty="0">
                <a:latin typeface="STKaiti" panose="02010600040101010101" pitchFamily="2" charset="-122"/>
                <a:ea typeface="STKaiti" panose="02010600040101010101" pitchFamily="2" charset="-122"/>
              </a:rPr>
              <a:t>末</a:t>
            </a:r>
            <a:r>
              <a:rPr lang="zh-CN" altLang="en-CN" dirty="0">
                <a:latin typeface="STKaiti" panose="02010600040101010101" pitchFamily="2" charset="-122"/>
                <a:ea typeface="STKaiti" panose="02010600040101010101" pitchFamily="2" charset="-122"/>
              </a:rPr>
              <a:t>尾</a:t>
            </a:r>
            <a:r>
              <a:rPr lang="zh-CN" altLang="en-US" dirty="0">
                <a:latin typeface="STKaiti" panose="02010600040101010101" pitchFamily="2" charset="-122"/>
                <a:ea typeface="STKaiti" panose="02010600040101010101" pitchFamily="2" charset="-122"/>
              </a:rPr>
              <a:t>的</a:t>
            </a:r>
            <a:r>
              <a:rPr lang="en-US" altLang="zh-CN" dirty="0">
                <a:latin typeface="STKaiti" panose="02010600040101010101" pitchFamily="2" charset="-122"/>
                <a:ea typeface="STKaiti" panose="02010600040101010101" pitchFamily="2" charset="-122"/>
              </a:rPr>
              <a:t>0-F</a:t>
            </a:r>
            <a:endParaRPr lang="en-CN" dirty="0">
              <a:latin typeface="STKaiti" panose="02010600040101010101" pitchFamily="2" charset="-122"/>
              <a:ea typeface="STKaiti" panose="02010600040101010101" pitchFamily="2" charset="-122"/>
            </a:endParaRPr>
          </a:p>
        </p:txBody>
      </p:sp>
      <p:cxnSp>
        <p:nvCxnSpPr>
          <p:cNvPr id="129" name="Straight Arrow Connector 128">
            <a:extLst>
              <a:ext uri="{FF2B5EF4-FFF2-40B4-BE49-F238E27FC236}">
                <a16:creationId xmlns:a16="http://schemas.microsoft.com/office/drawing/2014/main" id="{5972CAE0-2FFB-174B-A92C-D2EBB029408C}"/>
              </a:ext>
            </a:extLst>
          </p:cNvPr>
          <p:cNvCxnSpPr>
            <a:cxnSpLocks/>
            <a:stCxn id="66" idx="1"/>
            <a:endCxn id="12" idx="3"/>
          </p:cNvCxnSpPr>
          <p:nvPr/>
        </p:nvCxnSpPr>
        <p:spPr>
          <a:xfrm flipH="1">
            <a:off x="6960519" y="2824909"/>
            <a:ext cx="442363" cy="550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Rectangle 33">
            <a:extLst>
              <a:ext uri="{FF2B5EF4-FFF2-40B4-BE49-F238E27FC236}">
                <a16:creationId xmlns:a16="http://schemas.microsoft.com/office/drawing/2014/main" id="{5E4CA2D4-1E60-0241-AEC1-86D9DFD6FD34}"/>
              </a:ext>
            </a:extLst>
          </p:cNvPr>
          <p:cNvSpPr>
            <a:spLocks noChangeArrowheads="1"/>
          </p:cNvSpPr>
          <p:nvPr/>
        </p:nvSpPr>
        <p:spPr bwMode="auto">
          <a:xfrm>
            <a:off x="5740428" y="3199927"/>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132" name="Rectangle 33">
            <a:extLst>
              <a:ext uri="{FF2B5EF4-FFF2-40B4-BE49-F238E27FC236}">
                <a16:creationId xmlns:a16="http://schemas.microsoft.com/office/drawing/2014/main" id="{C69A897A-4709-0747-9690-C8DDC8333E9C}"/>
              </a:ext>
            </a:extLst>
          </p:cNvPr>
          <p:cNvSpPr>
            <a:spLocks noChangeArrowheads="1"/>
          </p:cNvSpPr>
          <p:nvPr/>
        </p:nvSpPr>
        <p:spPr bwMode="auto">
          <a:xfrm>
            <a:off x="5762190" y="4915459"/>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133" name="TextBox 132">
            <a:extLst>
              <a:ext uri="{FF2B5EF4-FFF2-40B4-BE49-F238E27FC236}">
                <a16:creationId xmlns:a16="http://schemas.microsoft.com/office/drawing/2014/main" id="{DF548033-7910-E94F-8233-EE3ECE37CCAC}"/>
              </a:ext>
            </a:extLst>
          </p:cNvPr>
          <p:cNvSpPr txBox="1"/>
          <p:nvPr/>
        </p:nvSpPr>
        <p:spPr>
          <a:xfrm>
            <a:off x="1809753" y="3132999"/>
            <a:ext cx="2101857" cy="369332"/>
          </a:xfrm>
          <a:prstGeom prst="rect">
            <a:avLst/>
          </a:prstGeom>
          <a:noFill/>
        </p:spPr>
        <p:txBody>
          <a:bodyPr wrap="none" rtlCol="0">
            <a:spAutoFit/>
          </a:bodyPr>
          <a:lstStyle/>
          <a:p>
            <a:r>
              <a:rPr lang="en-CN" b="1" dirty="0">
                <a:latin typeface="STKaiti" panose="02010600040101010101" pitchFamily="2" charset="-122"/>
                <a:ea typeface="STKaiti" panose="02010600040101010101" pitchFamily="2" charset="-122"/>
              </a:rPr>
              <a:t>第</a:t>
            </a:r>
            <a:r>
              <a:rPr lang="en-US" altLang="zh-CN" b="1" dirty="0">
                <a:solidFill>
                  <a:srgbClr val="0432FF"/>
                </a:solidFill>
                <a:latin typeface="STKaiti" panose="02010600040101010101" pitchFamily="2" charset="-122"/>
                <a:ea typeface="STKaiti" panose="02010600040101010101" pitchFamily="2" charset="-122"/>
              </a:rPr>
              <a:t>0</a:t>
            </a:r>
            <a:r>
              <a:rPr lang="zh-CN" altLang="en-US" b="1" dirty="0">
                <a:latin typeface="STKaiti" panose="02010600040101010101" pitchFamily="2" charset="-122"/>
                <a:ea typeface="STKaiti" panose="02010600040101010101" pitchFamily="2" charset="-122"/>
              </a:rPr>
              <a:t>行</a:t>
            </a:r>
            <a:r>
              <a:rPr lang="en-US" altLang="zh-CN" b="1" dirty="0">
                <a:latin typeface="STKaiti" panose="02010600040101010101" pitchFamily="2" charset="-122"/>
                <a:ea typeface="STKaiti" panose="02010600040101010101" pitchFamily="2" charset="-122"/>
              </a:rPr>
              <a:t>, </a:t>
            </a:r>
            <a:r>
              <a:rPr lang="zh-CN" altLang="en-US" b="1" dirty="0">
                <a:latin typeface="STKaiti" panose="02010600040101010101" pitchFamily="2" charset="-122"/>
                <a:ea typeface="STKaiti" panose="02010600040101010101" pitchFamily="2" charset="-122"/>
              </a:rPr>
              <a:t>行内地址</a:t>
            </a:r>
            <a:r>
              <a:rPr lang="en-CN" b="1" dirty="0">
                <a:solidFill>
                  <a:srgbClr val="FF0000"/>
                </a:solidFill>
                <a:latin typeface="STKaiti" panose="02010600040101010101" pitchFamily="2" charset="-122"/>
                <a:ea typeface="STKaiti" panose="02010600040101010101" pitchFamily="2" charset="-122"/>
              </a:rPr>
              <a:t>0-F</a:t>
            </a:r>
          </a:p>
        </p:txBody>
      </p:sp>
      <p:sp>
        <p:nvSpPr>
          <p:cNvPr id="134" name="TextBox 133">
            <a:extLst>
              <a:ext uri="{FF2B5EF4-FFF2-40B4-BE49-F238E27FC236}">
                <a16:creationId xmlns:a16="http://schemas.microsoft.com/office/drawing/2014/main" id="{81CA7E64-E399-4C4C-B32B-717D637D97BE}"/>
              </a:ext>
            </a:extLst>
          </p:cNvPr>
          <p:cNvSpPr txBox="1"/>
          <p:nvPr/>
        </p:nvSpPr>
        <p:spPr>
          <a:xfrm>
            <a:off x="1810695" y="3486291"/>
            <a:ext cx="2101857" cy="369332"/>
          </a:xfrm>
          <a:prstGeom prst="rect">
            <a:avLst/>
          </a:prstGeom>
          <a:noFill/>
        </p:spPr>
        <p:txBody>
          <a:bodyPr wrap="none" rtlCol="0">
            <a:spAutoFit/>
          </a:bodyPr>
          <a:lstStyle/>
          <a:p>
            <a:r>
              <a:rPr lang="en-CN" b="1" dirty="0">
                <a:latin typeface="STKaiti" panose="02010600040101010101" pitchFamily="2" charset="-122"/>
                <a:ea typeface="STKaiti" panose="02010600040101010101" pitchFamily="2" charset="-122"/>
              </a:rPr>
              <a:t>第</a:t>
            </a:r>
            <a:r>
              <a:rPr lang="en-US" altLang="zh-CN" b="1" dirty="0">
                <a:solidFill>
                  <a:srgbClr val="0432FF"/>
                </a:solidFill>
                <a:latin typeface="STKaiti" panose="02010600040101010101" pitchFamily="2" charset="-122"/>
                <a:ea typeface="STKaiti" panose="02010600040101010101" pitchFamily="2" charset="-122"/>
              </a:rPr>
              <a:t>1</a:t>
            </a:r>
            <a:r>
              <a:rPr lang="zh-CN" altLang="en-US" b="1" dirty="0">
                <a:latin typeface="STKaiti" panose="02010600040101010101" pitchFamily="2" charset="-122"/>
                <a:ea typeface="STKaiti" panose="02010600040101010101" pitchFamily="2" charset="-122"/>
              </a:rPr>
              <a:t>行</a:t>
            </a:r>
            <a:r>
              <a:rPr lang="en-US" altLang="zh-CN" b="1" dirty="0">
                <a:latin typeface="STKaiti" panose="02010600040101010101" pitchFamily="2" charset="-122"/>
                <a:ea typeface="STKaiti" panose="02010600040101010101" pitchFamily="2" charset="-122"/>
              </a:rPr>
              <a:t>, </a:t>
            </a:r>
            <a:r>
              <a:rPr lang="zh-CN" altLang="en-US" b="1" dirty="0">
                <a:latin typeface="STKaiti" panose="02010600040101010101" pitchFamily="2" charset="-122"/>
                <a:ea typeface="STKaiti" panose="02010600040101010101" pitchFamily="2" charset="-122"/>
              </a:rPr>
              <a:t>行内地址</a:t>
            </a:r>
            <a:r>
              <a:rPr lang="en-CN" b="1" dirty="0">
                <a:solidFill>
                  <a:srgbClr val="FF0000"/>
                </a:solidFill>
                <a:latin typeface="STKaiti" panose="02010600040101010101" pitchFamily="2" charset="-122"/>
                <a:ea typeface="STKaiti" panose="02010600040101010101" pitchFamily="2" charset="-122"/>
              </a:rPr>
              <a:t>0-F</a:t>
            </a:r>
          </a:p>
        </p:txBody>
      </p:sp>
      <p:sp>
        <p:nvSpPr>
          <p:cNvPr id="135" name="TextBox 134">
            <a:extLst>
              <a:ext uri="{FF2B5EF4-FFF2-40B4-BE49-F238E27FC236}">
                <a16:creationId xmlns:a16="http://schemas.microsoft.com/office/drawing/2014/main" id="{EF72F8B7-61FB-424A-9FC5-9E6F82E5CFF7}"/>
              </a:ext>
            </a:extLst>
          </p:cNvPr>
          <p:cNvSpPr txBox="1"/>
          <p:nvPr/>
        </p:nvSpPr>
        <p:spPr>
          <a:xfrm>
            <a:off x="1798019" y="4240353"/>
            <a:ext cx="2097049" cy="353943"/>
          </a:xfrm>
          <a:prstGeom prst="rect">
            <a:avLst/>
          </a:prstGeom>
          <a:noFill/>
        </p:spPr>
        <p:txBody>
          <a:bodyPr wrap="none" rtlCol="0">
            <a:spAutoFit/>
          </a:bodyPr>
          <a:lstStyle/>
          <a:p>
            <a:r>
              <a:rPr lang="en-CN" sz="1700" b="1" dirty="0">
                <a:latin typeface="STKaiti" panose="02010600040101010101" pitchFamily="2" charset="-122"/>
                <a:ea typeface="STKaiti" panose="02010600040101010101" pitchFamily="2" charset="-122"/>
              </a:rPr>
              <a:t>第</a:t>
            </a:r>
            <a:r>
              <a:rPr lang="en-US" altLang="zh-CN" sz="1700" b="1" dirty="0">
                <a:solidFill>
                  <a:srgbClr val="0432FF"/>
                </a:solidFill>
                <a:latin typeface="STKaiti" panose="02010600040101010101" pitchFamily="2" charset="-122"/>
                <a:ea typeface="STKaiti" panose="02010600040101010101" pitchFamily="2" charset="-122"/>
              </a:rPr>
              <a:t>15</a:t>
            </a:r>
            <a:r>
              <a:rPr lang="zh-CN" altLang="en-US" sz="1700" b="1" dirty="0">
                <a:latin typeface="STKaiti" panose="02010600040101010101" pitchFamily="2" charset="-122"/>
                <a:ea typeface="STKaiti" panose="02010600040101010101" pitchFamily="2" charset="-122"/>
              </a:rPr>
              <a:t>行</a:t>
            </a:r>
            <a:r>
              <a:rPr lang="en-US" altLang="zh-CN" sz="1700" b="1" dirty="0">
                <a:latin typeface="STKaiti" panose="02010600040101010101" pitchFamily="2" charset="-122"/>
                <a:ea typeface="STKaiti" panose="02010600040101010101" pitchFamily="2" charset="-122"/>
              </a:rPr>
              <a:t>, </a:t>
            </a:r>
            <a:r>
              <a:rPr lang="zh-CN" altLang="en-US" sz="1700" b="1" dirty="0">
                <a:latin typeface="STKaiti" panose="02010600040101010101" pitchFamily="2" charset="-122"/>
                <a:ea typeface="STKaiti" panose="02010600040101010101" pitchFamily="2" charset="-122"/>
              </a:rPr>
              <a:t>行内地址</a:t>
            </a:r>
            <a:r>
              <a:rPr lang="en-CN" sz="1700" b="1" dirty="0">
                <a:solidFill>
                  <a:srgbClr val="FF0000"/>
                </a:solidFill>
                <a:latin typeface="STKaiti" panose="02010600040101010101" pitchFamily="2" charset="-122"/>
                <a:ea typeface="STKaiti" panose="02010600040101010101" pitchFamily="2" charset="-122"/>
              </a:rPr>
              <a:t>0-F</a:t>
            </a:r>
          </a:p>
        </p:txBody>
      </p:sp>
      <p:sp>
        <p:nvSpPr>
          <p:cNvPr id="48" name="Line 55">
            <a:extLst>
              <a:ext uri="{FF2B5EF4-FFF2-40B4-BE49-F238E27FC236}">
                <a16:creationId xmlns:a16="http://schemas.microsoft.com/office/drawing/2014/main" id="{57D6E429-CCA3-9A46-9ACF-D0DCE56268E3}"/>
              </a:ext>
            </a:extLst>
          </p:cNvPr>
          <p:cNvSpPr>
            <a:spLocks noChangeShapeType="1"/>
          </p:cNvSpPr>
          <p:nvPr/>
        </p:nvSpPr>
        <p:spPr bwMode="auto">
          <a:xfrm flipH="1">
            <a:off x="3856783" y="2535894"/>
            <a:ext cx="1143405" cy="1160210"/>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49" name="Line 55">
            <a:extLst>
              <a:ext uri="{FF2B5EF4-FFF2-40B4-BE49-F238E27FC236}">
                <a16:creationId xmlns:a16="http://schemas.microsoft.com/office/drawing/2014/main" id="{25048EA3-B43D-E041-97CC-6429A0F7F344}"/>
              </a:ext>
            </a:extLst>
          </p:cNvPr>
          <p:cNvSpPr>
            <a:spLocks noChangeShapeType="1"/>
          </p:cNvSpPr>
          <p:nvPr/>
        </p:nvSpPr>
        <p:spPr bwMode="auto">
          <a:xfrm flipH="1">
            <a:off x="3836143" y="2535893"/>
            <a:ext cx="1173568" cy="1913275"/>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1" name="Line 56">
            <a:extLst>
              <a:ext uri="{FF2B5EF4-FFF2-40B4-BE49-F238E27FC236}">
                <a16:creationId xmlns:a16="http://schemas.microsoft.com/office/drawing/2014/main" id="{710388B0-DFD9-0D4C-BC3B-D6E106AB3B3A}"/>
              </a:ext>
            </a:extLst>
          </p:cNvPr>
          <p:cNvSpPr>
            <a:spLocks noChangeShapeType="1"/>
          </p:cNvSpPr>
          <p:nvPr/>
        </p:nvSpPr>
        <p:spPr bwMode="auto">
          <a:xfrm flipH="1">
            <a:off x="3855191" y="2879335"/>
            <a:ext cx="1144995" cy="467233"/>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3" name="Line 56">
            <a:extLst>
              <a:ext uri="{FF2B5EF4-FFF2-40B4-BE49-F238E27FC236}">
                <a16:creationId xmlns:a16="http://schemas.microsoft.com/office/drawing/2014/main" id="{14786017-F886-A540-B83D-2C3D7CEB1A11}"/>
              </a:ext>
            </a:extLst>
          </p:cNvPr>
          <p:cNvSpPr>
            <a:spLocks noChangeShapeType="1"/>
          </p:cNvSpPr>
          <p:nvPr/>
        </p:nvSpPr>
        <p:spPr bwMode="auto">
          <a:xfrm flipH="1">
            <a:off x="3834551" y="2879877"/>
            <a:ext cx="1184680" cy="1530022"/>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5" name="Line 60">
            <a:extLst>
              <a:ext uri="{FF2B5EF4-FFF2-40B4-BE49-F238E27FC236}">
                <a16:creationId xmlns:a16="http://schemas.microsoft.com/office/drawing/2014/main" id="{8CCC7818-CE38-E349-904C-635C12063486}"/>
              </a:ext>
            </a:extLst>
          </p:cNvPr>
          <p:cNvSpPr>
            <a:spLocks noChangeShapeType="1"/>
          </p:cNvSpPr>
          <p:nvPr/>
        </p:nvSpPr>
        <p:spPr bwMode="auto">
          <a:xfrm flipH="1" flipV="1">
            <a:off x="3884132" y="3710883"/>
            <a:ext cx="1084708" cy="101807"/>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6" name="Line 58">
            <a:extLst>
              <a:ext uri="{FF2B5EF4-FFF2-40B4-BE49-F238E27FC236}">
                <a16:creationId xmlns:a16="http://schemas.microsoft.com/office/drawing/2014/main" id="{273AE63A-5263-0C48-9D47-7852094E5818}"/>
              </a:ext>
            </a:extLst>
          </p:cNvPr>
          <p:cNvSpPr>
            <a:spLocks noChangeShapeType="1"/>
          </p:cNvSpPr>
          <p:nvPr/>
        </p:nvSpPr>
        <p:spPr bwMode="auto">
          <a:xfrm>
            <a:off x="3832959" y="3696104"/>
            <a:ext cx="1152114" cy="527472"/>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7" name="Line 58">
            <a:extLst>
              <a:ext uri="{FF2B5EF4-FFF2-40B4-BE49-F238E27FC236}">
                <a16:creationId xmlns:a16="http://schemas.microsoft.com/office/drawing/2014/main" id="{B7235701-C009-8247-A238-95053A84D55E}"/>
              </a:ext>
            </a:extLst>
          </p:cNvPr>
          <p:cNvSpPr>
            <a:spLocks noChangeShapeType="1"/>
          </p:cNvSpPr>
          <p:nvPr/>
        </p:nvSpPr>
        <p:spPr bwMode="auto">
          <a:xfrm flipV="1">
            <a:off x="3825029" y="4219229"/>
            <a:ext cx="1164042" cy="227351"/>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9" name="Line 58">
            <a:extLst>
              <a:ext uri="{FF2B5EF4-FFF2-40B4-BE49-F238E27FC236}">
                <a16:creationId xmlns:a16="http://schemas.microsoft.com/office/drawing/2014/main" id="{D9C80C96-128B-5045-8C5D-B46CB64E7841}"/>
              </a:ext>
            </a:extLst>
          </p:cNvPr>
          <p:cNvSpPr>
            <a:spLocks noChangeShapeType="1"/>
          </p:cNvSpPr>
          <p:nvPr/>
        </p:nvSpPr>
        <p:spPr bwMode="auto">
          <a:xfrm>
            <a:off x="3859971" y="3347109"/>
            <a:ext cx="1129100" cy="1240071"/>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71" name="Line 57">
            <a:extLst>
              <a:ext uri="{FF2B5EF4-FFF2-40B4-BE49-F238E27FC236}">
                <a16:creationId xmlns:a16="http://schemas.microsoft.com/office/drawing/2014/main" id="{1AF266B0-0677-AD45-A0BF-2690AE685290}"/>
              </a:ext>
            </a:extLst>
          </p:cNvPr>
          <p:cNvSpPr>
            <a:spLocks noChangeShapeType="1"/>
          </p:cNvSpPr>
          <p:nvPr/>
        </p:nvSpPr>
        <p:spPr bwMode="auto">
          <a:xfrm>
            <a:off x="3867900" y="3369595"/>
            <a:ext cx="1114872" cy="2108542"/>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72" name="Line 57">
            <a:extLst>
              <a:ext uri="{FF2B5EF4-FFF2-40B4-BE49-F238E27FC236}">
                <a16:creationId xmlns:a16="http://schemas.microsoft.com/office/drawing/2014/main" id="{5B2C67C4-7D8B-BC45-98D0-6EE5496329B1}"/>
              </a:ext>
            </a:extLst>
          </p:cNvPr>
          <p:cNvSpPr>
            <a:spLocks noChangeShapeType="1"/>
          </p:cNvSpPr>
          <p:nvPr/>
        </p:nvSpPr>
        <p:spPr bwMode="auto">
          <a:xfrm>
            <a:off x="3854379" y="3710883"/>
            <a:ext cx="1118870" cy="1735062"/>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nvGrpSpPr>
          <p:cNvPr id="11" name="Group 10">
            <a:extLst>
              <a:ext uri="{FF2B5EF4-FFF2-40B4-BE49-F238E27FC236}">
                <a16:creationId xmlns:a16="http://schemas.microsoft.com/office/drawing/2014/main" id="{EBEAE070-F53A-510A-8401-20142779B6FB}"/>
              </a:ext>
            </a:extLst>
          </p:cNvPr>
          <p:cNvGrpSpPr/>
          <p:nvPr/>
        </p:nvGrpSpPr>
        <p:grpSpPr>
          <a:xfrm>
            <a:off x="736079" y="2878793"/>
            <a:ext cx="4254585" cy="1010979"/>
            <a:chOff x="736079" y="2878793"/>
            <a:chExt cx="4254585" cy="1010979"/>
          </a:xfrm>
        </p:grpSpPr>
        <p:sp>
          <p:nvSpPr>
            <p:cNvPr id="126" name="Rectangle 14">
              <a:extLst>
                <a:ext uri="{FF2B5EF4-FFF2-40B4-BE49-F238E27FC236}">
                  <a16:creationId xmlns:a16="http://schemas.microsoft.com/office/drawing/2014/main" id="{2C1A2140-CD8C-F64E-8A91-D5BF5258BAEC}"/>
                </a:ext>
              </a:extLst>
            </p:cNvPr>
            <p:cNvSpPr>
              <a:spLocks noChangeArrowheads="1"/>
            </p:cNvSpPr>
            <p:nvPr/>
          </p:nvSpPr>
          <p:spPr bwMode="auto">
            <a:xfrm>
              <a:off x="736079" y="3497004"/>
              <a:ext cx="1131182" cy="392768"/>
            </a:xfrm>
            <a:prstGeom prst="rect">
              <a:avLst/>
            </a:prstGeom>
            <a:solidFill>
              <a:srgbClr val="B6E4B6"/>
            </a:solidFill>
            <a:ln w="14288">
              <a:solidFill>
                <a:srgbClr val="000000"/>
              </a:solidFill>
              <a:miter lim="800000"/>
              <a:headEnd/>
              <a:tailEnd/>
            </a:ln>
          </p:spPr>
          <p:txBody>
            <a:bodyPr/>
            <a:lstStyle/>
            <a:p>
              <a:r>
                <a:rPr lang="en-US" altLang="zh-CN" sz="1600" b="1" dirty="0">
                  <a:latin typeface="STKaiti" panose="02010600040101010101" pitchFamily="2" charset="-122"/>
                  <a:ea typeface="STKaiti" panose="02010600040101010101" pitchFamily="2" charset="-122"/>
                </a:rPr>
                <a:t>TAG: </a:t>
              </a:r>
              <a:r>
                <a:rPr lang="en-US" altLang="zh-CN" sz="1600" b="1" dirty="0">
                  <a:solidFill>
                    <a:srgbClr val="FF0000"/>
                  </a:solidFill>
                  <a:latin typeface="STKaiti" panose="02010600040101010101" pitchFamily="2" charset="-122"/>
                  <a:ea typeface="STKaiti" panose="02010600040101010101" pitchFamily="2" charset="-122"/>
                </a:rPr>
                <a:t>AB1</a:t>
              </a:r>
              <a:endParaRPr lang="zh-CN" altLang="en-US" sz="1600" b="1" dirty="0">
                <a:solidFill>
                  <a:srgbClr val="FF0000"/>
                </a:solidFill>
                <a:latin typeface="STKaiti" panose="02010600040101010101" pitchFamily="2" charset="-122"/>
                <a:ea typeface="STKaiti" panose="02010600040101010101" pitchFamily="2" charset="-122"/>
              </a:endParaRPr>
            </a:p>
          </p:txBody>
        </p:sp>
        <p:sp>
          <p:nvSpPr>
            <p:cNvPr id="73" name="Line 56">
              <a:extLst>
                <a:ext uri="{FF2B5EF4-FFF2-40B4-BE49-F238E27FC236}">
                  <a16:creationId xmlns:a16="http://schemas.microsoft.com/office/drawing/2014/main" id="{3B8BDC11-7422-5544-A6E2-82D5F1661FEF}"/>
                </a:ext>
              </a:extLst>
            </p:cNvPr>
            <p:cNvSpPr>
              <a:spLocks noChangeShapeType="1"/>
            </p:cNvSpPr>
            <p:nvPr/>
          </p:nvSpPr>
          <p:spPr bwMode="auto">
            <a:xfrm flipH="1">
              <a:off x="3836146" y="2878793"/>
              <a:ext cx="1154518" cy="864355"/>
            </a:xfrm>
            <a:prstGeom prst="line">
              <a:avLst/>
            </a:prstGeom>
            <a:noFill/>
            <a:ln w="38100">
              <a:solidFill>
                <a:srgbClr val="0432FF"/>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grpSp>
        <p:nvGrpSpPr>
          <p:cNvPr id="9" name="Group 8">
            <a:extLst>
              <a:ext uri="{FF2B5EF4-FFF2-40B4-BE49-F238E27FC236}">
                <a16:creationId xmlns:a16="http://schemas.microsoft.com/office/drawing/2014/main" id="{62061D95-0115-96DD-37BD-E7351984D2D3}"/>
              </a:ext>
            </a:extLst>
          </p:cNvPr>
          <p:cNvGrpSpPr/>
          <p:nvPr/>
        </p:nvGrpSpPr>
        <p:grpSpPr>
          <a:xfrm>
            <a:off x="736080" y="3127117"/>
            <a:ext cx="4252992" cy="670794"/>
            <a:chOff x="736080" y="3127117"/>
            <a:chExt cx="4252992" cy="670794"/>
          </a:xfrm>
        </p:grpSpPr>
        <p:sp>
          <p:nvSpPr>
            <p:cNvPr id="125" name="Rectangle 14">
              <a:extLst>
                <a:ext uri="{FF2B5EF4-FFF2-40B4-BE49-F238E27FC236}">
                  <a16:creationId xmlns:a16="http://schemas.microsoft.com/office/drawing/2014/main" id="{54784FB3-06E9-1249-986D-3D8D0F413335}"/>
                </a:ext>
              </a:extLst>
            </p:cNvPr>
            <p:cNvSpPr>
              <a:spLocks noChangeArrowheads="1"/>
            </p:cNvSpPr>
            <p:nvPr/>
          </p:nvSpPr>
          <p:spPr bwMode="auto">
            <a:xfrm>
              <a:off x="736080" y="3127117"/>
              <a:ext cx="1131182" cy="376238"/>
            </a:xfrm>
            <a:prstGeom prst="rect">
              <a:avLst/>
            </a:prstGeom>
            <a:solidFill>
              <a:srgbClr val="FFFF00"/>
            </a:solidFill>
            <a:ln w="14288">
              <a:solidFill>
                <a:srgbClr val="000000"/>
              </a:solidFill>
              <a:miter lim="800000"/>
              <a:headEnd/>
              <a:tailEnd/>
            </a:ln>
          </p:spPr>
          <p:txBody>
            <a:bodyPr/>
            <a:lstStyle/>
            <a:p>
              <a:r>
                <a:rPr lang="en-US" altLang="zh-CN" sz="1600" b="1" dirty="0">
                  <a:latin typeface="STKaiti" panose="02010600040101010101" pitchFamily="2" charset="-122"/>
                  <a:ea typeface="STKaiti" panose="02010600040101010101" pitchFamily="2" charset="-122"/>
                </a:rPr>
                <a:t>TAG: </a:t>
              </a:r>
              <a:r>
                <a:rPr lang="en-US" altLang="zh-CN" sz="1600" b="1" dirty="0">
                  <a:solidFill>
                    <a:srgbClr val="FF0000"/>
                  </a:solidFill>
                  <a:latin typeface="STKaiti" panose="02010600040101010101" pitchFamily="2" charset="-122"/>
                  <a:ea typeface="STKaiti" panose="02010600040101010101" pitchFamily="2" charset="-122"/>
                </a:rPr>
                <a:t>ABF</a:t>
              </a:r>
              <a:endParaRPr lang="zh-CN" altLang="en-US" sz="1600" b="1" dirty="0">
                <a:solidFill>
                  <a:srgbClr val="FF0000"/>
                </a:solidFill>
                <a:latin typeface="STKaiti" panose="02010600040101010101" pitchFamily="2" charset="-122"/>
                <a:ea typeface="STKaiti" panose="02010600040101010101" pitchFamily="2" charset="-122"/>
              </a:endParaRPr>
            </a:p>
          </p:txBody>
        </p:sp>
        <p:sp>
          <p:nvSpPr>
            <p:cNvPr id="74" name="Line 60">
              <a:extLst>
                <a:ext uri="{FF2B5EF4-FFF2-40B4-BE49-F238E27FC236}">
                  <a16:creationId xmlns:a16="http://schemas.microsoft.com/office/drawing/2014/main" id="{81B08726-FA19-0149-BB91-61644E012E48}"/>
                </a:ext>
              </a:extLst>
            </p:cNvPr>
            <p:cNvSpPr>
              <a:spLocks noChangeShapeType="1"/>
            </p:cNvSpPr>
            <p:nvPr/>
          </p:nvSpPr>
          <p:spPr bwMode="auto">
            <a:xfrm flipH="1" flipV="1">
              <a:off x="3873015" y="3346569"/>
              <a:ext cx="1116057" cy="451342"/>
            </a:xfrm>
            <a:prstGeom prst="line">
              <a:avLst/>
            </a:prstGeom>
            <a:noFill/>
            <a:ln w="38100">
              <a:solidFill>
                <a:srgbClr val="0432FF"/>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grpSp>
        <p:nvGrpSpPr>
          <p:cNvPr id="13" name="Group 12">
            <a:extLst>
              <a:ext uri="{FF2B5EF4-FFF2-40B4-BE49-F238E27FC236}">
                <a16:creationId xmlns:a16="http://schemas.microsoft.com/office/drawing/2014/main" id="{4C2D5A6D-9715-5D80-0E24-F95450C1F8FC}"/>
              </a:ext>
            </a:extLst>
          </p:cNvPr>
          <p:cNvGrpSpPr/>
          <p:nvPr/>
        </p:nvGrpSpPr>
        <p:grpSpPr>
          <a:xfrm>
            <a:off x="736079" y="4264682"/>
            <a:ext cx="4248993" cy="388937"/>
            <a:chOff x="736079" y="4264682"/>
            <a:chExt cx="4248993" cy="388937"/>
          </a:xfrm>
        </p:grpSpPr>
        <p:sp>
          <p:nvSpPr>
            <p:cNvPr id="128" name="Rectangle 14">
              <a:extLst>
                <a:ext uri="{FF2B5EF4-FFF2-40B4-BE49-F238E27FC236}">
                  <a16:creationId xmlns:a16="http://schemas.microsoft.com/office/drawing/2014/main" id="{2F89CE5A-5BDC-DF4F-8792-02E0F57C2BE3}"/>
                </a:ext>
              </a:extLst>
            </p:cNvPr>
            <p:cNvSpPr>
              <a:spLocks noChangeArrowheads="1"/>
            </p:cNvSpPr>
            <p:nvPr/>
          </p:nvSpPr>
          <p:spPr bwMode="auto">
            <a:xfrm>
              <a:off x="736079" y="4264682"/>
              <a:ext cx="1131182" cy="388937"/>
            </a:xfrm>
            <a:prstGeom prst="rect">
              <a:avLst/>
            </a:prstGeom>
            <a:solidFill>
              <a:srgbClr val="CDFFFF"/>
            </a:solidFill>
            <a:ln w="14288">
              <a:solidFill>
                <a:srgbClr val="000000"/>
              </a:solidFill>
              <a:miter lim="800000"/>
              <a:headEnd/>
              <a:tailEnd/>
            </a:ln>
          </p:spPr>
          <p:txBody>
            <a:bodyPr/>
            <a:lstStyle/>
            <a:p>
              <a:r>
                <a:rPr lang="en-US" altLang="zh-CN" sz="1600" b="1" dirty="0">
                  <a:latin typeface="STKaiti" panose="02010600040101010101" pitchFamily="2" charset="-122"/>
                  <a:ea typeface="STKaiti" panose="02010600040101010101" pitchFamily="2" charset="-122"/>
                </a:rPr>
                <a:t>TAG: </a:t>
              </a:r>
              <a:r>
                <a:rPr lang="en-US" altLang="zh-CN" sz="1600" b="1" dirty="0">
                  <a:solidFill>
                    <a:srgbClr val="FF0000"/>
                  </a:solidFill>
                  <a:latin typeface="STKaiti" panose="02010600040101010101" pitchFamily="2" charset="-122"/>
                  <a:ea typeface="STKaiti" panose="02010600040101010101" pitchFamily="2" charset="-122"/>
                </a:rPr>
                <a:t>AC1</a:t>
              </a:r>
              <a:endParaRPr lang="zh-CN" altLang="en-US" sz="1600" b="1" dirty="0">
                <a:solidFill>
                  <a:srgbClr val="FF0000"/>
                </a:solidFill>
                <a:latin typeface="STKaiti" panose="02010600040101010101" pitchFamily="2" charset="-122"/>
                <a:ea typeface="STKaiti" panose="02010600040101010101" pitchFamily="2" charset="-122"/>
              </a:endParaRPr>
            </a:p>
          </p:txBody>
        </p:sp>
        <p:sp>
          <p:nvSpPr>
            <p:cNvPr id="75" name="Line 58">
              <a:extLst>
                <a:ext uri="{FF2B5EF4-FFF2-40B4-BE49-F238E27FC236}">
                  <a16:creationId xmlns:a16="http://schemas.microsoft.com/office/drawing/2014/main" id="{90A1D3B1-C553-0E48-A779-474614B1ED4B}"/>
                </a:ext>
              </a:extLst>
            </p:cNvPr>
            <p:cNvSpPr>
              <a:spLocks noChangeShapeType="1"/>
            </p:cNvSpPr>
            <p:nvPr/>
          </p:nvSpPr>
          <p:spPr bwMode="auto">
            <a:xfrm>
              <a:off x="3823435" y="4412152"/>
              <a:ext cx="1161637" cy="182144"/>
            </a:xfrm>
            <a:prstGeom prst="line">
              <a:avLst/>
            </a:prstGeom>
            <a:noFill/>
            <a:ln w="38100">
              <a:solidFill>
                <a:srgbClr val="0432FF"/>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sp>
        <p:nvSpPr>
          <p:cNvPr id="5" name="TextBox 4">
            <a:extLst>
              <a:ext uri="{FF2B5EF4-FFF2-40B4-BE49-F238E27FC236}">
                <a16:creationId xmlns:a16="http://schemas.microsoft.com/office/drawing/2014/main" id="{BDAD0FD6-DDD4-F146-8874-645FE7BC3715}"/>
              </a:ext>
            </a:extLst>
          </p:cNvPr>
          <p:cNvSpPr txBox="1"/>
          <p:nvPr/>
        </p:nvSpPr>
        <p:spPr>
          <a:xfrm>
            <a:off x="1399877" y="5291443"/>
            <a:ext cx="2937022" cy="369332"/>
          </a:xfrm>
          <a:prstGeom prst="rect">
            <a:avLst/>
          </a:prstGeom>
          <a:noFill/>
        </p:spPr>
        <p:txBody>
          <a:bodyPr wrap="none" rtlCol="0">
            <a:spAutoFit/>
          </a:bodyPr>
          <a:lstStyle/>
          <a:p>
            <a:r>
              <a:rPr lang="en-CN" dirty="0">
                <a:solidFill>
                  <a:srgbClr val="0432FF"/>
                </a:solidFill>
                <a:latin typeface="STKaiti" panose="02010600040101010101" pitchFamily="2" charset="-122"/>
                <a:ea typeface="STKaiti" panose="02010600040101010101" pitchFamily="2" charset="-122"/>
              </a:rPr>
              <a:t>蓝色线条代表装入Cache中</a:t>
            </a:r>
          </a:p>
        </p:txBody>
      </p:sp>
      <p:cxnSp>
        <p:nvCxnSpPr>
          <p:cNvPr id="10" name="Straight Arrow Connector 9">
            <a:extLst>
              <a:ext uri="{FF2B5EF4-FFF2-40B4-BE49-F238E27FC236}">
                <a16:creationId xmlns:a16="http://schemas.microsoft.com/office/drawing/2014/main" id="{9D410057-9936-0542-A5D6-F1CA12DBAB71}"/>
              </a:ext>
            </a:extLst>
          </p:cNvPr>
          <p:cNvCxnSpPr/>
          <p:nvPr/>
        </p:nvCxnSpPr>
        <p:spPr>
          <a:xfrm flipV="1">
            <a:off x="3710025" y="4509110"/>
            <a:ext cx="511960" cy="766809"/>
          </a:xfrm>
          <a:prstGeom prst="straightConnector1">
            <a:avLst/>
          </a:prstGeom>
          <a:ln>
            <a:solidFill>
              <a:srgbClr val="0432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253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righ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39</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04313" y="1279525"/>
            <a:ext cx="4910791" cy="4779793"/>
          </a:xfrm>
        </p:spPr>
        <p:txBody>
          <a:bodyPr/>
          <a:lstStyle/>
          <a:p>
            <a:pPr marL="514350" indent="-457200">
              <a:spcBef>
                <a:spcPts val="0"/>
              </a:spcBef>
            </a:pPr>
            <a:r>
              <a:rPr kumimoji="1" lang="zh-CN" altLang="en-US" sz="2400" dirty="0"/>
              <a:t>全相联映像：并行查找</a:t>
            </a:r>
            <a:endParaRPr kumimoji="1" lang="en-US" altLang="zh-CN" sz="2400" dirty="0"/>
          </a:p>
          <a:p>
            <a:pPr marL="914400" lvl="1" indent="-457200">
              <a:lnSpc>
                <a:spcPct val="150000"/>
              </a:lnSpc>
              <a:spcBef>
                <a:spcPts val="0"/>
              </a:spcBef>
            </a:pPr>
            <a:r>
              <a:rPr lang="zh-CN" altLang="en-US" sz="2400" dirty="0">
                <a:solidFill>
                  <a:srgbClr val="0432FF"/>
                </a:solidFill>
              </a:rPr>
              <a:t>优点</a:t>
            </a:r>
            <a:endParaRPr lang="en-US" altLang="zh-CN" sz="2400" dirty="0">
              <a:solidFill>
                <a:srgbClr val="0432FF"/>
              </a:solidFill>
            </a:endParaRPr>
          </a:p>
          <a:p>
            <a:pPr marL="1314450" lvl="2" indent="-457200">
              <a:lnSpc>
                <a:spcPct val="150000"/>
              </a:lnSpc>
              <a:spcBef>
                <a:spcPts val="0"/>
              </a:spcBef>
              <a:buFont typeface="Wingdings" pitchFamily="2" charset="2"/>
              <a:buChar char="Ø"/>
            </a:pPr>
            <a:r>
              <a:rPr lang="en-US" altLang="zh-CN" sz="2000" dirty="0"/>
              <a:t>Cache</a:t>
            </a:r>
            <a:r>
              <a:rPr lang="zh-CN" altLang="en-US" sz="2000" dirty="0"/>
              <a:t>命中率高</a:t>
            </a:r>
          </a:p>
          <a:p>
            <a:pPr marL="1314450" lvl="2" indent="-457200">
              <a:lnSpc>
                <a:spcPct val="150000"/>
              </a:lnSpc>
              <a:spcBef>
                <a:spcPts val="0"/>
              </a:spcBef>
              <a:buFont typeface="Wingdings" pitchFamily="2" charset="2"/>
              <a:buChar char="Ø"/>
            </a:pPr>
            <a:r>
              <a:rPr lang="en-US" altLang="zh-CN" sz="2000" dirty="0"/>
              <a:t>Cache</a:t>
            </a:r>
            <a:r>
              <a:rPr lang="zh-CN" altLang="en-US" sz="2000" dirty="0"/>
              <a:t>空间利用率高</a:t>
            </a:r>
            <a:endParaRPr lang="zh-CN" altLang="en-US" sz="2400" dirty="0"/>
          </a:p>
          <a:p>
            <a:pPr marL="914400" lvl="1" indent="-457200">
              <a:lnSpc>
                <a:spcPct val="150000"/>
              </a:lnSpc>
              <a:spcBef>
                <a:spcPts val="0"/>
              </a:spcBef>
            </a:pPr>
            <a:r>
              <a:rPr lang="zh-CN" altLang="en-US" sz="2400" dirty="0">
                <a:solidFill>
                  <a:srgbClr val="0432FF"/>
                </a:solidFill>
              </a:rPr>
              <a:t>缺点</a:t>
            </a:r>
            <a:endParaRPr lang="en-US" altLang="zh-CN" sz="2400" dirty="0">
              <a:solidFill>
                <a:srgbClr val="0432FF"/>
              </a:solidFill>
            </a:endParaRPr>
          </a:p>
          <a:p>
            <a:pPr marL="1314450" lvl="2" indent="-457200">
              <a:lnSpc>
                <a:spcPct val="150000"/>
              </a:lnSpc>
              <a:spcBef>
                <a:spcPts val="0"/>
              </a:spcBef>
              <a:buFont typeface="Wingdings" pitchFamily="2" charset="2"/>
              <a:buChar char="Ø"/>
            </a:pPr>
            <a:r>
              <a:rPr lang="zh-CN" altLang="en-US" sz="2000" dirty="0"/>
              <a:t>需要并行比较所有标签</a:t>
            </a:r>
            <a:endParaRPr lang="en-US" altLang="zh-CN" sz="2000" dirty="0"/>
          </a:p>
          <a:p>
            <a:pPr marL="1314450" lvl="2" indent="-457200">
              <a:lnSpc>
                <a:spcPct val="150000"/>
              </a:lnSpc>
              <a:spcBef>
                <a:spcPts val="0"/>
              </a:spcBef>
              <a:buFont typeface="Wingdings" pitchFamily="2" charset="2"/>
              <a:buChar char="Ø"/>
            </a:pPr>
            <a:r>
              <a:rPr lang="zh-CN" altLang="en-US" sz="2000" dirty="0"/>
              <a:t>硬件实现复杂</a:t>
            </a:r>
            <a:endParaRPr lang="en-US" altLang="zh-CN" sz="2000" dirty="0"/>
          </a:p>
        </p:txBody>
      </p:sp>
      <p:sp>
        <p:nvSpPr>
          <p:cNvPr id="48" name="Rectangle 47">
            <a:extLst>
              <a:ext uri="{FF2B5EF4-FFF2-40B4-BE49-F238E27FC236}">
                <a16:creationId xmlns:a16="http://schemas.microsoft.com/office/drawing/2014/main" id="{FC5196A7-1AC0-0745-B9EE-E7AB9CE2F10B}"/>
              </a:ext>
            </a:extLst>
          </p:cNvPr>
          <p:cNvSpPr/>
          <p:nvPr/>
        </p:nvSpPr>
        <p:spPr>
          <a:xfrm>
            <a:off x="404313" y="4929730"/>
            <a:ext cx="8062679" cy="1015663"/>
          </a:xfrm>
          <a:prstGeom prst="rect">
            <a:avLst/>
          </a:prstGeom>
        </p:spPr>
        <p:txBody>
          <a:bodyPr wrap="square">
            <a:spAutoFit/>
          </a:bodyPr>
          <a:lstStyle/>
          <a:p>
            <a:r>
              <a:rPr lang="zh-CN" altLang="en-US" sz="2000" dirty="0">
                <a:latin typeface="STKaiti" panose="02010600040101010101" pitchFamily="2" charset="-122"/>
                <a:ea typeface="STKaiti" panose="02010600040101010101" pitchFamily="2" charset="-122"/>
              </a:rPr>
              <a:t>例：一个</a:t>
            </a:r>
            <a:r>
              <a:rPr lang="en-US" altLang="zh-CN" sz="2000" dirty="0">
                <a:latin typeface="STKaiti" panose="02010600040101010101" pitchFamily="2" charset="-122"/>
                <a:ea typeface="STKaiti" panose="02010600040101010101" pitchFamily="2" charset="-122"/>
              </a:rPr>
              <a:t>32</a:t>
            </a:r>
            <a:r>
              <a:rPr lang="zh-CN" altLang="en-US" sz="2000" dirty="0">
                <a:latin typeface="STKaiti" panose="02010600040101010101" pitchFamily="2" charset="-122"/>
                <a:ea typeface="STKaiti" panose="02010600040101010101" pitchFamily="2" charset="-122"/>
              </a:rPr>
              <a:t>位内存系统；</a:t>
            </a:r>
            <a:r>
              <a:rPr lang="en-US" sz="2000" dirty="0">
                <a:latin typeface="STKaiti" panose="02010600040101010101" pitchFamily="2" charset="-122"/>
                <a:ea typeface="STKaiti" panose="02010600040101010101" pitchFamily="2" charset="-122"/>
              </a:rPr>
              <a:t>Cache</a:t>
            </a:r>
            <a:r>
              <a:rPr lang="zh-CN" altLang="en-US" sz="2000" dirty="0">
                <a:latin typeface="STKaiti" panose="02010600040101010101" pitchFamily="2" charset="-122"/>
                <a:ea typeface="STKaiti" panose="02010600040101010101" pitchFamily="2" charset="-122"/>
              </a:rPr>
              <a:t>容量</a:t>
            </a:r>
            <a:r>
              <a:rPr lang="en-US" altLang="zh-CN" sz="2000" dirty="0">
                <a:latin typeface="STKaiti" panose="02010600040101010101" pitchFamily="2" charset="-122"/>
                <a:ea typeface="STKaiti" panose="02010600040101010101" pitchFamily="2" charset="-122"/>
              </a:rPr>
              <a:t>8</a:t>
            </a:r>
            <a:r>
              <a:rPr lang="en-US" sz="2000" dirty="0">
                <a:latin typeface="STKaiti" panose="02010600040101010101" pitchFamily="2" charset="-122"/>
                <a:ea typeface="STKaiti" panose="02010600040101010101" pitchFamily="2" charset="-122"/>
              </a:rPr>
              <a:t>KB，</a:t>
            </a:r>
            <a:r>
              <a:rPr lang="zh-CN" altLang="en-US" sz="2000" dirty="0">
                <a:solidFill>
                  <a:srgbClr val="7030A0"/>
                </a:solidFill>
                <a:latin typeface="STKaiti" panose="02010600040101010101" pitchFamily="2" charset="-122"/>
                <a:ea typeface="STKaiti" panose="02010600040101010101" pitchFamily="2" charset="-122"/>
              </a:rPr>
              <a:t>每行</a:t>
            </a:r>
            <a:r>
              <a:rPr lang="en-US" altLang="zh-CN" sz="2000" dirty="0">
                <a:solidFill>
                  <a:srgbClr val="7030A0"/>
                </a:solidFill>
                <a:latin typeface="STKaiti" panose="02010600040101010101" pitchFamily="2" charset="-122"/>
                <a:ea typeface="STKaiti" panose="02010600040101010101" pitchFamily="2" charset="-122"/>
              </a:rPr>
              <a:t>16Byte</a:t>
            </a:r>
          </a:p>
          <a:p>
            <a:r>
              <a:rPr lang="en-US" altLang="zh-CN" sz="2000" dirty="0">
                <a:latin typeface="STKaiti" panose="02010600040101010101" pitchFamily="2" charset="-122"/>
                <a:ea typeface="STKaiti" panose="02010600040101010101" pitchFamily="2" charset="-122"/>
                <a:sym typeface="Wingdings" pitchFamily="2" charset="2"/>
              </a:rPr>
              <a:t></a:t>
            </a:r>
            <a:r>
              <a:rPr lang="zh-CN" altLang="en-US" sz="2000" dirty="0">
                <a:latin typeface="STKaiti" panose="02010600040101010101" pitchFamily="2" charset="-122"/>
                <a:ea typeface="STKaiti" panose="02010600040101010101" pitchFamily="2" charset="-122"/>
              </a:rPr>
              <a:t>主存共</a:t>
            </a:r>
            <a:r>
              <a:rPr lang="en-US" altLang="zh-CN" sz="2000" dirty="0">
                <a:latin typeface="STKaiti" panose="02010600040101010101" pitchFamily="2" charset="-122"/>
                <a:ea typeface="STKaiti" panose="02010600040101010101" pitchFamily="2" charset="-122"/>
              </a:rPr>
              <a:t>2^32/16=</a:t>
            </a:r>
            <a:r>
              <a:rPr lang="en-US" altLang="zh-CN" sz="2000" b="1" dirty="0">
                <a:solidFill>
                  <a:srgbClr val="0432FF"/>
                </a:solidFill>
                <a:latin typeface="STKaiti" panose="02010600040101010101" pitchFamily="2" charset="-122"/>
                <a:ea typeface="STKaiti" panose="02010600040101010101" pitchFamily="2" charset="-122"/>
              </a:rPr>
              <a:t>2^28</a:t>
            </a:r>
            <a:r>
              <a:rPr lang="zh-CN" altLang="en-US" sz="2000" dirty="0">
                <a:latin typeface="STKaiti" panose="02010600040101010101" pitchFamily="2" charset="-122"/>
                <a:ea typeface="STKaiti" panose="02010600040101010101" pitchFamily="2" charset="-122"/>
              </a:rPr>
              <a:t>个块，</a:t>
            </a:r>
            <a:r>
              <a:rPr lang="en-US" altLang="zh-CN" sz="2000" dirty="0">
                <a:latin typeface="STKaiti" panose="02010600040101010101" pitchFamily="2" charset="-122"/>
                <a:ea typeface="STKaiti" panose="02010600040101010101" pitchFamily="2" charset="-122"/>
                <a:sym typeface="Wingdings" pitchFamily="2" charset="2"/>
              </a:rPr>
              <a:t>Cache</a:t>
            </a:r>
            <a:r>
              <a:rPr lang="zh-CN" altLang="en-US" sz="2000" dirty="0">
                <a:latin typeface="STKaiti" panose="02010600040101010101" pitchFamily="2" charset="-122"/>
                <a:ea typeface="STKaiti" panose="02010600040101010101" pitchFamily="2" charset="-122"/>
              </a:rPr>
              <a:t>共</a:t>
            </a:r>
            <a:r>
              <a:rPr lang="en-US" altLang="zh-CN" sz="2000" dirty="0">
                <a:latin typeface="STKaiti" panose="02010600040101010101" pitchFamily="2" charset="-122"/>
                <a:ea typeface="STKaiti" panose="02010600040101010101" pitchFamily="2" charset="-122"/>
              </a:rPr>
              <a:t>512</a:t>
            </a:r>
            <a:r>
              <a:rPr lang="zh-CN" altLang="en-US" sz="2000" dirty="0">
                <a:latin typeface="STKaiti" panose="02010600040101010101" pitchFamily="2" charset="-122"/>
                <a:ea typeface="STKaiti" panose="02010600040101010101" pitchFamily="2" charset="-122"/>
              </a:rPr>
              <a:t>行</a:t>
            </a:r>
            <a:r>
              <a:rPr lang="en-US" altLang="zh-CN" sz="2000" dirty="0">
                <a:latin typeface="STKaiti" panose="02010600040101010101" pitchFamily="2" charset="-122"/>
                <a:ea typeface="STKaiti" panose="02010600040101010101" pitchFamily="2" charset="-122"/>
              </a:rPr>
              <a:t>(=8K/16=</a:t>
            </a:r>
            <a:r>
              <a:rPr lang="en-US" altLang="zh-CN" sz="2000" b="1" dirty="0">
                <a:solidFill>
                  <a:srgbClr val="0432FF"/>
                </a:solidFill>
                <a:latin typeface="STKaiti" panose="02010600040101010101" pitchFamily="2" charset="-122"/>
                <a:ea typeface="STKaiti" panose="02010600040101010101" pitchFamily="2" charset="-122"/>
              </a:rPr>
              <a:t>2^9</a:t>
            </a:r>
            <a:r>
              <a:rPr lang="en-US" altLang="zh-CN" sz="2000" dirty="0">
                <a:latin typeface="STKaiti" panose="02010600040101010101" pitchFamily="2" charset="-122"/>
                <a:ea typeface="STKaiti" panose="02010600040101010101" pitchFamily="2" charset="-122"/>
              </a:rPr>
              <a:t>)</a:t>
            </a:r>
          </a:p>
          <a:p>
            <a:r>
              <a:rPr lang="en-US" altLang="zh-CN" sz="2000" dirty="0">
                <a:latin typeface="STKaiti" panose="02010600040101010101" pitchFamily="2" charset="-122"/>
                <a:ea typeface="STKaiti" panose="02010600040101010101" pitchFamily="2" charset="-122"/>
                <a:sym typeface="Wingdings" pitchFamily="2" charset="2"/>
              </a:rPr>
              <a:t></a:t>
            </a:r>
            <a:r>
              <a:rPr lang="zh-CN" altLang="en-US" sz="2000" dirty="0">
                <a:latin typeface="STKaiti" panose="02010600040101010101" pitchFamily="2" charset="-122"/>
                <a:ea typeface="STKaiti" panose="02010600040101010101" pitchFamily="2" charset="-122"/>
                <a:sym typeface="Wingdings" pitchFamily="2" charset="2"/>
              </a:rPr>
              <a:t>用主存的</a:t>
            </a:r>
            <a:r>
              <a:rPr lang="zh-CN" altLang="en-US" sz="2000" dirty="0">
                <a:solidFill>
                  <a:srgbClr val="7030A0"/>
                </a:solidFill>
                <a:latin typeface="STKaiti" panose="02010600040101010101" pitchFamily="2" charset="-122"/>
                <a:ea typeface="STKaiti" panose="02010600040101010101" pitchFamily="2" charset="-122"/>
                <a:sym typeface="Wingdings" pitchFamily="2" charset="2"/>
              </a:rPr>
              <a:t>低</a:t>
            </a:r>
            <a:r>
              <a:rPr lang="en-US" altLang="zh-CN" sz="2000" dirty="0">
                <a:solidFill>
                  <a:srgbClr val="7030A0"/>
                </a:solidFill>
                <a:latin typeface="STKaiti" panose="02010600040101010101" pitchFamily="2" charset="-122"/>
                <a:ea typeface="STKaiti" panose="02010600040101010101" pitchFamily="2" charset="-122"/>
                <a:sym typeface="Wingdings" pitchFamily="2" charset="2"/>
              </a:rPr>
              <a:t>4</a:t>
            </a:r>
            <a:r>
              <a:rPr lang="zh-CN" altLang="en-US" sz="2000" dirty="0">
                <a:solidFill>
                  <a:srgbClr val="7030A0"/>
                </a:solidFill>
                <a:latin typeface="STKaiti" panose="02010600040101010101" pitchFamily="2" charset="-122"/>
                <a:ea typeface="STKaiti" panose="02010600040101010101" pitchFamily="2" charset="-122"/>
                <a:sym typeface="Wingdings" pitchFamily="2" charset="2"/>
              </a:rPr>
              <a:t>位</a:t>
            </a:r>
            <a:r>
              <a:rPr lang="zh-CN" altLang="en-US" sz="2000" dirty="0">
                <a:latin typeface="STKaiti" panose="02010600040101010101" pitchFamily="2" charset="-122"/>
                <a:ea typeface="STKaiti" panose="02010600040101010101" pitchFamily="2" charset="-122"/>
                <a:sym typeface="Wingdings" pitchFamily="2" charset="2"/>
              </a:rPr>
              <a:t>作为</a:t>
            </a:r>
            <a:r>
              <a:rPr lang="zh-CN" altLang="en-CN" sz="2000" dirty="0">
                <a:latin typeface="STKaiti" panose="02010600040101010101" pitchFamily="2" charset="-122"/>
                <a:ea typeface="STKaiti" panose="02010600040101010101" pitchFamily="2" charset="-122"/>
                <a:sym typeface="Wingdings" pitchFamily="2" charset="2"/>
              </a:rPr>
              <a:t>块内</a:t>
            </a:r>
            <a:r>
              <a:rPr lang="zh-CN" altLang="en-US" sz="2000" dirty="0">
                <a:latin typeface="STKaiti" panose="02010600040101010101" pitchFamily="2" charset="-122"/>
                <a:ea typeface="STKaiti" panose="02010600040101010101" pitchFamily="2" charset="-122"/>
                <a:sym typeface="Wingdings" pitchFamily="2" charset="2"/>
              </a:rPr>
              <a:t>地址，</a:t>
            </a:r>
            <a:r>
              <a:rPr lang="zh-CN" altLang="en-US" sz="2000" b="1" dirty="0">
                <a:latin typeface="STKaiti" panose="02010600040101010101" pitchFamily="2" charset="-122"/>
                <a:ea typeface="STKaiti" panose="02010600040101010101" pitchFamily="2" charset="-122"/>
                <a:sym typeface="Wingdings" pitchFamily="2" charset="2"/>
              </a:rPr>
              <a:t>剩下</a:t>
            </a:r>
            <a:r>
              <a:rPr lang="en-US" altLang="zh-CN" sz="2000" b="1" dirty="0">
                <a:solidFill>
                  <a:srgbClr val="0432FF"/>
                </a:solidFill>
                <a:latin typeface="STKaiti" panose="02010600040101010101" pitchFamily="2" charset="-122"/>
                <a:ea typeface="STKaiti" panose="02010600040101010101" pitchFamily="2" charset="-122"/>
                <a:sym typeface="Wingdings" pitchFamily="2" charset="2"/>
              </a:rPr>
              <a:t>28</a:t>
            </a:r>
            <a:r>
              <a:rPr lang="zh-CN" altLang="en-US" sz="2000" b="1" dirty="0">
                <a:solidFill>
                  <a:srgbClr val="0432FF"/>
                </a:solidFill>
                <a:latin typeface="STKaiti" panose="02010600040101010101" pitchFamily="2" charset="-122"/>
                <a:ea typeface="STKaiti" panose="02010600040101010101" pitchFamily="2" charset="-122"/>
                <a:sym typeface="Wingdings" pitchFamily="2" charset="2"/>
              </a:rPr>
              <a:t>位</a:t>
            </a:r>
            <a:r>
              <a:rPr lang="zh-CN" altLang="en-US" sz="2000" dirty="0">
                <a:latin typeface="STKaiti" panose="02010600040101010101" pitchFamily="2" charset="-122"/>
                <a:ea typeface="STKaiti" panose="02010600040101010101" pitchFamily="2" charset="-122"/>
                <a:sym typeface="Wingdings" pitchFamily="2" charset="2"/>
              </a:rPr>
              <a:t>作为主存标签</a:t>
            </a:r>
            <a:endParaRPr lang="en-US" altLang="zh-CN" sz="2000" dirty="0">
              <a:latin typeface="STKaiti" panose="02010600040101010101" pitchFamily="2" charset="-122"/>
              <a:ea typeface="STKaiti" panose="02010600040101010101" pitchFamily="2" charset="-122"/>
              <a:sym typeface="Wingdings" pitchFamily="2" charset="2"/>
            </a:endParaRPr>
          </a:p>
        </p:txBody>
      </p:sp>
      <p:sp>
        <p:nvSpPr>
          <p:cNvPr id="50" name="矩形 45">
            <a:extLst>
              <a:ext uri="{FF2B5EF4-FFF2-40B4-BE49-F238E27FC236}">
                <a16:creationId xmlns:a16="http://schemas.microsoft.com/office/drawing/2014/main" id="{7166EFBC-14D5-5E9D-0666-BAD7BA4E7088}"/>
              </a:ext>
            </a:extLst>
          </p:cNvPr>
          <p:cNvSpPr/>
          <p:nvPr/>
        </p:nvSpPr>
        <p:spPr bwMode="auto">
          <a:xfrm>
            <a:off x="4449593" y="6271662"/>
            <a:ext cx="1455277" cy="295792"/>
          </a:xfrm>
          <a:prstGeom prst="rect">
            <a:avLst/>
          </a:prstGeom>
          <a:solidFill>
            <a:srgbClr val="AC7942">
              <a:alpha val="50588"/>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kumimoji="0" lang="zh-CN" altLang="en-US" sz="1800" u="none" strike="noStrike" cap="none" normalizeH="0" baseline="0" dirty="0">
                <a:ln>
                  <a:noFill/>
                </a:ln>
                <a:solidFill>
                  <a:srgbClr val="AB7942"/>
                </a:solidFill>
                <a:effectLst/>
                <a:latin typeface="Tahoma" pitchFamily="34" charset="0"/>
                <a:ea typeface="SimHei" panose="02010609060101010101" pitchFamily="49" charset="-122"/>
              </a:rPr>
              <a:t>标签</a:t>
            </a:r>
          </a:p>
        </p:txBody>
      </p:sp>
      <p:sp>
        <p:nvSpPr>
          <p:cNvPr id="51" name="矩形 46">
            <a:extLst>
              <a:ext uri="{FF2B5EF4-FFF2-40B4-BE49-F238E27FC236}">
                <a16:creationId xmlns:a16="http://schemas.microsoft.com/office/drawing/2014/main" id="{6AC14719-6344-DE1A-3770-0A9E7F6EF3D0}"/>
              </a:ext>
            </a:extLst>
          </p:cNvPr>
          <p:cNvSpPr/>
          <p:nvPr/>
        </p:nvSpPr>
        <p:spPr bwMode="auto">
          <a:xfrm>
            <a:off x="5891101" y="6271662"/>
            <a:ext cx="1455281" cy="295792"/>
          </a:xfrm>
          <a:prstGeom prst="rect">
            <a:avLst/>
          </a:prstGeom>
          <a:solidFill>
            <a:schemeClr val="accent5"/>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dirty="0">
                <a:solidFill>
                  <a:srgbClr val="FF0000"/>
                </a:solidFill>
                <a:ea typeface="SimHei" panose="02010609060101010101" pitchFamily="49" charset="-122"/>
              </a:rPr>
              <a:t>块内地址</a:t>
            </a:r>
          </a:p>
        </p:txBody>
      </p:sp>
      <p:grpSp>
        <p:nvGrpSpPr>
          <p:cNvPr id="13" name="组合 12">
            <a:extLst>
              <a:ext uri="{FF2B5EF4-FFF2-40B4-BE49-F238E27FC236}">
                <a16:creationId xmlns:a16="http://schemas.microsoft.com/office/drawing/2014/main" id="{511172D7-9B4D-20CC-F3E2-379249BF7512}"/>
              </a:ext>
            </a:extLst>
          </p:cNvPr>
          <p:cNvGrpSpPr/>
          <p:nvPr/>
        </p:nvGrpSpPr>
        <p:grpSpPr>
          <a:xfrm>
            <a:off x="4779221" y="1416452"/>
            <a:ext cx="4364779" cy="3657473"/>
            <a:chOff x="4779221" y="1416452"/>
            <a:chExt cx="4364779" cy="3657473"/>
          </a:xfrm>
        </p:grpSpPr>
        <p:grpSp>
          <p:nvGrpSpPr>
            <p:cNvPr id="5" name="组合 4">
              <a:extLst>
                <a:ext uri="{FF2B5EF4-FFF2-40B4-BE49-F238E27FC236}">
                  <a16:creationId xmlns:a16="http://schemas.microsoft.com/office/drawing/2014/main" id="{1C86928F-9CEF-F94C-A4F9-64BD09E7CFE8}"/>
                </a:ext>
              </a:extLst>
            </p:cNvPr>
            <p:cNvGrpSpPr/>
            <p:nvPr/>
          </p:nvGrpSpPr>
          <p:grpSpPr>
            <a:xfrm>
              <a:off x="4779221" y="1416452"/>
              <a:ext cx="4364779" cy="3657473"/>
              <a:chOff x="4572374" y="2465948"/>
              <a:chExt cx="4829162" cy="3906525"/>
            </a:xfrm>
          </p:grpSpPr>
          <p:grpSp>
            <p:nvGrpSpPr>
              <p:cNvPr id="6" name="组合 5">
                <a:extLst>
                  <a:ext uri="{FF2B5EF4-FFF2-40B4-BE49-F238E27FC236}">
                    <a16:creationId xmlns:a16="http://schemas.microsoft.com/office/drawing/2014/main" id="{99202C61-F4A8-8C4C-A79E-9836BAD1181D}"/>
                  </a:ext>
                </a:extLst>
              </p:cNvPr>
              <p:cNvGrpSpPr/>
              <p:nvPr/>
            </p:nvGrpSpPr>
            <p:grpSpPr>
              <a:xfrm>
                <a:off x="4572374" y="2465948"/>
                <a:ext cx="2985572" cy="486802"/>
                <a:chOff x="4145478" y="2465948"/>
                <a:chExt cx="2985572" cy="486802"/>
              </a:xfrm>
            </p:grpSpPr>
            <p:sp>
              <p:nvSpPr>
                <p:cNvPr id="46" name="矩形 45">
                  <a:extLst>
                    <a:ext uri="{FF2B5EF4-FFF2-40B4-BE49-F238E27FC236}">
                      <a16:creationId xmlns:a16="http://schemas.microsoft.com/office/drawing/2014/main" id="{CF6911BC-6E53-994C-951C-F37997D5B821}"/>
                    </a:ext>
                  </a:extLst>
                </p:cNvPr>
                <p:cNvSpPr/>
                <p:nvPr/>
              </p:nvSpPr>
              <p:spPr bwMode="auto">
                <a:xfrm>
                  <a:off x="4145478" y="2465948"/>
                  <a:ext cx="1779609" cy="486802"/>
                </a:xfrm>
                <a:prstGeom prst="rect">
                  <a:avLst/>
                </a:prstGeom>
                <a:solidFill>
                  <a:srgbClr val="F899C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rPr>
                    <a:t>主存标签</a:t>
                  </a:r>
                </a:p>
              </p:txBody>
            </p:sp>
            <p:sp>
              <p:nvSpPr>
                <p:cNvPr id="47" name="矩形 46">
                  <a:extLst>
                    <a:ext uri="{FF2B5EF4-FFF2-40B4-BE49-F238E27FC236}">
                      <a16:creationId xmlns:a16="http://schemas.microsoft.com/office/drawing/2014/main" id="{88DEC13F-9A75-7C46-A262-89007A0F2EA2}"/>
                    </a:ext>
                  </a:extLst>
                </p:cNvPr>
                <p:cNvSpPr/>
                <p:nvPr/>
              </p:nvSpPr>
              <p:spPr bwMode="auto">
                <a:xfrm>
                  <a:off x="5899149" y="2465948"/>
                  <a:ext cx="1231901" cy="486802"/>
                </a:xfrm>
                <a:prstGeom prst="rect">
                  <a:avLst/>
                </a:prstGeom>
                <a:solidFill>
                  <a:srgbClr val="CCFFFF"/>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rPr>
                    <a:t>行内地址</a:t>
                  </a:r>
                </a:p>
              </p:txBody>
            </p:sp>
          </p:grpSp>
          <p:grpSp>
            <p:nvGrpSpPr>
              <p:cNvPr id="7" name="组合 6">
                <a:extLst>
                  <a:ext uri="{FF2B5EF4-FFF2-40B4-BE49-F238E27FC236}">
                    <a16:creationId xmlns:a16="http://schemas.microsoft.com/office/drawing/2014/main" id="{C7F7E37B-4CBD-B143-9690-CC1D20946078}"/>
                  </a:ext>
                </a:extLst>
              </p:cNvPr>
              <p:cNvGrpSpPr/>
              <p:nvPr/>
            </p:nvGrpSpPr>
            <p:grpSpPr>
              <a:xfrm>
                <a:off x="4893023" y="3756031"/>
                <a:ext cx="575566" cy="1026100"/>
                <a:chOff x="8751400" y="2124001"/>
                <a:chExt cx="831850" cy="1026100"/>
              </a:xfrm>
            </p:grpSpPr>
            <p:sp>
              <p:nvSpPr>
                <p:cNvPr id="42" name="矩形 41">
                  <a:extLst>
                    <a:ext uri="{FF2B5EF4-FFF2-40B4-BE49-F238E27FC236}">
                      <a16:creationId xmlns:a16="http://schemas.microsoft.com/office/drawing/2014/main" id="{533E30DD-44AD-DD41-87F9-57551586380A}"/>
                    </a:ext>
                  </a:extLst>
                </p:cNvPr>
                <p:cNvSpPr/>
                <p:nvPr/>
              </p:nvSpPr>
              <p:spPr bwMode="auto">
                <a:xfrm>
                  <a:off x="8751400" y="2916089"/>
                  <a:ext cx="831850" cy="234012"/>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latin typeface="Tahoma" pitchFamily="34" charset="0"/>
                      <a:ea typeface="SimHei" panose="02010609060101010101" pitchFamily="49" charset="-122"/>
                    </a:rPr>
                    <a:t>标签</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43" name="矩形 42">
                  <a:extLst>
                    <a:ext uri="{FF2B5EF4-FFF2-40B4-BE49-F238E27FC236}">
                      <a16:creationId xmlns:a16="http://schemas.microsoft.com/office/drawing/2014/main" id="{660BADDF-7CCB-8D4D-AAF9-AA784180C7DF}"/>
                    </a:ext>
                  </a:extLst>
                </p:cNvPr>
                <p:cNvSpPr/>
                <p:nvPr/>
              </p:nvSpPr>
              <p:spPr bwMode="auto">
                <a:xfrm>
                  <a:off x="8751400" y="2591540"/>
                  <a:ext cx="831850" cy="332636"/>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44" name="矩形 43">
                  <a:extLst>
                    <a:ext uri="{FF2B5EF4-FFF2-40B4-BE49-F238E27FC236}">
                      <a16:creationId xmlns:a16="http://schemas.microsoft.com/office/drawing/2014/main" id="{12C7EF98-6E68-D84F-9350-440BA0606A13}"/>
                    </a:ext>
                  </a:extLst>
                </p:cNvPr>
                <p:cNvSpPr/>
                <p:nvPr/>
              </p:nvSpPr>
              <p:spPr bwMode="auto">
                <a:xfrm>
                  <a:off x="8751400" y="2358493"/>
                  <a:ext cx="831850" cy="234012"/>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latin typeface="Tahoma" pitchFamily="34" charset="0"/>
                      <a:ea typeface="SimHei" panose="02010609060101010101" pitchFamily="49" charset="-122"/>
                    </a:rPr>
                    <a:t>标签</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45" name="矩形 44">
                  <a:extLst>
                    <a:ext uri="{FF2B5EF4-FFF2-40B4-BE49-F238E27FC236}">
                      <a16:creationId xmlns:a16="http://schemas.microsoft.com/office/drawing/2014/main" id="{4880756D-0443-B543-B0D2-22719C31502D}"/>
                    </a:ext>
                  </a:extLst>
                </p:cNvPr>
                <p:cNvSpPr/>
                <p:nvPr/>
              </p:nvSpPr>
              <p:spPr bwMode="auto">
                <a:xfrm>
                  <a:off x="8751400" y="2124001"/>
                  <a:ext cx="831850" cy="234012"/>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latin typeface="Tahoma" pitchFamily="34" charset="0"/>
                      <a:ea typeface="SimHei" panose="02010609060101010101" pitchFamily="49" charset="-122"/>
                    </a:rPr>
                    <a:t>标签</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8" name="组合 7">
                <a:extLst>
                  <a:ext uri="{FF2B5EF4-FFF2-40B4-BE49-F238E27FC236}">
                    <a16:creationId xmlns:a16="http://schemas.microsoft.com/office/drawing/2014/main" id="{2475A4AB-3B93-A64B-8628-E8267A1EDC02}"/>
                  </a:ext>
                </a:extLst>
              </p:cNvPr>
              <p:cNvGrpSpPr/>
              <p:nvPr/>
            </p:nvGrpSpPr>
            <p:grpSpPr>
              <a:xfrm>
                <a:off x="5595211" y="3756031"/>
                <a:ext cx="804767" cy="1026100"/>
                <a:chOff x="8751400" y="2124001"/>
                <a:chExt cx="831850" cy="1026100"/>
              </a:xfrm>
            </p:grpSpPr>
            <p:sp>
              <p:nvSpPr>
                <p:cNvPr id="38" name="矩形 37">
                  <a:extLst>
                    <a:ext uri="{FF2B5EF4-FFF2-40B4-BE49-F238E27FC236}">
                      <a16:creationId xmlns:a16="http://schemas.microsoft.com/office/drawing/2014/main" id="{152E1EA5-9F30-9F49-97F6-3229B762B597}"/>
                    </a:ext>
                  </a:extLst>
                </p:cNvPr>
                <p:cNvSpPr/>
                <p:nvPr/>
              </p:nvSpPr>
              <p:spPr bwMode="auto">
                <a:xfrm>
                  <a:off x="8751400" y="2916089"/>
                  <a:ext cx="831850" cy="234012"/>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有效位</a:t>
                  </a:r>
                </a:p>
              </p:txBody>
            </p:sp>
            <p:sp>
              <p:nvSpPr>
                <p:cNvPr id="39" name="矩形 38">
                  <a:extLst>
                    <a:ext uri="{FF2B5EF4-FFF2-40B4-BE49-F238E27FC236}">
                      <a16:creationId xmlns:a16="http://schemas.microsoft.com/office/drawing/2014/main" id="{48802B04-8DD2-E54A-B82B-AC3C52BD8AD2}"/>
                    </a:ext>
                  </a:extLst>
                </p:cNvPr>
                <p:cNvSpPr/>
                <p:nvPr/>
              </p:nvSpPr>
              <p:spPr bwMode="auto">
                <a:xfrm>
                  <a:off x="8751400" y="2591540"/>
                  <a:ext cx="831850" cy="332636"/>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40" name="矩形 39">
                  <a:extLst>
                    <a:ext uri="{FF2B5EF4-FFF2-40B4-BE49-F238E27FC236}">
                      <a16:creationId xmlns:a16="http://schemas.microsoft.com/office/drawing/2014/main" id="{C22CE470-F286-1D4E-BF2C-39E510DC6FC0}"/>
                    </a:ext>
                  </a:extLst>
                </p:cNvPr>
                <p:cNvSpPr/>
                <p:nvPr/>
              </p:nvSpPr>
              <p:spPr bwMode="auto">
                <a:xfrm>
                  <a:off x="8751400" y="2358493"/>
                  <a:ext cx="831850" cy="234012"/>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有效位</a:t>
                  </a:r>
                </a:p>
              </p:txBody>
            </p:sp>
            <p:sp>
              <p:nvSpPr>
                <p:cNvPr id="41" name="矩形 40">
                  <a:extLst>
                    <a:ext uri="{FF2B5EF4-FFF2-40B4-BE49-F238E27FC236}">
                      <a16:creationId xmlns:a16="http://schemas.microsoft.com/office/drawing/2014/main" id="{EA70C1BB-A9C8-404B-A373-8E1343A849BD}"/>
                    </a:ext>
                  </a:extLst>
                </p:cNvPr>
                <p:cNvSpPr/>
                <p:nvPr/>
              </p:nvSpPr>
              <p:spPr bwMode="auto">
                <a:xfrm>
                  <a:off x="8751400" y="2124001"/>
                  <a:ext cx="831850" cy="234012"/>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有效位</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9" name="组合 8">
                <a:extLst>
                  <a:ext uri="{FF2B5EF4-FFF2-40B4-BE49-F238E27FC236}">
                    <a16:creationId xmlns:a16="http://schemas.microsoft.com/office/drawing/2014/main" id="{6CF3AC9C-AD11-484E-A0E6-6CA0CBD988E7}"/>
                  </a:ext>
                </a:extLst>
              </p:cNvPr>
              <p:cNvGrpSpPr/>
              <p:nvPr/>
            </p:nvGrpSpPr>
            <p:grpSpPr>
              <a:xfrm>
                <a:off x="6784032" y="3756031"/>
                <a:ext cx="804767" cy="1026100"/>
                <a:chOff x="8751400" y="2124001"/>
                <a:chExt cx="831850" cy="1026100"/>
              </a:xfrm>
            </p:grpSpPr>
            <p:sp>
              <p:nvSpPr>
                <p:cNvPr id="34" name="矩形 33">
                  <a:extLst>
                    <a:ext uri="{FF2B5EF4-FFF2-40B4-BE49-F238E27FC236}">
                      <a16:creationId xmlns:a16="http://schemas.microsoft.com/office/drawing/2014/main" id="{F9AA9C2F-A9F7-454D-8828-0C1B9B21FE6F}"/>
                    </a:ext>
                  </a:extLst>
                </p:cNvPr>
                <p:cNvSpPr/>
                <p:nvPr/>
              </p:nvSpPr>
              <p:spPr bwMode="auto">
                <a:xfrm>
                  <a:off x="8751400" y="2916089"/>
                  <a:ext cx="831850" cy="23401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行</a:t>
                  </a:r>
                  <a:r>
                    <a:rPr lang="en-US" altLang="zh-CN" sz="1400" dirty="0">
                      <a:ea typeface="SimHei" panose="02010609060101010101" pitchFamily="49" charset="-122"/>
                    </a:rPr>
                    <a:t>N-1</a:t>
                  </a:r>
                  <a:endParaRPr lang="zh-CN" altLang="en-US" sz="1400" dirty="0">
                    <a:ea typeface="SimHei" panose="02010609060101010101" pitchFamily="49" charset="-122"/>
                  </a:endParaRPr>
                </a:p>
              </p:txBody>
            </p:sp>
            <p:sp>
              <p:nvSpPr>
                <p:cNvPr id="35" name="矩形 34">
                  <a:extLst>
                    <a:ext uri="{FF2B5EF4-FFF2-40B4-BE49-F238E27FC236}">
                      <a16:creationId xmlns:a16="http://schemas.microsoft.com/office/drawing/2014/main" id="{BA5C6F91-5283-4140-8F6B-9797D296363D}"/>
                    </a:ext>
                  </a:extLst>
                </p:cNvPr>
                <p:cNvSpPr/>
                <p:nvPr/>
              </p:nvSpPr>
              <p:spPr bwMode="auto">
                <a:xfrm>
                  <a:off x="8751400" y="2591540"/>
                  <a:ext cx="831850" cy="332636"/>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36" name="矩形 35">
                  <a:extLst>
                    <a:ext uri="{FF2B5EF4-FFF2-40B4-BE49-F238E27FC236}">
                      <a16:creationId xmlns:a16="http://schemas.microsoft.com/office/drawing/2014/main" id="{C6A7D803-5B64-7848-9DAC-CFBFD8F6BEC9}"/>
                    </a:ext>
                  </a:extLst>
                </p:cNvPr>
                <p:cNvSpPr/>
                <p:nvPr/>
              </p:nvSpPr>
              <p:spPr bwMode="auto">
                <a:xfrm>
                  <a:off x="8751400" y="2358493"/>
                  <a:ext cx="831850" cy="23401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行</a:t>
                  </a:r>
                  <a:r>
                    <a:rPr lang="en-US" altLang="zh-CN" sz="1400" dirty="0">
                      <a:ea typeface="SimHei" panose="02010609060101010101" pitchFamily="49" charset="-122"/>
                    </a:rPr>
                    <a:t>1</a:t>
                  </a:r>
                  <a:endParaRPr lang="zh-CN" altLang="en-US" sz="1400" dirty="0">
                    <a:ea typeface="SimHei" panose="02010609060101010101" pitchFamily="49" charset="-122"/>
                  </a:endParaRPr>
                </a:p>
              </p:txBody>
            </p:sp>
            <p:sp>
              <p:nvSpPr>
                <p:cNvPr id="37" name="矩形 36">
                  <a:extLst>
                    <a:ext uri="{FF2B5EF4-FFF2-40B4-BE49-F238E27FC236}">
                      <a16:creationId xmlns:a16="http://schemas.microsoft.com/office/drawing/2014/main" id="{9FACA342-0ACE-C64D-B574-4BB2445434D0}"/>
                    </a:ext>
                  </a:extLst>
                </p:cNvPr>
                <p:cNvSpPr/>
                <p:nvPr/>
              </p:nvSpPr>
              <p:spPr bwMode="auto">
                <a:xfrm>
                  <a:off x="8751400" y="2124001"/>
                  <a:ext cx="831850" cy="23401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rPr>
                    <a:t>行</a:t>
                  </a:r>
                  <a:r>
                    <a:rPr kumimoji="0" lang="en-US" altLang="zh-CN" sz="1400" u="none" strike="noStrike" cap="none" normalizeH="0" baseline="0" dirty="0">
                      <a:ln>
                        <a:noFill/>
                      </a:ln>
                      <a:solidFill>
                        <a:schemeClr val="tx1"/>
                      </a:solidFill>
                      <a:effectLst/>
                      <a:latin typeface="Tahoma" pitchFamily="34" charset="0"/>
                      <a:ea typeface="SimHei" panose="02010609060101010101" pitchFamily="49" charset="-122"/>
                    </a:rPr>
                    <a:t>0</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cxnSp>
            <p:nvCxnSpPr>
              <p:cNvPr id="10" name="肘形连接符 9">
                <a:extLst>
                  <a:ext uri="{FF2B5EF4-FFF2-40B4-BE49-F238E27FC236}">
                    <a16:creationId xmlns:a16="http://schemas.microsoft.com/office/drawing/2014/main" id="{7AFB78A9-FA24-7B41-9609-00C886B1DDC0}"/>
                  </a:ext>
                </a:extLst>
              </p:cNvPr>
              <p:cNvCxnSpPr>
                <a:cxnSpLocks/>
              </p:cNvCxnSpPr>
              <p:nvPr/>
            </p:nvCxnSpPr>
            <p:spPr bwMode="auto">
              <a:xfrm rot="16200000" flipH="1">
                <a:off x="6688008" y="3206737"/>
                <a:ext cx="1154779" cy="646803"/>
              </a:xfrm>
              <a:prstGeom prst="bentConnector4">
                <a:avLst>
                  <a:gd name="adj1" fmla="val 16869"/>
                  <a:gd name="adj2" fmla="val 135343"/>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1" name="矩形 10">
                <a:extLst>
                  <a:ext uri="{FF2B5EF4-FFF2-40B4-BE49-F238E27FC236}">
                    <a16:creationId xmlns:a16="http://schemas.microsoft.com/office/drawing/2014/main" id="{167F5C6F-5323-B042-A760-F7F15A5CE960}"/>
                  </a:ext>
                </a:extLst>
              </p:cNvPr>
              <p:cNvSpPr/>
              <p:nvPr/>
            </p:nvSpPr>
            <p:spPr bwMode="auto">
              <a:xfrm>
                <a:off x="4572375" y="5220345"/>
                <a:ext cx="765714" cy="462942"/>
              </a:xfrm>
              <a:prstGeom prst="rect">
                <a:avLst/>
              </a:prstGeom>
              <a:solidFill>
                <a:srgbClr val="F899C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比较</a:t>
                </a:r>
                <a:endParaRPr lang="en-US" altLang="zh-CN" sz="1400" dirty="0">
                  <a:ea typeface="SimHei" panose="02010609060101010101" pitchFamily="49"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rPr>
                  <a:t>所有标记</a:t>
                </a:r>
              </a:p>
            </p:txBody>
          </p:sp>
          <p:cxnSp>
            <p:nvCxnSpPr>
              <p:cNvPr id="12" name="肘形连接符 11">
                <a:extLst>
                  <a:ext uri="{FF2B5EF4-FFF2-40B4-BE49-F238E27FC236}">
                    <a16:creationId xmlns:a16="http://schemas.microsoft.com/office/drawing/2014/main" id="{C0E057A1-695C-5D49-BD73-9C4D5F54ADA1}"/>
                  </a:ext>
                </a:extLst>
              </p:cNvPr>
              <p:cNvCxnSpPr>
                <a:cxnSpLocks/>
              </p:cNvCxnSpPr>
              <p:nvPr/>
            </p:nvCxnSpPr>
            <p:spPr bwMode="auto">
              <a:xfrm rot="16200000" flipH="1">
                <a:off x="3607275" y="4063947"/>
                <a:ext cx="2222397" cy="1"/>
              </a:xfrm>
              <a:prstGeom prst="bentConnector3">
                <a:avLst>
                  <a:gd name="adj1" fmla="val 50000"/>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4" name="矩形 13">
                <a:extLst>
                  <a:ext uri="{FF2B5EF4-FFF2-40B4-BE49-F238E27FC236}">
                    <a16:creationId xmlns:a16="http://schemas.microsoft.com/office/drawing/2014/main" id="{72A5D334-45FB-A74D-8E85-945450A934BA}"/>
                  </a:ext>
                </a:extLst>
              </p:cNvPr>
              <p:cNvSpPr/>
              <p:nvPr/>
            </p:nvSpPr>
            <p:spPr bwMode="auto">
              <a:xfrm>
                <a:off x="5540931" y="5196368"/>
                <a:ext cx="765714" cy="486802"/>
              </a:xfrm>
              <a:prstGeom prst="rect">
                <a:avLst/>
              </a:prstGeom>
              <a:solidFill>
                <a:srgbClr val="F899C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判断</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cxnSp>
            <p:nvCxnSpPr>
              <p:cNvPr id="15" name="直线箭头连接符 14">
                <a:extLst>
                  <a:ext uri="{FF2B5EF4-FFF2-40B4-BE49-F238E27FC236}">
                    <a16:creationId xmlns:a16="http://schemas.microsoft.com/office/drawing/2014/main" id="{B49A1C87-9C60-644B-B5D0-D41866CC0F79}"/>
                  </a:ext>
                </a:extLst>
              </p:cNvPr>
              <p:cNvCxnSpPr/>
              <p:nvPr/>
            </p:nvCxnSpPr>
            <p:spPr bwMode="auto">
              <a:xfrm>
                <a:off x="5998779" y="4789488"/>
                <a:ext cx="0" cy="414237"/>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6" name="肘形连接符 15">
                <a:extLst>
                  <a:ext uri="{FF2B5EF4-FFF2-40B4-BE49-F238E27FC236}">
                    <a16:creationId xmlns:a16="http://schemas.microsoft.com/office/drawing/2014/main" id="{EA1E83AE-8BD5-A24D-8D22-A18AACE126B3}"/>
                  </a:ext>
                </a:extLst>
              </p:cNvPr>
              <p:cNvCxnSpPr>
                <a:cxnSpLocks/>
              </p:cNvCxnSpPr>
              <p:nvPr/>
            </p:nvCxnSpPr>
            <p:spPr bwMode="auto">
              <a:xfrm rot="5400000" flipH="1" flipV="1">
                <a:off x="4833550" y="5087452"/>
                <a:ext cx="717516" cy="474153"/>
              </a:xfrm>
              <a:prstGeom prst="bentConnector3">
                <a:avLst>
                  <a:gd name="adj1" fmla="val -31860"/>
                </a:avLst>
              </a:prstGeom>
              <a:solidFill>
                <a:schemeClr val="accent1"/>
              </a:solidFill>
              <a:ln w="25400" cap="rnd"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7" name="肘形连接符 16">
                <a:extLst>
                  <a:ext uri="{FF2B5EF4-FFF2-40B4-BE49-F238E27FC236}">
                    <a16:creationId xmlns:a16="http://schemas.microsoft.com/office/drawing/2014/main" id="{31BDAAA4-DDFF-F744-98B8-8F4F724B02B9}"/>
                  </a:ext>
                </a:extLst>
              </p:cNvPr>
              <p:cNvCxnSpPr>
                <a:cxnSpLocks/>
              </p:cNvCxnSpPr>
              <p:nvPr/>
            </p:nvCxnSpPr>
            <p:spPr bwMode="auto">
              <a:xfrm>
                <a:off x="5450823" y="4953000"/>
                <a:ext cx="351728" cy="243368"/>
              </a:xfrm>
              <a:prstGeom prst="bentConnector3">
                <a:avLst>
                  <a:gd name="adj1" fmla="val 99648"/>
                </a:avLst>
              </a:prstGeom>
              <a:solidFill>
                <a:schemeClr val="accent1"/>
              </a:solidFill>
              <a:ln w="25400" cap="rnd"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椭圆 17">
                <a:extLst>
                  <a:ext uri="{FF2B5EF4-FFF2-40B4-BE49-F238E27FC236}">
                    <a16:creationId xmlns:a16="http://schemas.microsoft.com/office/drawing/2014/main" id="{3673FCAE-C172-6043-86CB-7E61FBDB4D06}"/>
                  </a:ext>
                </a:extLst>
              </p:cNvPr>
              <p:cNvSpPr/>
              <p:nvPr/>
            </p:nvSpPr>
            <p:spPr bwMode="auto">
              <a:xfrm>
                <a:off x="6716485" y="5175147"/>
                <a:ext cx="936551" cy="531732"/>
              </a:xfrm>
              <a:prstGeom prst="ellipse">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2075" tIns="46038" rIns="92075" bIns="46038" numCol="1" spcCol="0" rtlCol="0" fromWordArt="0" anchor="ctr" anchorCtr="0" forceAA="0" compatLnSpc="1">
                <a:prstTxWarp prst="textNoShape">
                  <a:avLst/>
                </a:prstTxWarp>
                <a:noAutofit/>
              </a:bodyPr>
              <a:lstStyle/>
              <a:p>
                <a:pPr lvl="0" algn="ctr"/>
                <a:r>
                  <a:rPr lang="zh-CN" altLang="en-US" dirty="0">
                    <a:solidFill>
                      <a:srgbClr val="0432FF"/>
                    </a:solidFill>
                    <a:ea typeface="SimHei" panose="02010609060101010101" pitchFamily="49" charset="-122"/>
                  </a:rPr>
                  <a:t>数据</a:t>
                </a:r>
              </a:p>
            </p:txBody>
          </p:sp>
          <p:cxnSp>
            <p:nvCxnSpPr>
              <p:cNvPr id="19" name="直线箭头连接符 18">
                <a:extLst>
                  <a:ext uri="{FF2B5EF4-FFF2-40B4-BE49-F238E27FC236}">
                    <a16:creationId xmlns:a16="http://schemas.microsoft.com/office/drawing/2014/main" id="{43D67333-3B7A-B944-A836-1F65C0453A3F}"/>
                  </a:ext>
                </a:extLst>
              </p:cNvPr>
              <p:cNvCxnSpPr>
                <a:cxnSpLocks/>
                <a:stCxn id="14" idx="3"/>
                <a:endCxn id="18" idx="2"/>
              </p:cNvCxnSpPr>
              <p:nvPr/>
            </p:nvCxnSpPr>
            <p:spPr bwMode="auto">
              <a:xfrm>
                <a:off x="6306645" y="5439769"/>
                <a:ext cx="409840" cy="1244"/>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0" name="直线箭头连接符 19">
                <a:extLst>
                  <a:ext uri="{FF2B5EF4-FFF2-40B4-BE49-F238E27FC236}">
                    <a16:creationId xmlns:a16="http://schemas.microsoft.com/office/drawing/2014/main" id="{AC28D7D9-43BD-044F-A62A-0081DA8146C9}"/>
                  </a:ext>
                </a:extLst>
              </p:cNvPr>
              <p:cNvCxnSpPr>
                <a:cxnSpLocks/>
                <a:stCxn id="34" idx="2"/>
                <a:endCxn id="18" idx="0"/>
              </p:cNvCxnSpPr>
              <p:nvPr/>
            </p:nvCxnSpPr>
            <p:spPr bwMode="auto">
              <a:xfrm flipH="1">
                <a:off x="7184761" y="4782131"/>
                <a:ext cx="1655" cy="393016"/>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1" name="文本框 20">
                <a:extLst>
                  <a:ext uri="{FF2B5EF4-FFF2-40B4-BE49-F238E27FC236}">
                    <a16:creationId xmlns:a16="http://schemas.microsoft.com/office/drawing/2014/main" id="{DF662BEB-BE6C-974B-B6BF-186FBB2859D8}"/>
                  </a:ext>
                </a:extLst>
              </p:cNvPr>
              <p:cNvSpPr txBox="1"/>
              <p:nvPr/>
            </p:nvSpPr>
            <p:spPr>
              <a:xfrm>
                <a:off x="6167249" y="5151438"/>
                <a:ext cx="694598" cy="328735"/>
              </a:xfrm>
              <a:prstGeom prst="rect">
                <a:avLst/>
              </a:prstGeom>
              <a:noFill/>
            </p:spPr>
            <p:txBody>
              <a:bodyPr wrap="square" rtlCol="0">
                <a:spAutoFit/>
              </a:bodyPr>
              <a:lstStyle/>
              <a:p>
                <a:pPr algn="ctr"/>
                <a:r>
                  <a:rPr kumimoji="1" lang="zh-CN" altLang="en-US" sz="1400" b="1" dirty="0">
                    <a:solidFill>
                      <a:srgbClr val="0432FF"/>
                    </a:solidFill>
                    <a:latin typeface="+mn-ea"/>
                    <a:ea typeface="+mn-ea"/>
                  </a:rPr>
                  <a:t>命中</a:t>
                </a:r>
              </a:p>
            </p:txBody>
          </p:sp>
          <p:grpSp>
            <p:nvGrpSpPr>
              <p:cNvPr id="22" name="组合 21">
                <a:extLst>
                  <a:ext uri="{FF2B5EF4-FFF2-40B4-BE49-F238E27FC236}">
                    <a16:creationId xmlns:a16="http://schemas.microsoft.com/office/drawing/2014/main" id="{B5EAE1C7-1EED-A24A-B3A0-E945177EDD61}"/>
                  </a:ext>
                </a:extLst>
              </p:cNvPr>
              <p:cNvGrpSpPr/>
              <p:nvPr/>
            </p:nvGrpSpPr>
            <p:grpSpPr>
              <a:xfrm>
                <a:off x="7936160" y="2465948"/>
                <a:ext cx="1220760" cy="3098488"/>
                <a:chOff x="8694101" y="3123119"/>
                <a:chExt cx="804767" cy="3098488"/>
              </a:xfrm>
            </p:grpSpPr>
            <p:grpSp>
              <p:nvGrpSpPr>
                <p:cNvPr id="28" name="组合 27">
                  <a:extLst>
                    <a:ext uri="{FF2B5EF4-FFF2-40B4-BE49-F238E27FC236}">
                      <a16:creationId xmlns:a16="http://schemas.microsoft.com/office/drawing/2014/main" id="{001E9A67-B6ED-6A4E-BC08-6CD0BAFE3634}"/>
                    </a:ext>
                  </a:extLst>
                </p:cNvPr>
                <p:cNvGrpSpPr/>
                <p:nvPr/>
              </p:nvGrpSpPr>
              <p:grpSpPr>
                <a:xfrm>
                  <a:off x="8694101" y="3123119"/>
                  <a:ext cx="804767" cy="468504"/>
                  <a:chOff x="8751400" y="2124001"/>
                  <a:chExt cx="831850" cy="468504"/>
                </a:xfrm>
              </p:grpSpPr>
              <p:sp>
                <p:nvSpPr>
                  <p:cNvPr id="32" name="矩形 31">
                    <a:extLst>
                      <a:ext uri="{FF2B5EF4-FFF2-40B4-BE49-F238E27FC236}">
                        <a16:creationId xmlns:a16="http://schemas.microsoft.com/office/drawing/2014/main" id="{0EC261BB-6D17-C649-AB14-0A28A05232CE}"/>
                      </a:ext>
                    </a:extLst>
                  </p:cNvPr>
                  <p:cNvSpPr/>
                  <p:nvPr/>
                </p:nvSpPr>
                <p:spPr bwMode="auto">
                  <a:xfrm>
                    <a:off x="8751400" y="2358493"/>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1</a:t>
                    </a:r>
                    <a:endParaRPr lang="zh-CN" altLang="en-US" sz="1400" dirty="0">
                      <a:ea typeface="SimHei" panose="02010609060101010101" pitchFamily="49" charset="-122"/>
                    </a:endParaRPr>
                  </a:p>
                </p:txBody>
              </p:sp>
              <p:sp>
                <p:nvSpPr>
                  <p:cNvPr id="33" name="矩形 32">
                    <a:extLst>
                      <a:ext uri="{FF2B5EF4-FFF2-40B4-BE49-F238E27FC236}">
                        <a16:creationId xmlns:a16="http://schemas.microsoft.com/office/drawing/2014/main" id="{90176E40-ED84-6F4E-BC9A-3546C48F609E}"/>
                      </a:ext>
                    </a:extLst>
                  </p:cNvPr>
                  <p:cNvSpPr/>
                  <p:nvPr/>
                </p:nvSpPr>
                <p:spPr bwMode="auto">
                  <a:xfrm>
                    <a:off x="8751400" y="2124001"/>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块</a:t>
                    </a:r>
                    <a:r>
                      <a:rPr kumimoji="0" lang="en-US" altLang="zh-CN" sz="1400" u="none" strike="noStrike" cap="none" normalizeH="0" baseline="0" dirty="0">
                        <a:ln>
                          <a:noFill/>
                        </a:ln>
                        <a:solidFill>
                          <a:schemeClr val="tx1"/>
                        </a:solidFill>
                        <a:effectLst/>
                        <a:latin typeface="Tahoma" pitchFamily="34" charset="0"/>
                        <a:ea typeface="SimHei" panose="02010609060101010101" pitchFamily="49" charset="-122"/>
                      </a:rPr>
                      <a:t>0</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29" name="组合 28">
                  <a:extLst>
                    <a:ext uri="{FF2B5EF4-FFF2-40B4-BE49-F238E27FC236}">
                      <a16:creationId xmlns:a16="http://schemas.microsoft.com/office/drawing/2014/main" id="{4F2F0CAE-0C18-4D47-A8F3-9C2821999D50}"/>
                    </a:ext>
                  </a:extLst>
                </p:cNvPr>
                <p:cNvGrpSpPr/>
                <p:nvPr/>
              </p:nvGrpSpPr>
              <p:grpSpPr>
                <a:xfrm>
                  <a:off x="8694101" y="3609919"/>
                  <a:ext cx="804767" cy="2611688"/>
                  <a:chOff x="8751400" y="538413"/>
                  <a:chExt cx="831850" cy="2611688"/>
                </a:xfrm>
              </p:grpSpPr>
              <p:sp>
                <p:nvSpPr>
                  <p:cNvPr id="30" name="矩形 29">
                    <a:extLst>
                      <a:ext uri="{FF2B5EF4-FFF2-40B4-BE49-F238E27FC236}">
                        <a16:creationId xmlns:a16="http://schemas.microsoft.com/office/drawing/2014/main" id="{A5C81048-ED11-BF49-A19C-9DB40C93F938}"/>
                      </a:ext>
                    </a:extLst>
                  </p:cNvPr>
                  <p:cNvSpPr/>
                  <p:nvPr/>
                </p:nvSpPr>
                <p:spPr bwMode="auto">
                  <a:xfrm>
                    <a:off x="8751400" y="2916089"/>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L-1</a:t>
                    </a:r>
                    <a:endParaRPr lang="zh-CN" altLang="en-US" sz="1400" dirty="0">
                      <a:ea typeface="SimHei" panose="02010609060101010101" pitchFamily="49" charset="-122"/>
                    </a:endParaRPr>
                  </a:p>
                </p:txBody>
              </p:sp>
              <p:sp>
                <p:nvSpPr>
                  <p:cNvPr id="31" name="矩形 30">
                    <a:extLst>
                      <a:ext uri="{FF2B5EF4-FFF2-40B4-BE49-F238E27FC236}">
                        <a16:creationId xmlns:a16="http://schemas.microsoft.com/office/drawing/2014/main" id="{3702078E-9AC0-1A46-9861-285A31232581}"/>
                      </a:ext>
                    </a:extLst>
                  </p:cNvPr>
                  <p:cNvSpPr/>
                  <p:nvPr/>
                </p:nvSpPr>
                <p:spPr bwMode="auto">
                  <a:xfrm>
                    <a:off x="8751400" y="538413"/>
                    <a:ext cx="831850" cy="2385763"/>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grpSp>
          </p:grpSp>
          <p:sp>
            <p:nvSpPr>
              <p:cNvPr id="23" name="椭圆 22">
                <a:extLst>
                  <a:ext uri="{FF2B5EF4-FFF2-40B4-BE49-F238E27FC236}">
                    <a16:creationId xmlns:a16="http://schemas.microsoft.com/office/drawing/2014/main" id="{4372409F-22F2-CD4A-950A-0EE59582BDCD}"/>
                  </a:ext>
                </a:extLst>
              </p:cNvPr>
              <p:cNvSpPr/>
              <p:nvPr/>
            </p:nvSpPr>
            <p:spPr bwMode="auto">
              <a:xfrm>
                <a:off x="7984766" y="5840741"/>
                <a:ext cx="936551" cy="531732"/>
              </a:xfrm>
              <a:prstGeom prst="ellipse">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2075" tIns="46038" rIns="92075" bIns="46038" numCol="1" spcCol="0" rtlCol="0" fromWordArt="0" anchor="ctr" anchorCtr="0" forceAA="0" compatLnSpc="1">
                <a:prstTxWarp prst="textNoShape">
                  <a:avLst/>
                </a:prstTxWarp>
                <a:noAutofit/>
              </a:bodyPr>
              <a:lstStyle/>
              <a:p>
                <a:pPr lvl="0" algn="ctr"/>
                <a:r>
                  <a:rPr lang="zh-CN" altLang="en-US" dirty="0">
                    <a:solidFill>
                      <a:srgbClr val="0432FF"/>
                    </a:solidFill>
                    <a:ea typeface="SimHei" panose="02010609060101010101" pitchFamily="49" charset="-122"/>
                  </a:rPr>
                  <a:t>数据</a:t>
                </a:r>
              </a:p>
            </p:txBody>
          </p:sp>
          <p:cxnSp>
            <p:nvCxnSpPr>
              <p:cNvPr id="24" name="直线箭头连接符 23">
                <a:extLst>
                  <a:ext uri="{FF2B5EF4-FFF2-40B4-BE49-F238E27FC236}">
                    <a16:creationId xmlns:a16="http://schemas.microsoft.com/office/drawing/2014/main" id="{9A3FBF77-0CC0-5440-A301-344866F2A2D7}"/>
                  </a:ext>
                </a:extLst>
              </p:cNvPr>
              <p:cNvCxnSpPr>
                <a:cxnSpLocks/>
              </p:cNvCxnSpPr>
              <p:nvPr/>
            </p:nvCxnSpPr>
            <p:spPr bwMode="auto">
              <a:xfrm flipH="1">
                <a:off x="8465849" y="5564436"/>
                <a:ext cx="3852" cy="276305"/>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5" name="肘形连接符 24">
                <a:extLst>
                  <a:ext uri="{FF2B5EF4-FFF2-40B4-BE49-F238E27FC236}">
                    <a16:creationId xmlns:a16="http://schemas.microsoft.com/office/drawing/2014/main" id="{312767B4-FC8F-5B42-8F82-19654C378D1E}"/>
                  </a:ext>
                </a:extLst>
              </p:cNvPr>
              <p:cNvCxnSpPr>
                <a:cxnSpLocks/>
                <a:endCxn id="23" idx="2"/>
              </p:cNvCxnSpPr>
              <p:nvPr/>
            </p:nvCxnSpPr>
            <p:spPr bwMode="auto">
              <a:xfrm>
                <a:off x="5923788" y="5683170"/>
                <a:ext cx="2060978" cy="423437"/>
              </a:xfrm>
              <a:prstGeom prst="bentConnector3">
                <a:avLst>
                  <a:gd name="adj1" fmla="val 29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6" name="文本框 25">
                <a:extLst>
                  <a:ext uri="{FF2B5EF4-FFF2-40B4-BE49-F238E27FC236}">
                    <a16:creationId xmlns:a16="http://schemas.microsoft.com/office/drawing/2014/main" id="{66F797D6-748C-B643-964E-2AE729C166DB}"/>
                  </a:ext>
                </a:extLst>
              </p:cNvPr>
              <p:cNvSpPr txBox="1"/>
              <p:nvPr/>
            </p:nvSpPr>
            <p:spPr>
              <a:xfrm>
                <a:off x="6131519" y="5812544"/>
                <a:ext cx="936551" cy="328735"/>
              </a:xfrm>
              <a:prstGeom prst="rect">
                <a:avLst/>
              </a:prstGeom>
              <a:noFill/>
            </p:spPr>
            <p:txBody>
              <a:bodyPr wrap="square" rtlCol="0">
                <a:spAutoFit/>
              </a:bodyPr>
              <a:lstStyle/>
              <a:p>
                <a:pPr algn="ctr"/>
                <a:r>
                  <a:rPr kumimoji="1" lang="zh-CN" altLang="en-US" sz="1400" b="1" dirty="0">
                    <a:solidFill>
                      <a:srgbClr val="0432FF"/>
                    </a:solidFill>
                    <a:latin typeface="+mn-ea"/>
                    <a:ea typeface="+mn-ea"/>
                  </a:rPr>
                  <a:t>未命中</a:t>
                </a:r>
              </a:p>
            </p:txBody>
          </p:sp>
          <p:sp>
            <p:nvSpPr>
              <p:cNvPr id="27" name="文本框 26">
                <a:extLst>
                  <a:ext uri="{FF2B5EF4-FFF2-40B4-BE49-F238E27FC236}">
                    <a16:creationId xmlns:a16="http://schemas.microsoft.com/office/drawing/2014/main" id="{5DE7D2AC-342E-C643-9C14-33A1AED4C30B}"/>
                  </a:ext>
                </a:extLst>
              </p:cNvPr>
              <p:cNvSpPr txBox="1"/>
              <p:nvPr/>
            </p:nvSpPr>
            <p:spPr>
              <a:xfrm>
                <a:off x="8329203" y="5532964"/>
                <a:ext cx="1072333" cy="328735"/>
              </a:xfrm>
              <a:prstGeom prst="rect">
                <a:avLst/>
              </a:prstGeom>
              <a:noFill/>
            </p:spPr>
            <p:txBody>
              <a:bodyPr wrap="square" rtlCol="0">
                <a:spAutoFit/>
              </a:bodyPr>
              <a:lstStyle/>
              <a:p>
                <a:pPr algn="ctr"/>
                <a:r>
                  <a:rPr kumimoji="1" lang="zh-CN" altLang="en-US" sz="1400" b="1" dirty="0">
                    <a:latin typeface="+mn-ea"/>
                    <a:ea typeface="+mn-ea"/>
                  </a:rPr>
                  <a:t>主存地址</a:t>
                </a:r>
              </a:p>
            </p:txBody>
          </p:sp>
        </p:grpSp>
        <p:cxnSp>
          <p:nvCxnSpPr>
            <p:cNvPr id="52" name="直线箭头连接符 12">
              <a:extLst>
                <a:ext uri="{FF2B5EF4-FFF2-40B4-BE49-F238E27FC236}">
                  <a16:creationId xmlns:a16="http://schemas.microsoft.com/office/drawing/2014/main" id="{19C55BF1-4187-0FDC-122C-212DF7E785FD}"/>
                </a:ext>
              </a:extLst>
            </p:cNvPr>
            <p:cNvCxnSpPr>
              <a:cxnSpLocks/>
            </p:cNvCxnSpPr>
            <p:nvPr/>
          </p:nvCxnSpPr>
          <p:spPr bwMode="auto">
            <a:xfrm>
              <a:off x="5396051" y="3562670"/>
              <a:ext cx="0" cy="387828"/>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 name="直线箭头连接符 12">
              <a:extLst>
                <a:ext uri="{FF2B5EF4-FFF2-40B4-BE49-F238E27FC236}">
                  <a16:creationId xmlns:a16="http://schemas.microsoft.com/office/drawing/2014/main" id="{DC36AC9A-9069-0D2E-3782-E573204F439F}"/>
                </a:ext>
              </a:extLst>
            </p:cNvPr>
            <p:cNvCxnSpPr>
              <a:cxnSpLocks/>
            </p:cNvCxnSpPr>
            <p:nvPr/>
          </p:nvCxnSpPr>
          <p:spPr bwMode="auto">
            <a:xfrm>
              <a:off x="5125262" y="2733835"/>
              <a:ext cx="0" cy="1216982"/>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4" name="直线箭头连接符 12">
              <a:extLst>
                <a:ext uri="{FF2B5EF4-FFF2-40B4-BE49-F238E27FC236}">
                  <a16:creationId xmlns:a16="http://schemas.microsoft.com/office/drawing/2014/main" id="{C4822CD1-7C50-E85C-E718-37FDBC64F835}"/>
                </a:ext>
              </a:extLst>
            </p:cNvPr>
            <p:cNvCxnSpPr>
              <a:cxnSpLocks/>
            </p:cNvCxnSpPr>
            <p:nvPr/>
          </p:nvCxnSpPr>
          <p:spPr bwMode="auto">
            <a:xfrm>
              <a:off x="5211311" y="2989049"/>
              <a:ext cx="0" cy="961768"/>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5" name="直线箭头连接符 12">
              <a:extLst>
                <a:ext uri="{FF2B5EF4-FFF2-40B4-BE49-F238E27FC236}">
                  <a16:creationId xmlns:a16="http://schemas.microsoft.com/office/drawing/2014/main" id="{0C6C06CF-DD75-70A8-5057-589677C0F323}"/>
                </a:ext>
              </a:extLst>
            </p:cNvPr>
            <p:cNvCxnSpPr>
              <a:cxnSpLocks/>
            </p:cNvCxnSpPr>
            <p:nvPr/>
          </p:nvCxnSpPr>
          <p:spPr bwMode="auto">
            <a:xfrm>
              <a:off x="5306843" y="3217735"/>
              <a:ext cx="0" cy="738002"/>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354877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40</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146050" y="1551432"/>
            <a:ext cx="4381501" cy="3700792"/>
          </a:xfrm>
        </p:spPr>
        <p:txBody>
          <a:bodyPr/>
          <a:lstStyle/>
          <a:p>
            <a:pPr marL="514350" indent="-457200" algn="just">
              <a:spcBef>
                <a:spcPts val="1000"/>
              </a:spcBef>
            </a:pPr>
            <a:r>
              <a:rPr kumimoji="1" lang="zh-CN" altLang="en-US" sz="2800" dirty="0"/>
              <a:t>直接映像</a:t>
            </a:r>
            <a:endParaRPr kumimoji="1" lang="en-US" altLang="zh-CN" sz="2800" dirty="0"/>
          </a:p>
          <a:p>
            <a:pPr marL="914400" lvl="1" indent="-457200" algn="just">
              <a:spcBef>
                <a:spcPts val="1000"/>
              </a:spcBef>
            </a:pPr>
            <a:r>
              <a:rPr lang="zh-CN" altLang="en-US" sz="2000" dirty="0"/>
              <a:t>每个主存块只能装入到</a:t>
            </a:r>
            <a:r>
              <a:rPr lang="en-US" altLang="zh-CN" sz="2000" dirty="0"/>
              <a:t>Cache</a:t>
            </a:r>
            <a:r>
              <a:rPr lang="zh-CN" altLang="en-US" sz="2000" dirty="0"/>
              <a:t>中</a:t>
            </a:r>
            <a:r>
              <a:rPr lang="zh-CN" altLang="en-US" sz="2000" dirty="0">
                <a:solidFill>
                  <a:srgbClr val="0432FF"/>
                </a:solidFill>
              </a:rPr>
              <a:t>唯一</a:t>
            </a:r>
            <a:r>
              <a:rPr lang="zh-CN" altLang="en-US" sz="2000" dirty="0"/>
              <a:t>特定行中</a:t>
            </a:r>
          </a:p>
          <a:p>
            <a:pPr marL="914400" lvl="1" indent="-457200" algn="just">
              <a:spcBef>
                <a:spcPts val="1000"/>
              </a:spcBef>
            </a:pPr>
            <a:r>
              <a:rPr lang="zh-CN" altLang="en-US" sz="2000" dirty="0"/>
              <a:t>主存中标号为</a:t>
            </a:r>
            <a:r>
              <a:rPr lang="en-US" altLang="zh-CN" sz="2000" dirty="0" err="1"/>
              <a:t>i</a:t>
            </a:r>
            <a:r>
              <a:rPr lang="zh-CN" altLang="en-US" sz="2000" dirty="0"/>
              <a:t>的块只能装入到</a:t>
            </a:r>
            <a:r>
              <a:rPr lang="en-US" altLang="zh-CN" sz="2000" dirty="0"/>
              <a:t>Cache</a:t>
            </a:r>
            <a:r>
              <a:rPr lang="zh-CN" altLang="en-US" sz="2000" dirty="0"/>
              <a:t>中的标号为</a:t>
            </a:r>
            <a:r>
              <a:rPr lang="en-US" altLang="zh-CN" sz="2000" dirty="0"/>
              <a:t>j</a:t>
            </a:r>
            <a:r>
              <a:rPr lang="zh-CN" altLang="en-US" sz="2000" dirty="0"/>
              <a:t>的行：</a:t>
            </a:r>
            <a:endParaRPr lang="en-US" altLang="zh-CN" sz="2000" dirty="0"/>
          </a:p>
          <a:p>
            <a:pPr marL="914400" lvl="1" indent="-457200" algn="just">
              <a:spcBef>
                <a:spcPts val="1000"/>
              </a:spcBef>
            </a:pPr>
            <a:endParaRPr lang="en-US" altLang="zh-CN" sz="2000" dirty="0"/>
          </a:p>
          <a:p>
            <a:pPr marL="914400" lvl="1" indent="-457200" algn="just">
              <a:spcBef>
                <a:spcPts val="1000"/>
              </a:spcBef>
            </a:pPr>
            <a:endParaRPr lang="en-US" altLang="zh-CN" sz="2000" dirty="0"/>
          </a:p>
          <a:p>
            <a:pPr marL="914400" lvl="1" indent="-457200" algn="just">
              <a:spcBef>
                <a:spcPts val="1000"/>
              </a:spcBef>
            </a:pPr>
            <a:endParaRPr lang="en-US" altLang="zh-CN" sz="2000" dirty="0"/>
          </a:p>
          <a:p>
            <a:pPr marL="914400" lvl="1" indent="-457200" algn="just">
              <a:spcBef>
                <a:spcPts val="1000"/>
              </a:spcBef>
            </a:pPr>
            <a:r>
              <a:rPr lang="en-US" altLang="zh-CN" sz="2000" dirty="0"/>
              <a:t>Cache</a:t>
            </a:r>
            <a:r>
              <a:rPr lang="zh-CN" altLang="en-US" sz="2000" dirty="0"/>
              <a:t>中第</a:t>
            </a:r>
            <a:r>
              <a:rPr lang="en-US" altLang="zh-CN" sz="2000" dirty="0"/>
              <a:t>j</a:t>
            </a:r>
            <a:r>
              <a:rPr lang="zh-CN" altLang="en-US" sz="2000" dirty="0"/>
              <a:t>行可能来源于主存中第几块？</a:t>
            </a:r>
          </a:p>
        </p:txBody>
      </p:sp>
      <p:grpSp>
        <p:nvGrpSpPr>
          <p:cNvPr id="5" name="组合 4">
            <a:extLst>
              <a:ext uri="{FF2B5EF4-FFF2-40B4-BE49-F238E27FC236}">
                <a16:creationId xmlns:a16="http://schemas.microsoft.com/office/drawing/2014/main" id="{3984DC54-79BA-2844-9377-318470A6030E}"/>
              </a:ext>
            </a:extLst>
          </p:cNvPr>
          <p:cNvGrpSpPr/>
          <p:nvPr/>
        </p:nvGrpSpPr>
        <p:grpSpPr>
          <a:xfrm>
            <a:off x="4906963" y="1250182"/>
            <a:ext cx="4090987" cy="4676775"/>
            <a:chOff x="5637213" y="1819275"/>
            <a:chExt cx="4090987" cy="4676775"/>
          </a:xfrm>
        </p:grpSpPr>
        <p:sp>
          <p:nvSpPr>
            <p:cNvPr id="6" name="Rectangle 4">
              <a:extLst>
                <a:ext uri="{FF2B5EF4-FFF2-40B4-BE49-F238E27FC236}">
                  <a16:creationId xmlns:a16="http://schemas.microsoft.com/office/drawing/2014/main" id="{677D1A66-8D5F-5341-9D38-511AF4CE89EB}"/>
                </a:ext>
              </a:extLst>
            </p:cNvPr>
            <p:cNvSpPr>
              <a:spLocks noChangeArrowheads="1"/>
            </p:cNvSpPr>
            <p:nvPr/>
          </p:nvSpPr>
          <p:spPr bwMode="auto">
            <a:xfrm>
              <a:off x="8559800" y="1819275"/>
              <a:ext cx="464871"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主存</a:t>
              </a:r>
              <a:endParaRPr lang="zh-CN" altLang="en-US" sz="1400" b="1">
                <a:latin typeface="+mn-ea"/>
                <a:ea typeface="+mn-ea"/>
              </a:endParaRPr>
            </a:p>
          </p:txBody>
        </p:sp>
        <p:sp>
          <p:nvSpPr>
            <p:cNvPr id="7" name="Rectangle 5">
              <a:extLst>
                <a:ext uri="{FF2B5EF4-FFF2-40B4-BE49-F238E27FC236}">
                  <a16:creationId xmlns:a16="http://schemas.microsoft.com/office/drawing/2014/main" id="{6C5CB188-1B4E-3C43-B88F-4729A36CDDCA}"/>
                </a:ext>
              </a:extLst>
            </p:cNvPr>
            <p:cNvSpPr>
              <a:spLocks noChangeArrowheads="1"/>
            </p:cNvSpPr>
            <p:nvPr/>
          </p:nvSpPr>
          <p:spPr bwMode="auto">
            <a:xfrm>
              <a:off x="5637213" y="2786063"/>
              <a:ext cx="585097"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Cache</a:t>
              </a:r>
              <a:endParaRPr lang="en-US" altLang="zh-CN" sz="1400" b="1">
                <a:latin typeface="+mn-ea"/>
                <a:ea typeface="+mn-ea"/>
              </a:endParaRPr>
            </a:p>
          </p:txBody>
        </p:sp>
        <p:sp>
          <p:nvSpPr>
            <p:cNvPr id="8" name="Rectangle 6">
              <a:extLst>
                <a:ext uri="{FF2B5EF4-FFF2-40B4-BE49-F238E27FC236}">
                  <a16:creationId xmlns:a16="http://schemas.microsoft.com/office/drawing/2014/main" id="{F2A53596-B80B-C143-86AC-D8ED9923C115}"/>
                </a:ext>
              </a:extLst>
            </p:cNvPr>
            <p:cNvSpPr>
              <a:spLocks noChangeArrowheads="1"/>
            </p:cNvSpPr>
            <p:nvPr/>
          </p:nvSpPr>
          <p:spPr bwMode="auto">
            <a:xfrm>
              <a:off x="7975600" y="2193925"/>
              <a:ext cx="1752600" cy="434975"/>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9" name="Rectangle 7">
              <a:extLst>
                <a:ext uri="{FF2B5EF4-FFF2-40B4-BE49-F238E27FC236}">
                  <a16:creationId xmlns:a16="http://schemas.microsoft.com/office/drawing/2014/main" id="{872458F9-B7A2-EA48-80F1-74EF82E60FE8}"/>
                </a:ext>
              </a:extLst>
            </p:cNvPr>
            <p:cNvSpPr>
              <a:spLocks noChangeArrowheads="1"/>
            </p:cNvSpPr>
            <p:nvPr/>
          </p:nvSpPr>
          <p:spPr bwMode="auto">
            <a:xfrm>
              <a:off x="8493125" y="2239963"/>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10" name="Rectangle 8">
              <a:extLst>
                <a:ext uri="{FF2B5EF4-FFF2-40B4-BE49-F238E27FC236}">
                  <a16:creationId xmlns:a16="http://schemas.microsoft.com/office/drawing/2014/main" id="{F25BEC45-2B1D-EF40-A8DF-60A92744A744}"/>
                </a:ext>
              </a:extLst>
            </p:cNvPr>
            <p:cNvSpPr>
              <a:spLocks noChangeArrowheads="1"/>
            </p:cNvSpPr>
            <p:nvPr/>
          </p:nvSpPr>
          <p:spPr bwMode="auto">
            <a:xfrm>
              <a:off x="8777288" y="2225675"/>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0</a:t>
              </a:r>
              <a:endParaRPr lang="en-US" altLang="zh-CN" sz="1400" b="1">
                <a:latin typeface="+mn-ea"/>
                <a:ea typeface="+mn-ea"/>
              </a:endParaRPr>
            </a:p>
          </p:txBody>
        </p:sp>
        <p:sp>
          <p:nvSpPr>
            <p:cNvPr id="11" name="Rectangle 9">
              <a:extLst>
                <a:ext uri="{FF2B5EF4-FFF2-40B4-BE49-F238E27FC236}">
                  <a16:creationId xmlns:a16="http://schemas.microsoft.com/office/drawing/2014/main" id="{FA929B6A-824A-B448-A9E4-D50DE3E4CD60}"/>
                </a:ext>
              </a:extLst>
            </p:cNvPr>
            <p:cNvSpPr>
              <a:spLocks noChangeArrowheads="1"/>
            </p:cNvSpPr>
            <p:nvPr/>
          </p:nvSpPr>
          <p:spPr bwMode="auto">
            <a:xfrm>
              <a:off x="8943975" y="2239963"/>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块</a:t>
              </a:r>
              <a:endParaRPr lang="zh-CN" altLang="en-US" sz="1400" b="1" dirty="0">
                <a:latin typeface="+mn-ea"/>
                <a:ea typeface="+mn-ea"/>
              </a:endParaRPr>
            </a:p>
          </p:txBody>
        </p:sp>
        <p:sp>
          <p:nvSpPr>
            <p:cNvPr id="12" name="Rectangle 10">
              <a:extLst>
                <a:ext uri="{FF2B5EF4-FFF2-40B4-BE49-F238E27FC236}">
                  <a16:creationId xmlns:a16="http://schemas.microsoft.com/office/drawing/2014/main" id="{57193120-72CF-944C-939F-01FAC10A9549}"/>
                </a:ext>
              </a:extLst>
            </p:cNvPr>
            <p:cNvSpPr>
              <a:spLocks noChangeArrowheads="1"/>
            </p:cNvSpPr>
            <p:nvPr/>
          </p:nvSpPr>
          <p:spPr bwMode="auto">
            <a:xfrm>
              <a:off x="7975600" y="2614613"/>
              <a:ext cx="1752600" cy="450850"/>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13" name="Rectangle 11">
              <a:extLst>
                <a:ext uri="{FF2B5EF4-FFF2-40B4-BE49-F238E27FC236}">
                  <a16:creationId xmlns:a16="http://schemas.microsoft.com/office/drawing/2014/main" id="{B7CF4C17-C167-8C48-BB2B-9CE79CC977B2}"/>
                </a:ext>
              </a:extLst>
            </p:cNvPr>
            <p:cNvSpPr>
              <a:spLocks noChangeArrowheads="1"/>
            </p:cNvSpPr>
            <p:nvPr/>
          </p:nvSpPr>
          <p:spPr bwMode="auto">
            <a:xfrm>
              <a:off x="8493125" y="267652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第</a:t>
              </a:r>
              <a:endParaRPr lang="zh-CN" altLang="en-US" sz="1400" b="1" dirty="0">
                <a:latin typeface="+mn-ea"/>
                <a:ea typeface="+mn-ea"/>
              </a:endParaRPr>
            </a:p>
          </p:txBody>
        </p:sp>
        <p:sp>
          <p:nvSpPr>
            <p:cNvPr id="14" name="Rectangle 12">
              <a:extLst>
                <a:ext uri="{FF2B5EF4-FFF2-40B4-BE49-F238E27FC236}">
                  <a16:creationId xmlns:a16="http://schemas.microsoft.com/office/drawing/2014/main" id="{B981FA5B-04DA-B24A-8ABD-4EDE791E9A52}"/>
                </a:ext>
              </a:extLst>
            </p:cNvPr>
            <p:cNvSpPr>
              <a:spLocks noChangeArrowheads="1"/>
            </p:cNvSpPr>
            <p:nvPr/>
          </p:nvSpPr>
          <p:spPr bwMode="auto">
            <a:xfrm>
              <a:off x="8777288" y="2660650"/>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15" name="Rectangle 13">
              <a:extLst>
                <a:ext uri="{FF2B5EF4-FFF2-40B4-BE49-F238E27FC236}">
                  <a16:creationId xmlns:a16="http://schemas.microsoft.com/office/drawing/2014/main" id="{0B30328A-D60A-0642-841C-1A5E6CEDCCE4}"/>
                </a:ext>
              </a:extLst>
            </p:cNvPr>
            <p:cNvSpPr>
              <a:spLocks noChangeArrowheads="1"/>
            </p:cNvSpPr>
            <p:nvPr/>
          </p:nvSpPr>
          <p:spPr bwMode="auto">
            <a:xfrm>
              <a:off x="8943975" y="267652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16" name="Rectangle 14">
              <a:extLst>
                <a:ext uri="{FF2B5EF4-FFF2-40B4-BE49-F238E27FC236}">
                  <a16:creationId xmlns:a16="http://schemas.microsoft.com/office/drawing/2014/main" id="{066DB05E-41B3-3F47-ADAC-9868AA3E8B5C}"/>
                </a:ext>
              </a:extLst>
            </p:cNvPr>
            <p:cNvSpPr>
              <a:spLocks noChangeArrowheads="1"/>
            </p:cNvSpPr>
            <p:nvPr/>
          </p:nvSpPr>
          <p:spPr bwMode="auto">
            <a:xfrm>
              <a:off x="5747660" y="3097213"/>
              <a:ext cx="907140" cy="388937"/>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17" name="Rectangle 15">
              <a:extLst>
                <a:ext uri="{FF2B5EF4-FFF2-40B4-BE49-F238E27FC236}">
                  <a16:creationId xmlns:a16="http://schemas.microsoft.com/office/drawing/2014/main" id="{7D12E0C1-3B3D-554A-A4F7-808679CF9ADE}"/>
                </a:ext>
              </a:extLst>
            </p:cNvPr>
            <p:cNvSpPr>
              <a:spLocks noChangeArrowheads="1"/>
            </p:cNvSpPr>
            <p:nvPr/>
          </p:nvSpPr>
          <p:spPr bwMode="auto">
            <a:xfrm>
              <a:off x="5815695" y="315912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第</a:t>
              </a:r>
              <a:endParaRPr lang="zh-CN" altLang="en-US" sz="1400" b="1" dirty="0">
                <a:latin typeface="+mn-ea"/>
                <a:ea typeface="+mn-ea"/>
              </a:endParaRPr>
            </a:p>
          </p:txBody>
        </p:sp>
        <p:sp>
          <p:nvSpPr>
            <p:cNvPr id="18" name="Rectangle 16">
              <a:extLst>
                <a:ext uri="{FF2B5EF4-FFF2-40B4-BE49-F238E27FC236}">
                  <a16:creationId xmlns:a16="http://schemas.microsoft.com/office/drawing/2014/main" id="{BAC2CF9F-5B9A-204C-BED4-90409B7AC565}"/>
                </a:ext>
              </a:extLst>
            </p:cNvPr>
            <p:cNvSpPr>
              <a:spLocks noChangeArrowheads="1"/>
            </p:cNvSpPr>
            <p:nvPr/>
          </p:nvSpPr>
          <p:spPr bwMode="auto">
            <a:xfrm>
              <a:off x="6099858" y="3144838"/>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n-ea"/>
                  <a:ea typeface="+mn-ea"/>
                </a:rPr>
                <a:t>0</a:t>
              </a:r>
              <a:endParaRPr lang="en-US" altLang="zh-CN" sz="1400" b="1" dirty="0">
                <a:latin typeface="+mn-ea"/>
                <a:ea typeface="+mn-ea"/>
              </a:endParaRPr>
            </a:p>
          </p:txBody>
        </p:sp>
        <p:sp>
          <p:nvSpPr>
            <p:cNvPr id="19" name="Rectangle 17">
              <a:extLst>
                <a:ext uri="{FF2B5EF4-FFF2-40B4-BE49-F238E27FC236}">
                  <a16:creationId xmlns:a16="http://schemas.microsoft.com/office/drawing/2014/main" id="{6CBB4206-8835-9F44-92BE-B757130F0350}"/>
                </a:ext>
              </a:extLst>
            </p:cNvPr>
            <p:cNvSpPr>
              <a:spLocks noChangeArrowheads="1"/>
            </p:cNvSpPr>
            <p:nvPr/>
          </p:nvSpPr>
          <p:spPr bwMode="auto">
            <a:xfrm>
              <a:off x="6268133" y="315912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行</a:t>
              </a:r>
              <a:endParaRPr lang="zh-CN" altLang="en-US" sz="1400" b="1" dirty="0">
                <a:latin typeface="+mn-ea"/>
                <a:ea typeface="+mn-ea"/>
              </a:endParaRPr>
            </a:p>
          </p:txBody>
        </p:sp>
        <p:sp>
          <p:nvSpPr>
            <p:cNvPr id="20" name="Rectangle 18">
              <a:extLst>
                <a:ext uri="{FF2B5EF4-FFF2-40B4-BE49-F238E27FC236}">
                  <a16:creationId xmlns:a16="http://schemas.microsoft.com/office/drawing/2014/main" id="{01892CE8-DB36-FE42-A429-C00B0BB4586E}"/>
                </a:ext>
              </a:extLst>
            </p:cNvPr>
            <p:cNvSpPr>
              <a:spLocks noChangeArrowheads="1"/>
            </p:cNvSpPr>
            <p:nvPr/>
          </p:nvSpPr>
          <p:spPr bwMode="auto">
            <a:xfrm>
              <a:off x="7975600" y="3065463"/>
              <a:ext cx="1752600" cy="436562"/>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latin typeface="+mn-ea"/>
                <a:ea typeface="+mn-ea"/>
              </a:endParaRPr>
            </a:p>
          </p:txBody>
        </p:sp>
        <p:sp>
          <p:nvSpPr>
            <p:cNvPr id="21" name="Rectangle 19">
              <a:extLst>
                <a:ext uri="{FF2B5EF4-FFF2-40B4-BE49-F238E27FC236}">
                  <a16:creationId xmlns:a16="http://schemas.microsoft.com/office/drawing/2014/main" id="{9F7EAEF9-A010-DA41-BF74-BC129EF17E47}"/>
                </a:ext>
              </a:extLst>
            </p:cNvPr>
            <p:cNvSpPr>
              <a:spLocks noChangeArrowheads="1"/>
            </p:cNvSpPr>
            <p:nvPr/>
          </p:nvSpPr>
          <p:spPr bwMode="auto">
            <a:xfrm>
              <a:off x="8726488" y="3113088"/>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22" name="Rectangle 20">
              <a:extLst>
                <a:ext uri="{FF2B5EF4-FFF2-40B4-BE49-F238E27FC236}">
                  <a16:creationId xmlns:a16="http://schemas.microsoft.com/office/drawing/2014/main" id="{F670F4A7-B472-A646-AAE8-D3FA5C2CE6BC}"/>
                </a:ext>
              </a:extLst>
            </p:cNvPr>
            <p:cNvSpPr>
              <a:spLocks noChangeArrowheads="1"/>
            </p:cNvSpPr>
            <p:nvPr/>
          </p:nvSpPr>
          <p:spPr bwMode="auto">
            <a:xfrm>
              <a:off x="5740532" y="3470275"/>
              <a:ext cx="914268" cy="388938"/>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23" name="Rectangle 21">
              <a:extLst>
                <a:ext uri="{FF2B5EF4-FFF2-40B4-BE49-F238E27FC236}">
                  <a16:creationId xmlns:a16="http://schemas.microsoft.com/office/drawing/2014/main" id="{0D1F29D1-9827-1B45-B645-61E4827FCD7B}"/>
                </a:ext>
              </a:extLst>
            </p:cNvPr>
            <p:cNvSpPr>
              <a:spLocks noChangeArrowheads="1"/>
            </p:cNvSpPr>
            <p:nvPr/>
          </p:nvSpPr>
          <p:spPr bwMode="auto">
            <a:xfrm>
              <a:off x="5815695" y="353377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第</a:t>
              </a:r>
              <a:endParaRPr lang="zh-CN" altLang="en-US" sz="1400" b="1" dirty="0">
                <a:latin typeface="+mn-ea"/>
                <a:ea typeface="+mn-ea"/>
              </a:endParaRPr>
            </a:p>
          </p:txBody>
        </p:sp>
        <p:sp>
          <p:nvSpPr>
            <p:cNvPr id="24" name="Rectangle 22">
              <a:extLst>
                <a:ext uri="{FF2B5EF4-FFF2-40B4-BE49-F238E27FC236}">
                  <a16:creationId xmlns:a16="http://schemas.microsoft.com/office/drawing/2014/main" id="{7A2F4646-1096-AF40-9B21-398A5CE2F3C2}"/>
                </a:ext>
              </a:extLst>
            </p:cNvPr>
            <p:cNvSpPr>
              <a:spLocks noChangeArrowheads="1"/>
            </p:cNvSpPr>
            <p:nvPr/>
          </p:nvSpPr>
          <p:spPr bwMode="auto">
            <a:xfrm>
              <a:off x="6099858" y="3517900"/>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25" name="Rectangle 23">
              <a:extLst>
                <a:ext uri="{FF2B5EF4-FFF2-40B4-BE49-F238E27FC236}">
                  <a16:creationId xmlns:a16="http://schemas.microsoft.com/office/drawing/2014/main" id="{FBF06ADF-430D-A347-94CB-77603063A78D}"/>
                </a:ext>
              </a:extLst>
            </p:cNvPr>
            <p:cNvSpPr>
              <a:spLocks noChangeArrowheads="1"/>
            </p:cNvSpPr>
            <p:nvPr/>
          </p:nvSpPr>
          <p:spPr bwMode="auto">
            <a:xfrm>
              <a:off x="6268133" y="353377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行</a:t>
              </a:r>
              <a:endParaRPr lang="zh-CN" altLang="en-US" sz="1400" b="1">
                <a:latin typeface="+mn-ea"/>
                <a:ea typeface="+mn-ea"/>
              </a:endParaRPr>
            </a:p>
          </p:txBody>
        </p:sp>
        <p:sp>
          <p:nvSpPr>
            <p:cNvPr id="26" name="Rectangle 24">
              <a:extLst>
                <a:ext uri="{FF2B5EF4-FFF2-40B4-BE49-F238E27FC236}">
                  <a16:creationId xmlns:a16="http://schemas.microsoft.com/office/drawing/2014/main" id="{A88BCFA4-E2EA-CD45-9FD1-6A493490E7EF}"/>
                </a:ext>
              </a:extLst>
            </p:cNvPr>
            <p:cNvSpPr>
              <a:spLocks noChangeArrowheads="1"/>
            </p:cNvSpPr>
            <p:nvPr/>
          </p:nvSpPr>
          <p:spPr bwMode="auto">
            <a:xfrm>
              <a:off x="7975600" y="3502025"/>
              <a:ext cx="1752600" cy="434975"/>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27" name="Rectangle 25">
              <a:extLst>
                <a:ext uri="{FF2B5EF4-FFF2-40B4-BE49-F238E27FC236}">
                  <a16:creationId xmlns:a16="http://schemas.microsoft.com/office/drawing/2014/main" id="{9CFEB317-A7A0-E44E-95E5-518C73B30D02}"/>
                </a:ext>
              </a:extLst>
            </p:cNvPr>
            <p:cNvSpPr>
              <a:spLocks noChangeArrowheads="1"/>
            </p:cNvSpPr>
            <p:nvPr/>
          </p:nvSpPr>
          <p:spPr bwMode="auto">
            <a:xfrm>
              <a:off x="8359775" y="3548063"/>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28" name="Rectangle 26">
              <a:extLst>
                <a:ext uri="{FF2B5EF4-FFF2-40B4-BE49-F238E27FC236}">
                  <a16:creationId xmlns:a16="http://schemas.microsoft.com/office/drawing/2014/main" id="{05E3636F-42C9-FF48-B80B-477446430045}"/>
                </a:ext>
              </a:extLst>
            </p:cNvPr>
            <p:cNvSpPr>
              <a:spLocks noChangeArrowheads="1"/>
            </p:cNvSpPr>
            <p:nvPr/>
          </p:nvSpPr>
          <p:spPr bwMode="auto">
            <a:xfrm>
              <a:off x="8642350" y="3533775"/>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endParaRPr lang="en-US" altLang="zh-CN" sz="1400" b="1">
                <a:latin typeface="+mn-ea"/>
                <a:ea typeface="+mn-ea"/>
              </a:endParaRPr>
            </a:p>
          </p:txBody>
        </p:sp>
        <p:sp>
          <p:nvSpPr>
            <p:cNvPr id="29" name="Rectangle 27">
              <a:extLst>
                <a:ext uri="{FF2B5EF4-FFF2-40B4-BE49-F238E27FC236}">
                  <a16:creationId xmlns:a16="http://schemas.microsoft.com/office/drawing/2014/main" id="{EBB44038-7F4E-3249-8287-82FB0796B134}"/>
                </a:ext>
              </a:extLst>
            </p:cNvPr>
            <p:cNvSpPr>
              <a:spLocks noChangeArrowheads="1"/>
            </p:cNvSpPr>
            <p:nvPr/>
          </p:nvSpPr>
          <p:spPr bwMode="auto">
            <a:xfrm>
              <a:off x="8793163" y="3533775"/>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30" name="Rectangle 28">
              <a:extLst>
                <a:ext uri="{FF2B5EF4-FFF2-40B4-BE49-F238E27FC236}">
                  <a16:creationId xmlns:a16="http://schemas.microsoft.com/office/drawing/2014/main" id="{F737C2C7-7B56-554F-8226-5F30512B4DE8}"/>
                </a:ext>
              </a:extLst>
            </p:cNvPr>
            <p:cNvSpPr>
              <a:spLocks noChangeArrowheads="1"/>
            </p:cNvSpPr>
            <p:nvPr/>
          </p:nvSpPr>
          <p:spPr bwMode="auto">
            <a:xfrm>
              <a:off x="8926513" y="3533775"/>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31" name="Rectangle 29">
              <a:extLst>
                <a:ext uri="{FF2B5EF4-FFF2-40B4-BE49-F238E27FC236}">
                  <a16:creationId xmlns:a16="http://schemas.microsoft.com/office/drawing/2014/main" id="{BE5D16D6-0C6B-2446-91F8-F450D6E16136}"/>
                </a:ext>
              </a:extLst>
            </p:cNvPr>
            <p:cNvSpPr>
              <a:spLocks noChangeArrowheads="1"/>
            </p:cNvSpPr>
            <p:nvPr/>
          </p:nvSpPr>
          <p:spPr bwMode="auto">
            <a:xfrm>
              <a:off x="9094788" y="3548063"/>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32" name="Rectangle 30">
              <a:extLst>
                <a:ext uri="{FF2B5EF4-FFF2-40B4-BE49-F238E27FC236}">
                  <a16:creationId xmlns:a16="http://schemas.microsoft.com/office/drawing/2014/main" id="{276873C8-54CC-CA40-BB86-A5252387A858}"/>
                </a:ext>
              </a:extLst>
            </p:cNvPr>
            <p:cNvSpPr>
              <a:spLocks noChangeArrowheads="1"/>
            </p:cNvSpPr>
            <p:nvPr/>
          </p:nvSpPr>
          <p:spPr bwMode="auto">
            <a:xfrm>
              <a:off x="7975600" y="3937000"/>
              <a:ext cx="1752600" cy="838200"/>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latin typeface="+mn-ea"/>
                <a:ea typeface="+mn-ea"/>
              </a:endParaRPr>
            </a:p>
          </p:txBody>
        </p:sp>
        <p:sp>
          <p:nvSpPr>
            <p:cNvPr id="33" name="Rectangle 31">
              <a:extLst>
                <a:ext uri="{FF2B5EF4-FFF2-40B4-BE49-F238E27FC236}">
                  <a16:creationId xmlns:a16="http://schemas.microsoft.com/office/drawing/2014/main" id="{02E58067-6777-4E49-8F45-ED53D2F6CAE1}"/>
                </a:ext>
              </a:extLst>
            </p:cNvPr>
            <p:cNvSpPr>
              <a:spLocks noChangeArrowheads="1"/>
            </p:cNvSpPr>
            <p:nvPr/>
          </p:nvSpPr>
          <p:spPr bwMode="auto">
            <a:xfrm>
              <a:off x="8747125" y="5927725"/>
              <a:ext cx="28373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200" b="1">
                  <a:latin typeface="+mn-ea"/>
                  <a:ea typeface="+mn-ea"/>
                </a:rPr>
                <a:t>…</a:t>
              </a:r>
            </a:p>
          </p:txBody>
        </p:sp>
        <p:sp>
          <p:nvSpPr>
            <p:cNvPr id="34" name="Rectangle 32">
              <a:extLst>
                <a:ext uri="{FF2B5EF4-FFF2-40B4-BE49-F238E27FC236}">
                  <a16:creationId xmlns:a16="http://schemas.microsoft.com/office/drawing/2014/main" id="{F9DAC014-19BF-7D43-B6F7-4174A60785FD}"/>
                </a:ext>
              </a:extLst>
            </p:cNvPr>
            <p:cNvSpPr>
              <a:spLocks noChangeArrowheads="1"/>
            </p:cNvSpPr>
            <p:nvPr/>
          </p:nvSpPr>
          <p:spPr bwMode="auto">
            <a:xfrm>
              <a:off x="5747660" y="3859213"/>
              <a:ext cx="907140" cy="388937"/>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latin typeface="+mn-ea"/>
                <a:ea typeface="+mn-ea"/>
              </a:endParaRPr>
            </a:p>
          </p:txBody>
        </p:sp>
        <p:sp>
          <p:nvSpPr>
            <p:cNvPr id="35" name="Rectangle 33">
              <a:extLst>
                <a:ext uri="{FF2B5EF4-FFF2-40B4-BE49-F238E27FC236}">
                  <a16:creationId xmlns:a16="http://schemas.microsoft.com/office/drawing/2014/main" id="{34926F52-73A2-3746-8910-81A7898B18C1}"/>
                </a:ext>
              </a:extLst>
            </p:cNvPr>
            <p:cNvSpPr>
              <a:spLocks noChangeArrowheads="1"/>
            </p:cNvSpPr>
            <p:nvPr/>
          </p:nvSpPr>
          <p:spPr bwMode="auto">
            <a:xfrm>
              <a:off x="5853113" y="3906838"/>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n-ea"/>
                  <a:ea typeface="+mn-ea"/>
                </a:rPr>
                <a:t>…</a:t>
              </a:r>
              <a:endParaRPr lang="en-US" altLang="zh-CN" sz="1400" b="1" dirty="0">
                <a:latin typeface="+mn-ea"/>
                <a:ea typeface="+mn-ea"/>
              </a:endParaRPr>
            </a:p>
          </p:txBody>
        </p:sp>
        <p:sp>
          <p:nvSpPr>
            <p:cNvPr id="36" name="Rectangle 34">
              <a:extLst>
                <a:ext uri="{FF2B5EF4-FFF2-40B4-BE49-F238E27FC236}">
                  <a16:creationId xmlns:a16="http://schemas.microsoft.com/office/drawing/2014/main" id="{0DA8E60D-5AC4-4E45-867E-EE469BF1509B}"/>
                </a:ext>
              </a:extLst>
            </p:cNvPr>
            <p:cNvSpPr>
              <a:spLocks noChangeArrowheads="1"/>
            </p:cNvSpPr>
            <p:nvPr/>
          </p:nvSpPr>
          <p:spPr bwMode="auto">
            <a:xfrm>
              <a:off x="7975600" y="3937000"/>
              <a:ext cx="1752600" cy="450850"/>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37" name="Rectangle 35">
              <a:extLst>
                <a:ext uri="{FF2B5EF4-FFF2-40B4-BE49-F238E27FC236}">
                  <a16:creationId xmlns:a16="http://schemas.microsoft.com/office/drawing/2014/main" id="{72F2FE21-9C3C-4F4F-8940-0EEAE6CC93BA}"/>
                </a:ext>
              </a:extLst>
            </p:cNvPr>
            <p:cNvSpPr>
              <a:spLocks noChangeArrowheads="1"/>
            </p:cNvSpPr>
            <p:nvPr/>
          </p:nvSpPr>
          <p:spPr bwMode="auto">
            <a:xfrm>
              <a:off x="8593138" y="401002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38" name="Rectangle 36">
              <a:extLst>
                <a:ext uri="{FF2B5EF4-FFF2-40B4-BE49-F238E27FC236}">
                  <a16:creationId xmlns:a16="http://schemas.microsoft.com/office/drawing/2014/main" id="{C7801435-3FD7-A945-B0C5-FC9082F7AEB1}"/>
                </a:ext>
              </a:extLst>
            </p:cNvPr>
            <p:cNvSpPr>
              <a:spLocks noChangeArrowheads="1"/>
            </p:cNvSpPr>
            <p:nvPr/>
          </p:nvSpPr>
          <p:spPr bwMode="auto">
            <a:xfrm>
              <a:off x="8816975" y="4005263"/>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endParaRPr lang="en-US" altLang="zh-CN" sz="1400" b="1">
                <a:latin typeface="+mn-ea"/>
                <a:ea typeface="+mn-ea"/>
              </a:endParaRPr>
            </a:p>
          </p:txBody>
        </p:sp>
        <p:sp>
          <p:nvSpPr>
            <p:cNvPr id="39" name="Rectangle 37">
              <a:extLst>
                <a:ext uri="{FF2B5EF4-FFF2-40B4-BE49-F238E27FC236}">
                  <a16:creationId xmlns:a16="http://schemas.microsoft.com/office/drawing/2014/main" id="{77D3F22D-ABA5-FA46-B7ED-8130FC4EE203}"/>
                </a:ext>
              </a:extLst>
            </p:cNvPr>
            <p:cNvSpPr>
              <a:spLocks noChangeArrowheads="1"/>
            </p:cNvSpPr>
            <p:nvPr/>
          </p:nvSpPr>
          <p:spPr bwMode="auto">
            <a:xfrm>
              <a:off x="9028113" y="4010025"/>
              <a:ext cx="230187"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40" name="Rectangle 38">
              <a:extLst>
                <a:ext uri="{FF2B5EF4-FFF2-40B4-BE49-F238E27FC236}">
                  <a16:creationId xmlns:a16="http://schemas.microsoft.com/office/drawing/2014/main" id="{88D97B6B-586F-C946-854D-05B5BCD3F3C7}"/>
                </a:ext>
              </a:extLst>
            </p:cNvPr>
            <p:cNvSpPr>
              <a:spLocks noChangeArrowheads="1"/>
            </p:cNvSpPr>
            <p:nvPr/>
          </p:nvSpPr>
          <p:spPr bwMode="auto">
            <a:xfrm>
              <a:off x="5747660" y="4233863"/>
              <a:ext cx="907140" cy="388937"/>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41" name="Rectangle 39">
              <a:extLst>
                <a:ext uri="{FF2B5EF4-FFF2-40B4-BE49-F238E27FC236}">
                  <a16:creationId xmlns:a16="http://schemas.microsoft.com/office/drawing/2014/main" id="{EC1CF381-3E0B-E343-B2F4-673124B58B00}"/>
                </a:ext>
              </a:extLst>
            </p:cNvPr>
            <p:cNvSpPr>
              <a:spLocks noChangeArrowheads="1"/>
            </p:cNvSpPr>
            <p:nvPr/>
          </p:nvSpPr>
          <p:spPr bwMode="auto">
            <a:xfrm>
              <a:off x="5747660" y="429577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第</a:t>
              </a:r>
              <a:endParaRPr lang="zh-CN" altLang="en-US" sz="1400" b="1" dirty="0">
                <a:latin typeface="+mn-ea"/>
                <a:ea typeface="+mn-ea"/>
              </a:endParaRPr>
            </a:p>
          </p:txBody>
        </p:sp>
        <p:sp>
          <p:nvSpPr>
            <p:cNvPr id="42" name="Rectangle 40">
              <a:extLst>
                <a:ext uri="{FF2B5EF4-FFF2-40B4-BE49-F238E27FC236}">
                  <a16:creationId xmlns:a16="http://schemas.microsoft.com/office/drawing/2014/main" id="{FA28A0C7-A84E-4E4E-8E59-C3923C2DAC05}"/>
                </a:ext>
              </a:extLst>
            </p:cNvPr>
            <p:cNvSpPr>
              <a:spLocks noChangeArrowheads="1"/>
            </p:cNvSpPr>
            <p:nvPr/>
          </p:nvSpPr>
          <p:spPr bwMode="auto">
            <a:xfrm>
              <a:off x="6005697" y="4281488"/>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i="1" dirty="0">
                  <a:latin typeface="+mn-ea"/>
                  <a:ea typeface="+mn-ea"/>
                </a:rPr>
                <a:t>N</a:t>
              </a:r>
              <a:endParaRPr lang="en-US" altLang="zh-CN" sz="1400" b="1" dirty="0">
                <a:latin typeface="+mn-ea"/>
                <a:ea typeface="+mn-ea"/>
              </a:endParaRPr>
            </a:p>
          </p:txBody>
        </p:sp>
        <p:sp>
          <p:nvSpPr>
            <p:cNvPr id="43" name="Rectangle 41">
              <a:extLst>
                <a:ext uri="{FF2B5EF4-FFF2-40B4-BE49-F238E27FC236}">
                  <a16:creationId xmlns:a16="http://schemas.microsoft.com/office/drawing/2014/main" id="{340505C5-3341-3445-8C49-219BC48B0276}"/>
                </a:ext>
              </a:extLst>
            </p:cNvPr>
            <p:cNvSpPr>
              <a:spLocks noChangeArrowheads="1"/>
            </p:cNvSpPr>
            <p:nvPr/>
          </p:nvSpPr>
          <p:spPr bwMode="auto">
            <a:xfrm>
              <a:off x="6181048" y="4281488"/>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dirty="0">
                  <a:latin typeface="+mn-ea"/>
                  <a:ea typeface="+mn-ea"/>
                </a:rPr>
                <a:t>-</a:t>
              </a:r>
              <a:endParaRPr lang="en-US" altLang="zh-CN" sz="1400" b="1" dirty="0">
                <a:latin typeface="+mn-ea"/>
                <a:ea typeface="+mn-ea"/>
              </a:endParaRPr>
            </a:p>
          </p:txBody>
        </p:sp>
        <p:sp>
          <p:nvSpPr>
            <p:cNvPr id="44" name="Rectangle 42">
              <a:extLst>
                <a:ext uri="{FF2B5EF4-FFF2-40B4-BE49-F238E27FC236}">
                  <a16:creationId xmlns:a16="http://schemas.microsoft.com/office/drawing/2014/main" id="{C8032DCC-788D-574F-BA85-DAAD8F358928}"/>
                </a:ext>
              </a:extLst>
            </p:cNvPr>
            <p:cNvSpPr>
              <a:spLocks noChangeArrowheads="1"/>
            </p:cNvSpPr>
            <p:nvPr/>
          </p:nvSpPr>
          <p:spPr bwMode="auto">
            <a:xfrm>
              <a:off x="6314398" y="4281488"/>
              <a:ext cx="11702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45" name="Rectangle 43">
              <a:extLst>
                <a:ext uri="{FF2B5EF4-FFF2-40B4-BE49-F238E27FC236}">
                  <a16:creationId xmlns:a16="http://schemas.microsoft.com/office/drawing/2014/main" id="{CC3B79EF-4E69-FB4A-BCFB-DF6DA8B1B739}"/>
                </a:ext>
              </a:extLst>
            </p:cNvPr>
            <p:cNvSpPr>
              <a:spLocks noChangeArrowheads="1"/>
            </p:cNvSpPr>
            <p:nvPr/>
          </p:nvSpPr>
          <p:spPr bwMode="auto">
            <a:xfrm>
              <a:off x="6417358" y="429577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行</a:t>
              </a:r>
              <a:endParaRPr lang="zh-CN" altLang="en-US" sz="1400" b="1">
                <a:latin typeface="+mn-ea"/>
                <a:ea typeface="+mn-ea"/>
              </a:endParaRPr>
            </a:p>
          </p:txBody>
        </p:sp>
        <p:sp>
          <p:nvSpPr>
            <p:cNvPr id="46" name="Rectangle 44">
              <a:extLst>
                <a:ext uri="{FF2B5EF4-FFF2-40B4-BE49-F238E27FC236}">
                  <a16:creationId xmlns:a16="http://schemas.microsoft.com/office/drawing/2014/main" id="{E2EA1F2F-FC2F-4B4C-B5A7-EB676F3B1C71}"/>
                </a:ext>
              </a:extLst>
            </p:cNvPr>
            <p:cNvSpPr>
              <a:spLocks noChangeArrowheads="1"/>
            </p:cNvSpPr>
            <p:nvPr/>
          </p:nvSpPr>
          <p:spPr bwMode="auto">
            <a:xfrm>
              <a:off x="7975600" y="4387850"/>
              <a:ext cx="1752600" cy="436563"/>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47" name="Rectangle 45">
              <a:extLst>
                <a:ext uri="{FF2B5EF4-FFF2-40B4-BE49-F238E27FC236}">
                  <a16:creationId xmlns:a16="http://schemas.microsoft.com/office/drawing/2014/main" id="{A57706D3-0F9F-8C4B-A335-191C75181A00}"/>
                </a:ext>
              </a:extLst>
            </p:cNvPr>
            <p:cNvSpPr>
              <a:spLocks noChangeArrowheads="1"/>
            </p:cNvSpPr>
            <p:nvPr/>
          </p:nvSpPr>
          <p:spPr bwMode="auto">
            <a:xfrm>
              <a:off x="8496300" y="443547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48" name="Rectangle 46">
              <a:extLst>
                <a:ext uri="{FF2B5EF4-FFF2-40B4-BE49-F238E27FC236}">
                  <a16:creationId xmlns:a16="http://schemas.microsoft.com/office/drawing/2014/main" id="{55965B3C-B7AE-B24B-9095-4A9982244FCD}"/>
                </a:ext>
              </a:extLst>
            </p:cNvPr>
            <p:cNvSpPr>
              <a:spLocks noChangeArrowheads="1"/>
            </p:cNvSpPr>
            <p:nvPr/>
          </p:nvSpPr>
          <p:spPr bwMode="auto">
            <a:xfrm>
              <a:off x="8785225" y="4430713"/>
              <a:ext cx="35105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r>
                <a:rPr lang="en-US" altLang="zh-CN" b="1">
                  <a:latin typeface="+mn-ea"/>
                  <a:ea typeface="+mn-ea"/>
                </a:rPr>
                <a:t>1</a:t>
              </a:r>
              <a:endParaRPr lang="en-US" altLang="zh-CN" sz="1400" b="1">
                <a:latin typeface="+mn-ea"/>
                <a:ea typeface="+mn-ea"/>
              </a:endParaRPr>
            </a:p>
          </p:txBody>
        </p:sp>
        <p:sp>
          <p:nvSpPr>
            <p:cNvPr id="49" name="Rectangle 47">
              <a:extLst>
                <a:ext uri="{FF2B5EF4-FFF2-40B4-BE49-F238E27FC236}">
                  <a16:creationId xmlns:a16="http://schemas.microsoft.com/office/drawing/2014/main" id="{F295DACB-E4C8-CC45-9830-51AECD090B83}"/>
                </a:ext>
              </a:extLst>
            </p:cNvPr>
            <p:cNvSpPr>
              <a:spLocks noChangeArrowheads="1"/>
            </p:cNvSpPr>
            <p:nvPr/>
          </p:nvSpPr>
          <p:spPr bwMode="auto">
            <a:xfrm>
              <a:off x="9217025" y="4435475"/>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50" name="Rectangle 48">
              <a:extLst>
                <a:ext uri="{FF2B5EF4-FFF2-40B4-BE49-F238E27FC236}">
                  <a16:creationId xmlns:a16="http://schemas.microsoft.com/office/drawing/2014/main" id="{6D80FA4F-8426-EA45-9D53-4F59BA3082B4}"/>
                </a:ext>
              </a:extLst>
            </p:cNvPr>
            <p:cNvSpPr>
              <a:spLocks noChangeArrowheads="1"/>
            </p:cNvSpPr>
            <p:nvPr/>
          </p:nvSpPr>
          <p:spPr bwMode="auto">
            <a:xfrm>
              <a:off x="7975600" y="4808538"/>
              <a:ext cx="1752600" cy="452437"/>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latin typeface="+mn-ea"/>
                <a:ea typeface="+mn-ea"/>
              </a:endParaRPr>
            </a:p>
          </p:txBody>
        </p:sp>
        <p:sp>
          <p:nvSpPr>
            <p:cNvPr id="51" name="Rectangle 49">
              <a:extLst>
                <a:ext uri="{FF2B5EF4-FFF2-40B4-BE49-F238E27FC236}">
                  <a16:creationId xmlns:a16="http://schemas.microsoft.com/office/drawing/2014/main" id="{AEF87E73-7A64-714C-BE36-805759C947CD}"/>
                </a:ext>
              </a:extLst>
            </p:cNvPr>
            <p:cNvSpPr>
              <a:spLocks noChangeArrowheads="1"/>
            </p:cNvSpPr>
            <p:nvPr/>
          </p:nvSpPr>
          <p:spPr bwMode="auto">
            <a:xfrm>
              <a:off x="8726488" y="4872038"/>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52" name="Rectangle 50">
              <a:extLst>
                <a:ext uri="{FF2B5EF4-FFF2-40B4-BE49-F238E27FC236}">
                  <a16:creationId xmlns:a16="http://schemas.microsoft.com/office/drawing/2014/main" id="{210FFF18-4A21-FB40-B41C-A1AB8C27A2D9}"/>
                </a:ext>
              </a:extLst>
            </p:cNvPr>
            <p:cNvSpPr>
              <a:spLocks noChangeArrowheads="1"/>
            </p:cNvSpPr>
            <p:nvPr/>
          </p:nvSpPr>
          <p:spPr bwMode="auto">
            <a:xfrm>
              <a:off x="7975600" y="5245100"/>
              <a:ext cx="1752600" cy="450850"/>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53" name="Rectangle 51">
              <a:extLst>
                <a:ext uri="{FF2B5EF4-FFF2-40B4-BE49-F238E27FC236}">
                  <a16:creationId xmlns:a16="http://schemas.microsoft.com/office/drawing/2014/main" id="{618AC1A8-FB60-3C4D-B5B6-4E94845AD1C8}"/>
                </a:ext>
              </a:extLst>
            </p:cNvPr>
            <p:cNvSpPr>
              <a:spLocks noChangeArrowheads="1"/>
            </p:cNvSpPr>
            <p:nvPr/>
          </p:nvSpPr>
          <p:spPr bwMode="auto">
            <a:xfrm>
              <a:off x="8312150" y="5307013"/>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54" name="Rectangle 52">
              <a:extLst>
                <a:ext uri="{FF2B5EF4-FFF2-40B4-BE49-F238E27FC236}">
                  <a16:creationId xmlns:a16="http://schemas.microsoft.com/office/drawing/2014/main" id="{F2198D69-62B8-5B48-8FC1-82CD30F22F4C}"/>
                </a:ext>
              </a:extLst>
            </p:cNvPr>
            <p:cNvSpPr>
              <a:spLocks noChangeArrowheads="1"/>
            </p:cNvSpPr>
            <p:nvPr/>
          </p:nvSpPr>
          <p:spPr bwMode="auto">
            <a:xfrm>
              <a:off x="8596313" y="5302250"/>
              <a:ext cx="23403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2N</a:t>
              </a:r>
              <a:endParaRPr lang="en-US" altLang="zh-CN" sz="1400" b="1">
                <a:latin typeface="+mn-ea"/>
                <a:ea typeface="+mn-ea"/>
              </a:endParaRPr>
            </a:p>
          </p:txBody>
        </p:sp>
        <p:sp>
          <p:nvSpPr>
            <p:cNvPr id="55" name="Rectangle 53">
              <a:extLst>
                <a:ext uri="{FF2B5EF4-FFF2-40B4-BE49-F238E27FC236}">
                  <a16:creationId xmlns:a16="http://schemas.microsoft.com/office/drawing/2014/main" id="{C41EBEE3-D56F-3044-9CFA-375DEC3938BE}"/>
                </a:ext>
              </a:extLst>
            </p:cNvPr>
            <p:cNvSpPr>
              <a:spLocks noChangeArrowheads="1"/>
            </p:cNvSpPr>
            <p:nvPr/>
          </p:nvSpPr>
          <p:spPr bwMode="auto">
            <a:xfrm>
              <a:off x="8902700" y="5292725"/>
              <a:ext cx="35105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 </a:t>
              </a:r>
              <a:endParaRPr lang="en-US" altLang="zh-CN" sz="1400" b="1">
                <a:latin typeface="+mn-ea"/>
                <a:ea typeface="+mn-ea"/>
              </a:endParaRPr>
            </a:p>
          </p:txBody>
        </p:sp>
        <p:sp>
          <p:nvSpPr>
            <p:cNvPr id="56" name="Rectangle 54">
              <a:extLst>
                <a:ext uri="{FF2B5EF4-FFF2-40B4-BE49-F238E27FC236}">
                  <a16:creationId xmlns:a16="http://schemas.microsoft.com/office/drawing/2014/main" id="{27E2B7D0-A8B2-5A47-B253-5C78D92822AF}"/>
                </a:ext>
              </a:extLst>
            </p:cNvPr>
            <p:cNvSpPr>
              <a:spLocks noChangeArrowheads="1"/>
            </p:cNvSpPr>
            <p:nvPr/>
          </p:nvSpPr>
          <p:spPr bwMode="auto">
            <a:xfrm>
              <a:off x="9205913" y="5307013"/>
              <a:ext cx="23243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57" name="Line 55">
              <a:extLst>
                <a:ext uri="{FF2B5EF4-FFF2-40B4-BE49-F238E27FC236}">
                  <a16:creationId xmlns:a16="http://schemas.microsoft.com/office/drawing/2014/main" id="{0DB3192B-96E6-0046-A492-C88BD8B24FD9}"/>
                </a:ext>
              </a:extLst>
            </p:cNvPr>
            <p:cNvSpPr>
              <a:spLocks noChangeShapeType="1"/>
            </p:cNvSpPr>
            <p:nvPr/>
          </p:nvSpPr>
          <p:spPr bwMode="auto">
            <a:xfrm flipH="1">
              <a:off x="6638925" y="2505075"/>
              <a:ext cx="1336675" cy="871538"/>
            </a:xfrm>
            <a:prstGeom prst="line">
              <a:avLst/>
            </a:prstGeom>
            <a:noFill/>
            <a:ln w="14288">
              <a:solidFill>
                <a:schemeClr val="accent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sp>
          <p:nvSpPr>
            <p:cNvPr id="58" name="Line 56">
              <a:extLst>
                <a:ext uri="{FF2B5EF4-FFF2-40B4-BE49-F238E27FC236}">
                  <a16:creationId xmlns:a16="http://schemas.microsoft.com/office/drawing/2014/main" id="{201EFFAE-172E-9D4C-9832-09930A5C2303}"/>
                </a:ext>
              </a:extLst>
            </p:cNvPr>
            <p:cNvSpPr>
              <a:spLocks noChangeShapeType="1"/>
            </p:cNvSpPr>
            <p:nvPr/>
          </p:nvSpPr>
          <p:spPr bwMode="auto">
            <a:xfrm flipH="1">
              <a:off x="6638925" y="2847975"/>
              <a:ext cx="1336675" cy="857250"/>
            </a:xfrm>
            <a:prstGeom prst="line">
              <a:avLst/>
            </a:prstGeom>
            <a:noFill/>
            <a:ln w="14288">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sp>
          <p:nvSpPr>
            <p:cNvPr id="59" name="Line 57">
              <a:extLst>
                <a:ext uri="{FF2B5EF4-FFF2-40B4-BE49-F238E27FC236}">
                  <a16:creationId xmlns:a16="http://schemas.microsoft.com/office/drawing/2014/main" id="{6C1A7B08-5CB6-0E4E-A18D-5DF454C87DA6}"/>
                </a:ext>
              </a:extLst>
            </p:cNvPr>
            <p:cNvSpPr>
              <a:spLocks noChangeShapeType="1"/>
            </p:cNvSpPr>
            <p:nvPr/>
          </p:nvSpPr>
          <p:spPr bwMode="auto">
            <a:xfrm>
              <a:off x="6661150" y="4445000"/>
              <a:ext cx="1323975" cy="1030288"/>
            </a:xfrm>
            <a:prstGeom prst="line">
              <a:avLst/>
            </a:prstGeom>
            <a:noFill/>
            <a:ln w="14288">
              <a:solidFill>
                <a:schemeClr val="accent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sp>
          <p:nvSpPr>
            <p:cNvPr id="60" name="Line 58">
              <a:extLst>
                <a:ext uri="{FF2B5EF4-FFF2-40B4-BE49-F238E27FC236}">
                  <a16:creationId xmlns:a16="http://schemas.microsoft.com/office/drawing/2014/main" id="{85367C5D-D21F-1246-933A-D6B09EF1DABA}"/>
                </a:ext>
              </a:extLst>
            </p:cNvPr>
            <p:cNvSpPr>
              <a:spLocks noChangeShapeType="1"/>
            </p:cNvSpPr>
            <p:nvPr/>
          </p:nvSpPr>
          <p:spPr bwMode="auto">
            <a:xfrm>
              <a:off x="6638925" y="3394075"/>
              <a:ext cx="1357313" cy="819150"/>
            </a:xfrm>
            <a:prstGeom prst="line">
              <a:avLst/>
            </a:prstGeom>
            <a:noFill/>
            <a:ln w="14288">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sp>
          <p:nvSpPr>
            <p:cNvPr id="61" name="Line 59">
              <a:extLst>
                <a:ext uri="{FF2B5EF4-FFF2-40B4-BE49-F238E27FC236}">
                  <a16:creationId xmlns:a16="http://schemas.microsoft.com/office/drawing/2014/main" id="{55061339-2656-AC47-A241-B09800D39232}"/>
                </a:ext>
              </a:extLst>
            </p:cNvPr>
            <p:cNvSpPr>
              <a:spLocks noChangeShapeType="1"/>
            </p:cNvSpPr>
            <p:nvPr/>
          </p:nvSpPr>
          <p:spPr bwMode="auto">
            <a:xfrm>
              <a:off x="6638925" y="3689350"/>
              <a:ext cx="1346200" cy="850900"/>
            </a:xfrm>
            <a:prstGeom prst="line">
              <a:avLst/>
            </a:prstGeom>
            <a:noFill/>
            <a:ln w="14288">
              <a:solidFill>
                <a:schemeClr val="accent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sp>
          <p:nvSpPr>
            <p:cNvPr id="62" name="Line 60">
              <a:extLst>
                <a:ext uri="{FF2B5EF4-FFF2-40B4-BE49-F238E27FC236}">
                  <a16:creationId xmlns:a16="http://schemas.microsoft.com/office/drawing/2014/main" id="{21A20B53-DD04-1B45-BCB1-7AB5070A9260}"/>
                </a:ext>
              </a:extLst>
            </p:cNvPr>
            <p:cNvSpPr>
              <a:spLocks noChangeShapeType="1"/>
            </p:cNvSpPr>
            <p:nvPr/>
          </p:nvSpPr>
          <p:spPr bwMode="auto">
            <a:xfrm flipH="1">
              <a:off x="6638925" y="3829050"/>
              <a:ext cx="1336675" cy="623888"/>
            </a:xfrm>
            <a:prstGeom prst="line">
              <a:avLst/>
            </a:prstGeom>
            <a:noFill/>
            <a:ln w="14288">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sp>
          <p:nvSpPr>
            <p:cNvPr id="63" name="Line 69">
              <a:extLst>
                <a:ext uri="{FF2B5EF4-FFF2-40B4-BE49-F238E27FC236}">
                  <a16:creationId xmlns:a16="http://schemas.microsoft.com/office/drawing/2014/main" id="{B6045F92-3C0A-BA43-A0F5-ADE82448E98B}"/>
                </a:ext>
              </a:extLst>
            </p:cNvPr>
            <p:cNvSpPr>
              <a:spLocks noChangeShapeType="1"/>
            </p:cNvSpPr>
            <p:nvPr/>
          </p:nvSpPr>
          <p:spPr bwMode="auto">
            <a:xfrm>
              <a:off x="7972425" y="5691188"/>
              <a:ext cx="0" cy="78740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a:latin typeface="+mn-ea"/>
                <a:ea typeface="+mn-ea"/>
              </a:endParaRPr>
            </a:p>
          </p:txBody>
        </p:sp>
        <p:sp>
          <p:nvSpPr>
            <p:cNvPr id="64" name="Line 70">
              <a:extLst>
                <a:ext uri="{FF2B5EF4-FFF2-40B4-BE49-F238E27FC236}">
                  <a16:creationId xmlns:a16="http://schemas.microsoft.com/office/drawing/2014/main" id="{C7AFD704-5415-7741-BC7C-6AFD3BC5D66F}"/>
                </a:ext>
              </a:extLst>
            </p:cNvPr>
            <p:cNvSpPr>
              <a:spLocks noChangeShapeType="1"/>
            </p:cNvSpPr>
            <p:nvPr/>
          </p:nvSpPr>
          <p:spPr bwMode="auto">
            <a:xfrm>
              <a:off x="9725025" y="5708650"/>
              <a:ext cx="0" cy="78740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a:latin typeface="+mn-ea"/>
                <a:ea typeface="+mn-ea"/>
              </a:endParaRPr>
            </a:p>
          </p:txBody>
        </p:sp>
      </p:gr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B0681CD8-5F99-E043-87D1-2FFE8FFCE44C}"/>
                  </a:ext>
                </a:extLst>
              </p:cNvPr>
              <p:cNvSpPr txBox="1"/>
              <p:nvPr/>
            </p:nvSpPr>
            <p:spPr>
              <a:xfrm>
                <a:off x="1254314" y="3628455"/>
                <a:ext cx="224914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3200" smtClean="0">
                          <a:latin typeface="Cambria Math" panose="02040503050406030204" pitchFamily="18" charset="0"/>
                        </a:rPr>
                        <m:t>𝑗</m:t>
                      </m:r>
                      <m:r>
                        <a:rPr kumimoji="1" lang="en-US" altLang="zh-CN" sz="3200" smtClean="0">
                          <a:latin typeface="Cambria Math" panose="02040503050406030204" pitchFamily="18" charset="0"/>
                        </a:rPr>
                        <m:t>=</m:t>
                      </m:r>
                      <m:r>
                        <a:rPr kumimoji="1" lang="en-US" altLang="zh-CN" sz="3200" smtClean="0">
                          <a:latin typeface="Cambria Math" panose="02040503050406030204" pitchFamily="18" charset="0"/>
                        </a:rPr>
                        <m:t>𝑖</m:t>
                      </m:r>
                      <m:r>
                        <a:rPr kumimoji="1" lang="en-US" altLang="zh-CN" sz="3200" smtClean="0">
                          <a:latin typeface="Cambria Math" panose="02040503050406030204" pitchFamily="18" charset="0"/>
                        </a:rPr>
                        <m:t> </m:t>
                      </m:r>
                      <m:r>
                        <a:rPr kumimoji="1" lang="en-US" altLang="zh-CN" sz="3200" smtClean="0">
                          <a:latin typeface="Cambria Math" panose="02040503050406030204" pitchFamily="18" charset="0"/>
                        </a:rPr>
                        <m:t>𝑚𝑜𝑑</m:t>
                      </m:r>
                      <m:r>
                        <a:rPr kumimoji="1" lang="en-US" altLang="zh-CN" sz="3200" smtClean="0">
                          <a:latin typeface="Cambria Math" panose="02040503050406030204" pitchFamily="18" charset="0"/>
                        </a:rPr>
                        <m:t> </m:t>
                      </m:r>
                      <m:r>
                        <a:rPr kumimoji="1" lang="en-US" altLang="zh-CN" sz="3200" smtClean="0">
                          <a:latin typeface="Cambria Math" panose="02040503050406030204" pitchFamily="18" charset="0"/>
                        </a:rPr>
                        <m:t>𝑁</m:t>
                      </m:r>
                    </m:oMath>
                  </m:oMathPara>
                </a14:m>
                <a:endParaRPr kumimoji="1" lang="zh-CN" altLang="en-US" sz="3200" dirty="0">
                  <a:ea typeface="SimHei" panose="02010609060101010101" pitchFamily="49" charset="-122"/>
                </a:endParaRPr>
              </a:p>
            </p:txBody>
          </p:sp>
        </mc:Choice>
        <mc:Fallback xmlns="">
          <p:sp>
            <p:nvSpPr>
              <p:cNvPr id="86" name="文本框 85">
                <a:extLst>
                  <a:ext uri="{FF2B5EF4-FFF2-40B4-BE49-F238E27FC236}">
                    <a16:creationId xmlns:a16="http://schemas.microsoft.com/office/drawing/2014/main" id="{B0681CD8-5F99-E043-87D1-2FFE8FFCE44C}"/>
                  </a:ext>
                </a:extLst>
              </p:cNvPr>
              <p:cNvSpPr txBox="1">
                <a:spLocks noRot="1" noChangeAspect="1" noMove="1" noResize="1" noEditPoints="1" noAdjustHandles="1" noChangeArrowheads="1" noChangeShapeType="1" noTextEdit="1"/>
              </p:cNvSpPr>
              <p:nvPr/>
            </p:nvSpPr>
            <p:spPr>
              <a:xfrm>
                <a:off x="1254314" y="3628455"/>
                <a:ext cx="2249142" cy="492443"/>
              </a:xfrm>
              <a:prstGeom prst="rect">
                <a:avLst/>
              </a:prstGeom>
              <a:blipFill>
                <a:blip r:embed="rId3"/>
                <a:stretch>
                  <a:fillRect l="-5056" t="-5000" r="-2809" b="-37500"/>
                </a:stretch>
              </a:blipFill>
            </p:spPr>
            <p:txBody>
              <a:bodyPr/>
              <a:lstStyle/>
              <a:p>
                <a:r>
                  <a:rPr lang="zh-CN" altLang="en-US">
                    <a:noFill/>
                  </a:rPr>
                  <a:t> </a:t>
                </a:r>
              </a:p>
            </p:txBody>
          </p:sp>
        </mc:Fallback>
      </mc:AlternateContent>
      <p:sp>
        <p:nvSpPr>
          <p:cNvPr id="65" name="Rectangle 64">
            <a:extLst>
              <a:ext uri="{FF2B5EF4-FFF2-40B4-BE49-F238E27FC236}">
                <a16:creationId xmlns:a16="http://schemas.microsoft.com/office/drawing/2014/main" id="{17399927-A804-D84B-8C58-52EA75B24D42}"/>
              </a:ext>
            </a:extLst>
          </p:cNvPr>
          <p:cNvSpPr/>
          <p:nvPr/>
        </p:nvSpPr>
        <p:spPr>
          <a:xfrm>
            <a:off x="5013458" y="2493969"/>
            <a:ext cx="917441" cy="155973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7" name="Rectangle 66">
            <a:extLst>
              <a:ext uri="{FF2B5EF4-FFF2-40B4-BE49-F238E27FC236}">
                <a16:creationId xmlns:a16="http://schemas.microsoft.com/office/drawing/2014/main" id="{9619BEA2-4A42-ED47-9336-A3F85098EFE0}"/>
              </a:ext>
            </a:extLst>
          </p:cNvPr>
          <p:cNvSpPr/>
          <p:nvPr/>
        </p:nvSpPr>
        <p:spPr>
          <a:xfrm>
            <a:off x="7245349" y="1620617"/>
            <a:ext cx="1749425" cy="1733001"/>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8" name="Rectangle 67">
            <a:extLst>
              <a:ext uri="{FF2B5EF4-FFF2-40B4-BE49-F238E27FC236}">
                <a16:creationId xmlns:a16="http://schemas.microsoft.com/office/drawing/2014/main" id="{AB5F3C6E-56B1-864E-8DD0-53DD7FF3AFDD}"/>
              </a:ext>
            </a:extLst>
          </p:cNvPr>
          <p:cNvSpPr/>
          <p:nvPr/>
        </p:nvSpPr>
        <p:spPr>
          <a:xfrm>
            <a:off x="7245348" y="3367809"/>
            <a:ext cx="1749425" cy="1733001"/>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6" name="TextBox 65">
            <a:extLst>
              <a:ext uri="{FF2B5EF4-FFF2-40B4-BE49-F238E27FC236}">
                <a16:creationId xmlns:a16="http://schemas.microsoft.com/office/drawing/2014/main" id="{A0D5D2FB-AAFE-5446-A783-0A50B91426A3}"/>
              </a:ext>
            </a:extLst>
          </p:cNvPr>
          <p:cNvSpPr txBox="1"/>
          <p:nvPr/>
        </p:nvSpPr>
        <p:spPr>
          <a:xfrm>
            <a:off x="1113732" y="5577086"/>
            <a:ext cx="3744936" cy="461665"/>
          </a:xfrm>
          <a:prstGeom prst="rect">
            <a:avLst/>
          </a:prstGeom>
          <a:noFill/>
        </p:spPr>
        <p:txBody>
          <a:bodyPr wrap="none" rtlCol="0">
            <a:spAutoFit/>
          </a:bodyPr>
          <a:lstStyle/>
          <a:p>
            <a:r>
              <a:rPr lang="en-US" altLang="zh-CN" sz="2400" dirty="0">
                <a:latin typeface="STKaiti" panose="02010600040101010101" pitchFamily="2" charset="-122"/>
                <a:ea typeface="STKaiti" panose="02010600040101010101" pitchFamily="2" charset="-122"/>
              </a:rPr>
              <a:t>i=</a:t>
            </a:r>
            <a:r>
              <a:rPr lang="en-CN" sz="2400" dirty="0">
                <a:latin typeface="STKaiti" panose="02010600040101010101" pitchFamily="2" charset="-122"/>
                <a:ea typeface="STKaiti" panose="02010600040101010101" pitchFamily="2" charset="-122"/>
              </a:rPr>
              <a:t>j+N*k</a:t>
            </a:r>
            <a:r>
              <a:rPr lang="zh-CN" altLang="en-US" sz="2400" dirty="0">
                <a:latin typeface="STKaiti" panose="02010600040101010101" pitchFamily="2" charset="-122"/>
                <a:ea typeface="STKaiti" panose="02010600040101010101" pitchFamily="2" charset="-122"/>
              </a:rPr>
              <a:t>，其中</a:t>
            </a:r>
            <a:r>
              <a:rPr lang="en-CN" sz="2400" dirty="0">
                <a:latin typeface="STKaiti" panose="02010600040101010101" pitchFamily="2" charset="-122"/>
                <a:ea typeface="STKaiti" panose="02010600040101010101" pitchFamily="2" charset="-122"/>
              </a:rPr>
              <a:t>k=0, 1, 2, …</a:t>
            </a:r>
          </a:p>
        </p:txBody>
      </p:sp>
      <p:sp>
        <p:nvSpPr>
          <p:cNvPr id="74" name="TextBox 10">
            <a:extLst>
              <a:ext uri="{FF2B5EF4-FFF2-40B4-BE49-F238E27FC236}">
                <a16:creationId xmlns:a16="http://schemas.microsoft.com/office/drawing/2014/main" id="{8B671C4E-B263-0F02-AF3F-A8CC0C845FAA}"/>
              </a:ext>
            </a:extLst>
          </p:cNvPr>
          <p:cNvSpPr txBox="1"/>
          <p:nvPr/>
        </p:nvSpPr>
        <p:spPr>
          <a:xfrm>
            <a:off x="4900652" y="4555301"/>
            <a:ext cx="1476608" cy="646331"/>
          </a:xfrm>
          <a:prstGeom prst="rect">
            <a:avLst/>
          </a:prstGeom>
          <a:noFill/>
        </p:spPr>
        <p:txBody>
          <a:bodyPr wrap="square" rtlCol="0">
            <a:spAutoFit/>
          </a:bodyPr>
          <a:lstStyle/>
          <a:p>
            <a:pPr algn="ctr"/>
            <a:r>
              <a:rPr lang="zh-CN" altLang="en-US" dirty="0">
                <a:solidFill>
                  <a:srgbClr val="0432FF"/>
                </a:solidFill>
                <a:ea typeface="SimHei" panose="02010609060101010101" pitchFamily="49" charset="-122"/>
              </a:rPr>
              <a:t>该区域需要的</a:t>
            </a:r>
            <a:r>
              <a:rPr lang="en-US" altLang="zh-CN" dirty="0">
                <a:solidFill>
                  <a:srgbClr val="0432FF"/>
                </a:solidFill>
                <a:ea typeface="SimHei" panose="02010609060101010101" pitchFamily="49" charset="-122"/>
              </a:rPr>
              <a:t>TAG</a:t>
            </a:r>
            <a:endParaRPr lang="en-CN" dirty="0">
              <a:solidFill>
                <a:srgbClr val="0432FF"/>
              </a:solidFill>
              <a:ea typeface="SimHei" panose="02010609060101010101" pitchFamily="49" charset="-122"/>
            </a:endParaRPr>
          </a:p>
        </p:txBody>
      </p:sp>
      <p:grpSp>
        <p:nvGrpSpPr>
          <p:cNvPr id="75" name="Group 70">
            <a:extLst>
              <a:ext uri="{FF2B5EF4-FFF2-40B4-BE49-F238E27FC236}">
                <a16:creationId xmlns:a16="http://schemas.microsoft.com/office/drawing/2014/main" id="{B8AC082F-2210-84FB-7A9B-8032E6952CB1}"/>
              </a:ext>
            </a:extLst>
          </p:cNvPr>
          <p:cNvGrpSpPr/>
          <p:nvPr/>
        </p:nvGrpSpPr>
        <p:grpSpPr>
          <a:xfrm>
            <a:off x="6161958" y="1624832"/>
            <a:ext cx="1063342" cy="3495753"/>
            <a:chOff x="6189174" y="1906177"/>
            <a:chExt cx="1063342" cy="3495753"/>
          </a:xfrm>
        </p:grpSpPr>
        <p:grpSp>
          <p:nvGrpSpPr>
            <p:cNvPr id="76" name="Group 80">
              <a:extLst>
                <a:ext uri="{FF2B5EF4-FFF2-40B4-BE49-F238E27FC236}">
                  <a16:creationId xmlns:a16="http://schemas.microsoft.com/office/drawing/2014/main" id="{85D923FA-C754-D745-8826-40287C9DEE63}"/>
                </a:ext>
              </a:extLst>
            </p:cNvPr>
            <p:cNvGrpSpPr/>
            <p:nvPr/>
          </p:nvGrpSpPr>
          <p:grpSpPr>
            <a:xfrm>
              <a:off x="6189174" y="1906177"/>
              <a:ext cx="1053001" cy="1698625"/>
              <a:chOff x="6189174" y="1906177"/>
              <a:chExt cx="1053001" cy="1698625"/>
            </a:xfrm>
          </p:grpSpPr>
          <p:sp>
            <p:nvSpPr>
              <p:cNvPr id="80" name="Rectangle 84">
                <a:extLst>
                  <a:ext uri="{FF2B5EF4-FFF2-40B4-BE49-F238E27FC236}">
                    <a16:creationId xmlns:a16="http://schemas.microsoft.com/office/drawing/2014/main" id="{19FF7A66-5AC0-7AFD-A7F6-0888415A9AC3}"/>
                  </a:ext>
                </a:extLst>
              </p:cNvPr>
              <p:cNvSpPr/>
              <p:nvPr/>
            </p:nvSpPr>
            <p:spPr>
              <a:xfrm>
                <a:off x="6189174" y="2539868"/>
                <a:ext cx="825867" cy="369332"/>
              </a:xfrm>
              <a:prstGeom prst="rect">
                <a:avLst/>
              </a:prstGeom>
            </p:spPr>
            <p:txBody>
              <a:bodyPr wrap="none">
                <a:spAutoFit/>
              </a:bodyPr>
              <a:lstStyle/>
              <a:p>
                <a:r>
                  <a:rPr lang="zh-CN" altLang="en-US" b="1" dirty="0">
                    <a:solidFill>
                      <a:srgbClr val="0432FF"/>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0432FF"/>
                    </a:solidFill>
                    <a:latin typeface="STKaiti" panose="02010600040101010101" pitchFamily="2" charset="-122"/>
                    <a:ea typeface="STKaiti" panose="02010600040101010101" pitchFamily="2" charset="-122"/>
                    <a:sym typeface="Wingdings" pitchFamily="2" charset="2"/>
                  </a:rPr>
                  <a:t> 1</a:t>
                </a:r>
                <a:endParaRPr lang="en-CN" dirty="0">
                  <a:solidFill>
                    <a:srgbClr val="0432FF"/>
                  </a:solidFill>
                  <a:ea typeface="SimHei" panose="02010609060101010101" pitchFamily="49" charset="-122"/>
                </a:endParaRPr>
              </a:p>
            </p:txBody>
          </p:sp>
          <p:sp>
            <p:nvSpPr>
              <p:cNvPr id="81" name="Left Brace 85">
                <a:extLst>
                  <a:ext uri="{FF2B5EF4-FFF2-40B4-BE49-F238E27FC236}">
                    <a16:creationId xmlns:a16="http://schemas.microsoft.com/office/drawing/2014/main" id="{504FCDE0-3DEE-94D6-A29C-47291EC8FDFD}"/>
                  </a:ext>
                </a:extLst>
              </p:cNvPr>
              <p:cNvSpPr/>
              <p:nvPr/>
            </p:nvSpPr>
            <p:spPr>
              <a:xfrm>
                <a:off x="7012294" y="1906177"/>
                <a:ext cx="229881" cy="1698625"/>
              </a:xfrm>
              <a:prstGeom prst="leftBrace">
                <a:avLst>
                  <a:gd name="adj1" fmla="val 61879"/>
                  <a:gd name="adj2" fmla="val 50000"/>
                </a:avLst>
              </a:prstGeom>
              <a:ln w="25400">
                <a:solidFill>
                  <a:srgbClr val="0432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solidFill>
                    <a:srgbClr val="0432FF"/>
                  </a:solidFill>
                </a:endParaRPr>
              </a:p>
            </p:txBody>
          </p:sp>
        </p:grpSp>
        <p:grpSp>
          <p:nvGrpSpPr>
            <p:cNvPr id="77" name="Group 81">
              <a:extLst>
                <a:ext uri="{FF2B5EF4-FFF2-40B4-BE49-F238E27FC236}">
                  <a16:creationId xmlns:a16="http://schemas.microsoft.com/office/drawing/2014/main" id="{8C73A7F6-74F9-4D23-6159-7FDED4DE9734}"/>
                </a:ext>
              </a:extLst>
            </p:cNvPr>
            <p:cNvGrpSpPr/>
            <p:nvPr/>
          </p:nvGrpSpPr>
          <p:grpSpPr>
            <a:xfrm>
              <a:off x="6208427" y="3703305"/>
              <a:ext cx="1044089" cy="1698625"/>
              <a:chOff x="6198086" y="1906177"/>
              <a:chExt cx="1044089" cy="1698625"/>
            </a:xfrm>
          </p:grpSpPr>
          <p:sp>
            <p:nvSpPr>
              <p:cNvPr id="78" name="Rectangle 82">
                <a:extLst>
                  <a:ext uri="{FF2B5EF4-FFF2-40B4-BE49-F238E27FC236}">
                    <a16:creationId xmlns:a16="http://schemas.microsoft.com/office/drawing/2014/main" id="{CA8451D7-EF43-010F-62CD-17AED6A38D2B}"/>
                  </a:ext>
                </a:extLst>
              </p:cNvPr>
              <p:cNvSpPr/>
              <p:nvPr/>
            </p:nvSpPr>
            <p:spPr>
              <a:xfrm>
                <a:off x="6198086" y="2557213"/>
                <a:ext cx="825867" cy="369332"/>
              </a:xfrm>
              <a:prstGeom prst="rect">
                <a:avLst/>
              </a:prstGeom>
            </p:spPr>
            <p:txBody>
              <a:bodyPr wrap="none">
                <a:spAutoFit/>
              </a:bodyPr>
              <a:lstStyle/>
              <a:p>
                <a:r>
                  <a:rPr lang="zh-CN" altLang="en-US" b="1" dirty="0">
                    <a:solidFill>
                      <a:srgbClr val="0432FF"/>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0432FF"/>
                    </a:solidFill>
                    <a:latin typeface="STKaiti" panose="02010600040101010101" pitchFamily="2" charset="-122"/>
                    <a:ea typeface="STKaiti" panose="02010600040101010101" pitchFamily="2" charset="-122"/>
                    <a:sym typeface="Wingdings" pitchFamily="2" charset="2"/>
                  </a:rPr>
                  <a:t> 2</a:t>
                </a:r>
                <a:endParaRPr lang="en-CN" dirty="0">
                  <a:solidFill>
                    <a:srgbClr val="0432FF"/>
                  </a:solidFill>
                  <a:ea typeface="SimHei" panose="02010609060101010101" pitchFamily="49" charset="-122"/>
                </a:endParaRPr>
              </a:p>
            </p:txBody>
          </p:sp>
          <p:sp>
            <p:nvSpPr>
              <p:cNvPr id="79" name="Left Brace 83">
                <a:extLst>
                  <a:ext uri="{FF2B5EF4-FFF2-40B4-BE49-F238E27FC236}">
                    <a16:creationId xmlns:a16="http://schemas.microsoft.com/office/drawing/2014/main" id="{9A2DD923-BC92-765A-9C84-8E2770E2E0C7}"/>
                  </a:ext>
                </a:extLst>
              </p:cNvPr>
              <p:cNvSpPr/>
              <p:nvPr/>
            </p:nvSpPr>
            <p:spPr>
              <a:xfrm>
                <a:off x="7012294" y="1906177"/>
                <a:ext cx="229881" cy="1698625"/>
              </a:xfrm>
              <a:prstGeom prst="leftBrace">
                <a:avLst>
                  <a:gd name="adj1" fmla="val 61879"/>
                  <a:gd name="adj2" fmla="val 50000"/>
                </a:avLst>
              </a:prstGeom>
              <a:ln w="25400">
                <a:solidFill>
                  <a:srgbClr val="0432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solidFill>
                    <a:srgbClr val="0432FF"/>
                  </a:solidFill>
                </a:endParaRPr>
              </a:p>
            </p:txBody>
          </p:sp>
        </p:grpSp>
      </p:grpSp>
      <p:sp>
        <p:nvSpPr>
          <p:cNvPr id="82" name="Rectangle 1">
            <a:extLst>
              <a:ext uri="{FF2B5EF4-FFF2-40B4-BE49-F238E27FC236}">
                <a16:creationId xmlns:a16="http://schemas.microsoft.com/office/drawing/2014/main" id="{44191C4C-0E12-C4A6-2EFD-A8AF5372FCDC}"/>
              </a:ext>
            </a:extLst>
          </p:cNvPr>
          <p:cNvSpPr/>
          <p:nvPr/>
        </p:nvSpPr>
        <p:spPr>
          <a:xfrm>
            <a:off x="1090387" y="4218745"/>
            <a:ext cx="4121375" cy="400110"/>
          </a:xfrm>
          <a:prstGeom prst="rect">
            <a:avLst/>
          </a:prstGeom>
        </p:spPr>
        <p:txBody>
          <a:bodyPr wrap="square">
            <a:spAutoFit/>
          </a:bodyPr>
          <a:lstStyle/>
          <a:p>
            <a:r>
              <a:rPr lang="zh-CN" altLang="en-US" sz="2000" dirty="0">
                <a:solidFill>
                  <a:srgbClr val="7030A0"/>
                </a:solidFill>
                <a:ea typeface="SimHei" panose="02010609060101010101" pitchFamily="49" charset="-122"/>
              </a:rPr>
              <a:t>块</a:t>
            </a:r>
            <a:r>
              <a:rPr lang="en-US" sz="2000" dirty="0">
                <a:solidFill>
                  <a:srgbClr val="7030A0"/>
                </a:solidFill>
                <a:ea typeface="SimHei" panose="02010609060101010101" pitchFamily="49" charset="-122"/>
              </a:rPr>
              <a:t> N*k+1 </a:t>
            </a:r>
            <a:r>
              <a:rPr lang="zh-CN" altLang="en-US" sz="2000" dirty="0">
                <a:solidFill>
                  <a:srgbClr val="7030A0"/>
                </a:solidFill>
                <a:ea typeface="SimHei" panose="02010609060101010101" pitchFamily="49" charset="-122"/>
              </a:rPr>
              <a:t>不能存储在</a:t>
            </a:r>
            <a:r>
              <a:rPr lang="en-US" sz="2000" dirty="0">
                <a:solidFill>
                  <a:srgbClr val="7030A0"/>
                </a:solidFill>
                <a:ea typeface="SimHei" panose="02010609060101010101" pitchFamily="49" charset="-122"/>
              </a:rPr>
              <a:t> </a:t>
            </a:r>
            <a:r>
              <a:rPr lang="zh-CN" altLang="en-US" sz="2000" dirty="0">
                <a:solidFill>
                  <a:srgbClr val="7030A0"/>
                </a:solidFill>
                <a:ea typeface="SimHei" panose="02010609060101010101" pitchFamily="49" charset="-122"/>
              </a:rPr>
              <a:t>第</a:t>
            </a:r>
            <a:r>
              <a:rPr lang="en-US" sz="2000" dirty="0">
                <a:solidFill>
                  <a:srgbClr val="7030A0"/>
                </a:solidFill>
                <a:ea typeface="SimHei" panose="02010609060101010101" pitchFamily="49" charset="-122"/>
              </a:rPr>
              <a:t>0</a:t>
            </a:r>
            <a:r>
              <a:rPr lang="zh-CN" altLang="en-US" sz="2000" dirty="0">
                <a:solidFill>
                  <a:srgbClr val="7030A0"/>
                </a:solidFill>
                <a:ea typeface="SimHei" panose="02010609060101010101" pitchFamily="49" charset="-122"/>
              </a:rPr>
              <a:t>行</a:t>
            </a:r>
            <a:endParaRPr lang="en-US" sz="2000" dirty="0">
              <a:solidFill>
                <a:srgbClr val="7030A0"/>
              </a:solidFill>
              <a:ea typeface="SimHei" panose="02010609060101010101" pitchFamily="49" charset="-122"/>
            </a:endParaRPr>
          </a:p>
        </p:txBody>
      </p:sp>
      <p:graphicFrame>
        <p:nvGraphicFramePr>
          <p:cNvPr id="85" name="Table 54">
            <a:extLst>
              <a:ext uri="{FF2B5EF4-FFF2-40B4-BE49-F238E27FC236}">
                <a16:creationId xmlns:a16="http://schemas.microsoft.com/office/drawing/2014/main" id="{1EE57CAC-B05E-EB15-A081-4B0D860EB0EA}"/>
              </a:ext>
            </a:extLst>
          </p:cNvPr>
          <p:cNvGraphicFramePr>
            <a:graphicFrameLocks noGrp="1"/>
          </p:cNvGraphicFramePr>
          <p:nvPr/>
        </p:nvGraphicFramePr>
        <p:xfrm>
          <a:off x="4570161" y="2528120"/>
          <a:ext cx="400033" cy="1533260"/>
        </p:xfrm>
        <a:graphic>
          <a:graphicData uri="http://schemas.openxmlformats.org/drawingml/2006/table">
            <a:tbl>
              <a:tblPr firstRow="1" bandRow="1">
                <a:tableStyleId>{5C22544A-7EE6-4342-B048-85BDC9FD1C3A}</a:tableStyleId>
              </a:tblPr>
              <a:tblGrid>
                <a:gridCol w="400033">
                  <a:extLst>
                    <a:ext uri="{9D8B030D-6E8A-4147-A177-3AD203B41FA5}">
                      <a16:colId xmlns:a16="http://schemas.microsoft.com/office/drawing/2014/main" val="1197209032"/>
                    </a:ext>
                  </a:extLst>
                </a:gridCol>
              </a:tblGrid>
              <a:tr h="383315">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mn-lt"/>
                          <a:ea typeface="STKaiti" panose="02010600040101010101" pitchFamily="2" charset="-122"/>
                          <a:cs typeface="+mn-cs"/>
                        </a:rPr>
                        <a:t>TAG</a:t>
                      </a:r>
                      <a:endParaRPr kumimoji="0" lang="zh-CN" altLang="en-US" sz="1400" b="1" i="0" u="none" strike="noStrike" kern="1200" cap="none" spc="0" normalizeH="0" baseline="0" noProof="0" dirty="0">
                        <a:ln>
                          <a:noFill/>
                        </a:ln>
                        <a:solidFill>
                          <a:srgbClr val="0432FF"/>
                        </a:solidFill>
                        <a:effectLst/>
                        <a:uLnTx/>
                        <a:uFillTx/>
                        <a:latin typeface="+mn-lt"/>
                        <a:ea typeface="STKaiti" panose="02010600040101010101" pitchFamily="2"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FD99"/>
                    </a:solidFill>
                  </a:tcPr>
                </a:tc>
                <a:extLst>
                  <a:ext uri="{0D108BD9-81ED-4DB2-BD59-A6C34878D82A}">
                    <a16:rowId xmlns:a16="http://schemas.microsoft.com/office/drawing/2014/main" val="75425750"/>
                  </a:ext>
                </a:extLst>
              </a:tr>
              <a:tr h="383315">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mn-lt"/>
                          <a:ea typeface="STKaiti" panose="02010600040101010101" pitchFamily="2" charset="-122"/>
                          <a:cs typeface="+mn-cs"/>
                        </a:rPr>
                        <a:t>TAG</a:t>
                      </a:r>
                      <a:endParaRPr kumimoji="0" lang="zh-CN" altLang="en-US" sz="1400" b="1" i="0" u="none" strike="noStrike" kern="1200" cap="none" spc="0" normalizeH="0" baseline="0" noProof="0" dirty="0">
                        <a:ln>
                          <a:noFill/>
                        </a:ln>
                        <a:solidFill>
                          <a:srgbClr val="0432FF"/>
                        </a:solidFill>
                        <a:effectLst/>
                        <a:uLnTx/>
                        <a:uFillTx/>
                        <a:latin typeface="+mn-lt"/>
                        <a:ea typeface="STKaiti" panose="02010600040101010101" pitchFamily="2"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538412875"/>
                  </a:ext>
                </a:extLst>
              </a:tr>
              <a:tr h="383315">
                <a:tc>
                  <a:txBody>
                    <a:bodyPr/>
                    <a:lstStyle/>
                    <a:p>
                      <a:pPr algn="ctr"/>
                      <a:endParaRPr lang="en-CN" sz="1400" dirty="0">
                        <a:solidFill>
                          <a:srgbClr val="0432FF"/>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062010"/>
                  </a:ext>
                </a:extLst>
              </a:tr>
              <a:tr h="383315">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mn-lt"/>
                          <a:ea typeface="STKaiti" panose="02010600040101010101" pitchFamily="2" charset="-122"/>
                          <a:cs typeface="+mn-cs"/>
                        </a:rPr>
                        <a:t>TAG</a:t>
                      </a:r>
                      <a:endParaRPr kumimoji="0" lang="zh-CN" altLang="en-US" sz="1400" b="1" i="0" u="none" strike="noStrike" kern="1200" cap="none" spc="0" normalizeH="0" baseline="0" noProof="0" dirty="0">
                        <a:ln>
                          <a:noFill/>
                        </a:ln>
                        <a:solidFill>
                          <a:srgbClr val="0432FF"/>
                        </a:solidFill>
                        <a:effectLst/>
                        <a:uLnTx/>
                        <a:uFillTx/>
                        <a:latin typeface="+mn-lt"/>
                        <a:ea typeface="STKaiti" panose="02010600040101010101" pitchFamily="2" charset="-122"/>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1149388053"/>
                  </a:ext>
                </a:extLst>
              </a:tr>
            </a:tbl>
          </a:graphicData>
        </a:graphic>
      </p:graphicFrame>
      <p:sp>
        <p:nvSpPr>
          <p:cNvPr id="87" name="Rectangle 55">
            <a:extLst>
              <a:ext uri="{FF2B5EF4-FFF2-40B4-BE49-F238E27FC236}">
                <a16:creationId xmlns:a16="http://schemas.microsoft.com/office/drawing/2014/main" id="{46F37ACA-DEE5-B765-FB3F-78286935BCD5}"/>
              </a:ext>
            </a:extLst>
          </p:cNvPr>
          <p:cNvSpPr/>
          <p:nvPr/>
        </p:nvSpPr>
        <p:spPr>
          <a:xfrm>
            <a:off x="4565394" y="2504076"/>
            <a:ext cx="397926" cy="1559738"/>
          </a:xfrm>
          <a:prstGeom prst="rect">
            <a:avLst/>
          </a:prstGeom>
          <a:noFill/>
          <a:ln w="57150">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solidFill>
                <a:srgbClr val="0432FF"/>
              </a:solidFill>
            </a:endParaRPr>
          </a:p>
        </p:txBody>
      </p:sp>
    </p:spTree>
    <p:extLst>
      <p:ext uri="{BB962C8B-B14F-4D97-AF65-F5344CB8AC3E}">
        <p14:creationId xmlns:p14="http://schemas.microsoft.com/office/powerpoint/2010/main" val="3103382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8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41</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19828" y="1412055"/>
            <a:ext cx="7383053" cy="489912"/>
          </a:xfrm>
        </p:spPr>
        <p:txBody>
          <a:bodyPr/>
          <a:lstStyle/>
          <a:p>
            <a:pPr marL="514350" indent="-457200" algn="just">
              <a:spcBef>
                <a:spcPts val="1000"/>
              </a:spcBef>
            </a:pPr>
            <a:r>
              <a:rPr kumimoji="1" lang="zh-CN" altLang="en-US" sz="2000" dirty="0"/>
              <a:t>直接映像：</a:t>
            </a:r>
            <a:r>
              <a:rPr lang="zh-CN" altLang="en-US" sz="2000" dirty="0"/>
              <a:t>每个主存块只能装入到</a:t>
            </a:r>
            <a:r>
              <a:rPr lang="en-US" altLang="zh-CN" sz="2000" dirty="0"/>
              <a:t>Cache</a:t>
            </a:r>
            <a:r>
              <a:rPr lang="zh-CN" altLang="en-US" sz="2000" dirty="0"/>
              <a:t>中</a:t>
            </a:r>
            <a:r>
              <a:rPr lang="zh-CN" altLang="en-US" sz="2000" dirty="0">
                <a:solidFill>
                  <a:srgbClr val="0432FF"/>
                </a:solidFill>
              </a:rPr>
              <a:t>唯一</a:t>
            </a:r>
            <a:r>
              <a:rPr lang="zh-CN" altLang="en-US" sz="2000" dirty="0"/>
              <a:t>特定行中</a:t>
            </a:r>
            <a:endParaRPr lang="en-US" altLang="zh-CN" sz="2000" dirty="0"/>
          </a:p>
          <a:p>
            <a:pPr marL="514350" indent="-457200" algn="just">
              <a:spcBef>
                <a:spcPts val="1000"/>
              </a:spcBef>
            </a:pPr>
            <a:r>
              <a:rPr lang="zh-CN" altLang="en-US" sz="2000" dirty="0"/>
              <a:t>示例：</a:t>
            </a:r>
          </a:p>
        </p:txBody>
      </p:sp>
      <p:sp>
        <p:nvSpPr>
          <p:cNvPr id="6" name="Rectangle 4">
            <a:extLst>
              <a:ext uri="{FF2B5EF4-FFF2-40B4-BE49-F238E27FC236}">
                <a16:creationId xmlns:a16="http://schemas.microsoft.com/office/drawing/2014/main" id="{677D1A66-8D5F-5341-9D38-511AF4CE89EB}"/>
              </a:ext>
            </a:extLst>
          </p:cNvPr>
          <p:cNvSpPr>
            <a:spLocks noChangeArrowheads="1"/>
          </p:cNvSpPr>
          <p:nvPr/>
        </p:nvSpPr>
        <p:spPr bwMode="auto">
          <a:xfrm>
            <a:off x="4575356" y="1861168"/>
            <a:ext cx="31242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lgn="ctr" defTabSz="1009650"/>
            <a:r>
              <a:rPr lang="zh-CN" altLang="en-US" b="1" dirty="0">
                <a:latin typeface="STKaiti" panose="02010600040101010101" pitchFamily="2" charset="-122"/>
                <a:ea typeface="STKaiti" panose="02010600040101010101" pitchFamily="2" charset="-122"/>
              </a:rPr>
              <a:t>主存（假设起始地址为</a:t>
            </a:r>
            <a:r>
              <a:rPr lang="en-US" altLang="zh-CN" b="1" dirty="0">
                <a:latin typeface="STKaiti" panose="02010600040101010101" pitchFamily="2" charset="-122"/>
                <a:ea typeface="STKaiti" panose="02010600040101010101" pitchFamily="2" charset="-122"/>
              </a:rPr>
              <a:t>AB00</a:t>
            </a:r>
            <a:r>
              <a:rPr lang="zh-CN" altLang="en-US" b="1" dirty="0">
                <a:latin typeface="STKaiti" panose="02010600040101010101" pitchFamily="2" charset="-122"/>
                <a:ea typeface="STKaiti" panose="02010600040101010101" pitchFamily="2" charset="-122"/>
              </a:rPr>
              <a:t>）</a:t>
            </a:r>
            <a:endParaRPr lang="zh-CN" altLang="en-US" sz="1400" b="1" dirty="0">
              <a:latin typeface="STKaiti" panose="02010600040101010101" pitchFamily="2" charset="-122"/>
              <a:ea typeface="STKaiti" panose="02010600040101010101" pitchFamily="2" charset="-122"/>
            </a:endParaRPr>
          </a:p>
        </p:txBody>
      </p:sp>
      <p:sp>
        <p:nvSpPr>
          <p:cNvPr id="7" name="Rectangle 5">
            <a:extLst>
              <a:ext uri="{FF2B5EF4-FFF2-40B4-BE49-F238E27FC236}">
                <a16:creationId xmlns:a16="http://schemas.microsoft.com/office/drawing/2014/main" id="{6C5CB188-1B4E-3C43-B88F-4729A36CDDCA}"/>
              </a:ext>
            </a:extLst>
          </p:cNvPr>
          <p:cNvSpPr>
            <a:spLocks noChangeArrowheads="1"/>
          </p:cNvSpPr>
          <p:nvPr/>
        </p:nvSpPr>
        <p:spPr bwMode="auto">
          <a:xfrm>
            <a:off x="1628279" y="2772118"/>
            <a:ext cx="58509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dirty="0">
                <a:latin typeface="STKaiti" panose="02010600040101010101" pitchFamily="2" charset="-122"/>
                <a:ea typeface="STKaiti" panose="02010600040101010101" pitchFamily="2" charset="-122"/>
              </a:rPr>
              <a:t>Cache</a:t>
            </a:r>
            <a:endParaRPr lang="en-US" altLang="zh-CN" sz="1400" b="1" dirty="0">
              <a:latin typeface="STKaiti" panose="02010600040101010101" pitchFamily="2" charset="-122"/>
              <a:ea typeface="STKaiti" panose="02010600040101010101" pitchFamily="2" charset="-122"/>
            </a:endParaRPr>
          </a:p>
        </p:txBody>
      </p:sp>
      <p:sp>
        <p:nvSpPr>
          <p:cNvPr id="16" name="Rectangle 14">
            <a:extLst>
              <a:ext uri="{FF2B5EF4-FFF2-40B4-BE49-F238E27FC236}">
                <a16:creationId xmlns:a16="http://schemas.microsoft.com/office/drawing/2014/main" id="{066DB05E-41B3-3F47-ADAC-9868AA3E8B5C}"/>
              </a:ext>
            </a:extLst>
          </p:cNvPr>
          <p:cNvSpPr>
            <a:spLocks noChangeArrowheads="1"/>
          </p:cNvSpPr>
          <p:nvPr/>
        </p:nvSpPr>
        <p:spPr bwMode="auto">
          <a:xfrm>
            <a:off x="1867261" y="3142780"/>
            <a:ext cx="1980000" cy="388937"/>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22" name="Rectangle 20">
            <a:extLst>
              <a:ext uri="{FF2B5EF4-FFF2-40B4-BE49-F238E27FC236}">
                <a16:creationId xmlns:a16="http://schemas.microsoft.com/office/drawing/2014/main" id="{F670F4A7-B472-A646-AAE8-D3FA5C2CE6BC}"/>
              </a:ext>
            </a:extLst>
          </p:cNvPr>
          <p:cNvSpPr>
            <a:spLocks noChangeArrowheads="1"/>
          </p:cNvSpPr>
          <p:nvPr/>
        </p:nvSpPr>
        <p:spPr bwMode="auto">
          <a:xfrm>
            <a:off x="1867261" y="3515842"/>
            <a:ext cx="1980000" cy="388938"/>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34" name="Rectangle 32">
            <a:extLst>
              <a:ext uri="{FF2B5EF4-FFF2-40B4-BE49-F238E27FC236}">
                <a16:creationId xmlns:a16="http://schemas.microsoft.com/office/drawing/2014/main" id="{F9DAC014-19BF-7D43-B6F7-4174A60785FD}"/>
              </a:ext>
            </a:extLst>
          </p:cNvPr>
          <p:cNvSpPr>
            <a:spLocks noChangeArrowheads="1"/>
          </p:cNvSpPr>
          <p:nvPr/>
        </p:nvSpPr>
        <p:spPr bwMode="auto">
          <a:xfrm>
            <a:off x="1867261" y="3904780"/>
            <a:ext cx="1980000" cy="388937"/>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40" name="Rectangle 38">
            <a:extLst>
              <a:ext uri="{FF2B5EF4-FFF2-40B4-BE49-F238E27FC236}">
                <a16:creationId xmlns:a16="http://schemas.microsoft.com/office/drawing/2014/main" id="{88D97B6B-586F-C946-854D-05B5BCD3F3C7}"/>
              </a:ext>
            </a:extLst>
          </p:cNvPr>
          <p:cNvSpPr>
            <a:spLocks noChangeArrowheads="1"/>
          </p:cNvSpPr>
          <p:nvPr/>
        </p:nvSpPr>
        <p:spPr bwMode="auto">
          <a:xfrm>
            <a:off x="1867260" y="4277109"/>
            <a:ext cx="1980000" cy="388937"/>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125" name="Rectangle 14">
            <a:extLst>
              <a:ext uri="{FF2B5EF4-FFF2-40B4-BE49-F238E27FC236}">
                <a16:creationId xmlns:a16="http://schemas.microsoft.com/office/drawing/2014/main" id="{54784FB3-06E9-1249-986D-3D8D0F413335}"/>
              </a:ext>
            </a:extLst>
          </p:cNvPr>
          <p:cNvSpPr>
            <a:spLocks noChangeArrowheads="1"/>
          </p:cNvSpPr>
          <p:nvPr/>
        </p:nvSpPr>
        <p:spPr bwMode="auto">
          <a:xfrm>
            <a:off x="736080" y="3142781"/>
            <a:ext cx="1131182" cy="373062"/>
          </a:xfrm>
          <a:prstGeom prst="rect">
            <a:avLst/>
          </a:prstGeom>
          <a:solidFill>
            <a:srgbClr val="FFFF00"/>
          </a:solidFill>
          <a:ln w="14288">
            <a:solidFill>
              <a:srgbClr val="000000"/>
            </a:solidFill>
            <a:miter lim="800000"/>
            <a:headEnd/>
            <a:tailEnd/>
          </a:ln>
        </p:spPr>
        <p:txBody>
          <a:bodyPr/>
          <a:lstStyle/>
          <a:p>
            <a:r>
              <a:rPr lang="en-US" altLang="zh-CN" sz="1600" b="1" dirty="0">
                <a:latin typeface="Arial" panose="020B0604020202020204" pitchFamily="34" charset="0"/>
                <a:ea typeface="黑体" panose="02010609060101010101" pitchFamily="49" charset="-122"/>
                <a:cs typeface="Arial" panose="020B0604020202020204" pitchFamily="34" charset="0"/>
              </a:rPr>
              <a:t>TAG: </a:t>
            </a:r>
            <a:endParaRPr lang="zh-CN" altLang="en-US" sz="1600" b="1" dirty="0">
              <a:solidFill>
                <a:srgbClr val="0432FF"/>
              </a:solidFill>
              <a:latin typeface="Arial" panose="020B0604020202020204" pitchFamily="34" charset="0"/>
              <a:ea typeface="黑体" panose="02010609060101010101" pitchFamily="49" charset="-122"/>
              <a:cs typeface="Arial" panose="020B0604020202020204" pitchFamily="34" charset="0"/>
            </a:endParaRPr>
          </a:p>
        </p:txBody>
      </p:sp>
      <p:sp>
        <p:nvSpPr>
          <p:cNvPr id="126" name="Rectangle 14">
            <a:extLst>
              <a:ext uri="{FF2B5EF4-FFF2-40B4-BE49-F238E27FC236}">
                <a16:creationId xmlns:a16="http://schemas.microsoft.com/office/drawing/2014/main" id="{2C1A2140-CD8C-F64E-8A91-D5BF5258BAEC}"/>
              </a:ext>
            </a:extLst>
          </p:cNvPr>
          <p:cNvSpPr>
            <a:spLocks noChangeArrowheads="1"/>
          </p:cNvSpPr>
          <p:nvPr/>
        </p:nvSpPr>
        <p:spPr bwMode="auto">
          <a:xfrm>
            <a:off x="736080" y="3515843"/>
            <a:ext cx="1131182" cy="388678"/>
          </a:xfrm>
          <a:prstGeom prst="rect">
            <a:avLst/>
          </a:prstGeom>
          <a:solidFill>
            <a:srgbClr val="CCFFCC"/>
          </a:solidFill>
          <a:ln w="14288">
            <a:solidFill>
              <a:srgbClr val="000000"/>
            </a:solidFill>
            <a:miter lim="800000"/>
            <a:headEnd/>
            <a:tailEnd/>
          </a:ln>
        </p:spPr>
        <p:txBody>
          <a:bodyPr/>
          <a:lstStyle/>
          <a:p>
            <a:r>
              <a:rPr lang="en-US" altLang="zh-CN" sz="1600" b="1" dirty="0">
                <a:latin typeface="Arial" panose="020B0604020202020204" pitchFamily="34" charset="0"/>
                <a:ea typeface="黑体" panose="02010609060101010101" pitchFamily="49" charset="-122"/>
                <a:cs typeface="Arial" panose="020B0604020202020204" pitchFamily="34" charset="0"/>
              </a:rPr>
              <a:t>TAG:</a:t>
            </a:r>
            <a:endParaRPr lang="zh-CN" altLang="en-US" sz="1600" b="1" dirty="0">
              <a:solidFill>
                <a:srgbClr val="0432FF"/>
              </a:solidFill>
              <a:latin typeface="Arial" panose="020B0604020202020204" pitchFamily="34" charset="0"/>
              <a:ea typeface="黑体" panose="02010609060101010101" pitchFamily="49" charset="-122"/>
              <a:cs typeface="Arial" panose="020B0604020202020204" pitchFamily="34" charset="0"/>
            </a:endParaRPr>
          </a:p>
        </p:txBody>
      </p:sp>
      <p:sp>
        <p:nvSpPr>
          <p:cNvPr id="127" name="Rectangle 14">
            <a:extLst>
              <a:ext uri="{FF2B5EF4-FFF2-40B4-BE49-F238E27FC236}">
                <a16:creationId xmlns:a16="http://schemas.microsoft.com/office/drawing/2014/main" id="{F5D8983B-4E9D-7D47-BE4C-CA6485A04978}"/>
              </a:ext>
            </a:extLst>
          </p:cNvPr>
          <p:cNvSpPr>
            <a:spLocks noChangeArrowheads="1"/>
          </p:cNvSpPr>
          <p:nvPr/>
        </p:nvSpPr>
        <p:spPr bwMode="auto">
          <a:xfrm>
            <a:off x="736080" y="3904306"/>
            <a:ext cx="1131182" cy="396325"/>
          </a:xfrm>
          <a:prstGeom prst="rect">
            <a:avLst/>
          </a:prstGeom>
          <a:solidFill>
            <a:schemeClr val="bg1"/>
          </a:solidFill>
          <a:ln w="14288">
            <a:solidFill>
              <a:srgbClr val="000000"/>
            </a:solidFill>
            <a:miter lim="800000"/>
            <a:headEnd/>
            <a:tailEnd/>
          </a:ln>
        </p:spPr>
        <p:txBody>
          <a:bodyPr/>
          <a:lstStyle/>
          <a:p>
            <a:r>
              <a:rPr lang="en-US" altLang="zh-CN" sz="1600" b="1" dirty="0">
                <a:latin typeface="Arial" panose="020B0604020202020204" pitchFamily="34" charset="0"/>
                <a:ea typeface="黑体" panose="02010609060101010101" pitchFamily="49" charset="-122"/>
                <a:cs typeface="Arial" panose="020B0604020202020204" pitchFamily="34" charset="0"/>
              </a:rPr>
              <a:t>TAG:</a:t>
            </a:r>
            <a:endParaRPr lang="zh-CN" altLang="en-US" sz="1600" b="1"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sp>
        <p:nvSpPr>
          <p:cNvPr id="128" name="Rectangle 14">
            <a:extLst>
              <a:ext uri="{FF2B5EF4-FFF2-40B4-BE49-F238E27FC236}">
                <a16:creationId xmlns:a16="http://schemas.microsoft.com/office/drawing/2014/main" id="{2F89CE5A-5BDC-DF4F-8792-02E0F57C2BE3}"/>
              </a:ext>
            </a:extLst>
          </p:cNvPr>
          <p:cNvSpPr>
            <a:spLocks noChangeArrowheads="1"/>
          </p:cNvSpPr>
          <p:nvPr/>
        </p:nvSpPr>
        <p:spPr bwMode="auto">
          <a:xfrm>
            <a:off x="736080" y="4277110"/>
            <a:ext cx="1131182" cy="388937"/>
          </a:xfrm>
          <a:prstGeom prst="rect">
            <a:avLst/>
          </a:prstGeom>
          <a:solidFill>
            <a:srgbClr val="CDFFFF"/>
          </a:solidFill>
          <a:ln w="14288">
            <a:solidFill>
              <a:srgbClr val="000000"/>
            </a:solidFill>
            <a:miter lim="800000"/>
            <a:headEnd/>
            <a:tailEnd/>
          </a:ln>
        </p:spPr>
        <p:txBody>
          <a:bodyPr/>
          <a:lstStyle/>
          <a:p>
            <a:r>
              <a:rPr lang="en-US" altLang="zh-CN" sz="1600" b="1" dirty="0">
                <a:latin typeface="Arial" panose="020B0604020202020204" pitchFamily="34" charset="0"/>
                <a:ea typeface="黑体" panose="02010609060101010101" pitchFamily="49" charset="-122"/>
                <a:cs typeface="Arial" panose="020B0604020202020204" pitchFamily="34" charset="0"/>
              </a:rPr>
              <a:t>TAG:</a:t>
            </a:r>
            <a:endParaRPr lang="zh-CN" altLang="en-US" sz="1600" b="1" dirty="0">
              <a:solidFill>
                <a:srgbClr val="0432FF"/>
              </a:solidFill>
              <a:latin typeface="Arial" panose="020B0604020202020204" pitchFamily="34" charset="0"/>
              <a:ea typeface="黑体" panose="02010609060101010101" pitchFamily="49" charset="-122"/>
              <a:cs typeface="Arial" panose="020B0604020202020204" pitchFamily="34" charset="0"/>
            </a:endParaRPr>
          </a:p>
        </p:txBody>
      </p:sp>
      <p:sp>
        <p:nvSpPr>
          <p:cNvPr id="66" name="TextBox 65">
            <a:extLst>
              <a:ext uri="{FF2B5EF4-FFF2-40B4-BE49-F238E27FC236}">
                <a16:creationId xmlns:a16="http://schemas.microsoft.com/office/drawing/2014/main" id="{EDAEF5A7-48E1-F14E-AF92-3A0929D46EA4}"/>
              </a:ext>
            </a:extLst>
          </p:cNvPr>
          <p:cNvSpPr txBox="1"/>
          <p:nvPr/>
        </p:nvSpPr>
        <p:spPr>
          <a:xfrm>
            <a:off x="7402882" y="2224744"/>
            <a:ext cx="1640910" cy="1200329"/>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CN" dirty="0">
                <a:latin typeface="STKaiti" panose="02010600040101010101" pitchFamily="2" charset="-122"/>
                <a:ea typeface="STKaiti" panose="02010600040101010101" pitchFamily="2" charset="-122"/>
              </a:rPr>
              <a:t>每个块</a:t>
            </a:r>
            <a:r>
              <a:rPr lang="en-US" altLang="zh-CN" dirty="0">
                <a:latin typeface="STKaiti" panose="02010600040101010101" pitchFamily="2" charset="-122"/>
                <a:ea typeface="STKaiti" panose="02010600040101010101" pitchFamily="2" charset="-122"/>
              </a:rPr>
              <a:t>16</a:t>
            </a:r>
            <a:r>
              <a:rPr lang="zh-CN" altLang="en-US" dirty="0">
                <a:latin typeface="STKaiti" panose="02010600040101010101" pitchFamily="2" charset="-122"/>
                <a:ea typeface="STKaiti" panose="02010600040101010101" pitchFamily="2" charset="-122"/>
              </a:rPr>
              <a:t>个内存地址（即</a:t>
            </a:r>
            <a:r>
              <a:rPr lang="en-US" altLang="zh-CN" dirty="0">
                <a:latin typeface="STKaiti" panose="02010600040101010101" pitchFamily="2" charset="-122"/>
                <a:ea typeface="STKaiti" panose="02010600040101010101" pitchFamily="2" charset="-122"/>
              </a:rPr>
              <a:t>16</a:t>
            </a:r>
            <a:r>
              <a:rPr lang="zh-CN" altLang="en-US" dirty="0">
                <a:latin typeface="STKaiti" panose="02010600040101010101" pitchFamily="2" charset="-122"/>
                <a:ea typeface="STKaiti" panose="02010600040101010101" pitchFamily="2" charset="-122"/>
              </a:rPr>
              <a:t>个字节），对应</a:t>
            </a:r>
            <a:r>
              <a:rPr lang="zh-CN" altLang="en-CN" dirty="0">
                <a:latin typeface="STKaiti" panose="02010600040101010101" pitchFamily="2" charset="-122"/>
                <a:ea typeface="STKaiti" panose="02010600040101010101" pitchFamily="2" charset="-122"/>
              </a:rPr>
              <a:t>最</a:t>
            </a:r>
            <a:r>
              <a:rPr lang="zh-CN" altLang="en-US" dirty="0">
                <a:latin typeface="STKaiti" panose="02010600040101010101" pitchFamily="2" charset="-122"/>
                <a:ea typeface="STKaiti" panose="02010600040101010101" pitchFamily="2" charset="-122"/>
              </a:rPr>
              <a:t>末</a:t>
            </a:r>
            <a:r>
              <a:rPr lang="zh-CN" altLang="en-CN" dirty="0">
                <a:latin typeface="STKaiti" panose="02010600040101010101" pitchFamily="2" charset="-122"/>
                <a:ea typeface="STKaiti" panose="02010600040101010101" pitchFamily="2" charset="-122"/>
              </a:rPr>
              <a:t>尾</a:t>
            </a:r>
            <a:r>
              <a:rPr lang="zh-CN" altLang="en-US" dirty="0">
                <a:latin typeface="STKaiti" panose="02010600040101010101" pitchFamily="2" charset="-122"/>
                <a:ea typeface="STKaiti" panose="02010600040101010101" pitchFamily="2" charset="-122"/>
              </a:rPr>
              <a:t>的</a:t>
            </a:r>
            <a:r>
              <a:rPr lang="en-US" altLang="zh-CN" dirty="0">
                <a:solidFill>
                  <a:srgbClr val="FF0000"/>
                </a:solidFill>
                <a:latin typeface="STKaiti" panose="02010600040101010101" pitchFamily="2" charset="-122"/>
                <a:ea typeface="STKaiti" panose="02010600040101010101" pitchFamily="2" charset="-122"/>
              </a:rPr>
              <a:t>0-F</a:t>
            </a:r>
            <a:endParaRPr lang="en-CN" dirty="0">
              <a:solidFill>
                <a:srgbClr val="FF0000"/>
              </a:solidFill>
              <a:latin typeface="STKaiti" panose="02010600040101010101" pitchFamily="2" charset="-122"/>
              <a:ea typeface="STKaiti" panose="02010600040101010101" pitchFamily="2" charset="-122"/>
            </a:endParaRPr>
          </a:p>
        </p:txBody>
      </p:sp>
      <p:sp>
        <p:nvSpPr>
          <p:cNvPr id="133" name="TextBox 132">
            <a:extLst>
              <a:ext uri="{FF2B5EF4-FFF2-40B4-BE49-F238E27FC236}">
                <a16:creationId xmlns:a16="http://schemas.microsoft.com/office/drawing/2014/main" id="{DF548033-7910-E94F-8233-EE3ECE37CCAC}"/>
              </a:ext>
            </a:extLst>
          </p:cNvPr>
          <p:cNvSpPr txBox="1"/>
          <p:nvPr/>
        </p:nvSpPr>
        <p:spPr>
          <a:xfrm>
            <a:off x="1809753" y="3147747"/>
            <a:ext cx="2101857" cy="369332"/>
          </a:xfrm>
          <a:prstGeom prst="rect">
            <a:avLst/>
          </a:prstGeom>
          <a:noFill/>
        </p:spPr>
        <p:txBody>
          <a:bodyPr wrap="none" rtlCol="0">
            <a:spAutoFit/>
          </a:bodyPr>
          <a:lstStyle/>
          <a:p>
            <a:r>
              <a:rPr lang="en-CN" b="1" dirty="0">
                <a:latin typeface="STKaiti" panose="02010600040101010101" pitchFamily="2" charset="-122"/>
                <a:ea typeface="STKaiti" panose="02010600040101010101" pitchFamily="2" charset="-122"/>
              </a:rPr>
              <a:t>第</a:t>
            </a:r>
            <a:r>
              <a:rPr lang="en-US" altLang="zh-CN" b="1" dirty="0">
                <a:solidFill>
                  <a:srgbClr val="0432FF"/>
                </a:solidFill>
                <a:latin typeface="STKaiti" panose="02010600040101010101" pitchFamily="2" charset="-122"/>
                <a:ea typeface="STKaiti" panose="02010600040101010101" pitchFamily="2" charset="-122"/>
              </a:rPr>
              <a:t>0</a:t>
            </a:r>
            <a:r>
              <a:rPr lang="zh-CN" altLang="en-US" b="1" dirty="0">
                <a:latin typeface="STKaiti" panose="02010600040101010101" pitchFamily="2" charset="-122"/>
                <a:ea typeface="STKaiti" panose="02010600040101010101" pitchFamily="2" charset="-122"/>
              </a:rPr>
              <a:t>行</a:t>
            </a:r>
            <a:r>
              <a:rPr lang="en-US" altLang="zh-CN" b="1" dirty="0">
                <a:latin typeface="STKaiti" panose="02010600040101010101" pitchFamily="2" charset="-122"/>
                <a:ea typeface="STKaiti" panose="02010600040101010101" pitchFamily="2" charset="-122"/>
              </a:rPr>
              <a:t>, </a:t>
            </a:r>
            <a:r>
              <a:rPr lang="zh-CN" altLang="en-US" b="1" dirty="0">
                <a:latin typeface="STKaiti" panose="02010600040101010101" pitchFamily="2" charset="-122"/>
                <a:ea typeface="STKaiti" panose="02010600040101010101" pitchFamily="2" charset="-122"/>
              </a:rPr>
              <a:t>行内地址</a:t>
            </a:r>
            <a:r>
              <a:rPr lang="en-CN" b="1" dirty="0">
                <a:solidFill>
                  <a:srgbClr val="FF0000"/>
                </a:solidFill>
                <a:latin typeface="STKaiti" panose="02010600040101010101" pitchFamily="2" charset="-122"/>
                <a:ea typeface="STKaiti" panose="02010600040101010101" pitchFamily="2" charset="-122"/>
              </a:rPr>
              <a:t>0-F</a:t>
            </a:r>
          </a:p>
        </p:txBody>
      </p:sp>
      <p:sp>
        <p:nvSpPr>
          <p:cNvPr id="134" name="TextBox 133">
            <a:extLst>
              <a:ext uri="{FF2B5EF4-FFF2-40B4-BE49-F238E27FC236}">
                <a16:creationId xmlns:a16="http://schemas.microsoft.com/office/drawing/2014/main" id="{81CA7E64-E399-4C4C-B32B-717D637D97BE}"/>
              </a:ext>
            </a:extLst>
          </p:cNvPr>
          <p:cNvSpPr txBox="1"/>
          <p:nvPr/>
        </p:nvSpPr>
        <p:spPr>
          <a:xfrm>
            <a:off x="1810695" y="3501039"/>
            <a:ext cx="2101857" cy="369332"/>
          </a:xfrm>
          <a:prstGeom prst="rect">
            <a:avLst/>
          </a:prstGeom>
          <a:noFill/>
        </p:spPr>
        <p:txBody>
          <a:bodyPr wrap="none" rtlCol="0">
            <a:spAutoFit/>
          </a:bodyPr>
          <a:lstStyle/>
          <a:p>
            <a:r>
              <a:rPr lang="en-CN" b="1" dirty="0">
                <a:latin typeface="STKaiti" panose="02010600040101010101" pitchFamily="2" charset="-122"/>
                <a:ea typeface="STKaiti" panose="02010600040101010101" pitchFamily="2" charset="-122"/>
              </a:rPr>
              <a:t>第</a:t>
            </a:r>
            <a:r>
              <a:rPr lang="en-US" altLang="zh-CN" b="1" dirty="0">
                <a:solidFill>
                  <a:srgbClr val="0432FF"/>
                </a:solidFill>
                <a:latin typeface="STKaiti" panose="02010600040101010101" pitchFamily="2" charset="-122"/>
                <a:ea typeface="STKaiti" panose="02010600040101010101" pitchFamily="2" charset="-122"/>
              </a:rPr>
              <a:t>1</a:t>
            </a:r>
            <a:r>
              <a:rPr lang="zh-CN" altLang="en-US" b="1" dirty="0">
                <a:latin typeface="STKaiti" panose="02010600040101010101" pitchFamily="2" charset="-122"/>
                <a:ea typeface="STKaiti" panose="02010600040101010101" pitchFamily="2" charset="-122"/>
              </a:rPr>
              <a:t>行</a:t>
            </a:r>
            <a:r>
              <a:rPr lang="en-US" altLang="zh-CN" b="1" dirty="0">
                <a:latin typeface="STKaiti" panose="02010600040101010101" pitchFamily="2" charset="-122"/>
                <a:ea typeface="STKaiti" panose="02010600040101010101" pitchFamily="2" charset="-122"/>
              </a:rPr>
              <a:t>, </a:t>
            </a:r>
            <a:r>
              <a:rPr lang="zh-CN" altLang="en-US" b="1" dirty="0">
                <a:latin typeface="STKaiti" panose="02010600040101010101" pitchFamily="2" charset="-122"/>
                <a:ea typeface="STKaiti" panose="02010600040101010101" pitchFamily="2" charset="-122"/>
              </a:rPr>
              <a:t>行内地址</a:t>
            </a:r>
            <a:r>
              <a:rPr lang="en-CN" b="1" dirty="0">
                <a:solidFill>
                  <a:srgbClr val="FF0000"/>
                </a:solidFill>
                <a:latin typeface="STKaiti" panose="02010600040101010101" pitchFamily="2" charset="-122"/>
                <a:ea typeface="STKaiti" panose="02010600040101010101" pitchFamily="2" charset="-122"/>
              </a:rPr>
              <a:t>0-F</a:t>
            </a:r>
          </a:p>
        </p:txBody>
      </p:sp>
      <p:sp>
        <p:nvSpPr>
          <p:cNvPr id="135" name="TextBox 134">
            <a:extLst>
              <a:ext uri="{FF2B5EF4-FFF2-40B4-BE49-F238E27FC236}">
                <a16:creationId xmlns:a16="http://schemas.microsoft.com/office/drawing/2014/main" id="{EF72F8B7-61FB-424A-9FC5-9E6F82E5CFF7}"/>
              </a:ext>
            </a:extLst>
          </p:cNvPr>
          <p:cNvSpPr txBox="1"/>
          <p:nvPr/>
        </p:nvSpPr>
        <p:spPr>
          <a:xfrm>
            <a:off x="1798019" y="4255101"/>
            <a:ext cx="2097049" cy="353943"/>
          </a:xfrm>
          <a:prstGeom prst="rect">
            <a:avLst/>
          </a:prstGeom>
          <a:noFill/>
        </p:spPr>
        <p:txBody>
          <a:bodyPr wrap="none" rtlCol="0">
            <a:spAutoFit/>
          </a:bodyPr>
          <a:lstStyle/>
          <a:p>
            <a:r>
              <a:rPr lang="en-CN" sz="1700" b="1" dirty="0">
                <a:latin typeface="STKaiti" panose="02010600040101010101" pitchFamily="2" charset="-122"/>
                <a:ea typeface="STKaiti" panose="02010600040101010101" pitchFamily="2" charset="-122"/>
              </a:rPr>
              <a:t>第</a:t>
            </a:r>
            <a:r>
              <a:rPr lang="en-US" altLang="zh-CN" sz="1700" b="1" dirty="0">
                <a:solidFill>
                  <a:srgbClr val="0432FF"/>
                </a:solidFill>
                <a:latin typeface="STKaiti" panose="02010600040101010101" pitchFamily="2" charset="-122"/>
                <a:ea typeface="STKaiti" panose="02010600040101010101" pitchFamily="2" charset="-122"/>
              </a:rPr>
              <a:t>15</a:t>
            </a:r>
            <a:r>
              <a:rPr lang="zh-CN" altLang="en-US" sz="1700" b="1" dirty="0">
                <a:latin typeface="STKaiti" panose="02010600040101010101" pitchFamily="2" charset="-122"/>
                <a:ea typeface="STKaiti" panose="02010600040101010101" pitchFamily="2" charset="-122"/>
              </a:rPr>
              <a:t>行</a:t>
            </a:r>
            <a:r>
              <a:rPr lang="en-US" altLang="zh-CN" sz="1700" b="1" dirty="0">
                <a:latin typeface="STKaiti" panose="02010600040101010101" pitchFamily="2" charset="-122"/>
                <a:ea typeface="STKaiti" panose="02010600040101010101" pitchFamily="2" charset="-122"/>
              </a:rPr>
              <a:t>, </a:t>
            </a:r>
            <a:r>
              <a:rPr lang="zh-CN" altLang="en-US" sz="1700" b="1" dirty="0">
                <a:latin typeface="STKaiti" panose="02010600040101010101" pitchFamily="2" charset="-122"/>
                <a:ea typeface="STKaiti" panose="02010600040101010101" pitchFamily="2" charset="-122"/>
              </a:rPr>
              <a:t>行内地址</a:t>
            </a:r>
            <a:r>
              <a:rPr lang="en-CN" sz="1700" b="1" dirty="0">
                <a:solidFill>
                  <a:srgbClr val="FF0000"/>
                </a:solidFill>
                <a:latin typeface="STKaiti" panose="02010600040101010101" pitchFamily="2" charset="-122"/>
                <a:ea typeface="STKaiti" panose="02010600040101010101" pitchFamily="2" charset="-122"/>
              </a:rPr>
              <a:t>0-F</a:t>
            </a:r>
          </a:p>
        </p:txBody>
      </p:sp>
      <p:grpSp>
        <p:nvGrpSpPr>
          <p:cNvPr id="11" name="Group 10">
            <a:extLst>
              <a:ext uri="{FF2B5EF4-FFF2-40B4-BE49-F238E27FC236}">
                <a16:creationId xmlns:a16="http://schemas.microsoft.com/office/drawing/2014/main" id="{E0EF838A-356B-9644-A4EC-A25120104C7A}"/>
              </a:ext>
            </a:extLst>
          </p:cNvPr>
          <p:cNvGrpSpPr/>
          <p:nvPr/>
        </p:nvGrpSpPr>
        <p:grpSpPr>
          <a:xfrm>
            <a:off x="685086" y="4542209"/>
            <a:ext cx="3170071" cy="1370649"/>
            <a:chOff x="685086" y="4527461"/>
            <a:chExt cx="3170071" cy="1370649"/>
          </a:xfrm>
        </p:grpSpPr>
        <p:sp>
          <p:nvSpPr>
            <p:cNvPr id="5" name="TextBox 4">
              <a:extLst>
                <a:ext uri="{FF2B5EF4-FFF2-40B4-BE49-F238E27FC236}">
                  <a16:creationId xmlns:a16="http://schemas.microsoft.com/office/drawing/2014/main" id="{EF79BDBC-8670-CC4E-93DF-13F07DFA82A9}"/>
                </a:ext>
              </a:extLst>
            </p:cNvPr>
            <p:cNvSpPr txBox="1"/>
            <p:nvPr/>
          </p:nvSpPr>
          <p:spPr>
            <a:xfrm>
              <a:off x="685086" y="4974780"/>
              <a:ext cx="3170071" cy="923330"/>
            </a:xfrm>
            <a:prstGeom prst="rect">
              <a:avLst/>
            </a:prstGeom>
            <a:noFill/>
          </p:spPr>
          <p:txBody>
            <a:bodyPr wrap="square" rtlCol="0">
              <a:spAutoFit/>
            </a:bodyPr>
            <a:lstStyle/>
            <a:p>
              <a:r>
                <a:rPr lang="en-CN" dirty="0">
                  <a:latin typeface="STKaiti" panose="02010600040101010101" pitchFamily="2" charset="-122"/>
                  <a:ea typeface="STKaiti" panose="02010600040101010101" pitchFamily="2" charset="-122"/>
                </a:rPr>
                <a:t>思考</a:t>
              </a:r>
              <a:r>
                <a:rPr lang="zh-CN" altLang="en-US" dirty="0">
                  <a:latin typeface="STKaiti" panose="02010600040101010101" pitchFamily="2" charset="-122"/>
                  <a:ea typeface="STKaiti" panose="02010600040101010101" pitchFamily="2" charset="-122"/>
                </a:rPr>
                <a:t>：</a:t>
              </a:r>
              <a:endParaRPr lang="en-US" dirty="0">
                <a:latin typeface="STKaiti" panose="02010600040101010101" pitchFamily="2" charset="-122"/>
                <a:ea typeface="STKaiti" panose="02010600040101010101" pitchFamily="2" charset="-122"/>
              </a:endParaRPr>
            </a:p>
            <a:p>
              <a:r>
                <a:rPr lang="en-US" dirty="0">
                  <a:latin typeface="STKaiti" panose="02010600040101010101" pitchFamily="2" charset="-122"/>
                  <a:ea typeface="STKaiti" panose="02010600040101010101" pitchFamily="2" charset="-122"/>
                </a:rPr>
                <a:t>(1)</a:t>
              </a:r>
              <a:r>
                <a:rPr lang="zh-CN" altLang="en-US" dirty="0">
                  <a:latin typeface="STKaiti" panose="02010600040101010101" pitchFamily="2" charset="-122"/>
                  <a:ea typeface="STKaiti" panose="02010600040101010101" pitchFamily="2" charset="-122"/>
                </a:rPr>
                <a:t>第</a:t>
              </a:r>
              <a:r>
                <a:rPr lang="en-US" altLang="zh-CN" dirty="0">
                  <a:latin typeface="STKaiti" panose="02010600040101010101" pitchFamily="2" charset="-122"/>
                  <a:ea typeface="STKaiti" panose="02010600040101010101" pitchFamily="2" charset="-122"/>
                </a:rPr>
                <a:t>17</a:t>
              </a:r>
              <a:r>
                <a:rPr lang="zh-CN" altLang="en-US" dirty="0">
                  <a:latin typeface="STKaiti" panose="02010600040101010101" pitchFamily="2" charset="-122"/>
                  <a:ea typeface="STKaiti" panose="02010600040101010101" pitchFamily="2" charset="-122"/>
                </a:rPr>
                <a:t>、</a:t>
              </a:r>
              <a:r>
                <a:rPr lang="en-US" altLang="zh-CN" dirty="0">
                  <a:latin typeface="STKaiti" panose="02010600040101010101" pitchFamily="2" charset="-122"/>
                  <a:ea typeface="STKaiti" panose="02010600040101010101" pitchFamily="2" charset="-122"/>
                </a:rPr>
                <a:t>32</a:t>
              </a:r>
              <a:r>
                <a:rPr lang="zh-CN" altLang="en-US" dirty="0">
                  <a:latin typeface="STKaiti" panose="02010600040101010101" pitchFamily="2" charset="-122"/>
                  <a:ea typeface="STKaiti" panose="02010600040101010101" pitchFamily="2" charset="-122"/>
                </a:rPr>
                <a:t>块能存在第</a:t>
              </a:r>
              <a:r>
                <a:rPr lang="en-US" altLang="zh-CN" dirty="0">
                  <a:latin typeface="STKaiti" panose="02010600040101010101" pitchFamily="2" charset="-122"/>
                  <a:ea typeface="STKaiti" panose="02010600040101010101" pitchFamily="2" charset="-122"/>
                </a:rPr>
                <a:t>15</a:t>
              </a:r>
              <a:r>
                <a:rPr lang="zh-CN" altLang="en-US" dirty="0">
                  <a:latin typeface="STKaiti" panose="02010600040101010101" pitchFamily="2" charset="-122"/>
                  <a:ea typeface="STKaiti" panose="02010600040101010101" pitchFamily="2" charset="-122"/>
                </a:rPr>
                <a:t>行吗？</a:t>
              </a:r>
              <a:r>
                <a:rPr lang="en-US" altLang="zh-CN" dirty="0">
                  <a:latin typeface="STKaiti" panose="02010600040101010101" pitchFamily="2" charset="-122"/>
                  <a:ea typeface="STKaiti" panose="02010600040101010101" pitchFamily="2" charset="-122"/>
                </a:rPr>
                <a:t>(2)</a:t>
              </a:r>
              <a:r>
                <a:rPr lang="en-CN" dirty="0">
                  <a:latin typeface="STKaiti" panose="02010600040101010101" pitchFamily="2" charset="-122"/>
                  <a:ea typeface="STKaiti" panose="02010600040101010101" pitchFamily="2" charset="-122"/>
                </a:rPr>
                <a:t>ABF</a:t>
              </a:r>
              <a:r>
                <a:rPr lang="zh-CN" altLang="en-US" dirty="0">
                  <a:latin typeface="STKaiti" panose="02010600040101010101" pitchFamily="2" charset="-122"/>
                  <a:ea typeface="STKaiti" panose="02010600040101010101" pitchFamily="2" charset="-122"/>
                </a:rPr>
                <a:t>可否简写成</a:t>
              </a:r>
              <a:r>
                <a:rPr lang="en-US" altLang="zh-CN" dirty="0">
                  <a:latin typeface="STKaiti" panose="02010600040101010101" pitchFamily="2" charset="-122"/>
                  <a:ea typeface="STKaiti" panose="02010600040101010101" pitchFamily="2" charset="-122"/>
                </a:rPr>
                <a:t>AB</a:t>
              </a:r>
              <a:r>
                <a:rPr lang="zh-CN" altLang="en-US" dirty="0">
                  <a:latin typeface="STKaiti" panose="02010600040101010101" pitchFamily="2" charset="-122"/>
                  <a:ea typeface="STKaiti" panose="02010600040101010101" pitchFamily="2" charset="-122"/>
                </a:rPr>
                <a:t>？</a:t>
              </a:r>
              <a:endParaRPr lang="en-CN" dirty="0">
                <a:latin typeface="STKaiti" panose="02010600040101010101" pitchFamily="2" charset="-122"/>
                <a:ea typeface="STKaiti" panose="02010600040101010101" pitchFamily="2" charset="-122"/>
              </a:endParaRPr>
            </a:p>
          </p:txBody>
        </p:sp>
        <p:cxnSp>
          <p:nvCxnSpPr>
            <p:cNvPr id="10" name="Straight Arrow Connector 9">
              <a:extLst>
                <a:ext uri="{FF2B5EF4-FFF2-40B4-BE49-F238E27FC236}">
                  <a16:creationId xmlns:a16="http://schemas.microsoft.com/office/drawing/2014/main" id="{D1E1BA1D-B16E-E649-B645-7266C4290FE7}"/>
                </a:ext>
              </a:extLst>
            </p:cNvPr>
            <p:cNvCxnSpPr/>
            <p:nvPr/>
          </p:nvCxnSpPr>
          <p:spPr>
            <a:xfrm flipV="1">
              <a:off x="1301671" y="4527461"/>
              <a:ext cx="147988" cy="428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0" name="Rectangle 6">
            <a:extLst>
              <a:ext uri="{FF2B5EF4-FFF2-40B4-BE49-F238E27FC236}">
                <a16:creationId xmlns:a16="http://schemas.microsoft.com/office/drawing/2014/main" id="{96AADE10-90AF-2A25-E9C0-5B0968FB3D8F}"/>
              </a:ext>
            </a:extLst>
          </p:cNvPr>
          <p:cNvSpPr>
            <a:spLocks noChangeArrowheads="1"/>
          </p:cNvSpPr>
          <p:nvPr/>
        </p:nvSpPr>
        <p:spPr bwMode="auto">
          <a:xfrm>
            <a:off x="5000442" y="2224425"/>
            <a:ext cx="1969856" cy="434975"/>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71" name="Rectangle 10">
            <a:extLst>
              <a:ext uri="{FF2B5EF4-FFF2-40B4-BE49-F238E27FC236}">
                <a16:creationId xmlns:a16="http://schemas.microsoft.com/office/drawing/2014/main" id="{B3BDBF14-7CAC-9458-8107-E7CA9922B6B7}"/>
              </a:ext>
            </a:extLst>
          </p:cNvPr>
          <p:cNvSpPr>
            <a:spLocks noChangeArrowheads="1"/>
          </p:cNvSpPr>
          <p:nvPr/>
        </p:nvSpPr>
        <p:spPr bwMode="auto">
          <a:xfrm>
            <a:off x="5000442" y="2663285"/>
            <a:ext cx="1969855" cy="432677"/>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72" name="Rectangle 18">
            <a:extLst>
              <a:ext uri="{FF2B5EF4-FFF2-40B4-BE49-F238E27FC236}">
                <a16:creationId xmlns:a16="http://schemas.microsoft.com/office/drawing/2014/main" id="{493A452B-92C7-9142-41B6-86986707350B}"/>
              </a:ext>
            </a:extLst>
          </p:cNvPr>
          <p:cNvSpPr>
            <a:spLocks noChangeArrowheads="1"/>
          </p:cNvSpPr>
          <p:nvPr/>
        </p:nvSpPr>
        <p:spPr bwMode="auto">
          <a:xfrm>
            <a:off x="5000442" y="3095963"/>
            <a:ext cx="1969856" cy="436562"/>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73" name="Rectangle 24">
            <a:extLst>
              <a:ext uri="{FF2B5EF4-FFF2-40B4-BE49-F238E27FC236}">
                <a16:creationId xmlns:a16="http://schemas.microsoft.com/office/drawing/2014/main" id="{0222F84B-E51E-4424-F693-9AAEB0C62937}"/>
              </a:ext>
            </a:extLst>
          </p:cNvPr>
          <p:cNvSpPr>
            <a:spLocks noChangeArrowheads="1"/>
          </p:cNvSpPr>
          <p:nvPr/>
        </p:nvSpPr>
        <p:spPr bwMode="auto">
          <a:xfrm>
            <a:off x="5000442" y="3532525"/>
            <a:ext cx="1969856" cy="434975"/>
          </a:xfrm>
          <a:prstGeom prst="rect">
            <a:avLst/>
          </a:prstGeom>
          <a:solidFill>
            <a:srgbClr val="CCFFFF"/>
          </a:solidFill>
          <a:ln w="14288">
            <a:solidFill>
              <a:srgbClr val="000000"/>
            </a:solidFill>
            <a:miter lim="800000"/>
            <a:headEnd/>
            <a:tailEnd/>
          </a:ln>
        </p:spPr>
        <p:txBody>
          <a:bodyPr/>
          <a:lstStyle/>
          <a:p>
            <a:endParaRPr lang="zh-CN" altLang="en-US" dirty="0">
              <a:latin typeface="+mn-ea"/>
              <a:ea typeface="+mn-ea"/>
            </a:endParaRPr>
          </a:p>
        </p:txBody>
      </p:sp>
      <p:sp>
        <p:nvSpPr>
          <p:cNvPr id="74" name="Rectangle 30">
            <a:extLst>
              <a:ext uri="{FF2B5EF4-FFF2-40B4-BE49-F238E27FC236}">
                <a16:creationId xmlns:a16="http://schemas.microsoft.com/office/drawing/2014/main" id="{B5BAD422-33C8-13DC-7B7D-FEA9F91AB3C1}"/>
              </a:ext>
            </a:extLst>
          </p:cNvPr>
          <p:cNvSpPr>
            <a:spLocks noChangeArrowheads="1"/>
          </p:cNvSpPr>
          <p:nvPr/>
        </p:nvSpPr>
        <p:spPr bwMode="auto">
          <a:xfrm>
            <a:off x="5000443" y="3967500"/>
            <a:ext cx="1752600" cy="838200"/>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75" name="Rectangle 31">
            <a:extLst>
              <a:ext uri="{FF2B5EF4-FFF2-40B4-BE49-F238E27FC236}">
                <a16:creationId xmlns:a16="http://schemas.microsoft.com/office/drawing/2014/main" id="{0F38DBE1-3AE9-A895-1312-B4890031FC8D}"/>
              </a:ext>
            </a:extLst>
          </p:cNvPr>
          <p:cNvSpPr>
            <a:spLocks noChangeArrowheads="1"/>
          </p:cNvSpPr>
          <p:nvPr/>
        </p:nvSpPr>
        <p:spPr bwMode="auto">
          <a:xfrm>
            <a:off x="5771968" y="5958225"/>
            <a:ext cx="2837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sz="2200" b="1">
                <a:latin typeface="+mn-ea"/>
                <a:ea typeface="+mn-ea"/>
              </a:rPr>
              <a:t>…</a:t>
            </a:r>
          </a:p>
        </p:txBody>
      </p:sp>
      <p:sp>
        <p:nvSpPr>
          <p:cNvPr id="76" name="Rectangle 34">
            <a:extLst>
              <a:ext uri="{FF2B5EF4-FFF2-40B4-BE49-F238E27FC236}">
                <a16:creationId xmlns:a16="http://schemas.microsoft.com/office/drawing/2014/main" id="{ACAE2617-1C7E-89EE-B50E-B12AC106EAF2}"/>
              </a:ext>
            </a:extLst>
          </p:cNvPr>
          <p:cNvSpPr>
            <a:spLocks noChangeArrowheads="1"/>
          </p:cNvSpPr>
          <p:nvPr/>
        </p:nvSpPr>
        <p:spPr bwMode="auto">
          <a:xfrm>
            <a:off x="5000442" y="3967500"/>
            <a:ext cx="1969856" cy="450850"/>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77" name="Rectangle 44">
            <a:extLst>
              <a:ext uri="{FF2B5EF4-FFF2-40B4-BE49-F238E27FC236}">
                <a16:creationId xmlns:a16="http://schemas.microsoft.com/office/drawing/2014/main" id="{EE109D0D-96D4-83C3-2C76-FD042F6E1CF2}"/>
              </a:ext>
            </a:extLst>
          </p:cNvPr>
          <p:cNvSpPr>
            <a:spLocks noChangeArrowheads="1"/>
          </p:cNvSpPr>
          <p:nvPr/>
        </p:nvSpPr>
        <p:spPr bwMode="auto">
          <a:xfrm>
            <a:off x="5000442" y="4418351"/>
            <a:ext cx="1969855" cy="420688"/>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78" name="Rectangle 48">
            <a:extLst>
              <a:ext uri="{FF2B5EF4-FFF2-40B4-BE49-F238E27FC236}">
                <a16:creationId xmlns:a16="http://schemas.microsoft.com/office/drawing/2014/main" id="{9BAF30B2-7848-BCDC-41C8-99445E9C73C5}"/>
              </a:ext>
            </a:extLst>
          </p:cNvPr>
          <p:cNvSpPr>
            <a:spLocks noChangeArrowheads="1"/>
          </p:cNvSpPr>
          <p:nvPr/>
        </p:nvSpPr>
        <p:spPr bwMode="auto">
          <a:xfrm>
            <a:off x="5000442" y="4839038"/>
            <a:ext cx="1969856" cy="452437"/>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79" name="Rectangle 50">
            <a:extLst>
              <a:ext uri="{FF2B5EF4-FFF2-40B4-BE49-F238E27FC236}">
                <a16:creationId xmlns:a16="http://schemas.microsoft.com/office/drawing/2014/main" id="{74DE86C7-5020-A3DF-BCE6-94B3AC1C34FD}"/>
              </a:ext>
            </a:extLst>
          </p:cNvPr>
          <p:cNvSpPr>
            <a:spLocks noChangeArrowheads="1"/>
          </p:cNvSpPr>
          <p:nvPr/>
        </p:nvSpPr>
        <p:spPr bwMode="auto">
          <a:xfrm>
            <a:off x="5000442" y="5275600"/>
            <a:ext cx="1969856" cy="450850"/>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80" name="Line 69">
            <a:extLst>
              <a:ext uri="{FF2B5EF4-FFF2-40B4-BE49-F238E27FC236}">
                <a16:creationId xmlns:a16="http://schemas.microsoft.com/office/drawing/2014/main" id="{6625C66D-D87A-7856-B0E2-DF44158EAF35}"/>
              </a:ext>
            </a:extLst>
          </p:cNvPr>
          <p:cNvSpPr>
            <a:spLocks noChangeShapeType="1"/>
          </p:cNvSpPr>
          <p:nvPr/>
        </p:nvSpPr>
        <p:spPr bwMode="auto">
          <a:xfrm>
            <a:off x="5000443" y="5720497"/>
            <a:ext cx="0" cy="787400"/>
          </a:xfrm>
          <a:prstGeom prst="line">
            <a:avLst/>
          </a:prstGeom>
          <a:noFill/>
          <a:ln w="1905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a:latin typeface="+mn-ea"/>
              <a:ea typeface="+mn-ea"/>
            </a:endParaRPr>
          </a:p>
        </p:txBody>
      </p:sp>
      <p:sp>
        <p:nvSpPr>
          <p:cNvPr id="81" name="Line 70">
            <a:extLst>
              <a:ext uri="{FF2B5EF4-FFF2-40B4-BE49-F238E27FC236}">
                <a16:creationId xmlns:a16="http://schemas.microsoft.com/office/drawing/2014/main" id="{2FC05E0E-F523-4C59-6ABB-F60E894DB0B2}"/>
              </a:ext>
            </a:extLst>
          </p:cNvPr>
          <p:cNvSpPr>
            <a:spLocks noChangeShapeType="1"/>
          </p:cNvSpPr>
          <p:nvPr/>
        </p:nvSpPr>
        <p:spPr bwMode="auto">
          <a:xfrm>
            <a:off x="6970297" y="5720497"/>
            <a:ext cx="0" cy="787400"/>
          </a:xfrm>
          <a:prstGeom prst="line">
            <a:avLst/>
          </a:prstGeom>
          <a:noFill/>
          <a:ln w="1905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wrap="square" lIns="92075" tIns="46038" rIns="92075" bIns="46038" anchor="ctr">
            <a:spAutoFit/>
          </a:bodyPr>
          <a:lstStyle/>
          <a:p>
            <a:endParaRPr lang="zh-CN" altLang="en-US" dirty="0">
              <a:latin typeface="+mn-ea"/>
              <a:ea typeface="+mn-ea"/>
            </a:endParaRPr>
          </a:p>
        </p:txBody>
      </p:sp>
      <p:sp>
        <p:nvSpPr>
          <p:cNvPr id="82" name="TextBox 64">
            <a:extLst>
              <a:ext uri="{FF2B5EF4-FFF2-40B4-BE49-F238E27FC236}">
                <a16:creationId xmlns:a16="http://schemas.microsoft.com/office/drawing/2014/main" id="{B16DCD17-6C4A-B7FC-0B17-2152B69E6C21}"/>
              </a:ext>
            </a:extLst>
          </p:cNvPr>
          <p:cNvSpPr txBox="1"/>
          <p:nvPr/>
        </p:nvSpPr>
        <p:spPr>
          <a:xfrm>
            <a:off x="4920238" y="2277614"/>
            <a:ext cx="1984839"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0</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AB0</a:t>
            </a:r>
            <a:r>
              <a:rPr lang="en-US" sz="1600" b="1" dirty="0">
                <a:solidFill>
                  <a:srgbClr val="FF0000"/>
                </a:solidFill>
                <a:latin typeface="STKaiti" panose="02010600040101010101" pitchFamily="2" charset="-122"/>
                <a:ea typeface="STKaiti" panose="02010600040101010101" pitchFamily="2" charset="-122"/>
              </a:rPr>
              <a:t>(</a:t>
            </a:r>
            <a:r>
              <a:rPr lang="en-CN" sz="1600" b="1" dirty="0">
                <a:solidFill>
                  <a:srgbClr val="FF0000"/>
                </a:solidFill>
                <a:latin typeface="STKaiti" panose="02010600040101010101" pitchFamily="2" charset="-122"/>
                <a:ea typeface="STKaiti" panose="02010600040101010101" pitchFamily="2" charset="-122"/>
              </a:rPr>
              <a:t>0-F)</a:t>
            </a:r>
          </a:p>
        </p:txBody>
      </p:sp>
      <p:sp>
        <p:nvSpPr>
          <p:cNvPr id="83" name="TextBox 119">
            <a:extLst>
              <a:ext uri="{FF2B5EF4-FFF2-40B4-BE49-F238E27FC236}">
                <a16:creationId xmlns:a16="http://schemas.microsoft.com/office/drawing/2014/main" id="{894AE5F2-021C-FC68-FD08-349BE2B6540B}"/>
              </a:ext>
            </a:extLst>
          </p:cNvPr>
          <p:cNvSpPr txBox="1"/>
          <p:nvPr/>
        </p:nvSpPr>
        <p:spPr>
          <a:xfrm>
            <a:off x="4921832" y="2693819"/>
            <a:ext cx="2036135"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AB1</a:t>
            </a:r>
            <a:r>
              <a:rPr lang="en-US" sz="1600" b="1" dirty="0">
                <a:solidFill>
                  <a:srgbClr val="FF0000"/>
                </a:solidFill>
                <a:latin typeface="STKaiti" panose="02010600040101010101" pitchFamily="2" charset="-122"/>
                <a:ea typeface="STKaiti" panose="02010600040101010101" pitchFamily="2" charset="-122"/>
              </a:rPr>
              <a:t>(</a:t>
            </a:r>
            <a:r>
              <a:rPr lang="en-CN" sz="1600" b="1" dirty="0">
                <a:solidFill>
                  <a:srgbClr val="FF0000"/>
                </a:solidFill>
                <a:latin typeface="STKaiti" panose="02010600040101010101" pitchFamily="2" charset="-122"/>
                <a:ea typeface="STKaiti" panose="02010600040101010101" pitchFamily="2" charset="-122"/>
              </a:rPr>
              <a:t>0-F)</a:t>
            </a:r>
          </a:p>
        </p:txBody>
      </p:sp>
      <p:sp>
        <p:nvSpPr>
          <p:cNvPr id="84" name="TextBox 120">
            <a:extLst>
              <a:ext uri="{FF2B5EF4-FFF2-40B4-BE49-F238E27FC236}">
                <a16:creationId xmlns:a16="http://schemas.microsoft.com/office/drawing/2014/main" id="{95B1817C-4549-C49A-0DAC-0AB0049ADD21}"/>
              </a:ext>
            </a:extLst>
          </p:cNvPr>
          <p:cNvSpPr txBox="1"/>
          <p:nvPr/>
        </p:nvSpPr>
        <p:spPr>
          <a:xfrm>
            <a:off x="4925180" y="3547804"/>
            <a:ext cx="2133918"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15</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ABF</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85" name="TextBox 121">
            <a:extLst>
              <a:ext uri="{FF2B5EF4-FFF2-40B4-BE49-F238E27FC236}">
                <a16:creationId xmlns:a16="http://schemas.microsoft.com/office/drawing/2014/main" id="{402A3C72-D0B1-37E7-DC23-F0E45CC7F262}"/>
              </a:ext>
            </a:extLst>
          </p:cNvPr>
          <p:cNvSpPr txBox="1"/>
          <p:nvPr/>
        </p:nvSpPr>
        <p:spPr>
          <a:xfrm>
            <a:off x="4928353" y="4050123"/>
            <a:ext cx="2056973"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16</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AC0</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86" name="TextBox 122">
            <a:extLst>
              <a:ext uri="{FF2B5EF4-FFF2-40B4-BE49-F238E27FC236}">
                <a16:creationId xmlns:a16="http://schemas.microsoft.com/office/drawing/2014/main" id="{98499ED4-2395-9270-6645-7CDDA716C59D}"/>
              </a:ext>
            </a:extLst>
          </p:cNvPr>
          <p:cNvSpPr txBox="1"/>
          <p:nvPr/>
        </p:nvSpPr>
        <p:spPr>
          <a:xfrm>
            <a:off x="4946820" y="4466425"/>
            <a:ext cx="2056973"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17</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AC1</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87" name="TextBox 123">
            <a:extLst>
              <a:ext uri="{FF2B5EF4-FFF2-40B4-BE49-F238E27FC236}">
                <a16:creationId xmlns:a16="http://schemas.microsoft.com/office/drawing/2014/main" id="{D336F5EE-5406-2F0E-972E-0429FB3F68E2}"/>
              </a:ext>
            </a:extLst>
          </p:cNvPr>
          <p:cNvSpPr txBox="1"/>
          <p:nvPr/>
        </p:nvSpPr>
        <p:spPr>
          <a:xfrm>
            <a:off x="4931400" y="5349795"/>
            <a:ext cx="2076209" cy="338554"/>
          </a:xfrm>
          <a:prstGeom prst="rect">
            <a:avLst/>
          </a:prstGeom>
          <a:noFill/>
        </p:spPr>
        <p:txBody>
          <a:bodyPr wrap="none" rtlCol="0">
            <a:spAutoFit/>
          </a:bodyPr>
          <a:lstStyle/>
          <a:p>
            <a:r>
              <a:rPr lang="en-CN" sz="1600" b="1" dirty="0">
                <a:latin typeface="STKaiti" panose="02010600040101010101" pitchFamily="2" charset="-122"/>
                <a:ea typeface="STKaiti" panose="02010600040101010101" pitchFamily="2" charset="-122"/>
              </a:rPr>
              <a:t>第</a:t>
            </a:r>
            <a:r>
              <a:rPr lang="en-US" altLang="zh-CN" sz="1600" b="1" dirty="0">
                <a:solidFill>
                  <a:srgbClr val="0432FF"/>
                </a:solidFill>
                <a:latin typeface="STKaiti" panose="02010600040101010101" pitchFamily="2" charset="-122"/>
                <a:ea typeface="STKaiti" panose="02010600040101010101" pitchFamily="2" charset="-122"/>
              </a:rPr>
              <a:t>31</a:t>
            </a:r>
            <a:r>
              <a:rPr lang="zh-CN" altLang="en-US" sz="1600" b="1" dirty="0">
                <a:latin typeface="STKaiti" panose="02010600040101010101" pitchFamily="2" charset="-122"/>
                <a:ea typeface="STKaiti" panose="02010600040101010101" pitchFamily="2" charset="-122"/>
              </a:rPr>
              <a:t>块</a:t>
            </a:r>
            <a:r>
              <a:rPr lang="en-US" altLang="zh-CN" sz="1600" b="1" dirty="0">
                <a:latin typeface="STKaiti" panose="02010600040101010101" pitchFamily="2" charset="-122"/>
                <a:ea typeface="STKaiti" panose="02010600040101010101" pitchFamily="2" charset="-122"/>
              </a:rPr>
              <a:t>, </a:t>
            </a:r>
            <a:r>
              <a:rPr lang="zh-CN" altLang="en-US" sz="1600" b="1" dirty="0">
                <a:latin typeface="STKaiti" panose="02010600040101010101" pitchFamily="2" charset="-122"/>
                <a:ea typeface="STKaiti" panose="02010600040101010101" pitchFamily="2" charset="-122"/>
              </a:rPr>
              <a:t>地址</a:t>
            </a:r>
            <a:r>
              <a:rPr lang="en-CN" sz="1600" b="1" dirty="0">
                <a:solidFill>
                  <a:srgbClr val="0432FF"/>
                </a:solidFill>
                <a:latin typeface="STKaiti" panose="02010600040101010101" pitchFamily="2" charset="-122"/>
                <a:ea typeface="STKaiti" panose="02010600040101010101" pitchFamily="2" charset="-122"/>
              </a:rPr>
              <a:t>ACF</a:t>
            </a:r>
            <a:r>
              <a:rPr lang="en-US" altLang="zh-CN" sz="1600" b="1" dirty="0">
                <a:solidFill>
                  <a:srgbClr val="FF0000"/>
                </a:solidFill>
                <a:latin typeface="STKaiti" panose="02010600040101010101" pitchFamily="2" charset="-122"/>
                <a:ea typeface="STKaiti" panose="02010600040101010101" pitchFamily="2" charset="-122"/>
              </a:rPr>
              <a:t>(0-F)</a:t>
            </a:r>
            <a:endParaRPr lang="en-CN" sz="1600" b="1" dirty="0">
              <a:solidFill>
                <a:srgbClr val="FF0000"/>
              </a:solidFill>
              <a:latin typeface="STKaiti" panose="02010600040101010101" pitchFamily="2" charset="-122"/>
              <a:ea typeface="STKaiti" panose="02010600040101010101" pitchFamily="2" charset="-122"/>
            </a:endParaRPr>
          </a:p>
        </p:txBody>
      </p:sp>
      <p:sp>
        <p:nvSpPr>
          <p:cNvPr id="88" name="Rectangle 33">
            <a:extLst>
              <a:ext uri="{FF2B5EF4-FFF2-40B4-BE49-F238E27FC236}">
                <a16:creationId xmlns:a16="http://schemas.microsoft.com/office/drawing/2014/main" id="{F967975F-3AA3-A5B4-8916-B364C50231C0}"/>
              </a:ext>
            </a:extLst>
          </p:cNvPr>
          <p:cNvSpPr>
            <a:spLocks noChangeArrowheads="1"/>
          </p:cNvSpPr>
          <p:nvPr/>
        </p:nvSpPr>
        <p:spPr bwMode="auto">
          <a:xfrm>
            <a:off x="5750206" y="3199608"/>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89" name="Rectangle 33">
            <a:extLst>
              <a:ext uri="{FF2B5EF4-FFF2-40B4-BE49-F238E27FC236}">
                <a16:creationId xmlns:a16="http://schemas.microsoft.com/office/drawing/2014/main" id="{0D9CA155-CDFA-B183-95F0-45B050AB6BA0}"/>
              </a:ext>
            </a:extLst>
          </p:cNvPr>
          <p:cNvSpPr>
            <a:spLocks noChangeArrowheads="1"/>
          </p:cNvSpPr>
          <p:nvPr/>
        </p:nvSpPr>
        <p:spPr bwMode="auto">
          <a:xfrm>
            <a:off x="5771968" y="4915140"/>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grpSp>
        <p:nvGrpSpPr>
          <p:cNvPr id="29" name="Group 24">
            <a:extLst>
              <a:ext uri="{FF2B5EF4-FFF2-40B4-BE49-F238E27FC236}">
                <a16:creationId xmlns:a16="http://schemas.microsoft.com/office/drawing/2014/main" id="{42596A9C-1F11-EA5E-B0C8-95C244FD38E2}"/>
              </a:ext>
            </a:extLst>
          </p:cNvPr>
          <p:cNvGrpSpPr/>
          <p:nvPr/>
        </p:nvGrpSpPr>
        <p:grpSpPr>
          <a:xfrm>
            <a:off x="3855158" y="2508869"/>
            <a:ext cx="1164043" cy="1708150"/>
            <a:chOff x="4190160" y="2911814"/>
            <a:chExt cx="1164043" cy="1708150"/>
          </a:xfrm>
        </p:grpSpPr>
        <p:sp>
          <p:nvSpPr>
            <p:cNvPr id="30" name="Line 55">
              <a:extLst>
                <a:ext uri="{FF2B5EF4-FFF2-40B4-BE49-F238E27FC236}">
                  <a16:creationId xmlns:a16="http://schemas.microsoft.com/office/drawing/2014/main" id="{4E88F7EA-2A42-C9EE-680B-C629CCDB0475}"/>
                </a:ext>
              </a:extLst>
            </p:cNvPr>
            <p:cNvSpPr>
              <a:spLocks noChangeShapeType="1"/>
            </p:cNvSpPr>
            <p:nvPr/>
          </p:nvSpPr>
          <p:spPr bwMode="auto">
            <a:xfrm flipH="1">
              <a:off x="4190160" y="2911814"/>
              <a:ext cx="1143404" cy="810674"/>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31" name="Line 58">
              <a:extLst>
                <a:ext uri="{FF2B5EF4-FFF2-40B4-BE49-F238E27FC236}">
                  <a16:creationId xmlns:a16="http://schemas.microsoft.com/office/drawing/2014/main" id="{5B8F0F14-2039-7ABE-7042-C56B0383F75C}"/>
                </a:ext>
              </a:extLst>
            </p:cNvPr>
            <p:cNvSpPr>
              <a:spLocks noChangeShapeType="1"/>
            </p:cNvSpPr>
            <p:nvPr/>
          </p:nvSpPr>
          <p:spPr bwMode="auto">
            <a:xfrm>
              <a:off x="4210799" y="3737268"/>
              <a:ext cx="1143404" cy="882696"/>
            </a:xfrm>
            <a:prstGeom prst="line">
              <a:avLst/>
            </a:prstGeom>
            <a:noFill/>
            <a:ln w="19050">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grpSp>
        <p:nvGrpSpPr>
          <p:cNvPr id="32" name="Group 26">
            <a:extLst>
              <a:ext uri="{FF2B5EF4-FFF2-40B4-BE49-F238E27FC236}">
                <a16:creationId xmlns:a16="http://schemas.microsoft.com/office/drawing/2014/main" id="{CC802324-89D9-7486-26AF-CAAA3863FCAB}"/>
              </a:ext>
            </a:extLst>
          </p:cNvPr>
          <p:cNvGrpSpPr/>
          <p:nvPr/>
        </p:nvGrpSpPr>
        <p:grpSpPr>
          <a:xfrm>
            <a:off x="3844044" y="2851768"/>
            <a:ext cx="1164044" cy="1692275"/>
            <a:chOff x="4179046" y="3254713"/>
            <a:chExt cx="1164044" cy="1692275"/>
          </a:xfrm>
        </p:grpSpPr>
        <p:sp>
          <p:nvSpPr>
            <p:cNvPr id="33" name="Line 56">
              <a:extLst>
                <a:ext uri="{FF2B5EF4-FFF2-40B4-BE49-F238E27FC236}">
                  <a16:creationId xmlns:a16="http://schemas.microsoft.com/office/drawing/2014/main" id="{CB761DDC-A7D1-CD78-BE26-4FA64AFEDFE1}"/>
                </a:ext>
              </a:extLst>
            </p:cNvPr>
            <p:cNvSpPr>
              <a:spLocks noChangeShapeType="1"/>
            </p:cNvSpPr>
            <p:nvPr/>
          </p:nvSpPr>
          <p:spPr bwMode="auto">
            <a:xfrm flipH="1">
              <a:off x="4179046" y="3254713"/>
              <a:ext cx="1154518" cy="864355"/>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35" name="Line 59">
              <a:extLst>
                <a:ext uri="{FF2B5EF4-FFF2-40B4-BE49-F238E27FC236}">
                  <a16:creationId xmlns:a16="http://schemas.microsoft.com/office/drawing/2014/main" id="{6347D26C-5376-8A59-C27A-BD70203947B3}"/>
                </a:ext>
              </a:extLst>
            </p:cNvPr>
            <p:cNvSpPr>
              <a:spLocks noChangeShapeType="1"/>
            </p:cNvSpPr>
            <p:nvPr/>
          </p:nvSpPr>
          <p:spPr bwMode="auto">
            <a:xfrm>
              <a:off x="4210800" y="4108787"/>
              <a:ext cx="1132290" cy="838201"/>
            </a:xfrm>
            <a:prstGeom prst="line">
              <a:avLst/>
            </a:prstGeom>
            <a:noFill/>
            <a:ln w="19050">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grpSp>
        <p:nvGrpSpPr>
          <p:cNvPr id="36" name="Group 27">
            <a:extLst>
              <a:ext uri="{FF2B5EF4-FFF2-40B4-BE49-F238E27FC236}">
                <a16:creationId xmlns:a16="http://schemas.microsoft.com/office/drawing/2014/main" id="{ACE23683-6764-D25C-27E2-6DDB9DB2066E}"/>
              </a:ext>
            </a:extLst>
          </p:cNvPr>
          <p:cNvGrpSpPr/>
          <p:nvPr/>
        </p:nvGrpSpPr>
        <p:grpSpPr>
          <a:xfrm>
            <a:off x="3844042" y="3832844"/>
            <a:ext cx="1164046" cy="1646238"/>
            <a:chOff x="4179044" y="4235789"/>
            <a:chExt cx="1164046" cy="1646238"/>
          </a:xfrm>
        </p:grpSpPr>
        <p:sp>
          <p:nvSpPr>
            <p:cNvPr id="37" name="Line 57">
              <a:extLst>
                <a:ext uri="{FF2B5EF4-FFF2-40B4-BE49-F238E27FC236}">
                  <a16:creationId xmlns:a16="http://schemas.microsoft.com/office/drawing/2014/main" id="{8F036D1A-F809-7A55-8FF0-1BCCA6EA0B7C}"/>
                </a:ext>
              </a:extLst>
            </p:cNvPr>
            <p:cNvSpPr>
              <a:spLocks noChangeShapeType="1"/>
            </p:cNvSpPr>
            <p:nvPr/>
          </p:nvSpPr>
          <p:spPr bwMode="auto">
            <a:xfrm>
              <a:off x="4190160" y="4824753"/>
              <a:ext cx="1152930" cy="1057274"/>
            </a:xfrm>
            <a:prstGeom prst="line">
              <a:avLst/>
            </a:prstGeom>
            <a:noFill/>
            <a:ln w="19050">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38" name="Line 60">
              <a:extLst>
                <a:ext uri="{FF2B5EF4-FFF2-40B4-BE49-F238E27FC236}">
                  <a16:creationId xmlns:a16="http://schemas.microsoft.com/office/drawing/2014/main" id="{D9DD0F49-F2A5-1273-588E-49FFEF279B8C}"/>
                </a:ext>
              </a:extLst>
            </p:cNvPr>
            <p:cNvSpPr>
              <a:spLocks noChangeShapeType="1"/>
            </p:cNvSpPr>
            <p:nvPr/>
          </p:nvSpPr>
          <p:spPr bwMode="auto">
            <a:xfrm flipH="1">
              <a:off x="4179044" y="4235789"/>
              <a:ext cx="1154520" cy="582782"/>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grpSp>
      <p:grpSp>
        <p:nvGrpSpPr>
          <p:cNvPr id="39" name="Group 100">
            <a:extLst>
              <a:ext uri="{FF2B5EF4-FFF2-40B4-BE49-F238E27FC236}">
                <a16:creationId xmlns:a16="http://schemas.microsoft.com/office/drawing/2014/main" id="{98662732-C8F4-82EE-A3F0-7942EDDB7767}"/>
              </a:ext>
            </a:extLst>
          </p:cNvPr>
          <p:cNvGrpSpPr/>
          <p:nvPr/>
        </p:nvGrpSpPr>
        <p:grpSpPr>
          <a:xfrm>
            <a:off x="4083516" y="2224744"/>
            <a:ext cx="879778" cy="3495753"/>
            <a:chOff x="6372738" y="1906177"/>
            <a:chExt cx="879778" cy="3495753"/>
          </a:xfrm>
        </p:grpSpPr>
        <p:grpSp>
          <p:nvGrpSpPr>
            <p:cNvPr id="41" name="Group 101">
              <a:extLst>
                <a:ext uri="{FF2B5EF4-FFF2-40B4-BE49-F238E27FC236}">
                  <a16:creationId xmlns:a16="http://schemas.microsoft.com/office/drawing/2014/main" id="{EFC72F42-3877-ED43-152B-3A75FB66260F}"/>
                </a:ext>
              </a:extLst>
            </p:cNvPr>
            <p:cNvGrpSpPr/>
            <p:nvPr/>
          </p:nvGrpSpPr>
          <p:grpSpPr>
            <a:xfrm>
              <a:off x="6401736" y="1906177"/>
              <a:ext cx="840439" cy="1698625"/>
              <a:chOff x="6401736" y="1906177"/>
              <a:chExt cx="840439" cy="1698625"/>
            </a:xfrm>
          </p:grpSpPr>
          <p:sp>
            <p:nvSpPr>
              <p:cNvPr id="45" name="Rectangle 105">
                <a:extLst>
                  <a:ext uri="{FF2B5EF4-FFF2-40B4-BE49-F238E27FC236}">
                    <a16:creationId xmlns:a16="http://schemas.microsoft.com/office/drawing/2014/main" id="{B34FC74E-189C-0A76-5BDA-0CD1284AE413}"/>
                  </a:ext>
                </a:extLst>
              </p:cNvPr>
              <p:cNvSpPr/>
              <p:nvPr/>
            </p:nvSpPr>
            <p:spPr>
              <a:xfrm>
                <a:off x="6401736" y="2426502"/>
                <a:ext cx="710451" cy="646331"/>
              </a:xfrm>
              <a:prstGeom prst="rect">
                <a:avLst/>
              </a:prstGeom>
            </p:spPr>
            <p:txBody>
              <a:bodyPr wrap="none">
                <a:spAutoFit/>
              </a:bodyPr>
              <a:lstStyle/>
              <a:p>
                <a:pPr algn="ctr"/>
                <a:r>
                  <a:rPr lang="zh-CN" altLang="en-US" b="1" dirty="0">
                    <a:latin typeface="+mn-lt"/>
                    <a:ea typeface="STKaiti" panose="02010600040101010101" pitchFamily="2" charset="-122"/>
                    <a:sym typeface="Wingdings" pitchFamily="2" charset="2"/>
                  </a:rPr>
                  <a:t>区域</a:t>
                </a:r>
                <a:r>
                  <a:rPr lang="en-US" altLang="zh-CN" b="1" dirty="0">
                    <a:latin typeface="+mn-lt"/>
                    <a:ea typeface="STKaiti" panose="02010600040101010101" pitchFamily="2" charset="-122"/>
                    <a:sym typeface="Wingdings" pitchFamily="2" charset="2"/>
                  </a:rPr>
                  <a:t> </a:t>
                </a:r>
              </a:p>
              <a:p>
                <a:pPr algn="ctr"/>
                <a:r>
                  <a:rPr lang="en-US" altLang="zh-CN" b="1" dirty="0">
                    <a:latin typeface="+mn-lt"/>
                    <a:ea typeface="STKaiti" panose="02010600040101010101" pitchFamily="2" charset="-122"/>
                    <a:sym typeface="Wingdings" pitchFamily="2" charset="2"/>
                  </a:rPr>
                  <a:t>AB</a:t>
                </a:r>
                <a:endParaRPr lang="en-CN" b="1" dirty="0">
                  <a:latin typeface="+mn-lt"/>
                </a:endParaRPr>
              </a:p>
            </p:txBody>
          </p:sp>
          <p:sp>
            <p:nvSpPr>
              <p:cNvPr id="46" name="Left Brace 106">
                <a:extLst>
                  <a:ext uri="{FF2B5EF4-FFF2-40B4-BE49-F238E27FC236}">
                    <a16:creationId xmlns:a16="http://schemas.microsoft.com/office/drawing/2014/main" id="{30E70C2B-62C1-B5A9-8B13-8FAC76F21CE6}"/>
                  </a:ext>
                </a:extLst>
              </p:cNvPr>
              <p:cNvSpPr/>
              <p:nvPr/>
            </p:nvSpPr>
            <p:spPr>
              <a:xfrm>
                <a:off x="7012294" y="1906177"/>
                <a:ext cx="229881" cy="1698625"/>
              </a:xfrm>
              <a:prstGeom prst="leftBrace">
                <a:avLst>
                  <a:gd name="adj1" fmla="val 61879"/>
                  <a:gd name="adj2" fmla="val 50000"/>
                </a:avLst>
              </a:prstGeom>
              <a:ln w="25400">
                <a:solidFill>
                  <a:srgbClr val="0432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solidFill>
                    <a:srgbClr val="0432FF"/>
                  </a:solidFill>
                </a:endParaRPr>
              </a:p>
            </p:txBody>
          </p:sp>
        </p:grpSp>
        <p:grpSp>
          <p:nvGrpSpPr>
            <p:cNvPr id="42" name="Group 102">
              <a:extLst>
                <a:ext uri="{FF2B5EF4-FFF2-40B4-BE49-F238E27FC236}">
                  <a16:creationId xmlns:a16="http://schemas.microsoft.com/office/drawing/2014/main" id="{849ACF8A-3FD6-9814-19F9-F62D43E79F00}"/>
                </a:ext>
              </a:extLst>
            </p:cNvPr>
            <p:cNvGrpSpPr/>
            <p:nvPr/>
          </p:nvGrpSpPr>
          <p:grpSpPr>
            <a:xfrm>
              <a:off x="6372738" y="3703305"/>
              <a:ext cx="879778" cy="1698625"/>
              <a:chOff x="6362397" y="1906177"/>
              <a:chExt cx="879778" cy="1698625"/>
            </a:xfrm>
          </p:grpSpPr>
          <p:sp>
            <p:nvSpPr>
              <p:cNvPr id="43" name="Rectangle 103">
                <a:extLst>
                  <a:ext uri="{FF2B5EF4-FFF2-40B4-BE49-F238E27FC236}">
                    <a16:creationId xmlns:a16="http://schemas.microsoft.com/office/drawing/2014/main" id="{0F41095F-A3D9-57A5-3080-E94969672389}"/>
                  </a:ext>
                </a:extLst>
              </p:cNvPr>
              <p:cNvSpPr/>
              <p:nvPr/>
            </p:nvSpPr>
            <p:spPr>
              <a:xfrm>
                <a:off x="6362397" y="2442073"/>
                <a:ext cx="710451" cy="646331"/>
              </a:xfrm>
              <a:prstGeom prst="rect">
                <a:avLst/>
              </a:prstGeom>
            </p:spPr>
            <p:txBody>
              <a:bodyPr wrap="none">
                <a:spAutoFit/>
              </a:bodyPr>
              <a:lstStyle/>
              <a:p>
                <a:pPr algn="ctr"/>
                <a:r>
                  <a:rPr lang="zh-CN" altLang="en-US" b="1" dirty="0">
                    <a:latin typeface="+mn-lt"/>
                    <a:ea typeface="STKaiti" panose="02010600040101010101" pitchFamily="2" charset="-122"/>
                    <a:sym typeface="Wingdings" pitchFamily="2" charset="2"/>
                  </a:rPr>
                  <a:t>区域</a:t>
                </a:r>
                <a:r>
                  <a:rPr lang="en-US" altLang="zh-CN" b="1" dirty="0">
                    <a:latin typeface="+mn-lt"/>
                    <a:ea typeface="STKaiti" panose="02010600040101010101" pitchFamily="2" charset="-122"/>
                    <a:sym typeface="Wingdings" pitchFamily="2" charset="2"/>
                  </a:rPr>
                  <a:t> </a:t>
                </a:r>
                <a:br>
                  <a:rPr lang="en-US" altLang="zh-CN" b="1" dirty="0">
                    <a:latin typeface="+mn-lt"/>
                    <a:ea typeface="STKaiti" panose="02010600040101010101" pitchFamily="2" charset="-122"/>
                    <a:sym typeface="Wingdings" pitchFamily="2" charset="2"/>
                  </a:rPr>
                </a:br>
                <a:r>
                  <a:rPr lang="en-US" altLang="zh-CN" b="1" dirty="0">
                    <a:latin typeface="+mn-lt"/>
                    <a:ea typeface="STKaiti" panose="02010600040101010101" pitchFamily="2" charset="-122"/>
                    <a:sym typeface="Wingdings" pitchFamily="2" charset="2"/>
                  </a:rPr>
                  <a:t>AC</a:t>
                </a:r>
                <a:endParaRPr lang="en-CN" b="1" dirty="0">
                  <a:latin typeface="+mn-lt"/>
                </a:endParaRPr>
              </a:p>
            </p:txBody>
          </p:sp>
          <p:sp>
            <p:nvSpPr>
              <p:cNvPr id="44" name="Left Brace 104">
                <a:extLst>
                  <a:ext uri="{FF2B5EF4-FFF2-40B4-BE49-F238E27FC236}">
                    <a16:creationId xmlns:a16="http://schemas.microsoft.com/office/drawing/2014/main" id="{951D9624-BC4C-8902-A024-8FAF5250EC50}"/>
                  </a:ext>
                </a:extLst>
              </p:cNvPr>
              <p:cNvSpPr/>
              <p:nvPr/>
            </p:nvSpPr>
            <p:spPr>
              <a:xfrm>
                <a:off x="7012294" y="1906177"/>
                <a:ext cx="229881" cy="1698625"/>
              </a:xfrm>
              <a:prstGeom prst="leftBrace">
                <a:avLst>
                  <a:gd name="adj1" fmla="val 61879"/>
                  <a:gd name="adj2" fmla="val 50000"/>
                </a:avLst>
              </a:prstGeom>
              <a:ln w="25400">
                <a:solidFill>
                  <a:srgbClr val="0432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solidFill>
                    <a:srgbClr val="0432FF"/>
                  </a:solidFill>
                </a:endParaRPr>
              </a:p>
            </p:txBody>
          </p:sp>
        </p:grpSp>
      </p:grpSp>
      <p:grpSp>
        <p:nvGrpSpPr>
          <p:cNvPr id="90" name="Group 30">
            <a:extLst>
              <a:ext uri="{FF2B5EF4-FFF2-40B4-BE49-F238E27FC236}">
                <a16:creationId xmlns:a16="http://schemas.microsoft.com/office/drawing/2014/main" id="{0435C72D-00D4-AD93-CDDF-42AA42483C87}"/>
              </a:ext>
            </a:extLst>
          </p:cNvPr>
          <p:cNvGrpSpPr/>
          <p:nvPr/>
        </p:nvGrpSpPr>
        <p:grpSpPr>
          <a:xfrm>
            <a:off x="731442" y="2838043"/>
            <a:ext cx="4267120" cy="1044243"/>
            <a:chOff x="1071794" y="3246777"/>
            <a:chExt cx="4267120" cy="1044243"/>
          </a:xfrm>
        </p:grpSpPr>
        <p:sp>
          <p:nvSpPr>
            <p:cNvPr id="91" name="Rectangle 14">
              <a:extLst>
                <a:ext uri="{FF2B5EF4-FFF2-40B4-BE49-F238E27FC236}">
                  <a16:creationId xmlns:a16="http://schemas.microsoft.com/office/drawing/2014/main" id="{3DC9C4AD-564A-53DC-B3A8-F7229CC4D408}"/>
                </a:ext>
              </a:extLst>
            </p:cNvPr>
            <p:cNvSpPr>
              <a:spLocks noChangeArrowheads="1"/>
            </p:cNvSpPr>
            <p:nvPr/>
          </p:nvSpPr>
          <p:spPr bwMode="auto">
            <a:xfrm>
              <a:off x="1071794" y="3902083"/>
              <a:ext cx="1196529" cy="388937"/>
            </a:xfrm>
            <a:prstGeom prst="rect">
              <a:avLst/>
            </a:prstGeom>
            <a:noFill/>
            <a:ln w="14288">
              <a:noFill/>
              <a:miter lim="800000"/>
              <a:headEnd/>
              <a:tailEnd/>
            </a:ln>
          </p:spPr>
          <p:txBody>
            <a:bodyPr anchor="ctr"/>
            <a:lstStyle/>
            <a:p>
              <a:r>
                <a:rPr lang="en-US" altLang="zh-CN" sz="1600" b="1" dirty="0">
                  <a:latin typeface="+mj-lt"/>
                  <a:ea typeface="STKaiti" panose="02010600040101010101" pitchFamily="2" charset="-122"/>
                </a:rPr>
                <a:t>TAG: </a:t>
              </a:r>
              <a:r>
                <a:rPr lang="en-US" altLang="zh-CN" sz="1600" b="1" dirty="0">
                  <a:solidFill>
                    <a:srgbClr val="0432FF"/>
                  </a:solidFill>
                  <a:latin typeface="+mj-lt"/>
                  <a:ea typeface="STKaiti" panose="02010600040101010101" pitchFamily="2" charset="-122"/>
                </a:rPr>
                <a:t>AB1</a:t>
              </a:r>
              <a:endParaRPr lang="zh-CN" altLang="en-US" sz="1600" b="1" dirty="0">
                <a:solidFill>
                  <a:srgbClr val="0432FF"/>
                </a:solidFill>
                <a:latin typeface="+mj-lt"/>
                <a:ea typeface="STKaiti" panose="02010600040101010101" pitchFamily="2" charset="-122"/>
              </a:endParaRPr>
            </a:p>
          </p:txBody>
        </p:sp>
        <p:sp>
          <p:nvSpPr>
            <p:cNvPr id="92" name="Line 56">
              <a:extLst>
                <a:ext uri="{FF2B5EF4-FFF2-40B4-BE49-F238E27FC236}">
                  <a16:creationId xmlns:a16="http://schemas.microsoft.com/office/drawing/2014/main" id="{FC55D2A5-D8F5-4859-6D33-B86FC24E8CFB}"/>
                </a:ext>
              </a:extLst>
            </p:cNvPr>
            <p:cNvSpPr>
              <a:spLocks noChangeShapeType="1"/>
            </p:cNvSpPr>
            <p:nvPr/>
          </p:nvSpPr>
          <p:spPr bwMode="auto">
            <a:xfrm flipH="1">
              <a:off x="4184396" y="3246777"/>
              <a:ext cx="1154518" cy="864355"/>
            </a:xfrm>
            <a:prstGeom prst="line">
              <a:avLst/>
            </a:prstGeom>
            <a:noFill/>
            <a:ln w="38100">
              <a:solidFill>
                <a:srgbClr val="0432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grpSp>
      <p:grpSp>
        <p:nvGrpSpPr>
          <p:cNvPr id="93" name="Group 29">
            <a:extLst>
              <a:ext uri="{FF2B5EF4-FFF2-40B4-BE49-F238E27FC236}">
                <a16:creationId xmlns:a16="http://schemas.microsoft.com/office/drawing/2014/main" id="{E72EA759-EB2C-CD52-2C08-F0149C0038FF}"/>
              </a:ext>
            </a:extLst>
          </p:cNvPr>
          <p:cNvGrpSpPr/>
          <p:nvPr/>
        </p:nvGrpSpPr>
        <p:grpSpPr>
          <a:xfrm>
            <a:off x="731442" y="3113287"/>
            <a:ext cx="4287759" cy="1090007"/>
            <a:chOff x="1071794" y="3522021"/>
            <a:chExt cx="4287759" cy="1090007"/>
          </a:xfrm>
        </p:grpSpPr>
        <p:sp>
          <p:nvSpPr>
            <p:cNvPr id="94" name="Rectangle 14">
              <a:extLst>
                <a:ext uri="{FF2B5EF4-FFF2-40B4-BE49-F238E27FC236}">
                  <a16:creationId xmlns:a16="http://schemas.microsoft.com/office/drawing/2014/main" id="{74146038-BF0F-5C79-215C-629FB6F998E9}"/>
                </a:ext>
              </a:extLst>
            </p:cNvPr>
            <p:cNvSpPr>
              <a:spLocks noChangeArrowheads="1"/>
            </p:cNvSpPr>
            <p:nvPr/>
          </p:nvSpPr>
          <p:spPr bwMode="auto">
            <a:xfrm>
              <a:off x="1071794" y="3522021"/>
              <a:ext cx="1196529" cy="388937"/>
            </a:xfrm>
            <a:prstGeom prst="rect">
              <a:avLst/>
            </a:prstGeom>
            <a:noFill/>
            <a:ln w="14288">
              <a:noFill/>
              <a:miter lim="800000"/>
              <a:headEnd/>
              <a:tailEnd/>
            </a:ln>
          </p:spPr>
          <p:txBody>
            <a:bodyPr anchor="ctr"/>
            <a:lstStyle/>
            <a:p>
              <a:r>
                <a:rPr lang="en-US" altLang="zh-CN" sz="1600" b="1" dirty="0">
                  <a:latin typeface="+mj-lt"/>
                  <a:ea typeface="STKaiti" panose="02010600040101010101" pitchFamily="2" charset="-122"/>
                </a:rPr>
                <a:t>TAG: </a:t>
              </a:r>
              <a:r>
                <a:rPr lang="en-US" altLang="zh-CN" sz="1600" b="1" dirty="0">
                  <a:solidFill>
                    <a:srgbClr val="0432FF"/>
                  </a:solidFill>
                  <a:latin typeface="+mj-lt"/>
                  <a:ea typeface="STKaiti" panose="02010600040101010101" pitchFamily="2" charset="-122"/>
                </a:rPr>
                <a:t>AC0</a:t>
              </a:r>
              <a:endParaRPr lang="zh-CN" altLang="en-US" sz="1600" b="1" dirty="0">
                <a:solidFill>
                  <a:srgbClr val="0432FF"/>
                </a:solidFill>
                <a:latin typeface="+mj-lt"/>
                <a:ea typeface="STKaiti" panose="02010600040101010101" pitchFamily="2" charset="-122"/>
              </a:endParaRPr>
            </a:p>
          </p:txBody>
        </p:sp>
        <p:sp>
          <p:nvSpPr>
            <p:cNvPr id="95" name="Line 58">
              <a:extLst>
                <a:ext uri="{FF2B5EF4-FFF2-40B4-BE49-F238E27FC236}">
                  <a16:creationId xmlns:a16="http://schemas.microsoft.com/office/drawing/2014/main" id="{D3BE3306-F2FC-F148-2900-3D823F8C6D97}"/>
                </a:ext>
              </a:extLst>
            </p:cNvPr>
            <p:cNvSpPr>
              <a:spLocks noChangeShapeType="1"/>
            </p:cNvSpPr>
            <p:nvPr/>
          </p:nvSpPr>
          <p:spPr bwMode="auto">
            <a:xfrm>
              <a:off x="4216149" y="3729332"/>
              <a:ext cx="1143404" cy="882696"/>
            </a:xfrm>
            <a:prstGeom prst="line">
              <a:avLst/>
            </a:prstGeom>
            <a:noFill/>
            <a:ln w="38100">
              <a:solidFill>
                <a:srgbClr val="0432FF"/>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grpSp>
      <p:grpSp>
        <p:nvGrpSpPr>
          <p:cNvPr id="96" name="Group 34">
            <a:extLst>
              <a:ext uri="{FF2B5EF4-FFF2-40B4-BE49-F238E27FC236}">
                <a16:creationId xmlns:a16="http://schemas.microsoft.com/office/drawing/2014/main" id="{951F150A-DBC2-E5E6-D243-DBC89BE18DF1}"/>
              </a:ext>
            </a:extLst>
          </p:cNvPr>
          <p:cNvGrpSpPr/>
          <p:nvPr/>
        </p:nvGrpSpPr>
        <p:grpSpPr>
          <a:xfrm>
            <a:off x="731442" y="3819119"/>
            <a:ext cx="4267120" cy="818381"/>
            <a:chOff x="1071794" y="4227853"/>
            <a:chExt cx="4267120" cy="818381"/>
          </a:xfrm>
        </p:grpSpPr>
        <p:sp>
          <p:nvSpPr>
            <p:cNvPr id="97" name="Rectangle 14">
              <a:extLst>
                <a:ext uri="{FF2B5EF4-FFF2-40B4-BE49-F238E27FC236}">
                  <a16:creationId xmlns:a16="http://schemas.microsoft.com/office/drawing/2014/main" id="{05BEEA75-EDF3-1450-AC25-39ACE45E98E6}"/>
                </a:ext>
              </a:extLst>
            </p:cNvPr>
            <p:cNvSpPr>
              <a:spLocks noChangeArrowheads="1"/>
            </p:cNvSpPr>
            <p:nvPr/>
          </p:nvSpPr>
          <p:spPr bwMode="auto">
            <a:xfrm>
              <a:off x="1071794" y="4657297"/>
              <a:ext cx="1196529" cy="388937"/>
            </a:xfrm>
            <a:prstGeom prst="rect">
              <a:avLst/>
            </a:prstGeom>
            <a:noFill/>
            <a:ln w="14288">
              <a:noFill/>
              <a:miter lim="800000"/>
              <a:headEnd/>
              <a:tailEnd/>
            </a:ln>
          </p:spPr>
          <p:txBody>
            <a:bodyPr anchor="ctr"/>
            <a:lstStyle/>
            <a:p>
              <a:r>
                <a:rPr lang="en-US" altLang="zh-CN" sz="1600" b="1" dirty="0">
                  <a:latin typeface="+mj-lt"/>
                  <a:ea typeface="STKaiti" panose="02010600040101010101" pitchFamily="2" charset="-122"/>
                </a:rPr>
                <a:t>TAG: </a:t>
              </a:r>
              <a:r>
                <a:rPr lang="en-US" altLang="zh-CN" sz="1600" b="1" dirty="0">
                  <a:solidFill>
                    <a:srgbClr val="0432FF"/>
                  </a:solidFill>
                  <a:latin typeface="+mj-lt"/>
                  <a:ea typeface="STKaiti" panose="02010600040101010101" pitchFamily="2" charset="-122"/>
                </a:rPr>
                <a:t>ABF</a:t>
              </a:r>
              <a:endParaRPr lang="zh-CN" altLang="en-US" sz="1600" b="1" dirty="0">
                <a:solidFill>
                  <a:srgbClr val="0432FF"/>
                </a:solidFill>
                <a:latin typeface="+mj-lt"/>
                <a:ea typeface="STKaiti" panose="02010600040101010101" pitchFamily="2" charset="-122"/>
              </a:endParaRPr>
            </a:p>
          </p:txBody>
        </p:sp>
        <p:sp>
          <p:nvSpPr>
            <p:cNvPr id="98" name="Line 60">
              <a:extLst>
                <a:ext uri="{FF2B5EF4-FFF2-40B4-BE49-F238E27FC236}">
                  <a16:creationId xmlns:a16="http://schemas.microsoft.com/office/drawing/2014/main" id="{E0A36574-1B71-623C-4159-F072FDED63B0}"/>
                </a:ext>
              </a:extLst>
            </p:cNvPr>
            <p:cNvSpPr>
              <a:spLocks noChangeShapeType="1"/>
            </p:cNvSpPr>
            <p:nvPr/>
          </p:nvSpPr>
          <p:spPr bwMode="auto">
            <a:xfrm flipH="1">
              <a:off x="4184394" y="4227853"/>
              <a:ext cx="1154520" cy="582782"/>
            </a:xfrm>
            <a:prstGeom prst="line">
              <a:avLst/>
            </a:prstGeom>
            <a:noFill/>
            <a:ln w="38100">
              <a:solidFill>
                <a:srgbClr val="0432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latin typeface="+mn-ea"/>
                <a:ea typeface="+mn-ea"/>
              </a:endParaRPr>
            </a:p>
          </p:txBody>
        </p:sp>
      </p:grpSp>
      <p:sp>
        <p:nvSpPr>
          <p:cNvPr id="99" name="任意多边形: 形状 98">
            <a:extLst>
              <a:ext uri="{FF2B5EF4-FFF2-40B4-BE49-F238E27FC236}">
                <a16:creationId xmlns:a16="http://schemas.microsoft.com/office/drawing/2014/main" id="{A8AC4E83-4100-B283-9E0F-76193AB25CDA}"/>
              </a:ext>
            </a:extLst>
          </p:cNvPr>
          <p:cNvSpPr/>
          <p:nvPr/>
        </p:nvSpPr>
        <p:spPr>
          <a:xfrm>
            <a:off x="6848168" y="2394155"/>
            <a:ext cx="540774" cy="78658"/>
          </a:xfrm>
          <a:custGeom>
            <a:avLst/>
            <a:gdLst>
              <a:gd name="connsiteX0" fmla="*/ 0 w 540774"/>
              <a:gd name="connsiteY0" fmla="*/ 78658 h 78658"/>
              <a:gd name="connsiteX1" fmla="*/ 299884 w 540774"/>
              <a:gd name="connsiteY1" fmla="*/ 29497 h 78658"/>
              <a:gd name="connsiteX2" fmla="*/ 540774 w 540774"/>
              <a:gd name="connsiteY2" fmla="*/ 0 h 78658"/>
            </a:gdLst>
            <a:ahLst/>
            <a:cxnLst>
              <a:cxn ang="0">
                <a:pos x="connsiteX0" y="connsiteY0"/>
              </a:cxn>
              <a:cxn ang="0">
                <a:pos x="connsiteX1" y="connsiteY1"/>
              </a:cxn>
              <a:cxn ang="0">
                <a:pos x="connsiteX2" y="connsiteY2"/>
              </a:cxn>
            </a:cxnLst>
            <a:rect l="l" t="t" r="r" b="b"/>
            <a:pathLst>
              <a:path w="540774" h="78658">
                <a:moveTo>
                  <a:pt x="0" y="78658"/>
                </a:moveTo>
                <a:lnTo>
                  <a:pt x="299884" y="29497"/>
                </a:lnTo>
                <a:cubicBezTo>
                  <a:pt x="390013" y="16387"/>
                  <a:pt x="465393" y="8193"/>
                  <a:pt x="540774" y="0"/>
                </a:cubicBez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p14="http://schemas.microsoft.com/office/powerpoint/2010/main" Requires="p14">
          <p:contentPart p14:bwMode="auto" r:id="rId3">
            <p14:nvContentPartPr>
              <p14:cNvPr id="8" name="墨迹 7">
                <a:extLst>
                  <a:ext uri="{FF2B5EF4-FFF2-40B4-BE49-F238E27FC236}">
                    <a16:creationId xmlns:a16="http://schemas.microsoft.com/office/drawing/2014/main" id="{DD133D92-CA18-4114-771E-F52D515FF9AB}"/>
                  </a:ext>
                </a:extLst>
              </p14:cNvPr>
              <p14:cNvContentPartPr/>
              <p14:nvPr/>
            </p14:nvContentPartPr>
            <p14:xfrm>
              <a:off x="1681064" y="3113876"/>
              <a:ext cx="2271600" cy="3085200"/>
            </p14:xfrm>
          </p:contentPart>
        </mc:Choice>
        <mc:Fallback>
          <p:pic>
            <p:nvPicPr>
              <p:cNvPr id="8" name="墨迹 7">
                <a:extLst>
                  <a:ext uri="{FF2B5EF4-FFF2-40B4-BE49-F238E27FC236}">
                    <a16:creationId xmlns:a16="http://schemas.microsoft.com/office/drawing/2014/main" id="{DD133D92-CA18-4114-771E-F52D515FF9AB}"/>
                  </a:ext>
                </a:extLst>
              </p:cNvPr>
              <p:cNvPicPr/>
              <p:nvPr/>
            </p:nvPicPr>
            <p:blipFill>
              <a:blip r:embed="rId4"/>
              <a:stretch>
                <a:fillRect/>
              </a:stretch>
            </p:blipFill>
            <p:spPr>
              <a:xfrm>
                <a:off x="1671704" y="3104516"/>
                <a:ext cx="2290320" cy="3103920"/>
              </a:xfrm>
              <a:prstGeom prst="rect">
                <a:avLst/>
              </a:prstGeom>
            </p:spPr>
          </p:pic>
        </mc:Fallback>
      </mc:AlternateContent>
    </p:spTree>
    <p:extLst>
      <p:ext uri="{BB962C8B-B14F-4D97-AF65-F5344CB8AC3E}">
        <p14:creationId xmlns:p14="http://schemas.microsoft.com/office/powerpoint/2010/main" val="127227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5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right)">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righ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93"/>
                                        </p:tgtEl>
                                        <p:attrNameLst>
                                          <p:attrName>style.visibility</p:attrName>
                                        </p:attrNameLst>
                                      </p:cBhvr>
                                      <p:to>
                                        <p:strVal val="visible"/>
                                      </p:to>
                                    </p:set>
                                    <p:animEffect transition="in" filter="wipe(right)">
                                      <p:cBhvr>
                                        <p:cTn id="26" dur="500"/>
                                        <p:tgtEl>
                                          <p:spTgt spid="9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animEffect transition="in" filter="wipe(right)">
                                      <p:cBhvr>
                                        <p:cTn id="31" dur="500"/>
                                        <p:tgtEl>
                                          <p:spTgt spid="9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96"/>
                                        </p:tgtEl>
                                        <p:attrNameLst>
                                          <p:attrName>style.visibility</p:attrName>
                                        </p:attrNameLst>
                                      </p:cBhvr>
                                      <p:to>
                                        <p:strVal val="visible"/>
                                      </p:to>
                                    </p:set>
                                    <p:animEffect transition="in" filter="wipe(right)">
                                      <p:cBhvr>
                                        <p:cTn id="36" dur="500"/>
                                        <p:tgtEl>
                                          <p:spTgt spid="9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42</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146050" y="1551432"/>
            <a:ext cx="4381501" cy="2343511"/>
          </a:xfrm>
        </p:spPr>
        <p:txBody>
          <a:bodyPr/>
          <a:lstStyle/>
          <a:p>
            <a:pPr marL="514350" indent="-457200" algn="just">
              <a:spcBef>
                <a:spcPts val="1000"/>
              </a:spcBef>
            </a:pPr>
            <a:r>
              <a:rPr kumimoji="1" lang="zh-CN" altLang="en-US" sz="2800" dirty="0"/>
              <a:t>直接映像</a:t>
            </a:r>
            <a:endParaRPr kumimoji="1" lang="en-US" altLang="zh-CN" sz="2800" dirty="0"/>
          </a:p>
          <a:p>
            <a:pPr marL="914400" lvl="1" indent="-457200" algn="just">
              <a:spcBef>
                <a:spcPts val="1000"/>
              </a:spcBef>
            </a:pPr>
            <a:r>
              <a:rPr lang="zh-CN" altLang="en-US" sz="2000" dirty="0"/>
              <a:t>每个主存块只能装入到</a:t>
            </a:r>
            <a:r>
              <a:rPr lang="en-US" altLang="zh-CN" sz="2000" dirty="0"/>
              <a:t>Cache</a:t>
            </a:r>
            <a:r>
              <a:rPr lang="zh-CN" altLang="en-US" sz="2000" dirty="0"/>
              <a:t>中</a:t>
            </a:r>
            <a:r>
              <a:rPr lang="zh-CN" altLang="en-US" sz="2000" dirty="0">
                <a:solidFill>
                  <a:srgbClr val="0432FF"/>
                </a:solidFill>
              </a:rPr>
              <a:t>唯一</a:t>
            </a:r>
            <a:r>
              <a:rPr lang="zh-CN" altLang="en-US" sz="2000" dirty="0"/>
              <a:t>特定行中</a:t>
            </a:r>
          </a:p>
          <a:p>
            <a:pPr marL="914400" lvl="1" indent="-457200" algn="just">
              <a:spcBef>
                <a:spcPts val="1000"/>
              </a:spcBef>
            </a:pPr>
            <a:r>
              <a:rPr lang="zh-CN" altLang="en-US" sz="2000" dirty="0"/>
              <a:t>主存中标号为</a:t>
            </a:r>
            <a:r>
              <a:rPr lang="en-US" altLang="zh-CN" sz="2000" dirty="0" err="1"/>
              <a:t>i</a:t>
            </a:r>
            <a:r>
              <a:rPr lang="zh-CN" altLang="en-US" sz="2000" dirty="0"/>
              <a:t>的块只能装入到</a:t>
            </a:r>
            <a:r>
              <a:rPr lang="en-US" altLang="zh-CN" sz="2000" dirty="0"/>
              <a:t>Cache</a:t>
            </a:r>
            <a:r>
              <a:rPr lang="zh-CN" altLang="en-US" sz="2000" dirty="0"/>
              <a:t>中的标号为</a:t>
            </a:r>
            <a:r>
              <a:rPr lang="en-US" altLang="zh-CN" sz="2000" dirty="0"/>
              <a:t>j</a:t>
            </a:r>
            <a:r>
              <a:rPr lang="zh-CN" altLang="en-US" sz="2000" dirty="0"/>
              <a:t>的行：</a:t>
            </a:r>
          </a:p>
        </p:txBody>
      </p:sp>
      <p:grpSp>
        <p:nvGrpSpPr>
          <p:cNvPr id="5" name="组合 4">
            <a:extLst>
              <a:ext uri="{FF2B5EF4-FFF2-40B4-BE49-F238E27FC236}">
                <a16:creationId xmlns:a16="http://schemas.microsoft.com/office/drawing/2014/main" id="{3984DC54-79BA-2844-9377-318470A6030E}"/>
              </a:ext>
            </a:extLst>
          </p:cNvPr>
          <p:cNvGrpSpPr/>
          <p:nvPr/>
        </p:nvGrpSpPr>
        <p:grpSpPr>
          <a:xfrm>
            <a:off x="4572000" y="1250182"/>
            <a:ext cx="4425950" cy="4676775"/>
            <a:chOff x="5302250" y="1819275"/>
            <a:chExt cx="4425950" cy="4676775"/>
          </a:xfrm>
        </p:grpSpPr>
        <p:sp>
          <p:nvSpPr>
            <p:cNvPr id="6" name="Rectangle 4">
              <a:extLst>
                <a:ext uri="{FF2B5EF4-FFF2-40B4-BE49-F238E27FC236}">
                  <a16:creationId xmlns:a16="http://schemas.microsoft.com/office/drawing/2014/main" id="{677D1A66-8D5F-5341-9D38-511AF4CE89EB}"/>
                </a:ext>
              </a:extLst>
            </p:cNvPr>
            <p:cNvSpPr>
              <a:spLocks noChangeArrowheads="1"/>
            </p:cNvSpPr>
            <p:nvPr/>
          </p:nvSpPr>
          <p:spPr bwMode="auto">
            <a:xfrm>
              <a:off x="8559800" y="1819275"/>
              <a:ext cx="46487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主存</a:t>
              </a:r>
              <a:endParaRPr lang="zh-CN" altLang="en-US" sz="1400" b="1">
                <a:latin typeface="+mn-ea"/>
                <a:ea typeface="+mn-ea"/>
              </a:endParaRPr>
            </a:p>
          </p:txBody>
        </p:sp>
        <p:sp>
          <p:nvSpPr>
            <p:cNvPr id="7" name="Rectangle 5">
              <a:extLst>
                <a:ext uri="{FF2B5EF4-FFF2-40B4-BE49-F238E27FC236}">
                  <a16:creationId xmlns:a16="http://schemas.microsoft.com/office/drawing/2014/main" id="{6C5CB188-1B4E-3C43-B88F-4729A36CDDCA}"/>
                </a:ext>
              </a:extLst>
            </p:cNvPr>
            <p:cNvSpPr>
              <a:spLocks noChangeArrowheads="1"/>
            </p:cNvSpPr>
            <p:nvPr/>
          </p:nvSpPr>
          <p:spPr bwMode="auto">
            <a:xfrm>
              <a:off x="5637213" y="2786063"/>
              <a:ext cx="58509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Cache</a:t>
              </a:r>
              <a:endParaRPr lang="en-US" altLang="zh-CN" sz="1400" b="1">
                <a:latin typeface="+mn-ea"/>
                <a:ea typeface="+mn-ea"/>
              </a:endParaRPr>
            </a:p>
          </p:txBody>
        </p:sp>
        <p:sp>
          <p:nvSpPr>
            <p:cNvPr id="8" name="Rectangle 6">
              <a:extLst>
                <a:ext uri="{FF2B5EF4-FFF2-40B4-BE49-F238E27FC236}">
                  <a16:creationId xmlns:a16="http://schemas.microsoft.com/office/drawing/2014/main" id="{F2A53596-B80B-C143-86AC-D8ED9923C115}"/>
                </a:ext>
              </a:extLst>
            </p:cNvPr>
            <p:cNvSpPr>
              <a:spLocks noChangeArrowheads="1"/>
            </p:cNvSpPr>
            <p:nvPr/>
          </p:nvSpPr>
          <p:spPr bwMode="auto">
            <a:xfrm>
              <a:off x="7975600" y="2193925"/>
              <a:ext cx="1752600" cy="434975"/>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9" name="Rectangle 7">
              <a:extLst>
                <a:ext uri="{FF2B5EF4-FFF2-40B4-BE49-F238E27FC236}">
                  <a16:creationId xmlns:a16="http://schemas.microsoft.com/office/drawing/2014/main" id="{872458F9-B7A2-EA48-80F1-74EF82E60FE8}"/>
                </a:ext>
              </a:extLst>
            </p:cNvPr>
            <p:cNvSpPr>
              <a:spLocks noChangeArrowheads="1"/>
            </p:cNvSpPr>
            <p:nvPr/>
          </p:nvSpPr>
          <p:spPr bwMode="auto">
            <a:xfrm>
              <a:off x="8493125" y="2239963"/>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10" name="Rectangle 8">
              <a:extLst>
                <a:ext uri="{FF2B5EF4-FFF2-40B4-BE49-F238E27FC236}">
                  <a16:creationId xmlns:a16="http://schemas.microsoft.com/office/drawing/2014/main" id="{F25BEC45-2B1D-EF40-A8DF-60A92744A744}"/>
                </a:ext>
              </a:extLst>
            </p:cNvPr>
            <p:cNvSpPr>
              <a:spLocks noChangeArrowheads="1"/>
            </p:cNvSpPr>
            <p:nvPr/>
          </p:nvSpPr>
          <p:spPr bwMode="auto">
            <a:xfrm>
              <a:off x="8777288" y="2225675"/>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0</a:t>
              </a:r>
              <a:endParaRPr lang="en-US" altLang="zh-CN" sz="1400" b="1">
                <a:latin typeface="+mn-ea"/>
                <a:ea typeface="+mn-ea"/>
              </a:endParaRPr>
            </a:p>
          </p:txBody>
        </p:sp>
        <p:sp>
          <p:nvSpPr>
            <p:cNvPr id="11" name="Rectangle 9">
              <a:extLst>
                <a:ext uri="{FF2B5EF4-FFF2-40B4-BE49-F238E27FC236}">
                  <a16:creationId xmlns:a16="http://schemas.microsoft.com/office/drawing/2014/main" id="{FA929B6A-824A-B448-A9E4-D50DE3E4CD60}"/>
                </a:ext>
              </a:extLst>
            </p:cNvPr>
            <p:cNvSpPr>
              <a:spLocks noChangeArrowheads="1"/>
            </p:cNvSpPr>
            <p:nvPr/>
          </p:nvSpPr>
          <p:spPr bwMode="auto">
            <a:xfrm>
              <a:off x="8943975" y="2239963"/>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块</a:t>
              </a:r>
              <a:endParaRPr lang="zh-CN" altLang="en-US" sz="1400" b="1" dirty="0">
                <a:latin typeface="+mn-ea"/>
                <a:ea typeface="+mn-ea"/>
              </a:endParaRPr>
            </a:p>
          </p:txBody>
        </p:sp>
        <p:sp>
          <p:nvSpPr>
            <p:cNvPr id="12" name="Rectangle 10">
              <a:extLst>
                <a:ext uri="{FF2B5EF4-FFF2-40B4-BE49-F238E27FC236}">
                  <a16:creationId xmlns:a16="http://schemas.microsoft.com/office/drawing/2014/main" id="{57193120-72CF-944C-939F-01FAC10A9549}"/>
                </a:ext>
              </a:extLst>
            </p:cNvPr>
            <p:cNvSpPr>
              <a:spLocks noChangeArrowheads="1"/>
            </p:cNvSpPr>
            <p:nvPr/>
          </p:nvSpPr>
          <p:spPr bwMode="auto">
            <a:xfrm>
              <a:off x="7975600" y="2614613"/>
              <a:ext cx="1752600" cy="450850"/>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13" name="Rectangle 11">
              <a:extLst>
                <a:ext uri="{FF2B5EF4-FFF2-40B4-BE49-F238E27FC236}">
                  <a16:creationId xmlns:a16="http://schemas.microsoft.com/office/drawing/2014/main" id="{B7CF4C17-C167-8C48-BB2B-9CE79CC977B2}"/>
                </a:ext>
              </a:extLst>
            </p:cNvPr>
            <p:cNvSpPr>
              <a:spLocks noChangeArrowheads="1"/>
            </p:cNvSpPr>
            <p:nvPr/>
          </p:nvSpPr>
          <p:spPr bwMode="auto">
            <a:xfrm>
              <a:off x="8493125" y="267652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dirty="0">
                  <a:latin typeface="+mn-ea"/>
                  <a:ea typeface="+mn-ea"/>
                </a:rPr>
                <a:t>第</a:t>
              </a:r>
              <a:endParaRPr lang="zh-CN" altLang="en-US" sz="1400" b="1" dirty="0">
                <a:latin typeface="+mn-ea"/>
                <a:ea typeface="+mn-ea"/>
              </a:endParaRPr>
            </a:p>
          </p:txBody>
        </p:sp>
        <p:sp>
          <p:nvSpPr>
            <p:cNvPr id="14" name="Rectangle 12">
              <a:extLst>
                <a:ext uri="{FF2B5EF4-FFF2-40B4-BE49-F238E27FC236}">
                  <a16:creationId xmlns:a16="http://schemas.microsoft.com/office/drawing/2014/main" id="{B981FA5B-04DA-B24A-8ABD-4EDE791E9A52}"/>
                </a:ext>
              </a:extLst>
            </p:cNvPr>
            <p:cNvSpPr>
              <a:spLocks noChangeArrowheads="1"/>
            </p:cNvSpPr>
            <p:nvPr/>
          </p:nvSpPr>
          <p:spPr bwMode="auto">
            <a:xfrm>
              <a:off x="8777288" y="2660650"/>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15" name="Rectangle 13">
              <a:extLst>
                <a:ext uri="{FF2B5EF4-FFF2-40B4-BE49-F238E27FC236}">
                  <a16:creationId xmlns:a16="http://schemas.microsoft.com/office/drawing/2014/main" id="{0B30328A-D60A-0642-841C-1A5E6CEDCCE4}"/>
                </a:ext>
              </a:extLst>
            </p:cNvPr>
            <p:cNvSpPr>
              <a:spLocks noChangeArrowheads="1"/>
            </p:cNvSpPr>
            <p:nvPr/>
          </p:nvSpPr>
          <p:spPr bwMode="auto">
            <a:xfrm>
              <a:off x="8943975" y="267652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16" name="Rectangle 14">
              <a:extLst>
                <a:ext uri="{FF2B5EF4-FFF2-40B4-BE49-F238E27FC236}">
                  <a16:creationId xmlns:a16="http://schemas.microsoft.com/office/drawing/2014/main" id="{066DB05E-41B3-3F47-ADAC-9868AA3E8B5C}"/>
                </a:ext>
              </a:extLst>
            </p:cNvPr>
            <p:cNvSpPr>
              <a:spLocks noChangeArrowheads="1"/>
            </p:cNvSpPr>
            <p:nvPr/>
          </p:nvSpPr>
          <p:spPr bwMode="auto">
            <a:xfrm>
              <a:off x="5302250" y="3097213"/>
              <a:ext cx="1352550" cy="388937"/>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17" name="Rectangle 15">
              <a:extLst>
                <a:ext uri="{FF2B5EF4-FFF2-40B4-BE49-F238E27FC236}">
                  <a16:creationId xmlns:a16="http://schemas.microsoft.com/office/drawing/2014/main" id="{7D12E0C1-3B3D-554A-A4F7-808679CF9ADE}"/>
                </a:ext>
              </a:extLst>
            </p:cNvPr>
            <p:cNvSpPr>
              <a:spLocks noChangeArrowheads="1"/>
            </p:cNvSpPr>
            <p:nvPr/>
          </p:nvSpPr>
          <p:spPr bwMode="auto">
            <a:xfrm>
              <a:off x="5619750" y="315912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18" name="Rectangle 16">
              <a:extLst>
                <a:ext uri="{FF2B5EF4-FFF2-40B4-BE49-F238E27FC236}">
                  <a16:creationId xmlns:a16="http://schemas.microsoft.com/office/drawing/2014/main" id="{BAC2CF9F-5B9A-204C-BED4-90409B7AC565}"/>
                </a:ext>
              </a:extLst>
            </p:cNvPr>
            <p:cNvSpPr>
              <a:spLocks noChangeArrowheads="1"/>
            </p:cNvSpPr>
            <p:nvPr/>
          </p:nvSpPr>
          <p:spPr bwMode="auto">
            <a:xfrm>
              <a:off x="5903913" y="3144838"/>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0</a:t>
              </a:r>
              <a:endParaRPr lang="en-US" altLang="zh-CN" sz="1400" b="1">
                <a:latin typeface="+mn-ea"/>
                <a:ea typeface="+mn-ea"/>
              </a:endParaRPr>
            </a:p>
          </p:txBody>
        </p:sp>
        <p:sp>
          <p:nvSpPr>
            <p:cNvPr id="19" name="Rectangle 17">
              <a:extLst>
                <a:ext uri="{FF2B5EF4-FFF2-40B4-BE49-F238E27FC236}">
                  <a16:creationId xmlns:a16="http://schemas.microsoft.com/office/drawing/2014/main" id="{6CBB4206-8835-9F44-92BE-B757130F0350}"/>
                </a:ext>
              </a:extLst>
            </p:cNvPr>
            <p:cNvSpPr>
              <a:spLocks noChangeArrowheads="1"/>
            </p:cNvSpPr>
            <p:nvPr/>
          </p:nvSpPr>
          <p:spPr bwMode="auto">
            <a:xfrm>
              <a:off x="6072188" y="315912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行</a:t>
              </a:r>
              <a:endParaRPr lang="zh-CN" altLang="en-US" sz="1400" b="1">
                <a:latin typeface="+mn-ea"/>
                <a:ea typeface="+mn-ea"/>
              </a:endParaRPr>
            </a:p>
          </p:txBody>
        </p:sp>
        <p:sp>
          <p:nvSpPr>
            <p:cNvPr id="20" name="Rectangle 18">
              <a:extLst>
                <a:ext uri="{FF2B5EF4-FFF2-40B4-BE49-F238E27FC236}">
                  <a16:creationId xmlns:a16="http://schemas.microsoft.com/office/drawing/2014/main" id="{01892CE8-DB36-FE42-A429-C00B0BB4586E}"/>
                </a:ext>
              </a:extLst>
            </p:cNvPr>
            <p:cNvSpPr>
              <a:spLocks noChangeArrowheads="1"/>
            </p:cNvSpPr>
            <p:nvPr/>
          </p:nvSpPr>
          <p:spPr bwMode="auto">
            <a:xfrm>
              <a:off x="7975600" y="3065463"/>
              <a:ext cx="1752600" cy="436562"/>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21" name="Rectangle 19">
              <a:extLst>
                <a:ext uri="{FF2B5EF4-FFF2-40B4-BE49-F238E27FC236}">
                  <a16:creationId xmlns:a16="http://schemas.microsoft.com/office/drawing/2014/main" id="{9F7EAEF9-A010-DA41-BF74-BC129EF17E47}"/>
                </a:ext>
              </a:extLst>
            </p:cNvPr>
            <p:cNvSpPr>
              <a:spLocks noChangeArrowheads="1"/>
            </p:cNvSpPr>
            <p:nvPr/>
          </p:nvSpPr>
          <p:spPr bwMode="auto">
            <a:xfrm>
              <a:off x="8726488" y="3113088"/>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22" name="Rectangle 20">
              <a:extLst>
                <a:ext uri="{FF2B5EF4-FFF2-40B4-BE49-F238E27FC236}">
                  <a16:creationId xmlns:a16="http://schemas.microsoft.com/office/drawing/2014/main" id="{F670F4A7-B472-A646-AAE8-D3FA5C2CE6BC}"/>
                </a:ext>
              </a:extLst>
            </p:cNvPr>
            <p:cNvSpPr>
              <a:spLocks noChangeArrowheads="1"/>
            </p:cNvSpPr>
            <p:nvPr/>
          </p:nvSpPr>
          <p:spPr bwMode="auto">
            <a:xfrm>
              <a:off x="5302250" y="3470275"/>
              <a:ext cx="1352550" cy="388938"/>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23" name="Rectangle 21">
              <a:extLst>
                <a:ext uri="{FF2B5EF4-FFF2-40B4-BE49-F238E27FC236}">
                  <a16:creationId xmlns:a16="http://schemas.microsoft.com/office/drawing/2014/main" id="{0D1F29D1-9827-1B45-B645-61E4827FCD7B}"/>
                </a:ext>
              </a:extLst>
            </p:cNvPr>
            <p:cNvSpPr>
              <a:spLocks noChangeArrowheads="1"/>
            </p:cNvSpPr>
            <p:nvPr/>
          </p:nvSpPr>
          <p:spPr bwMode="auto">
            <a:xfrm>
              <a:off x="5619750" y="353377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24" name="Rectangle 22">
              <a:extLst>
                <a:ext uri="{FF2B5EF4-FFF2-40B4-BE49-F238E27FC236}">
                  <a16:creationId xmlns:a16="http://schemas.microsoft.com/office/drawing/2014/main" id="{7A2F4646-1096-AF40-9B21-398A5CE2F3C2}"/>
                </a:ext>
              </a:extLst>
            </p:cNvPr>
            <p:cNvSpPr>
              <a:spLocks noChangeArrowheads="1"/>
            </p:cNvSpPr>
            <p:nvPr/>
          </p:nvSpPr>
          <p:spPr bwMode="auto">
            <a:xfrm>
              <a:off x="5903913" y="3517900"/>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25" name="Rectangle 23">
              <a:extLst>
                <a:ext uri="{FF2B5EF4-FFF2-40B4-BE49-F238E27FC236}">
                  <a16:creationId xmlns:a16="http://schemas.microsoft.com/office/drawing/2014/main" id="{FBF06ADF-430D-A347-94CB-77603063A78D}"/>
                </a:ext>
              </a:extLst>
            </p:cNvPr>
            <p:cNvSpPr>
              <a:spLocks noChangeArrowheads="1"/>
            </p:cNvSpPr>
            <p:nvPr/>
          </p:nvSpPr>
          <p:spPr bwMode="auto">
            <a:xfrm>
              <a:off x="6072188" y="353377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行</a:t>
              </a:r>
              <a:endParaRPr lang="zh-CN" altLang="en-US" sz="1400" b="1">
                <a:latin typeface="+mn-ea"/>
                <a:ea typeface="+mn-ea"/>
              </a:endParaRPr>
            </a:p>
          </p:txBody>
        </p:sp>
        <p:sp>
          <p:nvSpPr>
            <p:cNvPr id="26" name="Rectangle 24">
              <a:extLst>
                <a:ext uri="{FF2B5EF4-FFF2-40B4-BE49-F238E27FC236}">
                  <a16:creationId xmlns:a16="http://schemas.microsoft.com/office/drawing/2014/main" id="{A88BCFA4-E2EA-CD45-9FD1-6A493490E7EF}"/>
                </a:ext>
              </a:extLst>
            </p:cNvPr>
            <p:cNvSpPr>
              <a:spLocks noChangeArrowheads="1"/>
            </p:cNvSpPr>
            <p:nvPr/>
          </p:nvSpPr>
          <p:spPr bwMode="auto">
            <a:xfrm>
              <a:off x="7975600" y="3502025"/>
              <a:ext cx="1752600" cy="434975"/>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27" name="Rectangle 25">
              <a:extLst>
                <a:ext uri="{FF2B5EF4-FFF2-40B4-BE49-F238E27FC236}">
                  <a16:creationId xmlns:a16="http://schemas.microsoft.com/office/drawing/2014/main" id="{9CFEB317-A7A0-E44E-95E5-518C73B30D02}"/>
                </a:ext>
              </a:extLst>
            </p:cNvPr>
            <p:cNvSpPr>
              <a:spLocks noChangeArrowheads="1"/>
            </p:cNvSpPr>
            <p:nvPr/>
          </p:nvSpPr>
          <p:spPr bwMode="auto">
            <a:xfrm>
              <a:off x="8359775" y="3548063"/>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28" name="Rectangle 26">
              <a:extLst>
                <a:ext uri="{FF2B5EF4-FFF2-40B4-BE49-F238E27FC236}">
                  <a16:creationId xmlns:a16="http://schemas.microsoft.com/office/drawing/2014/main" id="{05E3636F-42C9-FF48-B80B-477446430045}"/>
                </a:ext>
              </a:extLst>
            </p:cNvPr>
            <p:cNvSpPr>
              <a:spLocks noChangeArrowheads="1"/>
            </p:cNvSpPr>
            <p:nvPr/>
          </p:nvSpPr>
          <p:spPr bwMode="auto">
            <a:xfrm>
              <a:off x="8642350" y="3533775"/>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endParaRPr lang="en-US" altLang="zh-CN" sz="1400" b="1">
                <a:latin typeface="+mn-ea"/>
                <a:ea typeface="+mn-ea"/>
              </a:endParaRPr>
            </a:p>
          </p:txBody>
        </p:sp>
        <p:sp>
          <p:nvSpPr>
            <p:cNvPr id="29" name="Rectangle 27">
              <a:extLst>
                <a:ext uri="{FF2B5EF4-FFF2-40B4-BE49-F238E27FC236}">
                  <a16:creationId xmlns:a16="http://schemas.microsoft.com/office/drawing/2014/main" id="{EBB44038-7F4E-3249-8287-82FB0796B134}"/>
                </a:ext>
              </a:extLst>
            </p:cNvPr>
            <p:cNvSpPr>
              <a:spLocks noChangeArrowheads="1"/>
            </p:cNvSpPr>
            <p:nvPr/>
          </p:nvSpPr>
          <p:spPr bwMode="auto">
            <a:xfrm>
              <a:off x="8793163" y="3533775"/>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30" name="Rectangle 28">
              <a:extLst>
                <a:ext uri="{FF2B5EF4-FFF2-40B4-BE49-F238E27FC236}">
                  <a16:creationId xmlns:a16="http://schemas.microsoft.com/office/drawing/2014/main" id="{F737C2C7-7B56-554F-8226-5F30512B4DE8}"/>
                </a:ext>
              </a:extLst>
            </p:cNvPr>
            <p:cNvSpPr>
              <a:spLocks noChangeArrowheads="1"/>
            </p:cNvSpPr>
            <p:nvPr/>
          </p:nvSpPr>
          <p:spPr bwMode="auto">
            <a:xfrm>
              <a:off x="8926513" y="3533775"/>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31" name="Rectangle 29">
              <a:extLst>
                <a:ext uri="{FF2B5EF4-FFF2-40B4-BE49-F238E27FC236}">
                  <a16:creationId xmlns:a16="http://schemas.microsoft.com/office/drawing/2014/main" id="{BE5D16D6-0C6B-2446-91F8-F450D6E16136}"/>
                </a:ext>
              </a:extLst>
            </p:cNvPr>
            <p:cNvSpPr>
              <a:spLocks noChangeArrowheads="1"/>
            </p:cNvSpPr>
            <p:nvPr/>
          </p:nvSpPr>
          <p:spPr bwMode="auto">
            <a:xfrm>
              <a:off x="9094788" y="3548063"/>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32" name="Rectangle 30">
              <a:extLst>
                <a:ext uri="{FF2B5EF4-FFF2-40B4-BE49-F238E27FC236}">
                  <a16:creationId xmlns:a16="http://schemas.microsoft.com/office/drawing/2014/main" id="{276873C8-54CC-CA40-BB86-A5252387A858}"/>
                </a:ext>
              </a:extLst>
            </p:cNvPr>
            <p:cNvSpPr>
              <a:spLocks noChangeArrowheads="1"/>
            </p:cNvSpPr>
            <p:nvPr/>
          </p:nvSpPr>
          <p:spPr bwMode="auto">
            <a:xfrm>
              <a:off x="7975600" y="3937000"/>
              <a:ext cx="1752600" cy="838200"/>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33" name="Rectangle 31">
              <a:extLst>
                <a:ext uri="{FF2B5EF4-FFF2-40B4-BE49-F238E27FC236}">
                  <a16:creationId xmlns:a16="http://schemas.microsoft.com/office/drawing/2014/main" id="{02E58067-6777-4E49-8F45-ED53D2F6CAE1}"/>
                </a:ext>
              </a:extLst>
            </p:cNvPr>
            <p:cNvSpPr>
              <a:spLocks noChangeArrowheads="1"/>
            </p:cNvSpPr>
            <p:nvPr/>
          </p:nvSpPr>
          <p:spPr bwMode="auto">
            <a:xfrm>
              <a:off x="8747125" y="5927725"/>
              <a:ext cx="28373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sz="2200" b="1">
                  <a:latin typeface="+mn-ea"/>
                  <a:ea typeface="+mn-ea"/>
                </a:rPr>
                <a:t>…</a:t>
              </a:r>
            </a:p>
          </p:txBody>
        </p:sp>
        <p:sp>
          <p:nvSpPr>
            <p:cNvPr id="34" name="Rectangle 32">
              <a:extLst>
                <a:ext uri="{FF2B5EF4-FFF2-40B4-BE49-F238E27FC236}">
                  <a16:creationId xmlns:a16="http://schemas.microsoft.com/office/drawing/2014/main" id="{F9DAC014-19BF-7D43-B6F7-4174A60785FD}"/>
                </a:ext>
              </a:extLst>
            </p:cNvPr>
            <p:cNvSpPr>
              <a:spLocks noChangeArrowheads="1"/>
            </p:cNvSpPr>
            <p:nvPr/>
          </p:nvSpPr>
          <p:spPr bwMode="auto">
            <a:xfrm>
              <a:off x="5302250" y="3859213"/>
              <a:ext cx="1352550" cy="388937"/>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35" name="Rectangle 33">
              <a:extLst>
                <a:ext uri="{FF2B5EF4-FFF2-40B4-BE49-F238E27FC236}">
                  <a16:creationId xmlns:a16="http://schemas.microsoft.com/office/drawing/2014/main" id="{34926F52-73A2-3746-8910-81A7898B18C1}"/>
                </a:ext>
              </a:extLst>
            </p:cNvPr>
            <p:cNvSpPr>
              <a:spLocks noChangeArrowheads="1"/>
            </p:cNvSpPr>
            <p:nvPr/>
          </p:nvSpPr>
          <p:spPr bwMode="auto">
            <a:xfrm>
              <a:off x="5853113" y="3906838"/>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36" name="Rectangle 34">
              <a:extLst>
                <a:ext uri="{FF2B5EF4-FFF2-40B4-BE49-F238E27FC236}">
                  <a16:creationId xmlns:a16="http://schemas.microsoft.com/office/drawing/2014/main" id="{0DA8E60D-5AC4-4E45-867E-EE469BF1509B}"/>
                </a:ext>
              </a:extLst>
            </p:cNvPr>
            <p:cNvSpPr>
              <a:spLocks noChangeArrowheads="1"/>
            </p:cNvSpPr>
            <p:nvPr/>
          </p:nvSpPr>
          <p:spPr bwMode="auto">
            <a:xfrm>
              <a:off x="7975600" y="3937000"/>
              <a:ext cx="1752600" cy="450850"/>
            </a:xfrm>
            <a:prstGeom prst="rect">
              <a:avLst/>
            </a:prstGeom>
            <a:solidFill>
              <a:srgbClr val="FFFF99"/>
            </a:solidFill>
            <a:ln w="14288">
              <a:solidFill>
                <a:srgbClr val="000000"/>
              </a:solidFill>
              <a:miter lim="800000"/>
              <a:headEnd/>
              <a:tailEnd/>
            </a:ln>
          </p:spPr>
          <p:txBody>
            <a:bodyPr/>
            <a:lstStyle/>
            <a:p>
              <a:endParaRPr lang="zh-CN" altLang="en-US">
                <a:latin typeface="+mn-ea"/>
                <a:ea typeface="+mn-ea"/>
              </a:endParaRPr>
            </a:p>
          </p:txBody>
        </p:sp>
        <p:sp>
          <p:nvSpPr>
            <p:cNvPr id="37" name="Rectangle 35">
              <a:extLst>
                <a:ext uri="{FF2B5EF4-FFF2-40B4-BE49-F238E27FC236}">
                  <a16:creationId xmlns:a16="http://schemas.microsoft.com/office/drawing/2014/main" id="{72F2FE21-9C3C-4F4F-8940-0EEAE6CC93BA}"/>
                </a:ext>
              </a:extLst>
            </p:cNvPr>
            <p:cNvSpPr>
              <a:spLocks noChangeArrowheads="1"/>
            </p:cNvSpPr>
            <p:nvPr/>
          </p:nvSpPr>
          <p:spPr bwMode="auto">
            <a:xfrm>
              <a:off x="8593138" y="401002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38" name="Rectangle 36">
              <a:extLst>
                <a:ext uri="{FF2B5EF4-FFF2-40B4-BE49-F238E27FC236}">
                  <a16:creationId xmlns:a16="http://schemas.microsoft.com/office/drawing/2014/main" id="{C7801435-3FD7-A945-B0C5-FC9082F7AEB1}"/>
                </a:ext>
              </a:extLst>
            </p:cNvPr>
            <p:cNvSpPr>
              <a:spLocks noChangeArrowheads="1"/>
            </p:cNvSpPr>
            <p:nvPr/>
          </p:nvSpPr>
          <p:spPr bwMode="auto">
            <a:xfrm>
              <a:off x="8816975" y="4005263"/>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endParaRPr lang="en-US" altLang="zh-CN" sz="1400" b="1">
                <a:latin typeface="+mn-ea"/>
                <a:ea typeface="+mn-ea"/>
              </a:endParaRPr>
            </a:p>
          </p:txBody>
        </p:sp>
        <p:sp>
          <p:nvSpPr>
            <p:cNvPr id="39" name="Rectangle 37">
              <a:extLst>
                <a:ext uri="{FF2B5EF4-FFF2-40B4-BE49-F238E27FC236}">
                  <a16:creationId xmlns:a16="http://schemas.microsoft.com/office/drawing/2014/main" id="{77D3F22D-ABA5-FA46-B7ED-8130FC4EE203}"/>
                </a:ext>
              </a:extLst>
            </p:cNvPr>
            <p:cNvSpPr>
              <a:spLocks noChangeArrowheads="1"/>
            </p:cNvSpPr>
            <p:nvPr/>
          </p:nvSpPr>
          <p:spPr bwMode="auto">
            <a:xfrm>
              <a:off x="9028113" y="4010025"/>
              <a:ext cx="230187" cy="27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40" name="Rectangle 38">
              <a:extLst>
                <a:ext uri="{FF2B5EF4-FFF2-40B4-BE49-F238E27FC236}">
                  <a16:creationId xmlns:a16="http://schemas.microsoft.com/office/drawing/2014/main" id="{88D97B6B-586F-C946-854D-05B5BCD3F3C7}"/>
                </a:ext>
              </a:extLst>
            </p:cNvPr>
            <p:cNvSpPr>
              <a:spLocks noChangeArrowheads="1"/>
            </p:cNvSpPr>
            <p:nvPr/>
          </p:nvSpPr>
          <p:spPr bwMode="auto">
            <a:xfrm>
              <a:off x="5302250" y="4233863"/>
              <a:ext cx="1352550" cy="388937"/>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41" name="Rectangle 39">
              <a:extLst>
                <a:ext uri="{FF2B5EF4-FFF2-40B4-BE49-F238E27FC236}">
                  <a16:creationId xmlns:a16="http://schemas.microsoft.com/office/drawing/2014/main" id="{EC1CF381-3E0B-E343-B2F4-673124B58B00}"/>
                </a:ext>
              </a:extLst>
            </p:cNvPr>
            <p:cNvSpPr>
              <a:spLocks noChangeArrowheads="1"/>
            </p:cNvSpPr>
            <p:nvPr/>
          </p:nvSpPr>
          <p:spPr bwMode="auto">
            <a:xfrm>
              <a:off x="5486400" y="429577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42" name="Rectangle 40">
              <a:extLst>
                <a:ext uri="{FF2B5EF4-FFF2-40B4-BE49-F238E27FC236}">
                  <a16:creationId xmlns:a16="http://schemas.microsoft.com/office/drawing/2014/main" id="{FA28A0C7-A84E-4E4E-8E59-C3923C2DAC05}"/>
                </a:ext>
              </a:extLst>
            </p:cNvPr>
            <p:cNvSpPr>
              <a:spLocks noChangeArrowheads="1"/>
            </p:cNvSpPr>
            <p:nvPr/>
          </p:nvSpPr>
          <p:spPr bwMode="auto">
            <a:xfrm>
              <a:off x="5770563" y="4281488"/>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endParaRPr lang="en-US" altLang="zh-CN" sz="1400" b="1">
                <a:latin typeface="+mn-ea"/>
                <a:ea typeface="+mn-ea"/>
              </a:endParaRPr>
            </a:p>
          </p:txBody>
        </p:sp>
        <p:sp>
          <p:nvSpPr>
            <p:cNvPr id="43" name="Rectangle 41">
              <a:extLst>
                <a:ext uri="{FF2B5EF4-FFF2-40B4-BE49-F238E27FC236}">
                  <a16:creationId xmlns:a16="http://schemas.microsoft.com/office/drawing/2014/main" id="{340505C5-3341-3445-8C49-219BC48B0276}"/>
                </a:ext>
              </a:extLst>
            </p:cNvPr>
            <p:cNvSpPr>
              <a:spLocks noChangeArrowheads="1"/>
            </p:cNvSpPr>
            <p:nvPr/>
          </p:nvSpPr>
          <p:spPr bwMode="auto">
            <a:xfrm>
              <a:off x="5919788" y="4281488"/>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44" name="Rectangle 42">
              <a:extLst>
                <a:ext uri="{FF2B5EF4-FFF2-40B4-BE49-F238E27FC236}">
                  <a16:creationId xmlns:a16="http://schemas.microsoft.com/office/drawing/2014/main" id="{C8032DCC-788D-574F-BA85-DAAD8F358928}"/>
                </a:ext>
              </a:extLst>
            </p:cNvPr>
            <p:cNvSpPr>
              <a:spLocks noChangeArrowheads="1"/>
            </p:cNvSpPr>
            <p:nvPr/>
          </p:nvSpPr>
          <p:spPr bwMode="auto">
            <a:xfrm>
              <a:off x="6053138" y="4281488"/>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a:t>
              </a:r>
              <a:endParaRPr lang="en-US" altLang="zh-CN" sz="1400" b="1">
                <a:latin typeface="+mn-ea"/>
                <a:ea typeface="+mn-ea"/>
              </a:endParaRPr>
            </a:p>
          </p:txBody>
        </p:sp>
        <p:sp>
          <p:nvSpPr>
            <p:cNvPr id="45" name="Rectangle 43">
              <a:extLst>
                <a:ext uri="{FF2B5EF4-FFF2-40B4-BE49-F238E27FC236}">
                  <a16:creationId xmlns:a16="http://schemas.microsoft.com/office/drawing/2014/main" id="{CC3B79EF-4E69-FB4A-BCFB-DF6DA8B1B739}"/>
                </a:ext>
              </a:extLst>
            </p:cNvPr>
            <p:cNvSpPr>
              <a:spLocks noChangeArrowheads="1"/>
            </p:cNvSpPr>
            <p:nvPr/>
          </p:nvSpPr>
          <p:spPr bwMode="auto">
            <a:xfrm>
              <a:off x="6221413" y="429577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行</a:t>
              </a:r>
              <a:endParaRPr lang="zh-CN" altLang="en-US" sz="1400" b="1">
                <a:latin typeface="+mn-ea"/>
                <a:ea typeface="+mn-ea"/>
              </a:endParaRPr>
            </a:p>
          </p:txBody>
        </p:sp>
        <p:sp>
          <p:nvSpPr>
            <p:cNvPr id="46" name="Rectangle 44">
              <a:extLst>
                <a:ext uri="{FF2B5EF4-FFF2-40B4-BE49-F238E27FC236}">
                  <a16:creationId xmlns:a16="http://schemas.microsoft.com/office/drawing/2014/main" id="{E2EA1F2F-FC2F-4B4C-B5A7-EB676F3B1C71}"/>
                </a:ext>
              </a:extLst>
            </p:cNvPr>
            <p:cNvSpPr>
              <a:spLocks noChangeArrowheads="1"/>
            </p:cNvSpPr>
            <p:nvPr/>
          </p:nvSpPr>
          <p:spPr bwMode="auto">
            <a:xfrm>
              <a:off x="7975600" y="4387850"/>
              <a:ext cx="1752600" cy="436563"/>
            </a:xfrm>
            <a:prstGeom prst="rect">
              <a:avLst/>
            </a:prstGeom>
            <a:solidFill>
              <a:srgbClr val="CCFFCC"/>
            </a:solidFill>
            <a:ln w="14288">
              <a:solidFill>
                <a:srgbClr val="000000"/>
              </a:solidFill>
              <a:miter lim="800000"/>
              <a:headEnd/>
              <a:tailEnd/>
            </a:ln>
          </p:spPr>
          <p:txBody>
            <a:bodyPr/>
            <a:lstStyle/>
            <a:p>
              <a:endParaRPr lang="zh-CN" altLang="en-US">
                <a:latin typeface="+mn-ea"/>
                <a:ea typeface="+mn-ea"/>
              </a:endParaRPr>
            </a:p>
          </p:txBody>
        </p:sp>
        <p:sp>
          <p:nvSpPr>
            <p:cNvPr id="47" name="Rectangle 45">
              <a:extLst>
                <a:ext uri="{FF2B5EF4-FFF2-40B4-BE49-F238E27FC236}">
                  <a16:creationId xmlns:a16="http://schemas.microsoft.com/office/drawing/2014/main" id="{A57706D3-0F9F-8C4B-A335-191C75181A00}"/>
                </a:ext>
              </a:extLst>
            </p:cNvPr>
            <p:cNvSpPr>
              <a:spLocks noChangeArrowheads="1"/>
            </p:cNvSpPr>
            <p:nvPr/>
          </p:nvSpPr>
          <p:spPr bwMode="auto">
            <a:xfrm>
              <a:off x="8496300" y="443547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48" name="Rectangle 46">
              <a:extLst>
                <a:ext uri="{FF2B5EF4-FFF2-40B4-BE49-F238E27FC236}">
                  <a16:creationId xmlns:a16="http://schemas.microsoft.com/office/drawing/2014/main" id="{55965B3C-B7AE-B24B-9095-4A9982244FCD}"/>
                </a:ext>
              </a:extLst>
            </p:cNvPr>
            <p:cNvSpPr>
              <a:spLocks noChangeArrowheads="1"/>
            </p:cNvSpPr>
            <p:nvPr/>
          </p:nvSpPr>
          <p:spPr bwMode="auto">
            <a:xfrm>
              <a:off x="8785225" y="4430713"/>
              <a:ext cx="35105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N+</a:t>
              </a:r>
              <a:r>
                <a:rPr lang="en-US" altLang="zh-CN" b="1">
                  <a:latin typeface="+mn-ea"/>
                  <a:ea typeface="+mn-ea"/>
                </a:rPr>
                <a:t>1</a:t>
              </a:r>
              <a:endParaRPr lang="en-US" altLang="zh-CN" sz="1400" b="1">
                <a:latin typeface="+mn-ea"/>
                <a:ea typeface="+mn-ea"/>
              </a:endParaRPr>
            </a:p>
          </p:txBody>
        </p:sp>
        <p:sp>
          <p:nvSpPr>
            <p:cNvPr id="49" name="Rectangle 47">
              <a:extLst>
                <a:ext uri="{FF2B5EF4-FFF2-40B4-BE49-F238E27FC236}">
                  <a16:creationId xmlns:a16="http://schemas.microsoft.com/office/drawing/2014/main" id="{F295DACB-E4C8-CC45-9830-51AECD090B83}"/>
                </a:ext>
              </a:extLst>
            </p:cNvPr>
            <p:cNvSpPr>
              <a:spLocks noChangeArrowheads="1"/>
            </p:cNvSpPr>
            <p:nvPr/>
          </p:nvSpPr>
          <p:spPr bwMode="auto">
            <a:xfrm>
              <a:off x="9217025" y="4435475"/>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50" name="Rectangle 48">
              <a:extLst>
                <a:ext uri="{FF2B5EF4-FFF2-40B4-BE49-F238E27FC236}">
                  <a16:creationId xmlns:a16="http://schemas.microsoft.com/office/drawing/2014/main" id="{6D80FA4F-8426-EA45-9D53-4F59BA3082B4}"/>
                </a:ext>
              </a:extLst>
            </p:cNvPr>
            <p:cNvSpPr>
              <a:spLocks noChangeArrowheads="1"/>
            </p:cNvSpPr>
            <p:nvPr/>
          </p:nvSpPr>
          <p:spPr bwMode="auto">
            <a:xfrm>
              <a:off x="7975600" y="4808538"/>
              <a:ext cx="1752600" cy="452437"/>
            </a:xfrm>
            <a:prstGeom prst="rect">
              <a:avLst/>
            </a:prstGeom>
            <a:noFill/>
            <a:ln w="14288">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a:latin typeface="+mn-ea"/>
                <a:ea typeface="+mn-ea"/>
              </a:endParaRPr>
            </a:p>
          </p:txBody>
        </p:sp>
        <p:sp>
          <p:nvSpPr>
            <p:cNvPr id="51" name="Rectangle 49">
              <a:extLst>
                <a:ext uri="{FF2B5EF4-FFF2-40B4-BE49-F238E27FC236}">
                  <a16:creationId xmlns:a16="http://schemas.microsoft.com/office/drawing/2014/main" id="{AEF87E73-7A64-714C-BE36-805759C947CD}"/>
                </a:ext>
              </a:extLst>
            </p:cNvPr>
            <p:cNvSpPr>
              <a:spLocks noChangeArrowheads="1"/>
            </p:cNvSpPr>
            <p:nvPr/>
          </p:nvSpPr>
          <p:spPr bwMode="auto">
            <a:xfrm>
              <a:off x="8726488" y="4872038"/>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a:t>
              </a:r>
              <a:endParaRPr lang="en-US" altLang="zh-CN" sz="1400" b="1">
                <a:latin typeface="+mn-ea"/>
                <a:ea typeface="+mn-ea"/>
              </a:endParaRPr>
            </a:p>
          </p:txBody>
        </p:sp>
        <p:sp>
          <p:nvSpPr>
            <p:cNvPr id="52" name="Rectangle 50">
              <a:extLst>
                <a:ext uri="{FF2B5EF4-FFF2-40B4-BE49-F238E27FC236}">
                  <a16:creationId xmlns:a16="http://schemas.microsoft.com/office/drawing/2014/main" id="{210FFF18-4A21-FB40-B41C-A1AB8C27A2D9}"/>
                </a:ext>
              </a:extLst>
            </p:cNvPr>
            <p:cNvSpPr>
              <a:spLocks noChangeArrowheads="1"/>
            </p:cNvSpPr>
            <p:nvPr/>
          </p:nvSpPr>
          <p:spPr bwMode="auto">
            <a:xfrm>
              <a:off x="7975600" y="5245100"/>
              <a:ext cx="1752600" cy="450850"/>
            </a:xfrm>
            <a:prstGeom prst="rect">
              <a:avLst/>
            </a:prstGeom>
            <a:solidFill>
              <a:srgbClr val="CCFFFF"/>
            </a:solidFill>
            <a:ln w="14288">
              <a:solidFill>
                <a:srgbClr val="000000"/>
              </a:solidFill>
              <a:miter lim="800000"/>
              <a:headEnd/>
              <a:tailEnd/>
            </a:ln>
          </p:spPr>
          <p:txBody>
            <a:bodyPr/>
            <a:lstStyle/>
            <a:p>
              <a:endParaRPr lang="zh-CN" altLang="en-US">
                <a:latin typeface="+mn-ea"/>
                <a:ea typeface="+mn-ea"/>
              </a:endParaRPr>
            </a:p>
          </p:txBody>
        </p:sp>
        <p:sp>
          <p:nvSpPr>
            <p:cNvPr id="53" name="Rectangle 51">
              <a:extLst>
                <a:ext uri="{FF2B5EF4-FFF2-40B4-BE49-F238E27FC236}">
                  <a16:creationId xmlns:a16="http://schemas.microsoft.com/office/drawing/2014/main" id="{618AC1A8-FB60-3C4D-B5B6-4E94845AD1C8}"/>
                </a:ext>
              </a:extLst>
            </p:cNvPr>
            <p:cNvSpPr>
              <a:spLocks noChangeArrowheads="1"/>
            </p:cNvSpPr>
            <p:nvPr/>
          </p:nvSpPr>
          <p:spPr bwMode="auto">
            <a:xfrm>
              <a:off x="8312150" y="5307013"/>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第</a:t>
              </a:r>
              <a:endParaRPr lang="zh-CN" altLang="en-US" sz="1400" b="1">
                <a:latin typeface="+mn-ea"/>
                <a:ea typeface="+mn-ea"/>
              </a:endParaRPr>
            </a:p>
          </p:txBody>
        </p:sp>
        <p:sp>
          <p:nvSpPr>
            <p:cNvPr id="54" name="Rectangle 52">
              <a:extLst>
                <a:ext uri="{FF2B5EF4-FFF2-40B4-BE49-F238E27FC236}">
                  <a16:creationId xmlns:a16="http://schemas.microsoft.com/office/drawing/2014/main" id="{F2198D69-62B8-5B48-8FC1-82CD30F22F4C}"/>
                </a:ext>
              </a:extLst>
            </p:cNvPr>
            <p:cNvSpPr>
              <a:spLocks noChangeArrowheads="1"/>
            </p:cNvSpPr>
            <p:nvPr/>
          </p:nvSpPr>
          <p:spPr bwMode="auto">
            <a:xfrm>
              <a:off x="8596313" y="5302250"/>
              <a:ext cx="23403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i="1">
                  <a:latin typeface="+mn-ea"/>
                  <a:ea typeface="+mn-ea"/>
                </a:rPr>
                <a:t>2N</a:t>
              </a:r>
              <a:endParaRPr lang="en-US" altLang="zh-CN" sz="1400" b="1">
                <a:latin typeface="+mn-ea"/>
                <a:ea typeface="+mn-ea"/>
              </a:endParaRPr>
            </a:p>
          </p:txBody>
        </p:sp>
        <p:sp>
          <p:nvSpPr>
            <p:cNvPr id="55" name="Rectangle 53">
              <a:extLst>
                <a:ext uri="{FF2B5EF4-FFF2-40B4-BE49-F238E27FC236}">
                  <a16:creationId xmlns:a16="http://schemas.microsoft.com/office/drawing/2014/main" id="{C41EBEE3-D56F-3044-9CFA-375DEC3938BE}"/>
                </a:ext>
              </a:extLst>
            </p:cNvPr>
            <p:cNvSpPr>
              <a:spLocks noChangeArrowheads="1"/>
            </p:cNvSpPr>
            <p:nvPr/>
          </p:nvSpPr>
          <p:spPr bwMode="auto">
            <a:xfrm>
              <a:off x="8902700" y="5292725"/>
              <a:ext cx="35105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b="1">
                  <a:latin typeface="+mn-ea"/>
                  <a:ea typeface="+mn-ea"/>
                </a:rPr>
                <a:t>-1 </a:t>
              </a:r>
              <a:endParaRPr lang="en-US" altLang="zh-CN" sz="1400" b="1">
                <a:latin typeface="+mn-ea"/>
                <a:ea typeface="+mn-ea"/>
              </a:endParaRPr>
            </a:p>
          </p:txBody>
        </p:sp>
        <p:sp>
          <p:nvSpPr>
            <p:cNvPr id="56" name="Rectangle 54">
              <a:extLst>
                <a:ext uri="{FF2B5EF4-FFF2-40B4-BE49-F238E27FC236}">
                  <a16:creationId xmlns:a16="http://schemas.microsoft.com/office/drawing/2014/main" id="{27E2B7D0-A8B2-5A47-B253-5C78D92822AF}"/>
                </a:ext>
              </a:extLst>
            </p:cNvPr>
            <p:cNvSpPr>
              <a:spLocks noChangeArrowheads="1"/>
            </p:cNvSpPr>
            <p:nvPr/>
          </p:nvSpPr>
          <p:spPr bwMode="auto">
            <a:xfrm>
              <a:off x="9205913" y="5307013"/>
              <a:ext cx="23243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b="1">
                  <a:latin typeface="+mn-ea"/>
                  <a:ea typeface="+mn-ea"/>
                </a:rPr>
                <a:t>块</a:t>
              </a:r>
              <a:endParaRPr lang="zh-CN" altLang="en-US" sz="1400" b="1">
                <a:latin typeface="+mn-ea"/>
                <a:ea typeface="+mn-ea"/>
              </a:endParaRPr>
            </a:p>
          </p:txBody>
        </p:sp>
        <p:sp>
          <p:nvSpPr>
            <p:cNvPr id="57" name="Line 55">
              <a:extLst>
                <a:ext uri="{FF2B5EF4-FFF2-40B4-BE49-F238E27FC236}">
                  <a16:creationId xmlns:a16="http://schemas.microsoft.com/office/drawing/2014/main" id="{0DB3192B-96E6-0046-A492-C88BD8B24FD9}"/>
                </a:ext>
              </a:extLst>
            </p:cNvPr>
            <p:cNvSpPr>
              <a:spLocks noChangeShapeType="1"/>
            </p:cNvSpPr>
            <p:nvPr/>
          </p:nvSpPr>
          <p:spPr bwMode="auto">
            <a:xfrm flipH="1">
              <a:off x="6638925" y="2505075"/>
              <a:ext cx="1336675" cy="871538"/>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8" name="Line 56">
              <a:extLst>
                <a:ext uri="{FF2B5EF4-FFF2-40B4-BE49-F238E27FC236}">
                  <a16:creationId xmlns:a16="http://schemas.microsoft.com/office/drawing/2014/main" id="{201EFFAE-172E-9D4C-9832-09930A5C2303}"/>
                </a:ext>
              </a:extLst>
            </p:cNvPr>
            <p:cNvSpPr>
              <a:spLocks noChangeShapeType="1"/>
            </p:cNvSpPr>
            <p:nvPr/>
          </p:nvSpPr>
          <p:spPr bwMode="auto">
            <a:xfrm flipH="1">
              <a:off x="6638925" y="2847975"/>
              <a:ext cx="1336675" cy="857250"/>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59" name="Line 57">
              <a:extLst>
                <a:ext uri="{FF2B5EF4-FFF2-40B4-BE49-F238E27FC236}">
                  <a16:creationId xmlns:a16="http://schemas.microsoft.com/office/drawing/2014/main" id="{6C1A7B08-5CB6-0E4E-A18D-5DF454C87DA6}"/>
                </a:ext>
              </a:extLst>
            </p:cNvPr>
            <p:cNvSpPr>
              <a:spLocks noChangeShapeType="1"/>
            </p:cNvSpPr>
            <p:nvPr/>
          </p:nvSpPr>
          <p:spPr bwMode="auto">
            <a:xfrm>
              <a:off x="6661150" y="4445000"/>
              <a:ext cx="1323975" cy="1030288"/>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0" name="Line 58">
              <a:extLst>
                <a:ext uri="{FF2B5EF4-FFF2-40B4-BE49-F238E27FC236}">
                  <a16:creationId xmlns:a16="http://schemas.microsoft.com/office/drawing/2014/main" id="{85367C5D-D21F-1246-933A-D6B09EF1DABA}"/>
                </a:ext>
              </a:extLst>
            </p:cNvPr>
            <p:cNvSpPr>
              <a:spLocks noChangeShapeType="1"/>
            </p:cNvSpPr>
            <p:nvPr/>
          </p:nvSpPr>
          <p:spPr bwMode="auto">
            <a:xfrm>
              <a:off x="6638925" y="3394075"/>
              <a:ext cx="1357313" cy="819150"/>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1" name="Line 59">
              <a:extLst>
                <a:ext uri="{FF2B5EF4-FFF2-40B4-BE49-F238E27FC236}">
                  <a16:creationId xmlns:a16="http://schemas.microsoft.com/office/drawing/2014/main" id="{55061339-2656-AC47-A241-B09800D39232}"/>
                </a:ext>
              </a:extLst>
            </p:cNvPr>
            <p:cNvSpPr>
              <a:spLocks noChangeShapeType="1"/>
            </p:cNvSpPr>
            <p:nvPr/>
          </p:nvSpPr>
          <p:spPr bwMode="auto">
            <a:xfrm>
              <a:off x="6638925" y="3689350"/>
              <a:ext cx="1346200" cy="850900"/>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2" name="Line 60">
              <a:extLst>
                <a:ext uri="{FF2B5EF4-FFF2-40B4-BE49-F238E27FC236}">
                  <a16:creationId xmlns:a16="http://schemas.microsoft.com/office/drawing/2014/main" id="{21A20B53-DD04-1B45-BCB1-7AB5070A9260}"/>
                </a:ext>
              </a:extLst>
            </p:cNvPr>
            <p:cNvSpPr>
              <a:spLocks noChangeShapeType="1"/>
            </p:cNvSpPr>
            <p:nvPr/>
          </p:nvSpPr>
          <p:spPr bwMode="auto">
            <a:xfrm flipH="1">
              <a:off x="6638925" y="3829050"/>
              <a:ext cx="1336675" cy="623888"/>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a:latin typeface="+mn-ea"/>
                <a:ea typeface="+mn-ea"/>
              </a:endParaRPr>
            </a:p>
          </p:txBody>
        </p:sp>
        <p:sp>
          <p:nvSpPr>
            <p:cNvPr id="63" name="Line 69">
              <a:extLst>
                <a:ext uri="{FF2B5EF4-FFF2-40B4-BE49-F238E27FC236}">
                  <a16:creationId xmlns:a16="http://schemas.microsoft.com/office/drawing/2014/main" id="{B6045F92-3C0A-BA43-A0F5-ADE82448E98B}"/>
                </a:ext>
              </a:extLst>
            </p:cNvPr>
            <p:cNvSpPr>
              <a:spLocks noChangeShapeType="1"/>
            </p:cNvSpPr>
            <p:nvPr/>
          </p:nvSpPr>
          <p:spPr bwMode="auto">
            <a:xfrm>
              <a:off x="7972425" y="5691188"/>
              <a:ext cx="0" cy="787400"/>
            </a:xfrm>
            <a:prstGeom prst="line">
              <a:avLst/>
            </a:prstGeom>
            <a:noFill/>
            <a:ln w="1905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a:latin typeface="+mn-ea"/>
                <a:ea typeface="+mn-ea"/>
              </a:endParaRPr>
            </a:p>
          </p:txBody>
        </p:sp>
        <p:sp>
          <p:nvSpPr>
            <p:cNvPr id="64" name="Line 70">
              <a:extLst>
                <a:ext uri="{FF2B5EF4-FFF2-40B4-BE49-F238E27FC236}">
                  <a16:creationId xmlns:a16="http://schemas.microsoft.com/office/drawing/2014/main" id="{C7AFD704-5415-7741-BC7C-6AFD3BC5D66F}"/>
                </a:ext>
              </a:extLst>
            </p:cNvPr>
            <p:cNvSpPr>
              <a:spLocks noChangeShapeType="1"/>
            </p:cNvSpPr>
            <p:nvPr/>
          </p:nvSpPr>
          <p:spPr bwMode="auto">
            <a:xfrm>
              <a:off x="9725025" y="5708650"/>
              <a:ext cx="0" cy="787400"/>
            </a:xfrm>
            <a:prstGeom prst="line">
              <a:avLst/>
            </a:prstGeom>
            <a:noFill/>
            <a:ln w="1905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a:latin typeface="+mn-ea"/>
                <a:ea typeface="+mn-ea"/>
              </a:endParaRPr>
            </a:p>
          </p:txBody>
        </p:sp>
      </p:gr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B0681CD8-5F99-E043-87D1-2FFE8FFCE44C}"/>
                  </a:ext>
                </a:extLst>
              </p:cNvPr>
              <p:cNvSpPr txBox="1"/>
              <p:nvPr/>
            </p:nvSpPr>
            <p:spPr>
              <a:xfrm>
                <a:off x="1266550" y="3536946"/>
                <a:ext cx="16859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smtClean="0">
                          <a:latin typeface="Cambria Math" panose="02040503050406030204" pitchFamily="18" charset="0"/>
                        </a:rPr>
                        <m:t>𝑗</m:t>
                      </m:r>
                      <m:r>
                        <a:rPr kumimoji="1" lang="en-US" altLang="zh-CN" sz="2400" smtClean="0">
                          <a:latin typeface="Cambria Math" panose="02040503050406030204" pitchFamily="18" charset="0"/>
                        </a:rPr>
                        <m:t>=</m:t>
                      </m:r>
                      <m:r>
                        <a:rPr kumimoji="1" lang="en-US" altLang="zh-CN" sz="2400" smtClean="0">
                          <a:latin typeface="Cambria Math" panose="02040503050406030204" pitchFamily="18" charset="0"/>
                        </a:rPr>
                        <m:t>𝑖</m:t>
                      </m:r>
                      <m:r>
                        <a:rPr kumimoji="1" lang="en-US" altLang="zh-CN" sz="2400" smtClean="0">
                          <a:latin typeface="Cambria Math" panose="02040503050406030204" pitchFamily="18" charset="0"/>
                        </a:rPr>
                        <m:t> </m:t>
                      </m:r>
                      <m:r>
                        <a:rPr kumimoji="1" lang="en-US" altLang="zh-CN" sz="2400" smtClean="0">
                          <a:latin typeface="Cambria Math" panose="02040503050406030204" pitchFamily="18" charset="0"/>
                        </a:rPr>
                        <m:t>𝑚𝑜𝑑</m:t>
                      </m:r>
                      <m:r>
                        <a:rPr kumimoji="1" lang="en-US" altLang="zh-CN" sz="2400" smtClean="0">
                          <a:latin typeface="Cambria Math" panose="02040503050406030204" pitchFamily="18" charset="0"/>
                        </a:rPr>
                        <m:t> </m:t>
                      </m:r>
                      <m:r>
                        <a:rPr kumimoji="1" lang="en-US" altLang="zh-CN" sz="2400" smtClean="0">
                          <a:latin typeface="Cambria Math" panose="02040503050406030204" pitchFamily="18" charset="0"/>
                        </a:rPr>
                        <m:t>𝑁</m:t>
                      </m:r>
                    </m:oMath>
                  </m:oMathPara>
                </a14:m>
                <a:endParaRPr kumimoji="1" lang="zh-CN" altLang="en-US" sz="2400" dirty="0">
                  <a:ea typeface="SimHei" panose="02010609060101010101" pitchFamily="49" charset="-122"/>
                </a:endParaRPr>
              </a:p>
            </p:txBody>
          </p:sp>
        </mc:Choice>
        <mc:Fallback xmlns="">
          <p:sp>
            <p:nvSpPr>
              <p:cNvPr id="86" name="文本框 85">
                <a:extLst>
                  <a:ext uri="{FF2B5EF4-FFF2-40B4-BE49-F238E27FC236}">
                    <a16:creationId xmlns:a16="http://schemas.microsoft.com/office/drawing/2014/main" id="{B0681CD8-5F99-E043-87D1-2FFE8FFCE44C}"/>
                  </a:ext>
                </a:extLst>
              </p:cNvPr>
              <p:cNvSpPr txBox="1">
                <a:spLocks noRot="1" noChangeAspect="1" noMove="1" noResize="1" noEditPoints="1" noAdjustHandles="1" noChangeArrowheads="1" noChangeShapeType="1" noTextEdit="1"/>
              </p:cNvSpPr>
              <p:nvPr/>
            </p:nvSpPr>
            <p:spPr>
              <a:xfrm>
                <a:off x="1266550" y="3536946"/>
                <a:ext cx="1685974" cy="369332"/>
              </a:xfrm>
              <a:prstGeom prst="rect">
                <a:avLst/>
              </a:prstGeom>
              <a:blipFill>
                <a:blip r:embed="rId3"/>
                <a:stretch>
                  <a:fillRect l="-4478" t="-6667" r="-2985" b="-40000"/>
                </a:stretch>
              </a:blipFill>
            </p:spPr>
            <p:txBody>
              <a:bodyPr/>
              <a:lstStyle/>
              <a:p>
                <a:r>
                  <a:rPr lang="zh-CN" altLang="en-US">
                    <a:noFill/>
                  </a:rPr>
                  <a:t> </a:t>
                </a:r>
              </a:p>
            </p:txBody>
          </p:sp>
        </mc:Fallback>
      </mc:AlternateContent>
      <p:sp>
        <p:nvSpPr>
          <p:cNvPr id="88" name="Rectangle 87">
            <a:extLst>
              <a:ext uri="{FF2B5EF4-FFF2-40B4-BE49-F238E27FC236}">
                <a16:creationId xmlns:a16="http://schemas.microsoft.com/office/drawing/2014/main" id="{21CA2930-67C5-F844-A251-4B693A1BFA0F}"/>
              </a:ext>
            </a:extLst>
          </p:cNvPr>
          <p:cNvSpPr/>
          <p:nvPr/>
        </p:nvSpPr>
        <p:spPr>
          <a:xfrm>
            <a:off x="122040" y="4296339"/>
            <a:ext cx="6136260" cy="1631216"/>
          </a:xfrm>
          <a:prstGeom prst="rect">
            <a:avLst/>
          </a:prstGeom>
        </p:spPr>
        <p:txBody>
          <a:bodyPr wrap="square">
            <a:spAutoFit/>
          </a:bodyPr>
          <a:lstStyle/>
          <a:p>
            <a:r>
              <a:rPr lang="zh-CN" altLang="en-US" sz="2000" dirty="0">
                <a:latin typeface="STKaiti" panose="02010600040101010101" pitchFamily="2" charset="-122"/>
                <a:ea typeface="STKaiti" panose="02010600040101010101" pitchFamily="2" charset="-122"/>
              </a:rPr>
              <a:t>例：一个</a:t>
            </a:r>
            <a:r>
              <a:rPr lang="en-US" altLang="zh-CN" sz="2000" dirty="0">
                <a:latin typeface="STKaiti" panose="02010600040101010101" pitchFamily="2" charset="-122"/>
                <a:ea typeface="STKaiti" panose="02010600040101010101" pitchFamily="2" charset="-122"/>
              </a:rPr>
              <a:t>32</a:t>
            </a:r>
            <a:r>
              <a:rPr lang="zh-CN" altLang="en-US" sz="2000" dirty="0">
                <a:latin typeface="STKaiti" panose="02010600040101010101" pitchFamily="2" charset="-122"/>
                <a:ea typeface="STKaiti" panose="02010600040101010101" pitchFamily="2" charset="-122"/>
              </a:rPr>
              <a:t>位内存系统；</a:t>
            </a:r>
            <a:r>
              <a:rPr lang="en-US" sz="2000" dirty="0">
                <a:latin typeface="STKaiti" panose="02010600040101010101" pitchFamily="2" charset="-122"/>
                <a:ea typeface="STKaiti" panose="02010600040101010101" pitchFamily="2" charset="-122"/>
              </a:rPr>
              <a:t>Cache</a:t>
            </a:r>
            <a:r>
              <a:rPr lang="zh-CN" altLang="en-US" sz="2000" dirty="0">
                <a:latin typeface="STKaiti" panose="02010600040101010101" pitchFamily="2" charset="-122"/>
                <a:ea typeface="STKaiti" panose="02010600040101010101" pitchFamily="2" charset="-122"/>
              </a:rPr>
              <a:t>容量</a:t>
            </a:r>
            <a:r>
              <a:rPr lang="en-US" altLang="zh-CN" sz="2000" dirty="0">
                <a:latin typeface="STKaiti" panose="02010600040101010101" pitchFamily="2" charset="-122"/>
                <a:ea typeface="STKaiti" panose="02010600040101010101" pitchFamily="2" charset="-122"/>
              </a:rPr>
              <a:t>8</a:t>
            </a:r>
            <a:r>
              <a:rPr lang="en-US" sz="2000" dirty="0">
                <a:latin typeface="STKaiti" panose="02010600040101010101" pitchFamily="2" charset="-122"/>
                <a:ea typeface="STKaiti" panose="02010600040101010101" pitchFamily="2" charset="-122"/>
              </a:rPr>
              <a:t>KB，</a:t>
            </a:r>
            <a:r>
              <a:rPr lang="zh-CN" altLang="en-US" sz="2000" dirty="0">
                <a:solidFill>
                  <a:srgbClr val="7030A0"/>
                </a:solidFill>
                <a:latin typeface="STKaiti" panose="02010600040101010101" pitchFamily="2" charset="-122"/>
                <a:ea typeface="STKaiti" panose="02010600040101010101" pitchFamily="2" charset="-122"/>
              </a:rPr>
              <a:t>每行</a:t>
            </a:r>
            <a:r>
              <a:rPr lang="en-US" altLang="zh-CN" sz="2000" dirty="0">
                <a:solidFill>
                  <a:srgbClr val="7030A0"/>
                </a:solidFill>
                <a:latin typeface="STKaiti" panose="02010600040101010101" pitchFamily="2" charset="-122"/>
                <a:ea typeface="STKaiti" panose="02010600040101010101" pitchFamily="2" charset="-122"/>
              </a:rPr>
              <a:t>16Byte</a:t>
            </a:r>
          </a:p>
          <a:p>
            <a:r>
              <a:rPr lang="en-US" altLang="zh-CN" sz="2000" dirty="0">
                <a:latin typeface="STKaiti" panose="02010600040101010101" pitchFamily="2" charset="-122"/>
                <a:ea typeface="STKaiti" panose="02010600040101010101" pitchFamily="2" charset="-122"/>
                <a:sym typeface="Wingdings" pitchFamily="2" charset="2"/>
              </a:rPr>
              <a:t></a:t>
            </a:r>
            <a:r>
              <a:rPr lang="zh-CN" altLang="en-US" sz="2000" dirty="0">
                <a:latin typeface="STKaiti" panose="02010600040101010101" pitchFamily="2" charset="-122"/>
                <a:ea typeface="STKaiti" panose="02010600040101010101" pitchFamily="2" charset="-122"/>
              </a:rPr>
              <a:t>主存共</a:t>
            </a:r>
            <a:r>
              <a:rPr lang="en-US" altLang="zh-CN" sz="2000" dirty="0">
                <a:latin typeface="STKaiti" panose="02010600040101010101" pitchFamily="2" charset="-122"/>
                <a:ea typeface="STKaiti" panose="02010600040101010101" pitchFamily="2" charset="-122"/>
              </a:rPr>
              <a:t>2^32/16=</a:t>
            </a:r>
            <a:r>
              <a:rPr lang="en-US" altLang="zh-CN" sz="2000" b="1" dirty="0">
                <a:solidFill>
                  <a:srgbClr val="0432FF"/>
                </a:solidFill>
                <a:latin typeface="STKaiti" panose="02010600040101010101" pitchFamily="2" charset="-122"/>
                <a:ea typeface="STKaiti" panose="02010600040101010101" pitchFamily="2" charset="-122"/>
              </a:rPr>
              <a:t>2^28</a:t>
            </a:r>
            <a:r>
              <a:rPr lang="zh-CN" altLang="en-US" sz="2000" dirty="0">
                <a:latin typeface="STKaiti" panose="02010600040101010101" pitchFamily="2" charset="-122"/>
                <a:ea typeface="STKaiti" panose="02010600040101010101" pitchFamily="2" charset="-122"/>
              </a:rPr>
              <a:t>个块，</a:t>
            </a:r>
            <a:endParaRPr lang="en-US" altLang="zh-CN" sz="2000" dirty="0">
              <a:latin typeface="STKaiti" panose="02010600040101010101" pitchFamily="2" charset="-122"/>
              <a:ea typeface="STKaiti" panose="02010600040101010101" pitchFamily="2" charset="-122"/>
            </a:endParaRPr>
          </a:p>
          <a:p>
            <a:r>
              <a:rPr lang="en-US" altLang="zh-CN" sz="2000" dirty="0">
                <a:latin typeface="STKaiti" panose="02010600040101010101" pitchFamily="2" charset="-122"/>
                <a:ea typeface="STKaiti" panose="02010600040101010101" pitchFamily="2" charset="-122"/>
                <a:sym typeface="Wingdings" pitchFamily="2" charset="2"/>
              </a:rPr>
              <a:t>     Cache</a:t>
            </a:r>
            <a:r>
              <a:rPr lang="zh-CN" altLang="en-US" sz="2000" dirty="0">
                <a:latin typeface="STKaiti" panose="02010600040101010101" pitchFamily="2" charset="-122"/>
                <a:ea typeface="STKaiti" panose="02010600040101010101" pitchFamily="2" charset="-122"/>
              </a:rPr>
              <a:t>共</a:t>
            </a:r>
            <a:r>
              <a:rPr lang="en-US" altLang="zh-CN" sz="2000" dirty="0">
                <a:latin typeface="STKaiti" panose="02010600040101010101" pitchFamily="2" charset="-122"/>
                <a:ea typeface="STKaiti" panose="02010600040101010101" pitchFamily="2" charset="-122"/>
              </a:rPr>
              <a:t>512</a:t>
            </a:r>
            <a:r>
              <a:rPr lang="zh-CN" altLang="en-US" sz="2000" dirty="0">
                <a:latin typeface="STKaiti" panose="02010600040101010101" pitchFamily="2" charset="-122"/>
                <a:ea typeface="STKaiti" panose="02010600040101010101" pitchFamily="2" charset="-122"/>
              </a:rPr>
              <a:t>行</a:t>
            </a:r>
            <a:r>
              <a:rPr lang="en-US" altLang="zh-CN" sz="2000" dirty="0">
                <a:latin typeface="STKaiti" panose="02010600040101010101" pitchFamily="2" charset="-122"/>
                <a:ea typeface="STKaiti" panose="02010600040101010101" pitchFamily="2" charset="-122"/>
              </a:rPr>
              <a:t>(=8K/16=</a:t>
            </a:r>
            <a:r>
              <a:rPr lang="en-US" altLang="zh-CN" sz="2000" b="1" dirty="0">
                <a:solidFill>
                  <a:srgbClr val="0432FF"/>
                </a:solidFill>
                <a:latin typeface="STKaiti" panose="02010600040101010101" pitchFamily="2" charset="-122"/>
                <a:ea typeface="STKaiti" panose="02010600040101010101" pitchFamily="2" charset="-122"/>
              </a:rPr>
              <a:t>2^9=512</a:t>
            </a:r>
            <a:r>
              <a:rPr lang="en-US" altLang="zh-CN" sz="2000" dirty="0">
                <a:latin typeface="STKaiti" panose="02010600040101010101" pitchFamily="2" charset="-122"/>
                <a:ea typeface="STKaiti" panose="02010600040101010101" pitchFamily="2" charset="-122"/>
              </a:rPr>
              <a:t>)</a:t>
            </a:r>
          </a:p>
          <a:p>
            <a:r>
              <a:rPr lang="en-US" altLang="zh-CN" sz="2000" dirty="0">
                <a:latin typeface="STKaiti" panose="02010600040101010101" pitchFamily="2" charset="-122"/>
                <a:ea typeface="STKaiti" panose="02010600040101010101" pitchFamily="2" charset="-122"/>
                <a:sym typeface="Wingdings" pitchFamily="2" charset="2"/>
              </a:rPr>
              <a:t></a:t>
            </a:r>
            <a:r>
              <a:rPr lang="zh-CN" altLang="en-US" sz="2000" dirty="0">
                <a:latin typeface="STKaiti" panose="02010600040101010101" pitchFamily="2" charset="-122"/>
                <a:ea typeface="STKaiti" panose="02010600040101010101" pitchFamily="2" charset="-122"/>
                <a:sym typeface="Wingdings" pitchFamily="2" charset="2"/>
              </a:rPr>
              <a:t>主存的：</a:t>
            </a:r>
            <a:r>
              <a:rPr lang="zh-CN" altLang="en-US" sz="2000" dirty="0">
                <a:solidFill>
                  <a:srgbClr val="7030A0"/>
                </a:solidFill>
                <a:latin typeface="STKaiti" panose="02010600040101010101" pitchFamily="2" charset="-122"/>
                <a:ea typeface="STKaiti" panose="02010600040101010101" pitchFamily="2" charset="-122"/>
                <a:sym typeface="Wingdings" pitchFamily="2" charset="2"/>
              </a:rPr>
              <a:t>低</a:t>
            </a:r>
            <a:r>
              <a:rPr lang="en-US" altLang="zh-CN" sz="2000" dirty="0">
                <a:solidFill>
                  <a:srgbClr val="7030A0"/>
                </a:solidFill>
                <a:latin typeface="STKaiti" panose="02010600040101010101" pitchFamily="2" charset="-122"/>
                <a:ea typeface="STKaiti" panose="02010600040101010101" pitchFamily="2" charset="-122"/>
                <a:sym typeface="Wingdings" pitchFamily="2" charset="2"/>
              </a:rPr>
              <a:t>4</a:t>
            </a:r>
            <a:r>
              <a:rPr lang="zh-CN" altLang="en-US" sz="2000" dirty="0">
                <a:solidFill>
                  <a:srgbClr val="7030A0"/>
                </a:solidFill>
                <a:latin typeface="STKaiti" panose="02010600040101010101" pitchFamily="2" charset="-122"/>
                <a:ea typeface="STKaiti" panose="02010600040101010101" pitchFamily="2" charset="-122"/>
                <a:sym typeface="Wingdings" pitchFamily="2" charset="2"/>
              </a:rPr>
              <a:t>位</a:t>
            </a:r>
            <a:r>
              <a:rPr lang="zh-CN" altLang="en-US" sz="2000" dirty="0">
                <a:latin typeface="STKaiti" panose="02010600040101010101" pitchFamily="2" charset="-122"/>
                <a:ea typeface="STKaiti" panose="02010600040101010101" pitchFamily="2" charset="-122"/>
                <a:sym typeface="Wingdings" pitchFamily="2" charset="2"/>
              </a:rPr>
              <a:t>作为</a:t>
            </a:r>
            <a:r>
              <a:rPr lang="zh-CN" altLang="en-CN" sz="2000" dirty="0">
                <a:latin typeface="STKaiti" panose="02010600040101010101" pitchFamily="2" charset="-122"/>
                <a:ea typeface="STKaiti" panose="02010600040101010101" pitchFamily="2" charset="-122"/>
                <a:sym typeface="Wingdings" pitchFamily="2" charset="2"/>
              </a:rPr>
              <a:t>块内</a:t>
            </a:r>
            <a:r>
              <a:rPr lang="zh-CN" altLang="en-US" sz="2000" dirty="0">
                <a:latin typeface="STKaiti" panose="02010600040101010101" pitchFamily="2" charset="-122"/>
                <a:ea typeface="STKaiti" panose="02010600040101010101" pitchFamily="2" charset="-122"/>
                <a:sym typeface="Wingdings" pitchFamily="2" charset="2"/>
              </a:rPr>
              <a:t>地址，</a:t>
            </a:r>
            <a:r>
              <a:rPr lang="zh-CN" altLang="en-US" sz="2000" dirty="0">
                <a:solidFill>
                  <a:srgbClr val="0432FF"/>
                </a:solidFill>
                <a:latin typeface="STKaiti" panose="02010600040101010101" pitchFamily="2" charset="-122"/>
                <a:ea typeface="STKaiti" panose="02010600040101010101" pitchFamily="2" charset="-122"/>
                <a:sym typeface="Wingdings" pitchFamily="2" charset="2"/>
              </a:rPr>
              <a:t>中间</a:t>
            </a:r>
            <a:r>
              <a:rPr lang="en-US" altLang="zh-CN" sz="2000" dirty="0">
                <a:solidFill>
                  <a:srgbClr val="0432FF"/>
                </a:solidFill>
                <a:latin typeface="STKaiti" panose="02010600040101010101" pitchFamily="2" charset="-122"/>
                <a:ea typeface="STKaiti" panose="02010600040101010101" pitchFamily="2" charset="-122"/>
                <a:sym typeface="Wingdings" pitchFamily="2" charset="2"/>
              </a:rPr>
              <a:t>9</a:t>
            </a:r>
            <a:r>
              <a:rPr lang="zh-CN" altLang="en-US" sz="2000" dirty="0">
                <a:solidFill>
                  <a:srgbClr val="0432FF"/>
                </a:solidFill>
                <a:latin typeface="STKaiti" panose="02010600040101010101" pitchFamily="2" charset="-122"/>
                <a:ea typeface="STKaiti" panose="02010600040101010101" pitchFamily="2" charset="-122"/>
                <a:sym typeface="Wingdings" pitchFamily="2" charset="2"/>
              </a:rPr>
              <a:t>位</a:t>
            </a:r>
            <a:r>
              <a:rPr lang="zh-CN" altLang="en-US" sz="2000" dirty="0">
                <a:latin typeface="STKaiti" panose="02010600040101010101" pitchFamily="2" charset="-122"/>
                <a:ea typeface="STKaiti" panose="02010600040101010101" pitchFamily="2" charset="-122"/>
                <a:sym typeface="Wingdings" pitchFamily="2" charset="2"/>
              </a:rPr>
              <a:t>对应</a:t>
            </a:r>
            <a:r>
              <a:rPr lang="en-US" altLang="zh-CN" sz="2000" dirty="0">
                <a:latin typeface="STKaiti" panose="02010600040101010101" pitchFamily="2" charset="-122"/>
                <a:ea typeface="STKaiti" panose="02010600040101010101" pitchFamily="2" charset="-122"/>
                <a:sym typeface="Wingdings" pitchFamily="2" charset="2"/>
              </a:rPr>
              <a:t>Cache</a:t>
            </a:r>
            <a:r>
              <a:rPr lang="zh-CN" altLang="en-US" sz="2000" dirty="0">
                <a:latin typeface="STKaiti" panose="02010600040101010101" pitchFamily="2" charset="-122"/>
                <a:ea typeface="STKaiti" panose="02010600040101010101" pitchFamily="2" charset="-122"/>
                <a:sym typeface="Wingdings" pitchFamily="2" charset="2"/>
              </a:rPr>
              <a:t>行号，</a:t>
            </a:r>
            <a:r>
              <a:rPr lang="zh-CN" altLang="en-US" sz="2000" b="1" dirty="0">
                <a:solidFill>
                  <a:srgbClr val="AB7942"/>
                </a:solidFill>
                <a:latin typeface="STKaiti" panose="02010600040101010101" pitchFamily="2" charset="-122"/>
                <a:ea typeface="STKaiti" panose="02010600040101010101" pitchFamily="2" charset="-122"/>
                <a:sym typeface="Wingdings" pitchFamily="2" charset="2"/>
              </a:rPr>
              <a:t>剩下</a:t>
            </a:r>
            <a:r>
              <a:rPr lang="en-US" altLang="zh-CN" sz="2000" b="1" dirty="0">
                <a:solidFill>
                  <a:srgbClr val="AB7942"/>
                </a:solidFill>
                <a:latin typeface="STKaiti" panose="02010600040101010101" pitchFamily="2" charset="-122"/>
                <a:ea typeface="STKaiti" panose="02010600040101010101" pitchFamily="2" charset="-122"/>
                <a:sym typeface="Wingdings" pitchFamily="2" charset="2"/>
              </a:rPr>
              <a:t>19</a:t>
            </a:r>
            <a:r>
              <a:rPr lang="zh-CN" altLang="en-US" sz="2000" b="1" dirty="0">
                <a:solidFill>
                  <a:srgbClr val="AB7942"/>
                </a:solidFill>
                <a:latin typeface="STKaiti" panose="02010600040101010101" pitchFamily="2" charset="-122"/>
                <a:ea typeface="STKaiti" panose="02010600040101010101" pitchFamily="2" charset="-122"/>
                <a:sym typeface="Wingdings" pitchFamily="2" charset="2"/>
              </a:rPr>
              <a:t>位</a:t>
            </a:r>
            <a:r>
              <a:rPr lang="zh-CN" altLang="en-US" sz="2000" dirty="0">
                <a:latin typeface="STKaiti" panose="02010600040101010101" pitchFamily="2" charset="-122"/>
                <a:ea typeface="STKaiti" panose="02010600040101010101" pitchFamily="2" charset="-122"/>
                <a:sym typeface="Wingdings" pitchFamily="2" charset="2"/>
              </a:rPr>
              <a:t>作为主存标签（描述是</a:t>
            </a:r>
            <a:r>
              <a:rPr lang="zh-CN" altLang="en-US" sz="2000" b="1" dirty="0">
                <a:solidFill>
                  <a:srgbClr val="AB7942"/>
                </a:solidFill>
                <a:latin typeface="STKaiti" panose="02010600040101010101" pitchFamily="2" charset="-122"/>
                <a:ea typeface="STKaiti" panose="02010600040101010101" pitchFamily="2" charset="-122"/>
                <a:sym typeface="Wingdings" pitchFamily="2" charset="2"/>
              </a:rPr>
              <a:t>哪一个区域</a:t>
            </a:r>
            <a:r>
              <a:rPr lang="zh-CN" altLang="en-US" sz="2000" dirty="0">
                <a:latin typeface="STKaiti" panose="02010600040101010101" pitchFamily="2" charset="-122"/>
                <a:ea typeface="STKaiti" panose="02010600040101010101" pitchFamily="2" charset="-122"/>
                <a:sym typeface="Wingdings" pitchFamily="2" charset="2"/>
              </a:rPr>
              <a:t>）</a:t>
            </a:r>
            <a:endParaRPr lang="en-US" altLang="zh-CN" sz="2000" dirty="0">
              <a:latin typeface="STKaiti" panose="02010600040101010101" pitchFamily="2" charset="-122"/>
              <a:ea typeface="STKaiti" panose="02010600040101010101" pitchFamily="2" charset="-122"/>
              <a:sym typeface="Wingdings" pitchFamily="2" charset="2"/>
            </a:endParaRPr>
          </a:p>
        </p:txBody>
      </p:sp>
      <p:grpSp>
        <p:nvGrpSpPr>
          <p:cNvPr id="95" name="Group 94">
            <a:extLst>
              <a:ext uri="{FF2B5EF4-FFF2-40B4-BE49-F238E27FC236}">
                <a16:creationId xmlns:a16="http://schemas.microsoft.com/office/drawing/2014/main" id="{CDCD1EA2-623C-DA4C-8382-DE8287D88569}"/>
              </a:ext>
            </a:extLst>
          </p:cNvPr>
          <p:cNvGrpSpPr/>
          <p:nvPr/>
        </p:nvGrpSpPr>
        <p:grpSpPr>
          <a:xfrm>
            <a:off x="6290774" y="1624832"/>
            <a:ext cx="961742" cy="3495753"/>
            <a:chOff x="6290774" y="1906177"/>
            <a:chExt cx="961742" cy="3495753"/>
          </a:xfrm>
        </p:grpSpPr>
        <p:grpSp>
          <p:nvGrpSpPr>
            <p:cNvPr id="91" name="Group 90">
              <a:extLst>
                <a:ext uri="{FF2B5EF4-FFF2-40B4-BE49-F238E27FC236}">
                  <a16:creationId xmlns:a16="http://schemas.microsoft.com/office/drawing/2014/main" id="{D75B515D-7105-0D49-9EFA-F6B9A1DE48A8}"/>
                </a:ext>
              </a:extLst>
            </p:cNvPr>
            <p:cNvGrpSpPr/>
            <p:nvPr/>
          </p:nvGrpSpPr>
          <p:grpSpPr>
            <a:xfrm>
              <a:off x="6290774" y="1906177"/>
              <a:ext cx="951401" cy="1698625"/>
              <a:chOff x="6290774" y="1906177"/>
              <a:chExt cx="951401" cy="1698625"/>
            </a:xfrm>
          </p:grpSpPr>
          <p:sp>
            <p:nvSpPr>
              <p:cNvPr id="89" name="Rectangle 88">
                <a:extLst>
                  <a:ext uri="{FF2B5EF4-FFF2-40B4-BE49-F238E27FC236}">
                    <a16:creationId xmlns:a16="http://schemas.microsoft.com/office/drawing/2014/main" id="{27BCB83A-3426-1F40-8E74-6D4C19F24AE1}"/>
                  </a:ext>
                </a:extLst>
              </p:cNvPr>
              <p:cNvSpPr/>
              <p:nvPr/>
            </p:nvSpPr>
            <p:spPr>
              <a:xfrm>
                <a:off x="6290774" y="2539868"/>
                <a:ext cx="768159" cy="369332"/>
              </a:xfrm>
              <a:prstGeom prst="rect">
                <a:avLst/>
              </a:prstGeom>
            </p:spPr>
            <p:txBody>
              <a:bodyPr wrap="none">
                <a:spAutoFit/>
              </a:bodyPr>
              <a:lstStyle/>
              <a:p>
                <a:r>
                  <a:rPr lang="zh-CN" altLang="en-US" b="1" dirty="0">
                    <a:solidFill>
                      <a:srgbClr val="AB7942"/>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AB7942"/>
                    </a:solidFill>
                    <a:latin typeface="STKaiti" panose="02010600040101010101" pitchFamily="2" charset="-122"/>
                    <a:ea typeface="STKaiti" panose="02010600040101010101" pitchFamily="2" charset="-122"/>
                    <a:sym typeface="Wingdings" pitchFamily="2" charset="2"/>
                  </a:rPr>
                  <a:t>1</a:t>
                </a:r>
                <a:endParaRPr lang="en-CN" dirty="0">
                  <a:ea typeface="SimHei" panose="02010609060101010101" pitchFamily="49" charset="-122"/>
                </a:endParaRPr>
              </a:p>
            </p:txBody>
          </p:sp>
          <p:sp>
            <p:nvSpPr>
              <p:cNvPr id="90" name="Left Brace 89">
                <a:extLst>
                  <a:ext uri="{FF2B5EF4-FFF2-40B4-BE49-F238E27FC236}">
                    <a16:creationId xmlns:a16="http://schemas.microsoft.com/office/drawing/2014/main" id="{743926C1-3E49-2D45-B056-9094838D317F}"/>
                  </a:ext>
                </a:extLst>
              </p:cNvPr>
              <p:cNvSpPr/>
              <p:nvPr/>
            </p:nvSpPr>
            <p:spPr>
              <a:xfrm>
                <a:off x="7012294" y="1906177"/>
                <a:ext cx="229881" cy="1698625"/>
              </a:xfrm>
              <a:prstGeom prst="leftBrace">
                <a:avLst>
                  <a:gd name="adj1" fmla="val 61879"/>
                  <a:gd name="adj2" fmla="val 50000"/>
                </a:avLst>
              </a:prstGeom>
              <a:ln w="25400">
                <a:solidFill>
                  <a:srgbClr val="AB79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grpSp>
          <p:nvGrpSpPr>
            <p:cNvPr id="92" name="Group 91">
              <a:extLst>
                <a:ext uri="{FF2B5EF4-FFF2-40B4-BE49-F238E27FC236}">
                  <a16:creationId xmlns:a16="http://schemas.microsoft.com/office/drawing/2014/main" id="{CDD3B717-5CB6-7F48-A22D-5FB28CA05D26}"/>
                </a:ext>
              </a:extLst>
            </p:cNvPr>
            <p:cNvGrpSpPr/>
            <p:nvPr/>
          </p:nvGrpSpPr>
          <p:grpSpPr>
            <a:xfrm>
              <a:off x="6310027" y="3703305"/>
              <a:ext cx="942489" cy="1698625"/>
              <a:chOff x="6299686" y="1906177"/>
              <a:chExt cx="942489" cy="1698625"/>
            </a:xfrm>
          </p:grpSpPr>
          <p:sp>
            <p:nvSpPr>
              <p:cNvPr id="93" name="Rectangle 92">
                <a:extLst>
                  <a:ext uri="{FF2B5EF4-FFF2-40B4-BE49-F238E27FC236}">
                    <a16:creationId xmlns:a16="http://schemas.microsoft.com/office/drawing/2014/main" id="{C61F48C1-5769-9442-B4A3-AF62F280F000}"/>
                  </a:ext>
                </a:extLst>
              </p:cNvPr>
              <p:cNvSpPr/>
              <p:nvPr/>
            </p:nvSpPr>
            <p:spPr>
              <a:xfrm>
                <a:off x="6299686" y="2557213"/>
                <a:ext cx="768159" cy="369332"/>
              </a:xfrm>
              <a:prstGeom prst="rect">
                <a:avLst/>
              </a:prstGeom>
            </p:spPr>
            <p:txBody>
              <a:bodyPr wrap="none">
                <a:spAutoFit/>
              </a:bodyPr>
              <a:lstStyle/>
              <a:p>
                <a:r>
                  <a:rPr lang="zh-CN" altLang="en-US" b="1" dirty="0">
                    <a:solidFill>
                      <a:srgbClr val="AB7942"/>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AB7942"/>
                    </a:solidFill>
                    <a:latin typeface="STKaiti" panose="02010600040101010101" pitchFamily="2" charset="-122"/>
                    <a:ea typeface="STKaiti" panose="02010600040101010101" pitchFamily="2" charset="-122"/>
                    <a:sym typeface="Wingdings" pitchFamily="2" charset="2"/>
                  </a:rPr>
                  <a:t>2</a:t>
                </a:r>
                <a:endParaRPr lang="en-CN" dirty="0">
                  <a:ea typeface="SimHei" panose="02010609060101010101" pitchFamily="49" charset="-122"/>
                </a:endParaRPr>
              </a:p>
            </p:txBody>
          </p:sp>
          <p:sp>
            <p:nvSpPr>
              <p:cNvPr id="94" name="Left Brace 93">
                <a:extLst>
                  <a:ext uri="{FF2B5EF4-FFF2-40B4-BE49-F238E27FC236}">
                    <a16:creationId xmlns:a16="http://schemas.microsoft.com/office/drawing/2014/main" id="{8174B804-0F5C-484C-B667-831B2A0D35B3}"/>
                  </a:ext>
                </a:extLst>
              </p:cNvPr>
              <p:cNvSpPr/>
              <p:nvPr/>
            </p:nvSpPr>
            <p:spPr>
              <a:xfrm>
                <a:off x="7012294" y="1906177"/>
                <a:ext cx="229881" cy="1698625"/>
              </a:xfrm>
              <a:prstGeom prst="leftBrace">
                <a:avLst>
                  <a:gd name="adj1" fmla="val 61879"/>
                  <a:gd name="adj2" fmla="val 50000"/>
                </a:avLst>
              </a:prstGeom>
              <a:ln w="25400">
                <a:solidFill>
                  <a:srgbClr val="AB79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grpSp>
      <p:grpSp>
        <p:nvGrpSpPr>
          <p:cNvPr id="142" name="组合 141">
            <a:extLst>
              <a:ext uri="{FF2B5EF4-FFF2-40B4-BE49-F238E27FC236}">
                <a16:creationId xmlns:a16="http://schemas.microsoft.com/office/drawing/2014/main" id="{AF0F363F-674E-57A9-3043-B97C4DDCD070}"/>
              </a:ext>
            </a:extLst>
          </p:cNvPr>
          <p:cNvGrpSpPr/>
          <p:nvPr/>
        </p:nvGrpSpPr>
        <p:grpSpPr>
          <a:xfrm>
            <a:off x="282116" y="6436301"/>
            <a:ext cx="6725367" cy="378963"/>
            <a:chOff x="1131871" y="6358927"/>
            <a:chExt cx="6725367" cy="378963"/>
          </a:xfrm>
        </p:grpSpPr>
        <p:sp>
          <p:nvSpPr>
            <p:cNvPr id="143" name="Text Box 72">
              <a:extLst>
                <a:ext uri="{FF2B5EF4-FFF2-40B4-BE49-F238E27FC236}">
                  <a16:creationId xmlns:a16="http://schemas.microsoft.com/office/drawing/2014/main" id="{105D7760-1DC7-AB26-616A-B6561DC2F384}"/>
                </a:ext>
              </a:extLst>
            </p:cNvPr>
            <p:cNvSpPr txBox="1">
              <a:spLocks noChangeArrowheads="1"/>
            </p:cNvSpPr>
            <p:nvPr/>
          </p:nvSpPr>
          <p:spPr bwMode="auto">
            <a:xfrm>
              <a:off x="5756958" y="6358927"/>
              <a:ext cx="2100280" cy="378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spcBef>
                  <a:spcPct val="50000"/>
                </a:spcBef>
              </a:pPr>
              <a:r>
                <a:rPr kumimoji="1" lang="zh-CN" altLang="en-US" b="1" dirty="0">
                  <a:latin typeface="+mj-lt"/>
                  <a:ea typeface="+mn-ea"/>
                </a:rPr>
                <a:t>主存地址</a:t>
              </a:r>
            </a:p>
          </p:txBody>
        </p:sp>
        <p:sp>
          <p:nvSpPr>
            <p:cNvPr id="144" name="AutoShape 73">
              <a:extLst>
                <a:ext uri="{FF2B5EF4-FFF2-40B4-BE49-F238E27FC236}">
                  <a16:creationId xmlns:a16="http://schemas.microsoft.com/office/drawing/2014/main" id="{AC43F300-4241-8F22-D43B-84731B83F04D}"/>
                </a:ext>
              </a:extLst>
            </p:cNvPr>
            <p:cNvSpPr>
              <a:spLocks noChangeAspect="1" noChangeArrowheads="1" noTextEdit="1"/>
            </p:cNvSpPr>
            <p:nvPr/>
          </p:nvSpPr>
          <p:spPr bwMode="auto">
            <a:xfrm>
              <a:off x="1131871" y="6417742"/>
              <a:ext cx="3093375" cy="269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z="1400">
                <a:latin typeface="+mn-ea"/>
                <a:ea typeface="+mn-ea"/>
              </a:endParaRPr>
            </a:p>
          </p:txBody>
        </p:sp>
        <p:sp>
          <p:nvSpPr>
            <p:cNvPr id="145" name="Rectangle 75">
              <a:extLst>
                <a:ext uri="{FF2B5EF4-FFF2-40B4-BE49-F238E27FC236}">
                  <a16:creationId xmlns:a16="http://schemas.microsoft.com/office/drawing/2014/main" id="{013B74A4-B4DD-AE96-0273-A35F50399ED0}"/>
                </a:ext>
              </a:extLst>
            </p:cNvPr>
            <p:cNvSpPr>
              <a:spLocks noChangeArrowheads="1"/>
            </p:cNvSpPr>
            <p:nvPr/>
          </p:nvSpPr>
          <p:spPr bwMode="auto">
            <a:xfrm>
              <a:off x="4228420" y="6426811"/>
              <a:ext cx="1542497" cy="25045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sz="1400">
                <a:latin typeface="+mn-ea"/>
                <a:ea typeface="+mn-ea"/>
              </a:endParaRPr>
            </a:p>
          </p:txBody>
        </p:sp>
        <p:sp>
          <p:nvSpPr>
            <p:cNvPr id="146" name="Rectangle 77">
              <a:extLst>
                <a:ext uri="{FF2B5EF4-FFF2-40B4-BE49-F238E27FC236}">
                  <a16:creationId xmlns:a16="http://schemas.microsoft.com/office/drawing/2014/main" id="{56567F04-C17D-012E-032E-F9B1A78DD0F3}"/>
                </a:ext>
              </a:extLst>
            </p:cNvPr>
            <p:cNvSpPr>
              <a:spLocks noChangeArrowheads="1"/>
            </p:cNvSpPr>
            <p:nvPr/>
          </p:nvSpPr>
          <p:spPr bwMode="auto">
            <a:xfrm>
              <a:off x="3069943" y="6426811"/>
              <a:ext cx="1158477" cy="25045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z="1400">
                <a:latin typeface="+mn-ea"/>
                <a:ea typeface="+mn-ea"/>
              </a:endParaRPr>
            </a:p>
          </p:txBody>
        </p:sp>
        <p:sp>
          <p:nvSpPr>
            <p:cNvPr id="147" name="Rectangle 78">
              <a:extLst>
                <a:ext uri="{FF2B5EF4-FFF2-40B4-BE49-F238E27FC236}">
                  <a16:creationId xmlns:a16="http://schemas.microsoft.com/office/drawing/2014/main" id="{C3CA822D-E44B-C397-09D6-4B356D8B7D13}"/>
                </a:ext>
              </a:extLst>
            </p:cNvPr>
            <p:cNvSpPr>
              <a:spLocks noChangeArrowheads="1"/>
            </p:cNvSpPr>
            <p:nvPr/>
          </p:nvSpPr>
          <p:spPr bwMode="auto">
            <a:xfrm>
              <a:off x="3069943" y="6426811"/>
              <a:ext cx="1158477" cy="250455"/>
            </a:xfrm>
            <a:prstGeom prst="rect">
              <a:avLst/>
            </a:prstGeom>
            <a:solidFill>
              <a:schemeClr val="bg1"/>
            </a:solid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sz="1400">
                <a:latin typeface="+mn-ea"/>
                <a:ea typeface="+mn-ea"/>
              </a:endParaRPr>
            </a:p>
          </p:txBody>
        </p:sp>
        <p:sp>
          <p:nvSpPr>
            <p:cNvPr id="148" name="Rectangle 79">
              <a:extLst>
                <a:ext uri="{FF2B5EF4-FFF2-40B4-BE49-F238E27FC236}">
                  <a16:creationId xmlns:a16="http://schemas.microsoft.com/office/drawing/2014/main" id="{83D7D808-8854-A9BE-7EEA-9E5C032AC065}"/>
                </a:ext>
              </a:extLst>
            </p:cNvPr>
            <p:cNvSpPr>
              <a:spLocks noChangeArrowheads="1"/>
            </p:cNvSpPr>
            <p:nvPr/>
          </p:nvSpPr>
          <p:spPr bwMode="auto">
            <a:xfrm>
              <a:off x="3317602" y="6428008"/>
              <a:ext cx="688468"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pPr defTabSz="1009650"/>
              <a:r>
                <a:rPr lang="zh-CN" altLang="en-US" sz="1600" b="1" dirty="0">
                  <a:solidFill>
                    <a:srgbClr val="0432FF"/>
                  </a:solidFill>
                  <a:latin typeface="+mj-lt"/>
                  <a:ea typeface="+mn-ea"/>
                </a:rPr>
                <a:t>块索引</a:t>
              </a:r>
              <a:endParaRPr lang="zh-CN" altLang="en-US" sz="2000" b="1" dirty="0">
                <a:solidFill>
                  <a:srgbClr val="0432FF"/>
                </a:solidFill>
                <a:latin typeface="+mj-lt"/>
                <a:ea typeface="+mn-ea"/>
              </a:endParaRPr>
            </a:p>
          </p:txBody>
        </p:sp>
        <p:sp>
          <p:nvSpPr>
            <p:cNvPr id="149" name="Rectangle 80">
              <a:extLst>
                <a:ext uri="{FF2B5EF4-FFF2-40B4-BE49-F238E27FC236}">
                  <a16:creationId xmlns:a16="http://schemas.microsoft.com/office/drawing/2014/main" id="{60B494AC-C1C8-D332-03B5-C78493EB2AA4}"/>
                </a:ext>
              </a:extLst>
            </p:cNvPr>
            <p:cNvSpPr>
              <a:spLocks noChangeArrowheads="1"/>
            </p:cNvSpPr>
            <p:nvPr/>
          </p:nvSpPr>
          <p:spPr bwMode="auto">
            <a:xfrm>
              <a:off x="1149852" y="6426811"/>
              <a:ext cx="1920092" cy="250455"/>
            </a:xfrm>
            <a:prstGeom prst="rect">
              <a:avLst/>
            </a:prstGeom>
            <a:solidFill>
              <a:srgbClr val="CCFF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z="1400">
                <a:latin typeface="+mn-ea"/>
                <a:ea typeface="+mn-ea"/>
              </a:endParaRPr>
            </a:p>
          </p:txBody>
        </p:sp>
        <p:sp>
          <p:nvSpPr>
            <p:cNvPr id="150" name="Rectangle 81">
              <a:extLst>
                <a:ext uri="{FF2B5EF4-FFF2-40B4-BE49-F238E27FC236}">
                  <a16:creationId xmlns:a16="http://schemas.microsoft.com/office/drawing/2014/main" id="{96A7FDDA-F658-316F-1E2E-E031275AB73B}"/>
                </a:ext>
              </a:extLst>
            </p:cNvPr>
            <p:cNvSpPr>
              <a:spLocks noChangeArrowheads="1"/>
            </p:cNvSpPr>
            <p:nvPr/>
          </p:nvSpPr>
          <p:spPr bwMode="auto">
            <a:xfrm>
              <a:off x="1149852" y="6426811"/>
              <a:ext cx="1920092" cy="25045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sz="1400">
                <a:latin typeface="+mn-ea"/>
                <a:ea typeface="+mn-ea"/>
              </a:endParaRPr>
            </a:p>
          </p:txBody>
        </p:sp>
        <p:sp>
          <p:nvSpPr>
            <p:cNvPr id="151" name="Rectangle 82">
              <a:extLst>
                <a:ext uri="{FF2B5EF4-FFF2-40B4-BE49-F238E27FC236}">
                  <a16:creationId xmlns:a16="http://schemas.microsoft.com/office/drawing/2014/main" id="{830592D6-914D-5838-438A-E640979C71BD}"/>
                </a:ext>
              </a:extLst>
            </p:cNvPr>
            <p:cNvSpPr>
              <a:spLocks noChangeArrowheads="1"/>
            </p:cNvSpPr>
            <p:nvPr/>
          </p:nvSpPr>
          <p:spPr bwMode="auto">
            <a:xfrm>
              <a:off x="1939038" y="6413960"/>
              <a:ext cx="413575"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b="1" dirty="0">
                  <a:solidFill>
                    <a:srgbClr val="AB7942"/>
                  </a:solidFill>
                  <a:latin typeface="+mj-lt"/>
                  <a:ea typeface="+mn-ea"/>
                </a:rPr>
                <a:t>标签</a:t>
              </a:r>
            </a:p>
          </p:txBody>
        </p:sp>
        <p:sp>
          <p:nvSpPr>
            <p:cNvPr id="153" name="Rectangle 76">
              <a:extLst>
                <a:ext uri="{FF2B5EF4-FFF2-40B4-BE49-F238E27FC236}">
                  <a16:creationId xmlns:a16="http://schemas.microsoft.com/office/drawing/2014/main" id="{3EBC95A2-DF31-3661-3E44-D0B701192BB4}"/>
                </a:ext>
              </a:extLst>
            </p:cNvPr>
            <p:cNvSpPr>
              <a:spLocks noChangeArrowheads="1"/>
            </p:cNvSpPr>
            <p:nvPr/>
          </p:nvSpPr>
          <p:spPr bwMode="auto">
            <a:xfrm>
              <a:off x="4412542" y="6413960"/>
              <a:ext cx="82715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b="1" dirty="0">
                  <a:solidFill>
                    <a:schemeClr val="accent1"/>
                  </a:solidFill>
                  <a:latin typeface="+mj-lt"/>
                  <a:ea typeface="+mn-ea"/>
                </a:rPr>
                <a:t>块内地址</a:t>
              </a:r>
              <a:endParaRPr lang="zh-CN" altLang="en-US" sz="2000" b="1" dirty="0">
                <a:solidFill>
                  <a:schemeClr val="accent1"/>
                </a:solidFill>
                <a:latin typeface="+mj-lt"/>
                <a:ea typeface="+mn-ea"/>
              </a:endParaRPr>
            </a:p>
          </p:txBody>
        </p:sp>
      </p:grpSp>
      <p:grpSp>
        <p:nvGrpSpPr>
          <p:cNvPr id="154" name="Group 1">
            <a:extLst>
              <a:ext uri="{FF2B5EF4-FFF2-40B4-BE49-F238E27FC236}">
                <a16:creationId xmlns:a16="http://schemas.microsoft.com/office/drawing/2014/main" id="{17087043-29B5-26B5-99FE-74C7316A9A29}"/>
              </a:ext>
            </a:extLst>
          </p:cNvPr>
          <p:cNvGrpSpPr/>
          <p:nvPr/>
        </p:nvGrpSpPr>
        <p:grpSpPr>
          <a:xfrm>
            <a:off x="282116" y="6129186"/>
            <a:ext cx="6725367" cy="723345"/>
            <a:chOff x="282116" y="6129186"/>
            <a:chExt cx="6725367" cy="723345"/>
          </a:xfrm>
        </p:grpSpPr>
        <p:grpSp>
          <p:nvGrpSpPr>
            <p:cNvPr id="155" name="组合 154">
              <a:extLst>
                <a:ext uri="{FF2B5EF4-FFF2-40B4-BE49-F238E27FC236}">
                  <a16:creationId xmlns:a16="http://schemas.microsoft.com/office/drawing/2014/main" id="{320EC979-395A-7AF3-1405-D9069D72ACA7}"/>
                </a:ext>
              </a:extLst>
            </p:cNvPr>
            <p:cNvGrpSpPr/>
            <p:nvPr/>
          </p:nvGrpSpPr>
          <p:grpSpPr>
            <a:xfrm>
              <a:off x="282116" y="6129186"/>
              <a:ext cx="6725367" cy="723345"/>
              <a:chOff x="1131871" y="6358927"/>
              <a:chExt cx="6725367" cy="723345"/>
            </a:xfrm>
          </p:grpSpPr>
          <p:sp>
            <p:nvSpPr>
              <p:cNvPr id="158" name="Text Box 72">
                <a:extLst>
                  <a:ext uri="{FF2B5EF4-FFF2-40B4-BE49-F238E27FC236}">
                    <a16:creationId xmlns:a16="http://schemas.microsoft.com/office/drawing/2014/main" id="{585596E4-5C4C-8C05-640C-8236C52B740D}"/>
                  </a:ext>
                </a:extLst>
              </p:cNvPr>
              <p:cNvSpPr txBox="1">
                <a:spLocks noChangeArrowheads="1"/>
              </p:cNvSpPr>
              <p:nvPr/>
            </p:nvSpPr>
            <p:spPr bwMode="auto">
              <a:xfrm>
                <a:off x="5756958" y="6358927"/>
                <a:ext cx="2100280" cy="378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spcBef>
                    <a:spcPct val="50000"/>
                  </a:spcBef>
                </a:pPr>
                <a:r>
                  <a:rPr kumimoji="1" lang="en-US" altLang="zh-CN" b="1" dirty="0">
                    <a:latin typeface="+mj-lt"/>
                    <a:ea typeface="+mn-ea"/>
                  </a:rPr>
                  <a:t>Cache</a:t>
                </a:r>
                <a:r>
                  <a:rPr kumimoji="1" lang="zh-CN" altLang="en-US" b="1" dirty="0">
                    <a:latin typeface="+mj-lt"/>
                    <a:ea typeface="+mn-ea"/>
                  </a:rPr>
                  <a:t> 地址</a:t>
                </a:r>
              </a:p>
            </p:txBody>
          </p:sp>
          <p:sp>
            <p:nvSpPr>
              <p:cNvPr id="159" name="AutoShape 73">
                <a:extLst>
                  <a:ext uri="{FF2B5EF4-FFF2-40B4-BE49-F238E27FC236}">
                    <a16:creationId xmlns:a16="http://schemas.microsoft.com/office/drawing/2014/main" id="{78004221-0CCC-87A2-18B4-38F0D94F76CD}"/>
                  </a:ext>
                </a:extLst>
              </p:cNvPr>
              <p:cNvSpPr>
                <a:spLocks noChangeAspect="1" noChangeArrowheads="1" noTextEdit="1"/>
              </p:cNvSpPr>
              <p:nvPr/>
            </p:nvSpPr>
            <p:spPr bwMode="auto">
              <a:xfrm>
                <a:off x="1131871" y="6417742"/>
                <a:ext cx="3093375" cy="269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z="1400">
                  <a:latin typeface="+mn-ea"/>
                  <a:ea typeface="+mn-ea"/>
                </a:endParaRPr>
              </a:p>
            </p:txBody>
          </p:sp>
          <p:sp>
            <p:nvSpPr>
              <p:cNvPr id="160" name="Rectangle 75">
                <a:extLst>
                  <a:ext uri="{FF2B5EF4-FFF2-40B4-BE49-F238E27FC236}">
                    <a16:creationId xmlns:a16="http://schemas.microsoft.com/office/drawing/2014/main" id="{15C62BA0-3BC9-C621-5405-87BD44518F5E}"/>
                  </a:ext>
                </a:extLst>
              </p:cNvPr>
              <p:cNvSpPr>
                <a:spLocks noChangeArrowheads="1"/>
              </p:cNvSpPr>
              <p:nvPr/>
            </p:nvSpPr>
            <p:spPr bwMode="auto">
              <a:xfrm>
                <a:off x="4228420" y="6427992"/>
                <a:ext cx="1542497" cy="25045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sz="1400">
                  <a:latin typeface="+mn-ea"/>
                  <a:ea typeface="+mn-ea"/>
                </a:endParaRPr>
              </a:p>
            </p:txBody>
          </p:sp>
          <p:sp>
            <p:nvSpPr>
              <p:cNvPr id="161" name="Rectangle 77">
                <a:extLst>
                  <a:ext uri="{FF2B5EF4-FFF2-40B4-BE49-F238E27FC236}">
                    <a16:creationId xmlns:a16="http://schemas.microsoft.com/office/drawing/2014/main" id="{4DBDC9DF-C28C-8AD7-C053-BF8BE78E5BCB}"/>
                  </a:ext>
                </a:extLst>
              </p:cNvPr>
              <p:cNvSpPr>
                <a:spLocks noChangeArrowheads="1"/>
              </p:cNvSpPr>
              <p:nvPr/>
            </p:nvSpPr>
            <p:spPr bwMode="auto">
              <a:xfrm>
                <a:off x="3069943" y="6426811"/>
                <a:ext cx="1158477" cy="25045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z="1400">
                  <a:latin typeface="+mn-ea"/>
                  <a:ea typeface="+mn-ea"/>
                </a:endParaRPr>
              </a:p>
            </p:txBody>
          </p:sp>
          <p:sp>
            <p:nvSpPr>
              <p:cNvPr id="162" name="Rectangle 78">
                <a:extLst>
                  <a:ext uri="{FF2B5EF4-FFF2-40B4-BE49-F238E27FC236}">
                    <a16:creationId xmlns:a16="http://schemas.microsoft.com/office/drawing/2014/main" id="{DCABD359-A212-13CB-B296-35766BB429DA}"/>
                  </a:ext>
                </a:extLst>
              </p:cNvPr>
              <p:cNvSpPr>
                <a:spLocks noChangeArrowheads="1"/>
              </p:cNvSpPr>
              <p:nvPr/>
            </p:nvSpPr>
            <p:spPr bwMode="auto">
              <a:xfrm>
                <a:off x="3069943" y="6427992"/>
                <a:ext cx="1158477" cy="250455"/>
              </a:xfrm>
              <a:prstGeom prst="rect">
                <a:avLst/>
              </a:prstGeom>
              <a:solidFill>
                <a:schemeClr val="bg1"/>
              </a:solid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sz="1400">
                  <a:latin typeface="+mn-ea"/>
                  <a:ea typeface="+mn-ea"/>
                </a:endParaRPr>
              </a:p>
            </p:txBody>
          </p:sp>
          <p:sp>
            <p:nvSpPr>
              <p:cNvPr id="163" name="Rectangle 79">
                <a:extLst>
                  <a:ext uri="{FF2B5EF4-FFF2-40B4-BE49-F238E27FC236}">
                    <a16:creationId xmlns:a16="http://schemas.microsoft.com/office/drawing/2014/main" id="{730AC716-A726-96BB-511C-ED7840DE1739}"/>
                  </a:ext>
                </a:extLst>
              </p:cNvPr>
              <p:cNvSpPr>
                <a:spLocks noChangeArrowheads="1"/>
              </p:cNvSpPr>
              <p:nvPr/>
            </p:nvSpPr>
            <p:spPr bwMode="auto">
              <a:xfrm>
                <a:off x="3348036" y="6429200"/>
                <a:ext cx="642893" cy="2480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pPr defTabSz="1009650"/>
                <a:r>
                  <a:rPr lang="zh-CN" altLang="en-US" sz="1600" b="1" dirty="0">
                    <a:solidFill>
                      <a:srgbClr val="0432FF"/>
                    </a:solidFill>
                    <a:latin typeface="+mj-lt"/>
                    <a:ea typeface="+mn-ea"/>
                  </a:rPr>
                  <a:t>行索引</a:t>
                </a:r>
                <a:endParaRPr lang="zh-CN" altLang="en-US" sz="2000" b="1" dirty="0">
                  <a:solidFill>
                    <a:srgbClr val="0432FF"/>
                  </a:solidFill>
                  <a:latin typeface="+mj-lt"/>
                  <a:ea typeface="+mn-ea"/>
                </a:endParaRPr>
              </a:p>
            </p:txBody>
          </p:sp>
          <p:sp>
            <p:nvSpPr>
              <p:cNvPr id="164" name="AutoShape 84">
                <a:extLst>
                  <a:ext uri="{FF2B5EF4-FFF2-40B4-BE49-F238E27FC236}">
                    <a16:creationId xmlns:a16="http://schemas.microsoft.com/office/drawing/2014/main" id="{293E63D0-60E3-E3E7-13AF-B74910561FB0}"/>
                  </a:ext>
                </a:extLst>
              </p:cNvPr>
              <p:cNvSpPr>
                <a:spLocks noChangeAspect="1" noChangeArrowheads="1" noTextEdit="1"/>
              </p:cNvSpPr>
              <p:nvPr/>
            </p:nvSpPr>
            <p:spPr bwMode="auto">
              <a:xfrm>
                <a:off x="3065964" y="6812980"/>
                <a:ext cx="1145647" cy="2692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sz="1400">
                  <a:latin typeface="+mn-ea"/>
                  <a:ea typeface="+mn-ea"/>
                </a:endParaRPr>
              </a:p>
            </p:txBody>
          </p:sp>
          <p:sp>
            <p:nvSpPr>
              <p:cNvPr id="165" name="Rectangle 76">
                <a:extLst>
                  <a:ext uri="{FF2B5EF4-FFF2-40B4-BE49-F238E27FC236}">
                    <a16:creationId xmlns:a16="http://schemas.microsoft.com/office/drawing/2014/main" id="{7A267835-D4F5-BA9D-E267-77E0B2F4B59A}"/>
                  </a:ext>
                </a:extLst>
              </p:cNvPr>
              <p:cNvSpPr>
                <a:spLocks noChangeArrowheads="1"/>
              </p:cNvSpPr>
              <p:nvPr/>
            </p:nvSpPr>
            <p:spPr bwMode="auto">
              <a:xfrm>
                <a:off x="4412542" y="6413960"/>
                <a:ext cx="82715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b="1" dirty="0">
                    <a:solidFill>
                      <a:schemeClr val="accent1"/>
                    </a:solidFill>
                    <a:latin typeface="+mj-lt"/>
                    <a:ea typeface="+mn-ea"/>
                  </a:rPr>
                  <a:t>行内地址</a:t>
                </a:r>
                <a:endParaRPr lang="zh-CN" altLang="en-US" sz="2000" b="1" dirty="0">
                  <a:solidFill>
                    <a:schemeClr val="accent1"/>
                  </a:solidFill>
                  <a:latin typeface="+mj-lt"/>
                  <a:ea typeface="+mn-ea"/>
                </a:endParaRPr>
              </a:p>
            </p:txBody>
          </p:sp>
        </p:grpSp>
        <p:sp>
          <p:nvSpPr>
            <p:cNvPr id="156" name="Rectangle 81">
              <a:extLst>
                <a:ext uri="{FF2B5EF4-FFF2-40B4-BE49-F238E27FC236}">
                  <a16:creationId xmlns:a16="http://schemas.microsoft.com/office/drawing/2014/main" id="{3FAFA8CD-55D0-E89F-253F-5CCC2A67BAA7}"/>
                </a:ext>
              </a:extLst>
            </p:cNvPr>
            <p:cNvSpPr>
              <a:spLocks noChangeArrowheads="1"/>
            </p:cNvSpPr>
            <p:nvPr/>
          </p:nvSpPr>
          <p:spPr bwMode="auto">
            <a:xfrm>
              <a:off x="292416" y="6198251"/>
              <a:ext cx="1920092" cy="250455"/>
            </a:xfrm>
            <a:prstGeom prst="rect">
              <a:avLst/>
            </a:prstGeom>
            <a:solidFill>
              <a:srgbClr val="CCFFCC"/>
            </a:solid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sz="1400">
                <a:latin typeface="+mn-ea"/>
                <a:ea typeface="+mn-ea"/>
              </a:endParaRPr>
            </a:p>
          </p:txBody>
        </p:sp>
        <p:sp>
          <p:nvSpPr>
            <p:cNvPr id="157" name="Rectangle 82">
              <a:extLst>
                <a:ext uri="{FF2B5EF4-FFF2-40B4-BE49-F238E27FC236}">
                  <a16:creationId xmlns:a16="http://schemas.microsoft.com/office/drawing/2014/main" id="{D6E5FB4B-4F19-038F-497B-813D85829D12}"/>
                </a:ext>
              </a:extLst>
            </p:cNvPr>
            <p:cNvSpPr>
              <a:spLocks noChangeArrowheads="1"/>
            </p:cNvSpPr>
            <p:nvPr/>
          </p:nvSpPr>
          <p:spPr bwMode="auto">
            <a:xfrm>
              <a:off x="1081602" y="6175150"/>
              <a:ext cx="413575"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b="1" dirty="0">
                  <a:solidFill>
                    <a:srgbClr val="AB7942"/>
                  </a:solidFill>
                  <a:latin typeface="+mj-lt"/>
                  <a:ea typeface="+mn-ea"/>
                </a:rPr>
                <a:t>标签</a:t>
              </a:r>
              <a:endParaRPr lang="zh-CN" altLang="en-US" sz="2000" b="1" dirty="0">
                <a:solidFill>
                  <a:srgbClr val="AB7942"/>
                </a:solidFill>
                <a:latin typeface="+mj-lt"/>
                <a:ea typeface="+mn-ea"/>
              </a:endParaRPr>
            </a:p>
          </p:txBody>
        </p:sp>
      </p:grpSp>
    </p:spTree>
    <p:extLst>
      <p:ext uri="{BB962C8B-B14F-4D97-AF65-F5344CB8AC3E}">
        <p14:creationId xmlns:p14="http://schemas.microsoft.com/office/powerpoint/2010/main" val="16140683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43</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4724622" cy="871330"/>
          </a:xfrm>
        </p:spPr>
        <p:txBody>
          <a:bodyPr/>
          <a:lstStyle/>
          <a:p>
            <a:pPr marL="514350" indent="-457200">
              <a:spcBef>
                <a:spcPts val="1000"/>
              </a:spcBef>
            </a:pPr>
            <a:r>
              <a:rPr kumimoji="1" lang="zh-CN" altLang="en-US" dirty="0"/>
              <a:t>直接映像：固定查找</a:t>
            </a:r>
            <a:endParaRPr kumimoji="1" lang="en-US" altLang="zh-CN" dirty="0"/>
          </a:p>
          <a:p>
            <a:pPr marL="914400" lvl="1" indent="-457200">
              <a:spcBef>
                <a:spcPts val="1000"/>
              </a:spcBef>
            </a:pPr>
            <a:endParaRPr lang="en-US" altLang="zh-CN" sz="2400" dirty="0"/>
          </a:p>
          <a:p>
            <a:pPr marL="914400" lvl="1" indent="-457200">
              <a:spcBef>
                <a:spcPts val="1000"/>
              </a:spcBef>
            </a:pPr>
            <a:endParaRPr lang="en-US" altLang="zh-CN" sz="2400" dirty="0"/>
          </a:p>
        </p:txBody>
      </p:sp>
      <p:grpSp>
        <p:nvGrpSpPr>
          <p:cNvPr id="56" name="组合 55">
            <a:extLst>
              <a:ext uri="{FF2B5EF4-FFF2-40B4-BE49-F238E27FC236}">
                <a16:creationId xmlns:a16="http://schemas.microsoft.com/office/drawing/2014/main" id="{573DD78E-70F8-F04A-8E7C-D477B7DA5964}"/>
              </a:ext>
            </a:extLst>
          </p:cNvPr>
          <p:cNvGrpSpPr/>
          <p:nvPr/>
        </p:nvGrpSpPr>
        <p:grpSpPr>
          <a:xfrm>
            <a:off x="2877566" y="2350198"/>
            <a:ext cx="6354203" cy="3906525"/>
            <a:chOff x="2877566" y="2350198"/>
            <a:chExt cx="6354203" cy="3906525"/>
          </a:xfrm>
        </p:grpSpPr>
        <p:grpSp>
          <p:nvGrpSpPr>
            <p:cNvPr id="5" name="组合 4">
              <a:extLst>
                <a:ext uri="{FF2B5EF4-FFF2-40B4-BE49-F238E27FC236}">
                  <a16:creationId xmlns:a16="http://schemas.microsoft.com/office/drawing/2014/main" id="{275D3C3B-A6F9-454E-A7AD-96C876F6404C}"/>
                </a:ext>
              </a:extLst>
            </p:cNvPr>
            <p:cNvGrpSpPr/>
            <p:nvPr/>
          </p:nvGrpSpPr>
          <p:grpSpPr>
            <a:xfrm>
              <a:off x="2877566" y="2350198"/>
              <a:ext cx="4518330" cy="486802"/>
              <a:chOff x="2612720" y="2465948"/>
              <a:chExt cx="4518330" cy="486802"/>
            </a:xfrm>
          </p:grpSpPr>
          <p:sp>
            <p:nvSpPr>
              <p:cNvPr id="6" name="矩形 5">
                <a:extLst>
                  <a:ext uri="{FF2B5EF4-FFF2-40B4-BE49-F238E27FC236}">
                    <a16:creationId xmlns:a16="http://schemas.microsoft.com/office/drawing/2014/main" id="{9863F4D9-2B13-284F-964D-4F41C248C006}"/>
                  </a:ext>
                </a:extLst>
              </p:cNvPr>
              <p:cNvSpPr/>
              <p:nvPr/>
            </p:nvSpPr>
            <p:spPr bwMode="auto">
              <a:xfrm>
                <a:off x="2612720" y="2465948"/>
                <a:ext cx="2056118" cy="486802"/>
              </a:xfrm>
              <a:prstGeom prst="rect">
                <a:avLst/>
              </a:prstGeom>
              <a:solidFill>
                <a:srgbClr val="F899C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rPr>
                  <a:t>主存标签</a:t>
                </a:r>
              </a:p>
            </p:txBody>
          </p:sp>
          <p:sp>
            <p:nvSpPr>
              <p:cNvPr id="7" name="矩形 6">
                <a:extLst>
                  <a:ext uri="{FF2B5EF4-FFF2-40B4-BE49-F238E27FC236}">
                    <a16:creationId xmlns:a16="http://schemas.microsoft.com/office/drawing/2014/main" id="{E5EAC017-174E-4543-83A1-42E0048F57B2}"/>
                  </a:ext>
                </a:extLst>
              </p:cNvPr>
              <p:cNvSpPr/>
              <p:nvPr/>
            </p:nvSpPr>
            <p:spPr bwMode="auto">
              <a:xfrm>
                <a:off x="4666455" y="2465948"/>
                <a:ext cx="1231901" cy="48680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u="none" strike="noStrike" cap="none" normalizeH="0" baseline="0" dirty="0">
                    <a:ln>
                      <a:noFill/>
                    </a:ln>
                    <a:solidFill>
                      <a:schemeClr val="tx1"/>
                    </a:solidFill>
                    <a:effectLst/>
                    <a:latin typeface="Tahoma" pitchFamily="34" charset="0"/>
                    <a:ea typeface="SimHei" panose="02010609060101010101" pitchFamily="49" charset="-122"/>
                  </a:rPr>
                  <a:t>Cache</a:t>
                </a:r>
                <a:r>
                  <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rPr>
                  <a:t>行号</a:t>
                </a:r>
              </a:p>
            </p:txBody>
          </p:sp>
          <p:sp>
            <p:nvSpPr>
              <p:cNvPr id="8" name="矩形 7">
                <a:extLst>
                  <a:ext uri="{FF2B5EF4-FFF2-40B4-BE49-F238E27FC236}">
                    <a16:creationId xmlns:a16="http://schemas.microsoft.com/office/drawing/2014/main" id="{CE1FFD78-61D3-9743-A458-5FC23179C152}"/>
                  </a:ext>
                </a:extLst>
              </p:cNvPr>
              <p:cNvSpPr/>
              <p:nvPr/>
            </p:nvSpPr>
            <p:spPr bwMode="auto">
              <a:xfrm>
                <a:off x="5899149" y="2465948"/>
                <a:ext cx="1231901" cy="486802"/>
              </a:xfrm>
              <a:prstGeom prst="rect">
                <a:avLst/>
              </a:prstGeom>
              <a:solidFill>
                <a:srgbClr val="CCFFFF"/>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rPr>
                  <a:t>行内地址</a:t>
                </a:r>
              </a:p>
            </p:txBody>
          </p:sp>
        </p:grpSp>
        <p:grpSp>
          <p:nvGrpSpPr>
            <p:cNvPr id="9" name="组合 8">
              <a:extLst>
                <a:ext uri="{FF2B5EF4-FFF2-40B4-BE49-F238E27FC236}">
                  <a16:creationId xmlns:a16="http://schemas.microsoft.com/office/drawing/2014/main" id="{D808DEDE-232D-7A49-A982-B41BF26864DF}"/>
                </a:ext>
              </a:extLst>
            </p:cNvPr>
            <p:cNvGrpSpPr/>
            <p:nvPr/>
          </p:nvGrpSpPr>
          <p:grpSpPr>
            <a:xfrm>
              <a:off x="4730973" y="3640281"/>
              <a:ext cx="575566" cy="1026100"/>
              <a:chOff x="8751400" y="2124001"/>
              <a:chExt cx="831850" cy="1026100"/>
            </a:xfrm>
          </p:grpSpPr>
          <p:sp>
            <p:nvSpPr>
              <p:cNvPr id="10" name="矩形 9">
                <a:extLst>
                  <a:ext uri="{FF2B5EF4-FFF2-40B4-BE49-F238E27FC236}">
                    <a16:creationId xmlns:a16="http://schemas.microsoft.com/office/drawing/2014/main" id="{C224C395-4736-B34C-AB27-91EFC5284694}"/>
                  </a:ext>
                </a:extLst>
              </p:cNvPr>
              <p:cNvSpPr/>
              <p:nvPr/>
            </p:nvSpPr>
            <p:spPr bwMode="auto">
              <a:xfrm>
                <a:off x="8751400" y="2916089"/>
                <a:ext cx="831850" cy="234012"/>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latin typeface="Tahoma" pitchFamily="34" charset="0"/>
                    <a:ea typeface="SimHei" panose="02010609060101010101" pitchFamily="49" charset="-122"/>
                  </a:rPr>
                  <a:t>标签</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11" name="矩形 10">
                <a:extLst>
                  <a:ext uri="{FF2B5EF4-FFF2-40B4-BE49-F238E27FC236}">
                    <a16:creationId xmlns:a16="http://schemas.microsoft.com/office/drawing/2014/main" id="{6C36E98C-7718-1B49-9F50-396BE8CAE3FF}"/>
                  </a:ext>
                </a:extLst>
              </p:cNvPr>
              <p:cNvSpPr/>
              <p:nvPr/>
            </p:nvSpPr>
            <p:spPr bwMode="auto">
              <a:xfrm>
                <a:off x="8751400" y="2591540"/>
                <a:ext cx="831850" cy="332636"/>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12" name="矩形 11">
                <a:extLst>
                  <a:ext uri="{FF2B5EF4-FFF2-40B4-BE49-F238E27FC236}">
                    <a16:creationId xmlns:a16="http://schemas.microsoft.com/office/drawing/2014/main" id="{BEAC0C77-AC55-6147-8BA0-A554A9A2B087}"/>
                  </a:ext>
                </a:extLst>
              </p:cNvPr>
              <p:cNvSpPr/>
              <p:nvPr/>
            </p:nvSpPr>
            <p:spPr bwMode="auto">
              <a:xfrm>
                <a:off x="8751400" y="2358493"/>
                <a:ext cx="831850" cy="234012"/>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latin typeface="Tahoma" pitchFamily="34" charset="0"/>
                    <a:ea typeface="SimHei" panose="02010609060101010101" pitchFamily="49" charset="-122"/>
                  </a:rPr>
                  <a:t>标签</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13" name="矩形 12">
                <a:extLst>
                  <a:ext uri="{FF2B5EF4-FFF2-40B4-BE49-F238E27FC236}">
                    <a16:creationId xmlns:a16="http://schemas.microsoft.com/office/drawing/2014/main" id="{DD3F06BB-ECC2-FD4E-9F5B-8060F9D17DDE}"/>
                  </a:ext>
                </a:extLst>
              </p:cNvPr>
              <p:cNvSpPr/>
              <p:nvPr/>
            </p:nvSpPr>
            <p:spPr bwMode="auto">
              <a:xfrm>
                <a:off x="8751400" y="2124001"/>
                <a:ext cx="831850" cy="234012"/>
              </a:xfrm>
              <a:prstGeom prst="rect">
                <a:avLst/>
              </a:prstGeom>
              <a:solidFill>
                <a:srgbClr val="F49796"/>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latin typeface="Tahoma" pitchFamily="34" charset="0"/>
                    <a:ea typeface="SimHei" panose="02010609060101010101" pitchFamily="49" charset="-122"/>
                  </a:rPr>
                  <a:t>标签</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14" name="组合 13">
              <a:extLst>
                <a:ext uri="{FF2B5EF4-FFF2-40B4-BE49-F238E27FC236}">
                  <a16:creationId xmlns:a16="http://schemas.microsoft.com/office/drawing/2014/main" id="{BE8A5F7C-0306-024B-8577-9DFA8D041F64}"/>
                </a:ext>
              </a:extLst>
            </p:cNvPr>
            <p:cNvGrpSpPr/>
            <p:nvPr/>
          </p:nvGrpSpPr>
          <p:grpSpPr>
            <a:xfrm>
              <a:off x="5433161" y="3640281"/>
              <a:ext cx="804767" cy="1026100"/>
              <a:chOff x="8751400" y="2124001"/>
              <a:chExt cx="831850" cy="1026100"/>
            </a:xfrm>
          </p:grpSpPr>
          <p:sp>
            <p:nvSpPr>
              <p:cNvPr id="15" name="矩形 14">
                <a:extLst>
                  <a:ext uri="{FF2B5EF4-FFF2-40B4-BE49-F238E27FC236}">
                    <a16:creationId xmlns:a16="http://schemas.microsoft.com/office/drawing/2014/main" id="{3D6730BF-C3D3-6944-8846-61A7956A0F37}"/>
                  </a:ext>
                </a:extLst>
              </p:cNvPr>
              <p:cNvSpPr/>
              <p:nvPr/>
            </p:nvSpPr>
            <p:spPr bwMode="auto">
              <a:xfrm>
                <a:off x="8751400" y="2916089"/>
                <a:ext cx="831850" cy="234012"/>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有效位</a:t>
                </a:r>
              </a:p>
            </p:txBody>
          </p:sp>
          <p:sp>
            <p:nvSpPr>
              <p:cNvPr id="16" name="矩形 15">
                <a:extLst>
                  <a:ext uri="{FF2B5EF4-FFF2-40B4-BE49-F238E27FC236}">
                    <a16:creationId xmlns:a16="http://schemas.microsoft.com/office/drawing/2014/main" id="{04EF8FC1-CC8E-1A46-A80E-EC5D725D636D}"/>
                  </a:ext>
                </a:extLst>
              </p:cNvPr>
              <p:cNvSpPr/>
              <p:nvPr/>
            </p:nvSpPr>
            <p:spPr bwMode="auto">
              <a:xfrm>
                <a:off x="8751400" y="2591540"/>
                <a:ext cx="831850" cy="332636"/>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17" name="矩形 16">
                <a:extLst>
                  <a:ext uri="{FF2B5EF4-FFF2-40B4-BE49-F238E27FC236}">
                    <a16:creationId xmlns:a16="http://schemas.microsoft.com/office/drawing/2014/main" id="{C3021CAA-90D8-1942-A296-1BADD0620E7B}"/>
                  </a:ext>
                </a:extLst>
              </p:cNvPr>
              <p:cNvSpPr/>
              <p:nvPr/>
            </p:nvSpPr>
            <p:spPr bwMode="auto">
              <a:xfrm>
                <a:off x="8751400" y="2358493"/>
                <a:ext cx="831850" cy="234012"/>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有效位</a:t>
                </a:r>
              </a:p>
            </p:txBody>
          </p:sp>
          <p:sp>
            <p:nvSpPr>
              <p:cNvPr id="18" name="矩形 17">
                <a:extLst>
                  <a:ext uri="{FF2B5EF4-FFF2-40B4-BE49-F238E27FC236}">
                    <a16:creationId xmlns:a16="http://schemas.microsoft.com/office/drawing/2014/main" id="{9CAD5BD7-10F8-5544-9AA1-093669812C7F}"/>
                  </a:ext>
                </a:extLst>
              </p:cNvPr>
              <p:cNvSpPr/>
              <p:nvPr/>
            </p:nvSpPr>
            <p:spPr bwMode="auto">
              <a:xfrm>
                <a:off x="8751400" y="2124001"/>
                <a:ext cx="831850" cy="234012"/>
              </a:xfrm>
              <a:prstGeom prst="rect">
                <a:avLst/>
              </a:prstGeom>
              <a:solidFill>
                <a:srgbClr val="66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有效位</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19" name="组合 18">
              <a:extLst>
                <a:ext uri="{FF2B5EF4-FFF2-40B4-BE49-F238E27FC236}">
                  <a16:creationId xmlns:a16="http://schemas.microsoft.com/office/drawing/2014/main" id="{59CBE68A-399E-AE42-92DA-522F0BB93016}"/>
                </a:ext>
              </a:extLst>
            </p:cNvPr>
            <p:cNvGrpSpPr/>
            <p:nvPr/>
          </p:nvGrpSpPr>
          <p:grpSpPr>
            <a:xfrm>
              <a:off x="6621982" y="3640281"/>
              <a:ext cx="804767" cy="1026100"/>
              <a:chOff x="8751400" y="2124001"/>
              <a:chExt cx="831850" cy="1026100"/>
            </a:xfrm>
          </p:grpSpPr>
          <p:sp>
            <p:nvSpPr>
              <p:cNvPr id="20" name="矩形 19">
                <a:extLst>
                  <a:ext uri="{FF2B5EF4-FFF2-40B4-BE49-F238E27FC236}">
                    <a16:creationId xmlns:a16="http://schemas.microsoft.com/office/drawing/2014/main" id="{4176871E-369E-4743-9632-D4E6250BA488}"/>
                  </a:ext>
                </a:extLst>
              </p:cNvPr>
              <p:cNvSpPr/>
              <p:nvPr/>
            </p:nvSpPr>
            <p:spPr bwMode="auto">
              <a:xfrm>
                <a:off x="8751400" y="2916089"/>
                <a:ext cx="831850" cy="23401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行</a:t>
                </a:r>
                <a:r>
                  <a:rPr lang="en-US" altLang="zh-CN" sz="1400" dirty="0">
                    <a:ea typeface="SimHei" panose="02010609060101010101" pitchFamily="49" charset="-122"/>
                  </a:rPr>
                  <a:t>N-1</a:t>
                </a:r>
                <a:endParaRPr lang="zh-CN" altLang="en-US" sz="1400" dirty="0">
                  <a:ea typeface="SimHei" panose="02010609060101010101" pitchFamily="49" charset="-122"/>
                </a:endParaRPr>
              </a:p>
            </p:txBody>
          </p:sp>
          <p:sp>
            <p:nvSpPr>
              <p:cNvPr id="21" name="矩形 20">
                <a:extLst>
                  <a:ext uri="{FF2B5EF4-FFF2-40B4-BE49-F238E27FC236}">
                    <a16:creationId xmlns:a16="http://schemas.microsoft.com/office/drawing/2014/main" id="{C717CEB3-A01C-B543-A05A-F461A48F9652}"/>
                  </a:ext>
                </a:extLst>
              </p:cNvPr>
              <p:cNvSpPr/>
              <p:nvPr/>
            </p:nvSpPr>
            <p:spPr bwMode="auto">
              <a:xfrm>
                <a:off x="8751400" y="2591540"/>
                <a:ext cx="831850" cy="332636"/>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22" name="矩形 21">
                <a:extLst>
                  <a:ext uri="{FF2B5EF4-FFF2-40B4-BE49-F238E27FC236}">
                    <a16:creationId xmlns:a16="http://schemas.microsoft.com/office/drawing/2014/main" id="{16352EC9-6207-1D4F-B92C-08F48134195B}"/>
                  </a:ext>
                </a:extLst>
              </p:cNvPr>
              <p:cNvSpPr/>
              <p:nvPr/>
            </p:nvSpPr>
            <p:spPr bwMode="auto">
              <a:xfrm>
                <a:off x="8751400" y="2358493"/>
                <a:ext cx="831850" cy="23401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行</a:t>
                </a:r>
                <a:r>
                  <a:rPr lang="en-US" altLang="zh-CN" sz="1400" dirty="0">
                    <a:ea typeface="SimHei" panose="02010609060101010101" pitchFamily="49" charset="-122"/>
                  </a:rPr>
                  <a:t>1</a:t>
                </a:r>
                <a:endParaRPr lang="zh-CN" altLang="en-US" sz="1400" dirty="0">
                  <a:ea typeface="SimHei" panose="02010609060101010101" pitchFamily="49" charset="-122"/>
                </a:endParaRPr>
              </a:p>
            </p:txBody>
          </p:sp>
          <p:sp>
            <p:nvSpPr>
              <p:cNvPr id="23" name="矩形 22">
                <a:extLst>
                  <a:ext uri="{FF2B5EF4-FFF2-40B4-BE49-F238E27FC236}">
                    <a16:creationId xmlns:a16="http://schemas.microsoft.com/office/drawing/2014/main" id="{24EA76E2-50A5-554B-91D2-A231D2AE5A69}"/>
                  </a:ext>
                </a:extLst>
              </p:cNvPr>
              <p:cNvSpPr/>
              <p:nvPr/>
            </p:nvSpPr>
            <p:spPr bwMode="auto">
              <a:xfrm>
                <a:off x="8751400" y="2124001"/>
                <a:ext cx="831850" cy="234012"/>
              </a:xfrm>
              <a:prstGeom prst="rect">
                <a:avLst/>
              </a:prstGeom>
              <a:solidFill>
                <a:srgbClr val="FEFF99"/>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rPr>
                  <a:t>行</a:t>
                </a:r>
                <a:r>
                  <a:rPr kumimoji="0" lang="en-US" altLang="zh-CN" sz="1400" u="none" strike="noStrike" cap="none" normalizeH="0" baseline="0" dirty="0">
                    <a:ln>
                      <a:noFill/>
                    </a:ln>
                    <a:solidFill>
                      <a:schemeClr val="tx1"/>
                    </a:solidFill>
                    <a:effectLst/>
                    <a:latin typeface="Tahoma" pitchFamily="34" charset="0"/>
                    <a:ea typeface="SimHei" panose="02010609060101010101" pitchFamily="49" charset="-122"/>
                  </a:rPr>
                  <a:t>0</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cxnSp>
          <p:nvCxnSpPr>
            <p:cNvPr id="24" name="肘形连接符 23">
              <a:extLst>
                <a:ext uri="{FF2B5EF4-FFF2-40B4-BE49-F238E27FC236}">
                  <a16:creationId xmlns:a16="http://schemas.microsoft.com/office/drawing/2014/main" id="{B0B99822-93EE-874E-9B8D-378112CC09F7}"/>
                </a:ext>
              </a:extLst>
            </p:cNvPr>
            <p:cNvCxnSpPr>
              <a:cxnSpLocks/>
            </p:cNvCxnSpPr>
            <p:nvPr/>
          </p:nvCxnSpPr>
          <p:spPr bwMode="auto">
            <a:xfrm rot="5400000">
              <a:off x="4561724" y="3006250"/>
              <a:ext cx="1154779" cy="816279"/>
            </a:xfrm>
            <a:prstGeom prst="bentConnector4">
              <a:avLst>
                <a:gd name="adj1" fmla="val 44934"/>
                <a:gd name="adj2" fmla="val 128005"/>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5" name="肘形连接符 24">
              <a:extLst>
                <a:ext uri="{FF2B5EF4-FFF2-40B4-BE49-F238E27FC236}">
                  <a16:creationId xmlns:a16="http://schemas.microsoft.com/office/drawing/2014/main" id="{1BD4C65C-3896-5C40-A59D-FA06F184C775}"/>
                </a:ext>
              </a:extLst>
            </p:cNvPr>
            <p:cNvCxnSpPr>
              <a:cxnSpLocks/>
            </p:cNvCxnSpPr>
            <p:nvPr/>
          </p:nvCxnSpPr>
          <p:spPr bwMode="auto">
            <a:xfrm rot="16200000" flipH="1">
              <a:off x="6525958" y="3090987"/>
              <a:ext cx="1154779" cy="646803"/>
            </a:xfrm>
            <a:prstGeom prst="bentConnector4">
              <a:avLst>
                <a:gd name="adj1" fmla="val 44934"/>
                <a:gd name="adj2" fmla="val 135343"/>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6" name="矩形 25">
              <a:extLst>
                <a:ext uri="{FF2B5EF4-FFF2-40B4-BE49-F238E27FC236}">
                  <a16:creationId xmlns:a16="http://schemas.microsoft.com/office/drawing/2014/main" id="{7A24E07C-A01E-8B4E-B654-96352E3BE153}"/>
                </a:ext>
              </a:extLst>
            </p:cNvPr>
            <p:cNvSpPr/>
            <p:nvPr/>
          </p:nvSpPr>
          <p:spPr bwMode="auto">
            <a:xfrm>
              <a:off x="4416108" y="5080618"/>
              <a:ext cx="765714" cy="486802"/>
            </a:xfrm>
            <a:prstGeom prst="rect">
              <a:avLst/>
            </a:prstGeom>
            <a:solidFill>
              <a:srgbClr val="F899C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dirty="0">
                  <a:ea typeface="SimHei" panose="02010609060101010101" pitchFamily="49" charset="-122"/>
                </a:rPr>
                <a:t>比较</a:t>
              </a: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cxnSp>
          <p:nvCxnSpPr>
            <p:cNvPr id="27" name="肘形连接符 26">
              <a:extLst>
                <a:ext uri="{FF2B5EF4-FFF2-40B4-BE49-F238E27FC236}">
                  <a16:creationId xmlns:a16="http://schemas.microsoft.com/office/drawing/2014/main" id="{D5CF0276-619D-1842-AA45-34D201BCCE80}"/>
                </a:ext>
              </a:extLst>
            </p:cNvPr>
            <p:cNvCxnSpPr>
              <a:cxnSpLocks/>
            </p:cNvCxnSpPr>
            <p:nvPr/>
          </p:nvCxnSpPr>
          <p:spPr bwMode="auto">
            <a:xfrm rot="16200000" flipH="1">
              <a:off x="3145467" y="3597157"/>
              <a:ext cx="2243618" cy="723303"/>
            </a:xfrm>
            <a:prstGeom prst="bentConnector3">
              <a:avLst>
                <a:gd name="adj1" fmla="val 81133"/>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8" name="直线箭头连接符 27">
              <a:extLst>
                <a:ext uri="{FF2B5EF4-FFF2-40B4-BE49-F238E27FC236}">
                  <a16:creationId xmlns:a16="http://schemas.microsoft.com/office/drawing/2014/main" id="{C0CB0A32-53A8-A545-AC54-24A91C0E2DBB}"/>
                </a:ext>
              </a:extLst>
            </p:cNvPr>
            <p:cNvCxnSpPr>
              <a:stCxn id="10" idx="2"/>
            </p:cNvCxnSpPr>
            <p:nvPr/>
          </p:nvCxnSpPr>
          <p:spPr bwMode="auto">
            <a:xfrm>
              <a:off x="5018756" y="4666381"/>
              <a:ext cx="0" cy="414237"/>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9" name="矩形 28">
              <a:extLst>
                <a:ext uri="{FF2B5EF4-FFF2-40B4-BE49-F238E27FC236}">
                  <a16:creationId xmlns:a16="http://schemas.microsoft.com/office/drawing/2014/main" id="{246A6FDE-FE3F-734C-9E4D-03BF9E1CB908}"/>
                </a:ext>
              </a:extLst>
            </p:cNvPr>
            <p:cNvSpPr/>
            <p:nvPr/>
          </p:nvSpPr>
          <p:spPr bwMode="auto">
            <a:xfrm>
              <a:off x="5378881" y="5080618"/>
              <a:ext cx="765714" cy="486802"/>
            </a:xfrm>
            <a:prstGeom prst="rect">
              <a:avLst/>
            </a:prstGeom>
            <a:solidFill>
              <a:srgbClr val="F899CC"/>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dirty="0">
                  <a:ea typeface="SimHei" panose="02010609060101010101" pitchFamily="49" charset="-122"/>
                </a:rPr>
                <a:t>判断</a:t>
              </a: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cxnSp>
          <p:nvCxnSpPr>
            <p:cNvPr id="30" name="直线箭头连接符 29">
              <a:extLst>
                <a:ext uri="{FF2B5EF4-FFF2-40B4-BE49-F238E27FC236}">
                  <a16:creationId xmlns:a16="http://schemas.microsoft.com/office/drawing/2014/main" id="{73E6851E-4C0C-2D4F-8CA8-2F42B02850B0}"/>
                </a:ext>
              </a:extLst>
            </p:cNvPr>
            <p:cNvCxnSpPr/>
            <p:nvPr/>
          </p:nvCxnSpPr>
          <p:spPr bwMode="auto">
            <a:xfrm>
              <a:off x="5836729" y="4673738"/>
              <a:ext cx="0" cy="414237"/>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肘形连接符 30">
              <a:extLst>
                <a:ext uri="{FF2B5EF4-FFF2-40B4-BE49-F238E27FC236}">
                  <a16:creationId xmlns:a16="http://schemas.microsoft.com/office/drawing/2014/main" id="{6FD65054-A5AC-594F-844E-E44FC4EB0AD3}"/>
                </a:ext>
              </a:extLst>
            </p:cNvPr>
            <p:cNvCxnSpPr>
              <a:cxnSpLocks/>
            </p:cNvCxnSpPr>
            <p:nvPr/>
          </p:nvCxnSpPr>
          <p:spPr bwMode="auto">
            <a:xfrm rot="5400000" flipH="1" flipV="1">
              <a:off x="4670963" y="4965251"/>
              <a:ext cx="730170" cy="474167"/>
            </a:xfrm>
            <a:prstGeom prst="bentConnector3">
              <a:avLst>
                <a:gd name="adj1" fmla="val -31308"/>
              </a:avLst>
            </a:prstGeom>
            <a:solidFill>
              <a:schemeClr val="accent1"/>
            </a:solidFill>
            <a:ln w="25400" cap="rnd"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2" name="肘形连接符 31">
              <a:extLst>
                <a:ext uri="{FF2B5EF4-FFF2-40B4-BE49-F238E27FC236}">
                  <a16:creationId xmlns:a16="http://schemas.microsoft.com/office/drawing/2014/main" id="{5C11638B-C04F-C448-B273-0E28053E00D1}"/>
                </a:ext>
              </a:extLst>
            </p:cNvPr>
            <p:cNvCxnSpPr>
              <a:cxnSpLocks/>
            </p:cNvCxnSpPr>
            <p:nvPr/>
          </p:nvCxnSpPr>
          <p:spPr bwMode="auto">
            <a:xfrm>
              <a:off x="5288773" y="4837250"/>
              <a:ext cx="351728" cy="243368"/>
            </a:xfrm>
            <a:prstGeom prst="bentConnector3">
              <a:avLst>
                <a:gd name="adj1" fmla="val 99648"/>
              </a:avLst>
            </a:prstGeom>
            <a:solidFill>
              <a:schemeClr val="accent1"/>
            </a:solidFill>
            <a:ln w="25400" cap="rnd"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3" name="椭圆 32">
              <a:extLst>
                <a:ext uri="{FF2B5EF4-FFF2-40B4-BE49-F238E27FC236}">
                  <a16:creationId xmlns:a16="http://schemas.microsoft.com/office/drawing/2014/main" id="{B8E23075-AFAD-0340-8642-D97EDA44F69B}"/>
                </a:ext>
              </a:extLst>
            </p:cNvPr>
            <p:cNvSpPr/>
            <p:nvPr/>
          </p:nvSpPr>
          <p:spPr bwMode="auto">
            <a:xfrm>
              <a:off x="6554435" y="5059397"/>
              <a:ext cx="936551" cy="531732"/>
            </a:xfrm>
            <a:prstGeom prst="ellipse">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2075" tIns="46038" rIns="92075" bIns="46038" numCol="1" spcCol="0" rtlCol="0" fromWordArt="0" anchor="ctr" anchorCtr="0" forceAA="0" compatLnSpc="1">
              <a:prstTxWarp prst="textNoShape">
                <a:avLst/>
              </a:prstTxWarp>
              <a:noAutofit/>
            </a:bodyPr>
            <a:lstStyle/>
            <a:p>
              <a:pPr lvl="0" algn="ctr"/>
              <a:r>
                <a:rPr lang="zh-CN" altLang="en-US" dirty="0">
                  <a:solidFill>
                    <a:srgbClr val="0432FF"/>
                  </a:solidFill>
                  <a:ea typeface="SimHei" panose="02010609060101010101" pitchFamily="49" charset="-122"/>
                </a:rPr>
                <a:t>数据</a:t>
              </a:r>
            </a:p>
          </p:txBody>
        </p:sp>
        <p:cxnSp>
          <p:nvCxnSpPr>
            <p:cNvPr id="34" name="直线箭头连接符 33">
              <a:extLst>
                <a:ext uri="{FF2B5EF4-FFF2-40B4-BE49-F238E27FC236}">
                  <a16:creationId xmlns:a16="http://schemas.microsoft.com/office/drawing/2014/main" id="{CDAB68CA-54CE-7443-9469-5A5A6F57716A}"/>
                </a:ext>
              </a:extLst>
            </p:cNvPr>
            <p:cNvCxnSpPr>
              <a:cxnSpLocks/>
              <a:stCxn id="29" idx="3"/>
              <a:endCxn id="33" idx="2"/>
            </p:cNvCxnSpPr>
            <p:nvPr/>
          </p:nvCxnSpPr>
          <p:spPr bwMode="auto">
            <a:xfrm>
              <a:off x="6144595" y="5324019"/>
              <a:ext cx="409840" cy="1244"/>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5" name="直线箭头连接符 34">
              <a:extLst>
                <a:ext uri="{FF2B5EF4-FFF2-40B4-BE49-F238E27FC236}">
                  <a16:creationId xmlns:a16="http://schemas.microsoft.com/office/drawing/2014/main" id="{91A6C9B0-8963-DB41-8825-14FFAEF11189}"/>
                </a:ext>
              </a:extLst>
            </p:cNvPr>
            <p:cNvCxnSpPr>
              <a:cxnSpLocks/>
              <a:stCxn id="20" idx="2"/>
              <a:endCxn id="33" idx="0"/>
            </p:cNvCxnSpPr>
            <p:nvPr/>
          </p:nvCxnSpPr>
          <p:spPr bwMode="auto">
            <a:xfrm flipH="1">
              <a:off x="7022711" y="4666381"/>
              <a:ext cx="1655" cy="393016"/>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6" name="文本框 35">
              <a:extLst>
                <a:ext uri="{FF2B5EF4-FFF2-40B4-BE49-F238E27FC236}">
                  <a16:creationId xmlns:a16="http://schemas.microsoft.com/office/drawing/2014/main" id="{F52965D4-1C14-544D-AD16-017529E2B673}"/>
                </a:ext>
              </a:extLst>
            </p:cNvPr>
            <p:cNvSpPr txBox="1"/>
            <p:nvPr/>
          </p:nvSpPr>
          <p:spPr>
            <a:xfrm>
              <a:off x="6082038" y="5035688"/>
              <a:ext cx="548281" cy="307777"/>
            </a:xfrm>
            <a:prstGeom prst="rect">
              <a:avLst/>
            </a:prstGeom>
            <a:noFill/>
          </p:spPr>
          <p:txBody>
            <a:bodyPr wrap="square" rtlCol="0">
              <a:spAutoFit/>
            </a:bodyPr>
            <a:lstStyle/>
            <a:p>
              <a:pPr algn="ctr"/>
              <a:r>
                <a:rPr kumimoji="1" lang="zh-CN" altLang="en-US" sz="1400" b="1" dirty="0">
                  <a:solidFill>
                    <a:srgbClr val="0432FF"/>
                  </a:solidFill>
                  <a:latin typeface="+mn-ea"/>
                  <a:ea typeface="+mn-ea"/>
                </a:rPr>
                <a:t>命中</a:t>
              </a:r>
            </a:p>
          </p:txBody>
        </p:sp>
        <p:grpSp>
          <p:nvGrpSpPr>
            <p:cNvPr id="37" name="组合 36">
              <a:extLst>
                <a:ext uri="{FF2B5EF4-FFF2-40B4-BE49-F238E27FC236}">
                  <a16:creationId xmlns:a16="http://schemas.microsoft.com/office/drawing/2014/main" id="{A6A27E89-5C14-D146-B5B8-216DDFCB9354}"/>
                </a:ext>
              </a:extLst>
            </p:cNvPr>
            <p:cNvGrpSpPr/>
            <p:nvPr/>
          </p:nvGrpSpPr>
          <p:grpSpPr>
            <a:xfrm>
              <a:off x="7774110" y="2350198"/>
              <a:ext cx="1220760" cy="3098488"/>
              <a:chOff x="8694101" y="3123119"/>
              <a:chExt cx="804767" cy="3098488"/>
            </a:xfrm>
          </p:grpSpPr>
          <p:grpSp>
            <p:nvGrpSpPr>
              <p:cNvPr id="38" name="组合 37">
                <a:extLst>
                  <a:ext uri="{FF2B5EF4-FFF2-40B4-BE49-F238E27FC236}">
                    <a16:creationId xmlns:a16="http://schemas.microsoft.com/office/drawing/2014/main" id="{DDD1D3E9-D144-454D-B2DB-F80282900F9C}"/>
                  </a:ext>
                </a:extLst>
              </p:cNvPr>
              <p:cNvGrpSpPr/>
              <p:nvPr/>
            </p:nvGrpSpPr>
            <p:grpSpPr>
              <a:xfrm>
                <a:off x="8694101" y="3123119"/>
                <a:ext cx="804767" cy="1026100"/>
                <a:chOff x="8751400" y="2124001"/>
                <a:chExt cx="831850" cy="1026100"/>
              </a:xfrm>
            </p:grpSpPr>
            <p:sp>
              <p:nvSpPr>
                <p:cNvPr id="47" name="矩形 46">
                  <a:extLst>
                    <a:ext uri="{FF2B5EF4-FFF2-40B4-BE49-F238E27FC236}">
                      <a16:creationId xmlns:a16="http://schemas.microsoft.com/office/drawing/2014/main" id="{44282E5B-E9BD-9441-9EAD-B0055EFCF367}"/>
                    </a:ext>
                  </a:extLst>
                </p:cNvPr>
                <p:cNvSpPr/>
                <p:nvPr/>
              </p:nvSpPr>
              <p:spPr bwMode="auto">
                <a:xfrm>
                  <a:off x="8751400" y="2916089"/>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N-1</a:t>
                  </a:r>
                  <a:endParaRPr lang="zh-CN" altLang="en-US" sz="1400" dirty="0">
                    <a:ea typeface="SimHei" panose="02010609060101010101" pitchFamily="49" charset="-122"/>
                  </a:endParaRPr>
                </a:p>
              </p:txBody>
            </p:sp>
            <p:sp>
              <p:nvSpPr>
                <p:cNvPr id="48" name="矩形 47">
                  <a:extLst>
                    <a:ext uri="{FF2B5EF4-FFF2-40B4-BE49-F238E27FC236}">
                      <a16:creationId xmlns:a16="http://schemas.microsoft.com/office/drawing/2014/main" id="{711EAE19-8847-0840-94F9-9591C9E40C08}"/>
                    </a:ext>
                  </a:extLst>
                </p:cNvPr>
                <p:cNvSpPr/>
                <p:nvPr/>
              </p:nvSpPr>
              <p:spPr bwMode="auto">
                <a:xfrm>
                  <a:off x="8751400" y="2591540"/>
                  <a:ext cx="831850" cy="332636"/>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49" name="矩形 48">
                  <a:extLst>
                    <a:ext uri="{FF2B5EF4-FFF2-40B4-BE49-F238E27FC236}">
                      <a16:creationId xmlns:a16="http://schemas.microsoft.com/office/drawing/2014/main" id="{4F22386D-69C1-AB4C-9D53-223540E0B836}"/>
                    </a:ext>
                  </a:extLst>
                </p:cNvPr>
                <p:cNvSpPr/>
                <p:nvPr/>
              </p:nvSpPr>
              <p:spPr bwMode="auto">
                <a:xfrm>
                  <a:off x="8751400" y="2358493"/>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1</a:t>
                  </a:r>
                  <a:endParaRPr lang="zh-CN" altLang="en-US" sz="1400" dirty="0">
                    <a:ea typeface="SimHei" panose="02010609060101010101" pitchFamily="49" charset="-122"/>
                  </a:endParaRPr>
                </a:p>
              </p:txBody>
            </p:sp>
            <p:sp>
              <p:nvSpPr>
                <p:cNvPr id="50" name="矩形 49">
                  <a:extLst>
                    <a:ext uri="{FF2B5EF4-FFF2-40B4-BE49-F238E27FC236}">
                      <a16:creationId xmlns:a16="http://schemas.microsoft.com/office/drawing/2014/main" id="{F3C8D19E-45F2-394F-9A17-949A39DA02AE}"/>
                    </a:ext>
                  </a:extLst>
                </p:cNvPr>
                <p:cNvSpPr/>
                <p:nvPr/>
              </p:nvSpPr>
              <p:spPr bwMode="auto">
                <a:xfrm>
                  <a:off x="8751400" y="2124001"/>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块</a:t>
                  </a:r>
                  <a:r>
                    <a:rPr kumimoji="0" lang="en-US" altLang="zh-CN" sz="1400" u="none" strike="noStrike" cap="none" normalizeH="0" baseline="0" dirty="0">
                      <a:ln>
                        <a:noFill/>
                      </a:ln>
                      <a:solidFill>
                        <a:schemeClr val="tx1"/>
                      </a:solidFill>
                      <a:effectLst/>
                      <a:latin typeface="Tahoma" pitchFamily="34" charset="0"/>
                      <a:ea typeface="SimHei" panose="02010609060101010101" pitchFamily="49" charset="-122"/>
                    </a:rPr>
                    <a:t>0</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39" name="组合 38">
                <a:extLst>
                  <a:ext uri="{FF2B5EF4-FFF2-40B4-BE49-F238E27FC236}">
                    <a16:creationId xmlns:a16="http://schemas.microsoft.com/office/drawing/2014/main" id="{AE592B19-0241-5746-B645-BBEC394CB734}"/>
                  </a:ext>
                </a:extLst>
              </p:cNvPr>
              <p:cNvGrpSpPr/>
              <p:nvPr/>
            </p:nvGrpSpPr>
            <p:grpSpPr>
              <a:xfrm>
                <a:off x="8694101" y="4147426"/>
                <a:ext cx="804767" cy="1026100"/>
                <a:chOff x="8751400" y="2124001"/>
                <a:chExt cx="831850" cy="1026100"/>
              </a:xfrm>
            </p:grpSpPr>
            <p:sp>
              <p:nvSpPr>
                <p:cNvPr id="43" name="矩形 42">
                  <a:extLst>
                    <a:ext uri="{FF2B5EF4-FFF2-40B4-BE49-F238E27FC236}">
                      <a16:creationId xmlns:a16="http://schemas.microsoft.com/office/drawing/2014/main" id="{6F5B169F-378D-E942-90C3-52C2A4617ACB}"/>
                    </a:ext>
                  </a:extLst>
                </p:cNvPr>
                <p:cNvSpPr/>
                <p:nvPr/>
              </p:nvSpPr>
              <p:spPr bwMode="auto">
                <a:xfrm>
                  <a:off x="8751400" y="2916089"/>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2N-1</a:t>
                  </a:r>
                  <a:endParaRPr lang="zh-CN" altLang="en-US" sz="1400" dirty="0">
                    <a:ea typeface="SimHei" panose="02010609060101010101" pitchFamily="49" charset="-122"/>
                  </a:endParaRPr>
                </a:p>
              </p:txBody>
            </p:sp>
            <p:sp>
              <p:nvSpPr>
                <p:cNvPr id="44" name="矩形 43">
                  <a:extLst>
                    <a:ext uri="{FF2B5EF4-FFF2-40B4-BE49-F238E27FC236}">
                      <a16:creationId xmlns:a16="http://schemas.microsoft.com/office/drawing/2014/main" id="{EEE9C5A9-1678-BE4C-8333-2DE7706DEDC9}"/>
                    </a:ext>
                  </a:extLst>
                </p:cNvPr>
                <p:cNvSpPr/>
                <p:nvPr/>
              </p:nvSpPr>
              <p:spPr bwMode="auto">
                <a:xfrm>
                  <a:off x="8751400" y="2591540"/>
                  <a:ext cx="831850" cy="332636"/>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sp>
              <p:nvSpPr>
                <p:cNvPr id="45" name="矩形 44">
                  <a:extLst>
                    <a:ext uri="{FF2B5EF4-FFF2-40B4-BE49-F238E27FC236}">
                      <a16:creationId xmlns:a16="http://schemas.microsoft.com/office/drawing/2014/main" id="{5E8F6829-EFEB-344D-A699-B5BF6A4711A5}"/>
                    </a:ext>
                  </a:extLst>
                </p:cNvPr>
                <p:cNvSpPr/>
                <p:nvPr/>
              </p:nvSpPr>
              <p:spPr bwMode="auto">
                <a:xfrm>
                  <a:off x="8751400" y="2358493"/>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N+1</a:t>
                  </a:r>
                  <a:endParaRPr lang="zh-CN" altLang="en-US" sz="1400" dirty="0">
                    <a:ea typeface="SimHei" panose="02010609060101010101" pitchFamily="49" charset="-122"/>
                  </a:endParaRPr>
                </a:p>
              </p:txBody>
            </p:sp>
            <p:sp>
              <p:nvSpPr>
                <p:cNvPr id="46" name="矩形 45">
                  <a:extLst>
                    <a:ext uri="{FF2B5EF4-FFF2-40B4-BE49-F238E27FC236}">
                      <a16:creationId xmlns:a16="http://schemas.microsoft.com/office/drawing/2014/main" id="{82992BE1-D0AE-E84F-88F5-B8642CABDF03}"/>
                    </a:ext>
                  </a:extLst>
                </p:cNvPr>
                <p:cNvSpPr/>
                <p:nvPr/>
              </p:nvSpPr>
              <p:spPr bwMode="auto">
                <a:xfrm>
                  <a:off x="8751400" y="2124001"/>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400" dirty="0">
                      <a:ea typeface="SimHei" panose="02010609060101010101" pitchFamily="49" charset="-122"/>
                    </a:rPr>
                    <a:t>块</a:t>
                  </a:r>
                  <a:r>
                    <a:rPr lang="en-US" altLang="zh-CN" sz="1400" dirty="0">
                      <a:ea typeface="SimHei" panose="02010609060101010101" pitchFamily="49" charset="-122"/>
                    </a:rPr>
                    <a:t>N</a:t>
                  </a:r>
                  <a:endParaRPr kumimoji="0" lang="zh-CN" altLang="en-US" sz="1400" u="none" strike="noStrike" cap="none" normalizeH="0" baseline="0" dirty="0">
                    <a:ln>
                      <a:noFill/>
                    </a:ln>
                    <a:solidFill>
                      <a:schemeClr val="tx1"/>
                    </a:solidFill>
                    <a:effectLst/>
                    <a:latin typeface="Tahoma" pitchFamily="34" charset="0"/>
                    <a:ea typeface="SimHei" panose="02010609060101010101" pitchFamily="49" charset="-122"/>
                  </a:endParaRPr>
                </a:p>
              </p:txBody>
            </p:sp>
          </p:grpSp>
          <p:grpSp>
            <p:nvGrpSpPr>
              <p:cNvPr id="40" name="组合 39">
                <a:extLst>
                  <a:ext uri="{FF2B5EF4-FFF2-40B4-BE49-F238E27FC236}">
                    <a16:creationId xmlns:a16="http://schemas.microsoft.com/office/drawing/2014/main" id="{985017A5-1040-7F4C-ADD4-9917279A11BD}"/>
                  </a:ext>
                </a:extLst>
              </p:cNvPr>
              <p:cNvGrpSpPr/>
              <p:nvPr/>
            </p:nvGrpSpPr>
            <p:grpSpPr>
              <a:xfrm>
                <a:off x="8694101" y="5172430"/>
                <a:ext cx="804767" cy="1049177"/>
                <a:chOff x="8751400" y="2100924"/>
                <a:chExt cx="831850" cy="1049177"/>
              </a:xfrm>
            </p:grpSpPr>
            <p:sp>
              <p:nvSpPr>
                <p:cNvPr id="41" name="矩形 40">
                  <a:extLst>
                    <a:ext uri="{FF2B5EF4-FFF2-40B4-BE49-F238E27FC236}">
                      <a16:creationId xmlns:a16="http://schemas.microsoft.com/office/drawing/2014/main" id="{0A2ED770-27DB-4F41-A2A8-157CAD9ECF29}"/>
                    </a:ext>
                  </a:extLst>
                </p:cNvPr>
                <p:cNvSpPr/>
                <p:nvPr/>
              </p:nvSpPr>
              <p:spPr bwMode="auto">
                <a:xfrm>
                  <a:off x="8751400" y="2916089"/>
                  <a:ext cx="831850" cy="23401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400" dirty="0">
                      <a:ea typeface="SimHei" panose="02010609060101010101" pitchFamily="49" charset="-122"/>
                    </a:rPr>
                    <a:t>块</a:t>
                  </a:r>
                  <a:r>
                    <a:rPr lang="en-US" altLang="zh-CN" sz="1400" dirty="0">
                      <a:ea typeface="SimHei" panose="02010609060101010101" pitchFamily="49" charset="-122"/>
                    </a:rPr>
                    <a:t>L-1</a:t>
                  </a:r>
                  <a:endParaRPr lang="zh-CN" altLang="en-US" sz="1400" dirty="0">
                    <a:ea typeface="SimHei" panose="02010609060101010101" pitchFamily="49" charset="-122"/>
                  </a:endParaRPr>
                </a:p>
              </p:txBody>
            </p:sp>
            <p:sp>
              <p:nvSpPr>
                <p:cNvPr id="42" name="矩形 41">
                  <a:extLst>
                    <a:ext uri="{FF2B5EF4-FFF2-40B4-BE49-F238E27FC236}">
                      <a16:creationId xmlns:a16="http://schemas.microsoft.com/office/drawing/2014/main" id="{A396DD46-52CB-B947-8952-26B899A0F318}"/>
                    </a:ext>
                  </a:extLst>
                </p:cNvPr>
                <p:cNvSpPr/>
                <p:nvPr/>
              </p:nvSpPr>
              <p:spPr bwMode="auto">
                <a:xfrm>
                  <a:off x="8751400" y="2100924"/>
                  <a:ext cx="831850" cy="823252"/>
                </a:xfrm>
                <a:prstGeom prst="rect">
                  <a:avLst/>
                </a:prstGeom>
                <a:solidFill>
                  <a:srgbClr val="C7F8F7"/>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1" dirty="0">
                      <a:latin typeface="+mn-ea"/>
                      <a:ea typeface="+mn-ea"/>
                    </a:rPr>
                    <a:t>…</a:t>
                  </a:r>
                  <a:endParaRPr kumimoji="0" lang="zh-CN" altLang="en-US" sz="1400" b="1" i="0" u="none" strike="noStrike" cap="none" normalizeH="0" baseline="0" dirty="0">
                    <a:ln>
                      <a:noFill/>
                    </a:ln>
                    <a:solidFill>
                      <a:schemeClr val="tx1"/>
                    </a:solidFill>
                    <a:effectLst/>
                    <a:latin typeface="+mn-ea"/>
                    <a:ea typeface="+mn-ea"/>
                  </a:endParaRPr>
                </a:p>
              </p:txBody>
            </p:sp>
          </p:grpSp>
        </p:grpSp>
        <p:sp>
          <p:nvSpPr>
            <p:cNvPr id="51" name="椭圆 50">
              <a:extLst>
                <a:ext uri="{FF2B5EF4-FFF2-40B4-BE49-F238E27FC236}">
                  <a16:creationId xmlns:a16="http://schemas.microsoft.com/office/drawing/2014/main" id="{CDCC9EF4-E24E-DC4B-992E-5D7C178B68FD}"/>
                </a:ext>
              </a:extLst>
            </p:cNvPr>
            <p:cNvSpPr/>
            <p:nvPr/>
          </p:nvSpPr>
          <p:spPr bwMode="auto">
            <a:xfrm>
              <a:off x="7912362" y="5724991"/>
              <a:ext cx="936551" cy="531732"/>
            </a:xfrm>
            <a:prstGeom prst="ellipse">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92075" tIns="46038" rIns="92075" bIns="46038" numCol="1" spcCol="0" rtlCol="0" fromWordArt="0" anchor="ctr" anchorCtr="0" forceAA="0" compatLnSpc="1">
              <a:prstTxWarp prst="textNoShape">
                <a:avLst/>
              </a:prstTxWarp>
              <a:noAutofit/>
            </a:bodyPr>
            <a:lstStyle/>
            <a:p>
              <a:pPr lvl="0" algn="ctr"/>
              <a:r>
                <a:rPr lang="zh-CN" altLang="en-US" dirty="0">
                  <a:solidFill>
                    <a:srgbClr val="0432FF"/>
                  </a:solidFill>
                  <a:ea typeface="SimHei" panose="02010609060101010101" pitchFamily="49" charset="-122"/>
                </a:rPr>
                <a:t>数据</a:t>
              </a:r>
            </a:p>
          </p:txBody>
        </p:sp>
        <p:cxnSp>
          <p:nvCxnSpPr>
            <p:cNvPr id="52" name="直线箭头连接符 51">
              <a:extLst>
                <a:ext uri="{FF2B5EF4-FFF2-40B4-BE49-F238E27FC236}">
                  <a16:creationId xmlns:a16="http://schemas.microsoft.com/office/drawing/2014/main" id="{0589F261-275D-BF43-9C1D-3A170ADF674C}"/>
                </a:ext>
              </a:extLst>
            </p:cNvPr>
            <p:cNvCxnSpPr>
              <a:cxnSpLocks/>
              <a:stCxn id="41" idx="2"/>
              <a:endCxn id="51" idx="0"/>
            </p:cNvCxnSpPr>
            <p:nvPr/>
          </p:nvCxnSpPr>
          <p:spPr bwMode="auto">
            <a:xfrm flipH="1">
              <a:off x="8380638" y="5448686"/>
              <a:ext cx="3852" cy="276305"/>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53" name="肘形连接符 52">
              <a:extLst>
                <a:ext uri="{FF2B5EF4-FFF2-40B4-BE49-F238E27FC236}">
                  <a16:creationId xmlns:a16="http://schemas.microsoft.com/office/drawing/2014/main" id="{74AAAFE9-CEA5-0F4F-BC30-C871C817FC12}"/>
                </a:ext>
              </a:extLst>
            </p:cNvPr>
            <p:cNvCxnSpPr>
              <a:cxnSpLocks/>
            </p:cNvCxnSpPr>
            <p:nvPr/>
          </p:nvCxnSpPr>
          <p:spPr bwMode="auto">
            <a:xfrm rot="16200000" flipH="1">
              <a:off x="6625332" y="4703826"/>
              <a:ext cx="423437" cy="2150624"/>
            </a:xfrm>
            <a:prstGeom prst="bentConnector2">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54" name="文本框 53">
              <a:extLst>
                <a:ext uri="{FF2B5EF4-FFF2-40B4-BE49-F238E27FC236}">
                  <a16:creationId xmlns:a16="http://schemas.microsoft.com/office/drawing/2014/main" id="{C7DB02E3-887E-A444-BD87-489F99197431}"/>
                </a:ext>
              </a:extLst>
            </p:cNvPr>
            <p:cNvSpPr txBox="1"/>
            <p:nvPr/>
          </p:nvSpPr>
          <p:spPr>
            <a:xfrm>
              <a:off x="5969469" y="5696794"/>
              <a:ext cx="765714" cy="307777"/>
            </a:xfrm>
            <a:prstGeom prst="rect">
              <a:avLst/>
            </a:prstGeom>
            <a:noFill/>
          </p:spPr>
          <p:txBody>
            <a:bodyPr wrap="square" rtlCol="0">
              <a:spAutoFit/>
            </a:bodyPr>
            <a:lstStyle/>
            <a:p>
              <a:pPr algn="ctr"/>
              <a:r>
                <a:rPr kumimoji="1" lang="zh-CN" altLang="en-US" sz="1400" b="1" dirty="0">
                  <a:solidFill>
                    <a:srgbClr val="0432FF"/>
                  </a:solidFill>
                  <a:latin typeface="+mn-ea"/>
                  <a:ea typeface="+mn-ea"/>
                </a:rPr>
                <a:t>未命中</a:t>
              </a:r>
            </a:p>
          </p:txBody>
        </p:sp>
        <p:sp>
          <p:nvSpPr>
            <p:cNvPr id="55" name="文本框 54">
              <a:extLst>
                <a:ext uri="{FF2B5EF4-FFF2-40B4-BE49-F238E27FC236}">
                  <a16:creationId xmlns:a16="http://schemas.microsoft.com/office/drawing/2014/main" id="{A6AD073F-9AC6-CB4F-82DB-290D764DBC00}"/>
                </a:ext>
              </a:extLst>
            </p:cNvPr>
            <p:cNvSpPr txBox="1"/>
            <p:nvPr/>
          </p:nvSpPr>
          <p:spPr>
            <a:xfrm>
              <a:off x="8295219" y="5417214"/>
              <a:ext cx="936550" cy="307777"/>
            </a:xfrm>
            <a:prstGeom prst="rect">
              <a:avLst/>
            </a:prstGeom>
            <a:noFill/>
          </p:spPr>
          <p:txBody>
            <a:bodyPr wrap="square" rtlCol="0">
              <a:spAutoFit/>
            </a:bodyPr>
            <a:lstStyle/>
            <a:p>
              <a:pPr algn="ctr"/>
              <a:r>
                <a:rPr kumimoji="1" lang="zh-CN" altLang="en-US" sz="1400" b="1" dirty="0">
                  <a:latin typeface="+mn-ea"/>
                  <a:ea typeface="+mn-ea"/>
                </a:rPr>
                <a:t>主存地址</a:t>
              </a:r>
            </a:p>
          </p:txBody>
        </p:sp>
      </p:grpSp>
      <p:sp>
        <p:nvSpPr>
          <p:cNvPr id="57" name="内容占位符 2">
            <a:extLst>
              <a:ext uri="{FF2B5EF4-FFF2-40B4-BE49-F238E27FC236}">
                <a16:creationId xmlns:a16="http://schemas.microsoft.com/office/drawing/2014/main" id="{0CB7773D-A5FC-D648-89BE-D507432D8381}"/>
              </a:ext>
            </a:extLst>
          </p:cNvPr>
          <p:cNvSpPr txBox="1">
            <a:spLocks/>
          </p:cNvSpPr>
          <p:nvPr/>
        </p:nvSpPr>
        <p:spPr bwMode="auto">
          <a:xfrm>
            <a:off x="119950" y="1746225"/>
            <a:ext cx="4724622" cy="53065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914400" lvl="1" indent="-457200">
              <a:spcBef>
                <a:spcPts val="1000"/>
              </a:spcBef>
            </a:pPr>
            <a:endParaRPr lang="en-US" altLang="zh-CN" sz="2400" kern="0" dirty="0"/>
          </a:p>
          <a:p>
            <a:pPr marL="914400" lvl="1" indent="-457200">
              <a:spcBef>
                <a:spcPts val="1000"/>
              </a:spcBef>
            </a:pPr>
            <a:endParaRPr lang="en-US" altLang="zh-CN" sz="2400" kern="0" dirty="0"/>
          </a:p>
          <a:p>
            <a:pPr marL="914400" lvl="1" indent="-457200">
              <a:spcBef>
                <a:spcPts val="1000"/>
              </a:spcBef>
            </a:pPr>
            <a:endParaRPr lang="en-US" altLang="zh-CN" sz="2400" kern="0" dirty="0"/>
          </a:p>
          <a:p>
            <a:pPr marL="914400" lvl="1" indent="-457200">
              <a:spcBef>
                <a:spcPts val="1000"/>
              </a:spcBef>
            </a:pPr>
            <a:endParaRPr lang="en-US" altLang="zh-CN" sz="2400" kern="0" dirty="0"/>
          </a:p>
          <a:p>
            <a:pPr marL="914400" lvl="1" indent="-457200">
              <a:spcBef>
                <a:spcPts val="1000"/>
              </a:spcBef>
            </a:pPr>
            <a:r>
              <a:rPr lang="zh-CN" altLang="en-US" sz="2400" kern="0" dirty="0">
                <a:solidFill>
                  <a:srgbClr val="0432FF"/>
                </a:solidFill>
              </a:rPr>
              <a:t>优点</a:t>
            </a:r>
            <a:endParaRPr lang="en-US" altLang="zh-CN" sz="2400" kern="0" dirty="0">
              <a:solidFill>
                <a:srgbClr val="0432FF"/>
              </a:solidFill>
            </a:endParaRPr>
          </a:p>
          <a:p>
            <a:pPr marL="1314450" lvl="2" indent="-457200">
              <a:spcBef>
                <a:spcPts val="1000"/>
              </a:spcBef>
              <a:buFont typeface="Wingdings" pitchFamily="2" charset="2"/>
              <a:buChar char="Ø"/>
            </a:pPr>
            <a:r>
              <a:rPr lang="zh-CN" altLang="en-US" sz="2000" kern="0" dirty="0"/>
              <a:t>仅需比较固定标签</a:t>
            </a:r>
            <a:endParaRPr lang="en-US" altLang="zh-CN" sz="2000" kern="0" dirty="0"/>
          </a:p>
          <a:p>
            <a:pPr marL="1314450" lvl="2" indent="-457200">
              <a:spcBef>
                <a:spcPts val="1000"/>
              </a:spcBef>
              <a:buFont typeface="Wingdings" pitchFamily="2" charset="2"/>
              <a:buChar char="Ø"/>
            </a:pPr>
            <a:r>
              <a:rPr lang="zh-CN" altLang="en-US" sz="2000" kern="0" dirty="0"/>
              <a:t>硬件实现简单</a:t>
            </a:r>
            <a:endParaRPr lang="en-US" altLang="zh-CN" sz="2000" kern="0" dirty="0"/>
          </a:p>
          <a:p>
            <a:pPr marL="914400" lvl="1" indent="-457200">
              <a:spcBef>
                <a:spcPts val="1000"/>
              </a:spcBef>
            </a:pPr>
            <a:r>
              <a:rPr lang="zh-CN" altLang="en-US" sz="2400" kern="0" dirty="0">
                <a:solidFill>
                  <a:srgbClr val="0432FF"/>
                </a:solidFill>
              </a:rPr>
              <a:t>缺点</a:t>
            </a:r>
            <a:endParaRPr lang="en-US" altLang="zh-CN" sz="2400" kern="0" dirty="0">
              <a:solidFill>
                <a:srgbClr val="0432FF"/>
              </a:solidFill>
            </a:endParaRPr>
          </a:p>
          <a:p>
            <a:pPr marL="1314450" lvl="2" indent="-457200">
              <a:spcBef>
                <a:spcPts val="1000"/>
              </a:spcBef>
              <a:buFont typeface="Wingdings" pitchFamily="2" charset="2"/>
              <a:buChar char="Ø"/>
            </a:pPr>
            <a:r>
              <a:rPr lang="en-US" altLang="zh-CN" sz="2000" kern="0" dirty="0"/>
              <a:t>Cache</a:t>
            </a:r>
            <a:r>
              <a:rPr lang="zh-CN" altLang="en-US" sz="2000" kern="0" dirty="0"/>
              <a:t>命中率低</a:t>
            </a:r>
          </a:p>
          <a:p>
            <a:pPr marL="1314450" lvl="2" indent="-457200">
              <a:spcBef>
                <a:spcPts val="1000"/>
              </a:spcBef>
              <a:buFont typeface="Wingdings" pitchFamily="2" charset="2"/>
              <a:buChar char="Ø"/>
            </a:pPr>
            <a:r>
              <a:rPr lang="en-US" altLang="zh-CN" sz="2000" kern="0" dirty="0"/>
              <a:t>Cache</a:t>
            </a:r>
            <a:r>
              <a:rPr lang="zh-CN" altLang="en-US" sz="2000" kern="0" dirty="0"/>
              <a:t>空间利用率低</a:t>
            </a:r>
            <a:endParaRPr lang="en-US" altLang="zh-CN" sz="2000" kern="0" dirty="0"/>
          </a:p>
        </p:txBody>
      </p:sp>
    </p:spTree>
    <p:extLst>
      <p:ext uri="{BB962C8B-B14F-4D97-AF65-F5344CB8AC3E}">
        <p14:creationId xmlns:p14="http://schemas.microsoft.com/office/powerpoint/2010/main" val="1849173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44</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826219"/>
          </a:xfrm>
        </p:spPr>
        <p:txBody>
          <a:bodyPr/>
          <a:lstStyle/>
          <a:p>
            <a:pPr marL="514350" indent="-457200">
              <a:spcBef>
                <a:spcPts val="1000"/>
              </a:spcBef>
            </a:pPr>
            <a:r>
              <a:rPr lang="zh-CN" altLang="en-US" sz="2800" dirty="0"/>
              <a:t>总结之前</a:t>
            </a:r>
            <a:r>
              <a:rPr lang="zh-CN" altLang="zh-CN" sz="2800" dirty="0"/>
              <a:t>对直接映像和全相联映像的分析可以发现</a:t>
            </a:r>
            <a:r>
              <a:rPr lang="zh-CN" altLang="zh-CN" sz="2800" dirty="0">
                <a:solidFill>
                  <a:srgbClr val="0432FF"/>
                </a:solidFill>
              </a:rPr>
              <a:t>这两种方法的优点恰好是彼此的缺点</a:t>
            </a:r>
            <a:r>
              <a:rPr lang="zh-CN" altLang="zh-CN" sz="2800" dirty="0"/>
              <a:t>。</a:t>
            </a:r>
            <a:endParaRPr lang="en-US" altLang="zh-CN" sz="2800" dirty="0"/>
          </a:p>
        </p:txBody>
      </p:sp>
      <p:sp>
        <p:nvSpPr>
          <p:cNvPr id="5" name="内容占位符 2">
            <a:extLst>
              <a:ext uri="{FF2B5EF4-FFF2-40B4-BE49-F238E27FC236}">
                <a16:creationId xmlns:a16="http://schemas.microsoft.com/office/drawing/2014/main" id="{D9AB9D7A-A535-B24F-8937-8284E4C73079}"/>
              </a:ext>
            </a:extLst>
          </p:cNvPr>
          <p:cNvSpPr txBox="1">
            <a:spLocks/>
          </p:cNvSpPr>
          <p:nvPr/>
        </p:nvSpPr>
        <p:spPr bwMode="auto">
          <a:xfrm>
            <a:off x="4122300" y="2691852"/>
            <a:ext cx="4114800" cy="3365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514350" indent="-457200">
              <a:spcBef>
                <a:spcPts val="1000"/>
              </a:spcBef>
            </a:pPr>
            <a:r>
              <a:rPr kumimoji="1" lang="zh-CN" altLang="en-US" sz="2800" kern="0" dirty="0"/>
              <a:t>全相联映像</a:t>
            </a:r>
            <a:endParaRPr kumimoji="1" lang="en-US" altLang="zh-CN" sz="2800" kern="0" dirty="0"/>
          </a:p>
          <a:p>
            <a:pPr marL="914400" lvl="1" indent="-457200">
              <a:spcBef>
                <a:spcPts val="1000"/>
              </a:spcBef>
            </a:pPr>
            <a:r>
              <a:rPr lang="zh-CN" altLang="en-US" sz="2400" kern="0" dirty="0">
                <a:solidFill>
                  <a:srgbClr val="0432FF"/>
                </a:solidFill>
              </a:rPr>
              <a:t>优点</a:t>
            </a:r>
            <a:endParaRPr lang="en-US" altLang="zh-CN" sz="2400" kern="0" dirty="0">
              <a:solidFill>
                <a:srgbClr val="0432FF"/>
              </a:solidFill>
            </a:endParaRPr>
          </a:p>
          <a:p>
            <a:pPr marL="1314450" lvl="2" indent="-457200">
              <a:spcBef>
                <a:spcPts val="1000"/>
              </a:spcBef>
              <a:buFont typeface="Wingdings" pitchFamily="2" charset="2"/>
              <a:buChar char="Ø"/>
            </a:pPr>
            <a:r>
              <a:rPr lang="en-US" altLang="zh-CN" sz="2000" kern="0" dirty="0"/>
              <a:t>Cache</a:t>
            </a:r>
            <a:r>
              <a:rPr lang="zh-CN" altLang="en-US" sz="2000" kern="0" dirty="0"/>
              <a:t>命中率高</a:t>
            </a:r>
          </a:p>
          <a:p>
            <a:pPr marL="1314450" lvl="2" indent="-457200">
              <a:spcBef>
                <a:spcPts val="1000"/>
              </a:spcBef>
              <a:buFont typeface="Wingdings" pitchFamily="2" charset="2"/>
              <a:buChar char="Ø"/>
            </a:pPr>
            <a:r>
              <a:rPr lang="en-US" altLang="zh-CN" sz="2000" kern="0" dirty="0"/>
              <a:t>Cache</a:t>
            </a:r>
            <a:r>
              <a:rPr lang="zh-CN" altLang="en-US" sz="2000" kern="0" dirty="0"/>
              <a:t>空间利用率高</a:t>
            </a:r>
            <a:endParaRPr lang="zh-CN" altLang="en-US" kern="0" dirty="0"/>
          </a:p>
          <a:p>
            <a:pPr marL="914400" lvl="1" indent="-457200">
              <a:spcBef>
                <a:spcPts val="1000"/>
              </a:spcBef>
            </a:pPr>
            <a:r>
              <a:rPr lang="zh-CN" altLang="en-US" sz="2400" kern="0" dirty="0">
                <a:solidFill>
                  <a:srgbClr val="0432FF"/>
                </a:solidFill>
              </a:rPr>
              <a:t>缺点</a:t>
            </a:r>
            <a:endParaRPr lang="en-US" altLang="zh-CN" sz="2400" kern="0" dirty="0">
              <a:solidFill>
                <a:srgbClr val="0432FF"/>
              </a:solidFill>
            </a:endParaRPr>
          </a:p>
          <a:p>
            <a:pPr marL="1314450" lvl="2" indent="-457200">
              <a:spcBef>
                <a:spcPts val="1000"/>
              </a:spcBef>
              <a:buFont typeface="Wingdings" pitchFamily="2" charset="2"/>
              <a:buChar char="Ø"/>
            </a:pPr>
            <a:r>
              <a:rPr lang="zh-CN" altLang="en-US" sz="2000" kern="0" dirty="0"/>
              <a:t>需要并行比较所有标签</a:t>
            </a:r>
            <a:endParaRPr lang="en-US" altLang="zh-CN" sz="2000" kern="0" dirty="0"/>
          </a:p>
          <a:p>
            <a:pPr marL="1314450" lvl="2" indent="-457200">
              <a:spcBef>
                <a:spcPts val="1000"/>
              </a:spcBef>
              <a:buFont typeface="Wingdings" pitchFamily="2" charset="2"/>
              <a:buChar char="Ø"/>
            </a:pPr>
            <a:r>
              <a:rPr lang="zh-CN" altLang="en-US" sz="2000" kern="0" dirty="0"/>
              <a:t>硬件实现复杂</a:t>
            </a:r>
            <a:endParaRPr lang="en-US" altLang="zh-CN" sz="2000" kern="0" dirty="0"/>
          </a:p>
        </p:txBody>
      </p:sp>
      <p:sp>
        <p:nvSpPr>
          <p:cNvPr id="6" name="内容占位符 2">
            <a:extLst>
              <a:ext uri="{FF2B5EF4-FFF2-40B4-BE49-F238E27FC236}">
                <a16:creationId xmlns:a16="http://schemas.microsoft.com/office/drawing/2014/main" id="{6133FAAF-891B-EC40-B986-1BF4992C7142}"/>
              </a:ext>
            </a:extLst>
          </p:cNvPr>
          <p:cNvSpPr txBox="1">
            <a:spLocks/>
          </p:cNvSpPr>
          <p:nvPr/>
        </p:nvSpPr>
        <p:spPr bwMode="auto">
          <a:xfrm>
            <a:off x="457200" y="2691852"/>
            <a:ext cx="4114800" cy="3365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marL="514350" indent="-457200">
              <a:spcBef>
                <a:spcPts val="1000"/>
              </a:spcBef>
            </a:pPr>
            <a:r>
              <a:rPr lang="zh-CN" altLang="en-US" sz="2800" kern="0" dirty="0"/>
              <a:t>直接映像</a:t>
            </a:r>
            <a:endParaRPr lang="en-US" altLang="zh-CN" sz="2000" kern="0" dirty="0"/>
          </a:p>
          <a:p>
            <a:pPr marL="914400" lvl="1" indent="-457200">
              <a:spcBef>
                <a:spcPts val="1000"/>
              </a:spcBef>
            </a:pPr>
            <a:r>
              <a:rPr lang="zh-CN" altLang="en-US" sz="2400" kern="0" dirty="0">
                <a:solidFill>
                  <a:srgbClr val="0432FF"/>
                </a:solidFill>
              </a:rPr>
              <a:t>缺点</a:t>
            </a:r>
            <a:endParaRPr lang="en-US" altLang="zh-CN" sz="2400" kern="0" dirty="0">
              <a:solidFill>
                <a:srgbClr val="0432FF"/>
              </a:solidFill>
            </a:endParaRPr>
          </a:p>
          <a:p>
            <a:pPr marL="1314450" lvl="2" indent="-457200">
              <a:spcBef>
                <a:spcPts val="1000"/>
              </a:spcBef>
              <a:buFont typeface="Wingdings" pitchFamily="2" charset="2"/>
              <a:buChar char="Ø"/>
            </a:pPr>
            <a:r>
              <a:rPr lang="en-US" altLang="zh-CN" sz="2000" kern="0" dirty="0"/>
              <a:t>Cache</a:t>
            </a:r>
            <a:r>
              <a:rPr lang="zh-CN" altLang="en-US" sz="2000" kern="0" dirty="0"/>
              <a:t>命中率低</a:t>
            </a:r>
          </a:p>
          <a:p>
            <a:pPr marL="1314450" lvl="2" indent="-457200">
              <a:spcBef>
                <a:spcPts val="1000"/>
              </a:spcBef>
              <a:buFont typeface="Wingdings" pitchFamily="2" charset="2"/>
              <a:buChar char="Ø"/>
            </a:pPr>
            <a:r>
              <a:rPr lang="en-US" altLang="zh-CN" sz="2000" kern="0" dirty="0"/>
              <a:t>Cache</a:t>
            </a:r>
            <a:r>
              <a:rPr lang="zh-CN" altLang="en-US" sz="2000" kern="0" dirty="0"/>
              <a:t>空间利用率低</a:t>
            </a:r>
            <a:endParaRPr lang="en-US" altLang="zh-CN" sz="2000" kern="0" dirty="0"/>
          </a:p>
          <a:p>
            <a:pPr marL="914400" lvl="1" indent="-457200">
              <a:spcBef>
                <a:spcPts val="1000"/>
              </a:spcBef>
            </a:pPr>
            <a:r>
              <a:rPr lang="zh-CN" altLang="en-US" sz="2400" kern="0" dirty="0">
                <a:solidFill>
                  <a:srgbClr val="0432FF"/>
                </a:solidFill>
              </a:rPr>
              <a:t>优点</a:t>
            </a:r>
            <a:endParaRPr lang="en-US" altLang="zh-CN" sz="2400" kern="0" dirty="0">
              <a:solidFill>
                <a:srgbClr val="0432FF"/>
              </a:solidFill>
            </a:endParaRPr>
          </a:p>
          <a:p>
            <a:pPr marL="1314450" lvl="2" indent="-457200">
              <a:spcBef>
                <a:spcPts val="1000"/>
              </a:spcBef>
              <a:buFont typeface="Wingdings" pitchFamily="2" charset="2"/>
              <a:buChar char="Ø"/>
            </a:pPr>
            <a:r>
              <a:rPr lang="zh-CN" altLang="en-US" sz="2000" kern="0" dirty="0"/>
              <a:t>仅需比较固定标签</a:t>
            </a:r>
            <a:endParaRPr lang="en-US" altLang="zh-CN" sz="2000" kern="0" dirty="0"/>
          </a:p>
          <a:p>
            <a:pPr marL="1314450" lvl="2" indent="-457200">
              <a:spcBef>
                <a:spcPts val="1000"/>
              </a:spcBef>
              <a:buFont typeface="Wingdings" pitchFamily="2" charset="2"/>
              <a:buChar char="Ø"/>
            </a:pPr>
            <a:r>
              <a:rPr lang="zh-CN" altLang="en-US" sz="2000" kern="0" dirty="0"/>
              <a:t>硬件实现简单</a:t>
            </a:r>
            <a:endParaRPr lang="en-US" altLang="zh-CN" sz="2000" kern="0" dirty="0"/>
          </a:p>
        </p:txBody>
      </p:sp>
      <p:sp>
        <p:nvSpPr>
          <p:cNvPr id="7" name="圆角矩形 6">
            <a:extLst>
              <a:ext uri="{FF2B5EF4-FFF2-40B4-BE49-F238E27FC236}">
                <a16:creationId xmlns:a16="http://schemas.microsoft.com/office/drawing/2014/main" id="{C563A404-785B-5C4A-9989-31C2D6DFCFAB}"/>
              </a:ext>
            </a:extLst>
          </p:cNvPr>
          <p:cNvSpPr/>
          <p:nvPr/>
        </p:nvSpPr>
        <p:spPr>
          <a:xfrm>
            <a:off x="1229192" y="3764838"/>
            <a:ext cx="7020000" cy="900000"/>
          </a:xfrm>
          <a:prstGeom prst="round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a:extLst>
              <a:ext uri="{FF2B5EF4-FFF2-40B4-BE49-F238E27FC236}">
                <a16:creationId xmlns:a16="http://schemas.microsoft.com/office/drawing/2014/main" id="{742EDF99-B219-0C42-87CD-50AE5AB106C5}"/>
              </a:ext>
            </a:extLst>
          </p:cNvPr>
          <p:cNvSpPr/>
          <p:nvPr/>
        </p:nvSpPr>
        <p:spPr>
          <a:xfrm>
            <a:off x="1229192" y="5127803"/>
            <a:ext cx="7020000" cy="900000"/>
          </a:xfrm>
          <a:prstGeom prst="round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4975845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45</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组相联映像</a:t>
            </a:r>
            <a:endParaRPr kumimoji="1" lang="en-US" altLang="zh-CN" dirty="0"/>
          </a:p>
          <a:p>
            <a:pPr marL="914400" lvl="1" indent="-457200">
              <a:spcBef>
                <a:spcPts val="1000"/>
              </a:spcBef>
            </a:pPr>
            <a:r>
              <a:rPr lang="zh-CN" altLang="en-US" sz="2400" dirty="0"/>
              <a:t>介于全相联和直接映像之间，预先将</a:t>
            </a:r>
            <a:r>
              <a:rPr lang="en-US" altLang="zh-CN" sz="2400" dirty="0"/>
              <a:t>cache</a:t>
            </a:r>
            <a:r>
              <a:rPr lang="zh-CN" altLang="en-US" sz="2400" dirty="0"/>
              <a:t>分为若干个大小相等的组；给定索引，先找到对应的组，再在组内并行搜索</a:t>
            </a:r>
            <a:endParaRPr lang="en-US" altLang="zh-CN" sz="2400" dirty="0"/>
          </a:p>
          <a:p>
            <a:pPr marL="914400" lvl="1" indent="-457200">
              <a:spcBef>
                <a:spcPts val="1000"/>
              </a:spcBef>
            </a:pPr>
            <a:r>
              <a:rPr lang="zh-CN" altLang="en-US" sz="2400" dirty="0">
                <a:solidFill>
                  <a:srgbClr val="0432FF"/>
                </a:solidFill>
              </a:rPr>
              <a:t>组间直接映像</a:t>
            </a:r>
            <a:br>
              <a:rPr lang="en-US" altLang="zh-CN" sz="2400" dirty="0">
                <a:solidFill>
                  <a:srgbClr val="0432FF"/>
                </a:solidFill>
              </a:rPr>
            </a:br>
            <a:r>
              <a:rPr lang="zh-CN" altLang="en-US" sz="2400" dirty="0">
                <a:solidFill>
                  <a:srgbClr val="7030A0"/>
                </a:solidFill>
              </a:rPr>
              <a:t>组内各块</a:t>
            </a:r>
            <a:r>
              <a:rPr lang="zh-CN" altLang="en-US" sz="2400" dirty="0"/>
              <a:t>之间</a:t>
            </a:r>
            <a:r>
              <a:rPr lang="zh-CN" altLang="en-US" sz="2400" dirty="0">
                <a:solidFill>
                  <a:srgbClr val="7030A0"/>
                </a:solidFill>
              </a:rPr>
              <a:t>全相联映像</a:t>
            </a:r>
            <a:endParaRPr lang="en-US" altLang="zh-CN" sz="2400" dirty="0">
              <a:solidFill>
                <a:srgbClr val="7030A0"/>
              </a:solidFill>
            </a:endParaRPr>
          </a:p>
          <a:p>
            <a:pPr marL="914400" lvl="1" indent="-457200">
              <a:spcBef>
                <a:spcPts val="1000"/>
              </a:spcBef>
            </a:pPr>
            <a:r>
              <a:rPr lang="en-US" altLang="zh-CN" sz="2400" dirty="0"/>
              <a:t>N</a:t>
            </a:r>
            <a:r>
              <a:rPr lang="zh-CN" altLang="en-US" sz="2400" dirty="0"/>
              <a:t>路组相联映射</a:t>
            </a:r>
          </a:p>
          <a:p>
            <a:pPr marL="1314450" lvl="2" indent="-457200">
              <a:spcBef>
                <a:spcPts val="1000"/>
              </a:spcBef>
            </a:pPr>
            <a:r>
              <a:rPr lang="zh-CN" altLang="en-US" sz="2000" dirty="0"/>
              <a:t>每个块可以存放在</a:t>
            </a:r>
            <a:r>
              <a:rPr lang="en-US" altLang="zh-CN" sz="2000" dirty="0"/>
              <a:t>Cache</a:t>
            </a:r>
            <a:r>
              <a:rPr lang="zh-CN" altLang="en-US" sz="2000" dirty="0"/>
              <a:t>中的</a:t>
            </a:r>
            <a:r>
              <a:rPr lang="en-US" altLang="zh-CN" sz="2000" dirty="0"/>
              <a:t>n(≥2)</a:t>
            </a:r>
            <a:r>
              <a:rPr lang="zh-CN" altLang="en-US" sz="2000" dirty="0"/>
              <a:t>个固定的位置上，称为</a:t>
            </a:r>
            <a:r>
              <a:rPr lang="en-US" altLang="zh-CN" sz="2000" dirty="0"/>
              <a:t>n</a:t>
            </a:r>
            <a:r>
              <a:rPr lang="zh-CN" altLang="en-US" sz="2000" dirty="0"/>
              <a:t>路组相联映像</a:t>
            </a:r>
          </a:p>
          <a:p>
            <a:pPr marL="1314450" lvl="2" indent="-457200">
              <a:spcBef>
                <a:spcPts val="1000"/>
              </a:spcBef>
            </a:pPr>
            <a:r>
              <a:rPr lang="zh-CN" altLang="en-US" sz="2000" dirty="0"/>
              <a:t>在</a:t>
            </a:r>
            <a:r>
              <a:rPr lang="en-US" altLang="zh-CN" sz="2000" dirty="0"/>
              <a:t>n</a:t>
            </a:r>
            <a:r>
              <a:rPr lang="zh-CN" altLang="en-US" sz="2000" dirty="0"/>
              <a:t>路组相联映像方式中，</a:t>
            </a:r>
            <a:r>
              <a:rPr lang="en-US" altLang="zh-CN" sz="2000" dirty="0"/>
              <a:t>Cache</a:t>
            </a:r>
            <a:r>
              <a:rPr lang="zh-CN" altLang="en-US" sz="2000" dirty="0"/>
              <a:t>由多个</a:t>
            </a:r>
            <a:r>
              <a:rPr lang="zh-CN" altLang="en-US" sz="2000" dirty="0">
                <a:solidFill>
                  <a:srgbClr val="0432FF"/>
                </a:solidFill>
              </a:rPr>
              <a:t>组</a:t>
            </a:r>
            <a:r>
              <a:rPr lang="zh-CN" altLang="en-US" sz="2000" dirty="0"/>
              <a:t>组成，每个</a:t>
            </a:r>
            <a:r>
              <a:rPr lang="zh-CN" altLang="en-US" sz="2000" dirty="0">
                <a:solidFill>
                  <a:srgbClr val="0432FF"/>
                </a:solidFill>
              </a:rPr>
              <a:t>组</a:t>
            </a:r>
            <a:r>
              <a:rPr lang="zh-CN" altLang="en-US" sz="2000" dirty="0"/>
              <a:t>中有</a:t>
            </a:r>
            <a:r>
              <a:rPr lang="en-US" altLang="zh-CN" sz="2000" dirty="0"/>
              <a:t>n</a:t>
            </a:r>
            <a:r>
              <a:rPr lang="zh-CN" altLang="en-US" sz="2000" dirty="0"/>
              <a:t>个</a:t>
            </a:r>
            <a:r>
              <a:rPr lang="en-US" altLang="zh-CN" sz="2000" dirty="0"/>
              <a:t>cache</a:t>
            </a:r>
            <a:r>
              <a:rPr lang="zh-CN" altLang="en-US" sz="2000" dirty="0"/>
              <a:t>行</a:t>
            </a:r>
          </a:p>
          <a:p>
            <a:pPr marL="914400" lvl="1" indent="-457200">
              <a:spcBef>
                <a:spcPts val="1000"/>
              </a:spcBef>
            </a:pPr>
            <a:endParaRPr lang="en-US" altLang="zh-CN" sz="2400" dirty="0"/>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C744374C-7396-723F-F26F-AE0BD693522A}"/>
                  </a:ext>
                </a:extLst>
              </p14:cNvPr>
              <p14:cNvContentPartPr/>
              <p14:nvPr/>
            </p14:nvContentPartPr>
            <p14:xfrm>
              <a:off x="6306120" y="851040"/>
              <a:ext cx="360" cy="360"/>
            </p14:xfrm>
          </p:contentPart>
        </mc:Choice>
        <mc:Fallback>
          <p:pic>
            <p:nvPicPr>
              <p:cNvPr id="5" name="墨迹 4">
                <a:extLst>
                  <a:ext uri="{FF2B5EF4-FFF2-40B4-BE49-F238E27FC236}">
                    <a16:creationId xmlns:a16="http://schemas.microsoft.com/office/drawing/2014/main" id="{C744374C-7396-723F-F26F-AE0BD693522A}"/>
                  </a:ext>
                </a:extLst>
              </p:cNvPr>
              <p:cNvPicPr/>
              <p:nvPr/>
            </p:nvPicPr>
            <p:blipFill>
              <a:blip r:embed="rId4"/>
              <a:stretch>
                <a:fillRect/>
              </a:stretch>
            </p:blipFill>
            <p:spPr>
              <a:xfrm>
                <a:off x="6296760" y="841680"/>
                <a:ext cx="19080" cy="19080"/>
              </a:xfrm>
              <a:prstGeom prst="rect">
                <a:avLst/>
              </a:prstGeom>
            </p:spPr>
          </p:pic>
        </mc:Fallback>
      </mc:AlternateContent>
    </p:spTree>
    <p:extLst>
      <p:ext uri="{BB962C8B-B14F-4D97-AF65-F5344CB8AC3E}">
        <p14:creationId xmlns:p14="http://schemas.microsoft.com/office/powerpoint/2010/main" val="1015086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a:extLst>
              <a:ext uri="{FF2B5EF4-FFF2-40B4-BE49-F238E27FC236}">
                <a16:creationId xmlns:a16="http://schemas.microsoft.com/office/drawing/2014/main" id="{EC64AEBA-8D6A-4040-BD34-906D46186963}"/>
              </a:ext>
            </a:extLst>
          </p:cNvPr>
          <p:cNvSpPr>
            <a:spLocks noChangeArrowheads="1"/>
          </p:cNvSpPr>
          <p:nvPr/>
        </p:nvSpPr>
        <p:spPr bwMode="auto">
          <a:xfrm>
            <a:off x="2295465" y="2657299"/>
            <a:ext cx="131286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Cache</a:t>
            </a:r>
            <a:r>
              <a:rPr lang="zh-CN" altLang="en-US" dirty="0">
                <a:latin typeface="Times New Roman" pitchFamily="18" charset="0"/>
                <a:ea typeface="SimHei" panose="02010609060101010101" pitchFamily="49" charset="-122"/>
              </a:rPr>
              <a:t>存储体</a:t>
            </a:r>
            <a:endParaRPr lang="en-US" altLang="zh-CN" sz="1400" dirty="0">
              <a:latin typeface="Times New Roman" pitchFamily="18" charset="0"/>
              <a:ea typeface="SimHei" panose="02010609060101010101" pitchFamily="49" charset="-122"/>
            </a:endParaRPr>
          </a:p>
        </p:txBody>
      </p:sp>
      <p:sp>
        <p:nvSpPr>
          <p:cNvPr id="64" name="Line 50">
            <a:extLst>
              <a:ext uri="{FF2B5EF4-FFF2-40B4-BE49-F238E27FC236}">
                <a16:creationId xmlns:a16="http://schemas.microsoft.com/office/drawing/2014/main" id="{30B602B5-50AB-C340-9AFC-DD721B0FDB7E}"/>
              </a:ext>
            </a:extLst>
          </p:cNvPr>
          <p:cNvSpPr>
            <a:spLocks noChangeShapeType="1"/>
          </p:cNvSpPr>
          <p:nvPr/>
        </p:nvSpPr>
        <p:spPr bwMode="auto">
          <a:xfrm flipH="1">
            <a:off x="5091826" y="2893546"/>
            <a:ext cx="1340625" cy="782940"/>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dirty="0">
              <a:ea typeface="SimHei" panose="02010609060101010101" pitchFamily="49" charset="-122"/>
            </a:endParaRPr>
          </a:p>
        </p:txBody>
      </p:sp>
      <p:sp>
        <p:nvSpPr>
          <p:cNvPr id="65" name="Line 51">
            <a:extLst>
              <a:ext uri="{FF2B5EF4-FFF2-40B4-BE49-F238E27FC236}">
                <a16:creationId xmlns:a16="http://schemas.microsoft.com/office/drawing/2014/main" id="{223FCFB1-1183-4044-B37E-FC407412C8C9}"/>
              </a:ext>
            </a:extLst>
          </p:cNvPr>
          <p:cNvSpPr>
            <a:spLocks noChangeShapeType="1"/>
          </p:cNvSpPr>
          <p:nvPr/>
        </p:nvSpPr>
        <p:spPr bwMode="auto">
          <a:xfrm flipH="1">
            <a:off x="5137820" y="3285410"/>
            <a:ext cx="1301234" cy="733406"/>
          </a:xfrm>
          <a:prstGeom prst="line">
            <a:avLst/>
          </a:prstGeom>
          <a:noFill/>
          <a:ln w="14288">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dirty="0">
              <a:ea typeface="SimHei" panose="02010609060101010101" pitchFamily="49" charset="-122"/>
            </a:endParaRPr>
          </a:p>
        </p:txBody>
      </p:sp>
      <p:sp>
        <p:nvSpPr>
          <p:cNvPr id="66" name="Line 52">
            <a:extLst>
              <a:ext uri="{FF2B5EF4-FFF2-40B4-BE49-F238E27FC236}">
                <a16:creationId xmlns:a16="http://schemas.microsoft.com/office/drawing/2014/main" id="{E85C0C2E-7A41-DD41-B0F0-EBB112512555}"/>
              </a:ext>
            </a:extLst>
          </p:cNvPr>
          <p:cNvSpPr>
            <a:spLocks noChangeShapeType="1"/>
          </p:cNvSpPr>
          <p:nvPr/>
        </p:nvSpPr>
        <p:spPr bwMode="auto">
          <a:xfrm>
            <a:off x="5111116" y="4850297"/>
            <a:ext cx="1317554" cy="845702"/>
          </a:xfrm>
          <a:prstGeom prst="line">
            <a:avLst/>
          </a:prstGeom>
          <a:noFill/>
          <a:ln w="38100">
            <a:solidFill>
              <a:srgbClr val="0432FF"/>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dirty="0">
              <a:ea typeface="SimHei" panose="02010609060101010101" pitchFamily="49" charset="-122"/>
            </a:endParaRPr>
          </a:p>
        </p:txBody>
      </p:sp>
      <p:sp>
        <p:nvSpPr>
          <p:cNvPr id="67" name="Line 53">
            <a:extLst>
              <a:ext uri="{FF2B5EF4-FFF2-40B4-BE49-F238E27FC236}">
                <a16:creationId xmlns:a16="http://schemas.microsoft.com/office/drawing/2014/main" id="{67A7F16B-A4C4-7140-A0B2-298F624C45B3}"/>
              </a:ext>
            </a:extLst>
          </p:cNvPr>
          <p:cNvSpPr>
            <a:spLocks noChangeShapeType="1"/>
          </p:cNvSpPr>
          <p:nvPr/>
        </p:nvSpPr>
        <p:spPr bwMode="auto">
          <a:xfrm>
            <a:off x="5111115" y="3662265"/>
            <a:ext cx="1327939" cy="845702"/>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dirty="0">
              <a:ea typeface="SimHei" panose="02010609060101010101" pitchFamily="49" charset="-122"/>
            </a:endParaRPr>
          </a:p>
        </p:txBody>
      </p:sp>
      <p:sp>
        <p:nvSpPr>
          <p:cNvPr id="68" name="Line 54">
            <a:extLst>
              <a:ext uri="{FF2B5EF4-FFF2-40B4-BE49-F238E27FC236}">
                <a16:creationId xmlns:a16="http://schemas.microsoft.com/office/drawing/2014/main" id="{6E0C3DAC-8183-1A40-9DBF-4291315CE367}"/>
              </a:ext>
            </a:extLst>
          </p:cNvPr>
          <p:cNvSpPr>
            <a:spLocks noChangeShapeType="1"/>
          </p:cNvSpPr>
          <p:nvPr/>
        </p:nvSpPr>
        <p:spPr bwMode="auto">
          <a:xfrm>
            <a:off x="5111115" y="4018817"/>
            <a:ext cx="1317555" cy="866006"/>
          </a:xfrm>
          <a:prstGeom prst="line">
            <a:avLst/>
          </a:prstGeom>
          <a:noFill/>
          <a:ln w="14288">
            <a:solidFill>
              <a:schemeClr val="tx1"/>
            </a:solidFill>
            <a:round/>
            <a:headEnd type="triangle" w="med" len="med"/>
            <a:tailEnd/>
          </a:ln>
          <a:extLst>
            <a:ext uri="{909E8E84-426E-40dd-AFC4-6F175D3DCCD1}">
              <a14:hiddenFill xmlns="" xmlns:a14="http://schemas.microsoft.com/office/drawing/2010/main">
                <a:noFill/>
              </a14:hiddenFill>
            </a:ext>
          </a:extLst>
        </p:spPr>
        <p:txBody>
          <a:bodyPr/>
          <a:lstStyle/>
          <a:p>
            <a:endParaRPr lang="zh-CN" altLang="en-US" dirty="0">
              <a:ea typeface="SimHei" panose="02010609060101010101" pitchFamily="49" charset="-122"/>
            </a:endParaRPr>
          </a:p>
        </p:txBody>
      </p:sp>
      <p:sp>
        <p:nvSpPr>
          <p:cNvPr id="69" name="Line 55">
            <a:extLst>
              <a:ext uri="{FF2B5EF4-FFF2-40B4-BE49-F238E27FC236}">
                <a16:creationId xmlns:a16="http://schemas.microsoft.com/office/drawing/2014/main" id="{BB898BEA-73A2-2D40-B579-5F6A44424D5D}"/>
              </a:ext>
            </a:extLst>
          </p:cNvPr>
          <p:cNvSpPr>
            <a:spLocks noChangeShapeType="1"/>
          </p:cNvSpPr>
          <p:nvPr/>
        </p:nvSpPr>
        <p:spPr bwMode="auto">
          <a:xfrm flipH="1">
            <a:off x="5111115" y="4101364"/>
            <a:ext cx="1301234" cy="748934"/>
          </a:xfrm>
          <a:prstGeom prst="line">
            <a:avLst/>
          </a:prstGeom>
          <a:noFill/>
          <a:ln w="38100">
            <a:solidFill>
              <a:srgbClr val="0432FF"/>
            </a:solidFill>
            <a:round/>
            <a:headEnd/>
            <a:tailEnd type="triangle" w="med" len="med"/>
          </a:ln>
          <a:extLst>
            <a:ext uri="{909E8E84-426E-40dd-AFC4-6F175D3DCCD1}">
              <a14:hiddenFill xmlns="" xmlns:a14="http://schemas.microsoft.com/office/drawing/2010/main">
                <a:noFill/>
              </a14:hiddenFill>
            </a:ext>
          </a:extLst>
        </p:spPr>
        <p:txBody>
          <a:bodyPr/>
          <a:lstStyle/>
          <a:p>
            <a:endParaRPr lang="zh-CN" altLang="en-US" dirty="0">
              <a:ea typeface="SimHei" panose="02010609060101010101" pitchFamily="49" charset="-122"/>
            </a:endParaRPr>
          </a:p>
        </p:txBody>
      </p:sp>
      <p:sp>
        <p:nvSpPr>
          <p:cNvPr id="110" name="Right Brace 109">
            <a:extLst>
              <a:ext uri="{FF2B5EF4-FFF2-40B4-BE49-F238E27FC236}">
                <a16:creationId xmlns:a16="http://schemas.microsoft.com/office/drawing/2014/main" id="{83E9E209-5464-5344-B7CA-A8AA37508B6D}"/>
              </a:ext>
            </a:extLst>
          </p:cNvPr>
          <p:cNvSpPr/>
          <p:nvPr/>
        </p:nvSpPr>
        <p:spPr>
          <a:xfrm rot="16200000">
            <a:off x="3062859" y="1382622"/>
            <a:ext cx="215064" cy="3914091"/>
          </a:xfrm>
          <a:prstGeom prst="rightBrace">
            <a:avLst>
              <a:gd name="adj1" fmla="val 32967"/>
              <a:gd name="adj2" fmla="val 50000"/>
            </a:avLst>
          </a:prstGeom>
          <a:ln w="28575">
            <a:solidFill>
              <a:srgbClr val="0432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11" name="Rectangle 110">
            <a:extLst>
              <a:ext uri="{FF2B5EF4-FFF2-40B4-BE49-F238E27FC236}">
                <a16:creationId xmlns:a16="http://schemas.microsoft.com/office/drawing/2014/main" id="{E7A001A4-F4FB-0240-A941-11EE6A1C37FC}"/>
              </a:ext>
            </a:extLst>
          </p:cNvPr>
          <p:cNvSpPr/>
          <p:nvPr/>
        </p:nvSpPr>
        <p:spPr>
          <a:xfrm>
            <a:off x="2352914" y="2916078"/>
            <a:ext cx="1231427" cy="369332"/>
          </a:xfrm>
          <a:prstGeom prst="rect">
            <a:avLst/>
          </a:prstGeom>
        </p:spPr>
        <p:txBody>
          <a:bodyPr wrap="none">
            <a:spAutoFit/>
          </a:bodyPr>
          <a:lstStyle/>
          <a:p>
            <a:r>
              <a:rPr lang="en-US" altLang="zh-CN" b="1" dirty="0">
                <a:solidFill>
                  <a:srgbClr val="0432FF"/>
                </a:solidFill>
                <a:latin typeface="STKaiti" panose="02010600040101010101" pitchFamily="2" charset="-122"/>
                <a:ea typeface="STKaiti" panose="02010600040101010101" pitchFamily="2" charset="-122"/>
              </a:rPr>
              <a:t>2</a:t>
            </a:r>
            <a:r>
              <a:rPr lang="zh-CN" altLang="en-US" b="1" dirty="0">
                <a:solidFill>
                  <a:srgbClr val="0432FF"/>
                </a:solidFill>
                <a:latin typeface="STKaiti" panose="02010600040101010101" pitchFamily="2" charset="-122"/>
                <a:ea typeface="STKaiti" panose="02010600040101010101" pitchFamily="2" charset="-122"/>
              </a:rPr>
              <a:t>路组相连</a:t>
            </a:r>
            <a:endParaRPr lang="en-CN" dirty="0">
              <a:solidFill>
                <a:srgbClr val="0432FF"/>
              </a:solidFill>
              <a:ea typeface="SimHei" panose="02010609060101010101" pitchFamily="49" charset="-122"/>
            </a:endParaRPr>
          </a:p>
        </p:txBody>
      </p:sp>
      <p:graphicFrame>
        <p:nvGraphicFramePr>
          <p:cNvPr id="113" name="Table 113">
            <a:extLst>
              <a:ext uri="{FF2B5EF4-FFF2-40B4-BE49-F238E27FC236}">
                <a16:creationId xmlns:a16="http://schemas.microsoft.com/office/drawing/2014/main" id="{DF534792-34AE-7243-99E6-5A4D7149F0C4}"/>
              </a:ext>
            </a:extLst>
          </p:cNvPr>
          <p:cNvGraphicFramePr>
            <a:graphicFrameLocks noGrp="1"/>
          </p:cNvGraphicFramePr>
          <p:nvPr>
            <p:extLst>
              <p:ext uri="{D42A27DB-BD31-4B8C-83A1-F6EECF244321}">
                <p14:modId xmlns:p14="http://schemas.microsoft.com/office/powerpoint/2010/main" val="4205204376"/>
              </p:ext>
            </p:extLst>
          </p:nvPr>
        </p:nvGraphicFramePr>
        <p:xfrm>
          <a:off x="6428671" y="2694180"/>
          <a:ext cx="2114765" cy="3639141"/>
        </p:xfrm>
        <a:graphic>
          <a:graphicData uri="http://schemas.openxmlformats.org/drawingml/2006/table">
            <a:tbl>
              <a:tblPr firstRow="1" bandRow="1">
                <a:tableStyleId>{5940675A-B579-460E-94D1-54222C63F5DA}</a:tableStyleId>
              </a:tblPr>
              <a:tblGrid>
                <a:gridCol w="2114765">
                  <a:extLst>
                    <a:ext uri="{9D8B030D-6E8A-4147-A177-3AD203B41FA5}">
                      <a16:colId xmlns:a16="http://schemas.microsoft.com/office/drawing/2014/main" val="3994481763"/>
                    </a:ext>
                  </a:extLst>
                </a:gridCol>
              </a:tblGrid>
              <a:tr h="404349">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0</a:t>
                      </a:r>
                      <a:r>
                        <a:rPr lang="zh-CN" altLang="en-US" sz="1800" b="0" dirty="0">
                          <a:latin typeface="STKaiti" panose="02010600040101010101" pitchFamily="2" charset="-122"/>
                          <a:ea typeface="STKaiti" panose="02010600040101010101" pitchFamily="2" charset="-122"/>
                        </a:rPr>
                        <a:t>块</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AB</a:t>
                      </a:r>
                      <a:r>
                        <a:rPr lang="en-CN" sz="1800" b="0" dirty="0">
                          <a:solidFill>
                            <a:srgbClr val="FF0000"/>
                          </a:solidFill>
                          <a:latin typeface="STKaiti" panose="02010600040101010101" pitchFamily="2" charset="-122"/>
                          <a:ea typeface="STKaiti" panose="02010600040101010101" pitchFamily="2" charset="-122"/>
                        </a:rPr>
                        <a:t>0</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solidFill>
                      <a:srgbClr val="FFFF00"/>
                    </a:solidFill>
                  </a:tcPr>
                </a:tc>
                <a:extLst>
                  <a:ext uri="{0D108BD9-81ED-4DB2-BD59-A6C34878D82A}">
                    <a16:rowId xmlns:a16="http://schemas.microsoft.com/office/drawing/2014/main" val="2020140535"/>
                  </a:ext>
                </a:extLst>
              </a:tr>
              <a:tr h="404349">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1</a:t>
                      </a:r>
                      <a:r>
                        <a:rPr lang="zh-CN" altLang="en-US" sz="1800" b="0" dirty="0">
                          <a:latin typeface="STKaiti" panose="02010600040101010101" pitchFamily="2" charset="-122"/>
                          <a:ea typeface="STKaiti" panose="02010600040101010101" pitchFamily="2" charset="-122"/>
                        </a:rPr>
                        <a:t>块</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AB</a:t>
                      </a:r>
                      <a:r>
                        <a:rPr lang="en-US" altLang="zh-CN" sz="1800" b="0" dirty="0">
                          <a:solidFill>
                            <a:srgbClr val="FF0000"/>
                          </a:solidFill>
                          <a:latin typeface="STKaiti" panose="02010600040101010101" pitchFamily="2" charset="-122"/>
                          <a:ea typeface="STKaiti" panose="02010600040101010101" pitchFamily="2" charset="-122"/>
                        </a:rPr>
                        <a:t>1</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solidFill>
                      <a:srgbClr val="B6E4B6"/>
                    </a:solidFill>
                  </a:tcPr>
                </a:tc>
                <a:extLst>
                  <a:ext uri="{0D108BD9-81ED-4DB2-BD59-A6C34878D82A}">
                    <a16:rowId xmlns:a16="http://schemas.microsoft.com/office/drawing/2014/main" val="3914478508"/>
                  </a:ext>
                </a:extLst>
              </a:tr>
              <a:tr h="404349">
                <a:tc>
                  <a:txBody>
                    <a:bodyPr/>
                    <a:lstStyle/>
                    <a:p>
                      <a:pPr algn="ctr"/>
                      <a:r>
                        <a:rPr lang="en-CN" sz="1800" b="0" dirty="0">
                          <a:latin typeface="STKaiti" panose="02010600040101010101" pitchFamily="2" charset="-122"/>
                          <a:ea typeface="STKaiti" panose="02010600040101010101" pitchFamily="2" charset="-122"/>
                        </a:rPr>
                        <a:t>…</a:t>
                      </a:r>
                    </a:p>
                  </a:txBody>
                  <a:tcPr marL="0" marR="0" marT="0" marB="0" anchor="ctr"/>
                </a:tc>
                <a:extLst>
                  <a:ext uri="{0D108BD9-81ED-4DB2-BD59-A6C34878D82A}">
                    <a16:rowId xmlns:a16="http://schemas.microsoft.com/office/drawing/2014/main" val="2986031908"/>
                  </a:ext>
                </a:extLst>
              </a:tr>
              <a:tr h="404349">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15</a:t>
                      </a:r>
                      <a:r>
                        <a:rPr lang="zh-CN" altLang="en-US" sz="1800" b="0" dirty="0">
                          <a:latin typeface="STKaiti" panose="02010600040101010101" pitchFamily="2" charset="-122"/>
                          <a:ea typeface="STKaiti" panose="02010600040101010101" pitchFamily="2" charset="-122"/>
                        </a:rPr>
                        <a:t>块</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AB</a:t>
                      </a:r>
                      <a:r>
                        <a:rPr lang="en-CN" sz="1800" b="0" dirty="0">
                          <a:solidFill>
                            <a:srgbClr val="FF0000"/>
                          </a:solidFill>
                          <a:latin typeface="STKaiti" panose="02010600040101010101" pitchFamily="2" charset="-122"/>
                          <a:ea typeface="STKaiti" panose="02010600040101010101" pitchFamily="2" charset="-122"/>
                        </a:rPr>
                        <a:t>F</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solidFill>
                      <a:srgbClr val="CDFFFF"/>
                    </a:solidFill>
                  </a:tcPr>
                </a:tc>
                <a:extLst>
                  <a:ext uri="{0D108BD9-81ED-4DB2-BD59-A6C34878D82A}">
                    <a16:rowId xmlns:a16="http://schemas.microsoft.com/office/drawing/2014/main" val="1559278429"/>
                  </a:ext>
                </a:extLst>
              </a:tr>
              <a:tr h="404349">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16</a:t>
                      </a:r>
                      <a:r>
                        <a:rPr lang="en-CN" sz="1800" b="0" dirty="0">
                          <a:latin typeface="STKaiti" panose="02010600040101010101" pitchFamily="2" charset="-122"/>
                          <a:ea typeface="STKaiti" panose="02010600040101010101" pitchFamily="2" charset="-122"/>
                        </a:rPr>
                        <a:t>块</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AC</a:t>
                      </a:r>
                      <a:r>
                        <a:rPr lang="en-US" altLang="zh-CN" sz="1800" b="0" dirty="0">
                          <a:solidFill>
                            <a:srgbClr val="FF0000"/>
                          </a:solidFill>
                          <a:latin typeface="STKaiti" panose="02010600040101010101" pitchFamily="2" charset="-122"/>
                          <a:ea typeface="STKaiti" panose="02010600040101010101" pitchFamily="2" charset="-122"/>
                        </a:rPr>
                        <a:t>0</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solidFill>
                      <a:srgbClr val="FFFF00"/>
                    </a:solidFill>
                  </a:tcPr>
                </a:tc>
                <a:extLst>
                  <a:ext uri="{0D108BD9-81ED-4DB2-BD59-A6C34878D82A}">
                    <a16:rowId xmlns:a16="http://schemas.microsoft.com/office/drawing/2014/main" val="2878373026"/>
                  </a:ext>
                </a:extLst>
              </a:tr>
              <a:tr h="404349">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17</a:t>
                      </a:r>
                      <a:r>
                        <a:rPr lang="zh-CN" altLang="en-US" sz="1800" b="0" dirty="0">
                          <a:latin typeface="STKaiti" panose="02010600040101010101" pitchFamily="2" charset="-122"/>
                          <a:ea typeface="STKaiti" panose="02010600040101010101" pitchFamily="2" charset="-122"/>
                        </a:rPr>
                        <a:t>块</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AC</a:t>
                      </a:r>
                      <a:r>
                        <a:rPr lang="en-US" altLang="zh-CN" sz="1800" b="0" dirty="0">
                          <a:solidFill>
                            <a:srgbClr val="FF0000"/>
                          </a:solidFill>
                          <a:latin typeface="STKaiti" panose="02010600040101010101" pitchFamily="2" charset="-122"/>
                          <a:ea typeface="STKaiti" panose="02010600040101010101" pitchFamily="2" charset="-122"/>
                        </a:rPr>
                        <a:t>1</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solidFill>
                      <a:srgbClr val="B6E4B6"/>
                    </a:solidFill>
                  </a:tcPr>
                </a:tc>
                <a:extLst>
                  <a:ext uri="{0D108BD9-81ED-4DB2-BD59-A6C34878D82A}">
                    <a16:rowId xmlns:a16="http://schemas.microsoft.com/office/drawing/2014/main" val="2299839098"/>
                  </a:ext>
                </a:extLst>
              </a:tr>
              <a:tr h="404349">
                <a:tc>
                  <a:txBody>
                    <a:bodyPr/>
                    <a:lstStyle/>
                    <a:p>
                      <a:pPr algn="ctr"/>
                      <a:r>
                        <a:rPr lang="en-CN" sz="1800" b="0" dirty="0">
                          <a:latin typeface="STKaiti" panose="02010600040101010101" pitchFamily="2" charset="-122"/>
                          <a:ea typeface="STKaiti" panose="02010600040101010101" pitchFamily="2" charset="-122"/>
                        </a:rPr>
                        <a:t>…</a:t>
                      </a:r>
                    </a:p>
                  </a:txBody>
                  <a:tcPr marL="0" marR="0" marT="0" marB="0" anchor="ctr"/>
                </a:tc>
                <a:extLst>
                  <a:ext uri="{0D108BD9-81ED-4DB2-BD59-A6C34878D82A}">
                    <a16:rowId xmlns:a16="http://schemas.microsoft.com/office/drawing/2014/main" val="2888734446"/>
                  </a:ext>
                </a:extLst>
              </a:tr>
              <a:tr h="404349">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31</a:t>
                      </a:r>
                      <a:r>
                        <a:rPr lang="zh-CN" altLang="en-US" sz="1800" b="0" dirty="0">
                          <a:latin typeface="STKaiti" panose="02010600040101010101" pitchFamily="2" charset="-122"/>
                          <a:ea typeface="STKaiti" panose="02010600040101010101" pitchFamily="2" charset="-122"/>
                        </a:rPr>
                        <a:t>块</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a:t>
                      </a:r>
                      <a:r>
                        <a:rPr lang="en-US" sz="1800" b="0" dirty="0">
                          <a:solidFill>
                            <a:srgbClr val="0432FF"/>
                          </a:solidFill>
                          <a:latin typeface="STKaiti" panose="02010600040101010101" pitchFamily="2" charset="-122"/>
                          <a:ea typeface="STKaiti" panose="02010600040101010101" pitchFamily="2" charset="-122"/>
                        </a:rPr>
                        <a:t>C</a:t>
                      </a:r>
                      <a:r>
                        <a:rPr lang="en-US" sz="1800" b="0" dirty="0">
                          <a:solidFill>
                            <a:srgbClr val="FF0000"/>
                          </a:solidFill>
                          <a:latin typeface="STKaiti" panose="02010600040101010101" pitchFamily="2" charset="-122"/>
                          <a:ea typeface="STKaiti" panose="02010600040101010101" pitchFamily="2" charset="-122"/>
                        </a:rPr>
                        <a:t>F</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solidFill>
                      <a:srgbClr val="CDFFFF"/>
                    </a:solidFill>
                  </a:tcPr>
                </a:tc>
                <a:extLst>
                  <a:ext uri="{0D108BD9-81ED-4DB2-BD59-A6C34878D82A}">
                    <a16:rowId xmlns:a16="http://schemas.microsoft.com/office/drawing/2014/main" val="4045067227"/>
                  </a:ext>
                </a:extLst>
              </a:tr>
              <a:tr h="4043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800" b="0" dirty="0">
                          <a:latin typeface="STKaiti" panose="02010600040101010101" pitchFamily="2" charset="-122"/>
                          <a:ea typeface="STKaiti" panose="02010600040101010101" pitchFamily="2" charset="-122"/>
                        </a:rPr>
                        <a:t>…</a:t>
                      </a:r>
                    </a:p>
                  </a:txBody>
                  <a:tcPr marL="0" marR="0" marT="0" marB="0" anchor="ctr">
                    <a:solidFill>
                      <a:schemeClr val="bg1"/>
                    </a:solidFill>
                  </a:tcPr>
                </a:tc>
                <a:extLst>
                  <a:ext uri="{0D108BD9-81ED-4DB2-BD59-A6C34878D82A}">
                    <a16:rowId xmlns:a16="http://schemas.microsoft.com/office/drawing/2014/main" val="1684358944"/>
                  </a:ext>
                </a:extLst>
              </a:tr>
            </a:tbl>
          </a:graphicData>
        </a:graphic>
      </p:graphicFrame>
      <p:sp>
        <p:nvSpPr>
          <p:cNvPr id="114" name="Rectangle 5">
            <a:extLst>
              <a:ext uri="{FF2B5EF4-FFF2-40B4-BE49-F238E27FC236}">
                <a16:creationId xmlns:a16="http://schemas.microsoft.com/office/drawing/2014/main" id="{1572B529-63EB-7142-9189-D8CC9606536F}"/>
              </a:ext>
            </a:extLst>
          </p:cNvPr>
          <p:cNvSpPr>
            <a:spLocks noChangeArrowheads="1"/>
          </p:cNvSpPr>
          <p:nvPr/>
        </p:nvSpPr>
        <p:spPr bwMode="auto">
          <a:xfrm>
            <a:off x="6717967" y="2334634"/>
            <a:ext cx="116217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dirty="0">
                <a:latin typeface="Times New Roman" pitchFamily="18" charset="0"/>
                <a:ea typeface="SimHei" panose="02010609060101010101" pitchFamily="49" charset="-122"/>
              </a:rPr>
              <a:t>主存存储体</a:t>
            </a:r>
            <a:endParaRPr lang="en-US" altLang="zh-CN" sz="1400" dirty="0">
              <a:latin typeface="Times New Roman" pitchFamily="18" charset="0"/>
              <a:ea typeface="SimHei" panose="02010609060101010101" pitchFamily="49" charset="-122"/>
            </a:endParaRPr>
          </a:p>
        </p:txBody>
      </p:sp>
      <p:graphicFrame>
        <p:nvGraphicFramePr>
          <p:cNvPr id="115" name="Table 113">
            <a:extLst>
              <a:ext uri="{FF2B5EF4-FFF2-40B4-BE49-F238E27FC236}">
                <a16:creationId xmlns:a16="http://schemas.microsoft.com/office/drawing/2014/main" id="{9C8E3201-E539-F844-99F4-17CA69FA94FC}"/>
              </a:ext>
            </a:extLst>
          </p:cNvPr>
          <p:cNvGraphicFramePr>
            <a:graphicFrameLocks noGrp="1"/>
          </p:cNvGraphicFramePr>
          <p:nvPr>
            <p:extLst>
              <p:ext uri="{D42A27DB-BD31-4B8C-83A1-F6EECF244321}">
                <p14:modId xmlns:p14="http://schemas.microsoft.com/office/powerpoint/2010/main" val="2449881363"/>
              </p:ext>
            </p:extLst>
          </p:nvPr>
        </p:nvGraphicFramePr>
        <p:xfrm>
          <a:off x="465399" y="3447200"/>
          <a:ext cx="4645716" cy="1815168"/>
        </p:xfrm>
        <a:graphic>
          <a:graphicData uri="http://schemas.openxmlformats.org/drawingml/2006/table">
            <a:tbl>
              <a:tblPr firstRow="1" bandRow="1">
                <a:tableStyleId>{5940675A-B579-460E-94D1-54222C63F5DA}</a:tableStyleId>
              </a:tblPr>
              <a:tblGrid>
                <a:gridCol w="730250">
                  <a:extLst>
                    <a:ext uri="{9D8B030D-6E8A-4147-A177-3AD203B41FA5}">
                      <a16:colId xmlns:a16="http://schemas.microsoft.com/office/drawing/2014/main" val="2780460890"/>
                    </a:ext>
                  </a:extLst>
                </a:gridCol>
                <a:gridCol w="1957733">
                  <a:extLst>
                    <a:ext uri="{9D8B030D-6E8A-4147-A177-3AD203B41FA5}">
                      <a16:colId xmlns:a16="http://schemas.microsoft.com/office/drawing/2014/main" val="3994481763"/>
                    </a:ext>
                  </a:extLst>
                </a:gridCol>
                <a:gridCol w="1957733">
                  <a:extLst>
                    <a:ext uri="{9D8B030D-6E8A-4147-A177-3AD203B41FA5}">
                      <a16:colId xmlns:a16="http://schemas.microsoft.com/office/drawing/2014/main" val="3980864774"/>
                    </a:ext>
                  </a:extLst>
                </a:gridCol>
              </a:tblGrid>
              <a:tr h="377056">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0</a:t>
                      </a:r>
                      <a:r>
                        <a:rPr lang="zh-CN" altLang="en-US" sz="1800" b="0" dirty="0">
                          <a:latin typeface="STKaiti" panose="02010600040101010101" pitchFamily="2" charset="-122"/>
                          <a:ea typeface="STKaiti" panose="02010600040101010101" pitchFamily="2" charset="-122"/>
                        </a:rPr>
                        <a:t>组</a:t>
                      </a:r>
                      <a:endParaRPr lang="en-CN" sz="1800" b="0" dirty="0">
                        <a:latin typeface="STKaiti" panose="02010600040101010101" pitchFamily="2" charset="-122"/>
                        <a:ea typeface="STKaiti" panose="02010600040101010101" pitchFamily="2" charset="-122"/>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0</a:t>
                      </a:r>
                      <a:r>
                        <a:rPr lang="zh-CN" altLang="en-US" sz="1800" b="0" dirty="0">
                          <a:latin typeface="STKaiti" panose="02010600040101010101" pitchFamily="2" charset="-122"/>
                          <a:ea typeface="STKaiti" panose="02010600040101010101" pitchFamily="2" charset="-122"/>
                        </a:rPr>
                        <a:t>行</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AB</a:t>
                      </a:r>
                      <a:r>
                        <a:rPr lang="en-CN" sz="1800" b="0" dirty="0">
                          <a:solidFill>
                            <a:srgbClr val="FF0000"/>
                          </a:solidFill>
                          <a:latin typeface="STKaiti" panose="02010600040101010101" pitchFamily="2" charset="-122"/>
                          <a:ea typeface="STKaiti" panose="02010600040101010101" pitchFamily="2" charset="-122"/>
                        </a:rPr>
                        <a:t>0</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1</a:t>
                      </a:r>
                      <a:r>
                        <a:rPr lang="zh-CN" altLang="en-US" sz="1800" b="0" dirty="0">
                          <a:latin typeface="STKaiti" panose="02010600040101010101" pitchFamily="2" charset="-122"/>
                          <a:ea typeface="STKaiti" panose="02010600040101010101" pitchFamily="2" charset="-122"/>
                        </a:rPr>
                        <a:t>行</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AC</a:t>
                      </a:r>
                      <a:r>
                        <a:rPr lang="en-US" altLang="zh-CN" sz="1800" b="0" dirty="0">
                          <a:solidFill>
                            <a:srgbClr val="FF0000"/>
                          </a:solidFill>
                          <a:latin typeface="STKaiti" panose="02010600040101010101" pitchFamily="2" charset="-122"/>
                          <a:ea typeface="STKaiti" panose="02010600040101010101" pitchFamily="2" charset="-122"/>
                        </a:rPr>
                        <a:t>0</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020140535"/>
                  </a:ext>
                </a:extLst>
              </a:tr>
              <a:tr h="377056">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1</a:t>
                      </a:r>
                      <a:r>
                        <a:rPr lang="en-CN" sz="1800" b="0" dirty="0">
                          <a:latin typeface="STKaiti" panose="02010600040101010101" pitchFamily="2" charset="-122"/>
                          <a:ea typeface="STKaiti" panose="02010600040101010101" pitchFamily="2" charset="-122"/>
                        </a:rPr>
                        <a:t>组</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2</a:t>
                      </a:r>
                      <a:r>
                        <a:rPr lang="zh-CN" altLang="en-US" sz="1800" b="0" dirty="0">
                          <a:latin typeface="STKaiti" panose="02010600040101010101" pitchFamily="2" charset="-122"/>
                          <a:ea typeface="STKaiti" panose="02010600040101010101" pitchFamily="2" charset="-122"/>
                        </a:rPr>
                        <a:t>行</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AC</a:t>
                      </a:r>
                      <a:r>
                        <a:rPr lang="en-CN" sz="1800" b="0" dirty="0">
                          <a:solidFill>
                            <a:srgbClr val="FF0000"/>
                          </a:solidFill>
                          <a:latin typeface="STKaiti" panose="02010600040101010101" pitchFamily="2" charset="-122"/>
                          <a:ea typeface="STKaiti" panose="02010600040101010101" pitchFamily="2" charset="-122"/>
                        </a:rPr>
                        <a:t>1</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E4B6"/>
                    </a:solidFill>
                  </a:tcPr>
                </a:tc>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3</a:t>
                      </a:r>
                      <a:r>
                        <a:rPr lang="zh-CN" altLang="en-US" sz="1800" b="0" dirty="0">
                          <a:latin typeface="STKaiti" panose="02010600040101010101" pitchFamily="2" charset="-122"/>
                          <a:ea typeface="STKaiti" panose="02010600040101010101" pitchFamily="2" charset="-122"/>
                        </a:rPr>
                        <a:t>行</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地址</a:t>
                      </a:r>
                      <a:r>
                        <a:rPr lang="en-CN" sz="1800" b="0" dirty="0">
                          <a:solidFill>
                            <a:srgbClr val="0432FF"/>
                          </a:solidFill>
                          <a:latin typeface="STKaiti" panose="02010600040101010101" pitchFamily="2" charset="-122"/>
                          <a:ea typeface="STKaiti" panose="02010600040101010101" pitchFamily="2" charset="-122"/>
                        </a:rPr>
                        <a:t>AD</a:t>
                      </a:r>
                      <a:r>
                        <a:rPr lang="en-US" altLang="zh-CN" sz="1800" b="0" dirty="0">
                          <a:solidFill>
                            <a:srgbClr val="FF0000"/>
                          </a:solidFill>
                          <a:latin typeface="STKaiti" panose="02010600040101010101" pitchFamily="2" charset="-122"/>
                          <a:ea typeface="STKaiti" panose="02010600040101010101" pitchFamily="2" charset="-122"/>
                        </a:rPr>
                        <a:t>1</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E4B6"/>
                    </a:solidFill>
                  </a:tcPr>
                </a:tc>
                <a:extLst>
                  <a:ext uri="{0D108BD9-81ED-4DB2-BD59-A6C34878D82A}">
                    <a16:rowId xmlns:a16="http://schemas.microsoft.com/office/drawing/2014/main" val="3914478508"/>
                  </a:ext>
                </a:extLst>
              </a:tr>
              <a:tr h="377056">
                <a:tc>
                  <a:txBody>
                    <a:bodyPr/>
                    <a:lstStyle/>
                    <a:p>
                      <a:pPr algn="ctr"/>
                      <a:endParaRPr lang="en-CN" sz="1800" b="0" dirty="0">
                        <a:latin typeface="STKaiti" panose="02010600040101010101" pitchFamily="2" charset="-122"/>
                        <a:ea typeface="STKaiti" panose="02010600040101010101" pitchFamily="2" charset="-122"/>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CN" sz="1800" b="0" dirty="0">
                          <a:latin typeface="STKaiti" panose="02010600040101010101" pitchFamily="2" charset="-122"/>
                          <a:ea typeface="STKaiti" panose="02010600040101010101" pitchFamily="2" charset="-122"/>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sz="1800" b="0" dirty="0">
                          <a:latin typeface="STKaiti" panose="02010600040101010101" pitchFamily="2" charset="-122"/>
                          <a:ea typeface="STKaiti" panose="02010600040101010101" pitchFamily="2" charset="-122"/>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031908"/>
                  </a:ext>
                </a:extLst>
              </a:tr>
              <a:tr h="684000">
                <a:tc>
                  <a:txBody>
                    <a:bodyPr/>
                    <a:lstStyle/>
                    <a:p>
                      <a:pPr algn="ctr"/>
                      <a:r>
                        <a:rPr kumimoji="0" lang="en-CN" sz="1800" b="0" i="0" u="none" strike="noStrike" kern="1200" cap="none" spc="0" normalizeH="0" baseline="0" noProof="0" dirty="0">
                          <a:ln>
                            <a:noFill/>
                          </a:ln>
                          <a:solidFill>
                            <a:srgbClr val="000000"/>
                          </a:solidFill>
                          <a:effectLst/>
                          <a:uLnTx/>
                          <a:uFillTx/>
                          <a:latin typeface="STKaiti" panose="02010600040101010101" pitchFamily="2" charset="-122"/>
                          <a:ea typeface="STKaiti" panose="02010600040101010101" pitchFamily="2" charset="-122"/>
                          <a:cs typeface="+mn-cs"/>
                        </a:rPr>
                        <a:t>第</a:t>
                      </a:r>
                      <a:r>
                        <a:rPr kumimoji="0" lang="en-US" altLang="zh-CN" sz="1800" b="0" i="0" u="none" strike="noStrike" kern="1200" cap="none" spc="0" normalizeH="0" baseline="0" noProof="0" dirty="0">
                          <a:ln>
                            <a:noFill/>
                          </a:ln>
                          <a:solidFill>
                            <a:srgbClr val="000000"/>
                          </a:solidFill>
                          <a:effectLst/>
                          <a:uLnTx/>
                          <a:uFillTx/>
                          <a:latin typeface="STKaiti" panose="02010600040101010101" pitchFamily="2" charset="-122"/>
                          <a:ea typeface="STKaiti" panose="02010600040101010101" pitchFamily="2" charset="-122"/>
                          <a:cs typeface="+mn-cs"/>
                        </a:rPr>
                        <a:t>15</a:t>
                      </a:r>
                      <a:r>
                        <a:rPr kumimoji="0" lang="en-CN" sz="1800" b="0" i="0" u="none" strike="noStrike" kern="1200" cap="none" spc="0" normalizeH="0" baseline="0" noProof="0" dirty="0">
                          <a:ln>
                            <a:noFill/>
                          </a:ln>
                          <a:solidFill>
                            <a:srgbClr val="000000"/>
                          </a:solidFill>
                          <a:effectLst/>
                          <a:uLnTx/>
                          <a:uFillTx/>
                          <a:latin typeface="STKaiti" panose="02010600040101010101" pitchFamily="2" charset="-122"/>
                          <a:ea typeface="STKaiti" panose="02010600040101010101" pitchFamily="2" charset="-122"/>
                          <a:cs typeface="+mn-cs"/>
                        </a:rPr>
                        <a:t>组</a:t>
                      </a:r>
                      <a:endParaRPr lang="en-CN" sz="1800" b="0" dirty="0">
                        <a:latin typeface="STKaiti" panose="02010600040101010101" pitchFamily="2" charset="-122"/>
                        <a:ea typeface="STKaiti" panose="02010600040101010101" pitchFamily="2" charset="-122"/>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30</a:t>
                      </a:r>
                      <a:r>
                        <a:rPr lang="zh-CN" altLang="en-US" sz="1800" b="0" dirty="0">
                          <a:latin typeface="STKaiti" panose="02010600040101010101" pitchFamily="2" charset="-122"/>
                          <a:ea typeface="STKaiti" panose="02010600040101010101" pitchFamily="2" charset="-122"/>
                        </a:rPr>
                        <a:t>行</a:t>
                      </a:r>
                      <a:r>
                        <a:rPr lang="en-US" altLang="zh-CN" sz="1800" b="0" dirty="0">
                          <a:latin typeface="STKaiti" panose="02010600040101010101" pitchFamily="2" charset="-122"/>
                          <a:ea typeface="STKaiti" panose="02010600040101010101" pitchFamily="2" charset="-122"/>
                        </a:rPr>
                        <a:t>, </a:t>
                      </a:r>
                      <a:r>
                        <a:rPr lang="zh-CN" altLang="en-US" sz="1800" b="0" dirty="0">
                          <a:latin typeface="STKaiti" panose="02010600040101010101" pitchFamily="2" charset="-122"/>
                          <a:ea typeface="STKaiti" panose="02010600040101010101" pitchFamily="2" charset="-122"/>
                        </a:rPr>
                        <a:t>标签：</a:t>
                      </a:r>
                      <a:r>
                        <a:rPr lang="en-US" altLang="zh-CN" sz="1800" b="0" dirty="0">
                          <a:latin typeface="STKaiti" panose="02010600040101010101" pitchFamily="2" charset="-122"/>
                          <a:ea typeface="STKaiti" panose="02010600040101010101" pitchFamily="2" charset="-122"/>
                        </a:rPr>
                        <a:t>AB;</a:t>
                      </a:r>
                      <a:r>
                        <a:rPr lang="zh-CN" altLang="en-US" sz="1800" b="0" dirty="0">
                          <a:latin typeface="STKaiti" panose="02010600040101010101" pitchFamily="2" charset="-122"/>
                          <a:ea typeface="STKaiti" panose="02010600040101010101" pitchFamily="2" charset="-122"/>
                        </a:rPr>
                        <a:t>完整地址：</a:t>
                      </a:r>
                      <a:r>
                        <a:rPr lang="en-CN" sz="1800" b="0" dirty="0">
                          <a:solidFill>
                            <a:srgbClr val="0432FF"/>
                          </a:solidFill>
                          <a:latin typeface="STKaiti" panose="02010600040101010101" pitchFamily="2" charset="-122"/>
                          <a:ea typeface="STKaiti" panose="02010600040101010101" pitchFamily="2" charset="-122"/>
                        </a:rPr>
                        <a:t>AB</a:t>
                      </a:r>
                      <a:r>
                        <a:rPr lang="en-CN" sz="1800" b="0" dirty="0">
                          <a:solidFill>
                            <a:srgbClr val="FF0000"/>
                          </a:solidFill>
                          <a:latin typeface="STKaiti" panose="02010600040101010101" pitchFamily="2" charset="-122"/>
                          <a:ea typeface="STKaiti" panose="02010600040101010101" pitchFamily="2" charset="-122"/>
                        </a:rPr>
                        <a:t>F</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DFFFF"/>
                    </a:solidFill>
                  </a:tcPr>
                </a:tc>
                <a:tc>
                  <a:txBody>
                    <a:bodyPr/>
                    <a:lstStyle/>
                    <a:p>
                      <a:pPr algn="ctr"/>
                      <a:r>
                        <a:rPr lang="en-CN" sz="1800" b="0" dirty="0">
                          <a:latin typeface="STKaiti" panose="02010600040101010101" pitchFamily="2" charset="-122"/>
                          <a:ea typeface="STKaiti" panose="02010600040101010101" pitchFamily="2" charset="-122"/>
                        </a:rPr>
                        <a:t>第</a:t>
                      </a:r>
                      <a:r>
                        <a:rPr lang="en-US" altLang="zh-CN" sz="1800" b="0" dirty="0">
                          <a:latin typeface="STKaiti" panose="02010600040101010101" pitchFamily="2" charset="-122"/>
                          <a:ea typeface="STKaiti" panose="02010600040101010101" pitchFamily="2" charset="-122"/>
                        </a:rPr>
                        <a:t>31</a:t>
                      </a:r>
                      <a:r>
                        <a:rPr lang="zh-CN" altLang="en-US" sz="1800" b="0" dirty="0">
                          <a:latin typeface="STKaiti" panose="02010600040101010101" pitchFamily="2" charset="-122"/>
                          <a:ea typeface="STKaiti" panose="02010600040101010101" pitchFamily="2" charset="-122"/>
                        </a:rPr>
                        <a:t>行</a:t>
                      </a:r>
                      <a:r>
                        <a:rPr lang="en-US" altLang="zh-CN" sz="1800" b="0" dirty="0">
                          <a:latin typeface="STKaiti" panose="02010600040101010101" pitchFamily="2" charset="-122"/>
                          <a:ea typeface="STKaiti" panose="02010600040101010101" pitchFamily="2" charset="-122"/>
                        </a:rPr>
                        <a:t>,</a:t>
                      </a:r>
                      <a:r>
                        <a:rPr lang="zh-CN" altLang="en-US" sz="1800" b="0" dirty="0">
                          <a:latin typeface="STKaiti" panose="02010600040101010101" pitchFamily="2" charset="-122"/>
                          <a:ea typeface="STKaiti" panose="02010600040101010101" pitchFamily="2" charset="-122"/>
                        </a:rPr>
                        <a:t>标签：</a:t>
                      </a:r>
                      <a:r>
                        <a:rPr lang="en-US" altLang="zh-CN" sz="1800" b="0" dirty="0">
                          <a:latin typeface="STKaiti" panose="02010600040101010101" pitchFamily="2" charset="-122"/>
                          <a:ea typeface="STKaiti" panose="02010600040101010101" pitchFamily="2" charset="-122"/>
                        </a:rPr>
                        <a:t>AC;</a:t>
                      </a:r>
                      <a:r>
                        <a:rPr lang="zh-CN" altLang="en-US" sz="1800" b="0" dirty="0">
                          <a:latin typeface="STKaiti" panose="02010600040101010101" pitchFamily="2" charset="-122"/>
                          <a:ea typeface="STKaiti" panose="02010600040101010101" pitchFamily="2" charset="-122"/>
                        </a:rPr>
                        <a:t>完整地址：</a:t>
                      </a:r>
                      <a:r>
                        <a:rPr lang="en-CN" sz="1800" b="0" dirty="0">
                          <a:solidFill>
                            <a:srgbClr val="0432FF"/>
                          </a:solidFill>
                          <a:latin typeface="STKaiti" panose="02010600040101010101" pitchFamily="2" charset="-122"/>
                          <a:ea typeface="STKaiti" panose="02010600040101010101" pitchFamily="2" charset="-122"/>
                        </a:rPr>
                        <a:t>AC</a:t>
                      </a:r>
                      <a:r>
                        <a:rPr lang="en-CN" sz="1800" b="0" dirty="0">
                          <a:solidFill>
                            <a:srgbClr val="FF0000"/>
                          </a:solidFill>
                          <a:latin typeface="STKaiti" panose="02010600040101010101" pitchFamily="2" charset="-122"/>
                          <a:ea typeface="STKaiti" panose="02010600040101010101" pitchFamily="2" charset="-122"/>
                        </a:rPr>
                        <a:t>F</a:t>
                      </a:r>
                      <a:r>
                        <a:rPr lang="en-CN" sz="1800" b="0" dirty="0">
                          <a:solidFill>
                            <a:srgbClr val="0432FF"/>
                          </a:solidFill>
                          <a:latin typeface="STKaiti" panose="02010600040101010101" pitchFamily="2" charset="-122"/>
                          <a:ea typeface="STKaiti" panose="02010600040101010101" pitchFamily="2" charset="-122"/>
                        </a:rPr>
                        <a:t>X</a:t>
                      </a:r>
                      <a:endParaRPr lang="en-CN" sz="1800" b="0" dirty="0">
                        <a:latin typeface="STKaiti" panose="02010600040101010101" pitchFamily="2" charset="-122"/>
                        <a:ea typeface="STKaiti" panose="02010600040101010101" pitchFamily="2" charset="-122"/>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DFFFF"/>
                    </a:solidFill>
                  </a:tcPr>
                </a:tc>
                <a:extLst>
                  <a:ext uri="{0D108BD9-81ED-4DB2-BD59-A6C34878D82A}">
                    <a16:rowId xmlns:a16="http://schemas.microsoft.com/office/drawing/2014/main" val="1559278429"/>
                  </a:ext>
                </a:extLst>
              </a:tr>
            </a:tbl>
          </a:graphicData>
        </a:graphic>
      </p:graphicFrame>
      <p:sp>
        <p:nvSpPr>
          <p:cNvPr id="116" name="Rectangle 115">
            <a:extLst>
              <a:ext uri="{FF2B5EF4-FFF2-40B4-BE49-F238E27FC236}">
                <a16:creationId xmlns:a16="http://schemas.microsoft.com/office/drawing/2014/main" id="{56849811-2224-9E46-924B-BF456AEB320A}"/>
              </a:ext>
            </a:extLst>
          </p:cNvPr>
          <p:cNvSpPr/>
          <p:nvPr/>
        </p:nvSpPr>
        <p:spPr>
          <a:xfrm>
            <a:off x="6422908" y="2676520"/>
            <a:ext cx="2114766" cy="1633320"/>
          </a:xfrm>
          <a:prstGeom prst="rect">
            <a:avLst/>
          </a:prstGeom>
          <a:noFill/>
          <a:ln w="57150">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7" name="Rectangle 116">
            <a:extLst>
              <a:ext uri="{FF2B5EF4-FFF2-40B4-BE49-F238E27FC236}">
                <a16:creationId xmlns:a16="http://schemas.microsoft.com/office/drawing/2014/main" id="{DF48F4B7-A2B6-744A-BA59-EA27B95AB56C}"/>
              </a:ext>
            </a:extLst>
          </p:cNvPr>
          <p:cNvSpPr/>
          <p:nvPr/>
        </p:nvSpPr>
        <p:spPr>
          <a:xfrm>
            <a:off x="6422908" y="4314974"/>
            <a:ext cx="2114766" cy="1633320"/>
          </a:xfrm>
          <a:prstGeom prst="rect">
            <a:avLst/>
          </a:prstGeom>
          <a:noFill/>
          <a:ln w="57150">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8" name="Rectangle 117">
            <a:extLst>
              <a:ext uri="{FF2B5EF4-FFF2-40B4-BE49-F238E27FC236}">
                <a16:creationId xmlns:a16="http://schemas.microsoft.com/office/drawing/2014/main" id="{E4C0A019-010B-C741-814C-AAE63FC2BBD2}"/>
              </a:ext>
            </a:extLst>
          </p:cNvPr>
          <p:cNvSpPr/>
          <p:nvPr/>
        </p:nvSpPr>
        <p:spPr>
          <a:xfrm>
            <a:off x="6343065" y="6295375"/>
            <a:ext cx="2274451" cy="1551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0" name="Rectangle 119">
            <a:extLst>
              <a:ext uri="{FF2B5EF4-FFF2-40B4-BE49-F238E27FC236}">
                <a16:creationId xmlns:a16="http://schemas.microsoft.com/office/drawing/2014/main" id="{14E79A55-91A6-C343-A284-3F156C211645}"/>
              </a:ext>
            </a:extLst>
          </p:cNvPr>
          <p:cNvSpPr/>
          <p:nvPr/>
        </p:nvSpPr>
        <p:spPr>
          <a:xfrm>
            <a:off x="798802" y="5846002"/>
            <a:ext cx="5371983" cy="646331"/>
          </a:xfrm>
          <a:prstGeom prst="rect">
            <a:avLst/>
          </a:prstGeom>
        </p:spPr>
        <p:txBody>
          <a:bodyPr wrap="none">
            <a:spAutoFit/>
          </a:bodyPr>
          <a:lstStyle/>
          <a:p>
            <a:r>
              <a:rPr lang="zh-CN" altLang="en-US" dirty="0">
                <a:latin typeface="STKaiti" panose="02010600040101010101" pitchFamily="2" charset="-122"/>
                <a:ea typeface="STKaiti" panose="02010600040101010101" pitchFamily="2" charset="-122"/>
              </a:rPr>
              <a:t>思考：此时的标签应该包括哪些信息？前</a:t>
            </a:r>
            <a:r>
              <a:rPr lang="en-US" altLang="zh-CN" dirty="0">
                <a:latin typeface="STKaiti" panose="02010600040101010101" pitchFamily="2" charset="-122"/>
                <a:ea typeface="STKaiti" panose="02010600040101010101" pitchFamily="2" charset="-122"/>
              </a:rPr>
              <a:t>8</a:t>
            </a:r>
            <a:r>
              <a:rPr lang="zh-CN" altLang="en-US" dirty="0">
                <a:latin typeface="STKaiti" panose="02010600040101010101" pitchFamily="2" charset="-122"/>
                <a:ea typeface="STKaiti" panose="02010600040101010101" pitchFamily="2" charset="-122"/>
              </a:rPr>
              <a:t>位即可！</a:t>
            </a:r>
            <a:endParaRPr lang="en-US" altLang="zh-CN" dirty="0">
              <a:latin typeface="STKaiti" panose="02010600040101010101" pitchFamily="2" charset="-122"/>
              <a:ea typeface="STKaiti" panose="02010600040101010101" pitchFamily="2" charset="-122"/>
            </a:endParaRPr>
          </a:p>
          <a:p>
            <a:r>
              <a:rPr lang="en-CN" dirty="0">
                <a:latin typeface="STKaiti" panose="02010600040101010101" pitchFamily="2" charset="-122"/>
                <a:ea typeface="STKaiti" panose="02010600040101010101" pitchFamily="2" charset="-122"/>
              </a:rPr>
              <a:t>注意</a:t>
            </a:r>
            <a:r>
              <a:rPr lang="zh-CN" altLang="en-US" dirty="0">
                <a:latin typeface="STKaiti" panose="02010600040101010101" pitchFamily="2" charset="-122"/>
                <a:ea typeface="STKaiti" panose="02010600040101010101" pitchFamily="2" charset="-122"/>
              </a:rPr>
              <a:t>：每一行</a:t>
            </a:r>
            <a:r>
              <a:rPr lang="en-CN" dirty="0">
                <a:latin typeface="STKaiti" panose="02010600040101010101" pitchFamily="2" charset="-122"/>
                <a:ea typeface="STKaiti" panose="02010600040101010101" pitchFamily="2" charset="-122"/>
              </a:rPr>
              <a:t>都有标签</a:t>
            </a:r>
            <a:r>
              <a:rPr lang="zh-CN" altLang="en-US" dirty="0">
                <a:latin typeface="STKaiti" panose="02010600040101010101" pitchFamily="2" charset="-122"/>
                <a:ea typeface="STKaiti" panose="02010600040101010101" pitchFamily="2" charset="-122"/>
              </a:rPr>
              <a:t>，彼此可能不同！</a:t>
            </a:r>
            <a:endParaRPr lang="en-CN" dirty="0">
              <a:ea typeface="SimHei" panose="02010609060101010101" pitchFamily="49" charset="-122"/>
            </a:endParaRPr>
          </a:p>
        </p:txBody>
      </p:sp>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46</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65398" y="1383947"/>
            <a:ext cx="8581619" cy="959504"/>
          </a:xfrm>
        </p:spPr>
        <p:txBody>
          <a:bodyPr/>
          <a:lstStyle/>
          <a:p>
            <a:pPr marL="514350" indent="-457200">
              <a:spcBef>
                <a:spcPts val="1000"/>
              </a:spcBef>
            </a:pPr>
            <a:r>
              <a:rPr kumimoji="1" lang="zh-CN" altLang="en-US" sz="2400" dirty="0"/>
              <a:t>组相联映像：</a:t>
            </a:r>
            <a:r>
              <a:rPr kumimoji="1" lang="zh-CN" altLang="en-CN" sz="2400" dirty="0"/>
              <a:t>每个</a:t>
            </a:r>
            <a:r>
              <a:rPr kumimoji="1" lang="zh-CN" altLang="en-US" sz="2400" dirty="0"/>
              <a:t>主存块可放入</a:t>
            </a:r>
            <a:r>
              <a:rPr kumimoji="1" lang="en-US" altLang="zh-CN" sz="2400" dirty="0"/>
              <a:t>Cache</a:t>
            </a:r>
            <a:r>
              <a:rPr kumimoji="1" lang="zh-CN" altLang="en-US" sz="2400" dirty="0"/>
              <a:t>中</a:t>
            </a:r>
            <a:r>
              <a:rPr kumimoji="1" lang="zh-CN" altLang="en-CN" sz="2400" dirty="0"/>
              <a:t>唯一组</a:t>
            </a:r>
            <a:r>
              <a:rPr kumimoji="1" lang="zh-CN" altLang="en-US" sz="2400" dirty="0"/>
              <a:t>的</a:t>
            </a:r>
            <a:r>
              <a:rPr kumimoji="1" lang="zh-CN" altLang="en-CN" sz="2400" dirty="0"/>
              <a:t>任一行</a:t>
            </a:r>
            <a:endParaRPr kumimoji="1" lang="en-US" altLang="zh-CN" sz="2400" dirty="0"/>
          </a:p>
          <a:p>
            <a:pPr marL="514350" indent="-457200">
              <a:spcBef>
                <a:spcPts val="1000"/>
              </a:spcBef>
            </a:pPr>
            <a:r>
              <a:rPr kumimoji="1" lang="zh-CN" altLang="en-US" sz="2400" dirty="0"/>
              <a:t>示例</a:t>
            </a:r>
            <a:r>
              <a:rPr kumimoji="1" lang="en-US" altLang="zh-CN" sz="2400" dirty="0"/>
              <a:t>(</a:t>
            </a:r>
            <a:r>
              <a:rPr lang="en-US" altLang="zh-CN" sz="2400" dirty="0">
                <a:latin typeface="STKaiti" panose="02010600040101010101" pitchFamily="2" charset="-122"/>
                <a:ea typeface="STKaiti" panose="02010600040101010101" pitchFamily="2" charset="-122"/>
              </a:rPr>
              <a:t>16</a:t>
            </a:r>
            <a:r>
              <a:rPr lang="zh-CN" altLang="en-US" sz="2400" dirty="0">
                <a:latin typeface="STKaiti" panose="02010600040101010101" pitchFamily="2" charset="-122"/>
                <a:ea typeface="STKaiti" panose="02010600040101010101" pitchFamily="2" charset="-122"/>
              </a:rPr>
              <a:t>位内存地址，</a:t>
            </a:r>
            <a:r>
              <a:rPr lang="en-CN" sz="2400" dirty="0">
                <a:latin typeface="STKaiti" panose="02010600040101010101" pitchFamily="2" charset="-122"/>
                <a:ea typeface="STKaiti" panose="02010600040101010101" pitchFamily="2" charset="-122"/>
              </a:rPr>
              <a:t>每个块存</a:t>
            </a:r>
            <a:r>
              <a:rPr lang="en-US" altLang="zh-CN" sz="2400" dirty="0">
                <a:latin typeface="STKaiti" panose="02010600040101010101" pitchFamily="2" charset="-122"/>
                <a:ea typeface="STKaiti" panose="02010600040101010101" pitchFamily="2" charset="-122"/>
              </a:rPr>
              <a:t>16</a:t>
            </a:r>
            <a:r>
              <a:rPr lang="zh-CN" altLang="en-US" sz="2400" dirty="0">
                <a:latin typeface="STKaiti" panose="02010600040101010101" pitchFamily="2" charset="-122"/>
                <a:ea typeface="STKaiti" panose="02010600040101010101" pitchFamily="2" charset="-122"/>
              </a:rPr>
              <a:t>个字节的地址</a:t>
            </a:r>
            <a:r>
              <a:rPr kumimoji="1" lang="en-US" altLang="zh-CN" sz="2400" dirty="0"/>
              <a:t>)</a:t>
            </a:r>
            <a:r>
              <a:rPr kumimoji="1" lang="zh-CN" altLang="en-US" sz="2400" dirty="0"/>
              <a:t>：</a:t>
            </a:r>
            <a:endParaRPr kumimoji="1" lang="en-US" altLang="zh-CN" sz="2800" dirty="0"/>
          </a:p>
        </p:txBody>
      </p:sp>
      <p:grpSp>
        <p:nvGrpSpPr>
          <p:cNvPr id="6" name="Group 94">
            <a:extLst>
              <a:ext uri="{FF2B5EF4-FFF2-40B4-BE49-F238E27FC236}">
                <a16:creationId xmlns:a16="http://schemas.microsoft.com/office/drawing/2014/main" id="{DD68D882-DF5B-1410-4198-88CF45012FC9}"/>
              </a:ext>
            </a:extLst>
          </p:cNvPr>
          <p:cNvGrpSpPr/>
          <p:nvPr/>
        </p:nvGrpSpPr>
        <p:grpSpPr>
          <a:xfrm>
            <a:off x="5371994" y="2625403"/>
            <a:ext cx="972375" cy="3366739"/>
            <a:chOff x="6290774" y="1970987"/>
            <a:chExt cx="972375" cy="3420141"/>
          </a:xfrm>
        </p:grpSpPr>
        <p:grpSp>
          <p:nvGrpSpPr>
            <p:cNvPr id="7" name="Group 90">
              <a:extLst>
                <a:ext uri="{FF2B5EF4-FFF2-40B4-BE49-F238E27FC236}">
                  <a16:creationId xmlns:a16="http://schemas.microsoft.com/office/drawing/2014/main" id="{F26DA0DB-FC03-DD98-D5F8-72EE9B6BCEEA}"/>
                </a:ext>
              </a:extLst>
            </p:cNvPr>
            <p:cNvGrpSpPr/>
            <p:nvPr/>
          </p:nvGrpSpPr>
          <p:grpSpPr>
            <a:xfrm>
              <a:off x="6290774" y="1970987"/>
              <a:ext cx="951401" cy="1698625"/>
              <a:chOff x="6290774" y="1970987"/>
              <a:chExt cx="951401" cy="1698625"/>
            </a:xfrm>
          </p:grpSpPr>
          <p:sp>
            <p:nvSpPr>
              <p:cNvPr id="11" name="Rectangle 88">
                <a:extLst>
                  <a:ext uri="{FF2B5EF4-FFF2-40B4-BE49-F238E27FC236}">
                    <a16:creationId xmlns:a16="http://schemas.microsoft.com/office/drawing/2014/main" id="{A465A203-69AE-D0C1-2389-9D61F1BFE19A}"/>
                  </a:ext>
                </a:extLst>
              </p:cNvPr>
              <p:cNvSpPr/>
              <p:nvPr/>
            </p:nvSpPr>
            <p:spPr>
              <a:xfrm>
                <a:off x="6290774" y="2539868"/>
                <a:ext cx="768159" cy="375190"/>
              </a:xfrm>
              <a:prstGeom prst="rect">
                <a:avLst/>
              </a:prstGeom>
            </p:spPr>
            <p:txBody>
              <a:bodyPr wrap="none">
                <a:spAutoFit/>
              </a:bodyPr>
              <a:lstStyle/>
              <a:p>
                <a:r>
                  <a:rPr lang="zh-CN" altLang="en-US" b="1" dirty="0">
                    <a:solidFill>
                      <a:srgbClr val="AB7942"/>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AB7942"/>
                    </a:solidFill>
                    <a:latin typeface="STKaiti" panose="02010600040101010101" pitchFamily="2" charset="-122"/>
                    <a:ea typeface="STKaiti" panose="02010600040101010101" pitchFamily="2" charset="-122"/>
                    <a:sym typeface="Wingdings" pitchFamily="2" charset="2"/>
                  </a:rPr>
                  <a:t>1</a:t>
                </a:r>
                <a:endParaRPr lang="en-CN" dirty="0">
                  <a:ea typeface="SimHei" panose="02010609060101010101" pitchFamily="49" charset="-122"/>
                </a:endParaRPr>
              </a:p>
            </p:txBody>
          </p:sp>
          <p:sp>
            <p:nvSpPr>
              <p:cNvPr id="12" name="Left Brace 89">
                <a:extLst>
                  <a:ext uri="{FF2B5EF4-FFF2-40B4-BE49-F238E27FC236}">
                    <a16:creationId xmlns:a16="http://schemas.microsoft.com/office/drawing/2014/main" id="{EAFAC93D-3C40-7247-C1DA-C50198299DD0}"/>
                  </a:ext>
                </a:extLst>
              </p:cNvPr>
              <p:cNvSpPr/>
              <p:nvPr/>
            </p:nvSpPr>
            <p:spPr>
              <a:xfrm>
                <a:off x="7012294" y="1970987"/>
                <a:ext cx="229881" cy="1698625"/>
              </a:xfrm>
              <a:prstGeom prst="leftBrace">
                <a:avLst>
                  <a:gd name="adj1" fmla="val 61879"/>
                  <a:gd name="adj2" fmla="val 50000"/>
                </a:avLst>
              </a:prstGeom>
              <a:ln w="25400">
                <a:solidFill>
                  <a:srgbClr val="AB79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grpSp>
          <p:nvGrpSpPr>
            <p:cNvPr id="8" name="Group 91">
              <a:extLst>
                <a:ext uri="{FF2B5EF4-FFF2-40B4-BE49-F238E27FC236}">
                  <a16:creationId xmlns:a16="http://schemas.microsoft.com/office/drawing/2014/main" id="{883E5880-C59F-0550-0A94-43278CA3D5C9}"/>
                </a:ext>
              </a:extLst>
            </p:cNvPr>
            <p:cNvGrpSpPr/>
            <p:nvPr/>
          </p:nvGrpSpPr>
          <p:grpSpPr>
            <a:xfrm>
              <a:off x="6310027" y="3692503"/>
              <a:ext cx="953122" cy="1698625"/>
              <a:chOff x="6299686" y="1895375"/>
              <a:chExt cx="953122" cy="1698625"/>
            </a:xfrm>
          </p:grpSpPr>
          <p:sp>
            <p:nvSpPr>
              <p:cNvPr id="9" name="Rectangle 92">
                <a:extLst>
                  <a:ext uri="{FF2B5EF4-FFF2-40B4-BE49-F238E27FC236}">
                    <a16:creationId xmlns:a16="http://schemas.microsoft.com/office/drawing/2014/main" id="{1EB78781-5F32-1E46-80D5-3DEBAD8F8E14}"/>
                  </a:ext>
                </a:extLst>
              </p:cNvPr>
              <p:cNvSpPr/>
              <p:nvPr/>
            </p:nvSpPr>
            <p:spPr>
              <a:xfrm>
                <a:off x="6299686" y="2557213"/>
                <a:ext cx="768159" cy="375190"/>
              </a:xfrm>
              <a:prstGeom prst="rect">
                <a:avLst/>
              </a:prstGeom>
            </p:spPr>
            <p:txBody>
              <a:bodyPr wrap="none">
                <a:spAutoFit/>
              </a:bodyPr>
              <a:lstStyle/>
              <a:p>
                <a:r>
                  <a:rPr lang="zh-CN" altLang="en-US" b="1" dirty="0">
                    <a:solidFill>
                      <a:srgbClr val="AB7942"/>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AB7942"/>
                    </a:solidFill>
                    <a:latin typeface="STKaiti" panose="02010600040101010101" pitchFamily="2" charset="-122"/>
                    <a:ea typeface="STKaiti" panose="02010600040101010101" pitchFamily="2" charset="-122"/>
                    <a:sym typeface="Wingdings" pitchFamily="2" charset="2"/>
                  </a:rPr>
                  <a:t>2</a:t>
                </a:r>
                <a:endParaRPr lang="en-CN" dirty="0">
                  <a:ea typeface="SimHei" panose="02010609060101010101" pitchFamily="49" charset="-122"/>
                </a:endParaRPr>
              </a:p>
            </p:txBody>
          </p:sp>
          <p:sp>
            <p:nvSpPr>
              <p:cNvPr id="10" name="Left Brace 93">
                <a:extLst>
                  <a:ext uri="{FF2B5EF4-FFF2-40B4-BE49-F238E27FC236}">
                    <a16:creationId xmlns:a16="http://schemas.microsoft.com/office/drawing/2014/main" id="{B3B34298-F153-DE44-2DC3-3BB8CF3B0D0D}"/>
                  </a:ext>
                </a:extLst>
              </p:cNvPr>
              <p:cNvSpPr/>
              <p:nvPr/>
            </p:nvSpPr>
            <p:spPr>
              <a:xfrm>
                <a:off x="7022927" y="1895375"/>
                <a:ext cx="229881" cy="1698625"/>
              </a:xfrm>
              <a:prstGeom prst="leftBrace">
                <a:avLst>
                  <a:gd name="adj1" fmla="val 61879"/>
                  <a:gd name="adj2" fmla="val 50000"/>
                </a:avLst>
              </a:prstGeom>
              <a:ln w="25400">
                <a:solidFill>
                  <a:srgbClr val="AB79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gr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4FD5F3B9-DC34-1ED4-83DD-6294099F0C14}"/>
                  </a:ext>
                </a:extLst>
              </p14:cNvPr>
              <p14:cNvContentPartPr/>
              <p14:nvPr/>
            </p14:nvContentPartPr>
            <p14:xfrm>
              <a:off x="2409120" y="3379320"/>
              <a:ext cx="2064240" cy="2343240"/>
            </p14:xfrm>
          </p:contentPart>
        </mc:Choice>
        <mc:Fallback>
          <p:pic>
            <p:nvPicPr>
              <p:cNvPr id="5" name="墨迹 4">
                <a:extLst>
                  <a:ext uri="{FF2B5EF4-FFF2-40B4-BE49-F238E27FC236}">
                    <a16:creationId xmlns:a16="http://schemas.microsoft.com/office/drawing/2014/main" id="{4FD5F3B9-DC34-1ED4-83DD-6294099F0C14}"/>
                  </a:ext>
                </a:extLst>
              </p:cNvPr>
              <p:cNvPicPr/>
              <p:nvPr/>
            </p:nvPicPr>
            <p:blipFill>
              <a:blip r:embed="rId4"/>
              <a:stretch>
                <a:fillRect/>
              </a:stretch>
            </p:blipFill>
            <p:spPr>
              <a:xfrm>
                <a:off x="2399760" y="3369960"/>
                <a:ext cx="2082960" cy="2361960"/>
              </a:xfrm>
              <a:prstGeom prst="rect">
                <a:avLst/>
              </a:prstGeom>
            </p:spPr>
          </p:pic>
        </mc:Fallback>
      </mc:AlternateContent>
    </p:spTree>
    <p:extLst>
      <p:ext uri="{BB962C8B-B14F-4D97-AF65-F5344CB8AC3E}">
        <p14:creationId xmlns:p14="http://schemas.microsoft.com/office/powerpoint/2010/main" val="2401332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47</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65399" y="1383947"/>
            <a:ext cx="8229600" cy="525517"/>
          </a:xfrm>
        </p:spPr>
        <p:txBody>
          <a:bodyPr/>
          <a:lstStyle/>
          <a:p>
            <a:pPr marL="514350" indent="-457200">
              <a:spcBef>
                <a:spcPts val="1000"/>
              </a:spcBef>
            </a:pPr>
            <a:r>
              <a:rPr kumimoji="1" lang="zh-CN" altLang="en-US" sz="2800" dirty="0"/>
              <a:t>组相联映像</a:t>
            </a:r>
            <a:endParaRPr kumimoji="1" lang="en-US" altLang="zh-CN" dirty="0"/>
          </a:p>
        </p:txBody>
      </p:sp>
      <p:grpSp>
        <p:nvGrpSpPr>
          <p:cNvPr id="5" name="组合 4">
            <a:extLst>
              <a:ext uri="{FF2B5EF4-FFF2-40B4-BE49-F238E27FC236}">
                <a16:creationId xmlns:a16="http://schemas.microsoft.com/office/drawing/2014/main" id="{68111054-499C-824E-818F-0D743EB9199C}"/>
              </a:ext>
            </a:extLst>
          </p:cNvPr>
          <p:cNvGrpSpPr/>
          <p:nvPr/>
        </p:nvGrpSpPr>
        <p:grpSpPr>
          <a:xfrm>
            <a:off x="1132492" y="6147826"/>
            <a:ext cx="5747215" cy="482600"/>
            <a:chOff x="277348" y="5868988"/>
            <a:chExt cx="5747215" cy="482600"/>
          </a:xfrm>
        </p:grpSpPr>
        <p:sp>
          <p:nvSpPr>
            <p:cNvPr id="6" name="AutoShape 95">
              <a:extLst>
                <a:ext uri="{FF2B5EF4-FFF2-40B4-BE49-F238E27FC236}">
                  <a16:creationId xmlns:a16="http://schemas.microsoft.com/office/drawing/2014/main" id="{5574272B-664B-C942-9BDF-8EF8C615A733}"/>
                </a:ext>
              </a:extLst>
            </p:cNvPr>
            <p:cNvSpPr>
              <a:spLocks noChangeAspect="1" noChangeArrowheads="1" noTextEdit="1"/>
            </p:cNvSpPr>
            <p:nvPr/>
          </p:nvSpPr>
          <p:spPr bwMode="auto">
            <a:xfrm>
              <a:off x="1603375" y="5868988"/>
              <a:ext cx="4421188" cy="48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 name="Rectangle 96">
              <a:extLst>
                <a:ext uri="{FF2B5EF4-FFF2-40B4-BE49-F238E27FC236}">
                  <a16:creationId xmlns:a16="http://schemas.microsoft.com/office/drawing/2014/main" id="{8209C574-68B7-F447-B047-DF8A366B6251}"/>
                </a:ext>
              </a:extLst>
            </p:cNvPr>
            <p:cNvSpPr>
              <a:spLocks noChangeArrowheads="1"/>
            </p:cNvSpPr>
            <p:nvPr/>
          </p:nvSpPr>
          <p:spPr bwMode="auto">
            <a:xfrm>
              <a:off x="1619250" y="5883275"/>
              <a:ext cx="1627188" cy="450850"/>
            </a:xfrm>
            <a:prstGeom prst="rect">
              <a:avLst/>
            </a:prstGeom>
            <a:solidFill>
              <a:srgbClr val="FF99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8" name="Freeform 97">
              <a:extLst>
                <a:ext uri="{FF2B5EF4-FFF2-40B4-BE49-F238E27FC236}">
                  <a16:creationId xmlns:a16="http://schemas.microsoft.com/office/drawing/2014/main" id="{7B7F196A-364C-794B-AFEA-6FE075C3EE73}"/>
                </a:ext>
              </a:extLst>
            </p:cNvPr>
            <p:cNvSpPr>
              <a:spLocks/>
            </p:cNvSpPr>
            <p:nvPr/>
          </p:nvSpPr>
          <p:spPr bwMode="auto">
            <a:xfrm>
              <a:off x="1619250" y="5883275"/>
              <a:ext cx="1627188" cy="450850"/>
            </a:xfrm>
            <a:custGeom>
              <a:avLst/>
              <a:gdLst>
                <a:gd name="T0" fmla="*/ 0 w 1801"/>
                <a:gd name="T1" fmla="*/ 2147483647 h 536"/>
                <a:gd name="T2" fmla="*/ 2147483647 w 1801"/>
                <a:gd name="T3" fmla="*/ 2147483647 h 536"/>
                <a:gd name="T4" fmla="*/ 2147483647 w 1801"/>
                <a:gd name="T5" fmla="*/ 0 h 536"/>
                <a:gd name="T6" fmla="*/ 0 w 1801"/>
                <a:gd name="T7" fmla="*/ 0 h 536"/>
                <a:gd name="T8" fmla="*/ 0 w 1801"/>
                <a:gd name="T9" fmla="*/ 2147483647 h 536"/>
                <a:gd name="T10" fmla="*/ 0 w 1801"/>
                <a:gd name="T11" fmla="*/ 2147483647 h 5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01" h="536">
                  <a:moveTo>
                    <a:pt x="0" y="536"/>
                  </a:moveTo>
                  <a:lnTo>
                    <a:pt x="1801" y="536"/>
                  </a:lnTo>
                  <a:lnTo>
                    <a:pt x="1801" y="0"/>
                  </a:lnTo>
                  <a:lnTo>
                    <a:pt x="0" y="0"/>
                  </a:lnTo>
                  <a:lnTo>
                    <a:pt x="0" y="536"/>
                  </a:lnTo>
                </a:path>
              </a:pathLst>
            </a:custGeom>
            <a:noFill/>
            <a:ln w="158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9" name="Rectangle 98">
              <a:extLst>
                <a:ext uri="{FF2B5EF4-FFF2-40B4-BE49-F238E27FC236}">
                  <a16:creationId xmlns:a16="http://schemas.microsoft.com/office/drawing/2014/main" id="{8A0B59D2-0C8D-624E-B6F5-EA1C862B31A4}"/>
                </a:ext>
              </a:extLst>
            </p:cNvPr>
            <p:cNvSpPr>
              <a:spLocks noChangeArrowheads="1"/>
            </p:cNvSpPr>
            <p:nvPr/>
          </p:nvSpPr>
          <p:spPr bwMode="auto">
            <a:xfrm>
              <a:off x="2165350" y="5940425"/>
              <a:ext cx="589905"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300" dirty="0">
                  <a:latin typeface="黑体" pitchFamily="2" charset="-122"/>
                  <a:ea typeface="SimHei" panose="02010609060101010101" pitchFamily="49" charset="-122"/>
                </a:rPr>
                <a:t>标签</a:t>
              </a:r>
              <a:endParaRPr lang="zh-CN" altLang="en-US" sz="2700" dirty="0">
                <a:latin typeface="Times New Roman" pitchFamily="18" charset="0"/>
                <a:ea typeface="SimHei" panose="02010609060101010101" pitchFamily="49" charset="-122"/>
              </a:endParaRPr>
            </a:p>
          </p:txBody>
        </p:sp>
        <p:sp>
          <p:nvSpPr>
            <p:cNvPr id="10" name="Rectangle 99">
              <a:extLst>
                <a:ext uri="{FF2B5EF4-FFF2-40B4-BE49-F238E27FC236}">
                  <a16:creationId xmlns:a16="http://schemas.microsoft.com/office/drawing/2014/main" id="{2422FEC8-5074-294D-8FF9-F19AA7755FCB}"/>
                </a:ext>
              </a:extLst>
            </p:cNvPr>
            <p:cNvSpPr>
              <a:spLocks noChangeArrowheads="1"/>
            </p:cNvSpPr>
            <p:nvPr/>
          </p:nvSpPr>
          <p:spPr bwMode="auto">
            <a:xfrm>
              <a:off x="3244850" y="5883275"/>
              <a:ext cx="1136650" cy="450850"/>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1" name="Freeform 100">
              <a:extLst>
                <a:ext uri="{FF2B5EF4-FFF2-40B4-BE49-F238E27FC236}">
                  <a16:creationId xmlns:a16="http://schemas.microsoft.com/office/drawing/2014/main" id="{2520357D-1DA5-2B4F-855D-553BA957F31F}"/>
                </a:ext>
              </a:extLst>
            </p:cNvPr>
            <p:cNvSpPr>
              <a:spLocks/>
            </p:cNvSpPr>
            <p:nvPr/>
          </p:nvSpPr>
          <p:spPr bwMode="auto">
            <a:xfrm>
              <a:off x="3244850" y="5883275"/>
              <a:ext cx="1136650" cy="450850"/>
            </a:xfrm>
            <a:custGeom>
              <a:avLst/>
              <a:gdLst>
                <a:gd name="T0" fmla="*/ 0 w 1259"/>
                <a:gd name="T1" fmla="*/ 2147483647 h 536"/>
                <a:gd name="T2" fmla="*/ 2147483647 w 1259"/>
                <a:gd name="T3" fmla="*/ 2147483647 h 536"/>
                <a:gd name="T4" fmla="*/ 2147483647 w 1259"/>
                <a:gd name="T5" fmla="*/ 0 h 536"/>
                <a:gd name="T6" fmla="*/ 0 w 1259"/>
                <a:gd name="T7" fmla="*/ 0 h 536"/>
                <a:gd name="T8" fmla="*/ 0 w 1259"/>
                <a:gd name="T9" fmla="*/ 2147483647 h 536"/>
                <a:gd name="T10" fmla="*/ 0 w 1259"/>
                <a:gd name="T11" fmla="*/ 2147483647 h 5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59" h="536">
                  <a:moveTo>
                    <a:pt x="0" y="536"/>
                  </a:moveTo>
                  <a:lnTo>
                    <a:pt x="1259" y="536"/>
                  </a:lnTo>
                  <a:lnTo>
                    <a:pt x="1259" y="0"/>
                  </a:lnTo>
                  <a:lnTo>
                    <a:pt x="0" y="0"/>
                  </a:lnTo>
                  <a:lnTo>
                    <a:pt x="0" y="536"/>
                  </a:lnTo>
                </a:path>
              </a:pathLst>
            </a:custGeom>
            <a:noFill/>
            <a:ln w="158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2" name="Rectangle 101">
              <a:extLst>
                <a:ext uri="{FF2B5EF4-FFF2-40B4-BE49-F238E27FC236}">
                  <a16:creationId xmlns:a16="http://schemas.microsoft.com/office/drawing/2014/main" id="{20572293-A1EA-9147-ABFE-2B7C7DE526DE}"/>
                </a:ext>
              </a:extLst>
            </p:cNvPr>
            <p:cNvSpPr>
              <a:spLocks noChangeArrowheads="1"/>
            </p:cNvSpPr>
            <p:nvPr/>
          </p:nvSpPr>
          <p:spPr bwMode="auto">
            <a:xfrm>
              <a:off x="3554413" y="5951538"/>
              <a:ext cx="589905"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300" dirty="0">
                  <a:latin typeface="黑体" pitchFamily="2" charset="-122"/>
                  <a:ea typeface="SimHei" panose="02010609060101010101" pitchFamily="49" charset="-122"/>
                </a:rPr>
                <a:t>组号</a:t>
              </a:r>
              <a:endParaRPr lang="zh-CN" altLang="en-US" sz="2700" dirty="0">
                <a:latin typeface="Times New Roman" pitchFamily="18" charset="0"/>
                <a:ea typeface="SimHei" panose="02010609060101010101" pitchFamily="49" charset="-122"/>
              </a:endParaRPr>
            </a:p>
          </p:txBody>
        </p:sp>
        <p:sp>
          <p:nvSpPr>
            <p:cNvPr id="13" name="Rectangle 102">
              <a:extLst>
                <a:ext uri="{FF2B5EF4-FFF2-40B4-BE49-F238E27FC236}">
                  <a16:creationId xmlns:a16="http://schemas.microsoft.com/office/drawing/2014/main" id="{EDFFE825-2328-5243-BF11-F08665502769}"/>
                </a:ext>
              </a:extLst>
            </p:cNvPr>
            <p:cNvSpPr>
              <a:spLocks noChangeArrowheads="1"/>
            </p:cNvSpPr>
            <p:nvPr/>
          </p:nvSpPr>
          <p:spPr bwMode="auto">
            <a:xfrm>
              <a:off x="4381500" y="5883275"/>
              <a:ext cx="1624013" cy="450850"/>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4" name="Freeform 103">
              <a:extLst>
                <a:ext uri="{FF2B5EF4-FFF2-40B4-BE49-F238E27FC236}">
                  <a16:creationId xmlns:a16="http://schemas.microsoft.com/office/drawing/2014/main" id="{2DA03A57-8F63-E44E-8B32-3DA6134ED9CF}"/>
                </a:ext>
              </a:extLst>
            </p:cNvPr>
            <p:cNvSpPr>
              <a:spLocks/>
            </p:cNvSpPr>
            <p:nvPr/>
          </p:nvSpPr>
          <p:spPr bwMode="auto">
            <a:xfrm>
              <a:off x="4381500" y="5883275"/>
              <a:ext cx="1624013" cy="450850"/>
            </a:xfrm>
            <a:custGeom>
              <a:avLst/>
              <a:gdLst>
                <a:gd name="T0" fmla="*/ 0 w 1800"/>
                <a:gd name="T1" fmla="*/ 2147483647 h 536"/>
                <a:gd name="T2" fmla="*/ 2147483647 w 1800"/>
                <a:gd name="T3" fmla="*/ 2147483647 h 536"/>
                <a:gd name="T4" fmla="*/ 2147483647 w 1800"/>
                <a:gd name="T5" fmla="*/ 0 h 536"/>
                <a:gd name="T6" fmla="*/ 0 w 1800"/>
                <a:gd name="T7" fmla="*/ 0 h 536"/>
                <a:gd name="T8" fmla="*/ 0 w 1800"/>
                <a:gd name="T9" fmla="*/ 2147483647 h 536"/>
                <a:gd name="T10" fmla="*/ 0 w 1800"/>
                <a:gd name="T11" fmla="*/ 2147483647 h 5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00" h="536">
                  <a:moveTo>
                    <a:pt x="0" y="536"/>
                  </a:moveTo>
                  <a:lnTo>
                    <a:pt x="1800" y="536"/>
                  </a:lnTo>
                  <a:lnTo>
                    <a:pt x="1800" y="0"/>
                  </a:lnTo>
                  <a:lnTo>
                    <a:pt x="0" y="0"/>
                  </a:lnTo>
                  <a:lnTo>
                    <a:pt x="0" y="536"/>
                  </a:lnTo>
                </a:path>
              </a:pathLst>
            </a:custGeom>
            <a:noFill/>
            <a:ln w="158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5" name="Rectangle 104">
              <a:extLst>
                <a:ext uri="{FF2B5EF4-FFF2-40B4-BE49-F238E27FC236}">
                  <a16:creationId xmlns:a16="http://schemas.microsoft.com/office/drawing/2014/main" id="{051F8539-469D-7046-BFF5-43EFFDE9919D}"/>
                </a:ext>
              </a:extLst>
            </p:cNvPr>
            <p:cNvSpPr>
              <a:spLocks noChangeArrowheads="1"/>
            </p:cNvSpPr>
            <p:nvPr/>
          </p:nvSpPr>
          <p:spPr bwMode="auto">
            <a:xfrm>
              <a:off x="4676775" y="5951538"/>
              <a:ext cx="1179810"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2300" dirty="0">
                  <a:latin typeface="黑体" pitchFamily="2" charset="-122"/>
                  <a:ea typeface="SimHei" panose="02010609060101010101" pitchFamily="49" charset="-122"/>
                </a:rPr>
                <a:t>块内地址</a:t>
              </a:r>
              <a:endParaRPr lang="zh-CN" altLang="en-US" sz="2700" dirty="0">
                <a:latin typeface="Times New Roman" pitchFamily="18" charset="0"/>
                <a:ea typeface="SimHei" panose="02010609060101010101" pitchFamily="49" charset="-122"/>
              </a:endParaRPr>
            </a:p>
          </p:txBody>
        </p:sp>
        <p:sp>
          <p:nvSpPr>
            <p:cNvPr id="16" name="Text Box 105">
              <a:extLst>
                <a:ext uri="{FF2B5EF4-FFF2-40B4-BE49-F238E27FC236}">
                  <a16:creationId xmlns:a16="http://schemas.microsoft.com/office/drawing/2014/main" id="{49909757-F461-5649-A74B-A35FFACE0AEF}"/>
                </a:ext>
              </a:extLst>
            </p:cNvPr>
            <p:cNvSpPr txBox="1">
              <a:spLocks noChangeArrowheads="1"/>
            </p:cNvSpPr>
            <p:nvPr/>
          </p:nvSpPr>
          <p:spPr bwMode="auto">
            <a:xfrm>
              <a:off x="277348" y="5898353"/>
              <a:ext cx="1646238" cy="4405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spcBef>
                  <a:spcPct val="50000"/>
                </a:spcBef>
              </a:pPr>
              <a:r>
                <a:rPr kumimoji="1" lang="zh-CN" altLang="en-US" sz="2200" dirty="0">
                  <a:latin typeface="Times New Roman" pitchFamily="18" charset="0"/>
                  <a:ea typeface="SimHei" panose="02010609060101010101" pitchFamily="49" charset="-122"/>
                </a:rPr>
                <a:t>主存地址</a:t>
              </a:r>
            </a:p>
          </p:txBody>
        </p:sp>
      </p:grpSp>
      <p:grpSp>
        <p:nvGrpSpPr>
          <p:cNvPr id="17" name="组合 16">
            <a:extLst>
              <a:ext uri="{FF2B5EF4-FFF2-40B4-BE49-F238E27FC236}">
                <a16:creationId xmlns:a16="http://schemas.microsoft.com/office/drawing/2014/main" id="{F692DEB3-F6A8-8049-8F6C-4D15F0D181F4}"/>
              </a:ext>
            </a:extLst>
          </p:cNvPr>
          <p:cNvGrpSpPr/>
          <p:nvPr/>
        </p:nvGrpSpPr>
        <p:grpSpPr>
          <a:xfrm>
            <a:off x="255074" y="1347788"/>
            <a:ext cx="8633851" cy="4577562"/>
            <a:chOff x="609600" y="2178050"/>
            <a:chExt cx="9237663" cy="4676775"/>
          </a:xfrm>
        </p:grpSpPr>
        <p:sp>
          <p:nvSpPr>
            <p:cNvPr id="18" name="Rectangle 4">
              <a:extLst>
                <a:ext uri="{FF2B5EF4-FFF2-40B4-BE49-F238E27FC236}">
                  <a16:creationId xmlns:a16="http://schemas.microsoft.com/office/drawing/2014/main" id="{C7449314-486F-3A4E-B926-D709A6B165C4}"/>
                </a:ext>
              </a:extLst>
            </p:cNvPr>
            <p:cNvSpPr>
              <a:spLocks noChangeArrowheads="1"/>
            </p:cNvSpPr>
            <p:nvPr/>
          </p:nvSpPr>
          <p:spPr bwMode="auto">
            <a:xfrm>
              <a:off x="8678862" y="2178050"/>
              <a:ext cx="493952"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主存</a:t>
              </a:r>
              <a:endParaRPr lang="zh-CN" altLang="en-US" sz="1400" dirty="0">
                <a:latin typeface="Times New Roman" pitchFamily="18" charset="0"/>
                <a:ea typeface="SimHei" panose="02010609060101010101" pitchFamily="49" charset="-122"/>
              </a:endParaRPr>
            </a:p>
          </p:txBody>
        </p:sp>
        <p:sp>
          <p:nvSpPr>
            <p:cNvPr id="19" name="Rectangle 5">
              <a:extLst>
                <a:ext uri="{FF2B5EF4-FFF2-40B4-BE49-F238E27FC236}">
                  <a16:creationId xmlns:a16="http://schemas.microsoft.com/office/drawing/2014/main" id="{EC64AEBA-8D6A-4040-BD34-906D46186963}"/>
                </a:ext>
              </a:extLst>
            </p:cNvPr>
            <p:cNvSpPr>
              <a:spLocks noChangeArrowheads="1"/>
            </p:cNvSpPr>
            <p:nvPr/>
          </p:nvSpPr>
          <p:spPr bwMode="auto">
            <a:xfrm>
              <a:off x="3341068" y="2675735"/>
              <a:ext cx="14046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Cache</a:t>
              </a:r>
              <a:r>
                <a:rPr lang="zh-CN" altLang="en-US" dirty="0">
                  <a:latin typeface="Times New Roman" pitchFamily="18" charset="0"/>
                  <a:ea typeface="SimHei" panose="02010609060101010101" pitchFamily="49" charset="-122"/>
                </a:rPr>
                <a:t>存储体</a:t>
              </a:r>
              <a:endParaRPr lang="en-US" altLang="zh-CN" sz="1400" dirty="0">
                <a:latin typeface="Times New Roman" pitchFamily="18" charset="0"/>
                <a:ea typeface="SimHei" panose="02010609060101010101" pitchFamily="49" charset="-122"/>
              </a:endParaRPr>
            </a:p>
          </p:txBody>
        </p:sp>
        <p:sp>
          <p:nvSpPr>
            <p:cNvPr id="20" name="Rectangle 6">
              <a:extLst>
                <a:ext uri="{FF2B5EF4-FFF2-40B4-BE49-F238E27FC236}">
                  <a16:creationId xmlns:a16="http://schemas.microsoft.com/office/drawing/2014/main" id="{98BA8EF7-5508-D74A-B694-B0D5B4740BEC}"/>
                </a:ext>
              </a:extLst>
            </p:cNvPr>
            <p:cNvSpPr>
              <a:spLocks noChangeArrowheads="1"/>
            </p:cNvSpPr>
            <p:nvPr/>
          </p:nvSpPr>
          <p:spPr bwMode="auto">
            <a:xfrm>
              <a:off x="8094663" y="2552700"/>
              <a:ext cx="1752600" cy="434975"/>
            </a:xfrm>
            <a:prstGeom prst="rect">
              <a:avLst/>
            </a:prstGeom>
            <a:solidFill>
              <a:srgbClr val="FFFF99"/>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21" name="Rectangle 7">
              <a:extLst>
                <a:ext uri="{FF2B5EF4-FFF2-40B4-BE49-F238E27FC236}">
                  <a16:creationId xmlns:a16="http://schemas.microsoft.com/office/drawing/2014/main" id="{2AE692AC-D7F7-5444-AFDF-384BE51A3D9B}"/>
                </a:ext>
              </a:extLst>
            </p:cNvPr>
            <p:cNvSpPr>
              <a:spLocks noChangeArrowheads="1"/>
            </p:cNvSpPr>
            <p:nvPr/>
          </p:nvSpPr>
          <p:spPr bwMode="auto">
            <a:xfrm>
              <a:off x="8612188" y="259873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22" name="Rectangle 8">
              <a:extLst>
                <a:ext uri="{FF2B5EF4-FFF2-40B4-BE49-F238E27FC236}">
                  <a16:creationId xmlns:a16="http://schemas.microsoft.com/office/drawing/2014/main" id="{F4F673FA-C784-2041-9750-B6710E7E6B3F}"/>
                </a:ext>
              </a:extLst>
            </p:cNvPr>
            <p:cNvSpPr>
              <a:spLocks noChangeArrowheads="1"/>
            </p:cNvSpPr>
            <p:nvPr/>
          </p:nvSpPr>
          <p:spPr bwMode="auto">
            <a:xfrm>
              <a:off x="8896350" y="2584450"/>
              <a:ext cx="1234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0</a:t>
              </a:r>
              <a:endParaRPr lang="en-US" altLang="zh-CN" sz="1400" dirty="0">
                <a:latin typeface="Times New Roman" pitchFamily="18" charset="0"/>
                <a:ea typeface="SimHei" panose="02010609060101010101" pitchFamily="49" charset="-122"/>
              </a:endParaRPr>
            </a:p>
          </p:txBody>
        </p:sp>
        <p:sp>
          <p:nvSpPr>
            <p:cNvPr id="23" name="Rectangle 9">
              <a:extLst>
                <a:ext uri="{FF2B5EF4-FFF2-40B4-BE49-F238E27FC236}">
                  <a16:creationId xmlns:a16="http://schemas.microsoft.com/office/drawing/2014/main" id="{A12F0327-CB5D-DF44-A0D4-75DDE80FC036}"/>
                </a:ext>
              </a:extLst>
            </p:cNvPr>
            <p:cNvSpPr>
              <a:spLocks noChangeArrowheads="1"/>
            </p:cNvSpPr>
            <p:nvPr/>
          </p:nvSpPr>
          <p:spPr bwMode="auto">
            <a:xfrm>
              <a:off x="9063038" y="259873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24" name="Rectangle 10">
              <a:extLst>
                <a:ext uri="{FF2B5EF4-FFF2-40B4-BE49-F238E27FC236}">
                  <a16:creationId xmlns:a16="http://schemas.microsoft.com/office/drawing/2014/main" id="{9122E9D6-932C-A244-AA7E-C2841F6A4FB5}"/>
                </a:ext>
              </a:extLst>
            </p:cNvPr>
            <p:cNvSpPr>
              <a:spLocks noChangeArrowheads="1"/>
            </p:cNvSpPr>
            <p:nvPr/>
          </p:nvSpPr>
          <p:spPr bwMode="auto">
            <a:xfrm>
              <a:off x="8094663" y="2973388"/>
              <a:ext cx="1752600" cy="450850"/>
            </a:xfrm>
            <a:prstGeom prst="rect">
              <a:avLst/>
            </a:prstGeom>
            <a:solidFill>
              <a:srgbClr val="CCFFCC"/>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25" name="Rectangle 11">
              <a:extLst>
                <a:ext uri="{FF2B5EF4-FFF2-40B4-BE49-F238E27FC236}">
                  <a16:creationId xmlns:a16="http://schemas.microsoft.com/office/drawing/2014/main" id="{A76895CE-3C7A-3E49-BF71-D5B907E9E1CA}"/>
                </a:ext>
              </a:extLst>
            </p:cNvPr>
            <p:cNvSpPr>
              <a:spLocks noChangeArrowheads="1"/>
            </p:cNvSpPr>
            <p:nvPr/>
          </p:nvSpPr>
          <p:spPr bwMode="auto">
            <a:xfrm>
              <a:off x="8612188" y="303530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26" name="Rectangle 12">
              <a:extLst>
                <a:ext uri="{FF2B5EF4-FFF2-40B4-BE49-F238E27FC236}">
                  <a16:creationId xmlns:a16="http://schemas.microsoft.com/office/drawing/2014/main" id="{57F5A061-4FB1-F043-81FC-C40A3744DB9F}"/>
                </a:ext>
              </a:extLst>
            </p:cNvPr>
            <p:cNvSpPr>
              <a:spLocks noChangeArrowheads="1"/>
            </p:cNvSpPr>
            <p:nvPr/>
          </p:nvSpPr>
          <p:spPr bwMode="auto">
            <a:xfrm>
              <a:off x="8896350" y="3019425"/>
              <a:ext cx="1234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27" name="Rectangle 13">
              <a:extLst>
                <a:ext uri="{FF2B5EF4-FFF2-40B4-BE49-F238E27FC236}">
                  <a16:creationId xmlns:a16="http://schemas.microsoft.com/office/drawing/2014/main" id="{52F38805-29FE-764D-8582-36728318E32E}"/>
                </a:ext>
              </a:extLst>
            </p:cNvPr>
            <p:cNvSpPr>
              <a:spLocks noChangeArrowheads="1"/>
            </p:cNvSpPr>
            <p:nvPr/>
          </p:nvSpPr>
          <p:spPr bwMode="auto">
            <a:xfrm>
              <a:off x="9063038" y="303530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28" name="Rectangle 14">
              <a:extLst>
                <a:ext uri="{FF2B5EF4-FFF2-40B4-BE49-F238E27FC236}">
                  <a16:creationId xmlns:a16="http://schemas.microsoft.com/office/drawing/2014/main" id="{3C82B2EB-CA49-2447-B580-45EE88806DDA}"/>
                </a:ext>
              </a:extLst>
            </p:cNvPr>
            <p:cNvSpPr>
              <a:spLocks noChangeArrowheads="1"/>
            </p:cNvSpPr>
            <p:nvPr/>
          </p:nvSpPr>
          <p:spPr bwMode="auto">
            <a:xfrm>
              <a:off x="1489075" y="3344863"/>
              <a:ext cx="1352550" cy="388937"/>
            </a:xfrm>
            <a:prstGeom prst="rect">
              <a:avLst/>
            </a:prstGeom>
            <a:solidFill>
              <a:srgbClr val="FFFF99"/>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29" name="Rectangle 15">
              <a:extLst>
                <a:ext uri="{FF2B5EF4-FFF2-40B4-BE49-F238E27FC236}">
                  <a16:creationId xmlns:a16="http://schemas.microsoft.com/office/drawing/2014/main" id="{CFCC1D01-6D8E-CE41-9D5F-F5231C06DB81}"/>
                </a:ext>
              </a:extLst>
            </p:cNvPr>
            <p:cNvSpPr>
              <a:spLocks noChangeArrowheads="1"/>
            </p:cNvSpPr>
            <p:nvPr/>
          </p:nvSpPr>
          <p:spPr bwMode="auto">
            <a:xfrm>
              <a:off x="1806575" y="340677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30" name="Rectangle 16">
              <a:extLst>
                <a:ext uri="{FF2B5EF4-FFF2-40B4-BE49-F238E27FC236}">
                  <a16:creationId xmlns:a16="http://schemas.microsoft.com/office/drawing/2014/main" id="{53285F59-E355-CE49-B4A0-ECBF39441F1A}"/>
                </a:ext>
              </a:extLst>
            </p:cNvPr>
            <p:cNvSpPr>
              <a:spLocks noChangeArrowheads="1"/>
            </p:cNvSpPr>
            <p:nvPr/>
          </p:nvSpPr>
          <p:spPr bwMode="auto">
            <a:xfrm>
              <a:off x="2090738" y="3392488"/>
              <a:ext cx="1234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0</a:t>
              </a:r>
              <a:endParaRPr lang="en-US" altLang="zh-CN" sz="1400" dirty="0">
                <a:latin typeface="Times New Roman" pitchFamily="18" charset="0"/>
                <a:ea typeface="SimHei" panose="02010609060101010101" pitchFamily="49" charset="-122"/>
              </a:endParaRPr>
            </a:p>
          </p:txBody>
        </p:sp>
        <p:sp>
          <p:nvSpPr>
            <p:cNvPr id="31" name="Rectangle 17">
              <a:extLst>
                <a:ext uri="{FF2B5EF4-FFF2-40B4-BE49-F238E27FC236}">
                  <a16:creationId xmlns:a16="http://schemas.microsoft.com/office/drawing/2014/main" id="{757BA387-AA77-314B-A0D6-275ED8EA1E1C}"/>
                </a:ext>
              </a:extLst>
            </p:cNvPr>
            <p:cNvSpPr>
              <a:spLocks noChangeArrowheads="1"/>
            </p:cNvSpPr>
            <p:nvPr/>
          </p:nvSpPr>
          <p:spPr bwMode="auto">
            <a:xfrm>
              <a:off x="2259014" y="340677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32" name="Rectangle 18">
              <a:extLst>
                <a:ext uri="{FF2B5EF4-FFF2-40B4-BE49-F238E27FC236}">
                  <a16:creationId xmlns:a16="http://schemas.microsoft.com/office/drawing/2014/main" id="{2128F2D9-8DA1-2149-B4C1-67380163196A}"/>
                </a:ext>
              </a:extLst>
            </p:cNvPr>
            <p:cNvSpPr>
              <a:spLocks noChangeArrowheads="1"/>
            </p:cNvSpPr>
            <p:nvPr/>
          </p:nvSpPr>
          <p:spPr bwMode="auto">
            <a:xfrm>
              <a:off x="8094663" y="3424238"/>
              <a:ext cx="1752600" cy="436562"/>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33" name="Rectangle 19">
              <a:extLst>
                <a:ext uri="{FF2B5EF4-FFF2-40B4-BE49-F238E27FC236}">
                  <a16:creationId xmlns:a16="http://schemas.microsoft.com/office/drawing/2014/main" id="{E28EA4C9-915A-F249-A279-3C29A6B6FE73}"/>
                </a:ext>
              </a:extLst>
            </p:cNvPr>
            <p:cNvSpPr>
              <a:spLocks noChangeArrowheads="1"/>
            </p:cNvSpPr>
            <p:nvPr/>
          </p:nvSpPr>
          <p:spPr bwMode="auto">
            <a:xfrm>
              <a:off x="8845550" y="3471863"/>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34" name="Rectangle 20">
              <a:extLst>
                <a:ext uri="{FF2B5EF4-FFF2-40B4-BE49-F238E27FC236}">
                  <a16:creationId xmlns:a16="http://schemas.microsoft.com/office/drawing/2014/main" id="{D26B542A-FF6D-D44D-BDF0-B2B49426689F}"/>
                </a:ext>
              </a:extLst>
            </p:cNvPr>
            <p:cNvSpPr>
              <a:spLocks noChangeArrowheads="1"/>
            </p:cNvSpPr>
            <p:nvPr/>
          </p:nvSpPr>
          <p:spPr bwMode="auto">
            <a:xfrm>
              <a:off x="1489075" y="3717925"/>
              <a:ext cx="1352550" cy="388938"/>
            </a:xfrm>
            <a:prstGeom prst="rect">
              <a:avLst/>
            </a:prstGeom>
            <a:solidFill>
              <a:srgbClr val="CCFFCC"/>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35" name="Rectangle 21">
              <a:extLst>
                <a:ext uri="{FF2B5EF4-FFF2-40B4-BE49-F238E27FC236}">
                  <a16:creationId xmlns:a16="http://schemas.microsoft.com/office/drawing/2014/main" id="{DECC5C2C-AA7D-8640-9C9F-76441202AB96}"/>
                </a:ext>
              </a:extLst>
            </p:cNvPr>
            <p:cNvSpPr>
              <a:spLocks noChangeArrowheads="1"/>
            </p:cNvSpPr>
            <p:nvPr/>
          </p:nvSpPr>
          <p:spPr bwMode="auto">
            <a:xfrm>
              <a:off x="1806575" y="378142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36" name="Rectangle 22">
              <a:extLst>
                <a:ext uri="{FF2B5EF4-FFF2-40B4-BE49-F238E27FC236}">
                  <a16:creationId xmlns:a16="http://schemas.microsoft.com/office/drawing/2014/main" id="{705C3308-1F68-E64A-BCA2-C223F1EE88B6}"/>
                </a:ext>
              </a:extLst>
            </p:cNvPr>
            <p:cNvSpPr>
              <a:spLocks noChangeArrowheads="1"/>
            </p:cNvSpPr>
            <p:nvPr/>
          </p:nvSpPr>
          <p:spPr bwMode="auto">
            <a:xfrm>
              <a:off x="2090738" y="3765550"/>
              <a:ext cx="1234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n</a:t>
              </a:r>
              <a:endParaRPr lang="en-US" altLang="zh-CN" sz="1400" dirty="0">
                <a:latin typeface="Times New Roman" pitchFamily="18" charset="0"/>
                <a:ea typeface="SimHei" panose="02010609060101010101" pitchFamily="49" charset="-122"/>
              </a:endParaRPr>
            </a:p>
          </p:txBody>
        </p:sp>
        <p:sp>
          <p:nvSpPr>
            <p:cNvPr id="37" name="Rectangle 23">
              <a:extLst>
                <a:ext uri="{FF2B5EF4-FFF2-40B4-BE49-F238E27FC236}">
                  <a16:creationId xmlns:a16="http://schemas.microsoft.com/office/drawing/2014/main" id="{1D322791-DC57-964C-B382-799674B9D9EB}"/>
                </a:ext>
              </a:extLst>
            </p:cNvPr>
            <p:cNvSpPr>
              <a:spLocks noChangeArrowheads="1"/>
            </p:cNvSpPr>
            <p:nvPr/>
          </p:nvSpPr>
          <p:spPr bwMode="auto">
            <a:xfrm>
              <a:off x="2259014" y="378142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38" name="Rectangle 24">
              <a:extLst>
                <a:ext uri="{FF2B5EF4-FFF2-40B4-BE49-F238E27FC236}">
                  <a16:creationId xmlns:a16="http://schemas.microsoft.com/office/drawing/2014/main" id="{D70E1751-1A16-0845-B9A9-12843A89207C}"/>
                </a:ext>
              </a:extLst>
            </p:cNvPr>
            <p:cNvSpPr>
              <a:spLocks noChangeArrowheads="1"/>
            </p:cNvSpPr>
            <p:nvPr/>
          </p:nvSpPr>
          <p:spPr bwMode="auto">
            <a:xfrm>
              <a:off x="8094663" y="3860800"/>
              <a:ext cx="1752600" cy="434975"/>
            </a:xfrm>
            <a:prstGeom prst="rect">
              <a:avLst/>
            </a:prstGeom>
            <a:solidFill>
              <a:srgbClr val="CCFFFF"/>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39" name="Rectangle 25">
              <a:extLst>
                <a:ext uri="{FF2B5EF4-FFF2-40B4-BE49-F238E27FC236}">
                  <a16:creationId xmlns:a16="http://schemas.microsoft.com/office/drawing/2014/main" id="{988B34A0-F10B-FE47-9700-21D4DC92DD63}"/>
                </a:ext>
              </a:extLst>
            </p:cNvPr>
            <p:cNvSpPr>
              <a:spLocks noChangeArrowheads="1"/>
            </p:cNvSpPr>
            <p:nvPr/>
          </p:nvSpPr>
          <p:spPr bwMode="auto">
            <a:xfrm>
              <a:off x="8478838" y="390683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40" name="Rectangle 26">
              <a:extLst>
                <a:ext uri="{FF2B5EF4-FFF2-40B4-BE49-F238E27FC236}">
                  <a16:creationId xmlns:a16="http://schemas.microsoft.com/office/drawing/2014/main" id="{104EE0D7-275B-2641-9C6B-088F69FBF0B8}"/>
                </a:ext>
              </a:extLst>
            </p:cNvPr>
            <p:cNvSpPr>
              <a:spLocks noChangeArrowheads="1"/>
            </p:cNvSpPr>
            <p:nvPr/>
          </p:nvSpPr>
          <p:spPr bwMode="auto">
            <a:xfrm>
              <a:off x="8761413" y="3892550"/>
              <a:ext cx="192092"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m</a:t>
              </a:r>
              <a:endParaRPr lang="en-US" altLang="zh-CN" sz="1400" dirty="0">
                <a:latin typeface="Times New Roman" pitchFamily="18" charset="0"/>
                <a:ea typeface="SimHei" panose="02010609060101010101" pitchFamily="49" charset="-122"/>
              </a:endParaRPr>
            </a:p>
          </p:txBody>
        </p:sp>
        <p:sp>
          <p:nvSpPr>
            <p:cNvPr id="41" name="Rectangle 27">
              <a:extLst>
                <a:ext uri="{FF2B5EF4-FFF2-40B4-BE49-F238E27FC236}">
                  <a16:creationId xmlns:a16="http://schemas.microsoft.com/office/drawing/2014/main" id="{85502EC4-121F-9E4F-8C14-668AA6EE25A8}"/>
                </a:ext>
              </a:extLst>
            </p:cNvPr>
            <p:cNvSpPr>
              <a:spLocks noChangeArrowheads="1"/>
            </p:cNvSpPr>
            <p:nvPr/>
          </p:nvSpPr>
          <p:spPr bwMode="auto">
            <a:xfrm>
              <a:off x="8932863" y="3902075"/>
              <a:ext cx="147499"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Courier New" pitchFamily="49"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42" name="Rectangle 28">
              <a:extLst>
                <a:ext uri="{FF2B5EF4-FFF2-40B4-BE49-F238E27FC236}">
                  <a16:creationId xmlns:a16="http://schemas.microsoft.com/office/drawing/2014/main" id="{FD5A848B-02A2-E541-870B-D4FB578655CE}"/>
                </a:ext>
              </a:extLst>
            </p:cNvPr>
            <p:cNvSpPr>
              <a:spLocks noChangeArrowheads="1"/>
            </p:cNvSpPr>
            <p:nvPr/>
          </p:nvSpPr>
          <p:spPr bwMode="auto">
            <a:xfrm>
              <a:off x="9067800" y="3902075"/>
              <a:ext cx="1234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43" name="Rectangle 29">
              <a:extLst>
                <a:ext uri="{FF2B5EF4-FFF2-40B4-BE49-F238E27FC236}">
                  <a16:creationId xmlns:a16="http://schemas.microsoft.com/office/drawing/2014/main" id="{F3D1F15A-4C42-EB49-82E9-F02A8105CD94}"/>
                </a:ext>
              </a:extLst>
            </p:cNvPr>
            <p:cNvSpPr>
              <a:spLocks noChangeArrowheads="1"/>
            </p:cNvSpPr>
            <p:nvPr/>
          </p:nvSpPr>
          <p:spPr bwMode="auto">
            <a:xfrm>
              <a:off x="9213851" y="390683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44" name="Rectangle 30">
              <a:extLst>
                <a:ext uri="{FF2B5EF4-FFF2-40B4-BE49-F238E27FC236}">
                  <a16:creationId xmlns:a16="http://schemas.microsoft.com/office/drawing/2014/main" id="{A764A82F-8AFF-9B42-AEA2-6E72759B76D5}"/>
                </a:ext>
              </a:extLst>
            </p:cNvPr>
            <p:cNvSpPr>
              <a:spLocks noChangeArrowheads="1"/>
            </p:cNvSpPr>
            <p:nvPr/>
          </p:nvSpPr>
          <p:spPr bwMode="auto">
            <a:xfrm>
              <a:off x="8094663" y="4295775"/>
              <a:ext cx="1752600" cy="838200"/>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5" name="Rectangle 31">
              <a:extLst>
                <a:ext uri="{FF2B5EF4-FFF2-40B4-BE49-F238E27FC236}">
                  <a16:creationId xmlns:a16="http://schemas.microsoft.com/office/drawing/2014/main" id="{55BB112D-2312-2C44-A8FB-6FBF5689D166}"/>
                </a:ext>
              </a:extLst>
            </p:cNvPr>
            <p:cNvSpPr>
              <a:spLocks noChangeArrowheads="1"/>
            </p:cNvSpPr>
            <p:nvPr/>
          </p:nvSpPr>
          <p:spPr bwMode="auto">
            <a:xfrm>
              <a:off x="8866188" y="6286500"/>
              <a:ext cx="301860" cy="3458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2200" dirty="0">
                  <a:latin typeface="Times New Roman" pitchFamily="18" charset="0"/>
                  <a:ea typeface="SimHei" panose="02010609060101010101" pitchFamily="49" charset="-122"/>
                </a:rPr>
                <a:t>…</a:t>
              </a:r>
            </a:p>
          </p:txBody>
        </p:sp>
        <p:sp>
          <p:nvSpPr>
            <p:cNvPr id="46" name="Rectangle 32">
              <a:extLst>
                <a:ext uri="{FF2B5EF4-FFF2-40B4-BE49-F238E27FC236}">
                  <a16:creationId xmlns:a16="http://schemas.microsoft.com/office/drawing/2014/main" id="{1A7C9EBF-A7AC-474B-9325-2398CEE49C2F}"/>
                </a:ext>
              </a:extLst>
            </p:cNvPr>
            <p:cNvSpPr>
              <a:spLocks noChangeArrowheads="1"/>
            </p:cNvSpPr>
            <p:nvPr/>
          </p:nvSpPr>
          <p:spPr bwMode="auto">
            <a:xfrm>
              <a:off x="1489075" y="4106863"/>
              <a:ext cx="1352550" cy="388937"/>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7" name="Rectangle 33">
              <a:extLst>
                <a:ext uri="{FF2B5EF4-FFF2-40B4-BE49-F238E27FC236}">
                  <a16:creationId xmlns:a16="http://schemas.microsoft.com/office/drawing/2014/main" id="{B4F79241-5327-8F4B-A4E1-A61AC0E0282C}"/>
                </a:ext>
              </a:extLst>
            </p:cNvPr>
            <p:cNvSpPr>
              <a:spLocks noChangeArrowheads="1"/>
            </p:cNvSpPr>
            <p:nvPr/>
          </p:nvSpPr>
          <p:spPr bwMode="auto">
            <a:xfrm>
              <a:off x="2039938" y="415448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48" name="Rectangle 34">
              <a:extLst>
                <a:ext uri="{FF2B5EF4-FFF2-40B4-BE49-F238E27FC236}">
                  <a16:creationId xmlns:a16="http://schemas.microsoft.com/office/drawing/2014/main" id="{F4EB1F5D-8CEB-AC47-B63F-447233942574}"/>
                </a:ext>
              </a:extLst>
            </p:cNvPr>
            <p:cNvSpPr>
              <a:spLocks noChangeArrowheads="1"/>
            </p:cNvSpPr>
            <p:nvPr/>
          </p:nvSpPr>
          <p:spPr bwMode="auto">
            <a:xfrm>
              <a:off x="8094663" y="4295775"/>
              <a:ext cx="1752600" cy="450850"/>
            </a:xfrm>
            <a:prstGeom prst="rect">
              <a:avLst/>
            </a:prstGeom>
            <a:solidFill>
              <a:srgbClr val="FFFF99"/>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49" name="Rectangle 35">
              <a:extLst>
                <a:ext uri="{FF2B5EF4-FFF2-40B4-BE49-F238E27FC236}">
                  <a16:creationId xmlns:a16="http://schemas.microsoft.com/office/drawing/2014/main" id="{E1EB58A2-443E-8041-B23F-DD93D3AA7531}"/>
                </a:ext>
              </a:extLst>
            </p:cNvPr>
            <p:cNvSpPr>
              <a:spLocks noChangeArrowheads="1"/>
            </p:cNvSpPr>
            <p:nvPr/>
          </p:nvSpPr>
          <p:spPr bwMode="auto">
            <a:xfrm>
              <a:off x="8712200" y="436880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50" name="Rectangle 36">
              <a:extLst>
                <a:ext uri="{FF2B5EF4-FFF2-40B4-BE49-F238E27FC236}">
                  <a16:creationId xmlns:a16="http://schemas.microsoft.com/office/drawing/2014/main" id="{B7F52383-22AD-1941-87EB-5CE0B3E8233D}"/>
                </a:ext>
              </a:extLst>
            </p:cNvPr>
            <p:cNvSpPr>
              <a:spLocks noChangeArrowheads="1"/>
            </p:cNvSpPr>
            <p:nvPr/>
          </p:nvSpPr>
          <p:spPr bwMode="auto">
            <a:xfrm>
              <a:off x="8936038" y="4364037"/>
              <a:ext cx="192092"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m</a:t>
              </a:r>
              <a:endParaRPr lang="en-US" altLang="zh-CN" sz="1400" dirty="0">
                <a:latin typeface="Times New Roman" pitchFamily="18" charset="0"/>
                <a:ea typeface="SimHei" panose="02010609060101010101" pitchFamily="49" charset="-122"/>
              </a:endParaRPr>
            </a:p>
          </p:txBody>
        </p:sp>
        <p:sp>
          <p:nvSpPr>
            <p:cNvPr id="51" name="Rectangle 37">
              <a:extLst>
                <a:ext uri="{FF2B5EF4-FFF2-40B4-BE49-F238E27FC236}">
                  <a16:creationId xmlns:a16="http://schemas.microsoft.com/office/drawing/2014/main" id="{DF4818EE-1A0E-E947-978C-53A700E75DB5}"/>
                </a:ext>
              </a:extLst>
            </p:cNvPr>
            <p:cNvSpPr>
              <a:spLocks noChangeArrowheads="1"/>
            </p:cNvSpPr>
            <p:nvPr/>
          </p:nvSpPr>
          <p:spPr bwMode="auto">
            <a:xfrm>
              <a:off x="9147175" y="4368800"/>
              <a:ext cx="2301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defTabSz="1009650"/>
              <a:r>
                <a:rPr lang="zh-CN" altLang="en-US"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52" name="Rectangle 38">
              <a:extLst>
                <a:ext uri="{FF2B5EF4-FFF2-40B4-BE49-F238E27FC236}">
                  <a16:creationId xmlns:a16="http://schemas.microsoft.com/office/drawing/2014/main" id="{7F1597BC-AB73-D446-A3DF-DE43AC3A4915}"/>
                </a:ext>
              </a:extLst>
            </p:cNvPr>
            <p:cNvSpPr>
              <a:spLocks noChangeArrowheads="1"/>
            </p:cNvSpPr>
            <p:nvPr/>
          </p:nvSpPr>
          <p:spPr bwMode="auto">
            <a:xfrm>
              <a:off x="1489075" y="4481513"/>
              <a:ext cx="1352550" cy="388937"/>
            </a:xfrm>
            <a:prstGeom prst="rect">
              <a:avLst/>
            </a:prstGeom>
            <a:solidFill>
              <a:srgbClr val="CCFFFF"/>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53" name="Rectangle 39">
              <a:extLst>
                <a:ext uri="{FF2B5EF4-FFF2-40B4-BE49-F238E27FC236}">
                  <a16:creationId xmlns:a16="http://schemas.microsoft.com/office/drawing/2014/main" id="{3C38C5A6-8216-5F47-BA22-D29488230561}"/>
                </a:ext>
              </a:extLst>
            </p:cNvPr>
            <p:cNvSpPr>
              <a:spLocks noChangeArrowheads="1"/>
            </p:cNvSpPr>
            <p:nvPr/>
          </p:nvSpPr>
          <p:spPr bwMode="auto">
            <a:xfrm>
              <a:off x="8094663" y="4746625"/>
              <a:ext cx="1752600" cy="436563"/>
            </a:xfrm>
            <a:prstGeom prst="rect">
              <a:avLst/>
            </a:prstGeom>
            <a:solidFill>
              <a:srgbClr val="CCFFCC"/>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54" name="Rectangle 40">
              <a:extLst>
                <a:ext uri="{FF2B5EF4-FFF2-40B4-BE49-F238E27FC236}">
                  <a16:creationId xmlns:a16="http://schemas.microsoft.com/office/drawing/2014/main" id="{BCA8FA8F-D4FE-714B-897A-1CE7F0C9F38A}"/>
                </a:ext>
              </a:extLst>
            </p:cNvPr>
            <p:cNvSpPr>
              <a:spLocks noChangeArrowheads="1"/>
            </p:cNvSpPr>
            <p:nvPr/>
          </p:nvSpPr>
          <p:spPr bwMode="auto">
            <a:xfrm>
              <a:off x="8615363" y="479425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55" name="Rectangle 41">
              <a:extLst>
                <a:ext uri="{FF2B5EF4-FFF2-40B4-BE49-F238E27FC236}">
                  <a16:creationId xmlns:a16="http://schemas.microsoft.com/office/drawing/2014/main" id="{B09F3982-0CD7-AD43-8AFC-BF0C114981C0}"/>
                </a:ext>
              </a:extLst>
            </p:cNvPr>
            <p:cNvSpPr>
              <a:spLocks noChangeArrowheads="1"/>
            </p:cNvSpPr>
            <p:nvPr/>
          </p:nvSpPr>
          <p:spPr bwMode="auto">
            <a:xfrm>
              <a:off x="8904288" y="4789488"/>
              <a:ext cx="454504"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m+1</a:t>
              </a:r>
              <a:endParaRPr lang="en-US" altLang="zh-CN" sz="1400" dirty="0">
                <a:latin typeface="Times New Roman" pitchFamily="18" charset="0"/>
                <a:ea typeface="SimHei" panose="02010609060101010101" pitchFamily="49" charset="-122"/>
              </a:endParaRPr>
            </a:p>
          </p:txBody>
        </p:sp>
        <p:sp>
          <p:nvSpPr>
            <p:cNvPr id="56" name="Rectangle 42">
              <a:extLst>
                <a:ext uri="{FF2B5EF4-FFF2-40B4-BE49-F238E27FC236}">
                  <a16:creationId xmlns:a16="http://schemas.microsoft.com/office/drawing/2014/main" id="{D591DDFD-332C-A34D-9217-791F9F15E00E}"/>
                </a:ext>
              </a:extLst>
            </p:cNvPr>
            <p:cNvSpPr>
              <a:spLocks noChangeArrowheads="1"/>
            </p:cNvSpPr>
            <p:nvPr/>
          </p:nvSpPr>
          <p:spPr bwMode="auto">
            <a:xfrm>
              <a:off x="9336089" y="479425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57" name="Rectangle 43">
              <a:extLst>
                <a:ext uri="{FF2B5EF4-FFF2-40B4-BE49-F238E27FC236}">
                  <a16:creationId xmlns:a16="http://schemas.microsoft.com/office/drawing/2014/main" id="{F4E40C44-9523-A442-9CE8-6BD66153D96E}"/>
                </a:ext>
              </a:extLst>
            </p:cNvPr>
            <p:cNvSpPr>
              <a:spLocks noChangeArrowheads="1"/>
            </p:cNvSpPr>
            <p:nvPr/>
          </p:nvSpPr>
          <p:spPr bwMode="auto">
            <a:xfrm>
              <a:off x="8094663" y="5167313"/>
              <a:ext cx="1752600" cy="452437"/>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58" name="Rectangle 44">
              <a:extLst>
                <a:ext uri="{FF2B5EF4-FFF2-40B4-BE49-F238E27FC236}">
                  <a16:creationId xmlns:a16="http://schemas.microsoft.com/office/drawing/2014/main" id="{141ADD96-6BE2-0B49-8B4E-82CE072B4D29}"/>
                </a:ext>
              </a:extLst>
            </p:cNvPr>
            <p:cNvSpPr>
              <a:spLocks noChangeArrowheads="1"/>
            </p:cNvSpPr>
            <p:nvPr/>
          </p:nvSpPr>
          <p:spPr bwMode="auto">
            <a:xfrm>
              <a:off x="8845550" y="5230813"/>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59" name="Rectangle 45">
              <a:extLst>
                <a:ext uri="{FF2B5EF4-FFF2-40B4-BE49-F238E27FC236}">
                  <a16:creationId xmlns:a16="http://schemas.microsoft.com/office/drawing/2014/main" id="{7302305A-7C30-5A4C-A7CE-FCBFCFA65B6B}"/>
                </a:ext>
              </a:extLst>
            </p:cNvPr>
            <p:cNvSpPr>
              <a:spLocks noChangeArrowheads="1"/>
            </p:cNvSpPr>
            <p:nvPr/>
          </p:nvSpPr>
          <p:spPr bwMode="auto">
            <a:xfrm>
              <a:off x="8094663" y="5603875"/>
              <a:ext cx="1752600" cy="450850"/>
            </a:xfrm>
            <a:prstGeom prst="rect">
              <a:avLst/>
            </a:prstGeom>
            <a:solidFill>
              <a:srgbClr val="CCFFFF"/>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60" name="Rectangle 46">
              <a:extLst>
                <a:ext uri="{FF2B5EF4-FFF2-40B4-BE49-F238E27FC236}">
                  <a16:creationId xmlns:a16="http://schemas.microsoft.com/office/drawing/2014/main" id="{3EB5AD6A-39EA-DF45-B32F-23D0E7944A14}"/>
                </a:ext>
              </a:extLst>
            </p:cNvPr>
            <p:cNvSpPr>
              <a:spLocks noChangeArrowheads="1"/>
            </p:cNvSpPr>
            <p:nvPr/>
          </p:nvSpPr>
          <p:spPr bwMode="auto">
            <a:xfrm>
              <a:off x="8431213" y="566578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61" name="Rectangle 47">
              <a:extLst>
                <a:ext uri="{FF2B5EF4-FFF2-40B4-BE49-F238E27FC236}">
                  <a16:creationId xmlns:a16="http://schemas.microsoft.com/office/drawing/2014/main" id="{0CD7D79D-791B-7942-B521-079500AA3402}"/>
                </a:ext>
              </a:extLst>
            </p:cNvPr>
            <p:cNvSpPr>
              <a:spLocks noChangeArrowheads="1"/>
            </p:cNvSpPr>
            <p:nvPr/>
          </p:nvSpPr>
          <p:spPr bwMode="auto">
            <a:xfrm>
              <a:off x="8715375" y="5661025"/>
              <a:ext cx="315581"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2m</a:t>
              </a:r>
              <a:endParaRPr lang="en-US" altLang="zh-CN" sz="1400" dirty="0">
                <a:latin typeface="Times New Roman" pitchFamily="18" charset="0"/>
                <a:ea typeface="SimHei" panose="02010609060101010101" pitchFamily="49" charset="-122"/>
              </a:endParaRPr>
            </a:p>
          </p:txBody>
        </p:sp>
        <p:sp>
          <p:nvSpPr>
            <p:cNvPr id="62" name="Rectangle 48">
              <a:extLst>
                <a:ext uri="{FF2B5EF4-FFF2-40B4-BE49-F238E27FC236}">
                  <a16:creationId xmlns:a16="http://schemas.microsoft.com/office/drawing/2014/main" id="{57A4277F-236A-EC43-A427-694DFD95A545}"/>
                </a:ext>
              </a:extLst>
            </p:cNvPr>
            <p:cNvSpPr>
              <a:spLocks noChangeArrowheads="1"/>
            </p:cNvSpPr>
            <p:nvPr/>
          </p:nvSpPr>
          <p:spPr bwMode="auto">
            <a:xfrm>
              <a:off x="9021763" y="5651500"/>
              <a:ext cx="308720"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SimHei" panose="02010609060101010101" pitchFamily="49" charset="-122"/>
                  <a:ea typeface="SimHei" panose="02010609060101010101" pitchFamily="49" charset="-122"/>
                </a:rPr>
                <a:t>-</a:t>
              </a:r>
              <a:r>
                <a:rPr lang="en-US" altLang="zh-CN" dirty="0">
                  <a:latin typeface="Times New Roman" pitchFamily="18" charset="0"/>
                  <a:ea typeface="SimHei" panose="02010609060101010101" pitchFamily="49" charset="-122"/>
                </a:rPr>
                <a:t>1 </a:t>
              </a:r>
              <a:endParaRPr lang="en-US" altLang="zh-CN" sz="1400" dirty="0">
                <a:latin typeface="Times New Roman" pitchFamily="18" charset="0"/>
                <a:ea typeface="SimHei" panose="02010609060101010101" pitchFamily="49" charset="-122"/>
              </a:endParaRPr>
            </a:p>
          </p:txBody>
        </p:sp>
        <p:sp>
          <p:nvSpPr>
            <p:cNvPr id="63" name="Rectangle 49">
              <a:extLst>
                <a:ext uri="{FF2B5EF4-FFF2-40B4-BE49-F238E27FC236}">
                  <a16:creationId xmlns:a16="http://schemas.microsoft.com/office/drawing/2014/main" id="{777628EE-947D-994E-BEC6-F7E9164E91DC}"/>
                </a:ext>
              </a:extLst>
            </p:cNvPr>
            <p:cNvSpPr>
              <a:spLocks noChangeArrowheads="1"/>
            </p:cNvSpPr>
            <p:nvPr/>
          </p:nvSpPr>
          <p:spPr bwMode="auto">
            <a:xfrm>
              <a:off x="9324975" y="566578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块</a:t>
              </a:r>
              <a:endParaRPr lang="zh-CN" altLang="en-US" sz="1400" dirty="0">
                <a:latin typeface="Times New Roman" pitchFamily="18" charset="0"/>
                <a:ea typeface="SimHei" panose="02010609060101010101" pitchFamily="49" charset="-122"/>
              </a:endParaRPr>
            </a:p>
          </p:txBody>
        </p:sp>
        <p:sp>
          <p:nvSpPr>
            <p:cNvPr id="64" name="Line 50">
              <a:extLst>
                <a:ext uri="{FF2B5EF4-FFF2-40B4-BE49-F238E27FC236}">
                  <a16:creationId xmlns:a16="http://schemas.microsoft.com/office/drawing/2014/main" id="{30B602B5-50AB-C340-9AFC-DD721B0FDB7E}"/>
                </a:ext>
              </a:extLst>
            </p:cNvPr>
            <p:cNvSpPr>
              <a:spLocks noChangeShapeType="1"/>
            </p:cNvSpPr>
            <p:nvPr/>
          </p:nvSpPr>
          <p:spPr bwMode="auto">
            <a:xfrm flipH="1">
              <a:off x="6411913" y="2863850"/>
              <a:ext cx="1682750" cy="700088"/>
            </a:xfrm>
            <a:prstGeom prst="line">
              <a:avLst/>
            </a:prstGeom>
            <a:noFill/>
            <a:ln w="14288">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65" name="Line 51">
              <a:extLst>
                <a:ext uri="{FF2B5EF4-FFF2-40B4-BE49-F238E27FC236}">
                  <a16:creationId xmlns:a16="http://schemas.microsoft.com/office/drawing/2014/main" id="{223FCFB1-1183-4044-B37E-FC407412C8C9}"/>
                </a:ext>
              </a:extLst>
            </p:cNvPr>
            <p:cNvSpPr>
              <a:spLocks noChangeShapeType="1"/>
            </p:cNvSpPr>
            <p:nvPr/>
          </p:nvSpPr>
          <p:spPr bwMode="auto">
            <a:xfrm flipH="1">
              <a:off x="6424613" y="3203575"/>
              <a:ext cx="1673225" cy="735013"/>
            </a:xfrm>
            <a:prstGeom prst="line">
              <a:avLst/>
            </a:prstGeom>
            <a:noFill/>
            <a:ln w="14288">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66" name="Line 52">
              <a:extLst>
                <a:ext uri="{FF2B5EF4-FFF2-40B4-BE49-F238E27FC236}">
                  <a16:creationId xmlns:a16="http://schemas.microsoft.com/office/drawing/2014/main" id="{E85C0C2E-7A41-DD41-B0F0-EBB112512555}"/>
                </a:ext>
              </a:extLst>
            </p:cNvPr>
            <p:cNvSpPr>
              <a:spLocks noChangeShapeType="1"/>
            </p:cNvSpPr>
            <p:nvPr/>
          </p:nvSpPr>
          <p:spPr bwMode="auto">
            <a:xfrm>
              <a:off x="6411913" y="4713288"/>
              <a:ext cx="1692275" cy="1120775"/>
            </a:xfrm>
            <a:prstGeom prst="line">
              <a:avLst/>
            </a:prstGeom>
            <a:noFill/>
            <a:ln w="14288">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67" name="Line 53">
              <a:extLst>
                <a:ext uri="{FF2B5EF4-FFF2-40B4-BE49-F238E27FC236}">
                  <a16:creationId xmlns:a16="http://schemas.microsoft.com/office/drawing/2014/main" id="{67A7F16B-A4C4-7140-A0B2-298F624C45B3}"/>
                </a:ext>
              </a:extLst>
            </p:cNvPr>
            <p:cNvSpPr>
              <a:spLocks noChangeShapeType="1"/>
            </p:cNvSpPr>
            <p:nvPr/>
          </p:nvSpPr>
          <p:spPr bwMode="auto">
            <a:xfrm>
              <a:off x="6400800" y="3540125"/>
              <a:ext cx="1714500" cy="1031875"/>
            </a:xfrm>
            <a:prstGeom prst="line">
              <a:avLst/>
            </a:prstGeom>
            <a:noFill/>
            <a:ln w="14288">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68" name="Line 54">
              <a:extLst>
                <a:ext uri="{FF2B5EF4-FFF2-40B4-BE49-F238E27FC236}">
                  <a16:creationId xmlns:a16="http://schemas.microsoft.com/office/drawing/2014/main" id="{6E0C3DAC-8183-1A40-9DBF-4291315CE367}"/>
                </a:ext>
              </a:extLst>
            </p:cNvPr>
            <p:cNvSpPr>
              <a:spLocks noChangeShapeType="1"/>
            </p:cNvSpPr>
            <p:nvPr/>
          </p:nvSpPr>
          <p:spPr bwMode="auto">
            <a:xfrm>
              <a:off x="6400800" y="3906838"/>
              <a:ext cx="1703388" cy="992187"/>
            </a:xfrm>
            <a:prstGeom prst="line">
              <a:avLst/>
            </a:prstGeom>
            <a:noFill/>
            <a:ln w="14288">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69" name="Line 55">
              <a:extLst>
                <a:ext uri="{FF2B5EF4-FFF2-40B4-BE49-F238E27FC236}">
                  <a16:creationId xmlns:a16="http://schemas.microsoft.com/office/drawing/2014/main" id="{BB898BEA-73A2-2D40-B579-5F6A44424D5D}"/>
                </a:ext>
              </a:extLst>
            </p:cNvPr>
            <p:cNvSpPr>
              <a:spLocks noChangeShapeType="1"/>
            </p:cNvSpPr>
            <p:nvPr/>
          </p:nvSpPr>
          <p:spPr bwMode="auto">
            <a:xfrm flipH="1">
              <a:off x="6411913" y="4187825"/>
              <a:ext cx="1682750" cy="542925"/>
            </a:xfrm>
            <a:prstGeom prst="line">
              <a:avLst/>
            </a:prstGeom>
            <a:noFill/>
            <a:ln w="14288">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70" name="Line 56">
              <a:extLst>
                <a:ext uri="{FF2B5EF4-FFF2-40B4-BE49-F238E27FC236}">
                  <a16:creationId xmlns:a16="http://schemas.microsoft.com/office/drawing/2014/main" id="{FA677A29-C30B-194A-9B70-75F268006E68}"/>
                </a:ext>
              </a:extLst>
            </p:cNvPr>
            <p:cNvSpPr>
              <a:spLocks noChangeShapeType="1"/>
            </p:cNvSpPr>
            <p:nvPr/>
          </p:nvSpPr>
          <p:spPr bwMode="auto">
            <a:xfrm>
              <a:off x="8091488" y="6049963"/>
              <a:ext cx="0" cy="78740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71" name="Line 57">
              <a:extLst>
                <a:ext uri="{FF2B5EF4-FFF2-40B4-BE49-F238E27FC236}">
                  <a16:creationId xmlns:a16="http://schemas.microsoft.com/office/drawing/2014/main" id="{ED046EDD-CD59-FB4D-B046-DE0F4C5D0BB7}"/>
                </a:ext>
              </a:extLst>
            </p:cNvPr>
            <p:cNvSpPr>
              <a:spLocks noChangeShapeType="1"/>
            </p:cNvSpPr>
            <p:nvPr/>
          </p:nvSpPr>
          <p:spPr bwMode="auto">
            <a:xfrm>
              <a:off x="9844088" y="6067425"/>
              <a:ext cx="0" cy="78740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72" name="Rectangle 58">
              <a:extLst>
                <a:ext uri="{FF2B5EF4-FFF2-40B4-BE49-F238E27FC236}">
                  <a16:creationId xmlns:a16="http://schemas.microsoft.com/office/drawing/2014/main" id="{08C651E4-5A02-4049-8326-3FCA0AB2D1F4}"/>
                </a:ext>
              </a:extLst>
            </p:cNvPr>
            <p:cNvSpPr>
              <a:spLocks noChangeArrowheads="1"/>
            </p:cNvSpPr>
            <p:nvPr/>
          </p:nvSpPr>
          <p:spPr bwMode="auto">
            <a:xfrm>
              <a:off x="2840038" y="3341688"/>
              <a:ext cx="1352550" cy="388937"/>
            </a:xfrm>
            <a:prstGeom prst="rect">
              <a:avLst/>
            </a:prstGeom>
            <a:solidFill>
              <a:srgbClr val="FFFF99"/>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73" name="Rectangle 59">
              <a:extLst>
                <a:ext uri="{FF2B5EF4-FFF2-40B4-BE49-F238E27FC236}">
                  <a16:creationId xmlns:a16="http://schemas.microsoft.com/office/drawing/2014/main" id="{EF9A4B33-1B17-1943-8C1A-2B4C7813F4CB}"/>
                </a:ext>
              </a:extLst>
            </p:cNvPr>
            <p:cNvSpPr>
              <a:spLocks noChangeArrowheads="1"/>
            </p:cNvSpPr>
            <p:nvPr/>
          </p:nvSpPr>
          <p:spPr bwMode="auto">
            <a:xfrm>
              <a:off x="3157538" y="340360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74" name="Rectangle 60">
              <a:extLst>
                <a:ext uri="{FF2B5EF4-FFF2-40B4-BE49-F238E27FC236}">
                  <a16:creationId xmlns:a16="http://schemas.microsoft.com/office/drawing/2014/main" id="{C6715B60-3F5B-4848-89D7-EDADD11C6FBB}"/>
                </a:ext>
              </a:extLst>
            </p:cNvPr>
            <p:cNvSpPr>
              <a:spLocks noChangeArrowheads="1"/>
            </p:cNvSpPr>
            <p:nvPr/>
          </p:nvSpPr>
          <p:spPr bwMode="auto">
            <a:xfrm>
              <a:off x="3441700" y="3389313"/>
              <a:ext cx="123488"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1</a:t>
              </a:r>
              <a:endParaRPr lang="en-US" altLang="zh-CN" sz="1400" dirty="0">
                <a:latin typeface="Times New Roman" pitchFamily="18" charset="0"/>
                <a:ea typeface="SimHei" panose="02010609060101010101" pitchFamily="49" charset="-122"/>
              </a:endParaRPr>
            </a:p>
          </p:txBody>
        </p:sp>
        <p:sp>
          <p:nvSpPr>
            <p:cNvPr id="75" name="Rectangle 61">
              <a:extLst>
                <a:ext uri="{FF2B5EF4-FFF2-40B4-BE49-F238E27FC236}">
                  <a16:creationId xmlns:a16="http://schemas.microsoft.com/office/drawing/2014/main" id="{DE947B96-65F1-6441-94C4-A82B8D1A4F5A}"/>
                </a:ext>
              </a:extLst>
            </p:cNvPr>
            <p:cNvSpPr>
              <a:spLocks noChangeArrowheads="1"/>
            </p:cNvSpPr>
            <p:nvPr/>
          </p:nvSpPr>
          <p:spPr bwMode="auto">
            <a:xfrm>
              <a:off x="3609975" y="340360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76" name="Rectangle 62">
              <a:extLst>
                <a:ext uri="{FF2B5EF4-FFF2-40B4-BE49-F238E27FC236}">
                  <a16:creationId xmlns:a16="http://schemas.microsoft.com/office/drawing/2014/main" id="{44646780-AD46-B44B-96C1-0E3E1C58E863}"/>
                </a:ext>
              </a:extLst>
            </p:cNvPr>
            <p:cNvSpPr>
              <a:spLocks noChangeArrowheads="1"/>
            </p:cNvSpPr>
            <p:nvPr/>
          </p:nvSpPr>
          <p:spPr bwMode="auto">
            <a:xfrm>
              <a:off x="2840038" y="3714750"/>
              <a:ext cx="1352550" cy="388938"/>
            </a:xfrm>
            <a:prstGeom prst="rect">
              <a:avLst/>
            </a:prstGeom>
            <a:solidFill>
              <a:srgbClr val="CCFFCC"/>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77" name="Rectangle 63">
              <a:extLst>
                <a:ext uri="{FF2B5EF4-FFF2-40B4-BE49-F238E27FC236}">
                  <a16:creationId xmlns:a16="http://schemas.microsoft.com/office/drawing/2014/main" id="{C1345B08-A559-354B-A06C-1D77DC779F91}"/>
                </a:ext>
              </a:extLst>
            </p:cNvPr>
            <p:cNvSpPr>
              <a:spLocks noChangeArrowheads="1"/>
            </p:cNvSpPr>
            <p:nvPr/>
          </p:nvSpPr>
          <p:spPr bwMode="auto">
            <a:xfrm>
              <a:off x="3081338" y="377825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78" name="Rectangle 64">
              <a:extLst>
                <a:ext uri="{FF2B5EF4-FFF2-40B4-BE49-F238E27FC236}">
                  <a16:creationId xmlns:a16="http://schemas.microsoft.com/office/drawing/2014/main" id="{C26766E3-5A67-4E43-A41F-E85E58614984}"/>
                </a:ext>
              </a:extLst>
            </p:cNvPr>
            <p:cNvSpPr>
              <a:spLocks noChangeArrowheads="1"/>
            </p:cNvSpPr>
            <p:nvPr/>
          </p:nvSpPr>
          <p:spPr bwMode="auto">
            <a:xfrm>
              <a:off x="3365500" y="3762375"/>
              <a:ext cx="385900"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n+1</a:t>
              </a:r>
              <a:endParaRPr lang="en-US" altLang="zh-CN" sz="1400" dirty="0">
                <a:latin typeface="Times New Roman" pitchFamily="18" charset="0"/>
                <a:ea typeface="SimHei" panose="02010609060101010101" pitchFamily="49" charset="-122"/>
              </a:endParaRPr>
            </a:p>
          </p:txBody>
        </p:sp>
        <p:sp>
          <p:nvSpPr>
            <p:cNvPr id="79" name="Rectangle 65">
              <a:extLst>
                <a:ext uri="{FF2B5EF4-FFF2-40B4-BE49-F238E27FC236}">
                  <a16:creationId xmlns:a16="http://schemas.microsoft.com/office/drawing/2014/main" id="{72BC5B62-8D3A-0C4C-AF0D-365CE6C70D9D}"/>
                </a:ext>
              </a:extLst>
            </p:cNvPr>
            <p:cNvSpPr>
              <a:spLocks noChangeArrowheads="1"/>
            </p:cNvSpPr>
            <p:nvPr/>
          </p:nvSpPr>
          <p:spPr bwMode="auto">
            <a:xfrm>
              <a:off x="3729038" y="377825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80" name="Rectangle 66">
              <a:extLst>
                <a:ext uri="{FF2B5EF4-FFF2-40B4-BE49-F238E27FC236}">
                  <a16:creationId xmlns:a16="http://schemas.microsoft.com/office/drawing/2014/main" id="{149F2E7D-9EC1-364B-BA03-86FAD4703056}"/>
                </a:ext>
              </a:extLst>
            </p:cNvPr>
            <p:cNvSpPr>
              <a:spLocks noChangeArrowheads="1"/>
            </p:cNvSpPr>
            <p:nvPr/>
          </p:nvSpPr>
          <p:spPr bwMode="auto">
            <a:xfrm>
              <a:off x="2840038" y="4103688"/>
              <a:ext cx="1352550" cy="388937"/>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81" name="Rectangle 67">
              <a:extLst>
                <a:ext uri="{FF2B5EF4-FFF2-40B4-BE49-F238E27FC236}">
                  <a16:creationId xmlns:a16="http://schemas.microsoft.com/office/drawing/2014/main" id="{55A13428-4249-0046-A85D-3724E650B2D0}"/>
                </a:ext>
              </a:extLst>
            </p:cNvPr>
            <p:cNvSpPr>
              <a:spLocks noChangeArrowheads="1"/>
            </p:cNvSpPr>
            <p:nvPr/>
          </p:nvSpPr>
          <p:spPr bwMode="auto">
            <a:xfrm>
              <a:off x="3390900" y="4151313"/>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82" name="Rectangle 68">
              <a:extLst>
                <a:ext uri="{FF2B5EF4-FFF2-40B4-BE49-F238E27FC236}">
                  <a16:creationId xmlns:a16="http://schemas.microsoft.com/office/drawing/2014/main" id="{E5893CEC-CA48-5443-8617-B2AE80B11A89}"/>
                </a:ext>
              </a:extLst>
            </p:cNvPr>
            <p:cNvSpPr>
              <a:spLocks noChangeArrowheads="1"/>
            </p:cNvSpPr>
            <p:nvPr/>
          </p:nvSpPr>
          <p:spPr bwMode="auto">
            <a:xfrm>
              <a:off x="2840038" y="4478338"/>
              <a:ext cx="1352550" cy="388937"/>
            </a:xfrm>
            <a:prstGeom prst="rect">
              <a:avLst/>
            </a:prstGeom>
            <a:solidFill>
              <a:srgbClr val="CCFFFF"/>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83" name="Rectangle 69">
              <a:extLst>
                <a:ext uri="{FF2B5EF4-FFF2-40B4-BE49-F238E27FC236}">
                  <a16:creationId xmlns:a16="http://schemas.microsoft.com/office/drawing/2014/main" id="{B0564701-7DE5-7049-84E8-D72B429B3717}"/>
                </a:ext>
              </a:extLst>
            </p:cNvPr>
            <p:cNvSpPr>
              <a:spLocks noChangeArrowheads="1"/>
            </p:cNvSpPr>
            <p:nvPr/>
          </p:nvSpPr>
          <p:spPr bwMode="auto">
            <a:xfrm>
              <a:off x="5057775" y="3338513"/>
              <a:ext cx="1352550" cy="388937"/>
            </a:xfrm>
            <a:prstGeom prst="rect">
              <a:avLst/>
            </a:prstGeom>
            <a:solidFill>
              <a:srgbClr val="FFFF99"/>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84" name="Rectangle 70">
              <a:extLst>
                <a:ext uri="{FF2B5EF4-FFF2-40B4-BE49-F238E27FC236}">
                  <a16:creationId xmlns:a16="http://schemas.microsoft.com/office/drawing/2014/main" id="{28854C93-0BD8-574A-AE26-A35307CFE4A9}"/>
                </a:ext>
              </a:extLst>
            </p:cNvPr>
            <p:cNvSpPr>
              <a:spLocks noChangeArrowheads="1"/>
            </p:cNvSpPr>
            <p:nvPr/>
          </p:nvSpPr>
          <p:spPr bwMode="auto">
            <a:xfrm>
              <a:off x="5341938" y="340042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85" name="Rectangle 71">
              <a:extLst>
                <a:ext uri="{FF2B5EF4-FFF2-40B4-BE49-F238E27FC236}">
                  <a16:creationId xmlns:a16="http://schemas.microsoft.com/office/drawing/2014/main" id="{2F37D0FE-63B9-B74A-8A1C-6B04BC7571D3}"/>
                </a:ext>
              </a:extLst>
            </p:cNvPr>
            <p:cNvSpPr>
              <a:spLocks noChangeArrowheads="1"/>
            </p:cNvSpPr>
            <p:nvPr/>
          </p:nvSpPr>
          <p:spPr bwMode="auto">
            <a:xfrm>
              <a:off x="5626100" y="3384550"/>
              <a:ext cx="329302"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n-1</a:t>
              </a:r>
              <a:endParaRPr lang="en-US" altLang="zh-CN" sz="1400" dirty="0">
                <a:latin typeface="Times New Roman" pitchFamily="18" charset="0"/>
                <a:ea typeface="SimHei" panose="02010609060101010101" pitchFamily="49" charset="-122"/>
              </a:endParaRPr>
            </a:p>
          </p:txBody>
        </p:sp>
        <p:sp>
          <p:nvSpPr>
            <p:cNvPr id="86" name="Rectangle 72">
              <a:extLst>
                <a:ext uri="{FF2B5EF4-FFF2-40B4-BE49-F238E27FC236}">
                  <a16:creationId xmlns:a16="http://schemas.microsoft.com/office/drawing/2014/main" id="{BA30652E-8C1A-E54D-BBB5-74976F1803E7}"/>
                </a:ext>
              </a:extLst>
            </p:cNvPr>
            <p:cNvSpPr>
              <a:spLocks noChangeArrowheads="1"/>
            </p:cNvSpPr>
            <p:nvPr/>
          </p:nvSpPr>
          <p:spPr bwMode="auto">
            <a:xfrm>
              <a:off x="5956299" y="340042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87" name="Rectangle 73">
              <a:extLst>
                <a:ext uri="{FF2B5EF4-FFF2-40B4-BE49-F238E27FC236}">
                  <a16:creationId xmlns:a16="http://schemas.microsoft.com/office/drawing/2014/main" id="{13F6D31B-1BBE-3C4D-AF7D-86D23C5466E1}"/>
                </a:ext>
              </a:extLst>
            </p:cNvPr>
            <p:cNvSpPr>
              <a:spLocks noChangeArrowheads="1"/>
            </p:cNvSpPr>
            <p:nvPr/>
          </p:nvSpPr>
          <p:spPr bwMode="auto">
            <a:xfrm>
              <a:off x="5057775" y="3711575"/>
              <a:ext cx="1352550" cy="388938"/>
            </a:xfrm>
            <a:prstGeom prst="rect">
              <a:avLst/>
            </a:prstGeom>
            <a:solidFill>
              <a:srgbClr val="CCFFCC"/>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88" name="Rectangle 74">
              <a:extLst>
                <a:ext uri="{FF2B5EF4-FFF2-40B4-BE49-F238E27FC236}">
                  <a16:creationId xmlns:a16="http://schemas.microsoft.com/office/drawing/2014/main" id="{178ABEDA-80FB-7344-8907-2CF2F1403728}"/>
                </a:ext>
              </a:extLst>
            </p:cNvPr>
            <p:cNvSpPr>
              <a:spLocks noChangeArrowheads="1"/>
            </p:cNvSpPr>
            <p:nvPr/>
          </p:nvSpPr>
          <p:spPr bwMode="auto">
            <a:xfrm>
              <a:off x="5287963" y="377348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第</a:t>
              </a:r>
              <a:endParaRPr lang="zh-CN" altLang="en-US" sz="1400" dirty="0">
                <a:latin typeface="Times New Roman" pitchFamily="18" charset="0"/>
                <a:ea typeface="SimHei" panose="02010609060101010101" pitchFamily="49" charset="-122"/>
              </a:endParaRPr>
            </a:p>
          </p:txBody>
        </p:sp>
        <p:sp>
          <p:nvSpPr>
            <p:cNvPr id="89" name="Rectangle 75">
              <a:extLst>
                <a:ext uri="{FF2B5EF4-FFF2-40B4-BE49-F238E27FC236}">
                  <a16:creationId xmlns:a16="http://schemas.microsoft.com/office/drawing/2014/main" id="{E93BD2BF-B67A-4E4D-B4B1-4AD0B9A41F9C}"/>
                </a:ext>
              </a:extLst>
            </p:cNvPr>
            <p:cNvSpPr>
              <a:spLocks noChangeArrowheads="1"/>
            </p:cNvSpPr>
            <p:nvPr/>
          </p:nvSpPr>
          <p:spPr bwMode="auto">
            <a:xfrm>
              <a:off x="5572125" y="3759200"/>
              <a:ext cx="452789"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2n-1</a:t>
              </a:r>
              <a:endParaRPr lang="en-US" altLang="zh-CN" sz="1400" dirty="0">
                <a:latin typeface="Times New Roman" pitchFamily="18" charset="0"/>
                <a:ea typeface="SimHei" panose="02010609060101010101" pitchFamily="49" charset="-122"/>
              </a:endParaRPr>
            </a:p>
          </p:txBody>
        </p:sp>
        <p:sp>
          <p:nvSpPr>
            <p:cNvPr id="90" name="Rectangle 76">
              <a:extLst>
                <a:ext uri="{FF2B5EF4-FFF2-40B4-BE49-F238E27FC236}">
                  <a16:creationId xmlns:a16="http://schemas.microsoft.com/office/drawing/2014/main" id="{162B98C5-3C71-DC49-AEFC-E0612B3FC734}"/>
                </a:ext>
              </a:extLst>
            </p:cNvPr>
            <p:cNvSpPr>
              <a:spLocks noChangeArrowheads="1"/>
            </p:cNvSpPr>
            <p:nvPr/>
          </p:nvSpPr>
          <p:spPr bwMode="auto">
            <a:xfrm>
              <a:off x="6043613" y="377348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SimHei" panose="02010609060101010101" pitchFamily="49" charset="-122"/>
                  <a:ea typeface="SimHei" panose="02010609060101010101" pitchFamily="49" charset="-122"/>
                </a:rPr>
                <a:t>行</a:t>
              </a:r>
              <a:endParaRPr lang="zh-CN" altLang="en-US" sz="1400" dirty="0">
                <a:latin typeface="Times New Roman" pitchFamily="18" charset="0"/>
                <a:ea typeface="SimHei" panose="02010609060101010101" pitchFamily="49" charset="-122"/>
              </a:endParaRPr>
            </a:p>
          </p:txBody>
        </p:sp>
        <p:sp>
          <p:nvSpPr>
            <p:cNvPr id="91" name="Rectangle 77">
              <a:extLst>
                <a:ext uri="{FF2B5EF4-FFF2-40B4-BE49-F238E27FC236}">
                  <a16:creationId xmlns:a16="http://schemas.microsoft.com/office/drawing/2014/main" id="{C1D9406B-7699-454C-92EB-709702A89A08}"/>
                </a:ext>
              </a:extLst>
            </p:cNvPr>
            <p:cNvSpPr>
              <a:spLocks noChangeArrowheads="1"/>
            </p:cNvSpPr>
            <p:nvPr/>
          </p:nvSpPr>
          <p:spPr bwMode="auto">
            <a:xfrm>
              <a:off x="5057775" y="4100513"/>
              <a:ext cx="1352550" cy="388937"/>
            </a:xfrm>
            <a:prstGeom prst="rect">
              <a:avLst/>
            </a:prstGeom>
            <a:noFill/>
            <a:ln w="14288">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92" name="Rectangle 78">
              <a:extLst>
                <a:ext uri="{FF2B5EF4-FFF2-40B4-BE49-F238E27FC236}">
                  <a16:creationId xmlns:a16="http://schemas.microsoft.com/office/drawing/2014/main" id="{E0943B5D-DB42-914A-808A-2CA891DA4A34}"/>
                </a:ext>
              </a:extLst>
            </p:cNvPr>
            <p:cNvSpPr>
              <a:spLocks noChangeArrowheads="1"/>
            </p:cNvSpPr>
            <p:nvPr/>
          </p:nvSpPr>
          <p:spPr bwMode="auto">
            <a:xfrm>
              <a:off x="5608638" y="414813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93" name="Rectangle 79">
              <a:extLst>
                <a:ext uri="{FF2B5EF4-FFF2-40B4-BE49-F238E27FC236}">
                  <a16:creationId xmlns:a16="http://schemas.microsoft.com/office/drawing/2014/main" id="{F56B1BE0-059D-D442-93A9-4587885E8392}"/>
                </a:ext>
              </a:extLst>
            </p:cNvPr>
            <p:cNvSpPr>
              <a:spLocks noChangeArrowheads="1"/>
            </p:cNvSpPr>
            <p:nvPr/>
          </p:nvSpPr>
          <p:spPr bwMode="auto">
            <a:xfrm>
              <a:off x="5057775" y="4475163"/>
              <a:ext cx="1352550" cy="388937"/>
            </a:xfrm>
            <a:prstGeom prst="rect">
              <a:avLst/>
            </a:prstGeom>
            <a:solidFill>
              <a:srgbClr val="CCFFFF"/>
            </a:solidFill>
            <a:ln w="14288">
              <a:solidFill>
                <a:srgbClr val="000000"/>
              </a:solidFill>
              <a:miter lim="800000"/>
              <a:headEnd/>
              <a:tailEnd/>
            </a:ln>
          </p:spPr>
          <p:txBody>
            <a:bodyPr/>
            <a:lstStyle/>
            <a:p>
              <a:endParaRPr lang="zh-CN" altLang="en-US" dirty="0">
                <a:ea typeface="SimHei" panose="02010609060101010101" pitchFamily="49" charset="-122"/>
              </a:endParaRPr>
            </a:p>
          </p:txBody>
        </p:sp>
        <p:sp>
          <p:nvSpPr>
            <p:cNvPr id="94" name="Rectangle 80">
              <a:extLst>
                <a:ext uri="{FF2B5EF4-FFF2-40B4-BE49-F238E27FC236}">
                  <a16:creationId xmlns:a16="http://schemas.microsoft.com/office/drawing/2014/main" id="{85C13519-CA30-3A4E-9C69-80D358CF1C64}"/>
                </a:ext>
              </a:extLst>
            </p:cNvPr>
            <p:cNvSpPr>
              <a:spLocks noChangeArrowheads="1"/>
            </p:cNvSpPr>
            <p:nvPr/>
          </p:nvSpPr>
          <p:spPr bwMode="auto">
            <a:xfrm>
              <a:off x="1682750" y="4567238"/>
              <a:ext cx="1143978" cy="267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700" dirty="0">
                  <a:latin typeface="Times New Roman" pitchFamily="18" charset="0"/>
                  <a:ea typeface="SimHei" panose="02010609060101010101" pitchFamily="49" charset="-122"/>
                </a:rPr>
                <a:t>第</a:t>
              </a:r>
              <a:r>
                <a:rPr lang="en-US" altLang="zh-CN" sz="1700" dirty="0">
                  <a:latin typeface="Times New Roman" pitchFamily="18" charset="0"/>
                  <a:ea typeface="SimHei" panose="02010609060101010101" pitchFamily="49" charset="-122"/>
                </a:rPr>
                <a:t>(m-1)n</a:t>
              </a:r>
              <a:r>
                <a:rPr lang="zh-CN" altLang="en-US" sz="1700" dirty="0">
                  <a:latin typeface="Times New Roman" pitchFamily="18" charset="0"/>
                  <a:ea typeface="SimHei" panose="02010609060101010101" pitchFamily="49" charset="-122"/>
                </a:rPr>
                <a:t>行</a:t>
              </a:r>
            </a:p>
          </p:txBody>
        </p:sp>
        <p:sp>
          <p:nvSpPr>
            <p:cNvPr id="95" name="Rectangle 81">
              <a:extLst>
                <a:ext uri="{FF2B5EF4-FFF2-40B4-BE49-F238E27FC236}">
                  <a16:creationId xmlns:a16="http://schemas.microsoft.com/office/drawing/2014/main" id="{3E98763A-F1C4-D945-B255-A098AAA86BE6}"/>
                </a:ext>
              </a:extLst>
            </p:cNvPr>
            <p:cNvSpPr>
              <a:spLocks noChangeArrowheads="1"/>
            </p:cNvSpPr>
            <p:nvPr/>
          </p:nvSpPr>
          <p:spPr bwMode="auto">
            <a:xfrm>
              <a:off x="2860675" y="4564063"/>
              <a:ext cx="1392669" cy="267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700" dirty="0">
                  <a:latin typeface="Times New Roman" pitchFamily="18" charset="0"/>
                  <a:ea typeface="SimHei" panose="02010609060101010101" pitchFamily="49" charset="-122"/>
                </a:rPr>
                <a:t>第</a:t>
              </a:r>
              <a:r>
                <a:rPr lang="en-US" altLang="zh-CN" sz="1700" dirty="0">
                  <a:latin typeface="Times New Roman" pitchFamily="18" charset="0"/>
                  <a:ea typeface="SimHei" panose="02010609060101010101" pitchFamily="49" charset="-122"/>
                </a:rPr>
                <a:t>(m-1)n+1</a:t>
              </a:r>
              <a:r>
                <a:rPr lang="zh-CN" altLang="en-US" sz="1700" dirty="0">
                  <a:latin typeface="Times New Roman" pitchFamily="18" charset="0"/>
                  <a:ea typeface="SimHei" panose="02010609060101010101" pitchFamily="49" charset="-122"/>
                </a:rPr>
                <a:t>行</a:t>
              </a:r>
            </a:p>
          </p:txBody>
        </p:sp>
        <p:sp>
          <p:nvSpPr>
            <p:cNvPr id="96" name="Rectangle 82">
              <a:extLst>
                <a:ext uri="{FF2B5EF4-FFF2-40B4-BE49-F238E27FC236}">
                  <a16:creationId xmlns:a16="http://schemas.microsoft.com/office/drawing/2014/main" id="{16C314D1-B9EA-7F4C-9C4B-024016024FC0}"/>
                </a:ext>
              </a:extLst>
            </p:cNvPr>
            <p:cNvSpPr>
              <a:spLocks noChangeArrowheads="1"/>
            </p:cNvSpPr>
            <p:nvPr/>
          </p:nvSpPr>
          <p:spPr bwMode="auto">
            <a:xfrm>
              <a:off x="5272088" y="4549775"/>
              <a:ext cx="989619" cy="267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700" dirty="0">
                  <a:latin typeface="Times New Roman" pitchFamily="18" charset="0"/>
                  <a:ea typeface="SimHei" panose="02010609060101010101" pitchFamily="49" charset="-122"/>
                </a:rPr>
                <a:t>第</a:t>
              </a:r>
              <a:r>
                <a:rPr lang="en-US" altLang="zh-CN" sz="1700" dirty="0">
                  <a:latin typeface="Times New Roman" pitchFamily="18" charset="0"/>
                  <a:ea typeface="SimHei" panose="02010609060101010101" pitchFamily="49" charset="-122"/>
                </a:rPr>
                <a:t>mn-1</a:t>
              </a:r>
              <a:r>
                <a:rPr lang="zh-CN" altLang="en-US" sz="1700" dirty="0">
                  <a:latin typeface="Times New Roman" pitchFamily="18" charset="0"/>
                  <a:ea typeface="SimHei" panose="02010609060101010101" pitchFamily="49" charset="-122"/>
                </a:rPr>
                <a:t>行</a:t>
              </a:r>
            </a:p>
          </p:txBody>
        </p:sp>
        <p:sp>
          <p:nvSpPr>
            <p:cNvPr id="97" name="Rectangle 83">
              <a:extLst>
                <a:ext uri="{FF2B5EF4-FFF2-40B4-BE49-F238E27FC236}">
                  <a16:creationId xmlns:a16="http://schemas.microsoft.com/office/drawing/2014/main" id="{766CE62C-EE07-AC47-BE4C-C50EC8668C73}"/>
                </a:ext>
              </a:extLst>
            </p:cNvPr>
            <p:cNvSpPr>
              <a:spLocks noChangeArrowheads="1"/>
            </p:cNvSpPr>
            <p:nvPr/>
          </p:nvSpPr>
          <p:spPr bwMode="auto">
            <a:xfrm>
              <a:off x="4513263" y="3360738"/>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98" name="Rectangle 84">
              <a:extLst>
                <a:ext uri="{FF2B5EF4-FFF2-40B4-BE49-F238E27FC236}">
                  <a16:creationId xmlns:a16="http://schemas.microsoft.com/office/drawing/2014/main" id="{E290FB0D-AFA9-B741-B97D-A4AC243F7418}"/>
                </a:ext>
              </a:extLst>
            </p:cNvPr>
            <p:cNvSpPr>
              <a:spLocks noChangeArrowheads="1"/>
            </p:cNvSpPr>
            <p:nvPr/>
          </p:nvSpPr>
          <p:spPr bwMode="auto">
            <a:xfrm>
              <a:off x="4521200" y="372110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99" name="Rectangle 85">
              <a:extLst>
                <a:ext uri="{FF2B5EF4-FFF2-40B4-BE49-F238E27FC236}">
                  <a16:creationId xmlns:a16="http://schemas.microsoft.com/office/drawing/2014/main" id="{7B23ABA2-98B1-3142-816B-244C473FA23B}"/>
                </a:ext>
              </a:extLst>
            </p:cNvPr>
            <p:cNvSpPr>
              <a:spLocks noChangeArrowheads="1"/>
            </p:cNvSpPr>
            <p:nvPr/>
          </p:nvSpPr>
          <p:spPr bwMode="auto">
            <a:xfrm>
              <a:off x="4518025" y="4130675"/>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100" name="Rectangle 86">
              <a:extLst>
                <a:ext uri="{FF2B5EF4-FFF2-40B4-BE49-F238E27FC236}">
                  <a16:creationId xmlns:a16="http://schemas.microsoft.com/office/drawing/2014/main" id="{E95DCB7B-6AEE-6A40-8FC5-AFA8A9B1BDF5}"/>
                </a:ext>
              </a:extLst>
            </p:cNvPr>
            <p:cNvSpPr>
              <a:spLocks noChangeArrowheads="1"/>
            </p:cNvSpPr>
            <p:nvPr/>
          </p:nvSpPr>
          <p:spPr bwMode="auto">
            <a:xfrm>
              <a:off x="4513263" y="4502150"/>
              <a:ext cx="246975"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dirty="0">
                  <a:latin typeface="Times New Roman" pitchFamily="18" charset="0"/>
                  <a:ea typeface="SimHei" panose="02010609060101010101" pitchFamily="49" charset="-122"/>
                </a:rPr>
                <a:t>…</a:t>
              </a:r>
              <a:endParaRPr lang="en-US" altLang="zh-CN" sz="1400" dirty="0">
                <a:latin typeface="Times New Roman" pitchFamily="18" charset="0"/>
                <a:ea typeface="SimHei" panose="02010609060101010101" pitchFamily="49" charset="-122"/>
              </a:endParaRPr>
            </a:p>
          </p:txBody>
        </p:sp>
        <p:sp>
          <p:nvSpPr>
            <p:cNvPr id="101" name="Line 87">
              <a:extLst>
                <a:ext uri="{FF2B5EF4-FFF2-40B4-BE49-F238E27FC236}">
                  <a16:creationId xmlns:a16="http://schemas.microsoft.com/office/drawing/2014/main" id="{A82655AC-AB33-7B4D-B26E-F3B6FD11CE1B}"/>
                </a:ext>
              </a:extLst>
            </p:cNvPr>
            <p:cNvSpPr>
              <a:spLocks noChangeShapeType="1"/>
            </p:cNvSpPr>
            <p:nvPr/>
          </p:nvSpPr>
          <p:spPr bwMode="auto">
            <a:xfrm>
              <a:off x="4181475" y="3343275"/>
              <a:ext cx="866775" cy="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102" name="Line 88">
              <a:extLst>
                <a:ext uri="{FF2B5EF4-FFF2-40B4-BE49-F238E27FC236}">
                  <a16:creationId xmlns:a16="http://schemas.microsoft.com/office/drawing/2014/main" id="{7CDE0179-69DA-8F41-923B-4F30005F4582}"/>
                </a:ext>
              </a:extLst>
            </p:cNvPr>
            <p:cNvSpPr>
              <a:spLocks noChangeShapeType="1"/>
            </p:cNvSpPr>
            <p:nvPr/>
          </p:nvSpPr>
          <p:spPr bwMode="auto">
            <a:xfrm>
              <a:off x="4189413" y="3703638"/>
              <a:ext cx="866775" cy="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103" name="Line 89">
              <a:extLst>
                <a:ext uri="{FF2B5EF4-FFF2-40B4-BE49-F238E27FC236}">
                  <a16:creationId xmlns:a16="http://schemas.microsoft.com/office/drawing/2014/main" id="{367FB019-553E-EA4C-8389-793A24DE9170}"/>
                </a:ext>
              </a:extLst>
            </p:cNvPr>
            <p:cNvSpPr>
              <a:spLocks noChangeShapeType="1"/>
            </p:cNvSpPr>
            <p:nvPr/>
          </p:nvSpPr>
          <p:spPr bwMode="auto">
            <a:xfrm>
              <a:off x="4184650" y="4094163"/>
              <a:ext cx="866775" cy="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104" name="Line 90">
              <a:extLst>
                <a:ext uri="{FF2B5EF4-FFF2-40B4-BE49-F238E27FC236}">
                  <a16:creationId xmlns:a16="http://schemas.microsoft.com/office/drawing/2014/main" id="{6A737E48-A920-C849-B543-78ED045FA4F7}"/>
                </a:ext>
              </a:extLst>
            </p:cNvPr>
            <p:cNvSpPr>
              <a:spLocks noChangeShapeType="1"/>
            </p:cNvSpPr>
            <p:nvPr/>
          </p:nvSpPr>
          <p:spPr bwMode="auto">
            <a:xfrm>
              <a:off x="4181475" y="4475163"/>
              <a:ext cx="866775" cy="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105" name="Line 91">
              <a:extLst>
                <a:ext uri="{FF2B5EF4-FFF2-40B4-BE49-F238E27FC236}">
                  <a16:creationId xmlns:a16="http://schemas.microsoft.com/office/drawing/2014/main" id="{2FA33A72-3FB1-B14E-B997-9A9A2B5C23C6}"/>
                </a:ext>
              </a:extLst>
            </p:cNvPr>
            <p:cNvSpPr>
              <a:spLocks noChangeShapeType="1"/>
            </p:cNvSpPr>
            <p:nvPr/>
          </p:nvSpPr>
          <p:spPr bwMode="auto">
            <a:xfrm>
              <a:off x="4178300" y="4854575"/>
              <a:ext cx="866775" cy="0"/>
            </a:xfrm>
            <a:prstGeom prst="line">
              <a:avLst/>
            </a:prstGeom>
            <a:noFill/>
            <a:ln w="1905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106" name="Rectangle 92">
              <a:extLst>
                <a:ext uri="{FF2B5EF4-FFF2-40B4-BE49-F238E27FC236}">
                  <a16:creationId xmlns:a16="http://schemas.microsoft.com/office/drawing/2014/main" id="{21B2C00E-384F-CB44-8B40-8FB9E2204FBD}"/>
                </a:ext>
              </a:extLst>
            </p:cNvPr>
            <p:cNvSpPr>
              <a:spLocks noChangeArrowheads="1"/>
            </p:cNvSpPr>
            <p:nvPr/>
          </p:nvSpPr>
          <p:spPr bwMode="auto">
            <a:xfrm>
              <a:off x="846138" y="3419475"/>
              <a:ext cx="622586"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Times New Roman" pitchFamily="18" charset="0"/>
                  <a:ea typeface="SimHei" panose="02010609060101010101" pitchFamily="49" charset="-122"/>
                </a:rPr>
                <a:t>第</a:t>
              </a:r>
              <a:r>
                <a:rPr lang="en-US" altLang="zh-CN" dirty="0">
                  <a:latin typeface="Times New Roman" pitchFamily="18" charset="0"/>
                  <a:ea typeface="SimHei" panose="02010609060101010101" pitchFamily="49" charset="-122"/>
                </a:rPr>
                <a:t>0</a:t>
              </a:r>
              <a:r>
                <a:rPr lang="zh-CN" altLang="en-US" dirty="0">
                  <a:latin typeface="Times New Roman" pitchFamily="18" charset="0"/>
                  <a:ea typeface="SimHei" panose="02010609060101010101" pitchFamily="49" charset="-122"/>
                </a:rPr>
                <a:t>组</a:t>
              </a:r>
            </a:p>
          </p:txBody>
        </p:sp>
        <p:sp>
          <p:nvSpPr>
            <p:cNvPr id="107" name="Rectangle 93">
              <a:extLst>
                <a:ext uri="{FF2B5EF4-FFF2-40B4-BE49-F238E27FC236}">
                  <a16:creationId xmlns:a16="http://schemas.microsoft.com/office/drawing/2014/main" id="{87B4CDF4-0011-BA49-BB05-B0F1A985AB97}"/>
                </a:ext>
              </a:extLst>
            </p:cNvPr>
            <p:cNvSpPr>
              <a:spLocks noChangeArrowheads="1"/>
            </p:cNvSpPr>
            <p:nvPr/>
          </p:nvSpPr>
          <p:spPr bwMode="auto">
            <a:xfrm>
              <a:off x="609600" y="4535488"/>
              <a:ext cx="910724"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Times New Roman" pitchFamily="18" charset="0"/>
                  <a:ea typeface="SimHei" panose="02010609060101010101" pitchFamily="49" charset="-122"/>
                </a:rPr>
                <a:t>第</a:t>
              </a:r>
              <a:r>
                <a:rPr lang="en-US" altLang="zh-CN" dirty="0">
                  <a:latin typeface="Times New Roman" pitchFamily="18" charset="0"/>
                  <a:ea typeface="SimHei" panose="02010609060101010101" pitchFamily="49" charset="-122"/>
                </a:rPr>
                <a:t>m-1</a:t>
              </a:r>
              <a:r>
                <a:rPr lang="zh-CN" altLang="en-US" dirty="0">
                  <a:latin typeface="Times New Roman" pitchFamily="18" charset="0"/>
                  <a:ea typeface="SimHei" panose="02010609060101010101" pitchFamily="49" charset="-122"/>
                </a:rPr>
                <a:t>组</a:t>
              </a:r>
            </a:p>
          </p:txBody>
        </p:sp>
        <p:sp>
          <p:nvSpPr>
            <p:cNvPr id="108" name="Rectangle 94">
              <a:extLst>
                <a:ext uri="{FF2B5EF4-FFF2-40B4-BE49-F238E27FC236}">
                  <a16:creationId xmlns:a16="http://schemas.microsoft.com/office/drawing/2014/main" id="{8AD72FD4-D508-BD42-B0CF-D4ED50309F3F}"/>
                </a:ext>
              </a:extLst>
            </p:cNvPr>
            <p:cNvSpPr>
              <a:spLocks noChangeArrowheads="1"/>
            </p:cNvSpPr>
            <p:nvPr/>
          </p:nvSpPr>
          <p:spPr bwMode="auto">
            <a:xfrm>
              <a:off x="842963" y="3759200"/>
              <a:ext cx="622586" cy="2830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dirty="0">
                  <a:latin typeface="Times New Roman" pitchFamily="18" charset="0"/>
                  <a:ea typeface="SimHei" panose="02010609060101010101" pitchFamily="49" charset="-122"/>
                </a:rPr>
                <a:t>第</a:t>
              </a:r>
              <a:r>
                <a:rPr lang="en-US" altLang="zh-CN" dirty="0">
                  <a:latin typeface="Times New Roman" pitchFamily="18" charset="0"/>
                  <a:ea typeface="SimHei" panose="02010609060101010101" pitchFamily="49" charset="-122"/>
                </a:rPr>
                <a:t>1</a:t>
              </a:r>
              <a:r>
                <a:rPr lang="zh-CN" altLang="en-US" dirty="0">
                  <a:latin typeface="Times New Roman" pitchFamily="18" charset="0"/>
                  <a:ea typeface="SimHei" panose="02010609060101010101" pitchFamily="49" charset="-122"/>
                </a:rPr>
                <a:t>组</a:t>
              </a:r>
            </a:p>
          </p:txBody>
        </p:sp>
      </p:grpSp>
      <p:sp>
        <p:nvSpPr>
          <p:cNvPr id="109" name="Rectangle 108">
            <a:extLst>
              <a:ext uri="{FF2B5EF4-FFF2-40B4-BE49-F238E27FC236}">
                <a16:creationId xmlns:a16="http://schemas.microsoft.com/office/drawing/2014/main" id="{06372639-12F4-0548-8520-36A3237719AA}"/>
              </a:ext>
            </a:extLst>
          </p:cNvPr>
          <p:cNvSpPr/>
          <p:nvPr/>
        </p:nvSpPr>
        <p:spPr>
          <a:xfrm>
            <a:off x="53402" y="4176555"/>
            <a:ext cx="7092318" cy="1938992"/>
          </a:xfrm>
          <a:prstGeom prst="rect">
            <a:avLst/>
          </a:prstGeom>
        </p:spPr>
        <p:txBody>
          <a:bodyPr wrap="square">
            <a:spAutoFit/>
          </a:bodyPr>
          <a:lstStyle/>
          <a:p>
            <a:r>
              <a:rPr lang="zh-CN" altLang="en-US" sz="2000" b="1" dirty="0">
                <a:latin typeface="STKaiti" panose="02010600040101010101" pitchFamily="2" charset="-122"/>
                <a:ea typeface="STKaiti" panose="02010600040101010101" pitchFamily="2" charset="-122"/>
              </a:rPr>
              <a:t>例：</a:t>
            </a:r>
            <a:endParaRPr lang="en-US" altLang="zh-CN" sz="2000" b="1" dirty="0">
              <a:latin typeface="STKaiti" panose="02010600040101010101" pitchFamily="2" charset="-122"/>
              <a:ea typeface="STKaiti" panose="02010600040101010101" pitchFamily="2" charset="-122"/>
            </a:endParaRPr>
          </a:p>
          <a:p>
            <a:r>
              <a:rPr lang="zh-CN" altLang="en-US" sz="2000" b="1" dirty="0">
                <a:latin typeface="STKaiti" panose="02010600040101010101" pitchFamily="2" charset="-122"/>
                <a:ea typeface="STKaiti" panose="02010600040101010101" pitchFamily="2" charset="-122"/>
              </a:rPr>
              <a:t>一个</a:t>
            </a:r>
            <a:r>
              <a:rPr lang="en-US" altLang="zh-CN" sz="2000" b="1" dirty="0">
                <a:latin typeface="STKaiti" panose="02010600040101010101" pitchFamily="2" charset="-122"/>
                <a:ea typeface="STKaiti" panose="02010600040101010101" pitchFamily="2" charset="-122"/>
              </a:rPr>
              <a:t>32</a:t>
            </a:r>
            <a:r>
              <a:rPr lang="zh-CN" altLang="en-US" sz="2000" b="1" dirty="0">
                <a:latin typeface="STKaiti" panose="02010600040101010101" pitchFamily="2" charset="-122"/>
                <a:ea typeface="STKaiti" panose="02010600040101010101" pitchFamily="2" charset="-122"/>
              </a:rPr>
              <a:t>位内存系统； </a:t>
            </a:r>
            <a:r>
              <a:rPr lang="en-US" altLang="zh-CN" sz="2000" b="1" dirty="0">
                <a:solidFill>
                  <a:srgbClr val="0432FF"/>
                </a:solidFill>
                <a:latin typeface="STKaiti" panose="02010600040101010101" pitchFamily="2" charset="-122"/>
                <a:ea typeface="STKaiti" panose="02010600040101010101" pitchFamily="2" charset="-122"/>
              </a:rPr>
              <a:t>2</a:t>
            </a:r>
            <a:r>
              <a:rPr lang="zh-CN" altLang="en-US" sz="2000" b="1" dirty="0">
                <a:solidFill>
                  <a:srgbClr val="0432FF"/>
                </a:solidFill>
                <a:latin typeface="STKaiti" panose="02010600040101010101" pitchFamily="2" charset="-122"/>
                <a:ea typeface="STKaiti" panose="02010600040101010101" pitchFamily="2" charset="-122"/>
              </a:rPr>
              <a:t>路组相连</a:t>
            </a:r>
            <a:r>
              <a:rPr lang="en-US" sz="2000" b="1" dirty="0">
                <a:latin typeface="STKaiti" panose="02010600040101010101" pitchFamily="2" charset="-122"/>
                <a:ea typeface="STKaiti" panose="02010600040101010101" pitchFamily="2" charset="-122"/>
              </a:rPr>
              <a:t>Cache</a:t>
            </a:r>
            <a:r>
              <a:rPr lang="zh-CN" altLang="en-US" sz="2000" b="1" dirty="0">
                <a:latin typeface="STKaiti" panose="02010600040101010101" pitchFamily="2" charset="-122"/>
                <a:ea typeface="STKaiti" panose="02010600040101010101" pitchFamily="2" charset="-122"/>
              </a:rPr>
              <a:t>容量</a:t>
            </a:r>
            <a:r>
              <a:rPr lang="en-US" altLang="zh-CN" sz="2000" b="1" dirty="0">
                <a:latin typeface="STKaiti" panose="02010600040101010101" pitchFamily="2" charset="-122"/>
                <a:ea typeface="STKaiti" panose="02010600040101010101" pitchFamily="2" charset="-122"/>
              </a:rPr>
              <a:t>8</a:t>
            </a:r>
            <a:r>
              <a:rPr lang="en-US" sz="2000" b="1" dirty="0">
                <a:latin typeface="STKaiti" panose="02010600040101010101" pitchFamily="2" charset="-122"/>
                <a:ea typeface="STKaiti" panose="02010600040101010101" pitchFamily="2" charset="-122"/>
              </a:rPr>
              <a:t>KB, </a:t>
            </a:r>
            <a:r>
              <a:rPr lang="zh-CN" altLang="en-US" sz="2000" b="1" dirty="0">
                <a:latin typeface="STKaiti" panose="02010600040101010101" pitchFamily="2" charset="-122"/>
                <a:ea typeface="STKaiti" panose="02010600040101010101" pitchFamily="2" charset="-122"/>
              </a:rPr>
              <a:t>每行</a:t>
            </a:r>
            <a:r>
              <a:rPr lang="en-US" altLang="zh-CN" sz="2000" b="1" dirty="0">
                <a:latin typeface="STKaiti" panose="02010600040101010101" pitchFamily="2" charset="-122"/>
                <a:ea typeface="STKaiti" panose="02010600040101010101" pitchFamily="2" charset="-122"/>
              </a:rPr>
              <a:t>16Byte</a:t>
            </a:r>
          </a:p>
          <a:p>
            <a:r>
              <a:rPr lang="en-US" altLang="zh-CN" sz="2000" b="1" dirty="0">
                <a:latin typeface="STKaiti" panose="02010600040101010101" pitchFamily="2" charset="-122"/>
                <a:ea typeface="STKaiti" panose="02010600040101010101" pitchFamily="2" charset="-122"/>
                <a:sym typeface="Wingdings" pitchFamily="2" charset="2"/>
              </a:rPr>
              <a:t></a:t>
            </a:r>
            <a:r>
              <a:rPr lang="zh-CN" altLang="en-US" sz="2000" b="1" dirty="0">
                <a:latin typeface="STKaiti" panose="02010600040101010101" pitchFamily="2" charset="-122"/>
                <a:ea typeface="STKaiti" panose="02010600040101010101" pitchFamily="2" charset="-122"/>
              </a:rPr>
              <a:t>主存共</a:t>
            </a:r>
            <a:r>
              <a:rPr lang="en-US" altLang="zh-CN" sz="2000" b="1" dirty="0">
                <a:latin typeface="STKaiti" panose="02010600040101010101" pitchFamily="2" charset="-122"/>
                <a:ea typeface="STKaiti" panose="02010600040101010101" pitchFamily="2" charset="-122"/>
              </a:rPr>
              <a:t>2^32/16=</a:t>
            </a:r>
            <a:r>
              <a:rPr lang="en-US" altLang="zh-CN" sz="2000" b="1" dirty="0">
                <a:solidFill>
                  <a:srgbClr val="0432FF"/>
                </a:solidFill>
                <a:latin typeface="STKaiti" panose="02010600040101010101" pitchFamily="2" charset="-122"/>
                <a:ea typeface="STKaiti" panose="02010600040101010101" pitchFamily="2" charset="-122"/>
              </a:rPr>
              <a:t>2^28</a:t>
            </a:r>
            <a:r>
              <a:rPr lang="zh-CN" altLang="en-US" sz="2000" b="1" dirty="0">
                <a:latin typeface="STKaiti" panose="02010600040101010101" pitchFamily="2" charset="-122"/>
                <a:ea typeface="STKaiti" panose="02010600040101010101" pitchFamily="2" charset="-122"/>
              </a:rPr>
              <a:t>个块，</a:t>
            </a:r>
            <a:r>
              <a:rPr lang="en-US" altLang="zh-CN" sz="2000" b="1" dirty="0">
                <a:latin typeface="STKaiti" panose="02010600040101010101" pitchFamily="2" charset="-122"/>
                <a:ea typeface="STKaiti" panose="02010600040101010101" pitchFamily="2" charset="-122"/>
                <a:sym typeface="Wingdings" pitchFamily="2" charset="2"/>
              </a:rPr>
              <a:t>Cache</a:t>
            </a:r>
            <a:r>
              <a:rPr lang="zh-CN" altLang="en-US" sz="2000" b="1" dirty="0">
                <a:latin typeface="STKaiti" panose="02010600040101010101" pitchFamily="2" charset="-122"/>
                <a:ea typeface="STKaiti" panose="02010600040101010101" pitchFamily="2" charset="-122"/>
              </a:rPr>
              <a:t>共</a:t>
            </a:r>
            <a:r>
              <a:rPr lang="en-US" altLang="zh-CN" sz="2000" b="1" dirty="0">
                <a:latin typeface="STKaiti" panose="02010600040101010101" pitchFamily="2" charset="-122"/>
                <a:ea typeface="STKaiti" panose="02010600040101010101" pitchFamily="2" charset="-122"/>
              </a:rPr>
              <a:t>512</a:t>
            </a:r>
            <a:r>
              <a:rPr lang="zh-CN" altLang="en-US" sz="2000" b="1" dirty="0">
                <a:latin typeface="STKaiti" panose="02010600040101010101" pitchFamily="2" charset="-122"/>
                <a:ea typeface="STKaiti" panose="02010600040101010101" pitchFamily="2" charset="-122"/>
              </a:rPr>
              <a:t>行</a:t>
            </a:r>
            <a:r>
              <a:rPr lang="en-US" altLang="zh-CN" sz="2000" b="1" dirty="0">
                <a:latin typeface="STKaiti" panose="02010600040101010101" pitchFamily="2" charset="-122"/>
                <a:ea typeface="STKaiti" panose="02010600040101010101" pitchFamily="2" charset="-122"/>
              </a:rPr>
              <a:t>(=8K/16=</a:t>
            </a:r>
            <a:r>
              <a:rPr lang="en-US" altLang="zh-CN" sz="2000" b="1" dirty="0">
                <a:solidFill>
                  <a:srgbClr val="0432FF"/>
                </a:solidFill>
                <a:latin typeface="STKaiti" panose="02010600040101010101" pitchFamily="2" charset="-122"/>
                <a:ea typeface="STKaiti" panose="02010600040101010101" pitchFamily="2" charset="-122"/>
              </a:rPr>
              <a:t>2^9</a:t>
            </a:r>
            <a:r>
              <a:rPr lang="en-US" altLang="zh-CN" sz="2000" b="1" dirty="0">
                <a:latin typeface="STKaiti" panose="02010600040101010101" pitchFamily="2" charset="-122"/>
                <a:ea typeface="STKaiti" panose="02010600040101010101" pitchFamily="2" charset="-122"/>
              </a:rPr>
              <a:t>)</a:t>
            </a:r>
          </a:p>
          <a:p>
            <a:r>
              <a:rPr lang="en-US" altLang="zh-CN" sz="2000" b="1" dirty="0">
                <a:latin typeface="STKaiti" panose="02010600040101010101" pitchFamily="2" charset="-122"/>
                <a:ea typeface="STKaiti" panose="02010600040101010101" pitchFamily="2" charset="-122"/>
                <a:sym typeface="Wingdings" pitchFamily="2" charset="2"/>
              </a:rPr>
              <a:t></a:t>
            </a:r>
            <a:r>
              <a:rPr lang="zh-CN" altLang="en-US" sz="2000" b="1" dirty="0">
                <a:latin typeface="STKaiti" panose="02010600040101010101" pitchFamily="2" charset="-122"/>
                <a:ea typeface="STKaiti" panose="02010600040101010101" pitchFamily="2" charset="-122"/>
                <a:sym typeface="Wingdings" pitchFamily="2" charset="2"/>
              </a:rPr>
              <a:t>用主存的</a:t>
            </a:r>
            <a:r>
              <a:rPr lang="zh-CN" altLang="en-US" sz="2000" b="1" dirty="0">
                <a:solidFill>
                  <a:srgbClr val="7030A0"/>
                </a:solidFill>
                <a:latin typeface="STKaiti" panose="02010600040101010101" pitchFamily="2" charset="-122"/>
                <a:ea typeface="STKaiti" panose="02010600040101010101" pitchFamily="2" charset="-122"/>
                <a:sym typeface="Wingdings" pitchFamily="2" charset="2"/>
              </a:rPr>
              <a:t>低</a:t>
            </a:r>
            <a:r>
              <a:rPr lang="en-US" altLang="zh-CN" sz="2000" b="1" dirty="0">
                <a:solidFill>
                  <a:srgbClr val="7030A0"/>
                </a:solidFill>
                <a:latin typeface="STKaiti" panose="02010600040101010101" pitchFamily="2" charset="-122"/>
                <a:ea typeface="STKaiti" panose="02010600040101010101" pitchFamily="2" charset="-122"/>
                <a:sym typeface="Wingdings" pitchFamily="2" charset="2"/>
              </a:rPr>
              <a:t>4</a:t>
            </a:r>
            <a:r>
              <a:rPr lang="zh-CN" altLang="en-US" sz="2000" b="1" dirty="0">
                <a:solidFill>
                  <a:srgbClr val="7030A0"/>
                </a:solidFill>
                <a:latin typeface="STKaiti" panose="02010600040101010101" pitchFamily="2" charset="-122"/>
                <a:ea typeface="STKaiti" panose="02010600040101010101" pitchFamily="2" charset="-122"/>
                <a:sym typeface="Wingdings" pitchFamily="2" charset="2"/>
              </a:rPr>
              <a:t>位</a:t>
            </a:r>
            <a:r>
              <a:rPr lang="zh-CN" altLang="en-US" sz="2000" b="1" dirty="0">
                <a:latin typeface="STKaiti" panose="02010600040101010101" pitchFamily="2" charset="-122"/>
                <a:ea typeface="STKaiti" panose="02010600040101010101" pitchFamily="2" charset="-122"/>
                <a:sym typeface="Wingdings" pitchFamily="2" charset="2"/>
              </a:rPr>
              <a:t>作为</a:t>
            </a:r>
            <a:r>
              <a:rPr lang="zh-CN" altLang="en-CN" sz="2000" b="1" dirty="0">
                <a:latin typeface="STKaiti" panose="02010600040101010101" pitchFamily="2" charset="-122"/>
                <a:ea typeface="STKaiti" panose="02010600040101010101" pitchFamily="2" charset="-122"/>
                <a:sym typeface="Wingdings" pitchFamily="2" charset="2"/>
              </a:rPr>
              <a:t>块内</a:t>
            </a:r>
            <a:r>
              <a:rPr lang="zh-CN" altLang="en-US" sz="2000" b="1" dirty="0">
                <a:latin typeface="STKaiti" panose="02010600040101010101" pitchFamily="2" charset="-122"/>
                <a:ea typeface="STKaiti" panose="02010600040101010101" pitchFamily="2" charset="-122"/>
                <a:sym typeface="Wingdings" pitchFamily="2" charset="2"/>
              </a:rPr>
              <a:t>地址，每</a:t>
            </a:r>
            <a:r>
              <a:rPr lang="en-US" altLang="zh-CN" sz="2000" b="1" dirty="0">
                <a:latin typeface="STKaiti" panose="02010600040101010101" pitchFamily="2" charset="-122"/>
                <a:ea typeface="STKaiti" panose="02010600040101010101" pitchFamily="2" charset="-122"/>
                <a:sym typeface="Wingdings" pitchFamily="2" charset="2"/>
              </a:rPr>
              <a:t>2</a:t>
            </a:r>
            <a:r>
              <a:rPr lang="zh-CN" altLang="en-US" sz="2000" b="1" dirty="0">
                <a:latin typeface="STKaiti" panose="02010600040101010101" pitchFamily="2" charset="-122"/>
                <a:ea typeface="STKaiti" panose="02010600040101010101" pitchFamily="2" charset="-122"/>
                <a:sym typeface="Wingdings" pitchFamily="2" charset="2"/>
              </a:rPr>
              <a:t>行一组</a:t>
            </a:r>
            <a:r>
              <a:rPr lang="en-US" altLang="zh-CN" sz="2000" b="1" dirty="0">
                <a:latin typeface="STKaiti" panose="02010600040101010101" pitchFamily="2" charset="-122"/>
                <a:ea typeface="STKaiti" panose="02010600040101010101" pitchFamily="2" charset="-122"/>
                <a:sym typeface="Wingdings" pitchFamily="2" charset="2"/>
              </a:rPr>
              <a:t></a:t>
            </a:r>
            <a:r>
              <a:rPr lang="zh-CN" altLang="en-US" sz="2000" b="1" dirty="0">
                <a:latin typeface="STKaiti" panose="02010600040101010101" pitchFamily="2" charset="-122"/>
                <a:ea typeface="STKaiti" panose="02010600040101010101" pitchFamily="2" charset="-122"/>
                <a:sym typeface="Wingdings" pitchFamily="2" charset="2"/>
              </a:rPr>
              <a:t>共</a:t>
            </a:r>
            <a:r>
              <a:rPr lang="en-US" altLang="zh-CN" sz="2000" b="1" dirty="0">
                <a:latin typeface="STKaiti" panose="02010600040101010101" pitchFamily="2" charset="-122"/>
                <a:ea typeface="STKaiti" panose="02010600040101010101" pitchFamily="2" charset="-122"/>
                <a:sym typeface="Wingdings" pitchFamily="2" charset="2"/>
              </a:rPr>
              <a:t>2^8 = 256</a:t>
            </a:r>
            <a:r>
              <a:rPr lang="zh-CN" altLang="en-US" sz="2000" b="1" dirty="0">
                <a:latin typeface="STKaiti" panose="02010600040101010101" pitchFamily="2" charset="-122"/>
                <a:ea typeface="STKaiti" panose="02010600040101010101" pitchFamily="2" charset="-122"/>
                <a:sym typeface="Wingdings" pitchFamily="2" charset="2"/>
              </a:rPr>
              <a:t>组，中</a:t>
            </a:r>
            <a:r>
              <a:rPr lang="en-US" altLang="zh-CN" sz="2000" b="1" dirty="0">
                <a:latin typeface="STKaiti" panose="02010600040101010101" pitchFamily="2" charset="-122"/>
                <a:ea typeface="STKaiti" panose="02010600040101010101" pitchFamily="2" charset="-122"/>
                <a:sym typeface="Wingdings" pitchFamily="2" charset="2"/>
              </a:rPr>
              <a:t>8</a:t>
            </a:r>
            <a:r>
              <a:rPr lang="zh-CN" altLang="en-US" sz="2000" b="1" dirty="0">
                <a:latin typeface="STKaiti" panose="02010600040101010101" pitchFamily="2" charset="-122"/>
                <a:ea typeface="STKaiti" panose="02010600040101010101" pitchFamily="2" charset="-122"/>
                <a:sym typeface="Wingdings" pitchFamily="2" charset="2"/>
              </a:rPr>
              <a:t>位作为</a:t>
            </a:r>
            <a:r>
              <a:rPr lang="en-US" altLang="zh-CN" sz="2000" b="1" dirty="0">
                <a:latin typeface="STKaiti" panose="02010600040101010101" pitchFamily="2" charset="-122"/>
                <a:ea typeface="STKaiti" panose="02010600040101010101" pitchFamily="2" charset="-122"/>
                <a:sym typeface="Wingdings" pitchFamily="2" charset="2"/>
              </a:rPr>
              <a:t>Cache</a:t>
            </a:r>
            <a:r>
              <a:rPr lang="zh-CN" altLang="en-US" sz="2000" b="1" dirty="0">
                <a:latin typeface="STKaiti" panose="02010600040101010101" pitchFamily="2" charset="-122"/>
                <a:ea typeface="STKaiti" panose="02010600040101010101" pitchFamily="2" charset="-122"/>
                <a:sym typeface="Wingdings" pitchFamily="2" charset="2"/>
              </a:rPr>
              <a:t>组号（一个块只能放在一个固定的组），剩下的高</a:t>
            </a:r>
            <a:r>
              <a:rPr lang="en-US" altLang="zh-CN" sz="2000" b="1" dirty="0">
                <a:latin typeface="STKaiti" panose="02010600040101010101" pitchFamily="2" charset="-122"/>
                <a:ea typeface="STKaiti" panose="02010600040101010101" pitchFamily="2" charset="-122"/>
                <a:sym typeface="Wingdings" pitchFamily="2" charset="2"/>
              </a:rPr>
              <a:t>32-4-8=20</a:t>
            </a:r>
            <a:r>
              <a:rPr lang="zh-CN" altLang="en-US" sz="2000" b="1" dirty="0">
                <a:latin typeface="STKaiti" panose="02010600040101010101" pitchFamily="2" charset="-122"/>
                <a:ea typeface="STKaiti" panose="02010600040101010101" pitchFamily="2" charset="-122"/>
                <a:sym typeface="Wingdings" pitchFamily="2" charset="2"/>
              </a:rPr>
              <a:t>位作为主存标签</a:t>
            </a:r>
            <a:endParaRPr lang="en-US" altLang="zh-CN" sz="2000" b="1" dirty="0">
              <a:solidFill>
                <a:srgbClr val="FF0000"/>
              </a:solidFill>
              <a:latin typeface="STKaiti" panose="02010600040101010101" pitchFamily="2" charset="-122"/>
              <a:ea typeface="STKaiti" panose="02010600040101010101" pitchFamily="2" charset="-122"/>
              <a:sym typeface="Wingdings" pitchFamily="2" charset="2"/>
            </a:endParaRPr>
          </a:p>
        </p:txBody>
      </p:sp>
      <p:sp>
        <p:nvSpPr>
          <p:cNvPr id="110" name="Right Brace 109">
            <a:extLst>
              <a:ext uri="{FF2B5EF4-FFF2-40B4-BE49-F238E27FC236}">
                <a16:creationId xmlns:a16="http://schemas.microsoft.com/office/drawing/2014/main" id="{83E9E209-5464-5344-B7CA-A8AA37508B6D}"/>
              </a:ext>
            </a:extLst>
          </p:cNvPr>
          <p:cNvSpPr/>
          <p:nvPr/>
        </p:nvSpPr>
        <p:spPr>
          <a:xfrm rot="16200000">
            <a:off x="3317161" y="120061"/>
            <a:ext cx="122820" cy="4578333"/>
          </a:xfrm>
          <a:prstGeom prst="rightBrace">
            <a:avLst>
              <a:gd name="adj1" fmla="val 32967"/>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11" name="Rectangle 110">
            <a:extLst>
              <a:ext uri="{FF2B5EF4-FFF2-40B4-BE49-F238E27FC236}">
                <a16:creationId xmlns:a16="http://schemas.microsoft.com/office/drawing/2014/main" id="{E7A001A4-F4FB-0240-A941-11EE6A1C37FC}"/>
              </a:ext>
            </a:extLst>
          </p:cNvPr>
          <p:cNvSpPr/>
          <p:nvPr/>
        </p:nvSpPr>
        <p:spPr>
          <a:xfrm>
            <a:off x="2893216" y="2031760"/>
            <a:ext cx="1253869" cy="369332"/>
          </a:xfrm>
          <a:prstGeom prst="rect">
            <a:avLst/>
          </a:prstGeom>
        </p:spPr>
        <p:txBody>
          <a:bodyPr wrap="none">
            <a:spAutoFit/>
          </a:bodyPr>
          <a:lstStyle/>
          <a:p>
            <a:r>
              <a:rPr lang="en-US" altLang="zh-CN" b="1" dirty="0">
                <a:solidFill>
                  <a:srgbClr val="0432FF"/>
                </a:solidFill>
                <a:latin typeface="STKaiti" panose="02010600040101010101" pitchFamily="2" charset="-122"/>
                <a:ea typeface="STKaiti" panose="02010600040101010101" pitchFamily="2" charset="-122"/>
              </a:rPr>
              <a:t>n</a:t>
            </a:r>
            <a:r>
              <a:rPr lang="zh-CN" altLang="en-US" b="1" dirty="0">
                <a:solidFill>
                  <a:srgbClr val="0432FF"/>
                </a:solidFill>
                <a:latin typeface="STKaiti" panose="02010600040101010101" pitchFamily="2" charset="-122"/>
                <a:ea typeface="STKaiti" panose="02010600040101010101" pitchFamily="2" charset="-122"/>
              </a:rPr>
              <a:t>路组相连</a:t>
            </a:r>
            <a:endParaRPr lang="en-CN" dirty="0">
              <a:solidFill>
                <a:srgbClr val="0432FF"/>
              </a:solidFill>
              <a:ea typeface="SimHei" panose="02010609060101010101" pitchFamily="49" charset="-122"/>
            </a:endParaRPr>
          </a:p>
        </p:txBody>
      </p:sp>
      <p:grpSp>
        <p:nvGrpSpPr>
          <p:cNvPr id="113" name="Group 94">
            <a:extLst>
              <a:ext uri="{FF2B5EF4-FFF2-40B4-BE49-F238E27FC236}">
                <a16:creationId xmlns:a16="http://schemas.microsoft.com/office/drawing/2014/main" id="{DB40F797-554D-F4A5-4FE4-5609BD01A0C5}"/>
              </a:ext>
            </a:extLst>
          </p:cNvPr>
          <p:cNvGrpSpPr/>
          <p:nvPr/>
        </p:nvGrpSpPr>
        <p:grpSpPr>
          <a:xfrm>
            <a:off x="6224137" y="1714490"/>
            <a:ext cx="972375" cy="3366739"/>
            <a:chOff x="6290774" y="1970987"/>
            <a:chExt cx="972375" cy="3420141"/>
          </a:xfrm>
        </p:grpSpPr>
        <p:grpSp>
          <p:nvGrpSpPr>
            <p:cNvPr id="114" name="Group 90">
              <a:extLst>
                <a:ext uri="{FF2B5EF4-FFF2-40B4-BE49-F238E27FC236}">
                  <a16:creationId xmlns:a16="http://schemas.microsoft.com/office/drawing/2014/main" id="{173BF60A-2C3C-77BB-A7E4-DD9903DF6FEA}"/>
                </a:ext>
              </a:extLst>
            </p:cNvPr>
            <p:cNvGrpSpPr/>
            <p:nvPr/>
          </p:nvGrpSpPr>
          <p:grpSpPr>
            <a:xfrm>
              <a:off x="6290774" y="1970987"/>
              <a:ext cx="951401" cy="1698625"/>
              <a:chOff x="6290774" y="1970987"/>
              <a:chExt cx="951401" cy="1698625"/>
            </a:xfrm>
          </p:grpSpPr>
          <p:sp>
            <p:nvSpPr>
              <p:cNvPr id="118" name="Rectangle 88">
                <a:extLst>
                  <a:ext uri="{FF2B5EF4-FFF2-40B4-BE49-F238E27FC236}">
                    <a16:creationId xmlns:a16="http://schemas.microsoft.com/office/drawing/2014/main" id="{08FAD5BE-70A2-C89A-17AF-BBDA17363885}"/>
                  </a:ext>
                </a:extLst>
              </p:cNvPr>
              <p:cNvSpPr/>
              <p:nvPr/>
            </p:nvSpPr>
            <p:spPr>
              <a:xfrm>
                <a:off x="6290774" y="2539868"/>
                <a:ext cx="768159" cy="375190"/>
              </a:xfrm>
              <a:prstGeom prst="rect">
                <a:avLst/>
              </a:prstGeom>
            </p:spPr>
            <p:txBody>
              <a:bodyPr wrap="none">
                <a:spAutoFit/>
              </a:bodyPr>
              <a:lstStyle/>
              <a:p>
                <a:r>
                  <a:rPr lang="zh-CN" altLang="en-US" b="1" dirty="0">
                    <a:solidFill>
                      <a:srgbClr val="AB7942"/>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AB7942"/>
                    </a:solidFill>
                    <a:latin typeface="STKaiti" panose="02010600040101010101" pitchFamily="2" charset="-122"/>
                    <a:ea typeface="STKaiti" panose="02010600040101010101" pitchFamily="2" charset="-122"/>
                    <a:sym typeface="Wingdings" pitchFamily="2" charset="2"/>
                  </a:rPr>
                  <a:t>1</a:t>
                </a:r>
                <a:endParaRPr lang="en-CN" dirty="0">
                  <a:ea typeface="SimHei" panose="02010609060101010101" pitchFamily="49" charset="-122"/>
                </a:endParaRPr>
              </a:p>
            </p:txBody>
          </p:sp>
          <p:sp>
            <p:nvSpPr>
              <p:cNvPr id="119" name="Left Brace 89">
                <a:extLst>
                  <a:ext uri="{FF2B5EF4-FFF2-40B4-BE49-F238E27FC236}">
                    <a16:creationId xmlns:a16="http://schemas.microsoft.com/office/drawing/2014/main" id="{D5A32769-2923-95B4-9661-98AC9590C5C6}"/>
                  </a:ext>
                </a:extLst>
              </p:cNvPr>
              <p:cNvSpPr/>
              <p:nvPr/>
            </p:nvSpPr>
            <p:spPr>
              <a:xfrm>
                <a:off x="7012294" y="1970987"/>
                <a:ext cx="229881" cy="1698625"/>
              </a:xfrm>
              <a:prstGeom prst="leftBrace">
                <a:avLst>
                  <a:gd name="adj1" fmla="val 61879"/>
                  <a:gd name="adj2" fmla="val 50000"/>
                </a:avLst>
              </a:prstGeom>
              <a:ln w="25400">
                <a:solidFill>
                  <a:srgbClr val="AB79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grpSp>
          <p:nvGrpSpPr>
            <p:cNvPr id="115" name="Group 91">
              <a:extLst>
                <a:ext uri="{FF2B5EF4-FFF2-40B4-BE49-F238E27FC236}">
                  <a16:creationId xmlns:a16="http://schemas.microsoft.com/office/drawing/2014/main" id="{A0D103CC-ED40-E802-33E2-795299C14242}"/>
                </a:ext>
              </a:extLst>
            </p:cNvPr>
            <p:cNvGrpSpPr/>
            <p:nvPr/>
          </p:nvGrpSpPr>
          <p:grpSpPr>
            <a:xfrm>
              <a:off x="6310027" y="3692503"/>
              <a:ext cx="953122" cy="1698625"/>
              <a:chOff x="6299686" y="1895375"/>
              <a:chExt cx="953122" cy="1698625"/>
            </a:xfrm>
          </p:grpSpPr>
          <p:sp>
            <p:nvSpPr>
              <p:cNvPr id="116" name="Rectangle 92">
                <a:extLst>
                  <a:ext uri="{FF2B5EF4-FFF2-40B4-BE49-F238E27FC236}">
                    <a16:creationId xmlns:a16="http://schemas.microsoft.com/office/drawing/2014/main" id="{AF8C6D18-69B1-1DC8-75D2-A014DA95FF88}"/>
                  </a:ext>
                </a:extLst>
              </p:cNvPr>
              <p:cNvSpPr/>
              <p:nvPr/>
            </p:nvSpPr>
            <p:spPr>
              <a:xfrm>
                <a:off x="6299686" y="2557213"/>
                <a:ext cx="768159" cy="375190"/>
              </a:xfrm>
              <a:prstGeom prst="rect">
                <a:avLst/>
              </a:prstGeom>
            </p:spPr>
            <p:txBody>
              <a:bodyPr wrap="none">
                <a:spAutoFit/>
              </a:bodyPr>
              <a:lstStyle/>
              <a:p>
                <a:r>
                  <a:rPr lang="zh-CN" altLang="en-US" b="1" dirty="0">
                    <a:solidFill>
                      <a:srgbClr val="AB7942"/>
                    </a:solidFill>
                    <a:latin typeface="STKaiti" panose="02010600040101010101" pitchFamily="2" charset="-122"/>
                    <a:ea typeface="STKaiti" panose="02010600040101010101" pitchFamily="2" charset="-122"/>
                    <a:sym typeface="Wingdings" pitchFamily="2" charset="2"/>
                  </a:rPr>
                  <a:t>区域</a:t>
                </a:r>
                <a:r>
                  <a:rPr lang="en-US" altLang="zh-CN" b="1" dirty="0">
                    <a:solidFill>
                      <a:srgbClr val="AB7942"/>
                    </a:solidFill>
                    <a:latin typeface="STKaiti" panose="02010600040101010101" pitchFamily="2" charset="-122"/>
                    <a:ea typeface="STKaiti" panose="02010600040101010101" pitchFamily="2" charset="-122"/>
                    <a:sym typeface="Wingdings" pitchFamily="2" charset="2"/>
                  </a:rPr>
                  <a:t>2</a:t>
                </a:r>
                <a:endParaRPr lang="en-CN" dirty="0">
                  <a:ea typeface="SimHei" panose="02010609060101010101" pitchFamily="49" charset="-122"/>
                </a:endParaRPr>
              </a:p>
            </p:txBody>
          </p:sp>
          <p:sp>
            <p:nvSpPr>
              <p:cNvPr id="117" name="Left Brace 93">
                <a:extLst>
                  <a:ext uri="{FF2B5EF4-FFF2-40B4-BE49-F238E27FC236}">
                    <a16:creationId xmlns:a16="http://schemas.microsoft.com/office/drawing/2014/main" id="{0383E5A2-0840-268F-9F40-F60947255189}"/>
                  </a:ext>
                </a:extLst>
              </p:cNvPr>
              <p:cNvSpPr/>
              <p:nvPr/>
            </p:nvSpPr>
            <p:spPr>
              <a:xfrm>
                <a:off x="7022927" y="1895375"/>
                <a:ext cx="229881" cy="1698625"/>
              </a:xfrm>
              <a:prstGeom prst="leftBrace">
                <a:avLst>
                  <a:gd name="adj1" fmla="val 61879"/>
                  <a:gd name="adj2" fmla="val 50000"/>
                </a:avLst>
              </a:prstGeom>
              <a:ln w="25400">
                <a:solidFill>
                  <a:srgbClr val="AB79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grpSp>
      </p:grpSp>
    </p:spTree>
    <p:extLst>
      <p:ext uri="{BB962C8B-B14F-4D97-AF65-F5344CB8AC3E}">
        <p14:creationId xmlns:p14="http://schemas.microsoft.com/office/powerpoint/2010/main" val="3281584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48</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686800" cy="4779793"/>
          </a:xfrm>
        </p:spPr>
        <p:txBody>
          <a:bodyPr/>
          <a:lstStyle/>
          <a:p>
            <a:pPr marL="514350" indent="-457200">
              <a:spcBef>
                <a:spcPts val="1000"/>
              </a:spcBef>
            </a:pPr>
            <a:r>
              <a:rPr kumimoji="1" lang="zh-CN" altLang="en-US" dirty="0"/>
              <a:t>组相联映像：组间固定查找，组内并行查找</a:t>
            </a:r>
            <a:endParaRPr kumimoji="1" lang="en-US" altLang="zh-CN" dirty="0"/>
          </a:p>
        </p:txBody>
      </p:sp>
      <p:grpSp>
        <p:nvGrpSpPr>
          <p:cNvPr id="5" name="组合 4">
            <a:extLst>
              <a:ext uri="{FF2B5EF4-FFF2-40B4-BE49-F238E27FC236}">
                <a16:creationId xmlns:a16="http://schemas.microsoft.com/office/drawing/2014/main" id="{0DC297E7-F943-084A-A7D2-362F9A74E35E}"/>
              </a:ext>
            </a:extLst>
          </p:cNvPr>
          <p:cNvGrpSpPr/>
          <p:nvPr/>
        </p:nvGrpSpPr>
        <p:grpSpPr>
          <a:xfrm>
            <a:off x="1151648" y="2129738"/>
            <a:ext cx="7298057" cy="4602026"/>
            <a:chOff x="1555750" y="2277269"/>
            <a:chExt cx="8187337" cy="5021517"/>
          </a:xfrm>
        </p:grpSpPr>
        <p:sp>
          <p:nvSpPr>
            <p:cNvPr id="6" name="Rectangle 5">
              <a:extLst>
                <a:ext uri="{FF2B5EF4-FFF2-40B4-BE49-F238E27FC236}">
                  <a16:creationId xmlns:a16="http://schemas.microsoft.com/office/drawing/2014/main" id="{93478C56-FFC8-4A4E-91FC-1FF5BABB751B}"/>
                </a:ext>
              </a:extLst>
            </p:cNvPr>
            <p:cNvSpPr>
              <a:spLocks noChangeArrowheads="1"/>
            </p:cNvSpPr>
            <p:nvPr/>
          </p:nvSpPr>
          <p:spPr bwMode="auto">
            <a:xfrm>
              <a:off x="2695575" y="2644775"/>
              <a:ext cx="1301750" cy="361950"/>
            </a:xfrm>
            <a:prstGeom prst="rect">
              <a:avLst/>
            </a:prstGeom>
            <a:solidFill>
              <a:srgbClr val="FF99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 name="Freeform 6">
              <a:extLst>
                <a:ext uri="{FF2B5EF4-FFF2-40B4-BE49-F238E27FC236}">
                  <a16:creationId xmlns:a16="http://schemas.microsoft.com/office/drawing/2014/main" id="{D7B98BED-D8B2-1B40-BD55-B46A2BBDCA97}"/>
                </a:ext>
              </a:extLst>
            </p:cNvPr>
            <p:cNvSpPr>
              <a:spLocks/>
            </p:cNvSpPr>
            <p:nvPr/>
          </p:nvSpPr>
          <p:spPr bwMode="auto">
            <a:xfrm>
              <a:off x="2695575" y="2644775"/>
              <a:ext cx="1301750" cy="361950"/>
            </a:xfrm>
            <a:custGeom>
              <a:avLst/>
              <a:gdLst>
                <a:gd name="T0" fmla="*/ 0 w 1441"/>
                <a:gd name="T1" fmla="*/ 2147483647 h 430"/>
                <a:gd name="T2" fmla="*/ 2147483647 w 1441"/>
                <a:gd name="T3" fmla="*/ 2147483647 h 430"/>
                <a:gd name="T4" fmla="*/ 2147483647 w 1441"/>
                <a:gd name="T5" fmla="*/ 0 h 430"/>
                <a:gd name="T6" fmla="*/ 0 w 1441"/>
                <a:gd name="T7" fmla="*/ 0 h 430"/>
                <a:gd name="T8" fmla="*/ 0 w 1441"/>
                <a:gd name="T9" fmla="*/ 2147483647 h 430"/>
                <a:gd name="T10" fmla="*/ 0 w 1441"/>
                <a:gd name="T11" fmla="*/ 2147483647 h 4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1" h="430">
                  <a:moveTo>
                    <a:pt x="0" y="430"/>
                  </a:moveTo>
                  <a:lnTo>
                    <a:pt x="1441" y="430"/>
                  </a:lnTo>
                  <a:lnTo>
                    <a:pt x="1441" y="0"/>
                  </a:lnTo>
                  <a:lnTo>
                    <a:pt x="0" y="0"/>
                  </a:lnTo>
                  <a:lnTo>
                    <a:pt x="0" y="430"/>
                  </a:lnTo>
                </a:path>
              </a:pathLst>
            </a:custGeom>
            <a:noFill/>
            <a:ln w="158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8" name="Rectangle 7">
              <a:extLst>
                <a:ext uri="{FF2B5EF4-FFF2-40B4-BE49-F238E27FC236}">
                  <a16:creationId xmlns:a16="http://schemas.microsoft.com/office/drawing/2014/main" id="{52DDE709-7FE0-5243-8C12-DA5B471ED404}"/>
                </a:ext>
              </a:extLst>
            </p:cNvPr>
            <p:cNvSpPr>
              <a:spLocks noChangeArrowheads="1"/>
            </p:cNvSpPr>
            <p:nvPr/>
          </p:nvSpPr>
          <p:spPr bwMode="auto">
            <a:xfrm>
              <a:off x="3127375" y="2698750"/>
              <a:ext cx="463970" cy="268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dirty="0">
                  <a:latin typeface="Times New Roman" pitchFamily="18" charset="0"/>
                  <a:ea typeface="SimHei" panose="02010609060101010101" pitchFamily="49" charset="-122"/>
                </a:rPr>
                <a:t>标签</a:t>
              </a:r>
              <a:endParaRPr lang="zh-CN" altLang="en-US" sz="2000" dirty="0">
                <a:latin typeface="Times New Roman" pitchFamily="18" charset="0"/>
                <a:ea typeface="SimHei" panose="02010609060101010101" pitchFamily="49" charset="-122"/>
              </a:endParaRPr>
            </a:p>
          </p:txBody>
        </p:sp>
        <p:sp>
          <p:nvSpPr>
            <p:cNvPr id="9" name="Rectangle 8">
              <a:extLst>
                <a:ext uri="{FF2B5EF4-FFF2-40B4-BE49-F238E27FC236}">
                  <a16:creationId xmlns:a16="http://schemas.microsoft.com/office/drawing/2014/main" id="{B30B512B-803F-3841-9B3A-92F637F7F3E9}"/>
                </a:ext>
              </a:extLst>
            </p:cNvPr>
            <p:cNvSpPr>
              <a:spLocks noChangeArrowheads="1"/>
            </p:cNvSpPr>
            <p:nvPr/>
          </p:nvSpPr>
          <p:spPr bwMode="auto">
            <a:xfrm>
              <a:off x="3995738" y="2644775"/>
              <a:ext cx="911225" cy="361950"/>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0" name="Freeform 9">
              <a:extLst>
                <a:ext uri="{FF2B5EF4-FFF2-40B4-BE49-F238E27FC236}">
                  <a16:creationId xmlns:a16="http://schemas.microsoft.com/office/drawing/2014/main" id="{2476A8F9-04BD-8E42-9EBA-2C09E2CFD8CF}"/>
                </a:ext>
              </a:extLst>
            </p:cNvPr>
            <p:cNvSpPr>
              <a:spLocks/>
            </p:cNvSpPr>
            <p:nvPr/>
          </p:nvSpPr>
          <p:spPr bwMode="auto">
            <a:xfrm>
              <a:off x="3995738" y="2644775"/>
              <a:ext cx="911225" cy="361950"/>
            </a:xfrm>
            <a:custGeom>
              <a:avLst/>
              <a:gdLst>
                <a:gd name="T0" fmla="*/ 0 w 1010"/>
                <a:gd name="T1" fmla="*/ 2147483647 h 430"/>
                <a:gd name="T2" fmla="*/ 2147483647 w 1010"/>
                <a:gd name="T3" fmla="*/ 2147483647 h 430"/>
                <a:gd name="T4" fmla="*/ 2147483647 w 1010"/>
                <a:gd name="T5" fmla="*/ 0 h 430"/>
                <a:gd name="T6" fmla="*/ 0 w 1010"/>
                <a:gd name="T7" fmla="*/ 0 h 430"/>
                <a:gd name="T8" fmla="*/ 0 w 1010"/>
                <a:gd name="T9" fmla="*/ 2147483647 h 430"/>
                <a:gd name="T10" fmla="*/ 0 w 1010"/>
                <a:gd name="T11" fmla="*/ 2147483647 h 4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10" h="430">
                  <a:moveTo>
                    <a:pt x="0" y="430"/>
                  </a:moveTo>
                  <a:lnTo>
                    <a:pt x="1010" y="430"/>
                  </a:lnTo>
                  <a:lnTo>
                    <a:pt x="1010" y="0"/>
                  </a:lnTo>
                  <a:lnTo>
                    <a:pt x="0" y="0"/>
                  </a:lnTo>
                  <a:lnTo>
                    <a:pt x="0" y="430"/>
                  </a:lnTo>
                </a:path>
              </a:pathLst>
            </a:custGeom>
            <a:noFill/>
            <a:ln w="158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1" name="Rectangle 10">
              <a:extLst>
                <a:ext uri="{FF2B5EF4-FFF2-40B4-BE49-F238E27FC236}">
                  <a16:creationId xmlns:a16="http://schemas.microsoft.com/office/drawing/2014/main" id="{4672DA80-EED2-154F-96B5-69793B7ACF0A}"/>
                </a:ext>
              </a:extLst>
            </p:cNvPr>
            <p:cNvSpPr>
              <a:spLocks noChangeArrowheads="1"/>
            </p:cNvSpPr>
            <p:nvPr/>
          </p:nvSpPr>
          <p:spPr bwMode="auto">
            <a:xfrm>
              <a:off x="4244975" y="2698750"/>
              <a:ext cx="463970" cy="268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dirty="0">
                  <a:latin typeface="Times New Roman" pitchFamily="18" charset="0"/>
                  <a:ea typeface="SimHei" panose="02010609060101010101" pitchFamily="49" charset="-122"/>
                </a:rPr>
                <a:t>组号</a:t>
              </a:r>
              <a:endParaRPr lang="zh-CN" altLang="en-US" sz="2000" dirty="0">
                <a:latin typeface="Times New Roman" pitchFamily="18" charset="0"/>
                <a:ea typeface="SimHei" panose="02010609060101010101" pitchFamily="49" charset="-122"/>
              </a:endParaRPr>
            </a:p>
          </p:txBody>
        </p:sp>
        <p:sp>
          <p:nvSpPr>
            <p:cNvPr id="12" name="Rectangle 11">
              <a:extLst>
                <a:ext uri="{FF2B5EF4-FFF2-40B4-BE49-F238E27FC236}">
                  <a16:creationId xmlns:a16="http://schemas.microsoft.com/office/drawing/2014/main" id="{E4B797DC-7480-0140-B440-68A4364DD1EF}"/>
                </a:ext>
              </a:extLst>
            </p:cNvPr>
            <p:cNvSpPr>
              <a:spLocks noChangeArrowheads="1"/>
            </p:cNvSpPr>
            <p:nvPr/>
          </p:nvSpPr>
          <p:spPr bwMode="auto">
            <a:xfrm>
              <a:off x="4906963" y="2644775"/>
              <a:ext cx="1301750" cy="361950"/>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3" name="Freeform 12">
              <a:extLst>
                <a:ext uri="{FF2B5EF4-FFF2-40B4-BE49-F238E27FC236}">
                  <a16:creationId xmlns:a16="http://schemas.microsoft.com/office/drawing/2014/main" id="{3AA71343-B49B-B04E-9D1C-1879A6F5BA38}"/>
                </a:ext>
              </a:extLst>
            </p:cNvPr>
            <p:cNvSpPr>
              <a:spLocks/>
            </p:cNvSpPr>
            <p:nvPr/>
          </p:nvSpPr>
          <p:spPr bwMode="auto">
            <a:xfrm>
              <a:off x="4906963" y="2644775"/>
              <a:ext cx="1301750" cy="361950"/>
            </a:xfrm>
            <a:custGeom>
              <a:avLst/>
              <a:gdLst>
                <a:gd name="T0" fmla="*/ 0 w 1441"/>
                <a:gd name="T1" fmla="*/ 2147483647 h 430"/>
                <a:gd name="T2" fmla="*/ 2147483647 w 1441"/>
                <a:gd name="T3" fmla="*/ 2147483647 h 430"/>
                <a:gd name="T4" fmla="*/ 2147483647 w 1441"/>
                <a:gd name="T5" fmla="*/ 0 h 430"/>
                <a:gd name="T6" fmla="*/ 0 w 1441"/>
                <a:gd name="T7" fmla="*/ 0 h 430"/>
                <a:gd name="T8" fmla="*/ 0 w 1441"/>
                <a:gd name="T9" fmla="*/ 2147483647 h 430"/>
                <a:gd name="T10" fmla="*/ 0 w 1441"/>
                <a:gd name="T11" fmla="*/ 2147483647 h 4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1" h="430">
                  <a:moveTo>
                    <a:pt x="0" y="430"/>
                  </a:moveTo>
                  <a:lnTo>
                    <a:pt x="1441" y="430"/>
                  </a:lnTo>
                  <a:lnTo>
                    <a:pt x="1441" y="0"/>
                  </a:lnTo>
                  <a:lnTo>
                    <a:pt x="0" y="0"/>
                  </a:lnTo>
                  <a:lnTo>
                    <a:pt x="0" y="430"/>
                  </a:lnTo>
                </a:path>
              </a:pathLst>
            </a:custGeom>
            <a:noFill/>
            <a:ln w="158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4" name="Rectangle 13">
              <a:extLst>
                <a:ext uri="{FF2B5EF4-FFF2-40B4-BE49-F238E27FC236}">
                  <a16:creationId xmlns:a16="http://schemas.microsoft.com/office/drawing/2014/main" id="{3FFE76D1-CC0A-C242-B75B-0B5166108F0A}"/>
                </a:ext>
              </a:extLst>
            </p:cNvPr>
            <p:cNvSpPr>
              <a:spLocks noChangeArrowheads="1"/>
            </p:cNvSpPr>
            <p:nvPr/>
          </p:nvSpPr>
          <p:spPr bwMode="auto">
            <a:xfrm>
              <a:off x="5145088" y="2698750"/>
              <a:ext cx="927940" cy="268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600" dirty="0">
                  <a:latin typeface="Times New Roman" pitchFamily="18" charset="0"/>
                  <a:ea typeface="SimHei" panose="02010609060101010101" pitchFamily="49" charset="-122"/>
                </a:rPr>
                <a:t>块内地址</a:t>
              </a:r>
              <a:endParaRPr lang="zh-CN" altLang="en-US" sz="2000" dirty="0">
                <a:latin typeface="Times New Roman" pitchFamily="18" charset="0"/>
                <a:ea typeface="SimHei" panose="02010609060101010101" pitchFamily="49" charset="-122"/>
              </a:endParaRPr>
            </a:p>
          </p:txBody>
        </p:sp>
        <p:sp>
          <p:nvSpPr>
            <p:cNvPr id="15" name="Rectangle 14">
              <a:extLst>
                <a:ext uri="{FF2B5EF4-FFF2-40B4-BE49-F238E27FC236}">
                  <a16:creationId xmlns:a16="http://schemas.microsoft.com/office/drawing/2014/main" id="{20948923-FC40-C946-B376-01CBC5901B26}"/>
                </a:ext>
              </a:extLst>
            </p:cNvPr>
            <p:cNvSpPr>
              <a:spLocks noChangeArrowheads="1"/>
            </p:cNvSpPr>
            <p:nvPr/>
          </p:nvSpPr>
          <p:spPr bwMode="auto">
            <a:xfrm>
              <a:off x="4097338" y="3613150"/>
              <a:ext cx="819150" cy="242888"/>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6" name="Rectangle 15">
              <a:extLst>
                <a:ext uri="{FF2B5EF4-FFF2-40B4-BE49-F238E27FC236}">
                  <a16:creationId xmlns:a16="http://schemas.microsoft.com/office/drawing/2014/main" id="{82F3E984-FCD8-8447-B436-3D8B9027B4BB}"/>
                </a:ext>
              </a:extLst>
            </p:cNvPr>
            <p:cNvSpPr>
              <a:spLocks noChangeArrowheads="1"/>
            </p:cNvSpPr>
            <p:nvPr/>
          </p:nvSpPr>
          <p:spPr bwMode="auto">
            <a:xfrm>
              <a:off x="4097338" y="3613150"/>
              <a:ext cx="819150" cy="24288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7" name="Rectangle 16">
              <a:extLst>
                <a:ext uri="{FF2B5EF4-FFF2-40B4-BE49-F238E27FC236}">
                  <a16:creationId xmlns:a16="http://schemas.microsoft.com/office/drawing/2014/main" id="{8B0A9B3C-E48F-AA4C-861F-43B3A706D031}"/>
                </a:ext>
              </a:extLst>
            </p:cNvPr>
            <p:cNvSpPr>
              <a:spLocks noChangeArrowheads="1"/>
            </p:cNvSpPr>
            <p:nvPr/>
          </p:nvSpPr>
          <p:spPr bwMode="auto">
            <a:xfrm>
              <a:off x="4097338" y="3856038"/>
              <a:ext cx="819150"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8" name="Rectangle 17">
              <a:extLst>
                <a:ext uri="{FF2B5EF4-FFF2-40B4-BE49-F238E27FC236}">
                  <a16:creationId xmlns:a16="http://schemas.microsoft.com/office/drawing/2014/main" id="{EACF0AEF-3132-FD48-B749-C72EF18D79B8}"/>
                </a:ext>
              </a:extLst>
            </p:cNvPr>
            <p:cNvSpPr>
              <a:spLocks noChangeArrowheads="1"/>
            </p:cNvSpPr>
            <p:nvPr/>
          </p:nvSpPr>
          <p:spPr bwMode="auto">
            <a:xfrm>
              <a:off x="4097338" y="3856038"/>
              <a:ext cx="819150"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9" name="Rectangle 18">
              <a:extLst>
                <a:ext uri="{FF2B5EF4-FFF2-40B4-BE49-F238E27FC236}">
                  <a16:creationId xmlns:a16="http://schemas.microsoft.com/office/drawing/2014/main" id="{526F26FC-71F3-0847-8FB5-E96E963CCE33}"/>
                </a:ext>
              </a:extLst>
            </p:cNvPr>
            <p:cNvSpPr>
              <a:spLocks noChangeArrowheads="1"/>
            </p:cNvSpPr>
            <p:nvPr/>
          </p:nvSpPr>
          <p:spPr bwMode="auto">
            <a:xfrm>
              <a:off x="4097338" y="4070350"/>
              <a:ext cx="819150"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0" name="Rectangle 19">
              <a:extLst>
                <a:ext uri="{FF2B5EF4-FFF2-40B4-BE49-F238E27FC236}">
                  <a16:creationId xmlns:a16="http://schemas.microsoft.com/office/drawing/2014/main" id="{5995373C-BDDB-DA4F-9835-01607B8C9893}"/>
                </a:ext>
              </a:extLst>
            </p:cNvPr>
            <p:cNvSpPr>
              <a:spLocks noChangeArrowheads="1"/>
            </p:cNvSpPr>
            <p:nvPr/>
          </p:nvSpPr>
          <p:spPr bwMode="auto">
            <a:xfrm>
              <a:off x="4097338" y="4070350"/>
              <a:ext cx="819150"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1" name="Rectangle 20">
              <a:extLst>
                <a:ext uri="{FF2B5EF4-FFF2-40B4-BE49-F238E27FC236}">
                  <a16:creationId xmlns:a16="http://schemas.microsoft.com/office/drawing/2014/main" id="{B35CA220-DE1C-924F-A66B-DB1E7C0ED208}"/>
                </a:ext>
              </a:extLst>
            </p:cNvPr>
            <p:cNvSpPr>
              <a:spLocks noChangeArrowheads="1"/>
            </p:cNvSpPr>
            <p:nvPr/>
          </p:nvSpPr>
          <p:spPr bwMode="auto">
            <a:xfrm>
              <a:off x="4097338" y="4314825"/>
              <a:ext cx="819150" cy="246063"/>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2" name="Rectangle 21">
              <a:extLst>
                <a:ext uri="{FF2B5EF4-FFF2-40B4-BE49-F238E27FC236}">
                  <a16:creationId xmlns:a16="http://schemas.microsoft.com/office/drawing/2014/main" id="{438D22EB-E477-6346-A57C-E99B4434BBA9}"/>
                </a:ext>
              </a:extLst>
            </p:cNvPr>
            <p:cNvSpPr>
              <a:spLocks noChangeArrowheads="1"/>
            </p:cNvSpPr>
            <p:nvPr/>
          </p:nvSpPr>
          <p:spPr bwMode="auto">
            <a:xfrm>
              <a:off x="4097338" y="4314825"/>
              <a:ext cx="819150" cy="246063"/>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3" name="Rectangle 22">
              <a:extLst>
                <a:ext uri="{FF2B5EF4-FFF2-40B4-BE49-F238E27FC236}">
                  <a16:creationId xmlns:a16="http://schemas.microsoft.com/office/drawing/2014/main" id="{D1443253-0C3D-CE40-8DC3-D1DACA3FE3C1}"/>
                </a:ext>
              </a:extLst>
            </p:cNvPr>
            <p:cNvSpPr>
              <a:spLocks noChangeArrowheads="1"/>
            </p:cNvSpPr>
            <p:nvPr/>
          </p:nvSpPr>
          <p:spPr bwMode="auto">
            <a:xfrm>
              <a:off x="4097338" y="4560888"/>
              <a:ext cx="819150" cy="242887"/>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4" name="Rectangle 23">
              <a:extLst>
                <a:ext uri="{FF2B5EF4-FFF2-40B4-BE49-F238E27FC236}">
                  <a16:creationId xmlns:a16="http://schemas.microsoft.com/office/drawing/2014/main" id="{141FAE67-DD4B-A34E-8B5D-28EA3B6F8C16}"/>
                </a:ext>
              </a:extLst>
            </p:cNvPr>
            <p:cNvSpPr>
              <a:spLocks noChangeArrowheads="1"/>
            </p:cNvSpPr>
            <p:nvPr/>
          </p:nvSpPr>
          <p:spPr bwMode="auto">
            <a:xfrm>
              <a:off x="4097338" y="4560888"/>
              <a:ext cx="819150" cy="2428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5" name="Rectangle 24">
              <a:extLst>
                <a:ext uri="{FF2B5EF4-FFF2-40B4-BE49-F238E27FC236}">
                  <a16:creationId xmlns:a16="http://schemas.microsoft.com/office/drawing/2014/main" id="{0182E1FB-E85F-EF4D-929F-20CF8C096C3D}"/>
                </a:ext>
              </a:extLst>
            </p:cNvPr>
            <p:cNvSpPr>
              <a:spLocks noChangeArrowheads="1"/>
            </p:cNvSpPr>
            <p:nvPr/>
          </p:nvSpPr>
          <p:spPr bwMode="auto">
            <a:xfrm>
              <a:off x="4097338" y="4803775"/>
              <a:ext cx="819150"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6" name="Rectangle 25">
              <a:extLst>
                <a:ext uri="{FF2B5EF4-FFF2-40B4-BE49-F238E27FC236}">
                  <a16:creationId xmlns:a16="http://schemas.microsoft.com/office/drawing/2014/main" id="{EDB91020-3032-FA4D-98F8-31CDEC38831D}"/>
                </a:ext>
              </a:extLst>
            </p:cNvPr>
            <p:cNvSpPr>
              <a:spLocks noChangeArrowheads="1"/>
            </p:cNvSpPr>
            <p:nvPr/>
          </p:nvSpPr>
          <p:spPr bwMode="auto">
            <a:xfrm>
              <a:off x="4097338" y="4803775"/>
              <a:ext cx="819150"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7" name="Rectangle 26">
              <a:extLst>
                <a:ext uri="{FF2B5EF4-FFF2-40B4-BE49-F238E27FC236}">
                  <a16:creationId xmlns:a16="http://schemas.microsoft.com/office/drawing/2014/main" id="{FF90D8BD-CA7D-ED41-9DC6-B4FE9420A7C2}"/>
                </a:ext>
              </a:extLst>
            </p:cNvPr>
            <p:cNvSpPr>
              <a:spLocks noChangeArrowheads="1"/>
            </p:cNvSpPr>
            <p:nvPr/>
          </p:nvSpPr>
          <p:spPr bwMode="auto">
            <a:xfrm>
              <a:off x="4097338" y="5018088"/>
              <a:ext cx="819150" cy="246062"/>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8" name="Rectangle 27">
              <a:extLst>
                <a:ext uri="{FF2B5EF4-FFF2-40B4-BE49-F238E27FC236}">
                  <a16:creationId xmlns:a16="http://schemas.microsoft.com/office/drawing/2014/main" id="{D8DFE587-2A54-2442-AFAF-1E3EA39D0975}"/>
                </a:ext>
              </a:extLst>
            </p:cNvPr>
            <p:cNvSpPr>
              <a:spLocks noChangeArrowheads="1"/>
            </p:cNvSpPr>
            <p:nvPr/>
          </p:nvSpPr>
          <p:spPr bwMode="auto">
            <a:xfrm>
              <a:off x="4097338" y="5018088"/>
              <a:ext cx="819150"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9" name="Rectangle 28">
              <a:extLst>
                <a:ext uri="{FF2B5EF4-FFF2-40B4-BE49-F238E27FC236}">
                  <a16:creationId xmlns:a16="http://schemas.microsoft.com/office/drawing/2014/main" id="{5F2D9536-B3A7-014B-A5B9-AA3F961E3822}"/>
                </a:ext>
              </a:extLst>
            </p:cNvPr>
            <p:cNvSpPr>
              <a:spLocks noChangeArrowheads="1"/>
            </p:cNvSpPr>
            <p:nvPr/>
          </p:nvSpPr>
          <p:spPr bwMode="auto">
            <a:xfrm>
              <a:off x="4097338" y="5264150"/>
              <a:ext cx="819150"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30" name="Rectangle 29">
              <a:extLst>
                <a:ext uri="{FF2B5EF4-FFF2-40B4-BE49-F238E27FC236}">
                  <a16:creationId xmlns:a16="http://schemas.microsoft.com/office/drawing/2014/main" id="{82ECE1AF-9AB1-F249-AE2F-7EC4735CA843}"/>
                </a:ext>
              </a:extLst>
            </p:cNvPr>
            <p:cNvSpPr>
              <a:spLocks noChangeArrowheads="1"/>
            </p:cNvSpPr>
            <p:nvPr/>
          </p:nvSpPr>
          <p:spPr bwMode="auto">
            <a:xfrm>
              <a:off x="4097338" y="5264150"/>
              <a:ext cx="819150"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31" name="Rectangle 30">
              <a:extLst>
                <a:ext uri="{FF2B5EF4-FFF2-40B4-BE49-F238E27FC236}">
                  <a16:creationId xmlns:a16="http://schemas.microsoft.com/office/drawing/2014/main" id="{CD3EB3F8-A9FE-8E41-BEFA-EFC2ADB5924C}"/>
                </a:ext>
              </a:extLst>
            </p:cNvPr>
            <p:cNvSpPr>
              <a:spLocks noChangeArrowheads="1"/>
            </p:cNvSpPr>
            <p:nvPr/>
          </p:nvSpPr>
          <p:spPr bwMode="auto">
            <a:xfrm>
              <a:off x="4359275" y="3648076"/>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2" name="Rectangle 31">
              <a:extLst>
                <a:ext uri="{FF2B5EF4-FFF2-40B4-BE49-F238E27FC236}">
                  <a16:creationId xmlns:a16="http://schemas.microsoft.com/office/drawing/2014/main" id="{C183C896-42C9-B54B-A419-AC9AA0186571}"/>
                </a:ext>
              </a:extLst>
            </p:cNvPr>
            <p:cNvSpPr>
              <a:spLocks noChangeArrowheads="1"/>
            </p:cNvSpPr>
            <p:nvPr/>
          </p:nvSpPr>
          <p:spPr bwMode="auto">
            <a:xfrm>
              <a:off x="4352925" y="3889375"/>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3" name="Rectangle 32">
              <a:extLst>
                <a:ext uri="{FF2B5EF4-FFF2-40B4-BE49-F238E27FC236}">
                  <a16:creationId xmlns:a16="http://schemas.microsoft.com/office/drawing/2014/main" id="{A80B64B1-96AE-564B-9F02-E49DFE389262}"/>
                </a:ext>
              </a:extLst>
            </p:cNvPr>
            <p:cNvSpPr>
              <a:spLocks noChangeArrowheads="1"/>
            </p:cNvSpPr>
            <p:nvPr/>
          </p:nvSpPr>
          <p:spPr bwMode="auto">
            <a:xfrm>
              <a:off x="4352925" y="4105275"/>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4" name="Rectangle 33">
              <a:extLst>
                <a:ext uri="{FF2B5EF4-FFF2-40B4-BE49-F238E27FC236}">
                  <a16:creationId xmlns:a16="http://schemas.microsoft.com/office/drawing/2014/main" id="{5B552412-F85C-6D4D-8A8D-2C079637F27B}"/>
                </a:ext>
              </a:extLst>
            </p:cNvPr>
            <p:cNvSpPr>
              <a:spLocks noChangeArrowheads="1"/>
            </p:cNvSpPr>
            <p:nvPr/>
          </p:nvSpPr>
          <p:spPr bwMode="auto">
            <a:xfrm>
              <a:off x="4352925" y="4375150"/>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5" name="Rectangle 34">
              <a:extLst>
                <a:ext uri="{FF2B5EF4-FFF2-40B4-BE49-F238E27FC236}">
                  <a16:creationId xmlns:a16="http://schemas.microsoft.com/office/drawing/2014/main" id="{E0BC3365-C11F-BE4F-A0D0-3F51DE4FFF60}"/>
                </a:ext>
              </a:extLst>
            </p:cNvPr>
            <p:cNvSpPr>
              <a:spLocks noChangeArrowheads="1"/>
            </p:cNvSpPr>
            <p:nvPr/>
          </p:nvSpPr>
          <p:spPr bwMode="auto">
            <a:xfrm>
              <a:off x="4352925" y="4595813"/>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6" name="Rectangle 35">
              <a:extLst>
                <a:ext uri="{FF2B5EF4-FFF2-40B4-BE49-F238E27FC236}">
                  <a16:creationId xmlns:a16="http://schemas.microsoft.com/office/drawing/2014/main" id="{903EC7EF-D3FF-1247-B78D-E6716C2E8F16}"/>
                </a:ext>
              </a:extLst>
            </p:cNvPr>
            <p:cNvSpPr>
              <a:spLocks noChangeArrowheads="1"/>
            </p:cNvSpPr>
            <p:nvPr/>
          </p:nvSpPr>
          <p:spPr bwMode="auto">
            <a:xfrm>
              <a:off x="4364038" y="4832350"/>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7" name="Rectangle 36">
              <a:extLst>
                <a:ext uri="{FF2B5EF4-FFF2-40B4-BE49-F238E27FC236}">
                  <a16:creationId xmlns:a16="http://schemas.microsoft.com/office/drawing/2014/main" id="{15920329-1445-CF4F-A619-080CE6F1C3F5}"/>
                </a:ext>
              </a:extLst>
            </p:cNvPr>
            <p:cNvSpPr>
              <a:spLocks noChangeArrowheads="1"/>
            </p:cNvSpPr>
            <p:nvPr/>
          </p:nvSpPr>
          <p:spPr bwMode="auto">
            <a:xfrm>
              <a:off x="4359275" y="5049838"/>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8" name="Rectangle 37">
              <a:extLst>
                <a:ext uri="{FF2B5EF4-FFF2-40B4-BE49-F238E27FC236}">
                  <a16:creationId xmlns:a16="http://schemas.microsoft.com/office/drawing/2014/main" id="{56E6C52F-5B5D-F440-93A1-079B37356988}"/>
                </a:ext>
              </a:extLst>
            </p:cNvPr>
            <p:cNvSpPr>
              <a:spLocks noChangeArrowheads="1"/>
            </p:cNvSpPr>
            <p:nvPr/>
          </p:nvSpPr>
          <p:spPr bwMode="auto">
            <a:xfrm>
              <a:off x="4352925" y="5326063"/>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39" name="Rectangle 38">
              <a:extLst>
                <a:ext uri="{FF2B5EF4-FFF2-40B4-BE49-F238E27FC236}">
                  <a16:creationId xmlns:a16="http://schemas.microsoft.com/office/drawing/2014/main" id="{4527A1D9-E76D-854D-BEC0-63BD53A53C6D}"/>
                </a:ext>
              </a:extLst>
            </p:cNvPr>
            <p:cNvSpPr>
              <a:spLocks noChangeArrowheads="1"/>
            </p:cNvSpPr>
            <p:nvPr/>
          </p:nvSpPr>
          <p:spPr bwMode="auto">
            <a:xfrm>
              <a:off x="2684463" y="3592513"/>
              <a:ext cx="820737" cy="246062"/>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40" name="Rectangle 39">
              <a:extLst>
                <a:ext uri="{FF2B5EF4-FFF2-40B4-BE49-F238E27FC236}">
                  <a16:creationId xmlns:a16="http://schemas.microsoft.com/office/drawing/2014/main" id="{4BD87AB3-5D30-6B49-BBEE-666DAADED375}"/>
                </a:ext>
              </a:extLst>
            </p:cNvPr>
            <p:cNvSpPr>
              <a:spLocks noChangeArrowheads="1"/>
            </p:cNvSpPr>
            <p:nvPr/>
          </p:nvSpPr>
          <p:spPr bwMode="auto">
            <a:xfrm>
              <a:off x="2684463" y="3592513"/>
              <a:ext cx="820737"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1" name="Rectangle 40">
              <a:extLst>
                <a:ext uri="{FF2B5EF4-FFF2-40B4-BE49-F238E27FC236}">
                  <a16:creationId xmlns:a16="http://schemas.microsoft.com/office/drawing/2014/main" id="{1AE9A0F9-41B5-6B4F-9F7A-364860D965BE}"/>
                </a:ext>
              </a:extLst>
            </p:cNvPr>
            <p:cNvSpPr>
              <a:spLocks noChangeArrowheads="1"/>
            </p:cNvSpPr>
            <p:nvPr/>
          </p:nvSpPr>
          <p:spPr bwMode="auto">
            <a:xfrm>
              <a:off x="2684463" y="3838575"/>
              <a:ext cx="820737"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42" name="Rectangle 41">
              <a:extLst>
                <a:ext uri="{FF2B5EF4-FFF2-40B4-BE49-F238E27FC236}">
                  <a16:creationId xmlns:a16="http://schemas.microsoft.com/office/drawing/2014/main" id="{4717A604-F09B-8B4E-B1DE-E3596AE7F8B2}"/>
                </a:ext>
              </a:extLst>
            </p:cNvPr>
            <p:cNvSpPr>
              <a:spLocks noChangeArrowheads="1"/>
            </p:cNvSpPr>
            <p:nvPr/>
          </p:nvSpPr>
          <p:spPr bwMode="auto">
            <a:xfrm>
              <a:off x="2684463" y="3838575"/>
              <a:ext cx="820737"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3" name="Rectangle 42">
              <a:extLst>
                <a:ext uri="{FF2B5EF4-FFF2-40B4-BE49-F238E27FC236}">
                  <a16:creationId xmlns:a16="http://schemas.microsoft.com/office/drawing/2014/main" id="{D881F9EA-90B1-2843-8805-E04AA9B39380}"/>
                </a:ext>
              </a:extLst>
            </p:cNvPr>
            <p:cNvSpPr>
              <a:spLocks noChangeArrowheads="1"/>
            </p:cNvSpPr>
            <p:nvPr/>
          </p:nvSpPr>
          <p:spPr bwMode="auto">
            <a:xfrm>
              <a:off x="2684463" y="4051300"/>
              <a:ext cx="820737"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44" name="Rectangle 43">
              <a:extLst>
                <a:ext uri="{FF2B5EF4-FFF2-40B4-BE49-F238E27FC236}">
                  <a16:creationId xmlns:a16="http://schemas.microsoft.com/office/drawing/2014/main" id="{FCC60DA8-A8B0-DD4E-9203-3E107AF32FC4}"/>
                </a:ext>
              </a:extLst>
            </p:cNvPr>
            <p:cNvSpPr>
              <a:spLocks noChangeArrowheads="1"/>
            </p:cNvSpPr>
            <p:nvPr/>
          </p:nvSpPr>
          <p:spPr bwMode="auto">
            <a:xfrm>
              <a:off x="2684463" y="4051300"/>
              <a:ext cx="820737"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5" name="Rectangle 44">
              <a:extLst>
                <a:ext uri="{FF2B5EF4-FFF2-40B4-BE49-F238E27FC236}">
                  <a16:creationId xmlns:a16="http://schemas.microsoft.com/office/drawing/2014/main" id="{6D8DAF91-2FB0-5F47-82BC-F2F6DDDAC44E}"/>
                </a:ext>
              </a:extLst>
            </p:cNvPr>
            <p:cNvSpPr>
              <a:spLocks noChangeArrowheads="1"/>
            </p:cNvSpPr>
            <p:nvPr/>
          </p:nvSpPr>
          <p:spPr bwMode="auto">
            <a:xfrm>
              <a:off x="2684463" y="4295775"/>
              <a:ext cx="820737"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46" name="Rectangle 45">
              <a:extLst>
                <a:ext uri="{FF2B5EF4-FFF2-40B4-BE49-F238E27FC236}">
                  <a16:creationId xmlns:a16="http://schemas.microsoft.com/office/drawing/2014/main" id="{24649178-911D-6C4A-8BA5-6B50EFE50FCA}"/>
                </a:ext>
              </a:extLst>
            </p:cNvPr>
            <p:cNvSpPr>
              <a:spLocks noChangeArrowheads="1"/>
            </p:cNvSpPr>
            <p:nvPr/>
          </p:nvSpPr>
          <p:spPr bwMode="auto">
            <a:xfrm>
              <a:off x="2684463" y="4295775"/>
              <a:ext cx="820737"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7" name="Rectangle 46">
              <a:extLst>
                <a:ext uri="{FF2B5EF4-FFF2-40B4-BE49-F238E27FC236}">
                  <a16:creationId xmlns:a16="http://schemas.microsoft.com/office/drawing/2014/main" id="{605CAD82-E0A6-B446-BDB2-F743D8D4A848}"/>
                </a:ext>
              </a:extLst>
            </p:cNvPr>
            <p:cNvSpPr>
              <a:spLocks noChangeArrowheads="1"/>
            </p:cNvSpPr>
            <p:nvPr/>
          </p:nvSpPr>
          <p:spPr bwMode="auto">
            <a:xfrm>
              <a:off x="2684463" y="4540250"/>
              <a:ext cx="820737" cy="246063"/>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48" name="Rectangle 47">
              <a:extLst>
                <a:ext uri="{FF2B5EF4-FFF2-40B4-BE49-F238E27FC236}">
                  <a16:creationId xmlns:a16="http://schemas.microsoft.com/office/drawing/2014/main" id="{0FC7C42F-361C-EA4B-B667-08F1E44E3589}"/>
                </a:ext>
              </a:extLst>
            </p:cNvPr>
            <p:cNvSpPr>
              <a:spLocks noChangeArrowheads="1"/>
            </p:cNvSpPr>
            <p:nvPr/>
          </p:nvSpPr>
          <p:spPr bwMode="auto">
            <a:xfrm>
              <a:off x="2684463" y="4540250"/>
              <a:ext cx="820737" cy="246063"/>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49" name="Rectangle 48">
              <a:extLst>
                <a:ext uri="{FF2B5EF4-FFF2-40B4-BE49-F238E27FC236}">
                  <a16:creationId xmlns:a16="http://schemas.microsoft.com/office/drawing/2014/main" id="{6F60C542-46D2-B44E-A5BE-24B3CEA23613}"/>
                </a:ext>
              </a:extLst>
            </p:cNvPr>
            <p:cNvSpPr>
              <a:spLocks noChangeArrowheads="1"/>
            </p:cNvSpPr>
            <p:nvPr/>
          </p:nvSpPr>
          <p:spPr bwMode="auto">
            <a:xfrm>
              <a:off x="2684463" y="4786313"/>
              <a:ext cx="820737"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50" name="Rectangle 49">
              <a:extLst>
                <a:ext uri="{FF2B5EF4-FFF2-40B4-BE49-F238E27FC236}">
                  <a16:creationId xmlns:a16="http://schemas.microsoft.com/office/drawing/2014/main" id="{12746D5C-5853-204F-B268-709FD6A59234}"/>
                </a:ext>
              </a:extLst>
            </p:cNvPr>
            <p:cNvSpPr>
              <a:spLocks noChangeArrowheads="1"/>
            </p:cNvSpPr>
            <p:nvPr/>
          </p:nvSpPr>
          <p:spPr bwMode="auto">
            <a:xfrm>
              <a:off x="2684463" y="4786313"/>
              <a:ext cx="820737"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51" name="Rectangle 50">
              <a:extLst>
                <a:ext uri="{FF2B5EF4-FFF2-40B4-BE49-F238E27FC236}">
                  <a16:creationId xmlns:a16="http://schemas.microsoft.com/office/drawing/2014/main" id="{208365D4-44C1-4945-980E-EC4691546877}"/>
                </a:ext>
              </a:extLst>
            </p:cNvPr>
            <p:cNvSpPr>
              <a:spLocks noChangeArrowheads="1"/>
            </p:cNvSpPr>
            <p:nvPr/>
          </p:nvSpPr>
          <p:spPr bwMode="auto">
            <a:xfrm>
              <a:off x="2684463" y="4999038"/>
              <a:ext cx="820737" cy="244475"/>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52" name="Rectangle 51">
              <a:extLst>
                <a:ext uri="{FF2B5EF4-FFF2-40B4-BE49-F238E27FC236}">
                  <a16:creationId xmlns:a16="http://schemas.microsoft.com/office/drawing/2014/main" id="{B763C16C-A6DC-164E-AF75-DAF0D2A2258F}"/>
                </a:ext>
              </a:extLst>
            </p:cNvPr>
            <p:cNvSpPr>
              <a:spLocks noChangeArrowheads="1"/>
            </p:cNvSpPr>
            <p:nvPr/>
          </p:nvSpPr>
          <p:spPr bwMode="auto">
            <a:xfrm>
              <a:off x="2684463" y="4999038"/>
              <a:ext cx="820737"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53" name="Rectangle 52">
              <a:extLst>
                <a:ext uri="{FF2B5EF4-FFF2-40B4-BE49-F238E27FC236}">
                  <a16:creationId xmlns:a16="http://schemas.microsoft.com/office/drawing/2014/main" id="{2BB5D4EE-693F-604C-9020-A71A1C919B4B}"/>
                </a:ext>
              </a:extLst>
            </p:cNvPr>
            <p:cNvSpPr>
              <a:spLocks noChangeArrowheads="1"/>
            </p:cNvSpPr>
            <p:nvPr/>
          </p:nvSpPr>
          <p:spPr bwMode="auto">
            <a:xfrm>
              <a:off x="2684463" y="5243513"/>
              <a:ext cx="820737" cy="246062"/>
            </a:xfrm>
            <a:prstGeom prst="rect">
              <a:avLst/>
            </a:prstGeom>
            <a:solidFill>
              <a:srgbClr val="FFFF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54" name="Rectangle 53">
              <a:extLst>
                <a:ext uri="{FF2B5EF4-FFF2-40B4-BE49-F238E27FC236}">
                  <a16:creationId xmlns:a16="http://schemas.microsoft.com/office/drawing/2014/main" id="{B0797B46-3ADE-3C47-BDB2-323762E3CA1E}"/>
                </a:ext>
              </a:extLst>
            </p:cNvPr>
            <p:cNvSpPr>
              <a:spLocks noChangeArrowheads="1"/>
            </p:cNvSpPr>
            <p:nvPr/>
          </p:nvSpPr>
          <p:spPr bwMode="auto">
            <a:xfrm>
              <a:off x="2684463" y="5243513"/>
              <a:ext cx="820737"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55" name="Rectangle 54">
              <a:extLst>
                <a:ext uri="{FF2B5EF4-FFF2-40B4-BE49-F238E27FC236}">
                  <a16:creationId xmlns:a16="http://schemas.microsoft.com/office/drawing/2014/main" id="{770A8034-0A58-134F-8D7A-321DE16EAF8D}"/>
                </a:ext>
              </a:extLst>
            </p:cNvPr>
            <p:cNvSpPr>
              <a:spLocks noChangeArrowheads="1"/>
            </p:cNvSpPr>
            <p:nvPr/>
          </p:nvSpPr>
          <p:spPr bwMode="auto">
            <a:xfrm>
              <a:off x="2952750" y="3656013"/>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56" name="Rectangle 55">
              <a:extLst>
                <a:ext uri="{FF2B5EF4-FFF2-40B4-BE49-F238E27FC236}">
                  <a16:creationId xmlns:a16="http://schemas.microsoft.com/office/drawing/2014/main" id="{ABD36B12-6EE8-9F4B-85D9-E9677E00A28E}"/>
                </a:ext>
              </a:extLst>
            </p:cNvPr>
            <p:cNvSpPr>
              <a:spLocks noChangeArrowheads="1"/>
            </p:cNvSpPr>
            <p:nvPr/>
          </p:nvSpPr>
          <p:spPr bwMode="auto">
            <a:xfrm>
              <a:off x="2952750" y="3873500"/>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57" name="Rectangle 56">
              <a:extLst>
                <a:ext uri="{FF2B5EF4-FFF2-40B4-BE49-F238E27FC236}">
                  <a16:creationId xmlns:a16="http://schemas.microsoft.com/office/drawing/2014/main" id="{86C7E91D-E198-204F-A761-BBEB107274CB}"/>
                </a:ext>
              </a:extLst>
            </p:cNvPr>
            <p:cNvSpPr>
              <a:spLocks noChangeArrowheads="1"/>
            </p:cNvSpPr>
            <p:nvPr/>
          </p:nvSpPr>
          <p:spPr bwMode="auto">
            <a:xfrm>
              <a:off x="2941638" y="4087813"/>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58" name="Rectangle 57">
              <a:extLst>
                <a:ext uri="{FF2B5EF4-FFF2-40B4-BE49-F238E27FC236}">
                  <a16:creationId xmlns:a16="http://schemas.microsoft.com/office/drawing/2014/main" id="{AFE4FC66-C8FC-2B47-AFC7-00CDC74E4318}"/>
                </a:ext>
              </a:extLst>
            </p:cNvPr>
            <p:cNvSpPr>
              <a:spLocks noChangeArrowheads="1"/>
            </p:cNvSpPr>
            <p:nvPr/>
          </p:nvSpPr>
          <p:spPr bwMode="auto">
            <a:xfrm>
              <a:off x="2941638" y="4329113"/>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59" name="Rectangle 58">
              <a:extLst>
                <a:ext uri="{FF2B5EF4-FFF2-40B4-BE49-F238E27FC236}">
                  <a16:creationId xmlns:a16="http://schemas.microsoft.com/office/drawing/2014/main" id="{F6396B6A-133C-174B-A0A7-513D333072C3}"/>
                </a:ext>
              </a:extLst>
            </p:cNvPr>
            <p:cNvSpPr>
              <a:spLocks noChangeArrowheads="1"/>
            </p:cNvSpPr>
            <p:nvPr/>
          </p:nvSpPr>
          <p:spPr bwMode="auto">
            <a:xfrm>
              <a:off x="2941638" y="4573588"/>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60" name="Rectangle 59">
              <a:extLst>
                <a:ext uri="{FF2B5EF4-FFF2-40B4-BE49-F238E27FC236}">
                  <a16:creationId xmlns:a16="http://schemas.microsoft.com/office/drawing/2014/main" id="{1BBB325D-B7B6-A54F-A634-3E346750A4C0}"/>
                </a:ext>
              </a:extLst>
            </p:cNvPr>
            <p:cNvSpPr>
              <a:spLocks noChangeArrowheads="1"/>
            </p:cNvSpPr>
            <p:nvPr/>
          </p:nvSpPr>
          <p:spPr bwMode="auto">
            <a:xfrm>
              <a:off x="2941638" y="4814888"/>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61" name="Rectangle 60">
              <a:extLst>
                <a:ext uri="{FF2B5EF4-FFF2-40B4-BE49-F238E27FC236}">
                  <a16:creationId xmlns:a16="http://schemas.microsoft.com/office/drawing/2014/main" id="{09B7D028-FDB3-0245-B8F4-750D87BD7DB3}"/>
                </a:ext>
              </a:extLst>
            </p:cNvPr>
            <p:cNvSpPr>
              <a:spLocks noChangeArrowheads="1"/>
            </p:cNvSpPr>
            <p:nvPr/>
          </p:nvSpPr>
          <p:spPr bwMode="auto">
            <a:xfrm>
              <a:off x="2941638" y="5059363"/>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62" name="Rectangle 61">
              <a:extLst>
                <a:ext uri="{FF2B5EF4-FFF2-40B4-BE49-F238E27FC236}">
                  <a16:creationId xmlns:a16="http://schemas.microsoft.com/office/drawing/2014/main" id="{ECBFBCAB-0F35-9040-818A-3D3F79097B7E}"/>
                </a:ext>
              </a:extLst>
            </p:cNvPr>
            <p:cNvSpPr>
              <a:spLocks noChangeArrowheads="1"/>
            </p:cNvSpPr>
            <p:nvPr/>
          </p:nvSpPr>
          <p:spPr bwMode="auto">
            <a:xfrm>
              <a:off x="2941638" y="5311775"/>
              <a:ext cx="374053" cy="218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3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63" name="Rectangle 62">
              <a:extLst>
                <a:ext uri="{FF2B5EF4-FFF2-40B4-BE49-F238E27FC236}">
                  <a16:creationId xmlns:a16="http://schemas.microsoft.com/office/drawing/2014/main" id="{953FFC22-3008-C145-8930-96352B6C9928}"/>
                </a:ext>
              </a:extLst>
            </p:cNvPr>
            <p:cNvSpPr>
              <a:spLocks noChangeArrowheads="1"/>
            </p:cNvSpPr>
            <p:nvPr/>
          </p:nvSpPr>
          <p:spPr bwMode="auto">
            <a:xfrm>
              <a:off x="4916488" y="3613150"/>
              <a:ext cx="328612" cy="242888"/>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64" name="Rectangle 63">
              <a:extLst>
                <a:ext uri="{FF2B5EF4-FFF2-40B4-BE49-F238E27FC236}">
                  <a16:creationId xmlns:a16="http://schemas.microsoft.com/office/drawing/2014/main" id="{9C1EA680-22D0-2443-934D-544937856094}"/>
                </a:ext>
              </a:extLst>
            </p:cNvPr>
            <p:cNvSpPr>
              <a:spLocks noChangeArrowheads="1"/>
            </p:cNvSpPr>
            <p:nvPr/>
          </p:nvSpPr>
          <p:spPr bwMode="auto">
            <a:xfrm>
              <a:off x="4916488" y="3613150"/>
              <a:ext cx="328612" cy="24288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65" name="Rectangle 64">
              <a:extLst>
                <a:ext uri="{FF2B5EF4-FFF2-40B4-BE49-F238E27FC236}">
                  <a16:creationId xmlns:a16="http://schemas.microsoft.com/office/drawing/2014/main" id="{50BA146E-DB52-C64B-BC4A-EEE79C9964A6}"/>
                </a:ext>
              </a:extLst>
            </p:cNvPr>
            <p:cNvSpPr>
              <a:spLocks noChangeArrowheads="1"/>
            </p:cNvSpPr>
            <p:nvPr/>
          </p:nvSpPr>
          <p:spPr bwMode="auto">
            <a:xfrm>
              <a:off x="5026025" y="3625850"/>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66" name="Rectangle 65">
              <a:extLst>
                <a:ext uri="{FF2B5EF4-FFF2-40B4-BE49-F238E27FC236}">
                  <a16:creationId xmlns:a16="http://schemas.microsoft.com/office/drawing/2014/main" id="{7C9FF517-AB94-484E-A38A-1C9F81FC544D}"/>
                </a:ext>
              </a:extLst>
            </p:cNvPr>
            <p:cNvSpPr>
              <a:spLocks noChangeArrowheads="1"/>
            </p:cNvSpPr>
            <p:nvPr/>
          </p:nvSpPr>
          <p:spPr bwMode="auto">
            <a:xfrm>
              <a:off x="5245100" y="3613150"/>
              <a:ext cx="327025" cy="242888"/>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67" name="Rectangle 66">
              <a:extLst>
                <a:ext uri="{FF2B5EF4-FFF2-40B4-BE49-F238E27FC236}">
                  <a16:creationId xmlns:a16="http://schemas.microsoft.com/office/drawing/2014/main" id="{4D2CA505-3F61-B74E-BD23-8FB24023D356}"/>
                </a:ext>
              </a:extLst>
            </p:cNvPr>
            <p:cNvSpPr>
              <a:spLocks noChangeArrowheads="1"/>
            </p:cNvSpPr>
            <p:nvPr/>
          </p:nvSpPr>
          <p:spPr bwMode="auto">
            <a:xfrm>
              <a:off x="5245100" y="3613150"/>
              <a:ext cx="327025" cy="24288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68" name="Rectangle 67">
              <a:extLst>
                <a:ext uri="{FF2B5EF4-FFF2-40B4-BE49-F238E27FC236}">
                  <a16:creationId xmlns:a16="http://schemas.microsoft.com/office/drawing/2014/main" id="{9F63085B-0244-B34E-B397-E9E7F7157662}"/>
                </a:ext>
              </a:extLst>
            </p:cNvPr>
            <p:cNvSpPr>
              <a:spLocks noChangeArrowheads="1"/>
            </p:cNvSpPr>
            <p:nvPr/>
          </p:nvSpPr>
          <p:spPr bwMode="auto">
            <a:xfrm>
              <a:off x="5353050" y="3625850"/>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69" name="Rectangle 68">
              <a:extLst>
                <a:ext uri="{FF2B5EF4-FFF2-40B4-BE49-F238E27FC236}">
                  <a16:creationId xmlns:a16="http://schemas.microsoft.com/office/drawing/2014/main" id="{DCBBC59B-C477-4043-85BE-E47814204253}"/>
                </a:ext>
              </a:extLst>
            </p:cNvPr>
            <p:cNvSpPr>
              <a:spLocks noChangeArrowheads="1"/>
            </p:cNvSpPr>
            <p:nvPr/>
          </p:nvSpPr>
          <p:spPr bwMode="auto">
            <a:xfrm>
              <a:off x="4916488" y="3856038"/>
              <a:ext cx="328612"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0" name="Rectangle 69">
              <a:extLst>
                <a:ext uri="{FF2B5EF4-FFF2-40B4-BE49-F238E27FC236}">
                  <a16:creationId xmlns:a16="http://schemas.microsoft.com/office/drawing/2014/main" id="{DEEBF458-E4F4-8044-A2E5-AB352732BE6E}"/>
                </a:ext>
              </a:extLst>
            </p:cNvPr>
            <p:cNvSpPr>
              <a:spLocks noChangeArrowheads="1"/>
            </p:cNvSpPr>
            <p:nvPr/>
          </p:nvSpPr>
          <p:spPr bwMode="auto">
            <a:xfrm>
              <a:off x="4916488" y="3856038"/>
              <a:ext cx="328612"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71" name="Rectangle 70">
              <a:extLst>
                <a:ext uri="{FF2B5EF4-FFF2-40B4-BE49-F238E27FC236}">
                  <a16:creationId xmlns:a16="http://schemas.microsoft.com/office/drawing/2014/main" id="{0E281E5C-2B11-BB4E-9332-6DD0250A524B}"/>
                </a:ext>
              </a:extLst>
            </p:cNvPr>
            <p:cNvSpPr>
              <a:spLocks noChangeArrowheads="1"/>
            </p:cNvSpPr>
            <p:nvPr/>
          </p:nvSpPr>
          <p:spPr bwMode="auto">
            <a:xfrm>
              <a:off x="5026025" y="3870325"/>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72" name="Rectangle 71">
              <a:extLst>
                <a:ext uri="{FF2B5EF4-FFF2-40B4-BE49-F238E27FC236}">
                  <a16:creationId xmlns:a16="http://schemas.microsoft.com/office/drawing/2014/main" id="{2441726C-B0F6-A642-85BD-7033E3AD020E}"/>
                </a:ext>
              </a:extLst>
            </p:cNvPr>
            <p:cNvSpPr>
              <a:spLocks noChangeArrowheads="1"/>
            </p:cNvSpPr>
            <p:nvPr/>
          </p:nvSpPr>
          <p:spPr bwMode="auto">
            <a:xfrm>
              <a:off x="5245100" y="3856038"/>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3" name="Rectangle 72">
              <a:extLst>
                <a:ext uri="{FF2B5EF4-FFF2-40B4-BE49-F238E27FC236}">
                  <a16:creationId xmlns:a16="http://schemas.microsoft.com/office/drawing/2014/main" id="{0FF8041F-074F-994B-8C1B-EA9307161444}"/>
                </a:ext>
              </a:extLst>
            </p:cNvPr>
            <p:cNvSpPr>
              <a:spLocks noChangeArrowheads="1"/>
            </p:cNvSpPr>
            <p:nvPr/>
          </p:nvSpPr>
          <p:spPr bwMode="auto">
            <a:xfrm>
              <a:off x="5245100" y="3856038"/>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74" name="Rectangle 73">
              <a:extLst>
                <a:ext uri="{FF2B5EF4-FFF2-40B4-BE49-F238E27FC236}">
                  <a16:creationId xmlns:a16="http://schemas.microsoft.com/office/drawing/2014/main" id="{9304C503-55CA-304A-80D2-FB57C39D6716}"/>
                </a:ext>
              </a:extLst>
            </p:cNvPr>
            <p:cNvSpPr>
              <a:spLocks noChangeArrowheads="1"/>
            </p:cNvSpPr>
            <p:nvPr/>
          </p:nvSpPr>
          <p:spPr bwMode="auto">
            <a:xfrm>
              <a:off x="5353050" y="3870325"/>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75" name="Rectangle 74">
              <a:extLst>
                <a:ext uri="{FF2B5EF4-FFF2-40B4-BE49-F238E27FC236}">
                  <a16:creationId xmlns:a16="http://schemas.microsoft.com/office/drawing/2014/main" id="{CEAA981B-A890-0849-8DCC-9E111087DCE4}"/>
                </a:ext>
              </a:extLst>
            </p:cNvPr>
            <p:cNvSpPr>
              <a:spLocks noChangeArrowheads="1"/>
            </p:cNvSpPr>
            <p:nvPr/>
          </p:nvSpPr>
          <p:spPr bwMode="auto">
            <a:xfrm>
              <a:off x="4916488" y="4070350"/>
              <a:ext cx="328612"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6" name="Rectangle 75">
              <a:extLst>
                <a:ext uri="{FF2B5EF4-FFF2-40B4-BE49-F238E27FC236}">
                  <a16:creationId xmlns:a16="http://schemas.microsoft.com/office/drawing/2014/main" id="{AD460E55-3D73-A446-B77F-09BC937A84B6}"/>
                </a:ext>
              </a:extLst>
            </p:cNvPr>
            <p:cNvSpPr>
              <a:spLocks noChangeArrowheads="1"/>
            </p:cNvSpPr>
            <p:nvPr/>
          </p:nvSpPr>
          <p:spPr bwMode="auto">
            <a:xfrm>
              <a:off x="4916488" y="4070350"/>
              <a:ext cx="328612"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77" name="Rectangle 76">
              <a:extLst>
                <a:ext uri="{FF2B5EF4-FFF2-40B4-BE49-F238E27FC236}">
                  <a16:creationId xmlns:a16="http://schemas.microsoft.com/office/drawing/2014/main" id="{4D78E547-65C9-C942-8991-3CF1E6F3000F}"/>
                </a:ext>
              </a:extLst>
            </p:cNvPr>
            <p:cNvSpPr>
              <a:spLocks noChangeArrowheads="1"/>
            </p:cNvSpPr>
            <p:nvPr/>
          </p:nvSpPr>
          <p:spPr bwMode="auto">
            <a:xfrm>
              <a:off x="5026025" y="4084638"/>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78" name="Rectangle 77">
              <a:extLst>
                <a:ext uri="{FF2B5EF4-FFF2-40B4-BE49-F238E27FC236}">
                  <a16:creationId xmlns:a16="http://schemas.microsoft.com/office/drawing/2014/main" id="{E7C2E5BC-12A3-B740-A1F7-17CB86AE272A}"/>
                </a:ext>
              </a:extLst>
            </p:cNvPr>
            <p:cNvSpPr>
              <a:spLocks noChangeArrowheads="1"/>
            </p:cNvSpPr>
            <p:nvPr/>
          </p:nvSpPr>
          <p:spPr bwMode="auto">
            <a:xfrm>
              <a:off x="5245100" y="4070350"/>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79" name="Rectangle 78">
              <a:extLst>
                <a:ext uri="{FF2B5EF4-FFF2-40B4-BE49-F238E27FC236}">
                  <a16:creationId xmlns:a16="http://schemas.microsoft.com/office/drawing/2014/main" id="{33753CA7-CDCB-D147-8F97-CFEE5ACD9F4F}"/>
                </a:ext>
              </a:extLst>
            </p:cNvPr>
            <p:cNvSpPr>
              <a:spLocks noChangeArrowheads="1"/>
            </p:cNvSpPr>
            <p:nvPr/>
          </p:nvSpPr>
          <p:spPr bwMode="auto">
            <a:xfrm>
              <a:off x="5245100" y="4070350"/>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80" name="Rectangle 79">
              <a:extLst>
                <a:ext uri="{FF2B5EF4-FFF2-40B4-BE49-F238E27FC236}">
                  <a16:creationId xmlns:a16="http://schemas.microsoft.com/office/drawing/2014/main" id="{DA565785-4D5F-BC44-B547-ECB52F1B91B8}"/>
                </a:ext>
              </a:extLst>
            </p:cNvPr>
            <p:cNvSpPr>
              <a:spLocks noChangeArrowheads="1"/>
            </p:cNvSpPr>
            <p:nvPr/>
          </p:nvSpPr>
          <p:spPr bwMode="auto">
            <a:xfrm>
              <a:off x="5353050" y="4084638"/>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81" name="Rectangle 80">
              <a:extLst>
                <a:ext uri="{FF2B5EF4-FFF2-40B4-BE49-F238E27FC236}">
                  <a16:creationId xmlns:a16="http://schemas.microsoft.com/office/drawing/2014/main" id="{B81D66F2-1641-5F43-9AD6-1E4146CC989B}"/>
                </a:ext>
              </a:extLst>
            </p:cNvPr>
            <p:cNvSpPr>
              <a:spLocks noChangeArrowheads="1"/>
            </p:cNvSpPr>
            <p:nvPr/>
          </p:nvSpPr>
          <p:spPr bwMode="auto">
            <a:xfrm>
              <a:off x="4916488" y="4314825"/>
              <a:ext cx="328612" cy="246063"/>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82" name="Rectangle 81">
              <a:extLst>
                <a:ext uri="{FF2B5EF4-FFF2-40B4-BE49-F238E27FC236}">
                  <a16:creationId xmlns:a16="http://schemas.microsoft.com/office/drawing/2014/main" id="{10E0CDC8-78BD-0342-A82E-60BD5FEA4D00}"/>
                </a:ext>
              </a:extLst>
            </p:cNvPr>
            <p:cNvSpPr>
              <a:spLocks noChangeArrowheads="1"/>
            </p:cNvSpPr>
            <p:nvPr/>
          </p:nvSpPr>
          <p:spPr bwMode="auto">
            <a:xfrm>
              <a:off x="4916488" y="4314825"/>
              <a:ext cx="328612" cy="246063"/>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83" name="Rectangle 82">
              <a:extLst>
                <a:ext uri="{FF2B5EF4-FFF2-40B4-BE49-F238E27FC236}">
                  <a16:creationId xmlns:a16="http://schemas.microsoft.com/office/drawing/2014/main" id="{55CDC6BC-A519-D542-9F72-D7DB78FDBBA5}"/>
                </a:ext>
              </a:extLst>
            </p:cNvPr>
            <p:cNvSpPr>
              <a:spLocks noChangeArrowheads="1"/>
            </p:cNvSpPr>
            <p:nvPr/>
          </p:nvSpPr>
          <p:spPr bwMode="auto">
            <a:xfrm>
              <a:off x="5026025" y="4329113"/>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84" name="Rectangle 83">
              <a:extLst>
                <a:ext uri="{FF2B5EF4-FFF2-40B4-BE49-F238E27FC236}">
                  <a16:creationId xmlns:a16="http://schemas.microsoft.com/office/drawing/2014/main" id="{13131040-53C1-C54A-832C-F10131EF564D}"/>
                </a:ext>
              </a:extLst>
            </p:cNvPr>
            <p:cNvSpPr>
              <a:spLocks noChangeArrowheads="1"/>
            </p:cNvSpPr>
            <p:nvPr/>
          </p:nvSpPr>
          <p:spPr bwMode="auto">
            <a:xfrm>
              <a:off x="5245100" y="4314825"/>
              <a:ext cx="327025" cy="246063"/>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85" name="Rectangle 84">
              <a:extLst>
                <a:ext uri="{FF2B5EF4-FFF2-40B4-BE49-F238E27FC236}">
                  <a16:creationId xmlns:a16="http://schemas.microsoft.com/office/drawing/2014/main" id="{B8F31B98-4ABA-964A-8DCC-F385DBA7707E}"/>
                </a:ext>
              </a:extLst>
            </p:cNvPr>
            <p:cNvSpPr>
              <a:spLocks noChangeArrowheads="1"/>
            </p:cNvSpPr>
            <p:nvPr/>
          </p:nvSpPr>
          <p:spPr bwMode="auto">
            <a:xfrm>
              <a:off x="5245100" y="4314825"/>
              <a:ext cx="327025" cy="246063"/>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86" name="Rectangle 85">
              <a:extLst>
                <a:ext uri="{FF2B5EF4-FFF2-40B4-BE49-F238E27FC236}">
                  <a16:creationId xmlns:a16="http://schemas.microsoft.com/office/drawing/2014/main" id="{B7B47612-D3EC-2C43-885B-64EBB7DA8EEF}"/>
                </a:ext>
              </a:extLst>
            </p:cNvPr>
            <p:cNvSpPr>
              <a:spLocks noChangeArrowheads="1"/>
            </p:cNvSpPr>
            <p:nvPr/>
          </p:nvSpPr>
          <p:spPr bwMode="auto">
            <a:xfrm>
              <a:off x="5353050" y="4329113"/>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87" name="Rectangle 86">
              <a:extLst>
                <a:ext uri="{FF2B5EF4-FFF2-40B4-BE49-F238E27FC236}">
                  <a16:creationId xmlns:a16="http://schemas.microsoft.com/office/drawing/2014/main" id="{B2279A62-A141-5E48-8545-293921B8A938}"/>
                </a:ext>
              </a:extLst>
            </p:cNvPr>
            <p:cNvSpPr>
              <a:spLocks noChangeArrowheads="1"/>
            </p:cNvSpPr>
            <p:nvPr/>
          </p:nvSpPr>
          <p:spPr bwMode="auto">
            <a:xfrm>
              <a:off x="4916488" y="4560888"/>
              <a:ext cx="328612" cy="242887"/>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88" name="Rectangle 87">
              <a:extLst>
                <a:ext uri="{FF2B5EF4-FFF2-40B4-BE49-F238E27FC236}">
                  <a16:creationId xmlns:a16="http://schemas.microsoft.com/office/drawing/2014/main" id="{37447A85-C964-874A-AD31-F81C89871335}"/>
                </a:ext>
              </a:extLst>
            </p:cNvPr>
            <p:cNvSpPr>
              <a:spLocks noChangeArrowheads="1"/>
            </p:cNvSpPr>
            <p:nvPr/>
          </p:nvSpPr>
          <p:spPr bwMode="auto">
            <a:xfrm>
              <a:off x="4916488" y="4560888"/>
              <a:ext cx="328612" cy="2428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89" name="Rectangle 88">
              <a:extLst>
                <a:ext uri="{FF2B5EF4-FFF2-40B4-BE49-F238E27FC236}">
                  <a16:creationId xmlns:a16="http://schemas.microsoft.com/office/drawing/2014/main" id="{386FDA19-1AAD-594F-9347-7752E6E7E712}"/>
                </a:ext>
              </a:extLst>
            </p:cNvPr>
            <p:cNvSpPr>
              <a:spLocks noChangeArrowheads="1"/>
            </p:cNvSpPr>
            <p:nvPr/>
          </p:nvSpPr>
          <p:spPr bwMode="auto">
            <a:xfrm>
              <a:off x="5026025" y="4573588"/>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90" name="Rectangle 89">
              <a:extLst>
                <a:ext uri="{FF2B5EF4-FFF2-40B4-BE49-F238E27FC236}">
                  <a16:creationId xmlns:a16="http://schemas.microsoft.com/office/drawing/2014/main" id="{BD6C1B2E-4730-3545-B429-B6CCB3DCA7B7}"/>
                </a:ext>
              </a:extLst>
            </p:cNvPr>
            <p:cNvSpPr>
              <a:spLocks noChangeArrowheads="1"/>
            </p:cNvSpPr>
            <p:nvPr/>
          </p:nvSpPr>
          <p:spPr bwMode="auto">
            <a:xfrm>
              <a:off x="5245100" y="4560888"/>
              <a:ext cx="327025" cy="242887"/>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91" name="Rectangle 90">
              <a:extLst>
                <a:ext uri="{FF2B5EF4-FFF2-40B4-BE49-F238E27FC236}">
                  <a16:creationId xmlns:a16="http://schemas.microsoft.com/office/drawing/2014/main" id="{291C1BCD-FE47-9C4A-9DE7-4ADDF6D550BC}"/>
                </a:ext>
              </a:extLst>
            </p:cNvPr>
            <p:cNvSpPr>
              <a:spLocks noChangeArrowheads="1"/>
            </p:cNvSpPr>
            <p:nvPr/>
          </p:nvSpPr>
          <p:spPr bwMode="auto">
            <a:xfrm>
              <a:off x="5245100" y="4560888"/>
              <a:ext cx="327025" cy="2428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92" name="Rectangle 91">
              <a:extLst>
                <a:ext uri="{FF2B5EF4-FFF2-40B4-BE49-F238E27FC236}">
                  <a16:creationId xmlns:a16="http://schemas.microsoft.com/office/drawing/2014/main" id="{CEC0AEEB-5A01-2847-A065-645BB04340C1}"/>
                </a:ext>
              </a:extLst>
            </p:cNvPr>
            <p:cNvSpPr>
              <a:spLocks noChangeArrowheads="1"/>
            </p:cNvSpPr>
            <p:nvPr/>
          </p:nvSpPr>
          <p:spPr bwMode="auto">
            <a:xfrm>
              <a:off x="5353050" y="4573588"/>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93" name="Rectangle 92">
              <a:extLst>
                <a:ext uri="{FF2B5EF4-FFF2-40B4-BE49-F238E27FC236}">
                  <a16:creationId xmlns:a16="http://schemas.microsoft.com/office/drawing/2014/main" id="{9B3B9F50-D4ED-6445-BA26-D13517C724A2}"/>
                </a:ext>
              </a:extLst>
            </p:cNvPr>
            <p:cNvSpPr>
              <a:spLocks noChangeArrowheads="1"/>
            </p:cNvSpPr>
            <p:nvPr/>
          </p:nvSpPr>
          <p:spPr bwMode="auto">
            <a:xfrm>
              <a:off x="4916488" y="4803775"/>
              <a:ext cx="328612"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94" name="Rectangle 93">
              <a:extLst>
                <a:ext uri="{FF2B5EF4-FFF2-40B4-BE49-F238E27FC236}">
                  <a16:creationId xmlns:a16="http://schemas.microsoft.com/office/drawing/2014/main" id="{47FE974B-0012-EC4D-9AD3-233A570D1F85}"/>
                </a:ext>
              </a:extLst>
            </p:cNvPr>
            <p:cNvSpPr>
              <a:spLocks noChangeArrowheads="1"/>
            </p:cNvSpPr>
            <p:nvPr/>
          </p:nvSpPr>
          <p:spPr bwMode="auto">
            <a:xfrm>
              <a:off x="4916488" y="4803775"/>
              <a:ext cx="328612"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95" name="Rectangle 94">
              <a:extLst>
                <a:ext uri="{FF2B5EF4-FFF2-40B4-BE49-F238E27FC236}">
                  <a16:creationId xmlns:a16="http://schemas.microsoft.com/office/drawing/2014/main" id="{A2F9BDAC-EE0E-F04B-ACB6-67B47AAA0AFE}"/>
                </a:ext>
              </a:extLst>
            </p:cNvPr>
            <p:cNvSpPr>
              <a:spLocks noChangeArrowheads="1"/>
            </p:cNvSpPr>
            <p:nvPr/>
          </p:nvSpPr>
          <p:spPr bwMode="auto">
            <a:xfrm>
              <a:off x="5026025" y="4818063"/>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96" name="Rectangle 95">
              <a:extLst>
                <a:ext uri="{FF2B5EF4-FFF2-40B4-BE49-F238E27FC236}">
                  <a16:creationId xmlns:a16="http://schemas.microsoft.com/office/drawing/2014/main" id="{AC4A5B13-443F-384E-A366-A29C1663DBCE}"/>
                </a:ext>
              </a:extLst>
            </p:cNvPr>
            <p:cNvSpPr>
              <a:spLocks noChangeArrowheads="1"/>
            </p:cNvSpPr>
            <p:nvPr/>
          </p:nvSpPr>
          <p:spPr bwMode="auto">
            <a:xfrm>
              <a:off x="5245100" y="4803775"/>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97" name="Rectangle 96">
              <a:extLst>
                <a:ext uri="{FF2B5EF4-FFF2-40B4-BE49-F238E27FC236}">
                  <a16:creationId xmlns:a16="http://schemas.microsoft.com/office/drawing/2014/main" id="{386E577A-53B1-0648-93FD-D6106EDFE570}"/>
                </a:ext>
              </a:extLst>
            </p:cNvPr>
            <p:cNvSpPr>
              <a:spLocks noChangeArrowheads="1"/>
            </p:cNvSpPr>
            <p:nvPr/>
          </p:nvSpPr>
          <p:spPr bwMode="auto">
            <a:xfrm>
              <a:off x="5245100" y="4803775"/>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98" name="Rectangle 97">
              <a:extLst>
                <a:ext uri="{FF2B5EF4-FFF2-40B4-BE49-F238E27FC236}">
                  <a16:creationId xmlns:a16="http://schemas.microsoft.com/office/drawing/2014/main" id="{F702CC51-ADE5-8E4E-9398-6665A437043D}"/>
                </a:ext>
              </a:extLst>
            </p:cNvPr>
            <p:cNvSpPr>
              <a:spLocks noChangeArrowheads="1"/>
            </p:cNvSpPr>
            <p:nvPr/>
          </p:nvSpPr>
          <p:spPr bwMode="auto">
            <a:xfrm>
              <a:off x="5353050" y="4818063"/>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99" name="Rectangle 98">
              <a:extLst>
                <a:ext uri="{FF2B5EF4-FFF2-40B4-BE49-F238E27FC236}">
                  <a16:creationId xmlns:a16="http://schemas.microsoft.com/office/drawing/2014/main" id="{0DC77C47-7C0F-6344-A66E-A12F2EE80318}"/>
                </a:ext>
              </a:extLst>
            </p:cNvPr>
            <p:cNvSpPr>
              <a:spLocks noChangeArrowheads="1"/>
            </p:cNvSpPr>
            <p:nvPr/>
          </p:nvSpPr>
          <p:spPr bwMode="auto">
            <a:xfrm>
              <a:off x="4916488" y="5018088"/>
              <a:ext cx="328612" cy="246062"/>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00" name="Rectangle 99">
              <a:extLst>
                <a:ext uri="{FF2B5EF4-FFF2-40B4-BE49-F238E27FC236}">
                  <a16:creationId xmlns:a16="http://schemas.microsoft.com/office/drawing/2014/main" id="{C052553F-FB9A-0B49-8328-0BFAA95326C6}"/>
                </a:ext>
              </a:extLst>
            </p:cNvPr>
            <p:cNvSpPr>
              <a:spLocks noChangeArrowheads="1"/>
            </p:cNvSpPr>
            <p:nvPr/>
          </p:nvSpPr>
          <p:spPr bwMode="auto">
            <a:xfrm>
              <a:off x="4916488" y="5018088"/>
              <a:ext cx="328612"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01" name="Rectangle 100">
              <a:extLst>
                <a:ext uri="{FF2B5EF4-FFF2-40B4-BE49-F238E27FC236}">
                  <a16:creationId xmlns:a16="http://schemas.microsoft.com/office/drawing/2014/main" id="{9FB45728-6875-AF46-BF08-553DFD96BF73}"/>
                </a:ext>
              </a:extLst>
            </p:cNvPr>
            <p:cNvSpPr>
              <a:spLocks noChangeArrowheads="1"/>
            </p:cNvSpPr>
            <p:nvPr/>
          </p:nvSpPr>
          <p:spPr bwMode="auto">
            <a:xfrm>
              <a:off x="5026025" y="5033963"/>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02" name="Rectangle 101">
              <a:extLst>
                <a:ext uri="{FF2B5EF4-FFF2-40B4-BE49-F238E27FC236}">
                  <a16:creationId xmlns:a16="http://schemas.microsoft.com/office/drawing/2014/main" id="{14C1B400-2097-9D48-B6A1-28C307F943F3}"/>
                </a:ext>
              </a:extLst>
            </p:cNvPr>
            <p:cNvSpPr>
              <a:spLocks noChangeArrowheads="1"/>
            </p:cNvSpPr>
            <p:nvPr/>
          </p:nvSpPr>
          <p:spPr bwMode="auto">
            <a:xfrm>
              <a:off x="5245100" y="5018088"/>
              <a:ext cx="327025" cy="246062"/>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03" name="Rectangle 102">
              <a:extLst>
                <a:ext uri="{FF2B5EF4-FFF2-40B4-BE49-F238E27FC236}">
                  <a16:creationId xmlns:a16="http://schemas.microsoft.com/office/drawing/2014/main" id="{78120A2A-593E-7C4E-A663-B70D31A93D46}"/>
                </a:ext>
              </a:extLst>
            </p:cNvPr>
            <p:cNvSpPr>
              <a:spLocks noChangeArrowheads="1"/>
            </p:cNvSpPr>
            <p:nvPr/>
          </p:nvSpPr>
          <p:spPr bwMode="auto">
            <a:xfrm>
              <a:off x="5245100" y="5018088"/>
              <a:ext cx="327025"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04" name="Rectangle 103">
              <a:extLst>
                <a:ext uri="{FF2B5EF4-FFF2-40B4-BE49-F238E27FC236}">
                  <a16:creationId xmlns:a16="http://schemas.microsoft.com/office/drawing/2014/main" id="{55F62A6A-E5E3-A34A-98AA-B6747768A6BF}"/>
                </a:ext>
              </a:extLst>
            </p:cNvPr>
            <p:cNvSpPr>
              <a:spLocks noChangeArrowheads="1"/>
            </p:cNvSpPr>
            <p:nvPr/>
          </p:nvSpPr>
          <p:spPr bwMode="auto">
            <a:xfrm>
              <a:off x="5353050" y="5033963"/>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05" name="Rectangle 104">
              <a:extLst>
                <a:ext uri="{FF2B5EF4-FFF2-40B4-BE49-F238E27FC236}">
                  <a16:creationId xmlns:a16="http://schemas.microsoft.com/office/drawing/2014/main" id="{C857BBB0-AE78-3148-9B3E-C0180D587B48}"/>
                </a:ext>
              </a:extLst>
            </p:cNvPr>
            <p:cNvSpPr>
              <a:spLocks noChangeArrowheads="1"/>
            </p:cNvSpPr>
            <p:nvPr/>
          </p:nvSpPr>
          <p:spPr bwMode="auto">
            <a:xfrm>
              <a:off x="4916488" y="5264150"/>
              <a:ext cx="328612"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06" name="Rectangle 105">
              <a:extLst>
                <a:ext uri="{FF2B5EF4-FFF2-40B4-BE49-F238E27FC236}">
                  <a16:creationId xmlns:a16="http://schemas.microsoft.com/office/drawing/2014/main" id="{99EA1F9C-9834-D54C-A2E6-D7251C545C22}"/>
                </a:ext>
              </a:extLst>
            </p:cNvPr>
            <p:cNvSpPr>
              <a:spLocks noChangeArrowheads="1"/>
            </p:cNvSpPr>
            <p:nvPr/>
          </p:nvSpPr>
          <p:spPr bwMode="auto">
            <a:xfrm>
              <a:off x="4916488" y="5264150"/>
              <a:ext cx="328612"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07" name="Rectangle 106">
              <a:extLst>
                <a:ext uri="{FF2B5EF4-FFF2-40B4-BE49-F238E27FC236}">
                  <a16:creationId xmlns:a16="http://schemas.microsoft.com/office/drawing/2014/main" id="{09D979F5-A843-114C-9B83-DC45FE68A573}"/>
                </a:ext>
              </a:extLst>
            </p:cNvPr>
            <p:cNvSpPr>
              <a:spLocks noChangeArrowheads="1"/>
            </p:cNvSpPr>
            <p:nvPr/>
          </p:nvSpPr>
          <p:spPr bwMode="auto">
            <a:xfrm>
              <a:off x="5026025" y="5276850"/>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08" name="Rectangle 107">
              <a:extLst>
                <a:ext uri="{FF2B5EF4-FFF2-40B4-BE49-F238E27FC236}">
                  <a16:creationId xmlns:a16="http://schemas.microsoft.com/office/drawing/2014/main" id="{20DDAAC4-30A3-4C48-9D02-56416E3F652F}"/>
                </a:ext>
              </a:extLst>
            </p:cNvPr>
            <p:cNvSpPr>
              <a:spLocks noChangeArrowheads="1"/>
            </p:cNvSpPr>
            <p:nvPr/>
          </p:nvSpPr>
          <p:spPr bwMode="auto">
            <a:xfrm>
              <a:off x="5245100" y="5264150"/>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09" name="Rectangle 108">
              <a:extLst>
                <a:ext uri="{FF2B5EF4-FFF2-40B4-BE49-F238E27FC236}">
                  <a16:creationId xmlns:a16="http://schemas.microsoft.com/office/drawing/2014/main" id="{23D741DD-72C8-DD40-AF8C-D57E15EEE413}"/>
                </a:ext>
              </a:extLst>
            </p:cNvPr>
            <p:cNvSpPr>
              <a:spLocks noChangeArrowheads="1"/>
            </p:cNvSpPr>
            <p:nvPr/>
          </p:nvSpPr>
          <p:spPr bwMode="auto">
            <a:xfrm>
              <a:off x="5245100" y="5264150"/>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10" name="Rectangle 109">
              <a:extLst>
                <a:ext uri="{FF2B5EF4-FFF2-40B4-BE49-F238E27FC236}">
                  <a16:creationId xmlns:a16="http://schemas.microsoft.com/office/drawing/2014/main" id="{AC8FA514-C834-0D4F-90BE-81821D26D19F}"/>
                </a:ext>
              </a:extLst>
            </p:cNvPr>
            <p:cNvSpPr>
              <a:spLocks noChangeArrowheads="1"/>
            </p:cNvSpPr>
            <p:nvPr/>
          </p:nvSpPr>
          <p:spPr bwMode="auto">
            <a:xfrm>
              <a:off x="5353050" y="5276850"/>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11" name="Rectangle 110">
              <a:extLst>
                <a:ext uri="{FF2B5EF4-FFF2-40B4-BE49-F238E27FC236}">
                  <a16:creationId xmlns:a16="http://schemas.microsoft.com/office/drawing/2014/main" id="{305F95F3-8564-3A45-A345-317164976A2C}"/>
                </a:ext>
              </a:extLst>
            </p:cNvPr>
            <p:cNvSpPr>
              <a:spLocks noChangeArrowheads="1"/>
            </p:cNvSpPr>
            <p:nvPr/>
          </p:nvSpPr>
          <p:spPr bwMode="auto">
            <a:xfrm>
              <a:off x="2355850" y="3597275"/>
              <a:ext cx="328613"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12" name="Rectangle 111">
              <a:extLst>
                <a:ext uri="{FF2B5EF4-FFF2-40B4-BE49-F238E27FC236}">
                  <a16:creationId xmlns:a16="http://schemas.microsoft.com/office/drawing/2014/main" id="{09D415C7-35CA-7E4F-A8B6-2C59FBCC62C2}"/>
                </a:ext>
              </a:extLst>
            </p:cNvPr>
            <p:cNvSpPr>
              <a:spLocks noChangeArrowheads="1"/>
            </p:cNvSpPr>
            <p:nvPr/>
          </p:nvSpPr>
          <p:spPr bwMode="auto">
            <a:xfrm>
              <a:off x="2355850" y="3597275"/>
              <a:ext cx="328613"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13" name="Rectangle 112">
              <a:extLst>
                <a:ext uri="{FF2B5EF4-FFF2-40B4-BE49-F238E27FC236}">
                  <a16:creationId xmlns:a16="http://schemas.microsoft.com/office/drawing/2014/main" id="{8EA02F17-541C-1F43-8D94-72C539209C1D}"/>
                </a:ext>
              </a:extLst>
            </p:cNvPr>
            <p:cNvSpPr>
              <a:spLocks noChangeArrowheads="1"/>
            </p:cNvSpPr>
            <p:nvPr/>
          </p:nvSpPr>
          <p:spPr bwMode="auto">
            <a:xfrm>
              <a:off x="2466975" y="3611563"/>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14" name="Rectangle 113">
              <a:extLst>
                <a:ext uri="{FF2B5EF4-FFF2-40B4-BE49-F238E27FC236}">
                  <a16:creationId xmlns:a16="http://schemas.microsoft.com/office/drawing/2014/main" id="{E36EC98F-4076-8042-B85C-C9F81CBEB822}"/>
                </a:ext>
              </a:extLst>
            </p:cNvPr>
            <p:cNvSpPr>
              <a:spLocks noChangeArrowheads="1"/>
            </p:cNvSpPr>
            <p:nvPr/>
          </p:nvSpPr>
          <p:spPr bwMode="auto">
            <a:xfrm>
              <a:off x="2028825" y="3597275"/>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15" name="Rectangle 114">
              <a:extLst>
                <a:ext uri="{FF2B5EF4-FFF2-40B4-BE49-F238E27FC236}">
                  <a16:creationId xmlns:a16="http://schemas.microsoft.com/office/drawing/2014/main" id="{87891B1A-0C28-DC4B-B7B4-2D2F33F8E3E3}"/>
                </a:ext>
              </a:extLst>
            </p:cNvPr>
            <p:cNvSpPr>
              <a:spLocks noChangeArrowheads="1"/>
            </p:cNvSpPr>
            <p:nvPr/>
          </p:nvSpPr>
          <p:spPr bwMode="auto">
            <a:xfrm>
              <a:off x="2028825" y="3597275"/>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16" name="Rectangle 115">
              <a:extLst>
                <a:ext uri="{FF2B5EF4-FFF2-40B4-BE49-F238E27FC236}">
                  <a16:creationId xmlns:a16="http://schemas.microsoft.com/office/drawing/2014/main" id="{22D9FC1F-A68E-BB49-88B0-BDE57CD5BEFE}"/>
                </a:ext>
              </a:extLst>
            </p:cNvPr>
            <p:cNvSpPr>
              <a:spLocks noChangeArrowheads="1"/>
            </p:cNvSpPr>
            <p:nvPr/>
          </p:nvSpPr>
          <p:spPr bwMode="auto">
            <a:xfrm>
              <a:off x="2139950" y="3611563"/>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17" name="Rectangle 116">
              <a:extLst>
                <a:ext uri="{FF2B5EF4-FFF2-40B4-BE49-F238E27FC236}">
                  <a16:creationId xmlns:a16="http://schemas.microsoft.com/office/drawing/2014/main" id="{D35BF4AE-1395-5242-A3B7-7730E7D51F9F}"/>
                </a:ext>
              </a:extLst>
            </p:cNvPr>
            <p:cNvSpPr>
              <a:spLocks noChangeArrowheads="1"/>
            </p:cNvSpPr>
            <p:nvPr/>
          </p:nvSpPr>
          <p:spPr bwMode="auto">
            <a:xfrm>
              <a:off x="2355850" y="3841750"/>
              <a:ext cx="328613"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18" name="Rectangle 117">
              <a:extLst>
                <a:ext uri="{FF2B5EF4-FFF2-40B4-BE49-F238E27FC236}">
                  <a16:creationId xmlns:a16="http://schemas.microsoft.com/office/drawing/2014/main" id="{64DA06CE-714A-E34C-A374-8A07F71C6107}"/>
                </a:ext>
              </a:extLst>
            </p:cNvPr>
            <p:cNvSpPr>
              <a:spLocks noChangeArrowheads="1"/>
            </p:cNvSpPr>
            <p:nvPr/>
          </p:nvSpPr>
          <p:spPr bwMode="auto">
            <a:xfrm>
              <a:off x="2355850" y="3841750"/>
              <a:ext cx="328613"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19" name="Rectangle 118">
              <a:extLst>
                <a:ext uri="{FF2B5EF4-FFF2-40B4-BE49-F238E27FC236}">
                  <a16:creationId xmlns:a16="http://schemas.microsoft.com/office/drawing/2014/main" id="{0648391C-DBE8-234C-8C45-1CE65C60718E}"/>
                </a:ext>
              </a:extLst>
            </p:cNvPr>
            <p:cNvSpPr>
              <a:spLocks noChangeArrowheads="1"/>
            </p:cNvSpPr>
            <p:nvPr/>
          </p:nvSpPr>
          <p:spPr bwMode="auto">
            <a:xfrm>
              <a:off x="2466975" y="3854450"/>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20" name="Rectangle 119">
              <a:extLst>
                <a:ext uri="{FF2B5EF4-FFF2-40B4-BE49-F238E27FC236}">
                  <a16:creationId xmlns:a16="http://schemas.microsoft.com/office/drawing/2014/main" id="{CB198977-5F6C-4D4A-A864-1DD4E64EA9ED}"/>
                </a:ext>
              </a:extLst>
            </p:cNvPr>
            <p:cNvSpPr>
              <a:spLocks noChangeArrowheads="1"/>
            </p:cNvSpPr>
            <p:nvPr/>
          </p:nvSpPr>
          <p:spPr bwMode="auto">
            <a:xfrm>
              <a:off x="2028825" y="3841750"/>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21" name="Rectangle 120">
              <a:extLst>
                <a:ext uri="{FF2B5EF4-FFF2-40B4-BE49-F238E27FC236}">
                  <a16:creationId xmlns:a16="http://schemas.microsoft.com/office/drawing/2014/main" id="{AE324DFD-1F0C-D548-88E0-15729135438B}"/>
                </a:ext>
              </a:extLst>
            </p:cNvPr>
            <p:cNvSpPr>
              <a:spLocks noChangeArrowheads="1"/>
            </p:cNvSpPr>
            <p:nvPr/>
          </p:nvSpPr>
          <p:spPr bwMode="auto">
            <a:xfrm>
              <a:off x="2028825" y="3841750"/>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22" name="Rectangle 121">
              <a:extLst>
                <a:ext uri="{FF2B5EF4-FFF2-40B4-BE49-F238E27FC236}">
                  <a16:creationId xmlns:a16="http://schemas.microsoft.com/office/drawing/2014/main" id="{5C7B6FD7-B00C-C44D-BB25-1DD7421926DC}"/>
                </a:ext>
              </a:extLst>
            </p:cNvPr>
            <p:cNvSpPr>
              <a:spLocks noChangeArrowheads="1"/>
            </p:cNvSpPr>
            <p:nvPr/>
          </p:nvSpPr>
          <p:spPr bwMode="auto">
            <a:xfrm>
              <a:off x="2139950" y="3854450"/>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23" name="Rectangle 122">
              <a:extLst>
                <a:ext uri="{FF2B5EF4-FFF2-40B4-BE49-F238E27FC236}">
                  <a16:creationId xmlns:a16="http://schemas.microsoft.com/office/drawing/2014/main" id="{95A362B0-6652-EF4B-94F3-0C6296AE55CE}"/>
                </a:ext>
              </a:extLst>
            </p:cNvPr>
            <p:cNvSpPr>
              <a:spLocks noChangeArrowheads="1"/>
            </p:cNvSpPr>
            <p:nvPr/>
          </p:nvSpPr>
          <p:spPr bwMode="auto">
            <a:xfrm>
              <a:off x="2355850" y="4056063"/>
              <a:ext cx="328613" cy="242887"/>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24" name="Rectangle 123">
              <a:extLst>
                <a:ext uri="{FF2B5EF4-FFF2-40B4-BE49-F238E27FC236}">
                  <a16:creationId xmlns:a16="http://schemas.microsoft.com/office/drawing/2014/main" id="{49A7E312-4F76-114E-BAAD-C2553380B037}"/>
                </a:ext>
              </a:extLst>
            </p:cNvPr>
            <p:cNvSpPr>
              <a:spLocks noChangeArrowheads="1"/>
            </p:cNvSpPr>
            <p:nvPr/>
          </p:nvSpPr>
          <p:spPr bwMode="auto">
            <a:xfrm>
              <a:off x="2355850" y="4056063"/>
              <a:ext cx="328613" cy="2428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25" name="Rectangle 124">
              <a:extLst>
                <a:ext uri="{FF2B5EF4-FFF2-40B4-BE49-F238E27FC236}">
                  <a16:creationId xmlns:a16="http://schemas.microsoft.com/office/drawing/2014/main" id="{3F4F6EEE-1B8A-0841-9487-1C24852985A2}"/>
                </a:ext>
              </a:extLst>
            </p:cNvPr>
            <p:cNvSpPr>
              <a:spLocks noChangeArrowheads="1"/>
            </p:cNvSpPr>
            <p:nvPr/>
          </p:nvSpPr>
          <p:spPr bwMode="auto">
            <a:xfrm>
              <a:off x="2466975" y="4068763"/>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26" name="Rectangle 125">
              <a:extLst>
                <a:ext uri="{FF2B5EF4-FFF2-40B4-BE49-F238E27FC236}">
                  <a16:creationId xmlns:a16="http://schemas.microsoft.com/office/drawing/2014/main" id="{B05BAF3E-3073-724D-BD32-C063A4C9368F}"/>
                </a:ext>
              </a:extLst>
            </p:cNvPr>
            <p:cNvSpPr>
              <a:spLocks noChangeArrowheads="1"/>
            </p:cNvSpPr>
            <p:nvPr/>
          </p:nvSpPr>
          <p:spPr bwMode="auto">
            <a:xfrm>
              <a:off x="2028825" y="4056063"/>
              <a:ext cx="327025" cy="242887"/>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27" name="Rectangle 126">
              <a:extLst>
                <a:ext uri="{FF2B5EF4-FFF2-40B4-BE49-F238E27FC236}">
                  <a16:creationId xmlns:a16="http://schemas.microsoft.com/office/drawing/2014/main" id="{9A08702B-29F5-6B48-AF44-76843628ADBC}"/>
                </a:ext>
              </a:extLst>
            </p:cNvPr>
            <p:cNvSpPr>
              <a:spLocks noChangeArrowheads="1"/>
            </p:cNvSpPr>
            <p:nvPr/>
          </p:nvSpPr>
          <p:spPr bwMode="auto">
            <a:xfrm>
              <a:off x="2028825" y="4056063"/>
              <a:ext cx="327025" cy="2428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28" name="Rectangle 127">
              <a:extLst>
                <a:ext uri="{FF2B5EF4-FFF2-40B4-BE49-F238E27FC236}">
                  <a16:creationId xmlns:a16="http://schemas.microsoft.com/office/drawing/2014/main" id="{156A8E28-9BB4-124E-B611-122DF647378D}"/>
                </a:ext>
              </a:extLst>
            </p:cNvPr>
            <p:cNvSpPr>
              <a:spLocks noChangeArrowheads="1"/>
            </p:cNvSpPr>
            <p:nvPr/>
          </p:nvSpPr>
          <p:spPr bwMode="auto">
            <a:xfrm>
              <a:off x="2139950" y="4068763"/>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29" name="Rectangle 128">
              <a:extLst>
                <a:ext uri="{FF2B5EF4-FFF2-40B4-BE49-F238E27FC236}">
                  <a16:creationId xmlns:a16="http://schemas.microsoft.com/office/drawing/2014/main" id="{CFC6DCD2-C0D4-0841-9DC2-81C9EA453AA5}"/>
                </a:ext>
              </a:extLst>
            </p:cNvPr>
            <p:cNvSpPr>
              <a:spLocks noChangeArrowheads="1"/>
            </p:cNvSpPr>
            <p:nvPr/>
          </p:nvSpPr>
          <p:spPr bwMode="auto">
            <a:xfrm>
              <a:off x="2355850" y="4298950"/>
              <a:ext cx="328613" cy="246063"/>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30" name="Rectangle 129">
              <a:extLst>
                <a:ext uri="{FF2B5EF4-FFF2-40B4-BE49-F238E27FC236}">
                  <a16:creationId xmlns:a16="http://schemas.microsoft.com/office/drawing/2014/main" id="{94D2F344-2CE8-5641-BEB8-8A7548F27223}"/>
                </a:ext>
              </a:extLst>
            </p:cNvPr>
            <p:cNvSpPr>
              <a:spLocks noChangeArrowheads="1"/>
            </p:cNvSpPr>
            <p:nvPr/>
          </p:nvSpPr>
          <p:spPr bwMode="auto">
            <a:xfrm>
              <a:off x="2355850" y="4298950"/>
              <a:ext cx="328613" cy="246063"/>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31" name="Rectangle 130">
              <a:extLst>
                <a:ext uri="{FF2B5EF4-FFF2-40B4-BE49-F238E27FC236}">
                  <a16:creationId xmlns:a16="http://schemas.microsoft.com/office/drawing/2014/main" id="{682C0622-1EF1-6046-9AED-5541858497ED}"/>
                </a:ext>
              </a:extLst>
            </p:cNvPr>
            <p:cNvSpPr>
              <a:spLocks noChangeArrowheads="1"/>
            </p:cNvSpPr>
            <p:nvPr/>
          </p:nvSpPr>
          <p:spPr bwMode="auto">
            <a:xfrm>
              <a:off x="2466975" y="4314825"/>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32" name="Rectangle 131">
              <a:extLst>
                <a:ext uri="{FF2B5EF4-FFF2-40B4-BE49-F238E27FC236}">
                  <a16:creationId xmlns:a16="http://schemas.microsoft.com/office/drawing/2014/main" id="{788AC8CF-0CC6-FA42-B93B-51A4C5A713A7}"/>
                </a:ext>
              </a:extLst>
            </p:cNvPr>
            <p:cNvSpPr>
              <a:spLocks noChangeArrowheads="1"/>
            </p:cNvSpPr>
            <p:nvPr/>
          </p:nvSpPr>
          <p:spPr bwMode="auto">
            <a:xfrm>
              <a:off x="2028825" y="4298950"/>
              <a:ext cx="327025" cy="246063"/>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33" name="Rectangle 132">
              <a:extLst>
                <a:ext uri="{FF2B5EF4-FFF2-40B4-BE49-F238E27FC236}">
                  <a16:creationId xmlns:a16="http://schemas.microsoft.com/office/drawing/2014/main" id="{29CE6B29-A901-C74E-9117-C39B02A7ACAB}"/>
                </a:ext>
              </a:extLst>
            </p:cNvPr>
            <p:cNvSpPr>
              <a:spLocks noChangeArrowheads="1"/>
            </p:cNvSpPr>
            <p:nvPr/>
          </p:nvSpPr>
          <p:spPr bwMode="auto">
            <a:xfrm>
              <a:off x="2028825" y="4298950"/>
              <a:ext cx="327025" cy="246063"/>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34" name="Rectangle 133">
              <a:extLst>
                <a:ext uri="{FF2B5EF4-FFF2-40B4-BE49-F238E27FC236}">
                  <a16:creationId xmlns:a16="http://schemas.microsoft.com/office/drawing/2014/main" id="{93F28440-8F74-A245-8EB2-43C84C19DC4E}"/>
                </a:ext>
              </a:extLst>
            </p:cNvPr>
            <p:cNvSpPr>
              <a:spLocks noChangeArrowheads="1"/>
            </p:cNvSpPr>
            <p:nvPr/>
          </p:nvSpPr>
          <p:spPr bwMode="auto">
            <a:xfrm>
              <a:off x="2139950" y="4314825"/>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35" name="Rectangle 134">
              <a:extLst>
                <a:ext uri="{FF2B5EF4-FFF2-40B4-BE49-F238E27FC236}">
                  <a16:creationId xmlns:a16="http://schemas.microsoft.com/office/drawing/2014/main" id="{2BFC68B5-E99B-D348-B192-302F9010EBA9}"/>
                </a:ext>
              </a:extLst>
            </p:cNvPr>
            <p:cNvSpPr>
              <a:spLocks noChangeArrowheads="1"/>
            </p:cNvSpPr>
            <p:nvPr/>
          </p:nvSpPr>
          <p:spPr bwMode="auto">
            <a:xfrm>
              <a:off x="2355850" y="4545013"/>
              <a:ext cx="328613"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36" name="Rectangle 135">
              <a:extLst>
                <a:ext uri="{FF2B5EF4-FFF2-40B4-BE49-F238E27FC236}">
                  <a16:creationId xmlns:a16="http://schemas.microsoft.com/office/drawing/2014/main" id="{A9A97D50-AAD5-1A47-A20D-921141CB00AE}"/>
                </a:ext>
              </a:extLst>
            </p:cNvPr>
            <p:cNvSpPr>
              <a:spLocks noChangeArrowheads="1"/>
            </p:cNvSpPr>
            <p:nvPr/>
          </p:nvSpPr>
          <p:spPr bwMode="auto">
            <a:xfrm>
              <a:off x="2355850" y="4545013"/>
              <a:ext cx="328613"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37" name="Rectangle 136">
              <a:extLst>
                <a:ext uri="{FF2B5EF4-FFF2-40B4-BE49-F238E27FC236}">
                  <a16:creationId xmlns:a16="http://schemas.microsoft.com/office/drawing/2014/main" id="{041FABC3-5265-654A-8DEE-0563F6316E50}"/>
                </a:ext>
              </a:extLst>
            </p:cNvPr>
            <p:cNvSpPr>
              <a:spLocks noChangeArrowheads="1"/>
            </p:cNvSpPr>
            <p:nvPr/>
          </p:nvSpPr>
          <p:spPr bwMode="auto">
            <a:xfrm>
              <a:off x="2466975" y="4559300"/>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38" name="Rectangle 137">
              <a:extLst>
                <a:ext uri="{FF2B5EF4-FFF2-40B4-BE49-F238E27FC236}">
                  <a16:creationId xmlns:a16="http://schemas.microsoft.com/office/drawing/2014/main" id="{9C334C35-E521-8D46-B4C8-AB8E9052F335}"/>
                </a:ext>
              </a:extLst>
            </p:cNvPr>
            <p:cNvSpPr>
              <a:spLocks noChangeArrowheads="1"/>
            </p:cNvSpPr>
            <p:nvPr/>
          </p:nvSpPr>
          <p:spPr bwMode="auto">
            <a:xfrm>
              <a:off x="2028825" y="4545013"/>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39" name="Rectangle 138">
              <a:extLst>
                <a:ext uri="{FF2B5EF4-FFF2-40B4-BE49-F238E27FC236}">
                  <a16:creationId xmlns:a16="http://schemas.microsoft.com/office/drawing/2014/main" id="{FB7A983A-C3A2-AA4F-9117-CFBC1A6C7ECA}"/>
                </a:ext>
              </a:extLst>
            </p:cNvPr>
            <p:cNvSpPr>
              <a:spLocks noChangeArrowheads="1"/>
            </p:cNvSpPr>
            <p:nvPr/>
          </p:nvSpPr>
          <p:spPr bwMode="auto">
            <a:xfrm>
              <a:off x="2028825" y="4545013"/>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40" name="Rectangle 139">
              <a:extLst>
                <a:ext uri="{FF2B5EF4-FFF2-40B4-BE49-F238E27FC236}">
                  <a16:creationId xmlns:a16="http://schemas.microsoft.com/office/drawing/2014/main" id="{492C87BD-9AE8-5547-A566-5FDC9D5D44D4}"/>
                </a:ext>
              </a:extLst>
            </p:cNvPr>
            <p:cNvSpPr>
              <a:spLocks noChangeArrowheads="1"/>
            </p:cNvSpPr>
            <p:nvPr/>
          </p:nvSpPr>
          <p:spPr bwMode="auto">
            <a:xfrm>
              <a:off x="2139950" y="4559300"/>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41" name="Rectangle 140">
              <a:extLst>
                <a:ext uri="{FF2B5EF4-FFF2-40B4-BE49-F238E27FC236}">
                  <a16:creationId xmlns:a16="http://schemas.microsoft.com/office/drawing/2014/main" id="{C66FA56A-DAB3-D841-9934-2354ED24EFE1}"/>
                </a:ext>
              </a:extLst>
            </p:cNvPr>
            <p:cNvSpPr>
              <a:spLocks noChangeArrowheads="1"/>
            </p:cNvSpPr>
            <p:nvPr/>
          </p:nvSpPr>
          <p:spPr bwMode="auto">
            <a:xfrm>
              <a:off x="2355850" y="4789488"/>
              <a:ext cx="328613" cy="244475"/>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42" name="Rectangle 141">
              <a:extLst>
                <a:ext uri="{FF2B5EF4-FFF2-40B4-BE49-F238E27FC236}">
                  <a16:creationId xmlns:a16="http://schemas.microsoft.com/office/drawing/2014/main" id="{E2EE5430-82FE-614A-8FE0-D1E3A8492BA2}"/>
                </a:ext>
              </a:extLst>
            </p:cNvPr>
            <p:cNvSpPr>
              <a:spLocks noChangeArrowheads="1"/>
            </p:cNvSpPr>
            <p:nvPr/>
          </p:nvSpPr>
          <p:spPr bwMode="auto">
            <a:xfrm>
              <a:off x="2355850" y="4789488"/>
              <a:ext cx="328613"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43" name="Rectangle 142">
              <a:extLst>
                <a:ext uri="{FF2B5EF4-FFF2-40B4-BE49-F238E27FC236}">
                  <a16:creationId xmlns:a16="http://schemas.microsoft.com/office/drawing/2014/main" id="{E74E2C97-5D7D-6146-A3AB-B6320B6E1785}"/>
                </a:ext>
              </a:extLst>
            </p:cNvPr>
            <p:cNvSpPr>
              <a:spLocks noChangeArrowheads="1"/>
            </p:cNvSpPr>
            <p:nvPr/>
          </p:nvSpPr>
          <p:spPr bwMode="auto">
            <a:xfrm>
              <a:off x="2466975" y="4802188"/>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44" name="Rectangle 143">
              <a:extLst>
                <a:ext uri="{FF2B5EF4-FFF2-40B4-BE49-F238E27FC236}">
                  <a16:creationId xmlns:a16="http://schemas.microsoft.com/office/drawing/2014/main" id="{FDDBFEE7-1998-CD40-BE66-46367F3315D5}"/>
                </a:ext>
              </a:extLst>
            </p:cNvPr>
            <p:cNvSpPr>
              <a:spLocks noChangeArrowheads="1"/>
            </p:cNvSpPr>
            <p:nvPr/>
          </p:nvSpPr>
          <p:spPr bwMode="auto">
            <a:xfrm>
              <a:off x="2028825" y="4789488"/>
              <a:ext cx="327025" cy="244475"/>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45" name="Rectangle 144">
              <a:extLst>
                <a:ext uri="{FF2B5EF4-FFF2-40B4-BE49-F238E27FC236}">
                  <a16:creationId xmlns:a16="http://schemas.microsoft.com/office/drawing/2014/main" id="{E1240F78-0910-104B-A578-5F52D63ED2F3}"/>
                </a:ext>
              </a:extLst>
            </p:cNvPr>
            <p:cNvSpPr>
              <a:spLocks noChangeArrowheads="1"/>
            </p:cNvSpPr>
            <p:nvPr/>
          </p:nvSpPr>
          <p:spPr bwMode="auto">
            <a:xfrm>
              <a:off x="2028825" y="4789488"/>
              <a:ext cx="327025" cy="244475"/>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46" name="Rectangle 145">
              <a:extLst>
                <a:ext uri="{FF2B5EF4-FFF2-40B4-BE49-F238E27FC236}">
                  <a16:creationId xmlns:a16="http://schemas.microsoft.com/office/drawing/2014/main" id="{04F6248A-DC78-1943-A730-89874B0B2BB8}"/>
                </a:ext>
              </a:extLst>
            </p:cNvPr>
            <p:cNvSpPr>
              <a:spLocks noChangeArrowheads="1"/>
            </p:cNvSpPr>
            <p:nvPr/>
          </p:nvSpPr>
          <p:spPr bwMode="auto">
            <a:xfrm>
              <a:off x="2139950" y="4802188"/>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47" name="Rectangle 146">
              <a:extLst>
                <a:ext uri="{FF2B5EF4-FFF2-40B4-BE49-F238E27FC236}">
                  <a16:creationId xmlns:a16="http://schemas.microsoft.com/office/drawing/2014/main" id="{5D954FE8-C2C2-0247-BDC4-C28C725DBDCA}"/>
                </a:ext>
              </a:extLst>
            </p:cNvPr>
            <p:cNvSpPr>
              <a:spLocks noChangeArrowheads="1"/>
            </p:cNvSpPr>
            <p:nvPr/>
          </p:nvSpPr>
          <p:spPr bwMode="auto">
            <a:xfrm>
              <a:off x="2355850" y="5003800"/>
              <a:ext cx="328613" cy="242888"/>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48" name="Rectangle 147">
              <a:extLst>
                <a:ext uri="{FF2B5EF4-FFF2-40B4-BE49-F238E27FC236}">
                  <a16:creationId xmlns:a16="http://schemas.microsoft.com/office/drawing/2014/main" id="{F12E22DA-54C1-A04D-A2B2-D5F9EC179FF1}"/>
                </a:ext>
              </a:extLst>
            </p:cNvPr>
            <p:cNvSpPr>
              <a:spLocks noChangeArrowheads="1"/>
            </p:cNvSpPr>
            <p:nvPr/>
          </p:nvSpPr>
          <p:spPr bwMode="auto">
            <a:xfrm>
              <a:off x="2355850" y="5003800"/>
              <a:ext cx="328613" cy="24288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49" name="Rectangle 148">
              <a:extLst>
                <a:ext uri="{FF2B5EF4-FFF2-40B4-BE49-F238E27FC236}">
                  <a16:creationId xmlns:a16="http://schemas.microsoft.com/office/drawing/2014/main" id="{FC8F328D-EE62-8644-B3E6-0BD32D8BB950}"/>
                </a:ext>
              </a:extLst>
            </p:cNvPr>
            <p:cNvSpPr>
              <a:spLocks noChangeArrowheads="1"/>
            </p:cNvSpPr>
            <p:nvPr/>
          </p:nvSpPr>
          <p:spPr bwMode="auto">
            <a:xfrm>
              <a:off x="2466975" y="5016500"/>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50" name="Rectangle 149">
              <a:extLst>
                <a:ext uri="{FF2B5EF4-FFF2-40B4-BE49-F238E27FC236}">
                  <a16:creationId xmlns:a16="http://schemas.microsoft.com/office/drawing/2014/main" id="{70BCB613-D18B-3141-AC99-3AD784031C84}"/>
                </a:ext>
              </a:extLst>
            </p:cNvPr>
            <p:cNvSpPr>
              <a:spLocks noChangeArrowheads="1"/>
            </p:cNvSpPr>
            <p:nvPr/>
          </p:nvSpPr>
          <p:spPr bwMode="auto">
            <a:xfrm>
              <a:off x="2028825" y="5003800"/>
              <a:ext cx="327025" cy="242888"/>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51" name="Rectangle 150">
              <a:extLst>
                <a:ext uri="{FF2B5EF4-FFF2-40B4-BE49-F238E27FC236}">
                  <a16:creationId xmlns:a16="http://schemas.microsoft.com/office/drawing/2014/main" id="{5517E87C-D3E3-BA4F-82E9-5654E42F37DF}"/>
                </a:ext>
              </a:extLst>
            </p:cNvPr>
            <p:cNvSpPr>
              <a:spLocks noChangeArrowheads="1"/>
            </p:cNvSpPr>
            <p:nvPr/>
          </p:nvSpPr>
          <p:spPr bwMode="auto">
            <a:xfrm>
              <a:off x="2028825" y="5003800"/>
              <a:ext cx="327025" cy="24288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52" name="Rectangle 151">
              <a:extLst>
                <a:ext uri="{FF2B5EF4-FFF2-40B4-BE49-F238E27FC236}">
                  <a16:creationId xmlns:a16="http://schemas.microsoft.com/office/drawing/2014/main" id="{18A5B6DD-5A80-BC41-A06B-A7C6C0122EA8}"/>
                </a:ext>
              </a:extLst>
            </p:cNvPr>
            <p:cNvSpPr>
              <a:spLocks noChangeArrowheads="1"/>
            </p:cNvSpPr>
            <p:nvPr/>
          </p:nvSpPr>
          <p:spPr bwMode="auto">
            <a:xfrm>
              <a:off x="2139950" y="5016500"/>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53" name="Rectangle 152">
              <a:extLst>
                <a:ext uri="{FF2B5EF4-FFF2-40B4-BE49-F238E27FC236}">
                  <a16:creationId xmlns:a16="http://schemas.microsoft.com/office/drawing/2014/main" id="{3BBD3CC3-D5D5-234A-B2A3-C330EDC7F11D}"/>
                </a:ext>
              </a:extLst>
            </p:cNvPr>
            <p:cNvSpPr>
              <a:spLocks noChangeArrowheads="1"/>
            </p:cNvSpPr>
            <p:nvPr/>
          </p:nvSpPr>
          <p:spPr bwMode="auto">
            <a:xfrm>
              <a:off x="2355850" y="5246688"/>
              <a:ext cx="328613" cy="246062"/>
            </a:xfrm>
            <a:prstGeom prst="rect">
              <a:avLst/>
            </a:prstGeom>
            <a:solidFill>
              <a:srgbClr val="FFCC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54" name="Rectangle 153">
              <a:extLst>
                <a:ext uri="{FF2B5EF4-FFF2-40B4-BE49-F238E27FC236}">
                  <a16:creationId xmlns:a16="http://schemas.microsoft.com/office/drawing/2014/main" id="{DD09BDDE-C3EA-6945-B0B2-2BF7494FD7AF}"/>
                </a:ext>
              </a:extLst>
            </p:cNvPr>
            <p:cNvSpPr>
              <a:spLocks noChangeArrowheads="1"/>
            </p:cNvSpPr>
            <p:nvPr/>
          </p:nvSpPr>
          <p:spPr bwMode="auto">
            <a:xfrm>
              <a:off x="2355850" y="5246688"/>
              <a:ext cx="328613"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55" name="Rectangle 154">
              <a:extLst>
                <a:ext uri="{FF2B5EF4-FFF2-40B4-BE49-F238E27FC236}">
                  <a16:creationId xmlns:a16="http://schemas.microsoft.com/office/drawing/2014/main" id="{AFE40CD9-2CD4-A749-B54C-1EA3BB3DD7C4}"/>
                </a:ext>
              </a:extLst>
            </p:cNvPr>
            <p:cNvSpPr>
              <a:spLocks noChangeArrowheads="1"/>
            </p:cNvSpPr>
            <p:nvPr/>
          </p:nvSpPr>
          <p:spPr bwMode="auto">
            <a:xfrm>
              <a:off x="2466975" y="5262563"/>
              <a:ext cx="156456"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V</a:t>
              </a:r>
              <a:endParaRPr lang="en-US" altLang="zh-CN" sz="2700" dirty="0">
                <a:latin typeface="Times New Roman" pitchFamily="18" charset="0"/>
                <a:ea typeface="SimHei" panose="02010609060101010101" pitchFamily="49" charset="-122"/>
              </a:endParaRPr>
            </a:p>
          </p:txBody>
        </p:sp>
        <p:sp>
          <p:nvSpPr>
            <p:cNvPr id="156" name="Rectangle 155">
              <a:extLst>
                <a:ext uri="{FF2B5EF4-FFF2-40B4-BE49-F238E27FC236}">
                  <a16:creationId xmlns:a16="http://schemas.microsoft.com/office/drawing/2014/main" id="{51E3FDB4-8FC3-744B-868E-9D200AE5401A}"/>
                </a:ext>
              </a:extLst>
            </p:cNvPr>
            <p:cNvSpPr>
              <a:spLocks noChangeArrowheads="1"/>
            </p:cNvSpPr>
            <p:nvPr/>
          </p:nvSpPr>
          <p:spPr bwMode="auto">
            <a:xfrm>
              <a:off x="2028825" y="5246688"/>
              <a:ext cx="327025" cy="246062"/>
            </a:xfrm>
            <a:prstGeom prst="rect">
              <a:avLst/>
            </a:prstGeom>
            <a:solidFill>
              <a:srgbClr val="00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57" name="Rectangle 156">
              <a:extLst>
                <a:ext uri="{FF2B5EF4-FFF2-40B4-BE49-F238E27FC236}">
                  <a16:creationId xmlns:a16="http://schemas.microsoft.com/office/drawing/2014/main" id="{A5E8706B-64C2-5543-9C8E-F566045A611E}"/>
                </a:ext>
              </a:extLst>
            </p:cNvPr>
            <p:cNvSpPr>
              <a:spLocks noChangeArrowheads="1"/>
            </p:cNvSpPr>
            <p:nvPr/>
          </p:nvSpPr>
          <p:spPr bwMode="auto">
            <a:xfrm>
              <a:off x="2028825" y="5246688"/>
              <a:ext cx="327025" cy="246062"/>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58" name="Rectangle 157">
              <a:extLst>
                <a:ext uri="{FF2B5EF4-FFF2-40B4-BE49-F238E27FC236}">
                  <a16:creationId xmlns:a16="http://schemas.microsoft.com/office/drawing/2014/main" id="{64DC15EA-3AF4-954D-B4E6-BD97A49CB3B0}"/>
                </a:ext>
              </a:extLst>
            </p:cNvPr>
            <p:cNvSpPr>
              <a:spLocks noChangeArrowheads="1"/>
            </p:cNvSpPr>
            <p:nvPr/>
          </p:nvSpPr>
          <p:spPr bwMode="auto">
            <a:xfrm>
              <a:off x="2139950" y="5262563"/>
              <a:ext cx="13127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en-US" altLang="zh-CN" sz="1500" dirty="0">
                  <a:latin typeface="Times New Roman" pitchFamily="18" charset="0"/>
                  <a:ea typeface="SimHei" panose="02010609060101010101" pitchFamily="49" charset="-122"/>
                </a:rPr>
                <a:t>T</a:t>
              </a:r>
              <a:endParaRPr lang="en-US" altLang="zh-CN" sz="2700" dirty="0">
                <a:latin typeface="Times New Roman" pitchFamily="18" charset="0"/>
                <a:ea typeface="SimHei" panose="02010609060101010101" pitchFamily="49" charset="-122"/>
              </a:endParaRPr>
            </a:p>
          </p:txBody>
        </p:sp>
        <p:sp>
          <p:nvSpPr>
            <p:cNvPr id="159" name="Rectangle 158">
              <a:extLst>
                <a:ext uri="{FF2B5EF4-FFF2-40B4-BE49-F238E27FC236}">
                  <a16:creationId xmlns:a16="http://schemas.microsoft.com/office/drawing/2014/main" id="{6C1C0035-A4F2-2048-8CDC-BD223E0F0630}"/>
                </a:ext>
              </a:extLst>
            </p:cNvPr>
            <p:cNvSpPr>
              <a:spLocks noChangeArrowheads="1"/>
            </p:cNvSpPr>
            <p:nvPr/>
          </p:nvSpPr>
          <p:spPr bwMode="auto">
            <a:xfrm>
              <a:off x="7539038" y="3662363"/>
              <a:ext cx="1392237" cy="236537"/>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60" name="Rectangle 159">
              <a:extLst>
                <a:ext uri="{FF2B5EF4-FFF2-40B4-BE49-F238E27FC236}">
                  <a16:creationId xmlns:a16="http://schemas.microsoft.com/office/drawing/2014/main" id="{CC889B6A-E00B-D143-8A4B-D0344B07D981}"/>
                </a:ext>
              </a:extLst>
            </p:cNvPr>
            <p:cNvSpPr>
              <a:spLocks noChangeArrowheads="1"/>
            </p:cNvSpPr>
            <p:nvPr/>
          </p:nvSpPr>
          <p:spPr bwMode="auto">
            <a:xfrm>
              <a:off x="7539038" y="3662363"/>
              <a:ext cx="1392237" cy="23653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61" name="Rectangle 160">
              <a:extLst>
                <a:ext uri="{FF2B5EF4-FFF2-40B4-BE49-F238E27FC236}">
                  <a16:creationId xmlns:a16="http://schemas.microsoft.com/office/drawing/2014/main" id="{CC8CC3E7-77B0-6143-B10B-7022FF2EDB59}"/>
                </a:ext>
              </a:extLst>
            </p:cNvPr>
            <p:cNvSpPr>
              <a:spLocks noChangeArrowheads="1"/>
            </p:cNvSpPr>
            <p:nvPr/>
          </p:nvSpPr>
          <p:spPr bwMode="auto">
            <a:xfrm>
              <a:off x="7539038" y="3898900"/>
              <a:ext cx="1392237" cy="236538"/>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62" name="Rectangle 161">
              <a:extLst>
                <a:ext uri="{FF2B5EF4-FFF2-40B4-BE49-F238E27FC236}">
                  <a16:creationId xmlns:a16="http://schemas.microsoft.com/office/drawing/2014/main" id="{C5FA8DC7-F8A8-7A43-B59B-BC44787E836F}"/>
                </a:ext>
              </a:extLst>
            </p:cNvPr>
            <p:cNvSpPr>
              <a:spLocks noChangeArrowheads="1"/>
            </p:cNvSpPr>
            <p:nvPr/>
          </p:nvSpPr>
          <p:spPr bwMode="auto">
            <a:xfrm>
              <a:off x="7539038" y="3898900"/>
              <a:ext cx="1392237" cy="23653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63" name="Rectangle 162">
              <a:extLst>
                <a:ext uri="{FF2B5EF4-FFF2-40B4-BE49-F238E27FC236}">
                  <a16:creationId xmlns:a16="http://schemas.microsoft.com/office/drawing/2014/main" id="{2FD3A7AA-8172-DC46-AA96-98E6CB1A6481}"/>
                </a:ext>
              </a:extLst>
            </p:cNvPr>
            <p:cNvSpPr>
              <a:spLocks noChangeArrowheads="1"/>
            </p:cNvSpPr>
            <p:nvPr/>
          </p:nvSpPr>
          <p:spPr bwMode="auto">
            <a:xfrm>
              <a:off x="7539038" y="4135438"/>
              <a:ext cx="1392237" cy="236537"/>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64" name="Rectangle 163">
              <a:extLst>
                <a:ext uri="{FF2B5EF4-FFF2-40B4-BE49-F238E27FC236}">
                  <a16:creationId xmlns:a16="http://schemas.microsoft.com/office/drawing/2014/main" id="{0F68DBF4-2120-8347-A134-9E34F55E62E7}"/>
                </a:ext>
              </a:extLst>
            </p:cNvPr>
            <p:cNvSpPr>
              <a:spLocks noChangeArrowheads="1"/>
            </p:cNvSpPr>
            <p:nvPr/>
          </p:nvSpPr>
          <p:spPr bwMode="auto">
            <a:xfrm>
              <a:off x="7539038" y="4135438"/>
              <a:ext cx="1392237" cy="23653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65" name="Rectangle 164">
              <a:extLst>
                <a:ext uri="{FF2B5EF4-FFF2-40B4-BE49-F238E27FC236}">
                  <a16:creationId xmlns:a16="http://schemas.microsoft.com/office/drawing/2014/main" id="{14A053AD-6ABA-D448-BEAC-40627CADA8D3}"/>
                </a:ext>
              </a:extLst>
            </p:cNvPr>
            <p:cNvSpPr>
              <a:spLocks noChangeArrowheads="1"/>
            </p:cNvSpPr>
            <p:nvPr/>
          </p:nvSpPr>
          <p:spPr bwMode="auto">
            <a:xfrm>
              <a:off x="7539038" y="4371975"/>
              <a:ext cx="1392237" cy="236538"/>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66" name="Rectangle 165">
              <a:extLst>
                <a:ext uri="{FF2B5EF4-FFF2-40B4-BE49-F238E27FC236}">
                  <a16:creationId xmlns:a16="http://schemas.microsoft.com/office/drawing/2014/main" id="{E99F9AEF-A1C8-254D-82BC-FC0D21C7D4B6}"/>
                </a:ext>
              </a:extLst>
            </p:cNvPr>
            <p:cNvSpPr>
              <a:spLocks noChangeArrowheads="1"/>
            </p:cNvSpPr>
            <p:nvPr/>
          </p:nvSpPr>
          <p:spPr bwMode="auto">
            <a:xfrm>
              <a:off x="7539038" y="4371975"/>
              <a:ext cx="1392237" cy="23653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67" name="Rectangle 166">
              <a:extLst>
                <a:ext uri="{FF2B5EF4-FFF2-40B4-BE49-F238E27FC236}">
                  <a16:creationId xmlns:a16="http://schemas.microsoft.com/office/drawing/2014/main" id="{92201B16-1142-4340-8734-09C275EACF83}"/>
                </a:ext>
              </a:extLst>
            </p:cNvPr>
            <p:cNvSpPr>
              <a:spLocks noChangeArrowheads="1"/>
            </p:cNvSpPr>
            <p:nvPr/>
          </p:nvSpPr>
          <p:spPr bwMode="auto">
            <a:xfrm>
              <a:off x="7539038" y="4608513"/>
              <a:ext cx="1392237" cy="236537"/>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68" name="Rectangle 167">
              <a:extLst>
                <a:ext uri="{FF2B5EF4-FFF2-40B4-BE49-F238E27FC236}">
                  <a16:creationId xmlns:a16="http://schemas.microsoft.com/office/drawing/2014/main" id="{C5FD6465-484D-6748-8E2E-B1EC3A03C01F}"/>
                </a:ext>
              </a:extLst>
            </p:cNvPr>
            <p:cNvSpPr>
              <a:spLocks noChangeArrowheads="1"/>
            </p:cNvSpPr>
            <p:nvPr/>
          </p:nvSpPr>
          <p:spPr bwMode="auto">
            <a:xfrm>
              <a:off x="7539038" y="4608513"/>
              <a:ext cx="1392237" cy="23653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69" name="Rectangle 168">
              <a:extLst>
                <a:ext uri="{FF2B5EF4-FFF2-40B4-BE49-F238E27FC236}">
                  <a16:creationId xmlns:a16="http://schemas.microsoft.com/office/drawing/2014/main" id="{4D67A783-7178-1144-9DB0-C5F2B596FFBE}"/>
                </a:ext>
              </a:extLst>
            </p:cNvPr>
            <p:cNvSpPr>
              <a:spLocks noChangeArrowheads="1"/>
            </p:cNvSpPr>
            <p:nvPr/>
          </p:nvSpPr>
          <p:spPr bwMode="auto">
            <a:xfrm>
              <a:off x="7539038" y="4845050"/>
              <a:ext cx="1392237" cy="236538"/>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70" name="Rectangle 169">
              <a:extLst>
                <a:ext uri="{FF2B5EF4-FFF2-40B4-BE49-F238E27FC236}">
                  <a16:creationId xmlns:a16="http://schemas.microsoft.com/office/drawing/2014/main" id="{850C7A03-74D8-A247-919A-2D1618AD4B3F}"/>
                </a:ext>
              </a:extLst>
            </p:cNvPr>
            <p:cNvSpPr>
              <a:spLocks noChangeArrowheads="1"/>
            </p:cNvSpPr>
            <p:nvPr/>
          </p:nvSpPr>
          <p:spPr bwMode="auto">
            <a:xfrm>
              <a:off x="7539038" y="4845050"/>
              <a:ext cx="1392237" cy="23653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71" name="Rectangle 170">
              <a:extLst>
                <a:ext uri="{FF2B5EF4-FFF2-40B4-BE49-F238E27FC236}">
                  <a16:creationId xmlns:a16="http://schemas.microsoft.com/office/drawing/2014/main" id="{4AFF1E1C-8BEC-BF4A-B97A-96C778B16DA6}"/>
                </a:ext>
              </a:extLst>
            </p:cNvPr>
            <p:cNvSpPr>
              <a:spLocks noChangeArrowheads="1"/>
            </p:cNvSpPr>
            <p:nvPr/>
          </p:nvSpPr>
          <p:spPr bwMode="auto">
            <a:xfrm>
              <a:off x="7539038" y="5081588"/>
              <a:ext cx="1392237" cy="236537"/>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72" name="Rectangle 171">
              <a:extLst>
                <a:ext uri="{FF2B5EF4-FFF2-40B4-BE49-F238E27FC236}">
                  <a16:creationId xmlns:a16="http://schemas.microsoft.com/office/drawing/2014/main" id="{C5DDE9C3-72B6-F349-9DAF-E3370A2069B0}"/>
                </a:ext>
              </a:extLst>
            </p:cNvPr>
            <p:cNvSpPr>
              <a:spLocks noChangeArrowheads="1"/>
            </p:cNvSpPr>
            <p:nvPr/>
          </p:nvSpPr>
          <p:spPr bwMode="auto">
            <a:xfrm>
              <a:off x="7539038" y="5081588"/>
              <a:ext cx="1392237" cy="23653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73" name="Rectangle 172">
              <a:extLst>
                <a:ext uri="{FF2B5EF4-FFF2-40B4-BE49-F238E27FC236}">
                  <a16:creationId xmlns:a16="http://schemas.microsoft.com/office/drawing/2014/main" id="{F1EFF96B-E69D-D64F-A7EF-F4A7CBF38DA4}"/>
                </a:ext>
              </a:extLst>
            </p:cNvPr>
            <p:cNvSpPr>
              <a:spLocks noChangeArrowheads="1"/>
            </p:cNvSpPr>
            <p:nvPr/>
          </p:nvSpPr>
          <p:spPr bwMode="auto">
            <a:xfrm>
              <a:off x="7539038" y="5318125"/>
              <a:ext cx="1392237" cy="236538"/>
            </a:xfrm>
            <a:prstGeom prst="rect">
              <a:avLst/>
            </a:prstGeom>
            <a:solidFill>
              <a:srgbClr val="CC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74" name="Rectangle 173">
              <a:extLst>
                <a:ext uri="{FF2B5EF4-FFF2-40B4-BE49-F238E27FC236}">
                  <a16:creationId xmlns:a16="http://schemas.microsoft.com/office/drawing/2014/main" id="{8A06B46C-08F9-D845-ABC7-35A03A5B8068}"/>
                </a:ext>
              </a:extLst>
            </p:cNvPr>
            <p:cNvSpPr>
              <a:spLocks noChangeArrowheads="1"/>
            </p:cNvSpPr>
            <p:nvPr/>
          </p:nvSpPr>
          <p:spPr bwMode="auto">
            <a:xfrm>
              <a:off x="7539038" y="5318125"/>
              <a:ext cx="1392237" cy="236538"/>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76" name="Rectangle 177">
              <a:extLst>
                <a:ext uri="{FF2B5EF4-FFF2-40B4-BE49-F238E27FC236}">
                  <a16:creationId xmlns:a16="http://schemas.microsoft.com/office/drawing/2014/main" id="{50280804-4824-B144-AF2C-FFD679E3C8D5}"/>
                </a:ext>
              </a:extLst>
            </p:cNvPr>
            <p:cNvSpPr>
              <a:spLocks noChangeArrowheads="1"/>
            </p:cNvSpPr>
            <p:nvPr/>
          </p:nvSpPr>
          <p:spPr bwMode="auto">
            <a:xfrm>
              <a:off x="1555750" y="5751513"/>
              <a:ext cx="736600" cy="306387"/>
            </a:xfrm>
            <a:prstGeom prst="rect">
              <a:avLst/>
            </a:prstGeom>
            <a:solidFill>
              <a:srgbClr val="FF99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77" name="Rectangle 178">
              <a:extLst>
                <a:ext uri="{FF2B5EF4-FFF2-40B4-BE49-F238E27FC236}">
                  <a16:creationId xmlns:a16="http://schemas.microsoft.com/office/drawing/2014/main" id="{C272E20D-C928-854C-A51F-E52974AECCD2}"/>
                </a:ext>
              </a:extLst>
            </p:cNvPr>
            <p:cNvSpPr>
              <a:spLocks noChangeArrowheads="1"/>
            </p:cNvSpPr>
            <p:nvPr/>
          </p:nvSpPr>
          <p:spPr bwMode="auto">
            <a:xfrm>
              <a:off x="1555750" y="5751513"/>
              <a:ext cx="736600" cy="3063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78" name="Rectangle 179">
              <a:extLst>
                <a:ext uri="{FF2B5EF4-FFF2-40B4-BE49-F238E27FC236}">
                  <a16:creationId xmlns:a16="http://schemas.microsoft.com/office/drawing/2014/main" id="{AF64A264-A0F3-0145-8225-639F620934C0}"/>
                </a:ext>
              </a:extLst>
            </p:cNvPr>
            <p:cNvSpPr>
              <a:spLocks noChangeArrowheads="1"/>
            </p:cNvSpPr>
            <p:nvPr/>
          </p:nvSpPr>
          <p:spPr bwMode="auto">
            <a:xfrm>
              <a:off x="1717675" y="5797550"/>
              <a:ext cx="431600"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500" dirty="0">
                  <a:latin typeface="Times New Roman" pitchFamily="18" charset="0"/>
                  <a:ea typeface="SimHei" panose="02010609060101010101" pitchFamily="49" charset="-122"/>
                </a:rPr>
                <a:t>比较</a:t>
              </a:r>
              <a:endParaRPr lang="zh-CN" altLang="en-US" sz="2700" dirty="0">
                <a:latin typeface="Times New Roman" pitchFamily="18" charset="0"/>
                <a:ea typeface="SimHei" panose="02010609060101010101" pitchFamily="49" charset="-122"/>
              </a:endParaRPr>
            </a:p>
          </p:txBody>
        </p:sp>
        <p:sp>
          <p:nvSpPr>
            <p:cNvPr id="181" name="Rectangle 182">
              <a:extLst>
                <a:ext uri="{FF2B5EF4-FFF2-40B4-BE49-F238E27FC236}">
                  <a16:creationId xmlns:a16="http://schemas.microsoft.com/office/drawing/2014/main" id="{498ECA9F-B6F3-6745-9A78-603CA029132F}"/>
                </a:ext>
              </a:extLst>
            </p:cNvPr>
            <p:cNvSpPr>
              <a:spLocks noChangeArrowheads="1"/>
            </p:cNvSpPr>
            <p:nvPr/>
          </p:nvSpPr>
          <p:spPr bwMode="auto">
            <a:xfrm>
              <a:off x="2947988" y="5751513"/>
              <a:ext cx="1639887" cy="306387"/>
            </a:xfrm>
            <a:prstGeom prst="rect">
              <a:avLst/>
            </a:prstGeom>
            <a:solidFill>
              <a:srgbClr val="FF99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82" name="Rectangle 183">
              <a:extLst>
                <a:ext uri="{FF2B5EF4-FFF2-40B4-BE49-F238E27FC236}">
                  <a16:creationId xmlns:a16="http://schemas.microsoft.com/office/drawing/2014/main" id="{2A70B259-C8CA-3640-A2E1-46036AFA495E}"/>
                </a:ext>
              </a:extLst>
            </p:cNvPr>
            <p:cNvSpPr>
              <a:spLocks noChangeArrowheads="1"/>
            </p:cNvSpPr>
            <p:nvPr/>
          </p:nvSpPr>
          <p:spPr bwMode="auto">
            <a:xfrm>
              <a:off x="2947988" y="5751513"/>
              <a:ext cx="1639887" cy="3063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83" name="Rectangle 184">
              <a:extLst>
                <a:ext uri="{FF2B5EF4-FFF2-40B4-BE49-F238E27FC236}">
                  <a16:creationId xmlns:a16="http://schemas.microsoft.com/office/drawing/2014/main" id="{A37C3DAE-6CCC-9149-BB65-88E51A9E332E}"/>
                </a:ext>
              </a:extLst>
            </p:cNvPr>
            <p:cNvSpPr>
              <a:spLocks noChangeArrowheads="1"/>
            </p:cNvSpPr>
            <p:nvPr/>
          </p:nvSpPr>
          <p:spPr bwMode="auto">
            <a:xfrm>
              <a:off x="3455988" y="5797550"/>
              <a:ext cx="64739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500" dirty="0">
                  <a:latin typeface="Times New Roman" pitchFamily="18" charset="0"/>
                  <a:ea typeface="SimHei" panose="02010609060101010101" pitchFamily="49" charset="-122"/>
                </a:rPr>
                <a:t>选择器</a:t>
              </a:r>
              <a:endParaRPr lang="zh-CN" altLang="en-US" sz="2700" dirty="0">
                <a:latin typeface="Times New Roman" pitchFamily="18" charset="0"/>
                <a:ea typeface="SimHei" panose="02010609060101010101" pitchFamily="49" charset="-122"/>
              </a:endParaRPr>
            </a:p>
          </p:txBody>
        </p:sp>
        <p:sp>
          <p:nvSpPr>
            <p:cNvPr id="184" name="Line 189">
              <a:extLst>
                <a:ext uri="{FF2B5EF4-FFF2-40B4-BE49-F238E27FC236}">
                  <a16:creationId xmlns:a16="http://schemas.microsoft.com/office/drawing/2014/main" id="{6B2D7810-5641-AE42-A6CC-76790A2D67AA}"/>
                </a:ext>
              </a:extLst>
            </p:cNvPr>
            <p:cNvSpPr>
              <a:spLocks noChangeShapeType="1"/>
            </p:cNvSpPr>
            <p:nvPr/>
          </p:nvSpPr>
          <p:spPr bwMode="auto">
            <a:xfrm>
              <a:off x="2292350" y="6242050"/>
              <a:ext cx="263525"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185" name="Line 190">
              <a:extLst>
                <a:ext uri="{FF2B5EF4-FFF2-40B4-BE49-F238E27FC236}">
                  <a16:creationId xmlns:a16="http://schemas.microsoft.com/office/drawing/2014/main" id="{E71F1C30-148A-BC40-BB0C-9E69442C34FA}"/>
                </a:ext>
              </a:extLst>
            </p:cNvPr>
            <p:cNvSpPr>
              <a:spLocks noChangeShapeType="1"/>
            </p:cNvSpPr>
            <p:nvPr/>
          </p:nvSpPr>
          <p:spPr bwMode="auto">
            <a:xfrm>
              <a:off x="2292350" y="6362700"/>
              <a:ext cx="263525"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186" name="Line 191">
              <a:extLst>
                <a:ext uri="{FF2B5EF4-FFF2-40B4-BE49-F238E27FC236}">
                  <a16:creationId xmlns:a16="http://schemas.microsoft.com/office/drawing/2014/main" id="{B48B0914-5A2C-7B4D-9DA8-B7C89EE66F8D}"/>
                </a:ext>
              </a:extLst>
            </p:cNvPr>
            <p:cNvSpPr>
              <a:spLocks noChangeShapeType="1"/>
            </p:cNvSpPr>
            <p:nvPr/>
          </p:nvSpPr>
          <p:spPr bwMode="auto">
            <a:xfrm flipH="1">
              <a:off x="2555875" y="6302375"/>
              <a:ext cx="261938"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187" name="Freeform 192">
              <a:extLst>
                <a:ext uri="{FF2B5EF4-FFF2-40B4-BE49-F238E27FC236}">
                  <a16:creationId xmlns:a16="http://schemas.microsoft.com/office/drawing/2014/main" id="{D60601F8-E687-374E-91FF-10AC9F69A65D}"/>
                </a:ext>
              </a:extLst>
            </p:cNvPr>
            <p:cNvSpPr>
              <a:spLocks/>
            </p:cNvSpPr>
            <p:nvPr/>
          </p:nvSpPr>
          <p:spPr bwMode="auto">
            <a:xfrm>
              <a:off x="2384425" y="6181725"/>
              <a:ext cx="341313" cy="244475"/>
            </a:xfrm>
            <a:custGeom>
              <a:avLst/>
              <a:gdLst>
                <a:gd name="T0" fmla="*/ 2147483647 w 376"/>
                <a:gd name="T1" fmla="*/ 2147483647 h 291"/>
                <a:gd name="T2" fmla="*/ 2147483647 w 376"/>
                <a:gd name="T3" fmla="*/ 2147483647 h 291"/>
                <a:gd name="T4" fmla="*/ 2147483647 w 376"/>
                <a:gd name="T5" fmla="*/ 2147483647 h 291"/>
                <a:gd name="T6" fmla="*/ 2147483647 w 376"/>
                <a:gd name="T7" fmla="*/ 2147483647 h 291"/>
                <a:gd name="T8" fmla="*/ 2147483647 w 376"/>
                <a:gd name="T9" fmla="*/ 2147483647 h 291"/>
                <a:gd name="T10" fmla="*/ 2147483647 w 376"/>
                <a:gd name="T11" fmla="*/ 2147483647 h 291"/>
                <a:gd name="T12" fmla="*/ 2147483647 w 376"/>
                <a:gd name="T13" fmla="*/ 2147483647 h 291"/>
                <a:gd name="T14" fmla="*/ 2147483647 w 376"/>
                <a:gd name="T15" fmla="*/ 2147483647 h 291"/>
                <a:gd name="T16" fmla="*/ 2147483647 w 376"/>
                <a:gd name="T17" fmla="*/ 2147483647 h 291"/>
                <a:gd name="T18" fmla="*/ 2147483647 w 376"/>
                <a:gd name="T19" fmla="*/ 2147483647 h 291"/>
                <a:gd name="T20" fmla="*/ 0 w 376"/>
                <a:gd name="T21" fmla="*/ 2147483647 h 291"/>
                <a:gd name="T22" fmla="*/ 2147483647 w 376"/>
                <a:gd name="T23" fmla="*/ 2147483647 h 291"/>
                <a:gd name="T24" fmla="*/ 2147483647 w 376"/>
                <a:gd name="T25" fmla="*/ 2147483647 h 291"/>
                <a:gd name="T26" fmla="*/ 2147483647 w 376"/>
                <a:gd name="T27" fmla="*/ 2147483647 h 291"/>
                <a:gd name="T28" fmla="*/ 2147483647 w 376"/>
                <a:gd name="T29" fmla="*/ 2147483647 h 291"/>
                <a:gd name="T30" fmla="*/ 2147483647 w 376"/>
                <a:gd name="T31" fmla="*/ 2147483647 h 291"/>
                <a:gd name="T32" fmla="*/ 2147483647 w 376"/>
                <a:gd name="T33" fmla="*/ 2147483647 h 291"/>
                <a:gd name="T34" fmla="*/ 2147483647 w 376"/>
                <a:gd name="T35" fmla="*/ 2147483647 h 291"/>
                <a:gd name="T36" fmla="*/ 2147483647 w 376"/>
                <a:gd name="T37" fmla="*/ 2147483647 h 291"/>
                <a:gd name="T38" fmla="*/ 2147483647 w 376"/>
                <a:gd name="T39" fmla="*/ 2147483647 h 291"/>
                <a:gd name="T40" fmla="*/ 2147483647 w 376"/>
                <a:gd name="T41" fmla="*/ 2147483647 h 291"/>
                <a:gd name="T42" fmla="*/ 2147483647 w 376"/>
                <a:gd name="T43" fmla="*/ 2147483647 h 291"/>
                <a:gd name="T44" fmla="*/ 2147483647 w 376"/>
                <a:gd name="T45" fmla="*/ 2147483647 h 291"/>
                <a:gd name="T46" fmla="*/ 2147483647 w 376"/>
                <a:gd name="T47" fmla="*/ 2147483647 h 291"/>
                <a:gd name="T48" fmla="*/ 2147483647 w 376"/>
                <a:gd name="T49" fmla="*/ 2147483647 h 291"/>
                <a:gd name="T50" fmla="*/ 2147483647 w 376"/>
                <a:gd name="T51" fmla="*/ 2147483647 h 291"/>
                <a:gd name="T52" fmla="*/ 0 w 376"/>
                <a:gd name="T53" fmla="*/ 0 h 291"/>
                <a:gd name="T54" fmla="*/ 2147483647 w 376"/>
                <a:gd name="T55" fmla="*/ 0 h 291"/>
                <a:gd name="T56" fmla="*/ 2147483647 w 376"/>
                <a:gd name="T57" fmla="*/ 2147483647 h 291"/>
                <a:gd name="T58" fmla="*/ 2147483647 w 376"/>
                <a:gd name="T59" fmla="*/ 2147483647 h 291"/>
                <a:gd name="T60" fmla="*/ 2147483647 w 376"/>
                <a:gd name="T61" fmla="*/ 2147483647 h 291"/>
                <a:gd name="T62" fmla="*/ 2147483647 w 376"/>
                <a:gd name="T63" fmla="*/ 2147483647 h 291"/>
                <a:gd name="T64" fmla="*/ 2147483647 w 376"/>
                <a:gd name="T65" fmla="*/ 2147483647 h 291"/>
                <a:gd name="T66" fmla="*/ 2147483647 w 376"/>
                <a:gd name="T67" fmla="*/ 2147483647 h 291"/>
                <a:gd name="T68" fmla="*/ 2147483647 w 376"/>
                <a:gd name="T69" fmla="*/ 2147483647 h 291"/>
                <a:gd name="T70" fmla="*/ 2147483647 w 376"/>
                <a:gd name="T71" fmla="*/ 2147483647 h 291"/>
                <a:gd name="T72" fmla="*/ 2147483647 w 376"/>
                <a:gd name="T73" fmla="*/ 2147483647 h 291"/>
                <a:gd name="T74" fmla="*/ 2147483647 w 376"/>
                <a:gd name="T75" fmla="*/ 2147483647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6" h="291">
                  <a:moveTo>
                    <a:pt x="376" y="145"/>
                  </a:moveTo>
                  <a:lnTo>
                    <a:pt x="372" y="152"/>
                  </a:lnTo>
                  <a:lnTo>
                    <a:pt x="367" y="159"/>
                  </a:lnTo>
                  <a:lnTo>
                    <a:pt x="363" y="166"/>
                  </a:lnTo>
                  <a:lnTo>
                    <a:pt x="357" y="171"/>
                  </a:lnTo>
                  <a:lnTo>
                    <a:pt x="351" y="178"/>
                  </a:lnTo>
                  <a:lnTo>
                    <a:pt x="346" y="184"/>
                  </a:lnTo>
                  <a:lnTo>
                    <a:pt x="333" y="195"/>
                  </a:lnTo>
                  <a:lnTo>
                    <a:pt x="320" y="207"/>
                  </a:lnTo>
                  <a:lnTo>
                    <a:pt x="305" y="218"/>
                  </a:lnTo>
                  <a:lnTo>
                    <a:pt x="289" y="228"/>
                  </a:lnTo>
                  <a:lnTo>
                    <a:pt x="273" y="237"/>
                  </a:lnTo>
                  <a:lnTo>
                    <a:pt x="256" y="246"/>
                  </a:lnTo>
                  <a:lnTo>
                    <a:pt x="237" y="255"/>
                  </a:lnTo>
                  <a:lnTo>
                    <a:pt x="219" y="263"/>
                  </a:lnTo>
                  <a:lnTo>
                    <a:pt x="198" y="270"/>
                  </a:lnTo>
                  <a:lnTo>
                    <a:pt x="178" y="276"/>
                  </a:lnTo>
                  <a:lnTo>
                    <a:pt x="156" y="282"/>
                  </a:lnTo>
                  <a:lnTo>
                    <a:pt x="135" y="287"/>
                  </a:lnTo>
                  <a:lnTo>
                    <a:pt x="112" y="291"/>
                  </a:lnTo>
                  <a:lnTo>
                    <a:pt x="0" y="291"/>
                  </a:lnTo>
                  <a:lnTo>
                    <a:pt x="5" y="283"/>
                  </a:lnTo>
                  <a:lnTo>
                    <a:pt x="11" y="274"/>
                  </a:lnTo>
                  <a:lnTo>
                    <a:pt x="17" y="265"/>
                  </a:lnTo>
                  <a:lnTo>
                    <a:pt x="22" y="255"/>
                  </a:lnTo>
                  <a:lnTo>
                    <a:pt x="27" y="246"/>
                  </a:lnTo>
                  <a:lnTo>
                    <a:pt x="31" y="237"/>
                  </a:lnTo>
                  <a:lnTo>
                    <a:pt x="35" y="228"/>
                  </a:lnTo>
                  <a:lnTo>
                    <a:pt x="38" y="219"/>
                  </a:lnTo>
                  <a:lnTo>
                    <a:pt x="42" y="210"/>
                  </a:lnTo>
                  <a:lnTo>
                    <a:pt x="44" y="201"/>
                  </a:lnTo>
                  <a:lnTo>
                    <a:pt x="46" y="192"/>
                  </a:lnTo>
                  <a:lnTo>
                    <a:pt x="48" y="183"/>
                  </a:lnTo>
                  <a:lnTo>
                    <a:pt x="50" y="174"/>
                  </a:lnTo>
                  <a:lnTo>
                    <a:pt x="51" y="165"/>
                  </a:lnTo>
                  <a:lnTo>
                    <a:pt x="52" y="154"/>
                  </a:lnTo>
                  <a:lnTo>
                    <a:pt x="52" y="145"/>
                  </a:lnTo>
                  <a:lnTo>
                    <a:pt x="52" y="136"/>
                  </a:lnTo>
                  <a:lnTo>
                    <a:pt x="51" y="127"/>
                  </a:lnTo>
                  <a:lnTo>
                    <a:pt x="50" y="118"/>
                  </a:lnTo>
                  <a:lnTo>
                    <a:pt x="48" y="108"/>
                  </a:lnTo>
                  <a:lnTo>
                    <a:pt x="46" y="99"/>
                  </a:lnTo>
                  <a:lnTo>
                    <a:pt x="44" y="90"/>
                  </a:lnTo>
                  <a:lnTo>
                    <a:pt x="42" y="81"/>
                  </a:lnTo>
                  <a:lnTo>
                    <a:pt x="38" y="72"/>
                  </a:lnTo>
                  <a:lnTo>
                    <a:pt x="35" y="62"/>
                  </a:lnTo>
                  <a:lnTo>
                    <a:pt x="31" y="53"/>
                  </a:lnTo>
                  <a:lnTo>
                    <a:pt x="27" y="44"/>
                  </a:lnTo>
                  <a:lnTo>
                    <a:pt x="22" y="35"/>
                  </a:lnTo>
                  <a:lnTo>
                    <a:pt x="17" y="26"/>
                  </a:lnTo>
                  <a:lnTo>
                    <a:pt x="11" y="18"/>
                  </a:lnTo>
                  <a:lnTo>
                    <a:pt x="5" y="9"/>
                  </a:lnTo>
                  <a:lnTo>
                    <a:pt x="0" y="0"/>
                  </a:lnTo>
                  <a:lnTo>
                    <a:pt x="112" y="0"/>
                  </a:lnTo>
                  <a:lnTo>
                    <a:pt x="135" y="5"/>
                  </a:lnTo>
                  <a:lnTo>
                    <a:pt x="156" y="9"/>
                  </a:lnTo>
                  <a:lnTo>
                    <a:pt x="178" y="15"/>
                  </a:lnTo>
                  <a:lnTo>
                    <a:pt x="198" y="22"/>
                  </a:lnTo>
                  <a:lnTo>
                    <a:pt x="219" y="28"/>
                  </a:lnTo>
                  <a:lnTo>
                    <a:pt x="238" y="36"/>
                  </a:lnTo>
                  <a:lnTo>
                    <a:pt x="256" y="44"/>
                  </a:lnTo>
                  <a:lnTo>
                    <a:pt x="273" y="53"/>
                  </a:lnTo>
                  <a:lnTo>
                    <a:pt x="290" y="62"/>
                  </a:lnTo>
                  <a:lnTo>
                    <a:pt x="306" y="73"/>
                  </a:lnTo>
                  <a:lnTo>
                    <a:pt x="321" y="84"/>
                  </a:lnTo>
                  <a:lnTo>
                    <a:pt x="333" y="95"/>
                  </a:lnTo>
                  <a:lnTo>
                    <a:pt x="340" y="101"/>
                  </a:lnTo>
                  <a:lnTo>
                    <a:pt x="346" y="107"/>
                  </a:lnTo>
                  <a:lnTo>
                    <a:pt x="353" y="114"/>
                  </a:lnTo>
                  <a:lnTo>
                    <a:pt x="357" y="119"/>
                  </a:lnTo>
                  <a:lnTo>
                    <a:pt x="363" y="126"/>
                  </a:lnTo>
                  <a:lnTo>
                    <a:pt x="367" y="133"/>
                  </a:lnTo>
                  <a:lnTo>
                    <a:pt x="372" y="139"/>
                  </a:lnTo>
                  <a:lnTo>
                    <a:pt x="376" y="145"/>
                  </a:lnTo>
                  <a:close/>
                </a:path>
              </a:pathLst>
            </a:custGeom>
            <a:solidFill>
              <a:srgbClr val="99FF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188" name="Freeform 193">
              <a:extLst>
                <a:ext uri="{FF2B5EF4-FFF2-40B4-BE49-F238E27FC236}">
                  <a16:creationId xmlns:a16="http://schemas.microsoft.com/office/drawing/2014/main" id="{EE5638CB-2A87-D745-9CE4-D4F17ABD4866}"/>
                </a:ext>
              </a:extLst>
            </p:cNvPr>
            <p:cNvSpPr>
              <a:spLocks/>
            </p:cNvSpPr>
            <p:nvPr/>
          </p:nvSpPr>
          <p:spPr bwMode="auto">
            <a:xfrm>
              <a:off x="2384425" y="6181725"/>
              <a:ext cx="341313" cy="244475"/>
            </a:xfrm>
            <a:custGeom>
              <a:avLst/>
              <a:gdLst>
                <a:gd name="T0" fmla="*/ 2147483647 w 376"/>
                <a:gd name="T1" fmla="*/ 2147483647 h 291"/>
                <a:gd name="T2" fmla="*/ 2147483647 w 376"/>
                <a:gd name="T3" fmla="*/ 2147483647 h 291"/>
                <a:gd name="T4" fmla="*/ 2147483647 w 376"/>
                <a:gd name="T5" fmla="*/ 2147483647 h 291"/>
                <a:gd name="T6" fmla="*/ 2147483647 w 376"/>
                <a:gd name="T7" fmla="*/ 2147483647 h 291"/>
                <a:gd name="T8" fmla="*/ 2147483647 w 376"/>
                <a:gd name="T9" fmla="*/ 2147483647 h 291"/>
                <a:gd name="T10" fmla="*/ 2147483647 w 376"/>
                <a:gd name="T11" fmla="*/ 2147483647 h 291"/>
                <a:gd name="T12" fmla="*/ 2147483647 w 376"/>
                <a:gd name="T13" fmla="*/ 2147483647 h 291"/>
                <a:gd name="T14" fmla="*/ 2147483647 w 376"/>
                <a:gd name="T15" fmla="*/ 2147483647 h 291"/>
                <a:gd name="T16" fmla="*/ 2147483647 w 376"/>
                <a:gd name="T17" fmla="*/ 2147483647 h 291"/>
                <a:gd name="T18" fmla="*/ 2147483647 w 376"/>
                <a:gd name="T19" fmla="*/ 2147483647 h 291"/>
                <a:gd name="T20" fmla="*/ 0 w 376"/>
                <a:gd name="T21" fmla="*/ 2147483647 h 291"/>
                <a:gd name="T22" fmla="*/ 2147483647 w 376"/>
                <a:gd name="T23" fmla="*/ 2147483647 h 291"/>
                <a:gd name="T24" fmla="*/ 2147483647 w 376"/>
                <a:gd name="T25" fmla="*/ 2147483647 h 291"/>
                <a:gd name="T26" fmla="*/ 2147483647 w 376"/>
                <a:gd name="T27" fmla="*/ 2147483647 h 291"/>
                <a:gd name="T28" fmla="*/ 2147483647 w 376"/>
                <a:gd name="T29" fmla="*/ 2147483647 h 291"/>
                <a:gd name="T30" fmla="*/ 2147483647 w 376"/>
                <a:gd name="T31" fmla="*/ 2147483647 h 291"/>
                <a:gd name="T32" fmla="*/ 2147483647 w 376"/>
                <a:gd name="T33" fmla="*/ 2147483647 h 291"/>
                <a:gd name="T34" fmla="*/ 2147483647 w 376"/>
                <a:gd name="T35" fmla="*/ 2147483647 h 291"/>
                <a:gd name="T36" fmla="*/ 2147483647 w 376"/>
                <a:gd name="T37" fmla="*/ 2147483647 h 291"/>
                <a:gd name="T38" fmla="*/ 2147483647 w 376"/>
                <a:gd name="T39" fmla="*/ 2147483647 h 291"/>
                <a:gd name="T40" fmla="*/ 2147483647 w 376"/>
                <a:gd name="T41" fmla="*/ 2147483647 h 291"/>
                <a:gd name="T42" fmla="*/ 2147483647 w 376"/>
                <a:gd name="T43" fmla="*/ 2147483647 h 291"/>
                <a:gd name="T44" fmla="*/ 2147483647 w 376"/>
                <a:gd name="T45" fmla="*/ 2147483647 h 291"/>
                <a:gd name="T46" fmla="*/ 2147483647 w 376"/>
                <a:gd name="T47" fmla="*/ 2147483647 h 291"/>
                <a:gd name="T48" fmla="*/ 2147483647 w 376"/>
                <a:gd name="T49" fmla="*/ 2147483647 h 291"/>
                <a:gd name="T50" fmla="*/ 2147483647 w 376"/>
                <a:gd name="T51" fmla="*/ 2147483647 h 291"/>
                <a:gd name="T52" fmla="*/ 0 w 376"/>
                <a:gd name="T53" fmla="*/ 0 h 291"/>
                <a:gd name="T54" fmla="*/ 2147483647 w 376"/>
                <a:gd name="T55" fmla="*/ 0 h 291"/>
                <a:gd name="T56" fmla="*/ 2147483647 w 376"/>
                <a:gd name="T57" fmla="*/ 2147483647 h 291"/>
                <a:gd name="T58" fmla="*/ 2147483647 w 376"/>
                <a:gd name="T59" fmla="*/ 2147483647 h 291"/>
                <a:gd name="T60" fmla="*/ 2147483647 w 376"/>
                <a:gd name="T61" fmla="*/ 2147483647 h 291"/>
                <a:gd name="T62" fmla="*/ 2147483647 w 376"/>
                <a:gd name="T63" fmla="*/ 2147483647 h 291"/>
                <a:gd name="T64" fmla="*/ 2147483647 w 376"/>
                <a:gd name="T65" fmla="*/ 2147483647 h 291"/>
                <a:gd name="T66" fmla="*/ 2147483647 w 376"/>
                <a:gd name="T67" fmla="*/ 2147483647 h 291"/>
                <a:gd name="T68" fmla="*/ 2147483647 w 376"/>
                <a:gd name="T69" fmla="*/ 2147483647 h 291"/>
                <a:gd name="T70" fmla="*/ 2147483647 w 376"/>
                <a:gd name="T71" fmla="*/ 2147483647 h 291"/>
                <a:gd name="T72" fmla="*/ 2147483647 w 376"/>
                <a:gd name="T73" fmla="*/ 2147483647 h 291"/>
                <a:gd name="T74" fmla="*/ 2147483647 w 376"/>
                <a:gd name="T75" fmla="*/ 2147483647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6" h="291">
                  <a:moveTo>
                    <a:pt x="376" y="145"/>
                  </a:moveTo>
                  <a:lnTo>
                    <a:pt x="372" y="152"/>
                  </a:lnTo>
                  <a:lnTo>
                    <a:pt x="367" y="159"/>
                  </a:lnTo>
                  <a:lnTo>
                    <a:pt x="363" y="166"/>
                  </a:lnTo>
                  <a:lnTo>
                    <a:pt x="357" y="171"/>
                  </a:lnTo>
                  <a:lnTo>
                    <a:pt x="351" y="178"/>
                  </a:lnTo>
                  <a:lnTo>
                    <a:pt x="346" y="184"/>
                  </a:lnTo>
                  <a:lnTo>
                    <a:pt x="333" y="195"/>
                  </a:lnTo>
                  <a:lnTo>
                    <a:pt x="320" y="207"/>
                  </a:lnTo>
                  <a:lnTo>
                    <a:pt x="305" y="218"/>
                  </a:lnTo>
                  <a:lnTo>
                    <a:pt x="289" y="228"/>
                  </a:lnTo>
                  <a:lnTo>
                    <a:pt x="273" y="237"/>
                  </a:lnTo>
                  <a:lnTo>
                    <a:pt x="256" y="246"/>
                  </a:lnTo>
                  <a:lnTo>
                    <a:pt x="237" y="255"/>
                  </a:lnTo>
                  <a:lnTo>
                    <a:pt x="219" y="263"/>
                  </a:lnTo>
                  <a:lnTo>
                    <a:pt x="198" y="270"/>
                  </a:lnTo>
                  <a:lnTo>
                    <a:pt x="178" y="276"/>
                  </a:lnTo>
                  <a:lnTo>
                    <a:pt x="156" y="282"/>
                  </a:lnTo>
                  <a:lnTo>
                    <a:pt x="135" y="287"/>
                  </a:lnTo>
                  <a:lnTo>
                    <a:pt x="112" y="291"/>
                  </a:lnTo>
                  <a:lnTo>
                    <a:pt x="0" y="291"/>
                  </a:lnTo>
                  <a:lnTo>
                    <a:pt x="5" y="283"/>
                  </a:lnTo>
                  <a:lnTo>
                    <a:pt x="11" y="274"/>
                  </a:lnTo>
                  <a:lnTo>
                    <a:pt x="17" y="265"/>
                  </a:lnTo>
                  <a:lnTo>
                    <a:pt x="22" y="255"/>
                  </a:lnTo>
                  <a:lnTo>
                    <a:pt x="27" y="246"/>
                  </a:lnTo>
                  <a:lnTo>
                    <a:pt x="31" y="237"/>
                  </a:lnTo>
                  <a:lnTo>
                    <a:pt x="35" y="228"/>
                  </a:lnTo>
                  <a:lnTo>
                    <a:pt x="38" y="219"/>
                  </a:lnTo>
                  <a:lnTo>
                    <a:pt x="42" y="210"/>
                  </a:lnTo>
                  <a:lnTo>
                    <a:pt x="44" y="201"/>
                  </a:lnTo>
                  <a:lnTo>
                    <a:pt x="46" y="192"/>
                  </a:lnTo>
                  <a:lnTo>
                    <a:pt x="48" y="183"/>
                  </a:lnTo>
                  <a:lnTo>
                    <a:pt x="50" y="174"/>
                  </a:lnTo>
                  <a:lnTo>
                    <a:pt x="51" y="165"/>
                  </a:lnTo>
                  <a:lnTo>
                    <a:pt x="52" y="154"/>
                  </a:lnTo>
                  <a:lnTo>
                    <a:pt x="52" y="145"/>
                  </a:lnTo>
                  <a:lnTo>
                    <a:pt x="52" y="136"/>
                  </a:lnTo>
                  <a:lnTo>
                    <a:pt x="51" y="127"/>
                  </a:lnTo>
                  <a:lnTo>
                    <a:pt x="50" y="118"/>
                  </a:lnTo>
                  <a:lnTo>
                    <a:pt x="48" y="108"/>
                  </a:lnTo>
                  <a:lnTo>
                    <a:pt x="46" y="99"/>
                  </a:lnTo>
                  <a:lnTo>
                    <a:pt x="44" y="90"/>
                  </a:lnTo>
                  <a:lnTo>
                    <a:pt x="42" y="81"/>
                  </a:lnTo>
                  <a:lnTo>
                    <a:pt x="38" y="72"/>
                  </a:lnTo>
                  <a:lnTo>
                    <a:pt x="35" y="62"/>
                  </a:lnTo>
                  <a:lnTo>
                    <a:pt x="31" y="53"/>
                  </a:lnTo>
                  <a:lnTo>
                    <a:pt x="27" y="44"/>
                  </a:lnTo>
                  <a:lnTo>
                    <a:pt x="22" y="35"/>
                  </a:lnTo>
                  <a:lnTo>
                    <a:pt x="17" y="26"/>
                  </a:lnTo>
                  <a:lnTo>
                    <a:pt x="11" y="18"/>
                  </a:lnTo>
                  <a:lnTo>
                    <a:pt x="5" y="9"/>
                  </a:lnTo>
                  <a:lnTo>
                    <a:pt x="0" y="0"/>
                  </a:lnTo>
                  <a:lnTo>
                    <a:pt x="112" y="0"/>
                  </a:lnTo>
                  <a:lnTo>
                    <a:pt x="135" y="5"/>
                  </a:lnTo>
                  <a:lnTo>
                    <a:pt x="156" y="9"/>
                  </a:lnTo>
                  <a:lnTo>
                    <a:pt x="178" y="15"/>
                  </a:lnTo>
                  <a:lnTo>
                    <a:pt x="198" y="22"/>
                  </a:lnTo>
                  <a:lnTo>
                    <a:pt x="219" y="28"/>
                  </a:lnTo>
                  <a:lnTo>
                    <a:pt x="238" y="36"/>
                  </a:lnTo>
                  <a:lnTo>
                    <a:pt x="256" y="44"/>
                  </a:lnTo>
                  <a:lnTo>
                    <a:pt x="273" y="53"/>
                  </a:lnTo>
                  <a:lnTo>
                    <a:pt x="290" y="62"/>
                  </a:lnTo>
                  <a:lnTo>
                    <a:pt x="306" y="73"/>
                  </a:lnTo>
                  <a:lnTo>
                    <a:pt x="321" y="84"/>
                  </a:lnTo>
                  <a:lnTo>
                    <a:pt x="333" y="95"/>
                  </a:lnTo>
                  <a:lnTo>
                    <a:pt x="340" y="101"/>
                  </a:lnTo>
                  <a:lnTo>
                    <a:pt x="346" y="107"/>
                  </a:lnTo>
                  <a:lnTo>
                    <a:pt x="353" y="114"/>
                  </a:lnTo>
                  <a:lnTo>
                    <a:pt x="357" y="119"/>
                  </a:lnTo>
                  <a:lnTo>
                    <a:pt x="363" y="126"/>
                  </a:lnTo>
                  <a:lnTo>
                    <a:pt x="367" y="133"/>
                  </a:lnTo>
                  <a:lnTo>
                    <a:pt x="372" y="139"/>
                  </a:lnTo>
                  <a:lnTo>
                    <a:pt x="376" y="145"/>
                  </a:lnTo>
                </a:path>
              </a:pathLst>
            </a:custGeom>
            <a:noFill/>
            <a:ln w="3175">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89" name="Freeform 194">
              <a:extLst>
                <a:ext uri="{FF2B5EF4-FFF2-40B4-BE49-F238E27FC236}">
                  <a16:creationId xmlns:a16="http://schemas.microsoft.com/office/drawing/2014/main" id="{9473A515-E96B-4047-B671-BCBA6525F8F5}"/>
                </a:ext>
              </a:extLst>
            </p:cNvPr>
            <p:cNvSpPr>
              <a:spLocks/>
            </p:cNvSpPr>
            <p:nvPr/>
          </p:nvSpPr>
          <p:spPr bwMode="auto">
            <a:xfrm>
              <a:off x="2384425" y="6181725"/>
              <a:ext cx="341313" cy="244475"/>
            </a:xfrm>
            <a:custGeom>
              <a:avLst/>
              <a:gdLst>
                <a:gd name="T0" fmla="*/ 2147483647 w 376"/>
                <a:gd name="T1" fmla="*/ 2147483647 h 291"/>
                <a:gd name="T2" fmla="*/ 0 w 376"/>
                <a:gd name="T3" fmla="*/ 2147483647 h 291"/>
                <a:gd name="T4" fmla="*/ 0 w 376"/>
                <a:gd name="T5" fmla="*/ 0 h 291"/>
                <a:gd name="T6" fmla="*/ 2147483647 w 376"/>
                <a:gd name="T7" fmla="*/ 0 h 291"/>
                <a:gd name="T8" fmla="*/ 2147483647 w 376"/>
                <a:gd name="T9" fmla="*/ 0 h 291"/>
                <a:gd name="T10" fmla="*/ 2147483647 w 376"/>
                <a:gd name="T11" fmla="*/ 2147483647 h 291"/>
                <a:gd name="T12" fmla="*/ 2147483647 w 376"/>
                <a:gd name="T13" fmla="*/ 2147483647 h 291"/>
                <a:gd name="T14" fmla="*/ 2147483647 w 376"/>
                <a:gd name="T15" fmla="*/ 2147483647 h 291"/>
                <a:gd name="T16" fmla="*/ 2147483647 w 376"/>
                <a:gd name="T17" fmla="*/ 2147483647 h 291"/>
                <a:gd name="T18" fmla="*/ 2147483647 w 376"/>
                <a:gd name="T19" fmla="*/ 2147483647 h 291"/>
                <a:gd name="T20" fmla="*/ 2147483647 w 376"/>
                <a:gd name="T21" fmla="*/ 2147483647 h 291"/>
                <a:gd name="T22" fmla="*/ 2147483647 w 376"/>
                <a:gd name="T23" fmla="*/ 2147483647 h 291"/>
                <a:gd name="T24" fmla="*/ 2147483647 w 376"/>
                <a:gd name="T25" fmla="*/ 2147483647 h 291"/>
                <a:gd name="T26" fmla="*/ 2147483647 w 376"/>
                <a:gd name="T27" fmla="*/ 2147483647 h 291"/>
                <a:gd name="T28" fmla="*/ 2147483647 w 376"/>
                <a:gd name="T29" fmla="*/ 2147483647 h 291"/>
                <a:gd name="T30" fmla="*/ 2147483647 w 376"/>
                <a:gd name="T31" fmla="*/ 2147483647 h 291"/>
                <a:gd name="T32" fmla="*/ 2147483647 w 376"/>
                <a:gd name="T33" fmla="*/ 2147483647 h 291"/>
                <a:gd name="T34" fmla="*/ 2147483647 w 376"/>
                <a:gd name="T35" fmla="*/ 2147483647 h 291"/>
                <a:gd name="T36" fmla="*/ 2147483647 w 376"/>
                <a:gd name="T37" fmla="*/ 2147483647 h 291"/>
                <a:gd name="T38" fmla="*/ 2147483647 w 376"/>
                <a:gd name="T39" fmla="*/ 2147483647 h 291"/>
                <a:gd name="T40" fmla="*/ 2147483647 w 376"/>
                <a:gd name="T41" fmla="*/ 2147483647 h 291"/>
                <a:gd name="T42" fmla="*/ 2147483647 w 376"/>
                <a:gd name="T43" fmla="*/ 2147483647 h 291"/>
                <a:gd name="T44" fmla="*/ 2147483647 w 376"/>
                <a:gd name="T45" fmla="*/ 2147483647 h 291"/>
                <a:gd name="T46" fmla="*/ 2147483647 w 376"/>
                <a:gd name="T47" fmla="*/ 2147483647 h 291"/>
                <a:gd name="T48" fmla="*/ 2147483647 w 376"/>
                <a:gd name="T49" fmla="*/ 2147483647 h 291"/>
                <a:gd name="T50" fmla="*/ 2147483647 w 376"/>
                <a:gd name="T51" fmla="*/ 2147483647 h 291"/>
                <a:gd name="T52" fmla="*/ 2147483647 w 376"/>
                <a:gd name="T53" fmla="*/ 2147483647 h 291"/>
                <a:gd name="T54" fmla="*/ 2147483647 w 376"/>
                <a:gd name="T55" fmla="*/ 2147483647 h 291"/>
                <a:gd name="T56" fmla="*/ 2147483647 w 376"/>
                <a:gd name="T57" fmla="*/ 2147483647 h 291"/>
                <a:gd name="T58" fmla="*/ 2147483647 w 376"/>
                <a:gd name="T59" fmla="*/ 2147483647 h 291"/>
                <a:gd name="T60" fmla="*/ 2147483647 w 376"/>
                <a:gd name="T61" fmla="*/ 2147483647 h 291"/>
                <a:gd name="T62" fmla="*/ 2147483647 w 376"/>
                <a:gd name="T63" fmla="*/ 2147483647 h 291"/>
                <a:gd name="T64" fmla="*/ 2147483647 w 376"/>
                <a:gd name="T65" fmla="*/ 2147483647 h 291"/>
                <a:gd name="T66" fmla="*/ 2147483647 w 376"/>
                <a:gd name="T67" fmla="*/ 2147483647 h 291"/>
                <a:gd name="T68" fmla="*/ 2147483647 w 376"/>
                <a:gd name="T69" fmla="*/ 2147483647 h 291"/>
                <a:gd name="T70" fmla="*/ 2147483647 w 376"/>
                <a:gd name="T71" fmla="*/ 2147483647 h 291"/>
                <a:gd name="T72" fmla="*/ 2147483647 w 376"/>
                <a:gd name="T73" fmla="*/ 2147483647 h 291"/>
                <a:gd name="T74" fmla="*/ 2147483647 w 376"/>
                <a:gd name="T75" fmla="*/ 2147483647 h 291"/>
                <a:gd name="T76" fmla="*/ 2147483647 w 376"/>
                <a:gd name="T77" fmla="*/ 2147483647 h 291"/>
                <a:gd name="T78" fmla="*/ 2147483647 w 376"/>
                <a:gd name="T79" fmla="*/ 2147483647 h 291"/>
                <a:gd name="T80" fmla="*/ 2147483647 w 376"/>
                <a:gd name="T81" fmla="*/ 2147483647 h 291"/>
                <a:gd name="T82" fmla="*/ 2147483647 w 376"/>
                <a:gd name="T83" fmla="*/ 2147483647 h 291"/>
                <a:gd name="T84" fmla="*/ 2147483647 w 376"/>
                <a:gd name="T85" fmla="*/ 2147483647 h 291"/>
                <a:gd name="T86" fmla="*/ 2147483647 w 376"/>
                <a:gd name="T87" fmla="*/ 2147483647 h 291"/>
                <a:gd name="T88" fmla="*/ 2147483647 w 376"/>
                <a:gd name="T89" fmla="*/ 2147483647 h 291"/>
                <a:gd name="T90" fmla="*/ 2147483647 w 376"/>
                <a:gd name="T91" fmla="*/ 2147483647 h 291"/>
                <a:gd name="T92" fmla="*/ 2147483647 w 376"/>
                <a:gd name="T93" fmla="*/ 2147483647 h 291"/>
                <a:gd name="T94" fmla="*/ 2147483647 w 376"/>
                <a:gd name="T95" fmla="*/ 2147483647 h 291"/>
                <a:gd name="T96" fmla="*/ 2147483647 w 376"/>
                <a:gd name="T97" fmla="*/ 2147483647 h 291"/>
                <a:gd name="T98" fmla="*/ 2147483647 w 376"/>
                <a:gd name="T99" fmla="*/ 2147483647 h 291"/>
                <a:gd name="T100" fmla="*/ 2147483647 w 376"/>
                <a:gd name="T101" fmla="*/ 2147483647 h 291"/>
                <a:gd name="T102" fmla="*/ 2147483647 w 376"/>
                <a:gd name="T103" fmla="*/ 2147483647 h 291"/>
                <a:gd name="T104" fmla="*/ 2147483647 w 376"/>
                <a:gd name="T105" fmla="*/ 2147483647 h 291"/>
                <a:gd name="T106" fmla="*/ 2147483647 w 376"/>
                <a:gd name="T107" fmla="*/ 2147483647 h 291"/>
                <a:gd name="T108" fmla="*/ 2147483647 w 376"/>
                <a:gd name="T109" fmla="*/ 2147483647 h 291"/>
                <a:gd name="T110" fmla="*/ 2147483647 w 376"/>
                <a:gd name="T111" fmla="*/ 2147483647 h 291"/>
                <a:gd name="T112" fmla="*/ 2147483647 w 376"/>
                <a:gd name="T113" fmla="*/ 2147483647 h 291"/>
                <a:gd name="T114" fmla="*/ 2147483647 w 376"/>
                <a:gd name="T115" fmla="*/ 2147483647 h 291"/>
                <a:gd name="T116" fmla="*/ 2147483647 w 376"/>
                <a:gd name="T117" fmla="*/ 2147483647 h 291"/>
                <a:gd name="T118" fmla="*/ 2147483647 w 376"/>
                <a:gd name="T119" fmla="*/ 2147483647 h 291"/>
                <a:gd name="T120" fmla="*/ 2147483647 w 376"/>
                <a:gd name="T121" fmla="*/ 2147483647 h 291"/>
                <a:gd name="T122" fmla="*/ 2147483647 w 376"/>
                <a:gd name="T123" fmla="*/ 2147483647 h 2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76" h="291">
                  <a:moveTo>
                    <a:pt x="231" y="291"/>
                  </a:moveTo>
                  <a:lnTo>
                    <a:pt x="0" y="291"/>
                  </a:lnTo>
                  <a:lnTo>
                    <a:pt x="0" y="0"/>
                  </a:lnTo>
                  <a:lnTo>
                    <a:pt x="231" y="0"/>
                  </a:lnTo>
                  <a:lnTo>
                    <a:pt x="239" y="0"/>
                  </a:lnTo>
                  <a:lnTo>
                    <a:pt x="246" y="1"/>
                  </a:lnTo>
                  <a:lnTo>
                    <a:pt x="254" y="2"/>
                  </a:lnTo>
                  <a:lnTo>
                    <a:pt x="261" y="3"/>
                  </a:lnTo>
                  <a:lnTo>
                    <a:pt x="267" y="5"/>
                  </a:lnTo>
                  <a:lnTo>
                    <a:pt x="274" y="7"/>
                  </a:lnTo>
                  <a:lnTo>
                    <a:pt x="281" y="9"/>
                  </a:lnTo>
                  <a:lnTo>
                    <a:pt x="288" y="11"/>
                  </a:lnTo>
                  <a:lnTo>
                    <a:pt x="295" y="15"/>
                  </a:lnTo>
                  <a:lnTo>
                    <a:pt x="300" y="18"/>
                  </a:lnTo>
                  <a:lnTo>
                    <a:pt x="307" y="22"/>
                  </a:lnTo>
                  <a:lnTo>
                    <a:pt x="313" y="25"/>
                  </a:lnTo>
                  <a:lnTo>
                    <a:pt x="324" y="33"/>
                  </a:lnTo>
                  <a:lnTo>
                    <a:pt x="334" y="43"/>
                  </a:lnTo>
                  <a:lnTo>
                    <a:pt x="344" y="53"/>
                  </a:lnTo>
                  <a:lnTo>
                    <a:pt x="351" y="65"/>
                  </a:lnTo>
                  <a:lnTo>
                    <a:pt x="356" y="70"/>
                  </a:lnTo>
                  <a:lnTo>
                    <a:pt x="359" y="76"/>
                  </a:lnTo>
                  <a:lnTo>
                    <a:pt x="363" y="83"/>
                  </a:lnTo>
                  <a:lnTo>
                    <a:pt x="365" y="89"/>
                  </a:lnTo>
                  <a:lnTo>
                    <a:pt x="368" y="95"/>
                  </a:lnTo>
                  <a:lnTo>
                    <a:pt x="371" y="102"/>
                  </a:lnTo>
                  <a:lnTo>
                    <a:pt x="372" y="109"/>
                  </a:lnTo>
                  <a:lnTo>
                    <a:pt x="374" y="116"/>
                  </a:lnTo>
                  <a:lnTo>
                    <a:pt x="375" y="124"/>
                  </a:lnTo>
                  <a:lnTo>
                    <a:pt x="376" y="131"/>
                  </a:lnTo>
                  <a:lnTo>
                    <a:pt x="376" y="139"/>
                  </a:lnTo>
                  <a:lnTo>
                    <a:pt x="376" y="145"/>
                  </a:lnTo>
                  <a:lnTo>
                    <a:pt x="376" y="153"/>
                  </a:lnTo>
                  <a:lnTo>
                    <a:pt x="376" y="160"/>
                  </a:lnTo>
                  <a:lnTo>
                    <a:pt x="375" y="168"/>
                  </a:lnTo>
                  <a:lnTo>
                    <a:pt x="374" y="175"/>
                  </a:lnTo>
                  <a:lnTo>
                    <a:pt x="372" y="182"/>
                  </a:lnTo>
                  <a:lnTo>
                    <a:pt x="371" y="188"/>
                  </a:lnTo>
                  <a:lnTo>
                    <a:pt x="368" y="195"/>
                  </a:lnTo>
                  <a:lnTo>
                    <a:pt x="365" y="202"/>
                  </a:lnTo>
                  <a:lnTo>
                    <a:pt x="363" y="209"/>
                  </a:lnTo>
                  <a:lnTo>
                    <a:pt x="359" y="215"/>
                  </a:lnTo>
                  <a:lnTo>
                    <a:pt x="356" y="221"/>
                  </a:lnTo>
                  <a:lnTo>
                    <a:pt x="351" y="227"/>
                  </a:lnTo>
                  <a:lnTo>
                    <a:pt x="344" y="238"/>
                  </a:lnTo>
                  <a:lnTo>
                    <a:pt x="334" y="249"/>
                  </a:lnTo>
                  <a:lnTo>
                    <a:pt x="324" y="258"/>
                  </a:lnTo>
                  <a:lnTo>
                    <a:pt x="313" y="266"/>
                  </a:lnTo>
                  <a:lnTo>
                    <a:pt x="307" y="270"/>
                  </a:lnTo>
                  <a:lnTo>
                    <a:pt x="300" y="274"/>
                  </a:lnTo>
                  <a:lnTo>
                    <a:pt x="295" y="277"/>
                  </a:lnTo>
                  <a:lnTo>
                    <a:pt x="288" y="279"/>
                  </a:lnTo>
                  <a:lnTo>
                    <a:pt x="281" y="283"/>
                  </a:lnTo>
                  <a:lnTo>
                    <a:pt x="274" y="285"/>
                  </a:lnTo>
                  <a:lnTo>
                    <a:pt x="267" y="286"/>
                  </a:lnTo>
                  <a:lnTo>
                    <a:pt x="261" y="288"/>
                  </a:lnTo>
                  <a:lnTo>
                    <a:pt x="254" y="290"/>
                  </a:lnTo>
                  <a:lnTo>
                    <a:pt x="246" y="291"/>
                  </a:lnTo>
                  <a:lnTo>
                    <a:pt x="239" y="291"/>
                  </a:lnTo>
                  <a:lnTo>
                    <a:pt x="231" y="291"/>
                  </a:lnTo>
                  <a:close/>
                </a:path>
              </a:pathLst>
            </a:custGeom>
            <a:solidFill>
              <a:srgbClr val="99FF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190" name="Freeform 195">
              <a:extLst>
                <a:ext uri="{FF2B5EF4-FFF2-40B4-BE49-F238E27FC236}">
                  <a16:creationId xmlns:a16="http://schemas.microsoft.com/office/drawing/2014/main" id="{C9AF06FD-20B0-9346-9771-260A1A38F77C}"/>
                </a:ext>
              </a:extLst>
            </p:cNvPr>
            <p:cNvSpPr>
              <a:spLocks/>
            </p:cNvSpPr>
            <p:nvPr/>
          </p:nvSpPr>
          <p:spPr bwMode="auto">
            <a:xfrm>
              <a:off x="2384425" y="6181725"/>
              <a:ext cx="341313" cy="244475"/>
            </a:xfrm>
            <a:custGeom>
              <a:avLst/>
              <a:gdLst>
                <a:gd name="T0" fmla="*/ 2147483647 w 376"/>
                <a:gd name="T1" fmla="*/ 2147483647 h 291"/>
                <a:gd name="T2" fmla="*/ 0 w 376"/>
                <a:gd name="T3" fmla="*/ 2147483647 h 291"/>
                <a:gd name="T4" fmla="*/ 0 w 376"/>
                <a:gd name="T5" fmla="*/ 0 h 291"/>
                <a:gd name="T6" fmla="*/ 2147483647 w 376"/>
                <a:gd name="T7" fmla="*/ 0 h 291"/>
                <a:gd name="T8" fmla="*/ 2147483647 w 376"/>
                <a:gd name="T9" fmla="*/ 0 h 291"/>
                <a:gd name="T10" fmla="*/ 2147483647 w 376"/>
                <a:gd name="T11" fmla="*/ 2147483647 h 291"/>
                <a:gd name="T12" fmla="*/ 2147483647 w 376"/>
                <a:gd name="T13" fmla="*/ 2147483647 h 291"/>
                <a:gd name="T14" fmla="*/ 2147483647 w 376"/>
                <a:gd name="T15" fmla="*/ 2147483647 h 291"/>
                <a:gd name="T16" fmla="*/ 2147483647 w 376"/>
                <a:gd name="T17" fmla="*/ 2147483647 h 291"/>
                <a:gd name="T18" fmla="*/ 2147483647 w 376"/>
                <a:gd name="T19" fmla="*/ 2147483647 h 291"/>
                <a:gd name="T20" fmla="*/ 2147483647 w 376"/>
                <a:gd name="T21" fmla="*/ 2147483647 h 291"/>
                <a:gd name="T22" fmla="*/ 2147483647 w 376"/>
                <a:gd name="T23" fmla="*/ 2147483647 h 291"/>
                <a:gd name="T24" fmla="*/ 2147483647 w 376"/>
                <a:gd name="T25" fmla="*/ 2147483647 h 291"/>
                <a:gd name="T26" fmla="*/ 2147483647 w 376"/>
                <a:gd name="T27" fmla="*/ 2147483647 h 291"/>
                <a:gd name="T28" fmla="*/ 2147483647 w 376"/>
                <a:gd name="T29" fmla="*/ 2147483647 h 291"/>
                <a:gd name="T30" fmla="*/ 2147483647 w 376"/>
                <a:gd name="T31" fmla="*/ 2147483647 h 291"/>
                <a:gd name="T32" fmla="*/ 2147483647 w 376"/>
                <a:gd name="T33" fmla="*/ 2147483647 h 291"/>
                <a:gd name="T34" fmla="*/ 2147483647 w 376"/>
                <a:gd name="T35" fmla="*/ 2147483647 h 291"/>
                <a:gd name="T36" fmla="*/ 2147483647 w 376"/>
                <a:gd name="T37" fmla="*/ 2147483647 h 291"/>
                <a:gd name="T38" fmla="*/ 2147483647 w 376"/>
                <a:gd name="T39" fmla="*/ 2147483647 h 291"/>
                <a:gd name="T40" fmla="*/ 2147483647 w 376"/>
                <a:gd name="T41" fmla="*/ 2147483647 h 291"/>
                <a:gd name="T42" fmla="*/ 2147483647 w 376"/>
                <a:gd name="T43" fmla="*/ 2147483647 h 291"/>
                <a:gd name="T44" fmla="*/ 2147483647 w 376"/>
                <a:gd name="T45" fmla="*/ 2147483647 h 291"/>
                <a:gd name="T46" fmla="*/ 2147483647 w 376"/>
                <a:gd name="T47" fmla="*/ 2147483647 h 291"/>
                <a:gd name="T48" fmla="*/ 2147483647 w 376"/>
                <a:gd name="T49" fmla="*/ 2147483647 h 291"/>
                <a:gd name="T50" fmla="*/ 2147483647 w 376"/>
                <a:gd name="T51" fmla="*/ 2147483647 h 291"/>
                <a:gd name="T52" fmla="*/ 2147483647 w 376"/>
                <a:gd name="T53" fmla="*/ 2147483647 h 291"/>
                <a:gd name="T54" fmla="*/ 2147483647 w 376"/>
                <a:gd name="T55" fmla="*/ 2147483647 h 291"/>
                <a:gd name="T56" fmla="*/ 2147483647 w 376"/>
                <a:gd name="T57" fmla="*/ 2147483647 h 291"/>
                <a:gd name="T58" fmla="*/ 2147483647 w 376"/>
                <a:gd name="T59" fmla="*/ 2147483647 h 291"/>
                <a:gd name="T60" fmla="*/ 2147483647 w 376"/>
                <a:gd name="T61" fmla="*/ 2147483647 h 291"/>
                <a:gd name="T62" fmla="*/ 2147483647 w 376"/>
                <a:gd name="T63" fmla="*/ 2147483647 h 291"/>
                <a:gd name="T64" fmla="*/ 2147483647 w 376"/>
                <a:gd name="T65" fmla="*/ 2147483647 h 291"/>
                <a:gd name="T66" fmla="*/ 2147483647 w 376"/>
                <a:gd name="T67" fmla="*/ 2147483647 h 291"/>
                <a:gd name="T68" fmla="*/ 2147483647 w 376"/>
                <a:gd name="T69" fmla="*/ 2147483647 h 291"/>
                <a:gd name="T70" fmla="*/ 2147483647 w 376"/>
                <a:gd name="T71" fmla="*/ 2147483647 h 291"/>
                <a:gd name="T72" fmla="*/ 2147483647 w 376"/>
                <a:gd name="T73" fmla="*/ 2147483647 h 291"/>
                <a:gd name="T74" fmla="*/ 2147483647 w 376"/>
                <a:gd name="T75" fmla="*/ 2147483647 h 291"/>
                <a:gd name="T76" fmla="*/ 2147483647 w 376"/>
                <a:gd name="T77" fmla="*/ 2147483647 h 291"/>
                <a:gd name="T78" fmla="*/ 2147483647 w 376"/>
                <a:gd name="T79" fmla="*/ 2147483647 h 291"/>
                <a:gd name="T80" fmla="*/ 2147483647 w 376"/>
                <a:gd name="T81" fmla="*/ 2147483647 h 291"/>
                <a:gd name="T82" fmla="*/ 2147483647 w 376"/>
                <a:gd name="T83" fmla="*/ 2147483647 h 291"/>
                <a:gd name="T84" fmla="*/ 2147483647 w 376"/>
                <a:gd name="T85" fmla="*/ 2147483647 h 291"/>
                <a:gd name="T86" fmla="*/ 2147483647 w 376"/>
                <a:gd name="T87" fmla="*/ 2147483647 h 291"/>
                <a:gd name="T88" fmla="*/ 2147483647 w 376"/>
                <a:gd name="T89" fmla="*/ 2147483647 h 291"/>
                <a:gd name="T90" fmla="*/ 2147483647 w 376"/>
                <a:gd name="T91" fmla="*/ 2147483647 h 291"/>
                <a:gd name="T92" fmla="*/ 2147483647 w 376"/>
                <a:gd name="T93" fmla="*/ 2147483647 h 291"/>
                <a:gd name="T94" fmla="*/ 2147483647 w 376"/>
                <a:gd name="T95" fmla="*/ 2147483647 h 291"/>
                <a:gd name="T96" fmla="*/ 2147483647 w 376"/>
                <a:gd name="T97" fmla="*/ 2147483647 h 291"/>
                <a:gd name="T98" fmla="*/ 2147483647 w 376"/>
                <a:gd name="T99" fmla="*/ 2147483647 h 291"/>
                <a:gd name="T100" fmla="*/ 2147483647 w 376"/>
                <a:gd name="T101" fmla="*/ 2147483647 h 291"/>
                <a:gd name="T102" fmla="*/ 2147483647 w 376"/>
                <a:gd name="T103" fmla="*/ 2147483647 h 291"/>
                <a:gd name="T104" fmla="*/ 2147483647 w 376"/>
                <a:gd name="T105" fmla="*/ 2147483647 h 291"/>
                <a:gd name="T106" fmla="*/ 2147483647 w 376"/>
                <a:gd name="T107" fmla="*/ 2147483647 h 291"/>
                <a:gd name="T108" fmla="*/ 2147483647 w 376"/>
                <a:gd name="T109" fmla="*/ 2147483647 h 291"/>
                <a:gd name="T110" fmla="*/ 2147483647 w 376"/>
                <a:gd name="T111" fmla="*/ 2147483647 h 291"/>
                <a:gd name="T112" fmla="*/ 2147483647 w 376"/>
                <a:gd name="T113" fmla="*/ 2147483647 h 291"/>
                <a:gd name="T114" fmla="*/ 2147483647 w 376"/>
                <a:gd name="T115" fmla="*/ 2147483647 h 291"/>
                <a:gd name="T116" fmla="*/ 2147483647 w 376"/>
                <a:gd name="T117" fmla="*/ 2147483647 h 291"/>
                <a:gd name="T118" fmla="*/ 2147483647 w 376"/>
                <a:gd name="T119" fmla="*/ 2147483647 h 291"/>
                <a:gd name="T120" fmla="*/ 2147483647 w 376"/>
                <a:gd name="T121" fmla="*/ 2147483647 h 291"/>
                <a:gd name="T122" fmla="*/ 2147483647 w 376"/>
                <a:gd name="T123" fmla="*/ 2147483647 h 2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76" h="291">
                  <a:moveTo>
                    <a:pt x="231" y="291"/>
                  </a:moveTo>
                  <a:lnTo>
                    <a:pt x="0" y="291"/>
                  </a:lnTo>
                  <a:lnTo>
                    <a:pt x="0" y="0"/>
                  </a:lnTo>
                  <a:lnTo>
                    <a:pt x="231" y="0"/>
                  </a:lnTo>
                  <a:lnTo>
                    <a:pt x="239" y="0"/>
                  </a:lnTo>
                  <a:lnTo>
                    <a:pt x="246" y="1"/>
                  </a:lnTo>
                  <a:lnTo>
                    <a:pt x="254" y="2"/>
                  </a:lnTo>
                  <a:lnTo>
                    <a:pt x="261" y="3"/>
                  </a:lnTo>
                  <a:lnTo>
                    <a:pt x="267" y="5"/>
                  </a:lnTo>
                  <a:lnTo>
                    <a:pt x="274" y="7"/>
                  </a:lnTo>
                  <a:lnTo>
                    <a:pt x="281" y="9"/>
                  </a:lnTo>
                  <a:lnTo>
                    <a:pt x="288" y="11"/>
                  </a:lnTo>
                  <a:lnTo>
                    <a:pt x="295" y="15"/>
                  </a:lnTo>
                  <a:lnTo>
                    <a:pt x="300" y="18"/>
                  </a:lnTo>
                  <a:lnTo>
                    <a:pt x="307" y="22"/>
                  </a:lnTo>
                  <a:lnTo>
                    <a:pt x="313" y="25"/>
                  </a:lnTo>
                  <a:lnTo>
                    <a:pt x="324" y="33"/>
                  </a:lnTo>
                  <a:lnTo>
                    <a:pt x="334" y="43"/>
                  </a:lnTo>
                  <a:lnTo>
                    <a:pt x="344" y="53"/>
                  </a:lnTo>
                  <a:lnTo>
                    <a:pt x="351" y="65"/>
                  </a:lnTo>
                  <a:lnTo>
                    <a:pt x="356" y="70"/>
                  </a:lnTo>
                  <a:lnTo>
                    <a:pt x="359" y="76"/>
                  </a:lnTo>
                  <a:lnTo>
                    <a:pt x="363" y="83"/>
                  </a:lnTo>
                  <a:lnTo>
                    <a:pt x="365" y="89"/>
                  </a:lnTo>
                  <a:lnTo>
                    <a:pt x="368" y="95"/>
                  </a:lnTo>
                  <a:lnTo>
                    <a:pt x="371" y="102"/>
                  </a:lnTo>
                  <a:lnTo>
                    <a:pt x="372" y="109"/>
                  </a:lnTo>
                  <a:lnTo>
                    <a:pt x="374" y="116"/>
                  </a:lnTo>
                  <a:lnTo>
                    <a:pt x="375" y="124"/>
                  </a:lnTo>
                  <a:lnTo>
                    <a:pt x="376" y="131"/>
                  </a:lnTo>
                  <a:lnTo>
                    <a:pt x="376" y="139"/>
                  </a:lnTo>
                  <a:lnTo>
                    <a:pt x="376" y="145"/>
                  </a:lnTo>
                  <a:lnTo>
                    <a:pt x="376" y="153"/>
                  </a:lnTo>
                  <a:lnTo>
                    <a:pt x="376" y="160"/>
                  </a:lnTo>
                  <a:lnTo>
                    <a:pt x="375" y="168"/>
                  </a:lnTo>
                  <a:lnTo>
                    <a:pt x="374" y="175"/>
                  </a:lnTo>
                  <a:lnTo>
                    <a:pt x="372" y="182"/>
                  </a:lnTo>
                  <a:lnTo>
                    <a:pt x="371" y="188"/>
                  </a:lnTo>
                  <a:lnTo>
                    <a:pt x="368" y="195"/>
                  </a:lnTo>
                  <a:lnTo>
                    <a:pt x="365" y="202"/>
                  </a:lnTo>
                  <a:lnTo>
                    <a:pt x="363" y="209"/>
                  </a:lnTo>
                  <a:lnTo>
                    <a:pt x="359" y="215"/>
                  </a:lnTo>
                  <a:lnTo>
                    <a:pt x="356" y="221"/>
                  </a:lnTo>
                  <a:lnTo>
                    <a:pt x="351" y="227"/>
                  </a:lnTo>
                  <a:lnTo>
                    <a:pt x="344" y="238"/>
                  </a:lnTo>
                  <a:lnTo>
                    <a:pt x="334" y="249"/>
                  </a:lnTo>
                  <a:lnTo>
                    <a:pt x="324" y="258"/>
                  </a:lnTo>
                  <a:lnTo>
                    <a:pt x="313" y="266"/>
                  </a:lnTo>
                  <a:lnTo>
                    <a:pt x="307" y="270"/>
                  </a:lnTo>
                  <a:lnTo>
                    <a:pt x="300" y="274"/>
                  </a:lnTo>
                  <a:lnTo>
                    <a:pt x="295" y="277"/>
                  </a:lnTo>
                  <a:lnTo>
                    <a:pt x="288" y="279"/>
                  </a:lnTo>
                  <a:lnTo>
                    <a:pt x="281" y="283"/>
                  </a:lnTo>
                  <a:lnTo>
                    <a:pt x="274" y="285"/>
                  </a:lnTo>
                  <a:lnTo>
                    <a:pt x="267" y="286"/>
                  </a:lnTo>
                  <a:lnTo>
                    <a:pt x="261" y="288"/>
                  </a:lnTo>
                  <a:lnTo>
                    <a:pt x="254" y="290"/>
                  </a:lnTo>
                  <a:lnTo>
                    <a:pt x="246" y="291"/>
                  </a:lnTo>
                  <a:lnTo>
                    <a:pt x="239" y="291"/>
                  </a:lnTo>
                  <a:lnTo>
                    <a:pt x="231" y="291"/>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91" name="Line 196">
              <a:extLst>
                <a:ext uri="{FF2B5EF4-FFF2-40B4-BE49-F238E27FC236}">
                  <a16:creationId xmlns:a16="http://schemas.microsoft.com/office/drawing/2014/main" id="{55DE32E1-82FF-2A41-97C1-9D36CA6DA02D}"/>
                </a:ext>
              </a:extLst>
            </p:cNvPr>
            <p:cNvSpPr>
              <a:spLocks noChangeShapeType="1"/>
            </p:cNvSpPr>
            <p:nvPr/>
          </p:nvSpPr>
          <p:spPr bwMode="auto">
            <a:xfrm>
              <a:off x="1966913" y="6057900"/>
              <a:ext cx="1587" cy="30480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192" name="Line 197">
              <a:extLst>
                <a:ext uri="{FF2B5EF4-FFF2-40B4-BE49-F238E27FC236}">
                  <a16:creationId xmlns:a16="http://schemas.microsoft.com/office/drawing/2014/main" id="{2E75FB33-1DFF-7141-AB23-9E849177A1ED}"/>
                </a:ext>
              </a:extLst>
            </p:cNvPr>
            <p:cNvSpPr>
              <a:spLocks noChangeShapeType="1"/>
            </p:cNvSpPr>
            <p:nvPr/>
          </p:nvSpPr>
          <p:spPr bwMode="auto">
            <a:xfrm>
              <a:off x="1966913" y="6362700"/>
              <a:ext cx="223837" cy="1588"/>
            </a:xfrm>
            <a:prstGeom prst="line">
              <a:avLst/>
            </a:prstGeom>
            <a:noFill/>
            <a:ln w="7938">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193" name="Freeform 198">
              <a:extLst>
                <a:ext uri="{FF2B5EF4-FFF2-40B4-BE49-F238E27FC236}">
                  <a16:creationId xmlns:a16="http://schemas.microsoft.com/office/drawing/2014/main" id="{D99BFDC2-88A4-7A4E-BCC7-B17712F43FE8}"/>
                </a:ext>
              </a:extLst>
            </p:cNvPr>
            <p:cNvSpPr>
              <a:spLocks/>
            </p:cNvSpPr>
            <p:nvPr/>
          </p:nvSpPr>
          <p:spPr bwMode="auto">
            <a:xfrm>
              <a:off x="2181225" y="6329363"/>
              <a:ext cx="111125" cy="71437"/>
            </a:xfrm>
            <a:custGeom>
              <a:avLst/>
              <a:gdLst>
                <a:gd name="T0" fmla="*/ 0 w 124"/>
                <a:gd name="T1" fmla="*/ 0 h 83"/>
                <a:gd name="T2" fmla="*/ 2147483647 w 124"/>
                <a:gd name="T3" fmla="*/ 2147483647 h 83"/>
                <a:gd name="T4" fmla="*/ 0 w 124"/>
                <a:gd name="T5" fmla="*/ 2147483647 h 83"/>
                <a:gd name="T6" fmla="*/ 0 w 124"/>
                <a:gd name="T7" fmla="*/ 0 h 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4" h="83">
                  <a:moveTo>
                    <a:pt x="0" y="0"/>
                  </a:moveTo>
                  <a:lnTo>
                    <a:pt x="124" y="41"/>
                  </a:lnTo>
                  <a:lnTo>
                    <a:pt x="0" y="83"/>
                  </a:lnTo>
                  <a:lnTo>
                    <a:pt x="0"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194" name="Freeform 199">
              <a:extLst>
                <a:ext uri="{FF2B5EF4-FFF2-40B4-BE49-F238E27FC236}">
                  <a16:creationId xmlns:a16="http://schemas.microsoft.com/office/drawing/2014/main" id="{3104F014-C6A9-1D44-8E72-F7CDAD7BAAF8}"/>
                </a:ext>
              </a:extLst>
            </p:cNvPr>
            <p:cNvSpPr>
              <a:spLocks/>
            </p:cNvSpPr>
            <p:nvPr/>
          </p:nvSpPr>
          <p:spPr bwMode="auto">
            <a:xfrm>
              <a:off x="2292350" y="5492750"/>
              <a:ext cx="263525" cy="749300"/>
            </a:xfrm>
            <a:custGeom>
              <a:avLst/>
              <a:gdLst>
                <a:gd name="T0" fmla="*/ 2147483647 w 291"/>
                <a:gd name="T1" fmla="*/ 0 h 890"/>
                <a:gd name="T2" fmla="*/ 2147483647 w 291"/>
                <a:gd name="T3" fmla="*/ 2147483647 h 890"/>
                <a:gd name="T4" fmla="*/ 0 w 291"/>
                <a:gd name="T5" fmla="*/ 2147483647 h 890"/>
                <a:gd name="T6" fmla="*/ 0 w 291"/>
                <a:gd name="T7" fmla="*/ 2147483647 h 8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1" h="890">
                  <a:moveTo>
                    <a:pt x="291" y="0"/>
                  </a:moveTo>
                  <a:lnTo>
                    <a:pt x="291" y="781"/>
                  </a:lnTo>
                  <a:lnTo>
                    <a:pt x="0" y="781"/>
                  </a:lnTo>
                  <a:lnTo>
                    <a:pt x="0" y="89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95" name="Rectangle 200">
              <a:extLst>
                <a:ext uri="{FF2B5EF4-FFF2-40B4-BE49-F238E27FC236}">
                  <a16:creationId xmlns:a16="http://schemas.microsoft.com/office/drawing/2014/main" id="{EFE7776C-AAE8-F842-A025-0DEC998996F5}"/>
                </a:ext>
              </a:extLst>
            </p:cNvPr>
            <p:cNvSpPr>
              <a:spLocks noChangeArrowheads="1"/>
            </p:cNvSpPr>
            <p:nvPr/>
          </p:nvSpPr>
          <p:spPr bwMode="auto">
            <a:xfrm>
              <a:off x="5245100" y="5751513"/>
              <a:ext cx="720725" cy="306387"/>
            </a:xfrm>
            <a:prstGeom prst="rect">
              <a:avLst/>
            </a:prstGeom>
            <a:solidFill>
              <a:srgbClr val="FF99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196" name="Rectangle 201">
              <a:extLst>
                <a:ext uri="{FF2B5EF4-FFF2-40B4-BE49-F238E27FC236}">
                  <a16:creationId xmlns:a16="http://schemas.microsoft.com/office/drawing/2014/main" id="{4239F91F-C18E-174B-8D9C-F6AB3E543C3A}"/>
                </a:ext>
              </a:extLst>
            </p:cNvPr>
            <p:cNvSpPr>
              <a:spLocks noChangeArrowheads="1"/>
            </p:cNvSpPr>
            <p:nvPr/>
          </p:nvSpPr>
          <p:spPr bwMode="auto">
            <a:xfrm>
              <a:off x="5245100" y="5751513"/>
              <a:ext cx="720725" cy="306387"/>
            </a:xfrm>
            <a:prstGeom prst="rect">
              <a:avLst/>
            </a:prstGeom>
            <a:noFill/>
            <a:ln w="7938">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197" name="Rectangle 202">
              <a:extLst>
                <a:ext uri="{FF2B5EF4-FFF2-40B4-BE49-F238E27FC236}">
                  <a16:creationId xmlns:a16="http://schemas.microsoft.com/office/drawing/2014/main" id="{B2C5D22C-AE36-9E40-AA1C-2A0EA25A3841}"/>
                </a:ext>
              </a:extLst>
            </p:cNvPr>
            <p:cNvSpPr>
              <a:spLocks noChangeArrowheads="1"/>
            </p:cNvSpPr>
            <p:nvPr/>
          </p:nvSpPr>
          <p:spPr bwMode="auto">
            <a:xfrm>
              <a:off x="5395913" y="5797550"/>
              <a:ext cx="431600"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500" dirty="0">
                  <a:latin typeface="Times New Roman" pitchFamily="18" charset="0"/>
                  <a:ea typeface="SimHei" panose="02010609060101010101" pitchFamily="49" charset="-122"/>
                </a:rPr>
                <a:t>比较</a:t>
              </a:r>
              <a:endParaRPr lang="zh-CN" altLang="en-US" sz="2700" dirty="0">
                <a:latin typeface="Times New Roman" pitchFamily="18" charset="0"/>
                <a:ea typeface="SimHei" panose="02010609060101010101" pitchFamily="49" charset="-122"/>
              </a:endParaRPr>
            </a:p>
          </p:txBody>
        </p:sp>
        <p:sp>
          <p:nvSpPr>
            <p:cNvPr id="200" name="Line 205">
              <a:extLst>
                <a:ext uri="{FF2B5EF4-FFF2-40B4-BE49-F238E27FC236}">
                  <a16:creationId xmlns:a16="http://schemas.microsoft.com/office/drawing/2014/main" id="{A887D269-ADB9-524D-8500-CCB2E47EEC1D}"/>
                </a:ext>
              </a:extLst>
            </p:cNvPr>
            <p:cNvSpPr>
              <a:spLocks noChangeShapeType="1"/>
            </p:cNvSpPr>
            <p:nvPr/>
          </p:nvSpPr>
          <p:spPr bwMode="auto">
            <a:xfrm flipH="1">
              <a:off x="4948238" y="6242050"/>
              <a:ext cx="261937"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01" name="Line 206">
              <a:extLst>
                <a:ext uri="{FF2B5EF4-FFF2-40B4-BE49-F238E27FC236}">
                  <a16:creationId xmlns:a16="http://schemas.microsoft.com/office/drawing/2014/main" id="{F82AA731-A641-B14D-BB9F-EA70D351B0E8}"/>
                </a:ext>
              </a:extLst>
            </p:cNvPr>
            <p:cNvSpPr>
              <a:spLocks noChangeShapeType="1"/>
            </p:cNvSpPr>
            <p:nvPr/>
          </p:nvSpPr>
          <p:spPr bwMode="auto">
            <a:xfrm flipH="1">
              <a:off x="4948238" y="6362700"/>
              <a:ext cx="261937"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02" name="Line 207">
              <a:extLst>
                <a:ext uri="{FF2B5EF4-FFF2-40B4-BE49-F238E27FC236}">
                  <a16:creationId xmlns:a16="http://schemas.microsoft.com/office/drawing/2014/main" id="{6142433E-1B86-6242-A5F9-5B46061E3DAC}"/>
                </a:ext>
              </a:extLst>
            </p:cNvPr>
            <p:cNvSpPr>
              <a:spLocks noChangeShapeType="1"/>
            </p:cNvSpPr>
            <p:nvPr/>
          </p:nvSpPr>
          <p:spPr bwMode="auto">
            <a:xfrm>
              <a:off x="4686300" y="6302375"/>
              <a:ext cx="261938"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03" name="Freeform 208">
              <a:extLst>
                <a:ext uri="{FF2B5EF4-FFF2-40B4-BE49-F238E27FC236}">
                  <a16:creationId xmlns:a16="http://schemas.microsoft.com/office/drawing/2014/main" id="{34AACED4-6548-5E45-8671-EC8343E30DAD}"/>
                </a:ext>
              </a:extLst>
            </p:cNvPr>
            <p:cNvSpPr>
              <a:spLocks/>
            </p:cNvSpPr>
            <p:nvPr/>
          </p:nvSpPr>
          <p:spPr bwMode="auto">
            <a:xfrm>
              <a:off x="4779963" y="6181725"/>
              <a:ext cx="338137" cy="244475"/>
            </a:xfrm>
            <a:custGeom>
              <a:avLst/>
              <a:gdLst>
                <a:gd name="T0" fmla="*/ 2147483647 w 377"/>
                <a:gd name="T1" fmla="*/ 2147483647 h 291"/>
                <a:gd name="T2" fmla="*/ 2147483647 w 377"/>
                <a:gd name="T3" fmla="*/ 2147483647 h 291"/>
                <a:gd name="T4" fmla="*/ 2147483647 w 377"/>
                <a:gd name="T5" fmla="*/ 2147483647 h 291"/>
                <a:gd name="T6" fmla="*/ 2147483647 w 377"/>
                <a:gd name="T7" fmla="*/ 2147483647 h 291"/>
                <a:gd name="T8" fmla="*/ 2147483647 w 377"/>
                <a:gd name="T9" fmla="*/ 2147483647 h 291"/>
                <a:gd name="T10" fmla="*/ 2147483647 w 377"/>
                <a:gd name="T11" fmla="*/ 2147483647 h 291"/>
                <a:gd name="T12" fmla="*/ 2147483647 w 377"/>
                <a:gd name="T13" fmla="*/ 2147483647 h 291"/>
                <a:gd name="T14" fmla="*/ 2147483647 w 377"/>
                <a:gd name="T15" fmla="*/ 2147483647 h 291"/>
                <a:gd name="T16" fmla="*/ 2147483647 w 377"/>
                <a:gd name="T17" fmla="*/ 2147483647 h 291"/>
                <a:gd name="T18" fmla="*/ 2147483647 w 377"/>
                <a:gd name="T19" fmla="*/ 2147483647 h 291"/>
                <a:gd name="T20" fmla="*/ 2147483647 w 377"/>
                <a:gd name="T21" fmla="*/ 2147483647 h 291"/>
                <a:gd name="T22" fmla="*/ 2147483647 w 377"/>
                <a:gd name="T23" fmla="*/ 2147483647 h 291"/>
                <a:gd name="T24" fmla="*/ 2147483647 w 377"/>
                <a:gd name="T25" fmla="*/ 2147483647 h 291"/>
                <a:gd name="T26" fmla="*/ 2147483647 w 377"/>
                <a:gd name="T27" fmla="*/ 2147483647 h 291"/>
                <a:gd name="T28" fmla="*/ 2147483647 w 377"/>
                <a:gd name="T29" fmla="*/ 2147483647 h 291"/>
                <a:gd name="T30" fmla="*/ 2147483647 w 377"/>
                <a:gd name="T31" fmla="*/ 2147483647 h 291"/>
                <a:gd name="T32" fmla="*/ 2147483647 w 377"/>
                <a:gd name="T33" fmla="*/ 2147483647 h 291"/>
                <a:gd name="T34" fmla="*/ 2147483647 w 377"/>
                <a:gd name="T35" fmla="*/ 2147483647 h 291"/>
                <a:gd name="T36" fmla="*/ 2147483647 w 377"/>
                <a:gd name="T37" fmla="*/ 2147483647 h 291"/>
                <a:gd name="T38" fmla="*/ 2147483647 w 377"/>
                <a:gd name="T39" fmla="*/ 2147483647 h 291"/>
                <a:gd name="T40" fmla="*/ 2147483647 w 377"/>
                <a:gd name="T41" fmla="*/ 2147483647 h 291"/>
                <a:gd name="T42" fmla="*/ 2147483647 w 377"/>
                <a:gd name="T43" fmla="*/ 2147483647 h 291"/>
                <a:gd name="T44" fmla="*/ 2147483647 w 377"/>
                <a:gd name="T45" fmla="*/ 2147483647 h 291"/>
                <a:gd name="T46" fmla="*/ 2147483647 w 377"/>
                <a:gd name="T47" fmla="*/ 2147483647 h 291"/>
                <a:gd name="T48" fmla="*/ 2147483647 w 377"/>
                <a:gd name="T49" fmla="*/ 2147483647 h 291"/>
                <a:gd name="T50" fmla="*/ 2147483647 w 377"/>
                <a:gd name="T51" fmla="*/ 2147483647 h 291"/>
                <a:gd name="T52" fmla="*/ 2147483647 w 377"/>
                <a:gd name="T53" fmla="*/ 0 h 291"/>
                <a:gd name="T54" fmla="*/ 2147483647 w 377"/>
                <a:gd name="T55" fmla="*/ 2147483647 h 291"/>
                <a:gd name="T56" fmla="*/ 2147483647 w 377"/>
                <a:gd name="T57" fmla="*/ 2147483647 h 291"/>
                <a:gd name="T58" fmla="*/ 2147483647 w 377"/>
                <a:gd name="T59" fmla="*/ 2147483647 h 291"/>
                <a:gd name="T60" fmla="*/ 2147483647 w 377"/>
                <a:gd name="T61" fmla="*/ 2147483647 h 291"/>
                <a:gd name="T62" fmla="*/ 2147483647 w 377"/>
                <a:gd name="T63" fmla="*/ 2147483647 h 291"/>
                <a:gd name="T64" fmla="*/ 2147483647 w 377"/>
                <a:gd name="T65" fmla="*/ 2147483647 h 291"/>
                <a:gd name="T66" fmla="*/ 2147483647 w 377"/>
                <a:gd name="T67" fmla="*/ 2147483647 h 291"/>
                <a:gd name="T68" fmla="*/ 2147483647 w 377"/>
                <a:gd name="T69" fmla="*/ 2147483647 h 291"/>
                <a:gd name="T70" fmla="*/ 2147483647 w 377"/>
                <a:gd name="T71" fmla="*/ 2147483647 h 291"/>
                <a:gd name="T72" fmla="*/ 2147483647 w 377"/>
                <a:gd name="T73" fmla="*/ 2147483647 h 291"/>
                <a:gd name="T74" fmla="*/ 0 w 377"/>
                <a:gd name="T75" fmla="*/ 2147483647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7" h="291">
                  <a:moveTo>
                    <a:pt x="0" y="145"/>
                  </a:moveTo>
                  <a:lnTo>
                    <a:pt x="3" y="152"/>
                  </a:lnTo>
                  <a:lnTo>
                    <a:pt x="9" y="159"/>
                  </a:lnTo>
                  <a:lnTo>
                    <a:pt x="14" y="166"/>
                  </a:lnTo>
                  <a:lnTo>
                    <a:pt x="19" y="171"/>
                  </a:lnTo>
                  <a:lnTo>
                    <a:pt x="24" y="178"/>
                  </a:lnTo>
                  <a:lnTo>
                    <a:pt x="31" y="184"/>
                  </a:lnTo>
                  <a:lnTo>
                    <a:pt x="43" y="195"/>
                  </a:lnTo>
                  <a:lnTo>
                    <a:pt x="57" y="207"/>
                  </a:lnTo>
                  <a:lnTo>
                    <a:pt x="71" y="218"/>
                  </a:lnTo>
                  <a:lnTo>
                    <a:pt x="86" y="228"/>
                  </a:lnTo>
                  <a:lnTo>
                    <a:pt x="103" y="237"/>
                  </a:lnTo>
                  <a:lnTo>
                    <a:pt x="120" y="246"/>
                  </a:lnTo>
                  <a:lnTo>
                    <a:pt x="138" y="255"/>
                  </a:lnTo>
                  <a:lnTo>
                    <a:pt x="158" y="263"/>
                  </a:lnTo>
                  <a:lnTo>
                    <a:pt x="178" y="270"/>
                  </a:lnTo>
                  <a:lnTo>
                    <a:pt x="199" y="276"/>
                  </a:lnTo>
                  <a:lnTo>
                    <a:pt x="219" y="282"/>
                  </a:lnTo>
                  <a:lnTo>
                    <a:pt x="242" y="287"/>
                  </a:lnTo>
                  <a:lnTo>
                    <a:pt x="264" y="291"/>
                  </a:lnTo>
                  <a:lnTo>
                    <a:pt x="377" y="291"/>
                  </a:lnTo>
                  <a:lnTo>
                    <a:pt x="371" y="283"/>
                  </a:lnTo>
                  <a:lnTo>
                    <a:pt x="364" y="274"/>
                  </a:lnTo>
                  <a:lnTo>
                    <a:pt x="360" y="265"/>
                  </a:lnTo>
                  <a:lnTo>
                    <a:pt x="354" y="255"/>
                  </a:lnTo>
                  <a:lnTo>
                    <a:pt x="350" y="246"/>
                  </a:lnTo>
                  <a:lnTo>
                    <a:pt x="345" y="237"/>
                  </a:lnTo>
                  <a:lnTo>
                    <a:pt x="342" y="228"/>
                  </a:lnTo>
                  <a:lnTo>
                    <a:pt x="338" y="219"/>
                  </a:lnTo>
                  <a:lnTo>
                    <a:pt x="335" y="210"/>
                  </a:lnTo>
                  <a:lnTo>
                    <a:pt x="331" y="201"/>
                  </a:lnTo>
                  <a:lnTo>
                    <a:pt x="329" y="192"/>
                  </a:lnTo>
                  <a:lnTo>
                    <a:pt x="328" y="183"/>
                  </a:lnTo>
                  <a:lnTo>
                    <a:pt x="327" y="174"/>
                  </a:lnTo>
                  <a:lnTo>
                    <a:pt x="326" y="165"/>
                  </a:lnTo>
                  <a:lnTo>
                    <a:pt x="325" y="154"/>
                  </a:lnTo>
                  <a:lnTo>
                    <a:pt x="325" y="145"/>
                  </a:lnTo>
                  <a:lnTo>
                    <a:pt x="325" y="136"/>
                  </a:lnTo>
                  <a:lnTo>
                    <a:pt x="326" y="127"/>
                  </a:lnTo>
                  <a:lnTo>
                    <a:pt x="327" y="118"/>
                  </a:lnTo>
                  <a:lnTo>
                    <a:pt x="328" y="108"/>
                  </a:lnTo>
                  <a:lnTo>
                    <a:pt x="329" y="99"/>
                  </a:lnTo>
                  <a:lnTo>
                    <a:pt x="331" y="90"/>
                  </a:lnTo>
                  <a:lnTo>
                    <a:pt x="335" y="81"/>
                  </a:lnTo>
                  <a:lnTo>
                    <a:pt x="338" y="72"/>
                  </a:lnTo>
                  <a:lnTo>
                    <a:pt x="342" y="62"/>
                  </a:lnTo>
                  <a:lnTo>
                    <a:pt x="345" y="53"/>
                  </a:lnTo>
                  <a:lnTo>
                    <a:pt x="350" y="44"/>
                  </a:lnTo>
                  <a:lnTo>
                    <a:pt x="354" y="35"/>
                  </a:lnTo>
                  <a:lnTo>
                    <a:pt x="360" y="26"/>
                  </a:lnTo>
                  <a:lnTo>
                    <a:pt x="364" y="18"/>
                  </a:lnTo>
                  <a:lnTo>
                    <a:pt x="371" y="9"/>
                  </a:lnTo>
                  <a:lnTo>
                    <a:pt x="377" y="0"/>
                  </a:lnTo>
                  <a:lnTo>
                    <a:pt x="264" y="0"/>
                  </a:lnTo>
                  <a:lnTo>
                    <a:pt x="242" y="5"/>
                  </a:lnTo>
                  <a:lnTo>
                    <a:pt x="219" y="9"/>
                  </a:lnTo>
                  <a:lnTo>
                    <a:pt x="199" y="15"/>
                  </a:lnTo>
                  <a:lnTo>
                    <a:pt x="177" y="22"/>
                  </a:lnTo>
                  <a:lnTo>
                    <a:pt x="158" y="28"/>
                  </a:lnTo>
                  <a:lnTo>
                    <a:pt x="138" y="36"/>
                  </a:lnTo>
                  <a:lnTo>
                    <a:pt x="120" y="44"/>
                  </a:lnTo>
                  <a:lnTo>
                    <a:pt x="103" y="53"/>
                  </a:lnTo>
                  <a:lnTo>
                    <a:pt x="86" y="62"/>
                  </a:lnTo>
                  <a:lnTo>
                    <a:pt x="70" y="73"/>
                  </a:lnTo>
                  <a:lnTo>
                    <a:pt x="56" y="84"/>
                  </a:lnTo>
                  <a:lnTo>
                    <a:pt x="42" y="95"/>
                  </a:lnTo>
                  <a:lnTo>
                    <a:pt x="36" y="101"/>
                  </a:lnTo>
                  <a:lnTo>
                    <a:pt x="29" y="107"/>
                  </a:lnTo>
                  <a:lnTo>
                    <a:pt x="24" y="114"/>
                  </a:lnTo>
                  <a:lnTo>
                    <a:pt x="18" y="119"/>
                  </a:lnTo>
                  <a:lnTo>
                    <a:pt x="14" y="126"/>
                  </a:lnTo>
                  <a:lnTo>
                    <a:pt x="8" y="133"/>
                  </a:lnTo>
                  <a:lnTo>
                    <a:pt x="3" y="139"/>
                  </a:lnTo>
                  <a:lnTo>
                    <a:pt x="0" y="145"/>
                  </a:lnTo>
                  <a:close/>
                </a:path>
              </a:pathLst>
            </a:custGeom>
            <a:solidFill>
              <a:srgbClr val="99FF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04" name="Freeform 209">
              <a:extLst>
                <a:ext uri="{FF2B5EF4-FFF2-40B4-BE49-F238E27FC236}">
                  <a16:creationId xmlns:a16="http://schemas.microsoft.com/office/drawing/2014/main" id="{E9896AFF-8C05-E846-A343-A59C5614C281}"/>
                </a:ext>
              </a:extLst>
            </p:cNvPr>
            <p:cNvSpPr>
              <a:spLocks/>
            </p:cNvSpPr>
            <p:nvPr/>
          </p:nvSpPr>
          <p:spPr bwMode="auto">
            <a:xfrm>
              <a:off x="4779963" y="6181725"/>
              <a:ext cx="338137" cy="244475"/>
            </a:xfrm>
            <a:custGeom>
              <a:avLst/>
              <a:gdLst>
                <a:gd name="T0" fmla="*/ 2147483647 w 377"/>
                <a:gd name="T1" fmla="*/ 2147483647 h 291"/>
                <a:gd name="T2" fmla="*/ 2147483647 w 377"/>
                <a:gd name="T3" fmla="*/ 2147483647 h 291"/>
                <a:gd name="T4" fmla="*/ 2147483647 w 377"/>
                <a:gd name="T5" fmla="*/ 2147483647 h 291"/>
                <a:gd name="T6" fmla="*/ 2147483647 w 377"/>
                <a:gd name="T7" fmla="*/ 2147483647 h 291"/>
                <a:gd name="T8" fmla="*/ 2147483647 w 377"/>
                <a:gd name="T9" fmla="*/ 2147483647 h 291"/>
                <a:gd name="T10" fmla="*/ 2147483647 w 377"/>
                <a:gd name="T11" fmla="*/ 2147483647 h 291"/>
                <a:gd name="T12" fmla="*/ 2147483647 w 377"/>
                <a:gd name="T13" fmla="*/ 2147483647 h 291"/>
                <a:gd name="T14" fmla="*/ 2147483647 w 377"/>
                <a:gd name="T15" fmla="*/ 2147483647 h 291"/>
                <a:gd name="T16" fmla="*/ 2147483647 w 377"/>
                <a:gd name="T17" fmla="*/ 2147483647 h 291"/>
                <a:gd name="T18" fmla="*/ 2147483647 w 377"/>
                <a:gd name="T19" fmla="*/ 2147483647 h 291"/>
                <a:gd name="T20" fmla="*/ 2147483647 w 377"/>
                <a:gd name="T21" fmla="*/ 2147483647 h 291"/>
                <a:gd name="T22" fmla="*/ 2147483647 w 377"/>
                <a:gd name="T23" fmla="*/ 2147483647 h 291"/>
                <a:gd name="T24" fmla="*/ 2147483647 w 377"/>
                <a:gd name="T25" fmla="*/ 2147483647 h 291"/>
                <a:gd name="T26" fmla="*/ 2147483647 w 377"/>
                <a:gd name="T27" fmla="*/ 2147483647 h 291"/>
                <a:gd name="T28" fmla="*/ 2147483647 w 377"/>
                <a:gd name="T29" fmla="*/ 2147483647 h 291"/>
                <a:gd name="T30" fmla="*/ 2147483647 w 377"/>
                <a:gd name="T31" fmla="*/ 2147483647 h 291"/>
                <a:gd name="T32" fmla="*/ 2147483647 w 377"/>
                <a:gd name="T33" fmla="*/ 2147483647 h 291"/>
                <a:gd name="T34" fmla="*/ 2147483647 w 377"/>
                <a:gd name="T35" fmla="*/ 2147483647 h 291"/>
                <a:gd name="T36" fmla="*/ 2147483647 w 377"/>
                <a:gd name="T37" fmla="*/ 2147483647 h 291"/>
                <a:gd name="T38" fmla="*/ 2147483647 w 377"/>
                <a:gd name="T39" fmla="*/ 2147483647 h 291"/>
                <a:gd name="T40" fmla="*/ 2147483647 w 377"/>
                <a:gd name="T41" fmla="*/ 2147483647 h 291"/>
                <a:gd name="T42" fmla="*/ 2147483647 w 377"/>
                <a:gd name="T43" fmla="*/ 2147483647 h 291"/>
                <a:gd name="T44" fmla="*/ 2147483647 w 377"/>
                <a:gd name="T45" fmla="*/ 2147483647 h 291"/>
                <a:gd name="T46" fmla="*/ 2147483647 w 377"/>
                <a:gd name="T47" fmla="*/ 2147483647 h 291"/>
                <a:gd name="T48" fmla="*/ 2147483647 w 377"/>
                <a:gd name="T49" fmla="*/ 2147483647 h 291"/>
                <a:gd name="T50" fmla="*/ 2147483647 w 377"/>
                <a:gd name="T51" fmla="*/ 2147483647 h 291"/>
                <a:gd name="T52" fmla="*/ 2147483647 w 377"/>
                <a:gd name="T53" fmla="*/ 0 h 291"/>
                <a:gd name="T54" fmla="*/ 2147483647 w 377"/>
                <a:gd name="T55" fmla="*/ 2147483647 h 291"/>
                <a:gd name="T56" fmla="*/ 2147483647 w 377"/>
                <a:gd name="T57" fmla="*/ 2147483647 h 291"/>
                <a:gd name="T58" fmla="*/ 2147483647 w 377"/>
                <a:gd name="T59" fmla="*/ 2147483647 h 291"/>
                <a:gd name="T60" fmla="*/ 2147483647 w 377"/>
                <a:gd name="T61" fmla="*/ 2147483647 h 291"/>
                <a:gd name="T62" fmla="*/ 2147483647 w 377"/>
                <a:gd name="T63" fmla="*/ 2147483647 h 291"/>
                <a:gd name="T64" fmla="*/ 2147483647 w 377"/>
                <a:gd name="T65" fmla="*/ 2147483647 h 291"/>
                <a:gd name="T66" fmla="*/ 2147483647 w 377"/>
                <a:gd name="T67" fmla="*/ 2147483647 h 291"/>
                <a:gd name="T68" fmla="*/ 2147483647 w 377"/>
                <a:gd name="T69" fmla="*/ 2147483647 h 291"/>
                <a:gd name="T70" fmla="*/ 2147483647 w 377"/>
                <a:gd name="T71" fmla="*/ 2147483647 h 291"/>
                <a:gd name="T72" fmla="*/ 2147483647 w 377"/>
                <a:gd name="T73" fmla="*/ 2147483647 h 291"/>
                <a:gd name="T74" fmla="*/ 0 w 377"/>
                <a:gd name="T75" fmla="*/ 2147483647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7" h="291">
                  <a:moveTo>
                    <a:pt x="0" y="145"/>
                  </a:moveTo>
                  <a:lnTo>
                    <a:pt x="3" y="152"/>
                  </a:lnTo>
                  <a:lnTo>
                    <a:pt x="9" y="159"/>
                  </a:lnTo>
                  <a:lnTo>
                    <a:pt x="14" y="166"/>
                  </a:lnTo>
                  <a:lnTo>
                    <a:pt x="19" y="171"/>
                  </a:lnTo>
                  <a:lnTo>
                    <a:pt x="24" y="178"/>
                  </a:lnTo>
                  <a:lnTo>
                    <a:pt x="31" y="184"/>
                  </a:lnTo>
                  <a:lnTo>
                    <a:pt x="43" y="195"/>
                  </a:lnTo>
                  <a:lnTo>
                    <a:pt x="57" y="207"/>
                  </a:lnTo>
                  <a:lnTo>
                    <a:pt x="71" y="218"/>
                  </a:lnTo>
                  <a:lnTo>
                    <a:pt x="86" y="228"/>
                  </a:lnTo>
                  <a:lnTo>
                    <a:pt x="103" y="237"/>
                  </a:lnTo>
                  <a:lnTo>
                    <a:pt x="120" y="246"/>
                  </a:lnTo>
                  <a:lnTo>
                    <a:pt x="138" y="255"/>
                  </a:lnTo>
                  <a:lnTo>
                    <a:pt x="158" y="263"/>
                  </a:lnTo>
                  <a:lnTo>
                    <a:pt x="178" y="270"/>
                  </a:lnTo>
                  <a:lnTo>
                    <a:pt x="199" y="276"/>
                  </a:lnTo>
                  <a:lnTo>
                    <a:pt x="219" y="282"/>
                  </a:lnTo>
                  <a:lnTo>
                    <a:pt x="242" y="287"/>
                  </a:lnTo>
                  <a:lnTo>
                    <a:pt x="264" y="291"/>
                  </a:lnTo>
                  <a:lnTo>
                    <a:pt x="377" y="291"/>
                  </a:lnTo>
                  <a:lnTo>
                    <a:pt x="371" y="283"/>
                  </a:lnTo>
                  <a:lnTo>
                    <a:pt x="364" y="274"/>
                  </a:lnTo>
                  <a:lnTo>
                    <a:pt x="360" y="265"/>
                  </a:lnTo>
                  <a:lnTo>
                    <a:pt x="354" y="255"/>
                  </a:lnTo>
                  <a:lnTo>
                    <a:pt x="350" y="246"/>
                  </a:lnTo>
                  <a:lnTo>
                    <a:pt x="345" y="237"/>
                  </a:lnTo>
                  <a:lnTo>
                    <a:pt x="342" y="228"/>
                  </a:lnTo>
                  <a:lnTo>
                    <a:pt x="338" y="219"/>
                  </a:lnTo>
                  <a:lnTo>
                    <a:pt x="335" y="210"/>
                  </a:lnTo>
                  <a:lnTo>
                    <a:pt x="331" y="201"/>
                  </a:lnTo>
                  <a:lnTo>
                    <a:pt x="329" y="192"/>
                  </a:lnTo>
                  <a:lnTo>
                    <a:pt x="328" y="183"/>
                  </a:lnTo>
                  <a:lnTo>
                    <a:pt x="327" y="174"/>
                  </a:lnTo>
                  <a:lnTo>
                    <a:pt x="326" y="165"/>
                  </a:lnTo>
                  <a:lnTo>
                    <a:pt x="325" y="154"/>
                  </a:lnTo>
                  <a:lnTo>
                    <a:pt x="325" y="145"/>
                  </a:lnTo>
                  <a:lnTo>
                    <a:pt x="325" y="136"/>
                  </a:lnTo>
                  <a:lnTo>
                    <a:pt x="326" y="127"/>
                  </a:lnTo>
                  <a:lnTo>
                    <a:pt x="327" y="118"/>
                  </a:lnTo>
                  <a:lnTo>
                    <a:pt x="328" y="108"/>
                  </a:lnTo>
                  <a:lnTo>
                    <a:pt x="329" y="99"/>
                  </a:lnTo>
                  <a:lnTo>
                    <a:pt x="331" y="90"/>
                  </a:lnTo>
                  <a:lnTo>
                    <a:pt x="335" y="81"/>
                  </a:lnTo>
                  <a:lnTo>
                    <a:pt x="338" y="72"/>
                  </a:lnTo>
                  <a:lnTo>
                    <a:pt x="342" y="62"/>
                  </a:lnTo>
                  <a:lnTo>
                    <a:pt x="345" y="53"/>
                  </a:lnTo>
                  <a:lnTo>
                    <a:pt x="350" y="44"/>
                  </a:lnTo>
                  <a:lnTo>
                    <a:pt x="354" y="35"/>
                  </a:lnTo>
                  <a:lnTo>
                    <a:pt x="360" y="26"/>
                  </a:lnTo>
                  <a:lnTo>
                    <a:pt x="364" y="18"/>
                  </a:lnTo>
                  <a:lnTo>
                    <a:pt x="371" y="9"/>
                  </a:lnTo>
                  <a:lnTo>
                    <a:pt x="377" y="0"/>
                  </a:lnTo>
                  <a:lnTo>
                    <a:pt x="264" y="0"/>
                  </a:lnTo>
                  <a:lnTo>
                    <a:pt x="242" y="5"/>
                  </a:lnTo>
                  <a:lnTo>
                    <a:pt x="219" y="9"/>
                  </a:lnTo>
                  <a:lnTo>
                    <a:pt x="199" y="15"/>
                  </a:lnTo>
                  <a:lnTo>
                    <a:pt x="177" y="22"/>
                  </a:lnTo>
                  <a:lnTo>
                    <a:pt x="158" y="28"/>
                  </a:lnTo>
                  <a:lnTo>
                    <a:pt x="138" y="36"/>
                  </a:lnTo>
                  <a:lnTo>
                    <a:pt x="120" y="44"/>
                  </a:lnTo>
                  <a:lnTo>
                    <a:pt x="103" y="53"/>
                  </a:lnTo>
                  <a:lnTo>
                    <a:pt x="86" y="62"/>
                  </a:lnTo>
                  <a:lnTo>
                    <a:pt x="70" y="73"/>
                  </a:lnTo>
                  <a:lnTo>
                    <a:pt x="56" y="84"/>
                  </a:lnTo>
                  <a:lnTo>
                    <a:pt x="42" y="95"/>
                  </a:lnTo>
                  <a:lnTo>
                    <a:pt x="36" y="101"/>
                  </a:lnTo>
                  <a:lnTo>
                    <a:pt x="29" y="107"/>
                  </a:lnTo>
                  <a:lnTo>
                    <a:pt x="24" y="114"/>
                  </a:lnTo>
                  <a:lnTo>
                    <a:pt x="18" y="119"/>
                  </a:lnTo>
                  <a:lnTo>
                    <a:pt x="14" y="126"/>
                  </a:lnTo>
                  <a:lnTo>
                    <a:pt x="8" y="133"/>
                  </a:lnTo>
                  <a:lnTo>
                    <a:pt x="3" y="139"/>
                  </a:lnTo>
                  <a:lnTo>
                    <a:pt x="0" y="145"/>
                  </a:lnTo>
                </a:path>
              </a:pathLst>
            </a:custGeom>
            <a:noFill/>
            <a:ln w="3175">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05" name="Freeform 210">
              <a:extLst>
                <a:ext uri="{FF2B5EF4-FFF2-40B4-BE49-F238E27FC236}">
                  <a16:creationId xmlns:a16="http://schemas.microsoft.com/office/drawing/2014/main" id="{766B7378-1ABF-6C49-99AE-6A4CF5A566CE}"/>
                </a:ext>
              </a:extLst>
            </p:cNvPr>
            <p:cNvSpPr>
              <a:spLocks/>
            </p:cNvSpPr>
            <p:nvPr/>
          </p:nvSpPr>
          <p:spPr bwMode="auto">
            <a:xfrm>
              <a:off x="4779963" y="6181725"/>
              <a:ext cx="338137" cy="244475"/>
            </a:xfrm>
            <a:custGeom>
              <a:avLst/>
              <a:gdLst>
                <a:gd name="T0" fmla="*/ 2147483647 w 377"/>
                <a:gd name="T1" fmla="*/ 2147483647 h 291"/>
                <a:gd name="T2" fmla="*/ 2147483647 w 377"/>
                <a:gd name="T3" fmla="*/ 2147483647 h 291"/>
                <a:gd name="T4" fmla="*/ 2147483647 w 377"/>
                <a:gd name="T5" fmla="*/ 0 h 291"/>
                <a:gd name="T6" fmla="*/ 2147483647 w 377"/>
                <a:gd name="T7" fmla="*/ 0 h 291"/>
                <a:gd name="T8" fmla="*/ 2147483647 w 377"/>
                <a:gd name="T9" fmla="*/ 0 h 291"/>
                <a:gd name="T10" fmla="*/ 2147483647 w 377"/>
                <a:gd name="T11" fmla="*/ 2147483647 h 291"/>
                <a:gd name="T12" fmla="*/ 2147483647 w 377"/>
                <a:gd name="T13" fmla="*/ 2147483647 h 291"/>
                <a:gd name="T14" fmla="*/ 2147483647 w 377"/>
                <a:gd name="T15" fmla="*/ 2147483647 h 291"/>
                <a:gd name="T16" fmla="*/ 2147483647 w 377"/>
                <a:gd name="T17" fmla="*/ 2147483647 h 291"/>
                <a:gd name="T18" fmla="*/ 2147483647 w 377"/>
                <a:gd name="T19" fmla="*/ 2147483647 h 291"/>
                <a:gd name="T20" fmla="*/ 2147483647 w 377"/>
                <a:gd name="T21" fmla="*/ 2147483647 h 291"/>
                <a:gd name="T22" fmla="*/ 2147483647 w 377"/>
                <a:gd name="T23" fmla="*/ 2147483647 h 291"/>
                <a:gd name="T24" fmla="*/ 2147483647 w 377"/>
                <a:gd name="T25" fmla="*/ 2147483647 h 291"/>
                <a:gd name="T26" fmla="*/ 2147483647 w 377"/>
                <a:gd name="T27" fmla="*/ 2147483647 h 291"/>
                <a:gd name="T28" fmla="*/ 2147483647 w 377"/>
                <a:gd name="T29" fmla="*/ 2147483647 h 291"/>
                <a:gd name="T30" fmla="*/ 2147483647 w 377"/>
                <a:gd name="T31" fmla="*/ 2147483647 h 291"/>
                <a:gd name="T32" fmla="*/ 2147483647 w 377"/>
                <a:gd name="T33" fmla="*/ 2147483647 h 291"/>
                <a:gd name="T34" fmla="*/ 2147483647 w 377"/>
                <a:gd name="T35" fmla="*/ 2147483647 h 291"/>
                <a:gd name="T36" fmla="*/ 2147483647 w 377"/>
                <a:gd name="T37" fmla="*/ 2147483647 h 291"/>
                <a:gd name="T38" fmla="*/ 2147483647 w 377"/>
                <a:gd name="T39" fmla="*/ 2147483647 h 291"/>
                <a:gd name="T40" fmla="*/ 2147483647 w 377"/>
                <a:gd name="T41" fmla="*/ 2147483647 h 291"/>
                <a:gd name="T42" fmla="*/ 2147483647 w 377"/>
                <a:gd name="T43" fmla="*/ 2147483647 h 291"/>
                <a:gd name="T44" fmla="*/ 2147483647 w 377"/>
                <a:gd name="T45" fmla="*/ 2147483647 h 291"/>
                <a:gd name="T46" fmla="*/ 2147483647 w 377"/>
                <a:gd name="T47" fmla="*/ 2147483647 h 291"/>
                <a:gd name="T48" fmla="*/ 2147483647 w 377"/>
                <a:gd name="T49" fmla="*/ 2147483647 h 291"/>
                <a:gd name="T50" fmla="*/ 2147483647 w 377"/>
                <a:gd name="T51" fmla="*/ 2147483647 h 291"/>
                <a:gd name="T52" fmla="*/ 2147483647 w 377"/>
                <a:gd name="T53" fmla="*/ 2147483647 h 291"/>
                <a:gd name="T54" fmla="*/ 2147483647 w 377"/>
                <a:gd name="T55" fmla="*/ 2147483647 h 291"/>
                <a:gd name="T56" fmla="*/ 2147483647 w 377"/>
                <a:gd name="T57" fmla="*/ 2147483647 h 291"/>
                <a:gd name="T58" fmla="*/ 0 w 377"/>
                <a:gd name="T59" fmla="*/ 2147483647 h 291"/>
                <a:gd name="T60" fmla="*/ 0 w 377"/>
                <a:gd name="T61" fmla="*/ 2147483647 h 291"/>
                <a:gd name="T62" fmla="*/ 0 w 377"/>
                <a:gd name="T63" fmla="*/ 2147483647 h 291"/>
                <a:gd name="T64" fmla="*/ 0 w 377"/>
                <a:gd name="T65" fmla="*/ 2147483647 h 291"/>
                <a:gd name="T66" fmla="*/ 0 w 377"/>
                <a:gd name="T67" fmla="*/ 2147483647 h 291"/>
                <a:gd name="T68" fmla="*/ 2147483647 w 377"/>
                <a:gd name="T69" fmla="*/ 2147483647 h 291"/>
                <a:gd name="T70" fmla="*/ 2147483647 w 377"/>
                <a:gd name="T71" fmla="*/ 2147483647 h 291"/>
                <a:gd name="T72" fmla="*/ 2147483647 w 377"/>
                <a:gd name="T73" fmla="*/ 2147483647 h 291"/>
                <a:gd name="T74" fmla="*/ 2147483647 w 377"/>
                <a:gd name="T75" fmla="*/ 2147483647 h 291"/>
                <a:gd name="T76" fmla="*/ 2147483647 w 377"/>
                <a:gd name="T77" fmla="*/ 2147483647 h 291"/>
                <a:gd name="T78" fmla="*/ 2147483647 w 377"/>
                <a:gd name="T79" fmla="*/ 2147483647 h 291"/>
                <a:gd name="T80" fmla="*/ 2147483647 w 377"/>
                <a:gd name="T81" fmla="*/ 2147483647 h 291"/>
                <a:gd name="T82" fmla="*/ 2147483647 w 377"/>
                <a:gd name="T83" fmla="*/ 2147483647 h 291"/>
                <a:gd name="T84" fmla="*/ 2147483647 w 377"/>
                <a:gd name="T85" fmla="*/ 2147483647 h 291"/>
                <a:gd name="T86" fmla="*/ 2147483647 w 377"/>
                <a:gd name="T87" fmla="*/ 2147483647 h 291"/>
                <a:gd name="T88" fmla="*/ 2147483647 w 377"/>
                <a:gd name="T89" fmla="*/ 2147483647 h 291"/>
                <a:gd name="T90" fmla="*/ 2147483647 w 377"/>
                <a:gd name="T91" fmla="*/ 2147483647 h 291"/>
                <a:gd name="T92" fmla="*/ 2147483647 w 377"/>
                <a:gd name="T93" fmla="*/ 2147483647 h 291"/>
                <a:gd name="T94" fmla="*/ 2147483647 w 377"/>
                <a:gd name="T95" fmla="*/ 2147483647 h 291"/>
                <a:gd name="T96" fmla="*/ 2147483647 w 377"/>
                <a:gd name="T97" fmla="*/ 2147483647 h 291"/>
                <a:gd name="T98" fmla="*/ 2147483647 w 377"/>
                <a:gd name="T99" fmla="*/ 2147483647 h 291"/>
                <a:gd name="T100" fmla="*/ 2147483647 w 377"/>
                <a:gd name="T101" fmla="*/ 2147483647 h 291"/>
                <a:gd name="T102" fmla="*/ 2147483647 w 377"/>
                <a:gd name="T103" fmla="*/ 2147483647 h 291"/>
                <a:gd name="T104" fmla="*/ 2147483647 w 377"/>
                <a:gd name="T105" fmla="*/ 2147483647 h 291"/>
                <a:gd name="T106" fmla="*/ 2147483647 w 377"/>
                <a:gd name="T107" fmla="*/ 2147483647 h 291"/>
                <a:gd name="T108" fmla="*/ 2147483647 w 377"/>
                <a:gd name="T109" fmla="*/ 2147483647 h 291"/>
                <a:gd name="T110" fmla="*/ 2147483647 w 377"/>
                <a:gd name="T111" fmla="*/ 2147483647 h 291"/>
                <a:gd name="T112" fmla="*/ 2147483647 w 377"/>
                <a:gd name="T113" fmla="*/ 2147483647 h 291"/>
                <a:gd name="T114" fmla="*/ 2147483647 w 377"/>
                <a:gd name="T115" fmla="*/ 2147483647 h 291"/>
                <a:gd name="T116" fmla="*/ 2147483647 w 377"/>
                <a:gd name="T117" fmla="*/ 2147483647 h 291"/>
                <a:gd name="T118" fmla="*/ 2147483647 w 377"/>
                <a:gd name="T119" fmla="*/ 2147483647 h 291"/>
                <a:gd name="T120" fmla="*/ 2147483647 w 377"/>
                <a:gd name="T121" fmla="*/ 2147483647 h 291"/>
                <a:gd name="T122" fmla="*/ 2147483647 w 377"/>
                <a:gd name="T123" fmla="*/ 2147483647 h 2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77" h="291">
                  <a:moveTo>
                    <a:pt x="145" y="291"/>
                  </a:moveTo>
                  <a:lnTo>
                    <a:pt x="377" y="291"/>
                  </a:lnTo>
                  <a:lnTo>
                    <a:pt x="377" y="0"/>
                  </a:lnTo>
                  <a:lnTo>
                    <a:pt x="145" y="0"/>
                  </a:lnTo>
                  <a:lnTo>
                    <a:pt x="137" y="0"/>
                  </a:lnTo>
                  <a:lnTo>
                    <a:pt x="129" y="1"/>
                  </a:lnTo>
                  <a:lnTo>
                    <a:pt x="123" y="2"/>
                  </a:lnTo>
                  <a:lnTo>
                    <a:pt x="116" y="3"/>
                  </a:lnTo>
                  <a:lnTo>
                    <a:pt x="109" y="5"/>
                  </a:lnTo>
                  <a:lnTo>
                    <a:pt x="101" y="7"/>
                  </a:lnTo>
                  <a:lnTo>
                    <a:pt x="94" y="9"/>
                  </a:lnTo>
                  <a:lnTo>
                    <a:pt x="88" y="11"/>
                  </a:lnTo>
                  <a:lnTo>
                    <a:pt x="82" y="15"/>
                  </a:lnTo>
                  <a:lnTo>
                    <a:pt x="75" y="18"/>
                  </a:lnTo>
                  <a:lnTo>
                    <a:pt x="69" y="22"/>
                  </a:lnTo>
                  <a:lnTo>
                    <a:pt x="64" y="25"/>
                  </a:lnTo>
                  <a:lnTo>
                    <a:pt x="52" y="33"/>
                  </a:lnTo>
                  <a:lnTo>
                    <a:pt x="42" y="43"/>
                  </a:lnTo>
                  <a:lnTo>
                    <a:pt x="33" y="53"/>
                  </a:lnTo>
                  <a:lnTo>
                    <a:pt x="24" y="65"/>
                  </a:lnTo>
                  <a:lnTo>
                    <a:pt x="20" y="70"/>
                  </a:lnTo>
                  <a:lnTo>
                    <a:pt x="17" y="76"/>
                  </a:lnTo>
                  <a:lnTo>
                    <a:pt x="14" y="83"/>
                  </a:lnTo>
                  <a:lnTo>
                    <a:pt x="11" y="89"/>
                  </a:lnTo>
                  <a:lnTo>
                    <a:pt x="8" y="95"/>
                  </a:lnTo>
                  <a:lnTo>
                    <a:pt x="6" y="102"/>
                  </a:lnTo>
                  <a:lnTo>
                    <a:pt x="4" y="109"/>
                  </a:lnTo>
                  <a:lnTo>
                    <a:pt x="2" y="116"/>
                  </a:lnTo>
                  <a:lnTo>
                    <a:pt x="1" y="124"/>
                  </a:lnTo>
                  <a:lnTo>
                    <a:pt x="0" y="131"/>
                  </a:lnTo>
                  <a:lnTo>
                    <a:pt x="0" y="139"/>
                  </a:lnTo>
                  <a:lnTo>
                    <a:pt x="0" y="145"/>
                  </a:lnTo>
                  <a:lnTo>
                    <a:pt x="0" y="153"/>
                  </a:lnTo>
                  <a:lnTo>
                    <a:pt x="0" y="160"/>
                  </a:lnTo>
                  <a:lnTo>
                    <a:pt x="1" y="168"/>
                  </a:lnTo>
                  <a:lnTo>
                    <a:pt x="2" y="175"/>
                  </a:lnTo>
                  <a:lnTo>
                    <a:pt x="4" y="182"/>
                  </a:lnTo>
                  <a:lnTo>
                    <a:pt x="6" y="188"/>
                  </a:lnTo>
                  <a:lnTo>
                    <a:pt x="8" y="195"/>
                  </a:lnTo>
                  <a:lnTo>
                    <a:pt x="11" y="202"/>
                  </a:lnTo>
                  <a:lnTo>
                    <a:pt x="14" y="209"/>
                  </a:lnTo>
                  <a:lnTo>
                    <a:pt x="17" y="215"/>
                  </a:lnTo>
                  <a:lnTo>
                    <a:pt x="20" y="221"/>
                  </a:lnTo>
                  <a:lnTo>
                    <a:pt x="24" y="227"/>
                  </a:lnTo>
                  <a:lnTo>
                    <a:pt x="33" y="238"/>
                  </a:lnTo>
                  <a:lnTo>
                    <a:pt x="42" y="249"/>
                  </a:lnTo>
                  <a:lnTo>
                    <a:pt x="52" y="258"/>
                  </a:lnTo>
                  <a:lnTo>
                    <a:pt x="64" y="266"/>
                  </a:lnTo>
                  <a:lnTo>
                    <a:pt x="69" y="270"/>
                  </a:lnTo>
                  <a:lnTo>
                    <a:pt x="75" y="274"/>
                  </a:lnTo>
                  <a:lnTo>
                    <a:pt x="82" y="277"/>
                  </a:lnTo>
                  <a:lnTo>
                    <a:pt x="88" y="279"/>
                  </a:lnTo>
                  <a:lnTo>
                    <a:pt x="94" y="283"/>
                  </a:lnTo>
                  <a:lnTo>
                    <a:pt x="101" y="285"/>
                  </a:lnTo>
                  <a:lnTo>
                    <a:pt x="109" y="286"/>
                  </a:lnTo>
                  <a:lnTo>
                    <a:pt x="116" y="288"/>
                  </a:lnTo>
                  <a:lnTo>
                    <a:pt x="123" y="290"/>
                  </a:lnTo>
                  <a:lnTo>
                    <a:pt x="129" y="291"/>
                  </a:lnTo>
                  <a:lnTo>
                    <a:pt x="137" y="291"/>
                  </a:lnTo>
                  <a:lnTo>
                    <a:pt x="145" y="291"/>
                  </a:lnTo>
                  <a:close/>
                </a:path>
              </a:pathLst>
            </a:custGeom>
            <a:solidFill>
              <a:srgbClr val="99FF3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06" name="Freeform 211">
              <a:extLst>
                <a:ext uri="{FF2B5EF4-FFF2-40B4-BE49-F238E27FC236}">
                  <a16:creationId xmlns:a16="http://schemas.microsoft.com/office/drawing/2014/main" id="{E543CC54-9215-384E-A8E4-B06387B81F64}"/>
                </a:ext>
              </a:extLst>
            </p:cNvPr>
            <p:cNvSpPr>
              <a:spLocks/>
            </p:cNvSpPr>
            <p:nvPr/>
          </p:nvSpPr>
          <p:spPr bwMode="auto">
            <a:xfrm>
              <a:off x="4779963" y="6181725"/>
              <a:ext cx="338137" cy="244475"/>
            </a:xfrm>
            <a:custGeom>
              <a:avLst/>
              <a:gdLst>
                <a:gd name="T0" fmla="*/ 2147483647 w 377"/>
                <a:gd name="T1" fmla="*/ 2147483647 h 291"/>
                <a:gd name="T2" fmla="*/ 2147483647 w 377"/>
                <a:gd name="T3" fmla="*/ 2147483647 h 291"/>
                <a:gd name="T4" fmla="*/ 2147483647 w 377"/>
                <a:gd name="T5" fmla="*/ 0 h 291"/>
                <a:gd name="T6" fmla="*/ 2147483647 w 377"/>
                <a:gd name="T7" fmla="*/ 0 h 291"/>
                <a:gd name="T8" fmla="*/ 2147483647 w 377"/>
                <a:gd name="T9" fmla="*/ 0 h 291"/>
                <a:gd name="T10" fmla="*/ 2147483647 w 377"/>
                <a:gd name="T11" fmla="*/ 2147483647 h 291"/>
                <a:gd name="T12" fmla="*/ 2147483647 w 377"/>
                <a:gd name="T13" fmla="*/ 2147483647 h 291"/>
                <a:gd name="T14" fmla="*/ 2147483647 w 377"/>
                <a:gd name="T15" fmla="*/ 2147483647 h 291"/>
                <a:gd name="T16" fmla="*/ 2147483647 w 377"/>
                <a:gd name="T17" fmla="*/ 2147483647 h 291"/>
                <a:gd name="T18" fmla="*/ 2147483647 w 377"/>
                <a:gd name="T19" fmla="*/ 2147483647 h 291"/>
                <a:gd name="T20" fmla="*/ 2147483647 w 377"/>
                <a:gd name="T21" fmla="*/ 2147483647 h 291"/>
                <a:gd name="T22" fmla="*/ 2147483647 w 377"/>
                <a:gd name="T23" fmla="*/ 2147483647 h 291"/>
                <a:gd name="T24" fmla="*/ 2147483647 w 377"/>
                <a:gd name="T25" fmla="*/ 2147483647 h 291"/>
                <a:gd name="T26" fmla="*/ 2147483647 w 377"/>
                <a:gd name="T27" fmla="*/ 2147483647 h 291"/>
                <a:gd name="T28" fmla="*/ 2147483647 w 377"/>
                <a:gd name="T29" fmla="*/ 2147483647 h 291"/>
                <a:gd name="T30" fmla="*/ 2147483647 w 377"/>
                <a:gd name="T31" fmla="*/ 2147483647 h 291"/>
                <a:gd name="T32" fmla="*/ 2147483647 w 377"/>
                <a:gd name="T33" fmla="*/ 2147483647 h 291"/>
                <a:gd name="T34" fmla="*/ 2147483647 w 377"/>
                <a:gd name="T35" fmla="*/ 2147483647 h 291"/>
                <a:gd name="T36" fmla="*/ 2147483647 w 377"/>
                <a:gd name="T37" fmla="*/ 2147483647 h 291"/>
                <a:gd name="T38" fmla="*/ 2147483647 w 377"/>
                <a:gd name="T39" fmla="*/ 2147483647 h 291"/>
                <a:gd name="T40" fmla="*/ 2147483647 w 377"/>
                <a:gd name="T41" fmla="*/ 2147483647 h 291"/>
                <a:gd name="T42" fmla="*/ 2147483647 w 377"/>
                <a:gd name="T43" fmla="*/ 2147483647 h 291"/>
                <a:gd name="T44" fmla="*/ 2147483647 w 377"/>
                <a:gd name="T45" fmla="*/ 2147483647 h 291"/>
                <a:gd name="T46" fmla="*/ 2147483647 w 377"/>
                <a:gd name="T47" fmla="*/ 2147483647 h 291"/>
                <a:gd name="T48" fmla="*/ 2147483647 w 377"/>
                <a:gd name="T49" fmla="*/ 2147483647 h 291"/>
                <a:gd name="T50" fmla="*/ 2147483647 w 377"/>
                <a:gd name="T51" fmla="*/ 2147483647 h 291"/>
                <a:gd name="T52" fmla="*/ 2147483647 w 377"/>
                <a:gd name="T53" fmla="*/ 2147483647 h 291"/>
                <a:gd name="T54" fmla="*/ 2147483647 w 377"/>
                <a:gd name="T55" fmla="*/ 2147483647 h 291"/>
                <a:gd name="T56" fmla="*/ 2147483647 w 377"/>
                <a:gd name="T57" fmla="*/ 2147483647 h 291"/>
                <a:gd name="T58" fmla="*/ 0 w 377"/>
                <a:gd name="T59" fmla="*/ 2147483647 h 291"/>
                <a:gd name="T60" fmla="*/ 0 w 377"/>
                <a:gd name="T61" fmla="*/ 2147483647 h 291"/>
                <a:gd name="T62" fmla="*/ 0 w 377"/>
                <a:gd name="T63" fmla="*/ 2147483647 h 291"/>
                <a:gd name="T64" fmla="*/ 0 w 377"/>
                <a:gd name="T65" fmla="*/ 2147483647 h 291"/>
                <a:gd name="T66" fmla="*/ 0 w 377"/>
                <a:gd name="T67" fmla="*/ 2147483647 h 291"/>
                <a:gd name="T68" fmla="*/ 2147483647 w 377"/>
                <a:gd name="T69" fmla="*/ 2147483647 h 291"/>
                <a:gd name="T70" fmla="*/ 2147483647 w 377"/>
                <a:gd name="T71" fmla="*/ 2147483647 h 291"/>
                <a:gd name="T72" fmla="*/ 2147483647 w 377"/>
                <a:gd name="T73" fmla="*/ 2147483647 h 291"/>
                <a:gd name="T74" fmla="*/ 2147483647 w 377"/>
                <a:gd name="T75" fmla="*/ 2147483647 h 291"/>
                <a:gd name="T76" fmla="*/ 2147483647 w 377"/>
                <a:gd name="T77" fmla="*/ 2147483647 h 291"/>
                <a:gd name="T78" fmla="*/ 2147483647 w 377"/>
                <a:gd name="T79" fmla="*/ 2147483647 h 291"/>
                <a:gd name="T80" fmla="*/ 2147483647 w 377"/>
                <a:gd name="T81" fmla="*/ 2147483647 h 291"/>
                <a:gd name="T82" fmla="*/ 2147483647 w 377"/>
                <a:gd name="T83" fmla="*/ 2147483647 h 291"/>
                <a:gd name="T84" fmla="*/ 2147483647 w 377"/>
                <a:gd name="T85" fmla="*/ 2147483647 h 291"/>
                <a:gd name="T86" fmla="*/ 2147483647 w 377"/>
                <a:gd name="T87" fmla="*/ 2147483647 h 291"/>
                <a:gd name="T88" fmla="*/ 2147483647 w 377"/>
                <a:gd name="T89" fmla="*/ 2147483647 h 291"/>
                <a:gd name="T90" fmla="*/ 2147483647 w 377"/>
                <a:gd name="T91" fmla="*/ 2147483647 h 291"/>
                <a:gd name="T92" fmla="*/ 2147483647 w 377"/>
                <a:gd name="T93" fmla="*/ 2147483647 h 291"/>
                <a:gd name="T94" fmla="*/ 2147483647 w 377"/>
                <a:gd name="T95" fmla="*/ 2147483647 h 291"/>
                <a:gd name="T96" fmla="*/ 2147483647 w 377"/>
                <a:gd name="T97" fmla="*/ 2147483647 h 291"/>
                <a:gd name="T98" fmla="*/ 2147483647 w 377"/>
                <a:gd name="T99" fmla="*/ 2147483647 h 291"/>
                <a:gd name="T100" fmla="*/ 2147483647 w 377"/>
                <a:gd name="T101" fmla="*/ 2147483647 h 291"/>
                <a:gd name="T102" fmla="*/ 2147483647 w 377"/>
                <a:gd name="T103" fmla="*/ 2147483647 h 291"/>
                <a:gd name="T104" fmla="*/ 2147483647 w 377"/>
                <a:gd name="T105" fmla="*/ 2147483647 h 291"/>
                <a:gd name="T106" fmla="*/ 2147483647 w 377"/>
                <a:gd name="T107" fmla="*/ 2147483647 h 291"/>
                <a:gd name="T108" fmla="*/ 2147483647 w 377"/>
                <a:gd name="T109" fmla="*/ 2147483647 h 291"/>
                <a:gd name="T110" fmla="*/ 2147483647 w 377"/>
                <a:gd name="T111" fmla="*/ 2147483647 h 291"/>
                <a:gd name="T112" fmla="*/ 2147483647 w 377"/>
                <a:gd name="T113" fmla="*/ 2147483647 h 291"/>
                <a:gd name="T114" fmla="*/ 2147483647 w 377"/>
                <a:gd name="T115" fmla="*/ 2147483647 h 291"/>
                <a:gd name="T116" fmla="*/ 2147483647 w 377"/>
                <a:gd name="T117" fmla="*/ 2147483647 h 291"/>
                <a:gd name="T118" fmla="*/ 2147483647 w 377"/>
                <a:gd name="T119" fmla="*/ 2147483647 h 291"/>
                <a:gd name="T120" fmla="*/ 2147483647 w 377"/>
                <a:gd name="T121" fmla="*/ 2147483647 h 291"/>
                <a:gd name="T122" fmla="*/ 2147483647 w 377"/>
                <a:gd name="T123" fmla="*/ 2147483647 h 2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77" h="291">
                  <a:moveTo>
                    <a:pt x="145" y="291"/>
                  </a:moveTo>
                  <a:lnTo>
                    <a:pt x="377" y="291"/>
                  </a:lnTo>
                  <a:lnTo>
                    <a:pt x="377" y="0"/>
                  </a:lnTo>
                  <a:lnTo>
                    <a:pt x="145" y="0"/>
                  </a:lnTo>
                  <a:lnTo>
                    <a:pt x="137" y="0"/>
                  </a:lnTo>
                  <a:lnTo>
                    <a:pt x="129" y="1"/>
                  </a:lnTo>
                  <a:lnTo>
                    <a:pt x="123" y="2"/>
                  </a:lnTo>
                  <a:lnTo>
                    <a:pt x="116" y="3"/>
                  </a:lnTo>
                  <a:lnTo>
                    <a:pt x="109" y="5"/>
                  </a:lnTo>
                  <a:lnTo>
                    <a:pt x="101" y="7"/>
                  </a:lnTo>
                  <a:lnTo>
                    <a:pt x="94" y="9"/>
                  </a:lnTo>
                  <a:lnTo>
                    <a:pt x="88" y="11"/>
                  </a:lnTo>
                  <a:lnTo>
                    <a:pt x="82" y="15"/>
                  </a:lnTo>
                  <a:lnTo>
                    <a:pt x="75" y="18"/>
                  </a:lnTo>
                  <a:lnTo>
                    <a:pt x="69" y="22"/>
                  </a:lnTo>
                  <a:lnTo>
                    <a:pt x="64" y="25"/>
                  </a:lnTo>
                  <a:lnTo>
                    <a:pt x="52" y="33"/>
                  </a:lnTo>
                  <a:lnTo>
                    <a:pt x="42" y="43"/>
                  </a:lnTo>
                  <a:lnTo>
                    <a:pt x="33" y="53"/>
                  </a:lnTo>
                  <a:lnTo>
                    <a:pt x="24" y="65"/>
                  </a:lnTo>
                  <a:lnTo>
                    <a:pt x="20" y="70"/>
                  </a:lnTo>
                  <a:lnTo>
                    <a:pt x="17" y="76"/>
                  </a:lnTo>
                  <a:lnTo>
                    <a:pt x="14" y="83"/>
                  </a:lnTo>
                  <a:lnTo>
                    <a:pt x="11" y="89"/>
                  </a:lnTo>
                  <a:lnTo>
                    <a:pt x="8" y="95"/>
                  </a:lnTo>
                  <a:lnTo>
                    <a:pt x="6" y="102"/>
                  </a:lnTo>
                  <a:lnTo>
                    <a:pt x="4" y="109"/>
                  </a:lnTo>
                  <a:lnTo>
                    <a:pt x="2" y="116"/>
                  </a:lnTo>
                  <a:lnTo>
                    <a:pt x="1" y="124"/>
                  </a:lnTo>
                  <a:lnTo>
                    <a:pt x="0" y="131"/>
                  </a:lnTo>
                  <a:lnTo>
                    <a:pt x="0" y="139"/>
                  </a:lnTo>
                  <a:lnTo>
                    <a:pt x="0" y="145"/>
                  </a:lnTo>
                  <a:lnTo>
                    <a:pt x="0" y="153"/>
                  </a:lnTo>
                  <a:lnTo>
                    <a:pt x="0" y="160"/>
                  </a:lnTo>
                  <a:lnTo>
                    <a:pt x="1" y="168"/>
                  </a:lnTo>
                  <a:lnTo>
                    <a:pt x="2" y="175"/>
                  </a:lnTo>
                  <a:lnTo>
                    <a:pt x="4" y="182"/>
                  </a:lnTo>
                  <a:lnTo>
                    <a:pt x="6" y="188"/>
                  </a:lnTo>
                  <a:lnTo>
                    <a:pt x="8" y="195"/>
                  </a:lnTo>
                  <a:lnTo>
                    <a:pt x="11" y="202"/>
                  </a:lnTo>
                  <a:lnTo>
                    <a:pt x="14" y="209"/>
                  </a:lnTo>
                  <a:lnTo>
                    <a:pt x="17" y="215"/>
                  </a:lnTo>
                  <a:lnTo>
                    <a:pt x="20" y="221"/>
                  </a:lnTo>
                  <a:lnTo>
                    <a:pt x="24" y="227"/>
                  </a:lnTo>
                  <a:lnTo>
                    <a:pt x="33" y="238"/>
                  </a:lnTo>
                  <a:lnTo>
                    <a:pt x="42" y="249"/>
                  </a:lnTo>
                  <a:lnTo>
                    <a:pt x="52" y="258"/>
                  </a:lnTo>
                  <a:lnTo>
                    <a:pt x="64" y="266"/>
                  </a:lnTo>
                  <a:lnTo>
                    <a:pt x="69" y="270"/>
                  </a:lnTo>
                  <a:lnTo>
                    <a:pt x="75" y="274"/>
                  </a:lnTo>
                  <a:lnTo>
                    <a:pt x="82" y="277"/>
                  </a:lnTo>
                  <a:lnTo>
                    <a:pt x="88" y="279"/>
                  </a:lnTo>
                  <a:lnTo>
                    <a:pt x="94" y="283"/>
                  </a:lnTo>
                  <a:lnTo>
                    <a:pt x="101" y="285"/>
                  </a:lnTo>
                  <a:lnTo>
                    <a:pt x="109" y="286"/>
                  </a:lnTo>
                  <a:lnTo>
                    <a:pt x="116" y="288"/>
                  </a:lnTo>
                  <a:lnTo>
                    <a:pt x="123" y="290"/>
                  </a:lnTo>
                  <a:lnTo>
                    <a:pt x="129" y="291"/>
                  </a:lnTo>
                  <a:lnTo>
                    <a:pt x="137" y="291"/>
                  </a:lnTo>
                  <a:lnTo>
                    <a:pt x="145" y="291"/>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07" name="Freeform 212">
              <a:extLst>
                <a:ext uri="{FF2B5EF4-FFF2-40B4-BE49-F238E27FC236}">
                  <a16:creationId xmlns:a16="http://schemas.microsoft.com/office/drawing/2014/main" id="{C24FEC08-50CB-454C-8C9B-43F212F77195}"/>
                </a:ext>
              </a:extLst>
            </p:cNvPr>
            <p:cNvSpPr>
              <a:spLocks/>
            </p:cNvSpPr>
            <p:nvPr/>
          </p:nvSpPr>
          <p:spPr bwMode="auto">
            <a:xfrm>
              <a:off x="5329238" y="6057900"/>
              <a:ext cx="242887" cy="304800"/>
            </a:xfrm>
            <a:custGeom>
              <a:avLst/>
              <a:gdLst>
                <a:gd name="T0" fmla="*/ 0 w 269"/>
                <a:gd name="T1" fmla="*/ 2147483647 h 363"/>
                <a:gd name="T2" fmla="*/ 2147483647 w 269"/>
                <a:gd name="T3" fmla="*/ 2147483647 h 363"/>
                <a:gd name="T4" fmla="*/ 2147483647 w 269"/>
                <a:gd name="T5" fmla="*/ 0 h 363"/>
                <a:gd name="T6" fmla="*/ 0 60000 65536"/>
                <a:gd name="T7" fmla="*/ 0 60000 65536"/>
                <a:gd name="T8" fmla="*/ 0 60000 65536"/>
              </a:gdLst>
              <a:ahLst/>
              <a:cxnLst>
                <a:cxn ang="T6">
                  <a:pos x="T0" y="T1"/>
                </a:cxn>
                <a:cxn ang="T7">
                  <a:pos x="T2" y="T3"/>
                </a:cxn>
                <a:cxn ang="T8">
                  <a:pos x="T4" y="T5"/>
                </a:cxn>
              </a:cxnLst>
              <a:rect l="0" t="0" r="r" b="b"/>
              <a:pathLst>
                <a:path w="269" h="363">
                  <a:moveTo>
                    <a:pt x="0" y="363"/>
                  </a:moveTo>
                  <a:lnTo>
                    <a:pt x="269" y="363"/>
                  </a:lnTo>
                  <a:lnTo>
                    <a:pt x="269"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08" name="Freeform 213">
              <a:extLst>
                <a:ext uri="{FF2B5EF4-FFF2-40B4-BE49-F238E27FC236}">
                  <a16:creationId xmlns:a16="http://schemas.microsoft.com/office/drawing/2014/main" id="{C3650301-B9C5-294D-86E9-C3F5ADFCAEE8}"/>
                </a:ext>
              </a:extLst>
            </p:cNvPr>
            <p:cNvSpPr>
              <a:spLocks/>
            </p:cNvSpPr>
            <p:nvPr/>
          </p:nvSpPr>
          <p:spPr bwMode="auto">
            <a:xfrm>
              <a:off x="5210175" y="6324600"/>
              <a:ext cx="130175" cy="79375"/>
            </a:xfrm>
            <a:custGeom>
              <a:avLst/>
              <a:gdLst>
                <a:gd name="T0" fmla="*/ 2147483647 w 143"/>
                <a:gd name="T1" fmla="*/ 2147483647 h 96"/>
                <a:gd name="T2" fmla="*/ 0 w 143"/>
                <a:gd name="T3" fmla="*/ 2147483647 h 96"/>
                <a:gd name="T4" fmla="*/ 2147483647 w 143"/>
                <a:gd name="T5" fmla="*/ 0 h 96"/>
                <a:gd name="T6" fmla="*/ 2147483647 w 143"/>
                <a:gd name="T7" fmla="*/ 2147483647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96">
                  <a:moveTo>
                    <a:pt x="143" y="96"/>
                  </a:moveTo>
                  <a:lnTo>
                    <a:pt x="0" y="48"/>
                  </a:lnTo>
                  <a:lnTo>
                    <a:pt x="143" y="0"/>
                  </a:lnTo>
                  <a:lnTo>
                    <a:pt x="143" y="9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09" name="Freeform 214">
              <a:extLst>
                <a:ext uri="{FF2B5EF4-FFF2-40B4-BE49-F238E27FC236}">
                  <a16:creationId xmlns:a16="http://schemas.microsoft.com/office/drawing/2014/main" id="{434E45B4-36A5-E44E-8B6C-1DB92CB85923}"/>
                </a:ext>
              </a:extLst>
            </p:cNvPr>
            <p:cNvSpPr>
              <a:spLocks/>
            </p:cNvSpPr>
            <p:nvPr/>
          </p:nvSpPr>
          <p:spPr bwMode="auto">
            <a:xfrm>
              <a:off x="5080000" y="5508625"/>
              <a:ext cx="130175" cy="733425"/>
            </a:xfrm>
            <a:custGeom>
              <a:avLst/>
              <a:gdLst>
                <a:gd name="T0" fmla="*/ 2147483647 w 145"/>
                <a:gd name="T1" fmla="*/ 2147483647 h 872"/>
                <a:gd name="T2" fmla="*/ 2147483647 w 145"/>
                <a:gd name="T3" fmla="*/ 2147483647 h 872"/>
                <a:gd name="T4" fmla="*/ 0 w 145"/>
                <a:gd name="T5" fmla="*/ 2147483647 h 872"/>
                <a:gd name="T6" fmla="*/ 0 w 145"/>
                <a:gd name="T7" fmla="*/ 0 h 8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872">
                  <a:moveTo>
                    <a:pt x="145" y="872"/>
                  </a:moveTo>
                  <a:lnTo>
                    <a:pt x="145" y="754"/>
                  </a:lnTo>
                  <a:lnTo>
                    <a:pt x="0" y="745"/>
                  </a:lnTo>
                  <a:lnTo>
                    <a:pt x="0"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10" name="Freeform 215">
              <a:extLst>
                <a:ext uri="{FF2B5EF4-FFF2-40B4-BE49-F238E27FC236}">
                  <a16:creationId xmlns:a16="http://schemas.microsoft.com/office/drawing/2014/main" id="{CD258510-7DF0-AA4C-9E1C-70CBCFC95F31}"/>
                </a:ext>
              </a:extLst>
            </p:cNvPr>
            <p:cNvSpPr>
              <a:spLocks/>
            </p:cNvSpPr>
            <p:nvPr/>
          </p:nvSpPr>
          <p:spPr bwMode="auto">
            <a:xfrm>
              <a:off x="2817813" y="5905500"/>
              <a:ext cx="12700" cy="396875"/>
            </a:xfrm>
            <a:custGeom>
              <a:avLst/>
              <a:gdLst>
                <a:gd name="T0" fmla="*/ 0 w 14"/>
                <a:gd name="T1" fmla="*/ 2147483647 h 472"/>
                <a:gd name="T2" fmla="*/ 0 w 14"/>
                <a:gd name="T3" fmla="*/ 0 h 472"/>
                <a:gd name="T4" fmla="*/ 2147483647 w 14"/>
                <a:gd name="T5" fmla="*/ 0 h 472"/>
                <a:gd name="T6" fmla="*/ 0 60000 65536"/>
                <a:gd name="T7" fmla="*/ 0 60000 65536"/>
                <a:gd name="T8" fmla="*/ 0 60000 65536"/>
              </a:gdLst>
              <a:ahLst/>
              <a:cxnLst>
                <a:cxn ang="T6">
                  <a:pos x="T0" y="T1"/>
                </a:cxn>
                <a:cxn ang="T7">
                  <a:pos x="T2" y="T3"/>
                </a:cxn>
                <a:cxn ang="T8">
                  <a:pos x="T4" y="T5"/>
                </a:cxn>
              </a:cxnLst>
              <a:rect l="0" t="0" r="r" b="b"/>
              <a:pathLst>
                <a:path w="14" h="472">
                  <a:moveTo>
                    <a:pt x="0" y="472"/>
                  </a:moveTo>
                  <a:lnTo>
                    <a:pt x="0" y="0"/>
                  </a:lnTo>
                  <a:lnTo>
                    <a:pt x="14"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11" name="Freeform 216">
              <a:extLst>
                <a:ext uri="{FF2B5EF4-FFF2-40B4-BE49-F238E27FC236}">
                  <a16:creationId xmlns:a16="http://schemas.microsoft.com/office/drawing/2014/main" id="{EC3244CA-3B34-4449-9354-A5F355773491}"/>
                </a:ext>
              </a:extLst>
            </p:cNvPr>
            <p:cNvSpPr>
              <a:spLocks/>
            </p:cNvSpPr>
            <p:nvPr/>
          </p:nvSpPr>
          <p:spPr bwMode="auto">
            <a:xfrm>
              <a:off x="2820988" y="5864225"/>
              <a:ext cx="127000" cy="80963"/>
            </a:xfrm>
            <a:custGeom>
              <a:avLst/>
              <a:gdLst>
                <a:gd name="T0" fmla="*/ 0 w 143"/>
                <a:gd name="T1" fmla="*/ 0 h 96"/>
                <a:gd name="T2" fmla="*/ 2147483647 w 143"/>
                <a:gd name="T3" fmla="*/ 2147483647 h 96"/>
                <a:gd name="T4" fmla="*/ 0 w 143"/>
                <a:gd name="T5" fmla="*/ 2147483647 h 96"/>
                <a:gd name="T6" fmla="*/ 0 w 143"/>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96">
                  <a:moveTo>
                    <a:pt x="0" y="0"/>
                  </a:moveTo>
                  <a:lnTo>
                    <a:pt x="143" y="48"/>
                  </a:lnTo>
                  <a:lnTo>
                    <a:pt x="0" y="96"/>
                  </a:lnTo>
                  <a:lnTo>
                    <a:pt x="0"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12" name="Freeform 217">
              <a:extLst>
                <a:ext uri="{FF2B5EF4-FFF2-40B4-BE49-F238E27FC236}">
                  <a16:creationId xmlns:a16="http://schemas.microsoft.com/office/drawing/2014/main" id="{B60FFE72-CBCB-8B4A-94F9-05BFA6A2E9BF}"/>
                </a:ext>
              </a:extLst>
            </p:cNvPr>
            <p:cNvSpPr>
              <a:spLocks/>
            </p:cNvSpPr>
            <p:nvPr/>
          </p:nvSpPr>
          <p:spPr bwMode="auto">
            <a:xfrm>
              <a:off x="4587875" y="5905500"/>
              <a:ext cx="98425" cy="396875"/>
            </a:xfrm>
            <a:custGeom>
              <a:avLst/>
              <a:gdLst>
                <a:gd name="T0" fmla="*/ 2147483647 w 109"/>
                <a:gd name="T1" fmla="*/ 2147483647 h 472"/>
                <a:gd name="T2" fmla="*/ 2147483647 w 109"/>
                <a:gd name="T3" fmla="*/ 0 h 472"/>
                <a:gd name="T4" fmla="*/ 0 w 109"/>
                <a:gd name="T5" fmla="*/ 0 h 472"/>
                <a:gd name="T6" fmla="*/ 0 60000 65536"/>
                <a:gd name="T7" fmla="*/ 0 60000 65536"/>
                <a:gd name="T8" fmla="*/ 0 60000 65536"/>
              </a:gdLst>
              <a:ahLst/>
              <a:cxnLst>
                <a:cxn ang="T6">
                  <a:pos x="T0" y="T1"/>
                </a:cxn>
                <a:cxn ang="T7">
                  <a:pos x="T2" y="T3"/>
                </a:cxn>
                <a:cxn ang="T8">
                  <a:pos x="T4" y="T5"/>
                </a:cxn>
              </a:cxnLst>
              <a:rect l="0" t="0" r="r" b="b"/>
              <a:pathLst>
                <a:path w="109" h="472">
                  <a:moveTo>
                    <a:pt x="109" y="472"/>
                  </a:moveTo>
                  <a:lnTo>
                    <a:pt x="109" y="0"/>
                  </a:lnTo>
                  <a:lnTo>
                    <a:pt x="0"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13" name="Freeform 218">
              <a:extLst>
                <a:ext uri="{FF2B5EF4-FFF2-40B4-BE49-F238E27FC236}">
                  <a16:creationId xmlns:a16="http://schemas.microsoft.com/office/drawing/2014/main" id="{0A5B96A6-DEFC-1D44-AE6D-F6907C16EF32}"/>
                </a:ext>
              </a:extLst>
            </p:cNvPr>
            <p:cNvSpPr>
              <a:spLocks/>
            </p:cNvSpPr>
            <p:nvPr/>
          </p:nvSpPr>
          <p:spPr bwMode="auto">
            <a:xfrm>
              <a:off x="4587875" y="5864225"/>
              <a:ext cx="130175" cy="80963"/>
            </a:xfrm>
            <a:custGeom>
              <a:avLst/>
              <a:gdLst>
                <a:gd name="T0" fmla="*/ 2147483647 w 143"/>
                <a:gd name="T1" fmla="*/ 2147483647 h 96"/>
                <a:gd name="T2" fmla="*/ 0 w 143"/>
                <a:gd name="T3" fmla="*/ 2147483647 h 96"/>
                <a:gd name="T4" fmla="*/ 2147483647 w 143"/>
                <a:gd name="T5" fmla="*/ 0 h 96"/>
                <a:gd name="T6" fmla="*/ 2147483647 w 143"/>
                <a:gd name="T7" fmla="*/ 2147483647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3" h="96">
                  <a:moveTo>
                    <a:pt x="143" y="96"/>
                  </a:moveTo>
                  <a:lnTo>
                    <a:pt x="0" y="48"/>
                  </a:lnTo>
                  <a:lnTo>
                    <a:pt x="143" y="0"/>
                  </a:lnTo>
                  <a:lnTo>
                    <a:pt x="143" y="9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14" name="Line 219">
              <a:extLst>
                <a:ext uri="{FF2B5EF4-FFF2-40B4-BE49-F238E27FC236}">
                  <a16:creationId xmlns:a16="http://schemas.microsoft.com/office/drawing/2014/main" id="{E5621A1C-BD18-664D-957C-9EF7C1A6FDD6}"/>
                </a:ext>
              </a:extLst>
            </p:cNvPr>
            <p:cNvSpPr>
              <a:spLocks noChangeShapeType="1"/>
            </p:cNvSpPr>
            <p:nvPr/>
          </p:nvSpPr>
          <p:spPr bwMode="auto">
            <a:xfrm>
              <a:off x="3195638" y="6302375"/>
              <a:ext cx="1587" cy="3063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15" name="Line 220">
              <a:extLst>
                <a:ext uri="{FF2B5EF4-FFF2-40B4-BE49-F238E27FC236}">
                  <a16:creationId xmlns:a16="http://schemas.microsoft.com/office/drawing/2014/main" id="{080DAD7C-B06B-E447-BD8C-273D440DA069}"/>
                </a:ext>
              </a:extLst>
            </p:cNvPr>
            <p:cNvSpPr>
              <a:spLocks noChangeShapeType="1"/>
            </p:cNvSpPr>
            <p:nvPr/>
          </p:nvSpPr>
          <p:spPr bwMode="auto">
            <a:xfrm>
              <a:off x="3032125" y="6302375"/>
              <a:ext cx="1588" cy="3063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16" name="Rectangle 226">
              <a:extLst>
                <a:ext uri="{FF2B5EF4-FFF2-40B4-BE49-F238E27FC236}">
                  <a16:creationId xmlns:a16="http://schemas.microsoft.com/office/drawing/2014/main" id="{36641ACE-2D9A-1E43-83F7-AD7B27BE1D66}"/>
                </a:ext>
              </a:extLst>
            </p:cNvPr>
            <p:cNvSpPr>
              <a:spLocks noChangeArrowheads="1"/>
            </p:cNvSpPr>
            <p:nvPr/>
          </p:nvSpPr>
          <p:spPr bwMode="auto">
            <a:xfrm>
              <a:off x="2519363" y="6772275"/>
              <a:ext cx="431600"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500" dirty="0">
                  <a:solidFill>
                    <a:srgbClr val="FF3300"/>
                  </a:solidFill>
                  <a:latin typeface="Times New Roman" pitchFamily="18" charset="0"/>
                  <a:ea typeface="SimHei" panose="02010609060101010101" pitchFamily="49" charset="-122"/>
                </a:rPr>
                <a:t>命中</a:t>
              </a:r>
              <a:endParaRPr lang="zh-CN" altLang="en-US" sz="2700" dirty="0">
                <a:solidFill>
                  <a:srgbClr val="FF3300"/>
                </a:solidFill>
                <a:latin typeface="Times New Roman" pitchFamily="18" charset="0"/>
                <a:ea typeface="SimHei" panose="02010609060101010101" pitchFamily="49" charset="-122"/>
              </a:endParaRPr>
            </a:p>
          </p:txBody>
        </p:sp>
        <p:sp>
          <p:nvSpPr>
            <p:cNvPr id="217" name="Rectangle 227">
              <a:extLst>
                <a:ext uri="{FF2B5EF4-FFF2-40B4-BE49-F238E27FC236}">
                  <a16:creationId xmlns:a16="http://schemas.microsoft.com/office/drawing/2014/main" id="{A68E0B3B-AA4E-B847-9E78-E33555F61CB7}"/>
                </a:ext>
              </a:extLst>
            </p:cNvPr>
            <p:cNvSpPr>
              <a:spLocks noChangeArrowheads="1"/>
            </p:cNvSpPr>
            <p:nvPr/>
          </p:nvSpPr>
          <p:spPr bwMode="auto">
            <a:xfrm>
              <a:off x="3588245" y="7046913"/>
              <a:ext cx="431600"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500" dirty="0">
                  <a:latin typeface="Times New Roman" pitchFamily="18" charset="0"/>
                  <a:ea typeface="SimHei" panose="02010609060101010101" pitchFamily="49" charset="-122"/>
                </a:rPr>
                <a:t>数据</a:t>
              </a:r>
              <a:endParaRPr lang="zh-CN" altLang="en-US" sz="2700" dirty="0">
                <a:latin typeface="Times New Roman" pitchFamily="18" charset="0"/>
                <a:ea typeface="SimHei" panose="02010609060101010101" pitchFamily="49" charset="-122"/>
              </a:endParaRPr>
            </a:p>
          </p:txBody>
        </p:sp>
        <p:sp>
          <p:nvSpPr>
            <p:cNvPr id="218" name="Rectangle 228">
              <a:extLst>
                <a:ext uri="{FF2B5EF4-FFF2-40B4-BE49-F238E27FC236}">
                  <a16:creationId xmlns:a16="http://schemas.microsoft.com/office/drawing/2014/main" id="{9183CE53-7425-A34B-844F-6B3A0FB4D947}"/>
                </a:ext>
              </a:extLst>
            </p:cNvPr>
            <p:cNvSpPr>
              <a:spLocks noChangeArrowheads="1"/>
            </p:cNvSpPr>
            <p:nvPr/>
          </p:nvSpPr>
          <p:spPr bwMode="auto">
            <a:xfrm>
              <a:off x="6881813" y="6677025"/>
              <a:ext cx="647399" cy="251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500" dirty="0">
                  <a:solidFill>
                    <a:srgbClr val="FF3300"/>
                  </a:solidFill>
                  <a:latin typeface="Times New Roman" pitchFamily="18" charset="0"/>
                  <a:ea typeface="SimHei" panose="02010609060101010101" pitchFamily="49" charset="-122"/>
                </a:rPr>
                <a:t>不命中</a:t>
              </a:r>
              <a:endParaRPr lang="zh-CN" altLang="en-US" sz="2700" dirty="0">
                <a:solidFill>
                  <a:srgbClr val="FF3300"/>
                </a:solidFill>
                <a:latin typeface="Times New Roman" pitchFamily="18" charset="0"/>
                <a:ea typeface="SimHei" panose="02010609060101010101" pitchFamily="49" charset="-122"/>
              </a:endParaRPr>
            </a:p>
          </p:txBody>
        </p:sp>
        <p:sp>
          <p:nvSpPr>
            <p:cNvPr id="219" name="Freeform 229">
              <a:extLst>
                <a:ext uri="{FF2B5EF4-FFF2-40B4-BE49-F238E27FC236}">
                  <a16:creationId xmlns:a16="http://schemas.microsoft.com/office/drawing/2014/main" id="{C9FB5D61-924B-4F47-ADDE-33230B85AB7E}"/>
                </a:ext>
              </a:extLst>
            </p:cNvPr>
            <p:cNvSpPr>
              <a:spLocks/>
            </p:cNvSpPr>
            <p:nvPr/>
          </p:nvSpPr>
          <p:spPr bwMode="auto">
            <a:xfrm>
              <a:off x="3835400" y="3006725"/>
              <a:ext cx="590550" cy="1535113"/>
            </a:xfrm>
            <a:custGeom>
              <a:avLst/>
              <a:gdLst>
                <a:gd name="T0" fmla="*/ 2147483647 w 654"/>
                <a:gd name="T1" fmla="*/ 0 h 1825"/>
                <a:gd name="T2" fmla="*/ 2147483647 w 654"/>
                <a:gd name="T3" fmla="*/ 2147483647 h 1825"/>
                <a:gd name="T4" fmla="*/ 0 w 654"/>
                <a:gd name="T5" fmla="*/ 2147483647 h 1825"/>
                <a:gd name="T6" fmla="*/ 0 w 654"/>
                <a:gd name="T7" fmla="*/ 2147483647 h 18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4" h="1825">
                  <a:moveTo>
                    <a:pt x="654" y="0"/>
                  </a:moveTo>
                  <a:lnTo>
                    <a:pt x="654" y="539"/>
                  </a:lnTo>
                  <a:lnTo>
                    <a:pt x="0" y="539"/>
                  </a:lnTo>
                  <a:lnTo>
                    <a:pt x="0" y="1825"/>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20" name="Freeform 230">
              <a:extLst>
                <a:ext uri="{FF2B5EF4-FFF2-40B4-BE49-F238E27FC236}">
                  <a16:creationId xmlns:a16="http://schemas.microsoft.com/office/drawing/2014/main" id="{14DCD9F3-0385-484E-9E52-2BD081D0A7A4}"/>
                </a:ext>
              </a:extLst>
            </p:cNvPr>
            <p:cNvSpPr>
              <a:spLocks/>
            </p:cNvSpPr>
            <p:nvPr/>
          </p:nvSpPr>
          <p:spPr bwMode="auto">
            <a:xfrm>
              <a:off x="3790950" y="4532313"/>
              <a:ext cx="87313" cy="119062"/>
            </a:xfrm>
            <a:custGeom>
              <a:avLst/>
              <a:gdLst>
                <a:gd name="T0" fmla="*/ 2147483647 w 95"/>
                <a:gd name="T1" fmla="*/ 0 h 143"/>
                <a:gd name="T2" fmla="*/ 2147483647 w 95"/>
                <a:gd name="T3" fmla="*/ 2147483647 h 143"/>
                <a:gd name="T4" fmla="*/ 0 w 95"/>
                <a:gd name="T5" fmla="*/ 0 h 143"/>
                <a:gd name="T6" fmla="*/ 2147483647 w 95"/>
                <a:gd name="T7" fmla="*/ 0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 h="143">
                  <a:moveTo>
                    <a:pt x="95" y="0"/>
                  </a:moveTo>
                  <a:lnTo>
                    <a:pt x="47" y="143"/>
                  </a:lnTo>
                  <a:lnTo>
                    <a:pt x="0" y="0"/>
                  </a:lnTo>
                  <a:lnTo>
                    <a:pt x="95"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25" name="Line 235">
              <a:extLst>
                <a:ext uri="{FF2B5EF4-FFF2-40B4-BE49-F238E27FC236}">
                  <a16:creationId xmlns:a16="http://schemas.microsoft.com/office/drawing/2014/main" id="{513653E9-0F70-9949-A959-B3E394FE0FAA}"/>
                </a:ext>
              </a:extLst>
            </p:cNvPr>
            <p:cNvSpPr>
              <a:spLocks noChangeShapeType="1"/>
            </p:cNvSpPr>
            <p:nvPr/>
          </p:nvSpPr>
          <p:spPr bwMode="auto">
            <a:xfrm>
              <a:off x="2817813" y="6302375"/>
              <a:ext cx="214312"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26" name="Line 236">
              <a:extLst>
                <a:ext uri="{FF2B5EF4-FFF2-40B4-BE49-F238E27FC236}">
                  <a16:creationId xmlns:a16="http://schemas.microsoft.com/office/drawing/2014/main" id="{27CDA6CD-CC2B-3A4F-800B-9947ED53AD61}"/>
                </a:ext>
              </a:extLst>
            </p:cNvPr>
            <p:cNvSpPr>
              <a:spLocks noChangeShapeType="1"/>
            </p:cNvSpPr>
            <p:nvPr/>
          </p:nvSpPr>
          <p:spPr bwMode="auto">
            <a:xfrm>
              <a:off x="3195638" y="6302375"/>
              <a:ext cx="1490662" cy="1588"/>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27" name="Rectangle 239">
              <a:extLst>
                <a:ext uri="{FF2B5EF4-FFF2-40B4-BE49-F238E27FC236}">
                  <a16:creationId xmlns:a16="http://schemas.microsoft.com/office/drawing/2014/main" id="{C033B166-DD55-1D44-A624-ED8447131832}"/>
                </a:ext>
              </a:extLst>
            </p:cNvPr>
            <p:cNvSpPr>
              <a:spLocks noChangeArrowheads="1"/>
            </p:cNvSpPr>
            <p:nvPr/>
          </p:nvSpPr>
          <p:spPr bwMode="auto">
            <a:xfrm>
              <a:off x="6421313" y="2277269"/>
              <a:ext cx="978293" cy="2854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defTabSz="1009650"/>
              <a:r>
                <a:rPr lang="zh-CN" altLang="en-US" sz="1700" dirty="0">
                  <a:latin typeface="Times New Roman" pitchFamily="18" charset="0"/>
                  <a:ea typeface="SimHei" panose="02010609060101010101" pitchFamily="49" charset="-122"/>
                </a:rPr>
                <a:t>主存地址</a:t>
              </a:r>
              <a:endParaRPr lang="zh-CN" altLang="en-US" sz="2700" dirty="0">
                <a:latin typeface="Times New Roman" pitchFamily="18" charset="0"/>
                <a:ea typeface="SimHei" panose="02010609060101010101" pitchFamily="49" charset="-122"/>
              </a:endParaRPr>
            </a:p>
          </p:txBody>
        </p:sp>
        <p:sp>
          <p:nvSpPr>
            <p:cNvPr id="228" name="Line 240">
              <a:extLst>
                <a:ext uri="{FF2B5EF4-FFF2-40B4-BE49-F238E27FC236}">
                  <a16:creationId xmlns:a16="http://schemas.microsoft.com/office/drawing/2014/main" id="{30F4AFEB-5056-CE43-A4B0-77C92E68AAB9}"/>
                </a:ext>
              </a:extLst>
            </p:cNvPr>
            <p:cNvSpPr>
              <a:spLocks noChangeShapeType="1"/>
            </p:cNvSpPr>
            <p:nvPr/>
          </p:nvSpPr>
          <p:spPr bwMode="auto">
            <a:xfrm>
              <a:off x="6792913" y="2532063"/>
              <a:ext cx="12700" cy="1778000"/>
            </a:xfrm>
            <a:prstGeom prst="line">
              <a:avLst/>
            </a:prstGeom>
            <a:noFill/>
            <a:ln w="23813">
              <a:solidFill>
                <a:srgbClr val="0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29" name="Line 241">
              <a:extLst>
                <a:ext uri="{FF2B5EF4-FFF2-40B4-BE49-F238E27FC236}">
                  <a16:creationId xmlns:a16="http://schemas.microsoft.com/office/drawing/2014/main" id="{8331EEB2-BEBD-2245-8E11-C64EA2C0C61D}"/>
                </a:ext>
              </a:extLst>
            </p:cNvPr>
            <p:cNvSpPr>
              <a:spLocks noChangeShapeType="1"/>
            </p:cNvSpPr>
            <p:nvPr/>
          </p:nvSpPr>
          <p:spPr bwMode="auto">
            <a:xfrm>
              <a:off x="6992938" y="4506913"/>
              <a:ext cx="474662" cy="1587"/>
            </a:xfrm>
            <a:prstGeom prst="line">
              <a:avLst/>
            </a:prstGeom>
            <a:noFill/>
            <a:ln w="28575">
              <a:solidFill>
                <a:schemeClr val="bg2"/>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30" name="Freeform 242">
              <a:extLst>
                <a:ext uri="{FF2B5EF4-FFF2-40B4-BE49-F238E27FC236}">
                  <a16:creationId xmlns:a16="http://schemas.microsoft.com/office/drawing/2014/main" id="{34623D72-5E04-934A-9909-7F101770C257}"/>
                </a:ext>
              </a:extLst>
            </p:cNvPr>
            <p:cNvSpPr>
              <a:spLocks/>
            </p:cNvSpPr>
            <p:nvPr/>
          </p:nvSpPr>
          <p:spPr bwMode="auto">
            <a:xfrm>
              <a:off x="3117850" y="4651375"/>
              <a:ext cx="3678238" cy="2165350"/>
            </a:xfrm>
            <a:custGeom>
              <a:avLst/>
              <a:gdLst>
                <a:gd name="T0" fmla="*/ 0 w 2009"/>
                <a:gd name="T1" fmla="*/ 2147483647 h 1515"/>
                <a:gd name="T2" fmla="*/ 2147483647 w 2009"/>
                <a:gd name="T3" fmla="*/ 2147483647 h 1515"/>
                <a:gd name="T4" fmla="*/ 2147483647 w 2009"/>
                <a:gd name="T5" fmla="*/ 0 h 1515"/>
                <a:gd name="T6" fmla="*/ 0 60000 65536"/>
                <a:gd name="T7" fmla="*/ 0 60000 65536"/>
                <a:gd name="T8" fmla="*/ 0 60000 65536"/>
              </a:gdLst>
              <a:ahLst/>
              <a:cxnLst>
                <a:cxn ang="T6">
                  <a:pos x="T0" y="T1"/>
                </a:cxn>
                <a:cxn ang="T7">
                  <a:pos x="T2" y="T3"/>
                </a:cxn>
                <a:cxn ang="T8">
                  <a:pos x="T4" y="T5"/>
                </a:cxn>
              </a:cxnLst>
              <a:rect l="0" t="0" r="r" b="b"/>
              <a:pathLst>
                <a:path w="2009" h="1515">
                  <a:moveTo>
                    <a:pt x="0" y="1515"/>
                  </a:moveTo>
                  <a:lnTo>
                    <a:pt x="2009" y="1515"/>
                  </a:lnTo>
                  <a:lnTo>
                    <a:pt x="2009" y="0"/>
                  </a:lnTo>
                </a:path>
              </a:pathLst>
            </a:custGeom>
            <a:noFill/>
            <a:ln w="25400" cmpd="sng">
              <a:solidFill>
                <a:srgbClr val="000000"/>
              </a:solidFill>
              <a:prstDash val="solid"/>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31" name="Freeform 243">
              <a:extLst>
                <a:ext uri="{FF2B5EF4-FFF2-40B4-BE49-F238E27FC236}">
                  <a16:creationId xmlns:a16="http://schemas.microsoft.com/office/drawing/2014/main" id="{76895DA5-4609-4647-A8CF-5179DBAA07ED}"/>
                </a:ext>
              </a:extLst>
            </p:cNvPr>
            <p:cNvSpPr>
              <a:spLocks/>
            </p:cNvSpPr>
            <p:nvPr/>
          </p:nvSpPr>
          <p:spPr bwMode="auto">
            <a:xfrm>
              <a:off x="6645275" y="4349750"/>
              <a:ext cx="336550" cy="312738"/>
            </a:xfrm>
            <a:custGeom>
              <a:avLst/>
              <a:gdLst>
                <a:gd name="T0" fmla="*/ 2147483647 w 372"/>
                <a:gd name="T1" fmla="*/ 2147483647 h 372"/>
                <a:gd name="T2" fmla="*/ 2147483647 w 372"/>
                <a:gd name="T3" fmla="*/ 2147483647 h 372"/>
                <a:gd name="T4" fmla="*/ 2147483647 w 372"/>
                <a:gd name="T5" fmla="*/ 2147483647 h 372"/>
                <a:gd name="T6" fmla="*/ 2147483647 w 372"/>
                <a:gd name="T7" fmla="*/ 2147483647 h 372"/>
                <a:gd name="T8" fmla="*/ 2147483647 w 372"/>
                <a:gd name="T9" fmla="*/ 2147483647 h 372"/>
                <a:gd name="T10" fmla="*/ 2147483647 w 372"/>
                <a:gd name="T11" fmla="*/ 2147483647 h 372"/>
                <a:gd name="T12" fmla="*/ 2147483647 w 372"/>
                <a:gd name="T13" fmla="*/ 2147483647 h 372"/>
                <a:gd name="T14" fmla="*/ 2147483647 w 372"/>
                <a:gd name="T15" fmla="*/ 2147483647 h 372"/>
                <a:gd name="T16" fmla="*/ 2147483647 w 372"/>
                <a:gd name="T17" fmla="*/ 2147483647 h 372"/>
                <a:gd name="T18" fmla="*/ 2147483647 w 372"/>
                <a:gd name="T19" fmla="*/ 2147483647 h 372"/>
                <a:gd name="T20" fmla="*/ 2147483647 w 372"/>
                <a:gd name="T21" fmla="*/ 0 h 372"/>
                <a:gd name="T22" fmla="*/ 2147483647 w 372"/>
                <a:gd name="T23" fmla="*/ 2147483647 h 372"/>
                <a:gd name="T24" fmla="*/ 2147483647 w 372"/>
                <a:gd name="T25" fmla="*/ 2147483647 h 372"/>
                <a:gd name="T26" fmla="*/ 2147483647 w 372"/>
                <a:gd name="T27" fmla="*/ 2147483647 h 372"/>
                <a:gd name="T28" fmla="*/ 2147483647 w 372"/>
                <a:gd name="T29" fmla="*/ 2147483647 h 372"/>
                <a:gd name="T30" fmla="*/ 2147483647 w 372"/>
                <a:gd name="T31" fmla="*/ 2147483647 h 372"/>
                <a:gd name="T32" fmla="*/ 2147483647 w 372"/>
                <a:gd name="T33" fmla="*/ 2147483647 h 372"/>
                <a:gd name="T34" fmla="*/ 2147483647 w 372"/>
                <a:gd name="T35" fmla="*/ 2147483647 h 372"/>
                <a:gd name="T36" fmla="*/ 2147483647 w 372"/>
                <a:gd name="T37" fmla="*/ 2147483647 h 372"/>
                <a:gd name="T38" fmla="*/ 2147483647 w 372"/>
                <a:gd name="T39" fmla="*/ 2147483647 h 372"/>
                <a:gd name="T40" fmla="*/ 2147483647 w 372"/>
                <a:gd name="T41" fmla="*/ 2147483647 h 372"/>
                <a:gd name="T42" fmla="*/ 0 w 372"/>
                <a:gd name="T43" fmla="*/ 2147483647 h 372"/>
                <a:gd name="T44" fmla="*/ 2147483647 w 372"/>
                <a:gd name="T45" fmla="*/ 2147483647 h 372"/>
                <a:gd name="T46" fmla="*/ 2147483647 w 372"/>
                <a:gd name="T47" fmla="*/ 2147483647 h 372"/>
                <a:gd name="T48" fmla="*/ 2147483647 w 372"/>
                <a:gd name="T49" fmla="*/ 2147483647 h 372"/>
                <a:gd name="T50" fmla="*/ 2147483647 w 372"/>
                <a:gd name="T51" fmla="*/ 2147483647 h 372"/>
                <a:gd name="T52" fmla="*/ 2147483647 w 372"/>
                <a:gd name="T53" fmla="*/ 2147483647 h 372"/>
                <a:gd name="T54" fmla="*/ 2147483647 w 372"/>
                <a:gd name="T55" fmla="*/ 2147483647 h 372"/>
                <a:gd name="T56" fmla="*/ 2147483647 w 372"/>
                <a:gd name="T57" fmla="*/ 2147483647 h 372"/>
                <a:gd name="T58" fmla="*/ 2147483647 w 372"/>
                <a:gd name="T59" fmla="*/ 2147483647 h 372"/>
                <a:gd name="T60" fmla="*/ 2147483647 w 372"/>
                <a:gd name="T61" fmla="*/ 2147483647 h 372"/>
                <a:gd name="T62" fmla="*/ 2147483647 w 372"/>
                <a:gd name="T63" fmla="*/ 2147483647 h 372"/>
                <a:gd name="T64" fmla="*/ 2147483647 w 372"/>
                <a:gd name="T65" fmla="*/ 2147483647 h 372"/>
                <a:gd name="T66" fmla="*/ 2147483647 w 372"/>
                <a:gd name="T67" fmla="*/ 2147483647 h 372"/>
                <a:gd name="T68" fmla="*/ 2147483647 w 372"/>
                <a:gd name="T69" fmla="*/ 2147483647 h 372"/>
                <a:gd name="T70" fmla="*/ 2147483647 w 372"/>
                <a:gd name="T71" fmla="*/ 2147483647 h 372"/>
                <a:gd name="T72" fmla="*/ 2147483647 w 372"/>
                <a:gd name="T73" fmla="*/ 2147483647 h 372"/>
                <a:gd name="T74" fmla="*/ 2147483647 w 372"/>
                <a:gd name="T75" fmla="*/ 2147483647 h 372"/>
                <a:gd name="T76" fmla="*/ 2147483647 w 372"/>
                <a:gd name="T77" fmla="*/ 2147483647 h 372"/>
                <a:gd name="T78" fmla="*/ 2147483647 w 372"/>
                <a:gd name="T79" fmla="*/ 2147483647 h 372"/>
                <a:gd name="T80" fmla="*/ 2147483647 w 372"/>
                <a:gd name="T81" fmla="*/ 2147483647 h 372"/>
                <a:gd name="T82" fmla="*/ 2147483647 w 372"/>
                <a:gd name="T83" fmla="*/ 2147483647 h 372"/>
                <a:gd name="T84" fmla="*/ 2147483647 w 372"/>
                <a:gd name="T85" fmla="*/ 2147483647 h 37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72" h="372">
                  <a:moveTo>
                    <a:pt x="372" y="186"/>
                  </a:moveTo>
                  <a:lnTo>
                    <a:pt x="372" y="177"/>
                  </a:lnTo>
                  <a:lnTo>
                    <a:pt x="371" y="166"/>
                  </a:lnTo>
                  <a:lnTo>
                    <a:pt x="370" y="157"/>
                  </a:lnTo>
                  <a:lnTo>
                    <a:pt x="368" y="148"/>
                  </a:lnTo>
                  <a:lnTo>
                    <a:pt x="366" y="140"/>
                  </a:lnTo>
                  <a:lnTo>
                    <a:pt x="364" y="130"/>
                  </a:lnTo>
                  <a:lnTo>
                    <a:pt x="360" y="122"/>
                  </a:lnTo>
                  <a:lnTo>
                    <a:pt x="357" y="113"/>
                  </a:lnTo>
                  <a:lnTo>
                    <a:pt x="353" y="105"/>
                  </a:lnTo>
                  <a:lnTo>
                    <a:pt x="350" y="97"/>
                  </a:lnTo>
                  <a:lnTo>
                    <a:pt x="345" y="90"/>
                  </a:lnTo>
                  <a:lnTo>
                    <a:pt x="341" y="81"/>
                  </a:lnTo>
                  <a:lnTo>
                    <a:pt x="335" y="74"/>
                  </a:lnTo>
                  <a:lnTo>
                    <a:pt x="329" y="68"/>
                  </a:lnTo>
                  <a:lnTo>
                    <a:pt x="323" y="61"/>
                  </a:lnTo>
                  <a:lnTo>
                    <a:pt x="317" y="55"/>
                  </a:lnTo>
                  <a:lnTo>
                    <a:pt x="311" y="48"/>
                  </a:lnTo>
                  <a:lnTo>
                    <a:pt x="304" y="42"/>
                  </a:lnTo>
                  <a:lnTo>
                    <a:pt x="298" y="37"/>
                  </a:lnTo>
                  <a:lnTo>
                    <a:pt x="289" y="31"/>
                  </a:lnTo>
                  <a:lnTo>
                    <a:pt x="282" y="27"/>
                  </a:lnTo>
                  <a:lnTo>
                    <a:pt x="274" y="22"/>
                  </a:lnTo>
                  <a:lnTo>
                    <a:pt x="266" y="19"/>
                  </a:lnTo>
                  <a:lnTo>
                    <a:pt x="258" y="14"/>
                  </a:lnTo>
                  <a:lnTo>
                    <a:pt x="250" y="11"/>
                  </a:lnTo>
                  <a:lnTo>
                    <a:pt x="242" y="8"/>
                  </a:lnTo>
                  <a:lnTo>
                    <a:pt x="232" y="6"/>
                  </a:lnTo>
                  <a:lnTo>
                    <a:pt x="223" y="4"/>
                  </a:lnTo>
                  <a:lnTo>
                    <a:pt x="214" y="2"/>
                  </a:lnTo>
                  <a:lnTo>
                    <a:pt x="204" y="1"/>
                  </a:lnTo>
                  <a:lnTo>
                    <a:pt x="195" y="0"/>
                  </a:lnTo>
                  <a:lnTo>
                    <a:pt x="186" y="0"/>
                  </a:lnTo>
                  <a:lnTo>
                    <a:pt x="177" y="0"/>
                  </a:lnTo>
                  <a:lnTo>
                    <a:pt x="167" y="1"/>
                  </a:lnTo>
                  <a:lnTo>
                    <a:pt x="158" y="2"/>
                  </a:lnTo>
                  <a:lnTo>
                    <a:pt x="149" y="4"/>
                  </a:lnTo>
                  <a:lnTo>
                    <a:pt x="139" y="6"/>
                  </a:lnTo>
                  <a:lnTo>
                    <a:pt x="130" y="8"/>
                  </a:lnTo>
                  <a:lnTo>
                    <a:pt x="122" y="11"/>
                  </a:lnTo>
                  <a:lnTo>
                    <a:pt x="114" y="14"/>
                  </a:lnTo>
                  <a:lnTo>
                    <a:pt x="106" y="19"/>
                  </a:lnTo>
                  <a:lnTo>
                    <a:pt x="98" y="22"/>
                  </a:lnTo>
                  <a:lnTo>
                    <a:pt x="89" y="27"/>
                  </a:lnTo>
                  <a:lnTo>
                    <a:pt x="82" y="31"/>
                  </a:lnTo>
                  <a:lnTo>
                    <a:pt x="74" y="37"/>
                  </a:lnTo>
                  <a:lnTo>
                    <a:pt x="67" y="42"/>
                  </a:lnTo>
                  <a:lnTo>
                    <a:pt x="60" y="48"/>
                  </a:lnTo>
                  <a:lnTo>
                    <a:pt x="54" y="55"/>
                  </a:lnTo>
                  <a:lnTo>
                    <a:pt x="49" y="61"/>
                  </a:lnTo>
                  <a:lnTo>
                    <a:pt x="43" y="68"/>
                  </a:lnTo>
                  <a:lnTo>
                    <a:pt x="37" y="74"/>
                  </a:lnTo>
                  <a:lnTo>
                    <a:pt x="31" y="81"/>
                  </a:lnTo>
                  <a:lnTo>
                    <a:pt x="27" y="90"/>
                  </a:lnTo>
                  <a:lnTo>
                    <a:pt x="22" y="97"/>
                  </a:lnTo>
                  <a:lnTo>
                    <a:pt x="18" y="105"/>
                  </a:lnTo>
                  <a:lnTo>
                    <a:pt x="15" y="113"/>
                  </a:lnTo>
                  <a:lnTo>
                    <a:pt x="11" y="122"/>
                  </a:lnTo>
                  <a:lnTo>
                    <a:pt x="8" y="130"/>
                  </a:lnTo>
                  <a:lnTo>
                    <a:pt x="6" y="140"/>
                  </a:lnTo>
                  <a:lnTo>
                    <a:pt x="3" y="148"/>
                  </a:lnTo>
                  <a:lnTo>
                    <a:pt x="2" y="157"/>
                  </a:lnTo>
                  <a:lnTo>
                    <a:pt x="1" y="166"/>
                  </a:lnTo>
                  <a:lnTo>
                    <a:pt x="0" y="177"/>
                  </a:lnTo>
                  <a:lnTo>
                    <a:pt x="0" y="186"/>
                  </a:lnTo>
                  <a:lnTo>
                    <a:pt x="0" y="195"/>
                  </a:lnTo>
                  <a:lnTo>
                    <a:pt x="1" y="205"/>
                  </a:lnTo>
                  <a:lnTo>
                    <a:pt x="2" y="214"/>
                  </a:lnTo>
                  <a:lnTo>
                    <a:pt x="3" y="223"/>
                  </a:lnTo>
                  <a:lnTo>
                    <a:pt x="6" y="233"/>
                  </a:lnTo>
                  <a:lnTo>
                    <a:pt x="8" y="241"/>
                  </a:lnTo>
                  <a:lnTo>
                    <a:pt x="11" y="250"/>
                  </a:lnTo>
                  <a:lnTo>
                    <a:pt x="15" y="258"/>
                  </a:lnTo>
                  <a:lnTo>
                    <a:pt x="18" y="266"/>
                  </a:lnTo>
                  <a:lnTo>
                    <a:pt x="22" y="274"/>
                  </a:lnTo>
                  <a:lnTo>
                    <a:pt x="27" y="283"/>
                  </a:lnTo>
                  <a:lnTo>
                    <a:pt x="31" y="290"/>
                  </a:lnTo>
                  <a:lnTo>
                    <a:pt x="37" y="297"/>
                  </a:lnTo>
                  <a:lnTo>
                    <a:pt x="43" y="304"/>
                  </a:lnTo>
                  <a:lnTo>
                    <a:pt x="49" y="310"/>
                  </a:lnTo>
                  <a:lnTo>
                    <a:pt x="54" y="317"/>
                  </a:lnTo>
                  <a:lnTo>
                    <a:pt x="60" y="323"/>
                  </a:lnTo>
                  <a:lnTo>
                    <a:pt x="67" y="329"/>
                  </a:lnTo>
                  <a:lnTo>
                    <a:pt x="74" y="335"/>
                  </a:lnTo>
                  <a:lnTo>
                    <a:pt x="82" y="340"/>
                  </a:lnTo>
                  <a:lnTo>
                    <a:pt x="89" y="345"/>
                  </a:lnTo>
                  <a:lnTo>
                    <a:pt x="98" y="349"/>
                  </a:lnTo>
                  <a:lnTo>
                    <a:pt x="106" y="353"/>
                  </a:lnTo>
                  <a:lnTo>
                    <a:pt x="114" y="357"/>
                  </a:lnTo>
                  <a:lnTo>
                    <a:pt x="122" y="360"/>
                  </a:lnTo>
                  <a:lnTo>
                    <a:pt x="130" y="364"/>
                  </a:lnTo>
                  <a:lnTo>
                    <a:pt x="139" y="366"/>
                  </a:lnTo>
                  <a:lnTo>
                    <a:pt x="149" y="369"/>
                  </a:lnTo>
                  <a:lnTo>
                    <a:pt x="158" y="370"/>
                  </a:lnTo>
                  <a:lnTo>
                    <a:pt x="167" y="371"/>
                  </a:lnTo>
                  <a:lnTo>
                    <a:pt x="177" y="372"/>
                  </a:lnTo>
                  <a:lnTo>
                    <a:pt x="186" y="372"/>
                  </a:lnTo>
                  <a:lnTo>
                    <a:pt x="195" y="372"/>
                  </a:lnTo>
                  <a:lnTo>
                    <a:pt x="204" y="371"/>
                  </a:lnTo>
                  <a:lnTo>
                    <a:pt x="214" y="370"/>
                  </a:lnTo>
                  <a:lnTo>
                    <a:pt x="223" y="369"/>
                  </a:lnTo>
                  <a:lnTo>
                    <a:pt x="232" y="366"/>
                  </a:lnTo>
                  <a:lnTo>
                    <a:pt x="242" y="364"/>
                  </a:lnTo>
                  <a:lnTo>
                    <a:pt x="250" y="360"/>
                  </a:lnTo>
                  <a:lnTo>
                    <a:pt x="258" y="357"/>
                  </a:lnTo>
                  <a:lnTo>
                    <a:pt x="266" y="353"/>
                  </a:lnTo>
                  <a:lnTo>
                    <a:pt x="274" y="349"/>
                  </a:lnTo>
                  <a:lnTo>
                    <a:pt x="282" y="345"/>
                  </a:lnTo>
                  <a:lnTo>
                    <a:pt x="289" y="340"/>
                  </a:lnTo>
                  <a:lnTo>
                    <a:pt x="298" y="335"/>
                  </a:lnTo>
                  <a:lnTo>
                    <a:pt x="304" y="329"/>
                  </a:lnTo>
                  <a:lnTo>
                    <a:pt x="311" y="323"/>
                  </a:lnTo>
                  <a:lnTo>
                    <a:pt x="317" y="317"/>
                  </a:lnTo>
                  <a:lnTo>
                    <a:pt x="323" y="310"/>
                  </a:lnTo>
                  <a:lnTo>
                    <a:pt x="329" y="304"/>
                  </a:lnTo>
                  <a:lnTo>
                    <a:pt x="335" y="297"/>
                  </a:lnTo>
                  <a:lnTo>
                    <a:pt x="341" y="290"/>
                  </a:lnTo>
                  <a:lnTo>
                    <a:pt x="345" y="283"/>
                  </a:lnTo>
                  <a:lnTo>
                    <a:pt x="350" y="274"/>
                  </a:lnTo>
                  <a:lnTo>
                    <a:pt x="353" y="266"/>
                  </a:lnTo>
                  <a:lnTo>
                    <a:pt x="357" y="258"/>
                  </a:lnTo>
                  <a:lnTo>
                    <a:pt x="360" y="250"/>
                  </a:lnTo>
                  <a:lnTo>
                    <a:pt x="364" y="241"/>
                  </a:lnTo>
                  <a:lnTo>
                    <a:pt x="366" y="233"/>
                  </a:lnTo>
                  <a:lnTo>
                    <a:pt x="368" y="223"/>
                  </a:lnTo>
                  <a:lnTo>
                    <a:pt x="370" y="214"/>
                  </a:lnTo>
                  <a:lnTo>
                    <a:pt x="371" y="205"/>
                  </a:lnTo>
                  <a:lnTo>
                    <a:pt x="372" y="195"/>
                  </a:lnTo>
                  <a:lnTo>
                    <a:pt x="372" y="186"/>
                  </a:lnTo>
                  <a:close/>
                </a:path>
              </a:pathLst>
            </a:custGeom>
            <a:solidFill>
              <a:srgbClr val="FF00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sp>
          <p:nvSpPr>
            <p:cNvPr id="232" name="Freeform 244">
              <a:extLst>
                <a:ext uri="{FF2B5EF4-FFF2-40B4-BE49-F238E27FC236}">
                  <a16:creationId xmlns:a16="http://schemas.microsoft.com/office/drawing/2014/main" id="{D9A462F7-A58C-9744-81FE-C7AD7B0B3332}"/>
                </a:ext>
              </a:extLst>
            </p:cNvPr>
            <p:cNvSpPr>
              <a:spLocks/>
            </p:cNvSpPr>
            <p:nvPr/>
          </p:nvSpPr>
          <p:spPr bwMode="auto">
            <a:xfrm>
              <a:off x="6645275" y="4349750"/>
              <a:ext cx="336550" cy="312738"/>
            </a:xfrm>
            <a:custGeom>
              <a:avLst/>
              <a:gdLst>
                <a:gd name="T0" fmla="*/ 2147483647 w 372"/>
                <a:gd name="T1" fmla="*/ 2147483647 h 372"/>
                <a:gd name="T2" fmla="*/ 2147483647 w 372"/>
                <a:gd name="T3" fmla="*/ 2147483647 h 372"/>
                <a:gd name="T4" fmla="*/ 2147483647 w 372"/>
                <a:gd name="T5" fmla="*/ 2147483647 h 372"/>
                <a:gd name="T6" fmla="*/ 2147483647 w 372"/>
                <a:gd name="T7" fmla="*/ 2147483647 h 372"/>
                <a:gd name="T8" fmla="*/ 2147483647 w 372"/>
                <a:gd name="T9" fmla="*/ 2147483647 h 372"/>
                <a:gd name="T10" fmla="*/ 2147483647 w 372"/>
                <a:gd name="T11" fmla="*/ 2147483647 h 372"/>
                <a:gd name="T12" fmla="*/ 2147483647 w 372"/>
                <a:gd name="T13" fmla="*/ 2147483647 h 372"/>
                <a:gd name="T14" fmla="*/ 2147483647 w 372"/>
                <a:gd name="T15" fmla="*/ 2147483647 h 372"/>
                <a:gd name="T16" fmla="*/ 2147483647 w 372"/>
                <a:gd name="T17" fmla="*/ 2147483647 h 372"/>
                <a:gd name="T18" fmla="*/ 2147483647 w 372"/>
                <a:gd name="T19" fmla="*/ 2147483647 h 372"/>
                <a:gd name="T20" fmla="*/ 2147483647 w 372"/>
                <a:gd name="T21" fmla="*/ 0 h 372"/>
                <a:gd name="T22" fmla="*/ 2147483647 w 372"/>
                <a:gd name="T23" fmla="*/ 2147483647 h 372"/>
                <a:gd name="T24" fmla="*/ 2147483647 w 372"/>
                <a:gd name="T25" fmla="*/ 2147483647 h 372"/>
                <a:gd name="T26" fmla="*/ 2147483647 w 372"/>
                <a:gd name="T27" fmla="*/ 2147483647 h 372"/>
                <a:gd name="T28" fmla="*/ 2147483647 w 372"/>
                <a:gd name="T29" fmla="*/ 2147483647 h 372"/>
                <a:gd name="T30" fmla="*/ 2147483647 w 372"/>
                <a:gd name="T31" fmla="*/ 2147483647 h 372"/>
                <a:gd name="T32" fmla="*/ 2147483647 w 372"/>
                <a:gd name="T33" fmla="*/ 2147483647 h 372"/>
                <a:gd name="T34" fmla="*/ 2147483647 w 372"/>
                <a:gd name="T35" fmla="*/ 2147483647 h 372"/>
                <a:gd name="T36" fmla="*/ 2147483647 w 372"/>
                <a:gd name="T37" fmla="*/ 2147483647 h 372"/>
                <a:gd name="T38" fmla="*/ 2147483647 w 372"/>
                <a:gd name="T39" fmla="*/ 2147483647 h 372"/>
                <a:gd name="T40" fmla="*/ 2147483647 w 372"/>
                <a:gd name="T41" fmla="*/ 2147483647 h 372"/>
                <a:gd name="T42" fmla="*/ 0 w 372"/>
                <a:gd name="T43" fmla="*/ 2147483647 h 372"/>
                <a:gd name="T44" fmla="*/ 2147483647 w 372"/>
                <a:gd name="T45" fmla="*/ 2147483647 h 372"/>
                <a:gd name="T46" fmla="*/ 2147483647 w 372"/>
                <a:gd name="T47" fmla="*/ 2147483647 h 372"/>
                <a:gd name="T48" fmla="*/ 2147483647 w 372"/>
                <a:gd name="T49" fmla="*/ 2147483647 h 372"/>
                <a:gd name="T50" fmla="*/ 2147483647 w 372"/>
                <a:gd name="T51" fmla="*/ 2147483647 h 372"/>
                <a:gd name="T52" fmla="*/ 2147483647 w 372"/>
                <a:gd name="T53" fmla="*/ 2147483647 h 372"/>
                <a:gd name="T54" fmla="*/ 2147483647 w 372"/>
                <a:gd name="T55" fmla="*/ 2147483647 h 372"/>
                <a:gd name="T56" fmla="*/ 2147483647 w 372"/>
                <a:gd name="T57" fmla="*/ 2147483647 h 372"/>
                <a:gd name="T58" fmla="*/ 2147483647 w 372"/>
                <a:gd name="T59" fmla="*/ 2147483647 h 372"/>
                <a:gd name="T60" fmla="*/ 2147483647 w 372"/>
                <a:gd name="T61" fmla="*/ 2147483647 h 372"/>
                <a:gd name="T62" fmla="*/ 2147483647 w 372"/>
                <a:gd name="T63" fmla="*/ 2147483647 h 372"/>
                <a:gd name="T64" fmla="*/ 2147483647 w 372"/>
                <a:gd name="T65" fmla="*/ 2147483647 h 372"/>
                <a:gd name="T66" fmla="*/ 2147483647 w 372"/>
                <a:gd name="T67" fmla="*/ 2147483647 h 372"/>
                <a:gd name="T68" fmla="*/ 2147483647 w 372"/>
                <a:gd name="T69" fmla="*/ 2147483647 h 372"/>
                <a:gd name="T70" fmla="*/ 2147483647 w 372"/>
                <a:gd name="T71" fmla="*/ 2147483647 h 372"/>
                <a:gd name="T72" fmla="*/ 2147483647 w 372"/>
                <a:gd name="T73" fmla="*/ 2147483647 h 372"/>
                <a:gd name="T74" fmla="*/ 2147483647 w 372"/>
                <a:gd name="T75" fmla="*/ 2147483647 h 372"/>
                <a:gd name="T76" fmla="*/ 2147483647 w 372"/>
                <a:gd name="T77" fmla="*/ 2147483647 h 372"/>
                <a:gd name="T78" fmla="*/ 2147483647 w 372"/>
                <a:gd name="T79" fmla="*/ 2147483647 h 372"/>
                <a:gd name="T80" fmla="*/ 2147483647 w 372"/>
                <a:gd name="T81" fmla="*/ 2147483647 h 372"/>
                <a:gd name="T82" fmla="*/ 2147483647 w 372"/>
                <a:gd name="T83" fmla="*/ 2147483647 h 372"/>
                <a:gd name="T84" fmla="*/ 2147483647 w 372"/>
                <a:gd name="T85" fmla="*/ 2147483647 h 37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72" h="372">
                  <a:moveTo>
                    <a:pt x="372" y="186"/>
                  </a:moveTo>
                  <a:lnTo>
                    <a:pt x="372" y="177"/>
                  </a:lnTo>
                  <a:lnTo>
                    <a:pt x="371" y="166"/>
                  </a:lnTo>
                  <a:lnTo>
                    <a:pt x="370" y="157"/>
                  </a:lnTo>
                  <a:lnTo>
                    <a:pt x="368" y="148"/>
                  </a:lnTo>
                  <a:lnTo>
                    <a:pt x="366" y="140"/>
                  </a:lnTo>
                  <a:lnTo>
                    <a:pt x="364" y="130"/>
                  </a:lnTo>
                  <a:lnTo>
                    <a:pt x="360" y="122"/>
                  </a:lnTo>
                  <a:lnTo>
                    <a:pt x="357" y="113"/>
                  </a:lnTo>
                  <a:lnTo>
                    <a:pt x="353" y="105"/>
                  </a:lnTo>
                  <a:lnTo>
                    <a:pt x="350" y="97"/>
                  </a:lnTo>
                  <a:lnTo>
                    <a:pt x="345" y="90"/>
                  </a:lnTo>
                  <a:lnTo>
                    <a:pt x="341" y="81"/>
                  </a:lnTo>
                  <a:lnTo>
                    <a:pt x="335" y="74"/>
                  </a:lnTo>
                  <a:lnTo>
                    <a:pt x="329" y="68"/>
                  </a:lnTo>
                  <a:lnTo>
                    <a:pt x="323" y="61"/>
                  </a:lnTo>
                  <a:lnTo>
                    <a:pt x="317" y="55"/>
                  </a:lnTo>
                  <a:lnTo>
                    <a:pt x="311" y="48"/>
                  </a:lnTo>
                  <a:lnTo>
                    <a:pt x="304" y="42"/>
                  </a:lnTo>
                  <a:lnTo>
                    <a:pt x="298" y="37"/>
                  </a:lnTo>
                  <a:lnTo>
                    <a:pt x="289" y="31"/>
                  </a:lnTo>
                  <a:lnTo>
                    <a:pt x="282" y="27"/>
                  </a:lnTo>
                  <a:lnTo>
                    <a:pt x="274" y="22"/>
                  </a:lnTo>
                  <a:lnTo>
                    <a:pt x="266" y="19"/>
                  </a:lnTo>
                  <a:lnTo>
                    <a:pt x="258" y="14"/>
                  </a:lnTo>
                  <a:lnTo>
                    <a:pt x="250" y="11"/>
                  </a:lnTo>
                  <a:lnTo>
                    <a:pt x="242" y="8"/>
                  </a:lnTo>
                  <a:lnTo>
                    <a:pt x="232" y="6"/>
                  </a:lnTo>
                  <a:lnTo>
                    <a:pt x="223" y="4"/>
                  </a:lnTo>
                  <a:lnTo>
                    <a:pt x="214" y="2"/>
                  </a:lnTo>
                  <a:lnTo>
                    <a:pt x="204" y="1"/>
                  </a:lnTo>
                  <a:lnTo>
                    <a:pt x="195" y="0"/>
                  </a:lnTo>
                  <a:lnTo>
                    <a:pt x="186" y="0"/>
                  </a:lnTo>
                  <a:lnTo>
                    <a:pt x="177" y="0"/>
                  </a:lnTo>
                  <a:lnTo>
                    <a:pt x="167" y="1"/>
                  </a:lnTo>
                  <a:lnTo>
                    <a:pt x="158" y="2"/>
                  </a:lnTo>
                  <a:lnTo>
                    <a:pt x="149" y="4"/>
                  </a:lnTo>
                  <a:lnTo>
                    <a:pt x="139" y="6"/>
                  </a:lnTo>
                  <a:lnTo>
                    <a:pt x="130" y="8"/>
                  </a:lnTo>
                  <a:lnTo>
                    <a:pt x="122" y="11"/>
                  </a:lnTo>
                  <a:lnTo>
                    <a:pt x="114" y="14"/>
                  </a:lnTo>
                  <a:lnTo>
                    <a:pt x="106" y="19"/>
                  </a:lnTo>
                  <a:lnTo>
                    <a:pt x="98" y="22"/>
                  </a:lnTo>
                  <a:lnTo>
                    <a:pt x="89" y="27"/>
                  </a:lnTo>
                  <a:lnTo>
                    <a:pt x="82" y="31"/>
                  </a:lnTo>
                  <a:lnTo>
                    <a:pt x="74" y="37"/>
                  </a:lnTo>
                  <a:lnTo>
                    <a:pt x="67" y="42"/>
                  </a:lnTo>
                  <a:lnTo>
                    <a:pt x="60" y="48"/>
                  </a:lnTo>
                  <a:lnTo>
                    <a:pt x="54" y="55"/>
                  </a:lnTo>
                  <a:lnTo>
                    <a:pt x="49" y="61"/>
                  </a:lnTo>
                  <a:lnTo>
                    <a:pt x="43" y="68"/>
                  </a:lnTo>
                  <a:lnTo>
                    <a:pt x="37" y="74"/>
                  </a:lnTo>
                  <a:lnTo>
                    <a:pt x="31" y="81"/>
                  </a:lnTo>
                  <a:lnTo>
                    <a:pt x="27" y="90"/>
                  </a:lnTo>
                  <a:lnTo>
                    <a:pt x="22" y="97"/>
                  </a:lnTo>
                  <a:lnTo>
                    <a:pt x="18" y="105"/>
                  </a:lnTo>
                  <a:lnTo>
                    <a:pt x="15" y="113"/>
                  </a:lnTo>
                  <a:lnTo>
                    <a:pt x="11" y="122"/>
                  </a:lnTo>
                  <a:lnTo>
                    <a:pt x="8" y="130"/>
                  </a:lnTo>
                  <a:lnTo>
                    <a:pt x="6" y="140"/>
                  </a:lnTo>
                  <a:lnTo>
                    <a:pt x="3" y="148"/>
                  </a:lnTo>
                  <a:lnTo>
                    <a:pt x="2" y="157"/>
                  </a:lnTo>
                  <a:lnTo>
                    <a:pt x="1" y="166"/>
                  </a:lnTo>
                  <a:lnTo>
                    <a:pt x="0" y="177"/>
                  </a:lnTo>
                  <a:lnTo>
                    <a:pt x="0" y="186"/>
                  </a:lnTo>
                  <a:lnTo>
                    <a:pt x="0" y="195"/>
                  </a:lnTo>
                  <a:lnTo>
                    <a:pt x="1" y="205"/>
                  </a:lnTo>
                  <a:lnTo>
                    <a:pt x="2" y="214"/>
                  </a:lnTo>
                  <a:lnTo>
                    <a:pt x="3" y="223"/>
                  </a:lnTo>
                  <a:lnTo>
                    <a:pt x="6" y="233"/>
                  </a:lnTo>
                  <a:lnTo>
                    <a:pt x="8" y="241"/>
                  </a:lnTo>
                  <a:lnTo>
                    <a:pt x="11" y="250"/>
                  </a:lnTo>
                  <a:lnTo>
                    <a:pt x="15" y="258"/>
                  </a:lnTo>
                  <a:lnTo>
                    <a:pt x="18" y="266"/>
                  </a:lnTo>
                  <a:lnTo>
                    <a:pt x="22" y="274"/>
                  </a:lnTo>
                  <a:lnTo>
                    <a:pt x="27" y="283"/>
                  </a:lnTo>
                  <a:lnTo>
                    <a:pt x="31" y="290"/>
                  </a:lnTo>
                  <a:lnTo>
                    <a:pt x="37" y="297"/>
                  </a:lnTo>
                  <a:lnTo>
                    <a:pt x="43" y="304"/>
                  </a:lnTo>
                  <a:lnTo>
                    <a:pt x="49" y="310"/>
                  </a:lnTo>
                  <a:lnTo>
                    <a:pt x="54" y="317"/>
                  </a:lnTo>
                  <a:lnTo>
                    <a:pt x="60" y="323"/>
                  </a:lnTo>
                  <a:lnTo>
                    <a:pt x="67" y="329"/>
                  </a:lnTo>
                  <a:lnTo>
                    <a:pt x="74" y="335"/>
                  </a:lnTo>
                  <a:lnTo>
                    <a:pt x="82" y="340"/>
                  </a:lnTo>
                  <a:lnTo>
                    <a:pt x="89" y="345"/>
                  </a:lnTo>
                  <a:lnTo>
                    <a:pt x="98" y="349"/>
                  </a:lnTo>
                  <a:lnTo>
                    <a:pt x="106" y="353"/>
                  </a:lnTo>
                  <a:lnTo>
                    <a:pt x="114" y="357"/>
                  </a:lnTo>
                  <a:lnTo>
                    <a:pt x="122" y="360"/>
                  </a:lnTo>
                  <a:lnTo>
                    <a:pt x="130" y="364"/>
                  </a:lnTo>
                  <a:lnTo>
                    <a:pt x="139" y="366"/>
                  </a:lnTo>
                  <a:lnTo>
                    <a:pt x="149" y="369"/>
                  </a:lnTo>
                  <a:lnTo>
                    <a:pt x="158" y="370"/>
                  </a:lnTo>
                  <a:lnTo>
                    <a:pt x="167" y="371"/>
                  </a:lnTo>
                  <a:lnTo>
                    <a:pt x="177" y="372"/>
                  </a:lnTo>
                  <a:lnTo>
                    <a:pt x="186" y="372"/>
                  </a:lnTo>
                  <a:lnTo>
                    <a:pt x="195" y="372"/>
                  </a:lnTo>
                  <a:lnTo>
                    <a:pt x="204" y="371"/>
                  </a:lnTo>
                  <a:lnTo>
                    <a:pt x="214" y="370"/>
                  </a:lnTo>
                  <a:lnTo>
                    <a:pt x="223" y="369"/>
                  </a:lnTo>
                  <a:lnTo>
                    <a:pt x="232" y="366"/>
                  </a:lnTo>
                  <a:lnTo>
                    <a:pt x="242" y="364"/>
                  </a:lnTo>
                  <a:lnTo>
                    <a:pt x="250" y="360"/>
                  </a:lnTo>
                  <a:lnTo>
                    <a:pt x="258" y="357"/>
                  </a:lnTo>
                  <a:lnTo>
                    <a:pt x="266" y="353"/>
                  </a:lnTo>
                  <a:lnTo>
                    <a:pt x="274" y="349"/>
                  </a:lnTo>
                  <a:lnTo>
                    <a:pt x="282" y="345"/>
                  </a:lnTo>
                  <a:lnTo>
                    <a:pt x="289" y="340"/>
                  </a:lnTo>
                  <a:lnTo>
                    <a:pt x="298" y="335"/>
                  </a:lnTo>
                  <a:lnTo>
                    <a:pt x="304" y="329"/>
                  </a:lnTo>
                  <a:lnTo>
                    <a:pt x="311" y="323"/>
                  </a:lnTo>
                  <a:lnTo>
                    <a:pt x="317" y="317"/>
                  </a:lnTo>
                  <a:lnTo>
                    <a:pt x="323" y="310"/>
                  </a:lnTo>
                  <a:lnTo>
                    <a:pt x="329" y="304"/>
                  </a:lnTo>
                  <a:lnTo>
                    <a:pt x="335" y="297"/>
                  </a:lnTo>
                  <a:lnTo>
                    <a:pt x="341" y="290"/>
                  </a:lnTo>
                  <a:lnTo>
                    <a:pt x="345" y="283"/>
                  </a:lnTo>
                  <a:lnTo>
                    <a:pt x="350" y="274"/>
                  </a:lnTo>
                  <a:lnTo>
                    <a:pt x="353" y="266"/>
                  </a:lnTo>
                  <a:lnTo>
                    <a:pt x="357" y="258"/>
                  </a:lnTo>
                  <a:lnTo>
                    <a:pt x="360" y="250"/>
                  </a:lnTo>
                  <a:lnTo>
                    <a:pt x="364" y="241"/>
                  </a:lnTo>
                  <a:lnTo>
                    <a:pt x="366" y="233"/>
                  </a:lnTo>
                  <a:lnTo>
                    <a:pt x="368" y="223"/>
                  </a:lnTo>
                  <a:lnTo>
                    <a:pt x="370" y="214"/>
                  </a:lnTo>
                  <a:lnTo>
                    <a:pt x="371" y="205"/>
                  </a:lnTo>
                  <a:lnTo>
                    <a:pt x="372" y="195"/>
                  </a:lnTo>
                  <a:lnTo>
                    <a:pt x="372" y="186"/>
                  </a:lnTo>
                </a:path>
              </a:pathLst>
            </a:custGeom>
            <a:noFill/>
            <a:ln w="7938">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dirty="0">
                <a:ea typeface="SimHei" panose="02010609060101010101" pitchFamily="49" charset="-122"/>
              </a:endParaRPr>
            </a:p>
          </p:txBody>
        </p:sp>
        <p:sp>
          <p:nvSpPr>
            <p:cNvPr id="233" name="Line 245">
              <a:extLst>
                <a:ext uri="{FF2B5EF4-FFF2-40B4-BE49-F238E27FC236}">
                  <a16:creationId xmlns:a16="http://schemas.microsoft.com/office/drawing/2014/main" id="{07589C99-0746-AA48-80EA-4B5C1C69C22D}"/>
                </a:ext>
              </a:extLst>
            </p:cNvPr>
            <p:cNvSpPr>
              <a:spLocks noChangeShapeType="1"/>
            </p:cNvSpPr>
            <p:nvPr/>
          </p:nvSpPr>
          <p:spPr bwMode="auto">
            <a:xfrm>
              <a:off x="6689725" y="4400550"/>
              <a:ext cx="249238" cy="212725"/>
            </a:xfrm>
            <a:prstGeom prst="line">
              <a:avLst/>
            </a:prstGeom>
            <a:noFill/>
            <a:ln w="7938">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34" name="Line 246">
              <a:extLst>
                <a:ext uri="{FF2B5EF4-FFF2-40B4-BE49-F238E27FC236}">
                  <a16:creationId xmlns:a16="http://schemas.microsoft.com/office/drawing/2014/main" id="{52578360-ADC4-8644-85DC-5854371D05F6}"/>
                </a:ext>
              </a:extLst>
            </p:cNvPr>
            <p:cNvSpPr>
              <a:spLocks noChangeShapeType="1"/>
            </p:cNvSpPr>
            <p:nvPr/>
          </p:nvSpPr>
          <p:spPr bwMode="auto">
            <a:xfrm flipH="1">
              <a:off x="6716713" y="4395788"/>
              <a:ext cx="215900" cy="238125"/>
            </a:xfrm>
            <a:prstGeom prst="line">
              <a:avLst/>
            </a:prstGeom>
            <a:noFill/>
            <a:ln w="7938">
              <a:solidFill>
                <a:srgbClr val="000000"/>
              </a:solidFill>
              <a:round/>
              <a:headEnd/>
              <a:tailEnd/>
            </a:ln>
            <a:extLst>
              <a:ext uri="{909E8E84-426E-40dd-AFC4-6F175D3DCCD1}">
                <a14:hiddenFill xmlns:a14="http://schemas.microsoft.com/office/drawing/2010/main" xmlns="">
                  <a:noFill/>
                </a14:hiddenFill>
              </a:ext>
            </a:extLst>
          </p:spPr>
          <p:txBody>
            <a:bodyPr/>
            <a:lstStyle/>
            <a:p>
              <a:endParaRPr lang="zh-CN" altLang="en-US" dirty="0">
                <a:ea typeface="SimHei" panose="02010609060101010101" pitchFamily="49" charset="-122"/>
              </a:endParaRPr>
            </a:p>
          </p:txBody>
        </p:sp>
        <p:sp>
          <p:nvSpPr>
            <p:cNvPr id="235" name="Rectangle 247">
              <a:extLst>
                <a:ext uri="{FF2B5EF4-FFF2-40B4-BE49-F238E27FC236}">
                  <a16:creationId xmlns:a16="http://schemas.microsoft.com/office/drawing/2014/main" id="{B718A6BC-C3CB-F642-A14D-19D459067257}"/>
                </a:ext>
              </a:extLst>
            </p:cNvPr>
            <p:cNvSpPr>
              <a:spLocks noChangeArrowheads="1"/>
            </p:cNvSpPr>
            <p:nvPr/>
          </p:nvSpPr>
          <p:spPr bwMode="auto">
            <a:xfrm>
              <a:off x="7806531" y="3162300"/>
              <a:ext cx="1007242" cy="5654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101678" tIns="50840" rIns="101678" bIns="50840">
              <a:spAutoFit/>
            </a:bodyPr>
            <a:lstStyle/>
            <a:p>
              <a:pPr defTabSz="1009650"/>
              <a:r>
                <a:rPr lang="zh-CN" altLang="en-US" sz="2700" dirty="0">
                  <a:latin typeface="Times New Roman" pitchFamily="18" charset="0"/>
                  <a:ea typeface="SimHei" panose="02010609060101010101" pitchFamily="49" charset="-122"/>
                </a:rPr>
                <a:t>主存</a:t>
              </a:r>
            </a:p>
          </p:txBody>
        </p:sp>
        <p:sp>
          <p:nvSpPr>
            <p:cNvPr id="236" name="Line 248">
              <a:extLst>
                <a:ext uri="{FF2B5EF4-FFF2-40B4-BE49-F238E27FC236}">
                  <a16:creationId xmlns:a16="http://schemas.microsoft.com/office/drawing/2014/main" id="{332DB81B-583B-CA4F-8B9C-6B2A9279764D}"/>
                </a:ext>
              </a:extLst>
            </p:cNvPr>
            <p:cNvSpPr>
              <a:spLocks noChangeShapeType="1"/>
            </p:cNvSpPr>
            <p:nvPr/>
          </p:nvSpPr>
          <p:spPr bwMode="auto">
            <a:xfrm flipH="1">
              <a:off x="6207125" y="2817813"/>
              <a:ext cx="595313" cy="0"/>
            </a:xfrm>
            <a:prstGeom prst="line">
              <a:avLst/>
            </a:prstGeom>
            <a:noFill/>
            <a:ln w="19050">
              <a:solidFill>
                <a:schemeClr val="bg2"/>
              </a:solidFill>
              <a:round/>
              <a:headEnd type="none" w="sm" len="sm"/>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sp>
          <p:nvSpPr>
            <p:cNvPr id="237" name="Text Box 420">
              <a:extLst>
                <a:ext uri="{FF2B5EF4-FFF2-40B4-BE49-F238E27FC236}">
                  <a16:creationId xmlns:a16="http://schemas.microsoft.com/office/drawing/2014/main" id="{CEA5F70D-BF16-FE46-B16C-C7627797529A}"/>
                </a:ext>
              </a:extLst>
            </p:cNvPr>
            <p:cNvSpPr txBox="1">
              <a:spLocks noChangeArrowheads="1"/>
            </p:cNvSpPr>
            <p:nvPr/>
          </p:nvSpPr>
          <p:spPr bwMode="auto">
            <a:xfrm>
              <a:off x="8036470" y="6019155"/>
              <a:ext cx="1706617" cy="7059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type="none" w="sm" len="sm"/>
                  <a:tailEnd type="none" w="sm" len="sm"/>
                </a14:hiddenLine>
              </a:ext>
              <a:ext uri="{AF507438-7753-43e0-B8FC-AC1667EBCBE1}">
                <a14:hiddenEffects xmlns:a14="http://schemas.microsoft.com/office/drawing/2010/main" xmlns="">
                  <a:effectLst>
                    <a:outerShdw dist="71842" dir="2700000" algn="ctr" rotWithShape="0">
                      <a:schemeClr val="bg2"/>
                    </a:outerShdw>
                  </a:effectLst>
                </a14:hiddenEffects>
              </a:ext>
            </a:extLst>
          </p:spPr>
          <p:txBody>
            <a:bodyPr wrap="none" lIns="92075" tIns="46038" rIns="92075" bIns="46038">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r>
                <a:rPr lang="en-US" altLang="zh-CN" b="0" dirty="0">
                  <a:latin typeface="Times New Roman" pitchFamily="18" charset="0"/>
                  <a:ea typeface="SimHei" panose="02010609060101010101" pitchFamily="49" charset="-122"/>
                </a:rPr>
                <a:t>T——</a:t>
              </a:r>
              <a:r>
                <a:rPr lang="zh-CN" altLang="en-US" b="0" dirty="0">
                  <a:latin typeface="Times New Roman" pitchFamily="18" charset="0"/>
                  <a:ea typeface="SimHei" panose="02010609060101010101" pitchFamily="49" charset="-122"/>
                </a:rPr>
                <a:t>标签</a:t>
              </a:r>
              <a:endParaRPr lang="en-US" altLang="zh-CN" b="0" dirty="0">
                <a:latin typeface="Times New Roman" pitchFamily="18" charset="0"/>
                <a:ea typeface="SimHei" panose="02010609060101010101" pitchFamily="49" charset="-122"/>
              </a:endParaRPr>
            </a:p>
            <a:p>
              <a:pPr eaLnBrk="1" hangingPunct="1"/>
              <a:r>
                <a:rPr lang="en-US" altLang="zh-CN" b="0" dirty="0">
                  <a:latin typeface="Times New Roman" pitchFamily="18" charset="0"/>
                  <a:ea typeface="SimHei" panose="02010609060101010101" pitchFamily="49" charset="-122"/>
                </a:rPr>
                <a:t>V——</a:t>
              </a:r>
              <a:r>
                <a:rPr lang="zh-CN" altLang="en-US" b="0" dirty="0">
                  <a:latin typeface="Times New Roman" pitchFamily="18" charset="0"/>
                  <a:ea typeface="SimHei" panose="02010609060101010101" pitchFamily="49" charset="-122"/>
                </a:rPr>
                <a:t>有效位</a:t>
              </a:r>
              <a:endParaRPr lang="en-US" altLang="zh-CN" b="0" dirty="0">
                <a:latin typeface="Times New Roman" pitchFamily="18" charset="0"/>
                <a:ea typeface="SimHei" panose="02010609060101010101" pitchFamily="49" charset="-122"/>
              </a:endParaRPr>
            </a:p>
          </p:txBody>
        </p:sp>
        <p:cxnSp>
          <p:nvCxnSpPr>
            <p:cNvPr id="238" name="直线箭头连接符 237">
              <a:extLst>
                <a:ext uri="{FF2B5EF4-FFF2-40B4-BE49-F238E27FC236}">
                  <a16:creationId xmlns:a16="http://schemas.microsoft.com/office/drawing/2014/main" id="{C07338F0-0C2F-674C-B5A4-39CCDF38D137}"/>
                </a:ext>
              </a:extLst>
            </p:cNvPr>
            <p:cNvCxnSpPr/>
            <p:nvPr/>
          </p:nvCxnSpPr>
          <p:spPr bwMode="auto">
            <a:xfrm>
              <a:off x="3127375" y="6732513"/>
              <a:ext cx="0" cy="2874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39" name="Freeform 222">
              <a:extLst>
                <a:ext uri="{FF2B5EF4-FFF2-40B4-BE49-F238E27FC236}">
                  <a16:creationId xmlns:a16="http://schemas.microsoft.com/office/drawing/2014/main" id="{D4C5B5C3-A77F-9B4F-8636-F42D68991946}"/>
                </a:ext>
              </a:extLst>
            </p:cNvPr>
            <p:cNvSpPr>
              <a:spLocks/>
            </p:cNvSpPr>
            <p:nvPr/>
          </p:nvSpPr>
          <p:spPr bwMode="auto">
            <a:xfrm>
              <a:off x="2959101" y="6411873"/>
              <a:ext cx="328612" cy="396875"/>
            </a:xfrm>
            <a:custGeom>
              <a:avLst/>
              <a:gdLst>
                <a:gd name="T0" fmla="*/ 2147483647 w 363"/>
                <a:gd name="T1" fmla="*/ 2147483647 h 473"/>
                <a:gd name="T2" fmla="*/ 2147483647 w 363"/>
                <a:gd name="T3" fmla="*/ 2147483647 h 473"/>
                <a:gd name="T4" fmla="*/ 2147483647 w 363"/>
                <a:gd name="T5" fmla="*/ 2147483647 h 473"/>
                <a:gd name="T6" fmla="*/ 2147483647 w 363"/>
                <a:gd name="T7" fmla="*/ 2147483647 h 473"/>
                <a:gd name="T8" fmla="*/ 2147483647 w 363"/>
                <a:gd name="T9" fmla="*/ 2147483647 h 473"/>
                <a:gd name="T10" fmla="*/ 2147483647 w 363"/>
                <a:gd name="T11" fmla="*/ 2147483647 h 473"/>
                <a:gd name="T12" fmla="*/ 2147483647 w 363"/>
                <a:gd name="T13" fmla="*/ 2147483647 h 473"/>
                <a:gd name="T14" fmla="*/ 2147483647 w 363"/>
                <a:gd name="T15" fmla="*/ 2147483647 h 473"/>
                <a:gd name="T16" fmla="*/ 2147483647 w 363"/>
                <a:gd name="T17" fmla="*/ 2147483647 h 473"/>
                <a:gd name="T18" fmla="*/ 2147483647 w 363"/>
                <a:gd name="T19" fmla="*/ 2147483647 h 473"/>
                <a:gd name="T20" fmla="*/ 2147483647 w 363"/>
                <a:gd name="T21" fmla="*/ 2147483647 h 473"/>
                <a:gd name="T22" fmla="*/ 2147483647 w 363"/>
                <a:gd name="T23" fmla="*/ 2147483647 h 473"/>
                <a:gd name="T24" fmla="*/ 0 w 363"/>
                <a:gd name="T25" fmla="*/ 2147483647 h 473"/>
                <a:gd name="T26" fmla="*/ 0 w 363"/>
                <a:gd name="T27" fmla="*/ 0 h 473"/>
                <a:gd name="T28" fmla="*/ 2147483647 w 363"/>
                <a:gd name="T29" fmla="*/ 2147483647 h 473"/>
                <a:gd name="T30" fmla="*/ 2147483647 w 363"/>
                <a:gd name="T31" fmla="*/ 2147483647 h 473"/>
                <a:gd name="T32" fmla="*/ 2147483647 w 363"/>
                <a:gd name="T33" fmla="*/ 2147483647 h 473"/>
                <a:gd name="T34" fmla="*/ 2147483647 w 363"/>
                <a:gd name="T35" fmla="*/ 2147483647 h 473"/>
                <a:gd name="T36" fmla="*/ 2147483647 w 363"/>
                <a:gd name="T37" fmla="*/ 2147483647 h 473"/>
                <a:gd name="T38" fmla="*/ 2147483647 w 363"/>
                <a:gd name="T39" fmla="*/ 2147483647 h 473"/>
                <a:gd name="T40" fmla="*/ 2147483647 w 363"/>
                <a:gd name="T41" fmla="*/ 2147483647 h 473"/>
                <a:gd name="T42" fmla="*/ 2147483647 w 363"/>
                <a:gd name="T43" fmla="*/ 2147483647 h 473"/>
                <a:gd name="T44" fmla="*/ 2147483647 w 363"/>
                <a:gd name="T45" fmla="*/ 2147483647 h 473"/>
                <a:gd name="T46" fmla="*/ 2147483647 w 363"/>
                <a:gd name="T47" fmla="*/ 2147483647 h 473"/>
                <a:gd name="T48" fmla="*/ 2147483647 w 363"/>
                <a:gd name="T49" fmla="*/ 2147483647 h 473"/>
                <a:gd name="T50" fmla="*/ 2147483647 w 363"/>
                <a:gd name="T51" fmla="*/ 2147483647 h 473"/>
                <a:gd name="T52" fmla="*/ 2147483647 w 363"/>
                <a:gd name="T53" fmla="*/ 2147483647 h 473"/>
                <a:gd name="T54" fmla="*/ 2147483647 w 363"/>
                <a:gd name="T55" fmla="*/ 2147483647 h 473"/>
                <a:gd name="T56" fmla="*/ 2147483647 w 363"/>
                <a:gd name="T57" fmla="*/ 2147483647 h 473"/>
                <a:gd name="T58" fmla="*/ 2147483647 w 363"/>
                <a:gd name="T59" fmla="*/ 0 h 473"/>
                <a:gd name="T60" fmla="*/ 2147483647 w 363"/>
                <a:gd name="T61" fmla="*/ 2147483647 h 473"/>
                <a:gd name="T62" fmla="*/ 2147483647 w 363"/>
                <a:gd name="T63" fmla="*/ 2147483647 h 473"/>
                <a:gd name="T64" fmla="*/ 2147483647 w 363"/>
                <a:gd name="T65" fmla="*/ 2147483647 h 473"/>
                <a:gd name="T66" fmla="*/ 2147483647 w 363"/>
                <a:gd name="T67" fmla="*/ 2147483647 h 473"/>
                <a:gd name="T68" fmla="*/ 2147483647 w 363"/>
                <a:gd name="T69" fmla="*/ 2147483647 h 473"/>
                <a:gd name="T70" fmla="*/ 2147483647 w 363"/>
                <a:gd name="T71" fmla="*/ 2147483647 h 473"/>
                <a:gd name="T72" fmla="*/ 2147483647 w 363"/>
                <a:gd name="T73" fmla="*/ 2147483647 h 473"/>
                <a:gd name="T74" fmla="*/ 2147483647 w 363"/>
                <a:gd name="T75" fmla="*/ 2147483647 h 473"/>
                <a:gd name="T76" fmla="*/ 2147483647 w 363"/>
                <a:gd name="T77" fmla="*/ 2147483647 h 473"/>
                <a:gd name="T78" fmla="*/ 2147483647 w 363"/>
                <a:gd name="T79" fmla="*/ 2147483647 h 473"/>
                <a:gd name="T80" fmla="*/ 2147483647 w 363"/>
                <a:gd name="T81" fmla="*/ 2147483647 h 473"/>
                <a:gd name="T82" fmla="*/ 2147483647 w 363"/>
                <a:gd name="T83" fmla="*/ 2147483647 h 473"/>
                <a:gd name="T84" fmla="*/ 2147483647 w 363"/>
                <a:gd name="T85" fmla="*/ 2147483647 h 4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63" h="473">
                  <a:moveTo>
                    <a:pt x="181" y="473"/>
                  </a:moveTo>
                  <a:lnTo>
                    <a:pt x="172" y="467"/>
                  </a:lnTo>
                  <a:lnTo>
                    <a:pt x="164" y="461"/>
                  </a:lnTo>
                  <a:lnTo>
                    <a:pt x="156" y="456"/>
                  </a:lnTo>
                  <a:lnTo>
                    <a:pt x="149" y="449"/>
                  </a:lnTo>
                  <a:lnTo>
                    <a:pt x="141" y="442"/>
                  </a:lnTo>
                  <a:lnTo>
                    <a:pt x="134" y="434"/>
                  </a:lnTo>
                  <a:lnTo>
                    <a:pt x="126" y="427"/>
                  </a:lnTo>
                  <a:lnTo>
                    <a:pt x="119" y="419"/>
                  </a:lnTo>
                  <a:lnTo>
                    <a:pt x="111" y="410"/>
                  </a:lnTo>
                  <a:lnTo>
                    <a:pt x="104" y="402"/>
                  </a:lnTo>
                  <a:lnTo>
                    <a:pt x="97" y="393"/>
                  </a:lnTo>
                  <a:lnTo>
                    <a:pt x="91" y="383"/>
                  </a:lnTo>
                  <a:lnTo>
                    <a:pt x="85" y="374"/>
                  </a:lnTo>
                  <a:lnTo>
                    <a:pt x="78" y="364"/>
                  </a:lnTo>
                  <a:lnTo>
                    <a:pt x="73" y="354"/>
                  </a:lnTo>
                  <a:lnTo>
                    <a:pt x="66" y="343"/>
                  </a:lnTo>
                  <a:lnTo>
                    <a:pt x="54" y="322"/>
                  </a:lnTo>
                  <a:lnTo>
                    <a:pt x="44" y="299"/>
                  </a:lnTo>
                  <a:lnTo>
                    <a:pt x="35" y="275"/>
                  </a:lnTo>
                  <a:lnTo>
                    <a:pt x="26" y="250"/>
                  </a:lnTo>
                  <a:lnTo>
                    <a:pt x="18" y="224"/>
                  </a:lnTo>
                  <a:lnTo>
                    <a:pt x="11" y="198"/>
                  </a:lnTo>
                  <a:lnTo>
                    <a:pt x="4" y="171"/>
                  </a:lnTo>
                  <a:lnTo>
                    <a:pt x="0" y="142"/>
                  </a:lnTo>
                  <a:lnTo>
                    <a:pt x="0" y="0"/>
                  </a:lnTo>
                  <a:lnTo>
                    <a:pt x="11" y="8"/>
                  </a:lnTo>
                  <a:lnTo>
                    <a:pt x="21" y="16"/>
                  </a:lnTo>
                  <a:lnTo>
                    <a:pt x="33" y="23"/>
                  </a:lnTo>
                  <a:lnTo>
                    <a:pt x="44" y="30"/>
                  </a:lnTo>
                  <a:lnTo>
                    <a:pt x="55" y="36"/>
                  </a:lnTo>
                  <a:lnTo>
                    <a:pt x="66" y="41"/>
                  </a:lnTo>
                  <a:lnTo>
                    <a:pt x="77" y="46"/>
                  </a:lnTo>
                  <a:lnTo>
                    <a:pt x="88" y="50"/>
                  </a:lnTo>
                  <a:lnTo>
                    <a:pt x="101" y="54"/>
                  </a:lnTo>
                  <a:lnTo>
                    <a:pt x="112" y="57"/>
                  </a:lnTo>
                  <a:lnTo>
                    <a:pt x="124" y="61"/>
                  </a:lnTo>
                  <a:lnTo>
                    <a:pt x="135" y="63"/>
                  </a:lnTo>
                  <a:lnTo>
                    <a:pt x="146" y="64"/>
                  </a:lnTo>
                  <a:lnTo>
                    <a:pt x="158" y="65"/>
                  </a:lnTo>
                  <a:lnTo>
                    <a:pt x="170" y="66"/>
                  </a:lnTo>
                  <a:lnTo>
                    <a:pt x="181" y="66"/>
                  </a:lnTo>
                  <a:lnTo>
                    <a:pt x="193" y="66"/>
                  </a:lnTo>
                  <a:lnTo>
                    <a:pt x="204" y="65"/>
                  </a:lnTo>
                  <a:lnTo>
                    <a:pt x="217" y="64"/>
                  </a:lnTo>
                  <a:lnTo>
                    <a:pt x="228" y="63"/>
                  </a:lnTo>
                  <a:lnTo>
                    <a:pt x="239" y="61"/>
                  </a:lnTo>
                  <a:lnTo>
                    <a:pt x="251" y="57"/>
                  </a:lnTo>
                  <a:lnTo>
                    <a:pt x="262" y="54"/>
                  </a:lnTo>
                  <a:lnTo>
                    <a:pt x="273" y="50"/>
                  </a:lnTo>
                  <a:lnTo>
                    <a:pt x="285" y="46"/>
                  </a:lnTo>
                  <a:lnTo>
                    <a:pt x="296" y="41"/>
                  </a:lnTo>
                  <a:lnTo>
                    <a:pt x="307" y="36"/>
                  </a:lnTo>
                  <a:lnTo>
                    <a:pt x="319" y="30"/>
                  </a:lnTo>
                  <a:lnTo>
                    <a:pt x="330" y="23"/>
                  </a:lnTo>
                  <a:lnTo>
                    <a:pt x="341" y="16"/>
                  </a:lnTo>
                  <a:lnTo>
                    <a:pt x="352" y="8"/>
                  </a:lnTo>
                  <a:lnTo>
                    <a:pt x="363" y="0"/>
                  </a:lnTo>
                  <a:lnTo>
                    <a:pt x="363" y="142"/>
                  </a:lnTo>
                  <a:lnTo>
                    <a:pt x="359" y="171"/>
                  </a:lnTo>
                  <a:lnTo>
                    <a:pt x="352" y="198"/>
                  </a:lnTo>
                  <a:lnTo>
                    <a:pt x="345" y="224"/>
                  </a:lnTo>
                  <a:lnTo>
                    <a:pt x="337" y="250"/>
                  </a:lnTo>
                  <a:lnTo>
                    <a:pt x="328" y="275"/>
                  </a:lnTo>
                  <a:lnTo>
                    <a:pt x="319" y="299"/>
                  </a:lnTo>
                  <a:lnTo>
                    <a:pt x="309" y="322"/>
                  </a:lnTo>
                  <a:lnTo>
                    <a:pt x="297" y="343"/>
                  </a:lnTo>
                  <a:lnTo>
                    <a:pt x="290" y="355"/>
                  </a:lnTo>
                  <a:lnTo>
                    <a:pt x="285" y="365"/>
                  </a:lnTo>
                  <a:lnTo>
                    <a:pt x="278" y="374"/>
                  </a:lnTo>
                  <a:lnTo>
                    <a:pt x="272" y="384"/>
                  </a:lnTo>
                  <a:lnTo>
                    <a:pt x="265" y="393"/>
                  </a:lnTo>
                  <a:lnTo>
                    <a:pt x="259" y="402"/>
                  </a:lnTo>
                  <a:lnTo>
                    <a:pt x="252" y="411"/>
                  </a:lnTo>
                  <a:lnTo>
                    <a:pt x="244" y="419"/>
                  </a:lnTo>
                  <a:lnTo>
                    <a:pt x="237" y="427"/>
                  </a:lnTo>
                  <a:lnTo>
                    <a:pt x="229" y="435"/>
                  </a:lnTo>
                  <a:lnTo>
                    <a:pt x="221" y="442"/>
                  </a:lnTo>
                  <a:lnTo>
                    <a:pt x="214" y="449"/>
                  </a:lnTo>
                  <a:lnTo>
                    <a:pt x="206" y="456"/>
                  </a:lnTo>
                  <a:lnTo>
                    <a:pt x="197" y="461"/>
                  </a:lnTo>
                  <a:lnTo>
                    <a:pt x="189" y="468"/>
                  </a:lnTo>
                  <a:lnTo>
                    <a:pt x="181" y="473"/>
                  </a:lnTo>
                  <a:close/>
                </a:path>
              </a:pathLst>
            </a:custGeom>
            <a:solidFill>
              <a:srgbClr val="CC99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dirty="0">
                <a:ea typeface="SimHei" panose="02010609060101010101" pitchFamily="49" charset="-122"/>
              </a:endParaRPr>
            </a:p>
          </p:txBody>
        </p:sp>
        <p:cxnSp>
          <p:nvCxnSpPr>
            <p:cNvPr id="240" name="直线箭头连接符 239">
              <a:extLst>
                <a:ext uri="{FF2B5EF4-FFF2-40B4-BE49-F238E27FC236}">
                  <a16:creationId xmlns:a16="http://schemas.microsoft.com/office/drawing/2014/main" id="{A47D1D7B-D825-374A-91F0-7A348709870A}"/>
                </a:ext>
              </a:extLst>
            </p:cNvPr>
            <p:cNvCxnSpPr>
              <a:cxnSpLocks/>
              <a:stCxn id="182" idx="2"/>
            </p:cNvCxnSpPr>
            <p:nvPr/>
          </p:nvCxnSpPr>
          <p:spPr bwMode="auto">
            <a:xfrm>
              <a:off x="3767932" y="6057900"/>
              <a:ext cx="0" cy="962025"/>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41" name="直线箭头连接符 240">
              <a:extLst>
                <a:ext uri="{FF2B5EF4-FFF2-40B4-BE49-F238E27FC236}">
                  <a16:creationId xmlns:a16="http://schemas.microsoft.com/office/drawing/2014/main" id="{28123ED7-B9A7-3D4C-85B8-4634D445A864}"/>
                </a:ext>
              </a:extLst>
            </p:cNvPr>
            <p:cNvCxnSpPr>
              <a:cxnSpLocks/>
              <a:stCxn id="62" idx="2"/>
            </p:cNvCxnSpPr>
            <p:nvPr/>
          </p:nvCxnSpPr>
          <p:spPr bwMode="auto">
            <a:xfrm flipH="1">
              <a:off x="3114675" y="5530066"/>
              <a:ext cx="13991" cy="240498"/>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42" name="直线箭头连接符 241">
              <a:extLst>
                <a:ext uri="{FF2B5EF4-FFF2-40B4-BE49-F238E27FC236}">
                  <a16:creationId xmlns:a16="http://schemas.microsoft.com/office/drawing/2014/main" id="{1B212FC6-C810-374D-BA95-745987DDD5C3}"/>
                </a:ext>
              </a:extLst>
            </p:cNvPr>
            <p:cNvCxnSpPr>
              <a:cxnSpLocks/>
            </p:cNvCxnSpPr>
            <p:nvPr/>
          </p:nvCxnSpPr>
          <p:spPr bwMode="auto">
            <a:xfrm flipH="1">
              <a:off x="4407768" y="5500403"/>
              <a:ext cx="1" cy="26511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246" name="Freeform 231">
            <a:extLst>
              <a:ext uri="{FF2B5EF4-FFF2-40B4-BE49-F238E27FC236}">
                <a16:creationId xmlns:a16="http://schemas.microsoft.com/office/drawing/2014/main" id="{E01F2ACA-8945-73E1-34EF-987CA656C0CE}"/>
              </a:ext>
            </a:extLst>
          </p:cNvPr>
          <p:cNvSpPr>
            <a:spLocks/>
          </p:cNvSpPr>
          <p:nvPr/>
        </p:nvSpPr>
        <p:spPr bwMode="auto">
          <a:xfrm>
            <a:off x="1370985" y="2805697"/>
            <a:ext cx="1208379" cy="2495323"/>
          </a:xfrm>
          <a:custGeom>
            <a:avLst/>
            <a:gdLst>
              <a:gd name="T0" fmla="*/ 2147483647 w 1634"/>
              <a:gd name="T1" fmla="*/ 0 h 3133"/>
              <a:gd name="T2" fmla="*/ 2147483647 w 1634"/>
              <a:gd name="T3" fmla="*/ 2147483647 h 3133"/>
              <a:gd name="T4" fmla="*/ 0 w 1634"/>
              <a:gd name="T5" fmla="*/ 2147483647 h 3133"/>
              <a:gd name="T6" fmla="*/ 0 w 1634"/>
              <a:gd name="T7" fmla="*/ 2147483647 h 31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34" h="3133">
                <a:moveTo>
                  <a:pt x="1634" y="0"/>
                </a:moveTo>
                <a:lnTo>
                  <a:pt x="1634" y="357"/>
                </a:lnTo>
                <a:lnTo>
                  <a:pt x="0" y="357"/>
                </a:lnTo>
                <a:lnTo>
                  <a:pt x="0" y="3133"/>
                </a:lnTo>
              </a:path>
            </a:pathLst>
          </a:custGeom>
          <a:noFill/>
          <a:ln w="12700">
            <a:solidFill>
              <a:srgbClr val="000000"/>
            </a:solidFill>
            <a:prstDash val="solid"/>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zh-CN" altLang="en-US" dirty="0">
              <a:latin typeface="+mj-lt"/>
              <a:ea typeface="SimHei" panose="02010609060101010101" pitchFamily="49" charset="-122"/>
            </a:endParaRPr>
          </a:p>
        </p:txBody>
      </p:sp>
      <p:sp>
        <p:nvSpPr>
          <p:cNvPr id="247" name="Freeform 233">
            <a:extLst>
              <a:ext uri="{FF2B5EF4-FFF2-40B4-BE49-F238E27FC236}">
                <a16:creationId xmlns:a16="http://schemas.microsoft.com/office/drawing/2014/main" id="{7948C71F-FF9A-2781-621D-E6170FB84250}"/>
              </a:ext>
            </a:extLst>
          </p:cNvPr>
          <p:cNvSpPr>
            <a:spLocks/>
          </p:cNvSpPr>
          <p:nvPr/>
        </p:nvSpPr>
        <p:spPr bwMode="auto">
          <a:xfrm>
            <a:off x="2575299" y="3078247"/>
            <a:ext cx="2423752" cy="2238403"/>
          </a:xfrm>
          <a:custGeom>
            <a:avLst/>
            <a:gdLst>
              <a:gd name="T0" fmla="*/ 0 w 2724"/>
              <a:gd name="T1" fmla="*/ 0 h 2958"/>
              <a:gd name="T2" fmla="*/ 2147483647 w 2724"/>
              <a:gd name="T3" fmla="*/ 0 h 2958"/>
              <a:gd name="T4" fmla="*/ 2147483647 w 2724"/>
              <a:gd name="T5" fmla="*/ 2147483647 h 2958"/>
              <a:gd name="T6" fmla="*/ 0 60000 65536"/>
              <a:gd name="T7" fmla="*/ 0 60000 65536"/>
              <a:gd name="T8" fmla="*/ 0 60000 65536"/>
            </a:gdLst>
            <a:ahLst/>
            <a:cxnLst>
              <a:cxn ang="T6">
                <a:pos x="T0" y="T1"/>
              </a:cxn>
              <a:cxn ang="T7">
                <a:pos x="T2" y="T3"/>
              </a:cxn>
              <a:cxn ang="T8">
                <a:pos x="T4" y="T5"/>
              </a:cxn>
            </a:cxnLst>
            <a:rect l="0" t="0" r="r" b="b"/>
            <a:pathLst>
              <a:path w="2724" h="2958">
                <a:moveTo>
                  <a:pt x="0" y="0"/>
                </a:moveTo>
                <a:lnTo>
                  <a:pt x="2724" y="0"/>
                </a:lnTo>
                <a:lnTo>
                  <a:pt x="2724" y="2958"/>
                </a:lnTo>
              </a:path>
            </a:pathLst>
          </a:custGeom>
          <a:noFill/>
          <a:ln w="12700">
            <a:solidFill>
              <a:srgbClr val="000000"/>
            </a:solidFill>
            <a:prstDash val="solid"/>
            <a:round/>
            <a:headEnd type="non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zh-CN" altLang="en-US" dirty="0">
              <a:latin typeface="+mj-lt"/>
              <a:ea typeface="SimHei" panose="02010609060101010101" pitchFamily="49" charset="-122"/>
            </a:endParaRPr>
          </a:p>
        </p:txBody>
      </p:sp>
      <p:sp>
        <p:nvSpPr>
          <p:cNvPr id="248" name="Freeform 247">
            <a:extLst>
              <a:ext uri="{FF2B5EF4-FFF2-40B4-BE49-F238E27FC236}">
                <a16:creationId xmlns:a16="http://schemas.microsoft.com/office/drawing/2014/main" id="{944D08AF-3E0C-82CD-6B99-DCDD7A573152}"/>
              </a:ext>
            </a:extLst>
          </p:cNvPr>
          <p:cNvSpPr/>
          <p:nvPr/>
        </p:nvSpPr>
        <p:spPr>
          <a:xfrm>
            <a:off x="1477108" y="4323110"/>
            <a:ext cx="97391" cy="979328"/>
          </a:xfrm>
          <a:custGeom>
            <a:avLst/>
            <a:gdLst>
              <a:gd name="connsiteX0" fmla="*/ 97391 w 97391"/>
              <a:gd name="connsiteY0" fmla="*/ 0 h 979328"/>
              <a:gd name="connsiteX1" fmla="*/ 0 w 97391"/>
              <a:gd name="connsiteY1" fmla="*/ 0 h 979328"/>
              <a:gd name="connsiteX2" fmla="*/ 0 w 97391"/>
              <a:gd name="connsiteY2" fmla="*/ 979328 h 979328"/>
            </a:gdLst>
            <a:ahLst/>
            <a:cxnLst>
              <a:cxn ang="0">
                <a:pos x="connsiteX0" y="connsiteY0"/>
              </a:cxn>
              <a:cxn ang="0">
                <a:pos x="connsiteX1" y="connsiteY1"/>
              </a:cxn>
              <a:cxn ang="0">
                <a:pos x="connsiteX2" y="connsiteY2"/>
              </a:cxn>
            </a:cxnLst>
            <a:rect l="l" t="t" r="r" b="b"/>
            <a:pathLst>
              <a:path w="97391" h="979328">
                <a:moveTo>
                  <a:pt x="97391" y="0"/>
                </a:moveTo>
                <a:lnTo>
                  <a:pt x="0" y="0"/>
                </a:lnTo>
                <a:lnTo>
                  <a:pt x="0" y="979328"/>
                </a:ln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249" name="Freeform 248">
            <a:extLst>
              <a:ext uri="{FF2B5EF4-FFF2-40B4-BE49-F238E27FC236}">
                <a16:creationId xmlns:a16="http://schemas.microsoft.com/office/drawing/2014/main" id="{D35CE104-5936-6261-1CFB-E611DD63BCAD}"/>
              </a:ext>
            </a:extLst>
          </p:cNvPr>
          <p:cNvSpPr/>
          <p:nvPr/>
        </p:nvSpPr>
        <p:spPr>
          <a:xfrm flipH="1">
            <a:off x="4730613" y="4337322"/>
            <a:ext cx="97391" cy="979328"/>
          </a:xfrm>
          <a:custGeom>
            <a:avLst/>
            <a:gdLst>
              <a:gd name="connsiteX0" fmla="*/ 97391 w 97391"/>
              <a:gd name="connsiteY0" fmla="*/ 0 h 979328"/>
              <a:gd name="connsiteX1" fmla="*/ 0 w 97391"/>
              <a:gd name="connsiteY1" fmla="*/ 0 h 979328"/>
              <a:gd name="connsiteX2" fmla="*/ 0 w 97391"/>
              <a:gd name="connsiteY2" fmla="*/ 979328 h 979328"/>
            </a:gdLst>
            <a:ahLst/>
            <a:cxnLst>
              <a:cxn ang="0">
                <a:pos x="connsiteX0" y="connsiteY0"/>
              </a:cxn>
              <a:cxn ang="0">
                <a:pos x="connsiteX1" y="connsiteY1"/>
              </a:cxn>
              <a:cxn ang="0">
                <a:pos x="connsiteX2" y="connsiteY2"/>
              </a:cxn>
            </a:cxnLst>
            <a:rect l="l" t="t" r="r" b="b"/>
            <a:pathLst>
              <a:path w="97391" h="979328">
                <a:moveTo>
                  <a:pt x="97391" y="0"/>
                </a:moveTo>
                <a:lnTo>
                  <a:pt x="0" y="0"/>
                </a:lnTo>
                <a:lnTo>
                  <a:pt x="0" y="979328"/>
                </a:ln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cxnSp>
        <p:nvCxnSpPr>
          <p:cNvPr id="250" name="Straight Connector 249">
            <a:extLst>
              <a:ext uri="{FF2B5EF4-FFF2-40B4-BE49-F238E27FC236}">
                <a16:creationId xmlns:a16="http://schemas.microsoft.com/office/drawing/2014/main" id="{EBE9DD06-29FD-911E-F815-832A3ECC6ACD}"/>
              </a:ext>
            </a:extLst>
          </p:cNvPr>
          <p:cNvCxnSpPr>
            <a:cxnSpLocks/>
          </p:cNvCxnSpPr>
          <p:nvPr/>
        </p:nvCxnSpPr>
        <p:spPr>
          <a:xfrm>
            <a:off x="2889356" y="4284344"/>
            <a:ext cx="527822" cy="1418"/>
          </a:xfrm>
          <a:prstGeom prst="line">
            <a:avLst/>
          </a:prstGeom>
          <a:ln>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1" name="Rectangle 250">
            <a:extLst>
              <a:ext uri="{FF2B5EF4-FFF2-40B4-BE49-F238E27FC236}">
                <a16:creationId xmlns:a16="http://schemas.microsoft.com/office/drawing/2014/main" id="{E1A8F06A-6F7A-B70E-38C2-F9FF197122DE}"/>
              </a:ext>
            </a:extLst>
          </p:cNvPr>
          <p:cNvSpPr/>
          <p:nvPr/>
        </p:nvSpPr>
        <p:spPr>
          <a:xfrm>
            <a:off x="1573339" y="4203672"/>
            <a:ext cx="1316017" cy="2254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2" name="Rectangle 251">
            <a:extLst>
              <a:ext uri="{FF2B5EF4-FFF2-40B4-BE49-F238E27FC236}">
                <a16:creationId xmlns:a16="http://schemas.microsoft.com/office/drawing/2014/main" id="{01FB4003-AAC6-1B08-5F99-41B44E14ABB9}"/>
              </a:ext>
            </a:extLst>
          </p:cNvPr>
          <p:cNvSpPr/>
          <p:nvPr/>
        </p:nvSpPr>
        <p:spPr>
          <a:xfrm>
            <a:off x="3417178" y="4212882"/>
            <a:ext cx="1316017" cy="2254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4015719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00" name="Rectangle 50"/>
          <p:cNvSpPr>
            <a:spLocks noGrp="1" noChangeArrowheads="1"/>
          </p:cNvSpPr>
          <p:nvPr>
            <p:ph type="body" idx="1"/>
          </p:nvPr>
        </p:nvSpPr>
        <p:spPr>
          <a:xfrm>
            <a:off x="242795" y="1567677"/>
            <a:ext cx="2930712" cy="4846570"/>
          </a:xfrm>
        </p:spPr>
        <p:txBody>
          <a:bodyPr/>
          <a:lstStyle/>
          <a:p>
            <a:pPr eaLnBrk="1" hangingPunct="1"/>
            <a:r>
              <a:rPr lang="zh-CN" altLang="en-US" sz="2800" dirty="0">
                <a:latin typeface="Times New Roman" pitchFamily="18" charset="0"/>
              </a:rPr>
              <a:t>全相联</a:t>
            </a:r>
            <a:endParaRPr lang="en-US" altLang="zh-CN" sz="2800" dirty="0">
              <a:latin typeface="Times New Roman" pitchFamily="18" charset="0"/>
            </a:endParaRPr>
          </a:p>
          <a:p>
            <a:pPr lvl="1"/>
            <a:r>
              <a:rPr lang="zh-CN" altLang="en-US" sz="2400" dirty="0">
                <a:latin typeface="Times New Roman" pitchFamily="18" charset="0"/>
              </a:rPr>
              <a:t>主存块能存到缓存</a:t>
            </a:r>
            <a:r>
              <a:rPr lang="zh-CN" altLang="en-US" sz="2400" dirty="0">
                <a:solidFill>
                  <a:srgbClr val="0432FF"/>
                </a:solidFill>
                <a:latin typeface="Times New Roman" pitchFamily="18" charset="0"/>
              </a:rPr>
              <a:t>任意一行</a:t>
            </a:r>
            <a:endParaRPr lang="en-US" altLang="zh-CN" sz="2400" dirty="0">
              <a:solidFill>
                <a:srgbClr val="0432FF"/>
              </a:solidFill>
              <a:latin typeface="Times New Roman" pitchFamily="18" charset="0"/>
            </a:endParaRPr>
          </a:p>
          <a:p>
            <a:r>
              <a:rPr lang="zh-CN" altLang="en-CN" sz="2800" dirty="0">
                <a:latin typeface="Times New Roman" pitchFamily="18" charset="0"/>
              </a:rPr>
              <a:t>直接映像</a:t>
            </a:r>
            <a:endParaRPr lang="en-US" altLang="zh-CN" sz="2800" dirty="0">
              <a:latin typeface="Times New Roman" pitchFamily="18" charset="0"/>
            </a:endParaRPr>
          </a:p>
          <a:p>
            <a:pPr lvl="1"/>
            <a:r>
              <a:rPr lang="zh-CN" altLang="en-US" sz="2400" dirty="0"/>
              <a:t>主存块只能装入缓存中</a:t>
            </a:r>
            <a:r>
              <a:rPr lang="zh-CN" altLang="en-US" sz="2400" dirty="0">
                <a:solidFill>
                  <a:srgbClr val="0432FF"/>
                </a:solidFill>
              </a:rPr>
              <a:t>唯一的特定行</a:t>
            </a:r>
            <a:endParaRPr lang="en-US" altLang="zh-CN" sz="2400" dirty="0">
              <a:solidFill>
                <a:srgbClr val="0432FF"/>
              </a:solidFill>
            </a:endParaRPr>
          </a:p>
          <a:p>
            <a:r>
              <a:rPr lang="zh-CN" altLang="en-US" sz="2800" dirty="0"/>
              <a:t>组相连</a:t>
            </a:r>
            <a:endParaRPr lang="en-US" altLang="zh-CN" sz="2800" dirty="0"/>
          </a:p>
          <a:p>
            <a:pPr lvl="1"/>
            <a:r>
              <a:rPr lang="zh-CN" altLang="en-US" sz="2400" dirty="0"/>
              <a:t>主存块能装入缓存中</a:t>
            </a:r>
            <a:r>
              <a:rPr lang="zh-CN" altLang="en-US" sz="2400" dirty="0">
                <a:solidFill>
                  <a:srgbClr val="0432FF"/>
                </a:solidFill>
              </a:rPr>
              <a:t>唯一特定组</a:t>
            </a:r>
            <a:r>
              <a:rPr lang="zh-CN" altLang="en-US" sz="2400" dirty="0"/>
              <a:t>的</a:t>
            </a:r>
            <a:r>
              <a:rPr lang="zh-CN" altLang="en-US" sz="2400" dirty="0">
                <a:solidFill>
                  <a:srgbClr val="0432FF"/>
                </a:solidFill>
              </a:rPr>
              <a:t>任一行</a:t>
            </a:r>
            <a:endParaRPr lang="en-US" altLang="zh-CN" sz="2400" dirty="0">
              <a:solidFill>
                <a:srgbClr val="0432FF"/>
              </a:solidFill>
            </a:endParaRPr>
          </a:p>
          <a:p>
            <a:pPr lvl="1"/>
            <a:endParaRPr lang="en-US" altLang="zh-CN" sz="2400" dirty="0"/>
          </a:p>
          <a:p>
            <a:pPr lvl="1"/>
            <a:endParaRPr lang="zh-CN" altLang="en-US" sz="2400" dirty="0"/>
          </a:p>
          <a:p>
            <a:pPr lvl="1"/>
            <a:endParaRPr lang="zh-CN" altLang="en-US" sz="2400" dirty="0">
              <a:latin typeface="Times New Roman" pitchFamily="18" charset="0"/>
            </a:endParaRPr>
          </a:p>
        </p:txBody>
      </p:sp>
      <p:sp>
        <p:nvSpPr>
          <p:cNvPr id="2" name="Slide Number Placeholder 1">
            <a:extLst>
              <a:ext uri="{FF2B5EF4-FFF2-40B4-BE49-F238E27FC236}">
                <a16:creationId xmlns:a16="http://schemas.microsoft.com/office/drawing/2014/main" id="{A8C38AB1-8BCA-154E-A065-B4EAC608B7B7}"/>
              </a:ext>
            </a:extLst>
          </p:cNvPr>
          <p:cNvSpPr>
            <a:spLocks noGrp="1"/>
          </p:cNvSpPr>
          <p:nvPr>
            <p:ph type="sldNum" sz="quarter" idx="12"/>
          </p:nvPr>
        </p:nvSpPr>
        <p:spPr/>
        <p:txBody>
          <a:bodyPr/>
          <a:lstStyle/>
          <a:p>
            <a:fld id="{14659731-6BD7-46E7-8D3C-2F3AC07E20B1}" type="slidenum">
              <a:rPr lang="en-US" altLang="zh-CN" smtClean="0"/>
              <a:pPr/>
              <a:t>49</a:t>
            </a:fld>
            <a:endParaRPr lang="en-US" altLang="zh-CN"/>
          </a:p>
        </p:txBody>
      </p:sp>
      <p:pic>
        <p:nvPicPr>
          <p:cNvPr id="4" name="Picture 3">
            <a:extLst>
              <a:ext uri="{FF2B5EF4-FFF2-40B4-BE49-F238E27FC236}">
                <a16:creationId xmlns:a16="http://schemas.microsoft.com/office/drawing/2014/main" id="{C5BFC0CA-39A1-804C-8CBB-654243CC28D2}"/>
              </a:ext>
            </a:extLst>
          </p:cNvPr>
          <p:cNvPicPr>
            <a:picLocks noChangeAspect="1"/>
          </p:cNvPicPr>
          <p:nvPr/>
        </p:nvPicPr>
        <p:blipFill>
          <a:blip r:embed="rId3"/>
          <a:stretch>
            <a:fillRect/>
          </a:stretch>
        </p:blipFill>
        <p:spPr>
          <a:xfrm>
            <a:off x="6028044" y="1567677"/>
            <a:ext cx="2873161" cy="2074207"/>
          </a:xfrm>
          <a:prstGeom prst="rect">
            <a:avLst/>
          </a:prstGeom>
        </p:spPr>
      </p:pic>
      <p:pic>
        <p:nvPicPr>
          <p:cNvPr id="5" name="Picture 4">
            <a:extLst>
              <a:ext uri="{FF2B5EF4-FFF2-40B4-BE49-F238E27FC236}">
                <a16:creationId xmlns:a16="http://schemas.microsoft.com/office/drawing/2014/main" id="{80E79DF0-654A-3140-9B8D-4F51E4880305}"/>
              </a:ext>
            </a:extLst>
          </p:cNvPr>
          <p:cNvPicPr>
            <a:picLocks noChangeAspect="1"/>
          </p:cNvPicPr>
          <p:nvPr/>
        </p:nvPicPr>
        <p:blipFill>
          <a:blip r:embed="rId4"/>
          <a:stretch>
            <a:fillRect/>
          </a:stretch>
        </p:blipFill>
        <p:spPr>
          <a:xfrm>
            <a:off x="3051943" y="1429546"/>
            <a:ext cx="2573741" cy="2765936"/>
          </a:xfrm>
          <a:prstGeom prst="rect">
            <a:avLst/>
          </a:prstGeom>
        </p:spPr>
      </p:pic>
      <p:pic>
        <p:nvPicPr>
          <p:cNvPr id="7" name="Picture 6">
            <a:extLst>
              <a:ext uri="{FF2B5EF4-FFF2-40B4-BE49-F238E27FC236}">
                <a16:creationId xmlns:a16="http://schemas.microsoft.com/office/drawing/2014/main" id="{89CA135B-E4DA-2D45-9564-8758E622C668}"/>
              </a:ext>
            </a:extLst>
          </p:cNvPr>
          <p:cNvPicPr>
            <a:picLocks noChangeAspect="1"/>
          </p:cNvPicPr>
          <p:nvPr/>
        </p:nvPicPr>
        <p:blipFill>
          <a:blip r:embed="rId5"/>
          <a:stretch>
            <a:fillRect/>
          </a:stretch>
        </p:blipFill>
        <p:spPr>
          <a:xfrm>
            <a:off x="3458815" y="3990962"/>
            <a:ext cx="5442390" cy="2762931"/>
          </a:xfrm>
          <a:prstGeom prst="rect">
            <a:avLst/>
          </a:prstGeom>
          <a:solidFill>
            <a:schemeClr val="bg1"/>
          </a:solidFill>
        </p:spPr>
      </p:pic>
      <p:sp>
        <p:nvSpPr>
          <p:cNvPr id="8" name="矩形 45">
            <a:extLst>
              <a:ext uri="{FF2B5EF4-FFF2-40B4-BE49-F238E27FC236}">
                <a16:creationId xmlns:a16="http://schemas.microsoft.com/office/drawing/2014/main" id="{667EFC96-3EE8-FD72-A104-FE6C0DA1E01D}"/>
              </a:ext>
            </a:extLst>
          </p:cNvPr>
          <p:cNvSpPr/>
          <p:nvPr/>
        </p:nvSpPr>
        <p:spPr bwMode="auto">
          <a:xfrm>
            <a:off x="6281367" y="3671901"/>
            <a:ext cx="982076" cy="236909"/>
          </a:xfrm>
          <a:prstGeom prst="rect">
            <a:avLst/>
          </a:prstGeom>
          <a:solidFill>
            <a:srgbClr val="AC7942">
              <a:alpha val="50588"/>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kumimoji="0" lang="zh-CN" altLang="en-US" sz="1200" u="none" strike="noStrike" cap="none" normalizeH="0" baseline="0" dirty="0">
                <a:ln>
                  <a:noFill/>
                </a:ln>
                <a:solidFill>
                  <a:srgbClr val="AB7942"/>
                </a:solidFill>
                <a:effectLst/>
                <a:latin typeface="Tahoma" pitchFamily="34" charset="0"/>
                <a:ea typeface="SimHei" panose="02010609060101010101" pitchFamily="49" charset="-122"/>
              </a:rPr>
              <a:t>标签</a:t>
            </a:r>
          </a:p>
        </p:txBody>
      </p:sp>
      <p:sp>
        <p:nvSpPr>
          <p:cNvPr id="9" name="矩形 46">
            <a:extLst>
              <a:ext uri="{FF2B5EF4-FFF2-40B4-BE49-F238E27FC236}">
                <a16:creationId xmlns:a16="http://schemas.microsoft.com/office/drawing/2014/main" id="{D497C8AB-308F-76BB-E93C-EBC13F3A135D}"/>
              </a:ext>
            </a:extLst>
          </p:cNvPr>
          <p:cNvSpPr/>
          <p:nvPr/>
        </p:nvSpPr>
        <p:spPr bwMode="auto">
          <a:xfrm>
            <a:off x="7263443" y="3671901"/>
            <a:ext cx="982079" cy="236909"/>
          </a:xfrm>
          <a:prstGeom prst="rect">
            <a:avLst/>
          </a:prstGeom>
          <a:solidFill>
            <a:schemeClr val="accent5"/>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Autofit/>
          </a:bodyPr>
          <a:lstStyle/>
          <a:p>
            <a:pPr algn="ctr"/>
            <a:r>
              <a:rPr lang="zh-CN" altLang="en-US" sz="1200" dirty="0">
                <a:solidFill>
                  <a:srgbClr val="FF0000"/>
                </a:solidFill>
                <a:ea typeface="SimHei" panose="02010609060101010101" pitchFamily="49" charset="-122"/>
              </a:rPr>
              <a:t>块内地址</a:t>
            </a:r>
          </a:p>
        </p:txBody>
      </p:sp>
      <p:sp>
        <p:nvSpPr>
          <p:cNvPr id="6" name="标题 5">
            <a:extLst>
              <a:ext uri="{FF2B5EF4-FFF2-40B4-BE49-F238E27FC236}">
                <a16:creationId xmlns:a16="http://schemas.microsoft.com/office/drawing/2014/main" id="{EC8DECBA-4462-DCFA-9C7F-87D8476F5806}"/>
              </a:ext>
            </a:extLst>
          </p:cNvPr>
          <p:cNvSpPr>
            <a:spLocks noGrp="1"/>
          </p:cNvSpPr>
          <p:nvPr>
            <p:ph type="title"/>
          </p:nvPr>
        </p:nvSpPr>
        <p:spPr/>
        <p:txBody>
          <a:bodyPr/>
          <a:lstStyle/>
          <a:p>
            <a:r>
              <a:rPr lang="zh-CN" altLang="en-US" sz="4000" dirty="0"/>
              <a:t>全相联缓存</a:t>
            </a:r>
            <a:r>
              <a:rPr lang="en-US" altLang="zh-CN" sz="4000" dirty="0"/>
              <a:t>:  </a:t>
            </a:r>
            <a:r>
              <a:rPr lang="zh-CN" altLang="en-US" sz="4000" dirty="0"/>
              <a:t>并行查找</a:t>
            </a:r>
            <a:endParaRPr lang="zh-CN" altLang="en-US" dirty="0"/>
          </a:p>
        </p:txBody>
      </p:sp>
    </p:spTree>
    <p:extLst>
      <p:ext uri="{BB962C8B-B14F-4D97-AF65-F5344CB8AC3E}">
        <p14:creationId xmlns:p14="http://schemas.microsoft.com/office/powerpoint/2010/main" val="3800123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50</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直接映像和全相联映像是组相联的特例：</a:t>
            </a:r>
          </a:p>
          <a:p>
            <a:pPr marL="914400" lvl="1" indent="-457200">
              <a:spcBef>
                <a:spcPts val="1000"/>
              </a:spcBef>
            </a:pPr>
            <a:r>
              <a:rPr kumimoji="1" lang="zh-CN" altLang="en-US" sz="2400" dirty="0"/>
              <a:t>直接映像是</a:t>
            </a:r>
            <a:r>
              <a:rPr kumimoji="1" lang="en-US" altLang="zh-CN" sz="2400" dirty="0"/>
              <a:t>1</a:t>
            </a:r>
            <a:r>
              <a:rPr kumimoji="1" lang="zh-CN" altLang="en-US" sz="2400" dirty="0"/>
              <a:t>路组相联</a:t>
            </a:r>
            <a:endParaRPr kumimoji="1" lang="en-US" altLang="zh-CN" sz="2400" dirty="0"/>
          </a:p>
          <a:p>
            <a:pPr marL="1314450" lvl="2" indent="-457200">
              <a:spcBef>
                <a:spcPts val="1000"/>
              </a:spcBef>
            </a:pPr>
            <a:r>
              <a:rPr kumimoji="1" lang="zh-CN" altLang="en-US" sz="2000" dirty="0"/>
              <a:t>组数 </a:t>
            </a:r>
            <a:r>
              <a:rPr kumimoji="1" lang="en-US" altLang="zh-CN" sz="2000" dirty="0"/>
              <a:t>== </a:t>
            </a:r>
            <a:r>
              <a:rPr kumimoji="1" lang="zh-CN" altLang="en-US" sz="2000" dirty="0"/>
              <a:t>行数，即</a:t>
            </a:r>
            <a:r>
              <a:rPr kumimoji="1" lang="zh-CN" altLang="en-US" sz="2000" dirty="0">
                <a:solidFill>
                  <a:srgbClr val="0432FF"/>
                </a:solidFill>
              </a:rPr>
              <a:t>每一行</a:t>
            </a:r>
            <a:r>
              <a:rPr kumimoji="1" lang="zh-CN" altLang="en-US" sz="2000" dirty="0"/>
              <a:t>为</a:t>
            </a:r>
            <a:r>
              <a:rPr kumimoji="1" lang="zh-CN" altLang="en-US" sz="2000" dirty="0">
                <a:solidFill>
                  <a:srgbClr val="0432FF"/>
                </a:solidFill>
              </a:rPr>
              <a:t>一组</a:t>
            </a:r>
          </a:p>
          <a:p>
            <a:pPr marL="914400" lvl="1" indent="-457200">
              <a:spcBef>
                <a:spcPts val="1000"/>
              </a:spcBef>
            </a:pPr>
            <a:r>
              <a:rPr kumimoji="1" lang="zh-CN" altLang="en-US" sz="2400" dirty="0"/>
              <a:t>全相联是</a:t>
            </a:r>
            <a:r>
              <a:rPr kumimoji="1" lang="en-US" altLang="zh-CN" sz="2400" dirty="0"/>
              <a:t>N</a:t>
            </a:r>
            <a:r>
              <a:rPr kumimoji="1" lang="zh-CN" altLang="en-US" sz="2400" dirty="0"/>
              <a:t>路组相联</a:t>
            </a:r>
            <a:endParaRPr kumimoji="1" lang="en-US" altLang="zh-CN" sz="2400" dirty="0"/>
          </a:p>
          <a:p>
            <a:pPr marL="1314450" lvl="2" indent="-457200">
              <a:spcBef>
                <a:spcPts val="1000"/>
              </a:spcBef>
            </a:pPr>
            <a:r>
              <a:rPr kumimoji="1" lang="zh-CN" altLang="en-US" sz="2000" dirty="0"/>
              <a:t>组数 </a:t>
            </a:r>
            <a:r>
              <a:rPr kumimoji="1" lang="en-US" altLang="zh-CN" sz="2000" dirty="0"/>
              <a:t>== 1</a:t>
            </a:r>
            <a:r>
              <a:rPr kumimoji="1" lang="zh-CN" altLang="en-US" sz="2000" dirty="0"/>
              <a:t>，</a:t>
            </a:r>
            <a:r>
              <a:rPr kumimoji="1" lang="zh-CN" altLang="en-US" sz="2000"/>
              <a:t>即</a:t>
            </a:r>
            <a:r>
              <a:rPr kumimoji="1" lang="zh-CN" altLang="en-US" sz="2000" dirty="0">
                <a:solidFill>
                  <a:srgbClr val="0432FF"/>
                </a:solidFill>
              </a:rPr>
              <a:t>所有行</a:t>
            </a:r>
            <a:r>
              <a:rPr kumimoji="1" lang="zh-CN" altLang="en-US" sz="2000" dirty="0"/>
              <a:t>在</a:t>
            </a:r>
            <a:r>
              <a:rPr kumimoji="1" lang="zh-CN" altLang="en-US" sz="2000" dirty="0">
                <a:solidFill>
                  <a:srgbClr val="0432FF"/>
                </a:solidFill>
              </a:rPr>
              <a:t>一组</a:t>
            </a:r>
          </a:p>
          <a:p>
            <a:pPr marL="514350" indent="-457200">
              <a:spcBef>
                <a:spcPts val="1000"/>
              </a:spcBef>
            </a:pPr>
            <a:endParaRPr kumimoji="1" lang="en-US" altLang="zh-CN" dirty="0">
              <a:solidFill>
                <a:schemeClr val="accent1"/>
              </a:solidFill>
            </a:endParaRPr>
          </a:p>
        </p:txBody>
      </p:sp>
    </p:spTree>
    <p:extLst>
      <p:ext uri="{BB962C8B-B14F-4D97-AF65-F5344CB8AC3E}">
        <p14:creationId xmlns:p14="http://schemas.microsoft.com/office/powerpoint/2010/main" val="3606633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51</a:t>
            </a:fld>
            <a:endParaRPr lang="en-US" altLang="zh-CN"/>
          </a:p>
        </p:txBody>
      </p:sp>
      <p:sp>
        <p:nvSpPr>
          <p:cNvPr id="24" name="内容占位符 2">
            <a:extLst>
              <a:ext uri="{FF2B5EF4-FFF2-40B4-BE49-F238E27FC236}">
                <a16:creationId xmlns:a16="http://schemas.microsoft.com/office/drawing/2014/main" id="{B82261FC-FF50-B54E-942A-C31042725BEE}"/>
              </a:ext>
            </a:extLst>
          </p:cNvPr>
          <p:cNvSpPr>
            <a:spLocks noGrp="1"/>
          </p:cNvSpPr>
          <p:nvPr>
            <p:ph idx="1"/>
          </p:nvPr>
        </p:nvSpPr>
        <p:spPr>
          <a:xfrm>
            <a:off x="457200" y="1551433"/>
            <a:ext cx="8686800" cy="629684"/>
          </a:xfrm>
        </p:spPr>
        <p:txBody>
          <a:bodyPr/>
          <a:lstStyle/>
          <a:p>
            <a:pPr marL="514350" indent="-457200">
              <a:spcBef>
                <a:spcPts val="1000"/>
              </a:spcBef>
            </a:pPr>
            <a:r>
              <a:rPr kumimoji="1" lang="zh-CN" altLang="en-US" dirty="0"/>
              <a:t>主存地址、标签</a:t>
            </a:r>
            <a:r>
              <a:rPr kumimoji="1" lang="en-US" altLang="zh-CN" dirty="0"/>
              <a:t>tag</a:t>
            </a:r>
            <a:r>
              <a:rPr kumimoji="1" lang="zh-CN" altLang="en-US" dirty="0"/>
              <a:t>和索引</a:t>
            </a:r>
            <a:r>
              <a:rPr kumimoji="1" lang="en-US" altLang="zh-CN" dirty="0"/>
              <a:t>index</a:t>
            </a:r>
            <a:r>
              <a:rPr kumimoji="1" lang="zh-CN" altLang="en-US" dirty="0"/>
              <a:t>之间的关系</a:t>
            </a:r>
            <a:endParaRPr kumimoji="1" lang="en-US" altLang="zh-CN" dirty="0"/>
          </a:p>
          <a:p>
            <a:pPr marL="914400" lvl="1" indent="-457200">
              <a:spcBef>
                <a:spcPts val="1000"/>
              </a:spcBef>
            </a:pPr>
            <a:r>
              <a:rPr kumimoji="1" lang="en-US" altLang="zh-CN" dirty="0">
                <a:solidFill>
                  <a:srgbClr val="1A49EA"/>
                </a:solidFill>
              </a:rPr>
              <a:t>Cache</a:t>
            </a:r>
            <a:r>
              <a:rPr kumimoji="1" lang="zh-CN" altLang="en-US" dirty="0">
                <a:solidFill>
                  <a:srgbClr val="1A49EA"/>
                </a:solidFill>
              </a:rPr>
              <a:t>行号及</a:t>
            </a:r>
            <a:r>
              <a:rPr kumimoji="1" lang="en-US" altLang="zh-CN" dirty="0">
                <a:solidFill>
                  <a:srgbClr val="1A49EA"/>
                </a:solidFill>
              </a:rPr>
              <a:t>Cache</a:t>
            </a:r>
            <a:r>
              <a:rPr kumimoji="1" lang="zh-CN" altLang="en-US" dirty="0">
                <a:solidFill>
                  <a:srgbClr val="1A49EA"/>
                </a:solidFill>
              </a:rPr>
              <a:t>组号</a:t>
            </a:r>
            <a:r>
              <a:rPr kumimoji="1" lang="zh-CN" altLang="en-US" dirty="0"/>
              <a:t>也称为</a:t>
            </a:r>
            <a:r>
              <a:rPr kumimoji="1" lang="zh-CN" altLang="en-US" dirty="0">
                <a:solidFill>
                  <a:srgbClr val="1A49EA"/>
                </a:solidFill>
              </a:rPr>
              <a:t>索引</a:t>
            </a:r>
            <a:r>
              <a:rPr kumimoji="1" lang="en-US" altLang="zh-CN" dirty="0">
                <a:solidFill>
                  <a:srgbClr val="1A49EA"/>
                </a:solidFill>
              </a:rPr>
              <a:t>Index</a:t>
            </a:r>
          </a:p>
        </p:txBody>
      </p:sp>
      <p:grpSp>
        <p:nvGrpSpPr>
          <p:cNvPr id="4" name="组合 3">
            <a:extLst>
              <a:ext uri="{FF2B5EF4-FFF2-40B4-BE49-F238E27FC236}">
                <a16:creationId xmlns:a16="http://schemas.microsoft.com/office/drawing/2014/main" id="{1CFCD365-E57E-9819-F230-573CC9BF6AC6}"/>
              </a:ext>
            </a:extLst>
          </p:cNvPr>
          <p:cNvGrpSpPr/>
          <p:nvPr/>
        </p:nvGrpSpPr>
        <p:grpSpPr>
          <a:xfrm>
            <a:off x="1805313" y="2959547"/>
            <a:ext cx="5535509" cy="2140315"/>
            <a:chOff x="1805313" y="2959547"/>
            <a:chExt cx="5535509" cy="2140315"/>
          </a:xfrm>
        </p:grpSpPr>
        <p:sp>
          <p:nvSpPr>
            <p:cNvPr id="13" name="Rectangle 144">
              <a:extLst>
                <a:ext uri="{FF2B5EF4-FFF2-40B4-BE49-F238E27FC236}">
                  <a16:creationId xmlns:a16="http://schemas.microsoft.com/office/drawing/2014/main" id="{9EE97EC9-9198-5C4D-9125-CF5A144C0DAC}"/>
                </a:ext>
              </a:extLst>
            </p:cNvPr>
            <p:cNvSpPr>
              <a:spLocks noChangeArrowheads="1"/>
            </p:cNvSpPr>
            <p:nvPr/>
          </p:nvSpPr>
          <p:spPr bwMode="auto">
            <a:xfrm>
              <a:off x="6005372" y="3555296"/>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4" name="Rectangle 145">
              <a:extLst>
                <a:ext uri="{FF2B5EF4-FFF2-40B4-BE49-F238E27FC236}">
                  <a16:creationId xmlns:a16="http://schemas.microsoft.com/office/drawing/2014/main" id="{EFADE3AE-68CE-744A-9322-2ABCE5D01942}"/>
                </a:ext>
              </a:extLst>
            </p:cNvPr>
            <p:cNvSpPr>
              <a:spLocks noChangeArrowheads="1"/>
            </p:cNvSpPr>
            <p:nvPr/>
          </p:nvSpPr>
          <p:spPr bwMode="auto">
            <a:xfrm>
              <a:off x="3359022" y="3552701"/>
              <a:ext cx="2646349"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15" name="Rectangle 146">
              <a:extLst>
                <a:ext uri="{FF2B5EF4-FFF2-40B4-BE49-F238E27FC236}">
                  <a16:creationId xmlns:a16="http://schemas.microsoft.com/office/drawing/2014/main" id="{D8BBB219-E21D-6D48-96B7-50C13BA755A5}"/>
                </a:ext>
              </a:extLst>
            </p:cNvPr>
            <p:cNvSpPr>
              <a:spLocks noChangeArrowheads="1"/>
            </p:cNvSpPr>
            <p:nvPr/>
          </p:nvSpPr>
          <p:spPr bwMode="auto">
            <a:xfrm>
              <a:off x="1805315" y="3552701"/>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Comic Sans MS" pitchFamily="66" charset="0"/>
                  <a:ea typeface="SimHei" panose="02010609060101010101" pitchFamily="49" charset="-122"/>
                </a:rPr>
                <a:t>全相联</a:t>
              </a:r>
            </a:p>
          </p:txBody>
        </p:sp>
        <p:sp>
          <p:nvSpPr>
            <p:cNvPr id="16" name="Rectangle 147">
              <a:extLst>
                <a:ext uri="{FF2B5EF4-FFF2-40B4-BE49-F238E27FC236}">
                  <a16:creationId xmlns:a16="http://schemas.microsoft.com/office/drawing/2014/main" id="{D5CE3A31-17E8-B44D-A290-180A79432AF5}"/>
                </a:ext>
              </a:extLst>
            </p:cNvPr>
            <p:cNvSpPr>
              <a:spLocks noChangeArrowheads="1"/>
            </p:cNvSpPr>
            <p:nvPr/>
          </p:nvSpPr>
          <p:spPr bwMode="auto">
            <a:xfrm>
              <a:off x="6005371" y="4147790"/>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7" name="Rectangle 148">
              <a:extLst>
                <a:ext uri="{FF2B5EF4-FFF2-40B4-BE49-F238E27FC236}">
                  <a16:creationId xmlns:a16="http://schemas.microsoft.com/office/drawing/2014/main" id="{6E9CC51C-582D-864E-A289-A5B6B001B638}"/>
                </a:ext>
              </a:extLst>
            </p:cNvPr>
            <p:cNvSpPr>
              <a:spLocks noChangeArrowheads="1"/>
            </p:cNvSpPr>
            <p:nvPr/>
          </p:nvSpPr>
          <p:spPr bwMode="auto">
            <a:xfrm>
              <a:off x="1805314" y="4145408"/>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Comic Sans MS" pitchFamily="66" charset="0"/>
                  <a:ea typeface="SimHei" panose="02010609060101010101" pitchFamily="49" charset="-122"/>
                </a:rPr>
                <a:t>直接映像</a:t>
              </a:r>
            </a:p>
          </p:txBody>
        </p:sp>
        <p:sp>
          <p:nvSpPr>
            <p:cNvPr id="18" name="Rectangle 149">
              <a:extLst>
                <a:ext uri="{FF2B5EF4-FFF2-40B4-BE49-F238E27FC236}">
                  <a16:creationId xmlns:a16="http://schemas.microsoft.com/office/drawing/2014/main" id="{83210ACC-A433-EC41-9353-E0FDAFF398D2}"/>
                </a:ext>
              </a:extLst>
            </p:cNvPr>
            <p:cNvSpPr>
              <a:spLocks noChangeArrowheads="1"/>
            </p:cNvSpPr>
            <p:nvPr/>
          </p:nvSpPr>
          <p:spPr bwMode="auto">
            <a:xfrm>
              <a:off x="4676740" y="4147790"/>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en-US" altLang="zh-CN" sz="1600" dirty="0">
                  <a:solidFill>
                    <a:schemeClr val="tx2"/>
                  </a:solidFill>
                  <a:latin typeface="+mn-lt"/>
                  <a:ea typeface="SimHei" panose="02010609060101010101" pitchFamily="49" charset="-122"/>
                </a:rPr>
                <a:t>Cache</a:t>
              </a:r>
              <a:r>
                <a:rPr lang="zh-CN" altLang="en-US" sz="1600" dirty="0">
                  <a:solidFill>
                    <a:schemeClr val="tx2"/>
                  </a:solidFill>
                  <a:latin typeface="+mn-lt"/>
                  <a:ea typeface="SimHei" panose="02010609060101010101" pitchFamily="49" charset="-122"/>
                </a:rPr>
                <a:t>行号</a:t>
              </a:r>
              <a:endParaRPr lang="en-US" altLang="zh-CN" sz="1600" dirty="0">
                <a:solidFill>
                  <a:schemeClr val="tx2"/>
                </a:solidFill>
                <a:latin typeface="+mn-lt"/>
                <a:ea typeface="SimHei" panose="02010609060101010101" pitchFamily="49" charset="-122"/>
              </a:endParaRPr>
            </a:p>
          </p:txBody>
        </p:sp>
        <p:sp>
          <p:nvSpPr>
            <p:cNvPr id="19" name="Rectangle 150">
              <a:extLst>
                <a:ext uri="{FF2B5EF4-FFF2-40B4-BE49-F238E27FC236}">
                  <a16:creationId xmlns:a16="http://schemas.microsoft.com/office/drawing/2014/main" id="{0D5C3632-2A80-8A45-8F0E-D26C61B51C35}"/>
                </a:ext>
              </a:extLst>
            </p:cNvPr>
            <p:cNvSpPr>
              <a:spLocks noChangeArrowheads="1"/>
            </p:cNvSpPr>
            <p:nvPr/>
          </p:nvSpPr>
          <p:spPr bwMode="auto">
            <a:xfrm>
              <a:off x="3359022" y="4147993"/>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20" name="Rectangle 151">
              <a:extLst>
                <a:ext uri="{FF2B5EF4-FFF2-40B4-BE49-F238E27FC236}">
                  <a16:creationId xmlns:a16="http://schemas.microsoft.com/office/drawing/2014/main" id="{B482C172-E2B8-E14B-9364-6B7DF207D48B}"/>
                </a:ext>
              </a:extLst>
            </p:cNvPr>
            <p:cNvSpPr>
              <a:spLocks noChangeArrowheads="1"/>
            </p:cNvSpPr>
            <p:nvPr/>
          </p:nvSpPr>
          <p:spPr bwMode="auto">
            <a:xfrm>
              <a:off x="6012191" y="4760137"/>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21" name="Rectangle 152">
              <a:extLst>
                <a:ext uri="{FF2B5EF4-FFF2-40B4-BE49-F238E27FC236}">
                  <a16:creationId xmlns:a16="http://schemas.microsoft.com/office/drawing/2014/main" id="{A1BBE9D5-9BF5-2148-BBB8-FB6EE3C8C6ED}"/>
                </a:ext>
              </a:extLst>
            </p:cNvPr>
            <p:cNvSpPr>
              <a:spLocks noChangeArrowheads="1"/>
            </p:cNvSpPr>
            <p:nvPr/>
          </p:nvSpPr>
          <p:spPr bwMode="auto">
            <a:xfrm>
              <a:off x="4683560" y="4760696"/>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en-US" altLang="zh-CN" sz="1600" dirty="0">
                  <a:solidFill>
                    <a:schemeClr val="tx2"/>
                  </a:solidFill>
                  <a:latin typeface="+mn-lt"/>
                  <a:ea typeface="SimHei" panose="02010609060101010101" pitchFamily="49" charset="-122"/>
                </a:rPr>
                <a:t>Cache</a:t>
              </a:r>
              <a:r>
                <a:rPr lang="zh-CN" altLang="en-US" sz="1600" dirty="0">
                  <a:solidFill>
                    <a:schemeClr val="tx2"/>
                  </a:solidFill>
                  <a:latin typeface="+mn-lt"/>
                  <a:ea typeface="SimHei" panose="02010609060101010101" pitchFamily="49" charset="-122"/>
                </a:rPr>
                <a:t>组号</a:t>
              </a:r>
              <a:endParaRPr lang="en-US" altLang="zh-CN" sz="1600" dirty="0">
                <a:solidFill>
                  <a:schemeClr val="tx2"/>
                </a:solidFill>
                <a:latin typeface="+mn-lt"/>
                <a:ea typeface="SimHei" panose="02010609060101010101" pitchFamily="49" charset="-122"/>
              </a:endParaRPr>
            </a:p>
          </p:txBody>
        </p:sp>
        <p:sp>
          <p:nvSpPr>
            <p:cNvPr id="22" name="Rectangle 153">
              <a:extLst>
                <a:ext uri="{FF2B5EF4-FFF2-40B4-BE49-F238E27FC236}">
                  <a16:creationId xmlns:a16="http://schemas.microsoft.com/office/drawing/2014/main" id="{00D93238-A812-FD48-8223-2C6C2EA63917}"/>
                </a:ext>
              </a:extLst>
            </p:cNvPr>
            <p:cNvSpPr>
              <a:spLocks noChangeArrowheads="1"/>
            </p:cNvSpPr>
            <p:nvPr/>
          </p:nvSpPr>
          <p:spPr bwMode="auto">
            <a:xfrm>
              <a:off x="3359022" y="4760696"/>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23" name="Rectangle 154">
              <a:extLst>
                <a:ext uri="{FF2B5EF4-FFF2-40B4-BE49-F238E27FC236}">
                  <a16:creationId xmlns:a16="http://schemas.microsoft.com/office/drawing/2014/main" id="{959B39E8-62FC-E84B-8900-48AFE6B7B208}"/>
                </a:ext>
              </a:extLst>
            </p:cNvPr>
            <p:cNvSpPr>
              <a:spLocks noChangeArrowheads="1"/>
            </p:cNvSpPr>
            <p:nvPr/>
          </p:nvSpPr>
          <p:spPr bwMode="auto">
            <a:xfrm>
              <a:off x="1805313" y="4760696"/>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Comic Sans MS" pitchFamily="66" charset="0"/>
                  <a:ea typeface="SimHei" panose="02010609060101010101" pitchFamily="49" charset="-122"/>
                </a:rPr>
                <a:t>组相联</a:t>
              </a:r>
            </a:p>
          </p:txBody>
        </p:sp>
        <p:sp>
          <p:nvSpPr>
            <p:cNvPr id="27" name="Rectangle 143">
              <a:extLst>
                <a:ext uri="{FF2B5EF4-FFF2-40B4-BE49-F238E27FC236}">
                  <a16:creationId xmlns:a16="http://schemas.microsoft.com/office/drawing/2014/main" id="{56FA1051-4886-1C43-8BCE-3A2CCFD645BB}"/>
                </a:ext>
              </a:extLst>
            </p:cNvPr>
            <p:cNvSpPr>
              <a:spLocks noChangeArrowheads="1"/>
            </p:cNvSpPr>
            <p:nvPr/>
          </p:nvSpPr>
          <p:spPr bwMode="auto">
            <a:xfrm>
              <a:off x="3359022" y="2959547"/>
              <a:ext cx="3974980"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2045" tIns="46023" rIns="92045" bIns="46023" anchor="ctr">
              <a:spAutoFit/>
            </a:bodyPr>
            <a:lstStyle/>
            <a:p>
              <a:pPr algn="ctr" defTabSz="1009650" eaLnBrk="0" hangingPunct="0"/>
              <a:endParaRPr lang="en-US" altLang="zh-CN" sz="1600" dirty="0">
                <a:solidFill>
                  <a:srgbClr val="FF0000"/>
                </a:solidFill>
                <a:latin typeface="Comic Sans MS" pitchFamily="66" charset="0"/>
                <a:ea typeface="SimHei" panose="02010609060101010101" pitchFamily="49" charset="-122"/>
              </a:endParaRPr>
            </a:p>
          </p:txBody>
        </p:sp>
        <p:sp>
          <p:nvSpPr>
            <p:cNvPr id="28" name="Rectangle 146">
              <a:extLst>
                <a:ext uri="{FF2B5EF4-FFF2-40B4-BE49-F238E27FC236}">
                  <a16:creationId xmlns:a16="http://schemas.microsoft.com/office/drawing/2014/main" id="{9EC07C3E-1CC5-ED48-A2D0-A6DCD15C99F1}"/>
                </a:ext>
              </a:extLst>
            </p:cNvPr>
            <p:cNvSpPr>
              <a:spLocks noChangeArrowheads="1"/>
            </p:cNvSpPr>
            <p:nvPr/>
          </p:nvSpPr>
          <p:spPr bwMode="auto">
            <a:xfrm>
              <a:off x="1805316" y="296419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Comic Sans MS" pitchFamily="66" charset="0"/>
                  <a:ea typeface="SimHei" panose="02010609060101010101" pitchFamily="49" charset="-122"/>
                </a:rPr>
                <a:t>主存地址</a:t>
              </a:r>
            </a:p>
          </p:txBody>
        </p:sp>
      </p:grpSp>
    </p:spTree>
    <p:extLst>
      <p:ext uri="{BB962C8B-B14F-4D97-AF65-F5344CB8AC3E}">
        <p14:creationId xmlns:p14="http://schemas.microsoft.com/office/powerpoint/2010/main" val="1465255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52</a:t>
            </a:fld>
            <a:endParaRPr lang="en-US" altLang="zh-CN"/>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199" y="1551432"/>
                <a:ext cx="8506047" cy="4779793"/>
              </a:xfrm>
            </p:spPr>
            <p:txBody>
              <a:bodyPr/>
              <a:lstStyle/>
              <a:p>
                <a:pPr marL="514350" indent="-457200">
                  <a:spcBef>
                    <a:spcPts val="1000"/>
                  </a:spcBef>
                </a:pPr>
                <a:r>
                  <a:rPr kumimoji="1" lang="zh-CN" altLang="en-US" dirty="0"/>
                  <a:t>主存地址、标签和索引 </a:t>
                </a:r>
                <a:r>
                  <a:rPr kumimoji="1" lang="en-US" altLang="zh-CN" dirty="0"/>
                  <a:t>(</a:t>
                </a:r>
                <a:r>
                  <a:rPr kumimoji="1" lang="zh-CN" altLang="en-US" dirty="0"/>
                  <a:t>组号</a:t>
                </a:r>
                <a:r>
                  <a:rPr kumimoji="1" lang="en-US" altLang="zh-CN" dirty="0"/>
                  <a:t>) </a:t>
                </a:r>
                <a:r>
                  <a:rPr kumimoji="1" lang="zh-CN" altLang="en-US" dirty="0"/>
                  <a:t>之间的关系</a:t>
                </a:r>
              </a:p>
              <a:p>
                <a:pPr marL="914400" lvl="1" indent="-457200">
                  <a:spcBef>
                    <a:spcPts val="1000"/>
                  </a:spcBef>
                </a:pPr>
                <a:r>
                  <a:rPr kumimoji="1" lang="zh-CN" altLang="en-US" sz="2400" dirty="0"/>
                  <a:t>注意：标签</a:t>
                </a:r>
                <a:r>
                  <a:rPr kumimoji="1" lang="en-US" altLang="zh-CN" sz="2400" dirty="0"/>
                  <a:t>(Tag)</a:t>
                </a:r>
                <a:r>
                  <a:rPr kumimoji="1" lang="zh-CN" altLang="en-US" sz="2400" dirty="0"/>
                  <a:t>和索引</a:t>
                </a:r>
                <a:r>
                  <a:rPr kumimoji="1" lang="en-US" altLang="zh-CN" sz="2400" dirty="0"/>
                  <a:t>(Index)</a:t>
                </a:r>
                <a:r>
                  <a:rPr kumimoji="1" lang="zh-CN" altLang="en-US" sz="2400" dirty="0"/>
                  <a:t>都是从主存块号中得到</a:t>
                </a:r>
              </a:p>
              <a:p>
                <a:pPr marL="1314450" lvl="2" indent="-457200">
                  <a:spcBef>
                    <a:spcPts val="1000"/>
                  </a:spcBef>
                  <a:buFont typeface="Wingdings" pitchFamily="2" charset="2"/>
                  <a:buChar char="Ø"/>
                </a:pPr>
                <a:r>
                  <a:rPr kumimoji="1" lang="zh-CN" altLang="en-US" sz="2000" dirty="0"/>
                  <a:t>若主存块大小为</a:t>
                </a:r>
                <a:r>
                  <a:rPr kumimoji="1" lang="en-US" altLang="zh-CN" sz="2000" dirty="0"/>
                  <a:t>8</a:t>
                </a:r>
                <a:r>
                  <a:rPr kumimoji="1" lang="zh-CN" altLang="en-US" sz="2000" dirty="0"/>
                  <a:t>个字 </a:t>
                </a:r>
                <a:r>
                  <a:rPr kumimoji="1" lang="en-US" altLang="zh-CN" sz="2000" dirty="0"/>
                  <a:t>(32</a:t>
                </a:r>
                <a:r>
                  <a:rPr kumimoji="1" lang="zh-CN" altLang="en-US" sz="2000" dirty="0"/>
                  <a:t>字节</a:t>
                </a:r>
                <a:r>
                  <a:rPr kumimoji="1" lang="en-US" altLang="zh-CN" sz="2000" dirty="0"/>
                  <a:t>) </a:t>
                </a:r>
                <a:r>
                  <a:rPr kumimoji="1" lang="zh-CN" altLang="en-US" sz="2000" dirty="0"/>
                  <a:t>， 则地址</a:t>
                </a:r>
                <a:r>
                  <a:rPr kumimoji="1" lang="en-US" altLang="zh-CN" sz="2000" dirty="0"/>
                  <a:t>0</a:t>
                </a:r>
                <a:r>
                  <a:rPr kumimoji="1" lang="zh-CN" altLang="en-US" sz="2000" dirty="0"/>
                  <a:t>～</a:t>
                </a:r>
                <a:r>
                  <a:rPr kumimoji="1" lang="en-US" altLang="zh-CN" sz="2000" dirty="0"/>
                  <a:t>31</a:t>
                </a:r>
                <a:r>
                  <a:rPr kumimoji="1" lang="zh-CN" altLang="en-US" sz="2000" dirty="0"/>
                  <a:t>位第</a:t>
                </a:r>
                <a:r>
                  <a:rPr kumimoji="1" lang="en-US" altLang="zh-CN" sz="2000" dirty="0"/>
                  <a:t>0</a:t>
                </a:r>
                <a:r>
                  <a:rPr kumimoji="1" lang="zh-CN" altLang="en-US" sz="2000" dirty="0"/>
                  <a:t>个块、 地址</a:t>
                </a:r>
                <a:r>
                  <a:rPr kumimoji="1" lang="en-US" altLang="zh-CN" sz="2000" dirty="0"/>
                  <a:t>32</a:t>
                </a:r>
                <a:r>
                  <a:rPr kumimoji="1" lang="zh-CN" altLang="en-US" sz="2000" dirty="0"/>
                  <a:t>～</a:t>
                </a:r>
                <a:r>
                  <a:rPr kumimoji="1" lang="en-US" altLang="zh-CN" sz="2000" dirty="0"/>
                  <a:t>63</a:t>
                </a:r>
                <a:r>
                  <a:rPr kumimoji="1" lang="zh-CN" altLang="en-US" sz="2000" dirty="0"/>
                  <a:t>位第</a:t>
                </a:r>
                <a:r>
                  <a:rPr kumimoji="1" lang="en-US" altLang="zh-CN" sz="2000" dirty="0"/>
                  <a:t>1</a:t>
                </a:r>
                <a:r>
                  <a:rPr kumimoji="1" lang="zh-CN" altLang="en-US" sz="2000" dirty="0"/>
                  <a:t>个块</a:t>
                </a:r>
                <a:r>
                  <a:rPr kumimoji="1" lang="en-US" altLang="zh-CN" sz="2000" dirty="0"/>
                  <a:t>…</a:t>
                </a:r>
              </a:p>
              <a:p>
                <a:pPr marL="1314450" lvl="2" indent="-457200">
                  <a:spcBef>
                    <a:spcPts val="1000"/>
                  </a:spcBef>
                  <a:buFont typeface="Wingdings" pitchFamily="2" charset="2"/>
                  <a:buChar char="Ø"/>
                </a:pPr>
                <a:r>
                  <a:rPr kumimoji="1" lang="zh-CN" altLang="en-US" sz="2000" dirty="0"/>
                  <a:t>块内地址</a:t>
                </a:r>
                <a:r>
                  <a:rPr kumimoji="1" lang="en-US" altLang="zh-CN" sz="2000" dirty="0"/>
                  <a:t>(</a:t>
                </a:r>
                <a:r>
                  <a:rPr kumimoji="1" lang="zh-CN" altLang="en-US" sz="2000" dirty="0"/>
                  <a:t>等价于</a:t>
                </a:r>
                <a:r>
                  <a:rPr kumimoji="1" lang="en-US" altLang="zh-CN" sz="2000" dirty="0"/>
                  <a:t>cache</a:t>
                </a:r>
                <a:r>
                  <a:rPr kumimoji="1" lang="zh-CN" altLang="en-US" sz="2000" dirty="0"/>
                  <a:t>行内地址</a:t>
                </a:r>
                <a:r>
                  <a:rPr kumimoji="1" lang="en-US" altLang="zh-CN" sz="2000" dirty="0"/>
                  <a:t>)</a:t>
                </a:r>
                <a:r>
                  <a:rPr kumimoji="1" lang="zh-CN" altLang="en-US" sz="2000" dirty="0"/>
                  <a:t>决定了选择块内的第几个数据字。如地址</a:t>
                </a:r>
                <a:r>
                  <a:rPr kumimoji="1" lang="en-US" altLang="zh-CN" sz="2000" dirty="0"/>
                  <a:t>48</a:t>
                </a:r>
                <a:r>
                  <a:rPr kumimoji="1" lang="zh-CN" altLang="en-US" sz="2000" dirty="0"/>
                  <a:t>为第一个块中，块内地址为</a:t>
                </a:r>
                <a:r>
                  <a:rPr kumimoji="1" lang="en-US" altLang="zh-CN" sz="2000" dirty="0"/>
                  <a:t>16</a:t>
                </a:r>
              </a:p>
              <a:p>
                <a:pPr marL="514350" indent="-457200">
                  <a:spcBef>
                    <a:spcPts val="1000"/>
                  </a:spcBef>
                </a:pPr>
                <a:r>
                  <a:rPr kumimoji="1" lang="zh-CN" altLang="en-US" dirty="0"/>
                  <a:t>索引为</a:t>
                </a:r>
                <a14:m>
                  <m:oMath xmlns:m="http://schemas.openxmlformats.org/officeDocument/2006/math">
                    <m:sSub>
                      <m:sSubPr>
                        <m:ctrlPr>
                          <a:rPr kumimoji="1" lang="en-US" altLang="zh-CN" i="1" dirty="0" smtClean="0">
                            <a:latin typeface="Cambria Math" panose="02040503050406030204" pitchFamily="18" charset="0"/>
                          </a:rPr>
                        </m:ctrlPr>
                      </m:sSubPr>
                      <m:e>
                        <m:r>
                          <m:rPr>
                            <m:sty m:val="p"/>
                          </m:rPr>
                          <a:rPr kumimoji="1" lang="en-US" altLang="zh-CN" i="0" dirty="0">
                            <a:latin typeface="Cambria Math" panose="02040503050406030204" pitchFamily="18" charset="0"/>
                          </a:rPr>
                          <m:t>log</m:t>
                        </m:r>
                      </m:e>
                      <m:sub>
                        <m:r>
                          <a:rPr kumimoji="1" lang="en-US" altLang="zh-CN" b="1" i="0" dirty="0" smtClean="0">
                            <a:latin typeface="Cambria Math" panose="02040503050406030204" pitchFamily="18" charset="0"/>
                          </a:rPr>
                          <m:t>𝟐</m:t>
                        </m:r>
                      </m:sub>
                    </m:sSub>
                  </m:oMath>
                </a14:m>
                <a:r>
                  <a:rPr kumimoji="1" lang="en-US" altLang="zh-CN" dirty="0"/>
                  <a:t>(cache</a:t>
                </a:r>
                <a:r>
                  <a:rPr kumimoji="1" lang="zh-CN" altLang="en-US" dirty="0"/>
                  <a:t>组的数量</a:t>
                </a:r>
                <a:r>
                  <a:rPr kumimoji="1" lang="en-US" altLang="zh-CN" dirty="0"/>
                  <a:t>)</a:t>
                </a:r>
                <a:r>
                  <a:rPr kumimoji="1" lang="zh-CN" altLang="en-US" dirty="0"/>
                  <a:t>个比特长</a:t>
                </a:r>
              </a:p>
              <a:p>
                <a:pPr marL="514350" indent="-457200">
                  <a:spcBef>
                    <a:spcPts val="1000"/>
                  </a:spcBef>
                </a:pPr>
                <a:r>
                  <a:rPr kumimoji="1" lang="zh-CN" altLang="en-US" dirty="0"/>
                  <a:t>标签是地址的其余部分</a:t>
                </a:r>
              </a:p>
              <a:p>
                <a:pPr marL="914400" lvl="1" indent="-457200">
                  <a:spcBef>
                    <a:spcPts val="1000"/>
                  </a:spcBef>
                </a:pPr>
                <a:r>
                  <a:rPr kumimoji="1" lang="zh-CN" altLang="en-US" sz="2400" dirty="0"/>
                  <a:t>理论上讲，标签可以更长，以区分所有组的所有行</a:t>
                </a:r>
              </a:p>
              <a:p>
                <a:pPr marL="914400" lvl="1" indent="-457200">
                  <a:spcBef>
                    <a:spcPts val="1000"/>
                  </a:spcBef>
                </a:pPr>
                <a:r>
                  <a:rPr kumimoji="1" lang="zh-CN" altLang="en-US" sz="2400" dirty="0"/>
                  <a:t>实际上没有必要，标签只用来区分组内的行</a:t>
                </a:r>
              </a:p>
            </p:txBody>
          </p:sp>
        </mc:Choice>
        <mc:Fallback xmlns="">
          <p:sp>
            <p:nvSpPr>
              <p:cNvPr id="4" name="内容占位符 2">
                <a:extLst>
                  <a:ext uri="{FF2B5EF4-FFF2-40B4-BE49-F238E27FC236}">
                    <a16:creationId xmlns:a16="http://schemas.microsoft.com/office/drawing/2014/main" id="{FBE02D7A-4922-804D-B66B-910F9081B8A5}"/>
                  </a:ext>
                </a:extLst>
              </p:cNvPr>
              <p:cNvSpPr>
                <a:spLocks noGrp="1" noRot="1" noChangeAspect="1" noMove="1" noResize="1" noEditPoints="1" noAdjustHandles="1" noChangeArrowheads="1" noChangeShapeType="1" noTextEdit="1"/>
              </p:cNvSpPr>
              <p:nvPr>
                <p:ph idx="1"/>
              </p:nvPr>
            </p:nvSpPr>
            <p:spPr>
              <a:xfrm>
                <a:off x="457199" y="1551432"/>
                <a:ext cx="8506047" cy="4779793"/>
              </a:xfrm>
              <a:blipFill>
                <a:blip r:embed="rId3"/>
                <a:stretch>
                  <a:fillRect l="-1004" t="-2041" b="-21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0335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灯片编号占位符 5"/>
          <p:cNvSpPr>
            <a:spLocks noGrp="1"/>
          </p:cNvSpPr>
          <p:nvPr>
            <p:ph type="sldNum" sz="quarter" idx="12"/>
          </p:nvPr>
        </p:nvSpPr>
        <p:spPr>
          <a:noFill/>
        </p:spPr>
        <p:txBody>
          <a:bodyPr/>
          <a:lstStyle>
            <a:lvl1pPr defTabSz="887785" eaLnBrk="0" hangingPunct="0">
              <a:defRPr>
                <a:solidFill>
                  <a:schemeClr val="tx1"/>
                </a:solidFill>
                <a:latin typeface="Tahoma" pitchFamily="34" charset="0"/>
                <a:ea typeface="宋体" charset="-122"/>
              </a:defRPr>
            </a:lvl1pPr>
            <a:lvl2pPr marL="653276" indent="-251260" defTabSz="887785" eaLnBrk="0" hangingPunct="0">
              <a:defRPr>
                <a:solidFill>
                  <a:schemeClr val="tx1"/>
                </a:solidFill>
                <a:latin typeface="Tahoma" pitchFamily="34" charset="0"/>
                <a:ea typeface="宋体" charset="-122"/>
              </a:defRPr>
            </a:lvl2pPr>
            <a:lvl3pPr marL="1005040" indent="-201008" defTabSz="887785" eaLnBrk="0" hangingPunct="0">
              <a:defRPr>
                <a:solidFill>
                  <a:schemeClr val="tx1"/>
                </a:solidFill>
                <a:latin typeface="Tahoma" pitchFamily="34" charset="0"/>
                <a:ea typeface="宋体" charset="-122"/>
              </a:defRPr>
            </a:lvl3pPr>
            <a:lvl4pPr marL="1407056" indent="-201008" defTabSz="887785" eaLnBrk="0" hangingPunct="0">
              <a:defRPr>
                <a:solidFill>
                  <a:schemeClr val="tx1"/>
                </a:solidFill>
                <a:latin typeface="Tahoma" pitchFamily="34" charset="0"/>
                <a:ea typeface="宋体" charset="-122"/>
              </a:defRPr>
            </a:lvl4pPr>
            <a:lvl5pPr marL="1809072" indent="-201008" defTabSz="887785" eaLnBrk="0" hangingPunct="0">
              <a:defRPr>
                <a:solidFill>
                  <a:schemeClr val="tx1"/>
                </a:solidFill>
                <a:latin typeface="Tahoma" pitchFamily="34" charset="0"/>
                <a:ea typeface="宋体" charset="-122"/>
              </a:defRPr>
            </a:lvl5pPr>
            <a:lvl6pPr marL="2211088" indent="-201008" defTabSz="887785" eaLnBrk="0" fontAlgn="base" hangingPunct="0">
              <a:spcBef>
                <a:spcPct val="0"/>
              </a:spcBef>
              <a:spcAft>
                <a:spcPct val="0"/>
              </a:spcAft>
              <a:defRPr>
                <a:solidFill>
                  <a:schemeClr val="tx1"/>
                </a:solidFill>
                <a:latin typeface="Tahoma" pitchFamily="34" charset="0"/>
                <a:ea typeface="宋体" charset="-122"/>
              </a:defRPr>
            </a:lvl6pPr>
            <a:lvl7pPr marL="2613104" indent="-201008" defTabSz="887785" eaLnBrk="0" fontAlgn="base" hangingPunct="0">
              <a:spcBef>
                <a:spcPct val="0"/>
              </a:spcBef>
              <a:spcAft>
                <a:spcPct val="0"/>
              </a:spcAft>
              <a:defRPr>
                <a:solidFill>
                  <a:schemeClr val="tx1"/>
                </a:solidFill>
                <a:latin typeface="Tahoma" pitchFamily="34" charset="0"/>
                <a:ea typeface="宋体" charset="-122"/>
              </a:defRPr>
            </a:lvl7pPr>
            <a:lvl8pPr marL="3015120" indent="-201008" defTabSz="887785" eaLnBrk="0" fontAlgn="base" hangingPunct="0">
              <a:spcBef>
                <a:spcPct val="0"/>
              </a:spcBef>
              <a:spcAft>
                <a:spcPct val="0"/>
              </a:spcAft>
              <a:defRPr>
                <a:solidFill>
                  <a:schemeClr val="tx1"/>
                </a:solidFill>
                <a:latin typeface="Tahoma" pitchFamily="34" charset="0"/>
                <a:ea typeface="宋体" charset="-122"/>
              </a:defRPr>
            </a:lvl8pPr>
            <a:lvl9pPr marL="3417136" indent="-201008" defTabSz="887785" eaLnBrk="0" fontAlgn="base" hangingPunct="0">
              <a:spcBef>
                <a:spcPct val="0"/>
              </a:spcBef>
              <a:spcAft>
                <a:spcPct val="0"/>
              </a:spcAft>
              <a:defRPr>
                <a:solidFill>
                  <a:schemeClr val="tx1"/>
                </a:solidFill>
                <a:latin typeface="Tahoma" pitchFamily="34" charset="0"/>
                <a:ea typeface="宋体" charset="-122"/>
              </a:defRPr>
            </a:lvl9pPr>
          </a:lstStyle>
          <a:p>
            <a:pPr eaLnBrk="1" hangingPunct="1"/>
            <a:fld id="{72367CBC-A6E0-4DA8-AD1A-1B5DD3DA9527}" type="slidenum">
              <a:rPr lang="zh-CN" altLang="en-US" smtClean="0">
                <a:ea typeface="SimHei" panose="02010609060101010101" pitchFamily="49" charset="-122"/>
              </a:rPr>
              <a:pPr eaLnBrk="1" hangingPunct="1"/>
              <a:t>53</a:t>
            </a:fld>
            <a:endParaRPr lang="en-US" altLang="zh-CN" dirty="0">
              <a:ea typeface="SimHei" panose="02010609060101010101" pitchFamily="49" charset="-122"/>
            </a:endParaRPr>
          </a:p>
        </p:txBody>
      </p:sp>
      <p:sp>
        <p:nvSpPr>
          <p:cNvPr id="988163" name="Rectangle 3"/>
          <p:cNvSpPr>
            <a:spLocks noGrp="1" noChangeArrowheads="1"/>
          </p:cNvSpPr>
          <p:nvPr>
            <p:ph type="body" idx="1"/>
          </p:nvPr>
        </p:nvSpPr>
        <p:spPr>
          <a:xfrm>
            <a:off x="304289" y="1782634"/>
            <a:ext cx="8839711" cy="2642221"/>
          </a:xfrm>
          <a:solidFill>
            <a:schemeClr val="bg1"/>
          </a:solidFill>
        </p:spPr>
        <p:txBody>
          <a:bodyPr vert="horz" wrap="square" lIns="89371" tIns="44686" rIns="89371" bIns="44686" numCol="1" anchor="t" anchorCtr="0" compatLnSpc="1">
            <a:prstTxWarp prst="textNoShape">
              <a:avLst/>
            </a:prstTxWarp>
          </a:bodyPr>
          <a:lstStyle/>
          <a:p>
            <a:pPr eaLnBrk="1" hangingPunct="1"/>
            <a:r>
              <a:rPr lang="en-US" altLang="zh-CN" sz="2462" dirty="0"/>
              <a:t>Mem = 2</a:t>
            </a:r>
            <a:r>
              <a:rPr lang="en-US" altLang="zh-CN" sz="2462" baseline="30000" dirty="0"/>
              <a:t>32</a:t>
            </a:r>
            <a:r>
              <a:rPr lang="en-US" altLang="zh-CN" sz="2462" dirty="0"/>
              <a:t> bytes, </a:t>
            </a:r>
            <a:r>
              <a:rPr lang="en-US" altLang="zh-CN" sz="2462" dirty="0">
                <a:solidFill>
                  <a:srgbClr val="0432FF"/>
                </a:solidFill>
              </a:rPr>
              <a:t>Cache = 256KB</a:t>
            </a:r>
            <a:r>
              <a:rPr lang="en-US" altLang="zh-CN" sz="2462" dirty="0">
                <a:solidFill>
                  <a:schemeClr val="accent2"/>
                </a:solidFill>
              </a:rPr>
              <a:t>, </a:t>
            </a:r>
            <a:r>
              <a:rPr lang="en-US" altLang="zh-CN" sz="2462" dirty="0">
                <a:solidFill>
                  <a:srgbClr val="7030A0"/>
                </a:solidFill>
              </a:rPr>
              <a:t>Block = 16 bytes</a:t>
            </a:r>
          </a:p>
          <a:p>
            <a:r>
              <a:rPr lang="en-US" altLang="zh-CN" sz="2510" dirty="0">
                <a:solidFill>
                  <a:srgbClr val="00B050"/>
                </a:solidFill>
              </a:rPr>
              <a:t>4-way</a:t>
            </a:r>
            <a:r>
              <a:rPr lang="en-US" altLang="zh-CN" sz="2510" dirty="0"/>
              <a:t> </a:t>
            </a:r>
            <a:r>
              <a:rPr lang="zh-CN" altLang="en-US" sz="2510" dirty="0"/>
              <a:t>组相联的标签至少需要多少位？</a:t>
            </a:r>
            <a:endParaRPr lang="en-US" altLang="zh-CN" sz="2510" dirty="0"/>
          </a:p>
          <a:p>
            <a:pPr lvl="1"/>
            <a:r>
              <a:rPr lang="en-US" altLang="zh-CN" sz="2000" dirty="0"/>
              <a:t>A. 14</a:t>
            </a:r>
          </a:p>
          <a:p>
            <a:pPr lvl="1"/>
            <a:r>
              <a:rPr lang="en-US" altLang="zh-CN" sz="2000" dirty="0"/>
              <a:t>B. 12</a:t>
            </a:r>
          </a:p>
          <a:p>
            <a:pPr lvl="1"/>
            <a:r>
              <a:rPr lang="en-US" altLang="zh-CN" sz="2000" dirty="0">
                <a:solidFill>
                  <a:srgbClr val="0432FF"/>
                </a:solidFill>
              </a:rPr>
              <a:t>C. 16</a:t>
            </a:r>
          </a:p>
          <a:p>
            <a:pPr lvl="1"/>
            <a:r>
              <a:rPr lang="en-US" altLang="zh-CN" sz="2000" dirty="0"/>
              <a:t>D. 26</a:t>
            </a:r>
          </a:p>
        </p:txBody>
      </p:sp>
      <p:sp>
        <p:nvSpPr>
          <p:cNvPr id="3" name="Title 2">
            <a:extLst>
              <a:ext uri="{FF2B5EF4-FFF2-40B4-BE49-F238E27FC236}">
                <a16:creationId xmlns:a16="http://schemas.microsoft.com/office/drawing/2014/main" id="{D3C8481B-5E85-4F29-BF84-6E1B3A4E3D5E}"/>
              </a:ext>
            </a:extLst>
          </p:cNvPr>
          <p:cNvSpPr>
            <a:spLocks noGrp="1"/>
          </p:cNvSpPr>
          <p:nvPr>
            <p:ph type="title"/>
          </p:nvPr>
        </p:nvSpPr>
        <p:spPr/>
        <p:txBody>
          <a:bodyPr/>
          <a:lstStyle/>
          <a:p>
            <a:r>
              <a:rPr lang="zh-CN" altLang="en-US" dirty="0"/>
              <a:t>练习题</a:t>
            </a:r>
          </a:p>
        </p:txBody>
      </p:sp>
      <p:sp>
        <p:nvSpPr>
          <p:cNvPr id="4" name="Rectangle 3">
            <a:extLst>
              <a:ext uri="{FF2B5EF4-FFF2-40B4-BE49-F238E27FC236}">
                <a16:creationId xmlns:a16="http://schemas.microsoft.com/office/drawing/2014/main" id="{808E15FF-B9F8-AF4F-A2F3-00218D287168}"/>
              </a:ext>
            </a:extLst>
          </p:cNvPr>
          <p:cNvSpPr/>
          <p:nvPr/>
        </p:nvSpPr>
        <p:spPr>
          <a:xfrm>
            <a:off x="2848961" y="2980550"/>
            <a:ext cx="5837839" cy="1569660"/>
          </a:xfrm>
          <a:prstGeom prst="rect">
            <a:avLst/>
          </a:prstGeom>
        </p:spPr>
        <p:txBody>
          <a:bodyPr wrap="square">
            <a:spAutoFit/>
          </a:bodyPr>
          <a:lstStyle/>
          <a:p>
            <a:pPr marL="285750" indent="-285750">
              <a:buFont typeface="Arial" panose="020B0604020202020204" pitchFamily="34" charset="0"/>
              <a:buChar char="•"/>
            </a:pPr>
            <a:r>
              <a:rPr lang="zh-CN" altLang="en-US" sz="2400" dirty="0">
                <a:solidFill>
                  <a:srgbClr val="7030A0"/>
                </a:solidFill>
                <a:ea typeface="SimHei" panose="02010609060101010101" pitchFamily="49" charset="-122"/>
              </a:rPr>
              <a:t>行内寻址偏移量：</a:t>
            </a:r>
            <a:r>
              <a:rPr lang="en-US" sz="2400" dirty="0">
                <a:solidFill>
                  <a:srgbClr val="7030A0"/>
                </a:solidFill>
                <a:ea typeface="SimHei" panose="02010609060101010101" pitchFamily="49" charset="-122"/>
              </a:rPr>
              <a:t>log</a:t>
            </a:r>
            <a:r>
              <a:rPr lang="en-US" sz="2400" baseline="-25000" dirty="0">
                <a:solidFill>
                  <a:srgbClr val="7030A0"/>
                </a:solidFill>
                <a:ea typeface="SimHei" panose="02010609060101010101" pitchFamily="49" charset="-122"/>
              </a:rPr>
              <a:t>2</a:t>
            </a:r>
            <a:r>
              <a:rPr lang="en-US" sz="2400" dirty="0">
                <a:solidFill>
                  <a:srgbClr val="7030A0"/>
                </a:solidFill>
                <a:ea typeface="SimHei" panose="02010609060101010101" pitchFamily="49" charset="-122"/>
              </a:rPr>
              <a:t>(16)=4</a:t>
            </a:r>
            <a:r>
              <a:rPr lang="zh-CN" altLang="en-US" sz="2400" dirty="0">
                <a:solidFill>
                  <a:srgbClr val="7030A0"/>
                </a:solidFill>
                <a:ea typeface="SimHei" panose="02010609060101010101" pitchFamily="49" charset="-122"/>
              </a:rPr>
              <a:t>位</a:t>
            </a:r>
          </a:p>
          <a:p>
            <a:pPr marL="285750" indent="-285750">
              <a:buFont typeface="Arial" panose="020B0604020202020204" pitchFamily="34" charset="0"/>
              <a:buChar char="•"/>
            </a:pPr>
            <a:r>
              <a:rPr lang="zh-CN" altLang="en-US" sz="2400" dirty="0">
                <a:ea typeface="SimHei" panose="02010609060101010101" pitchFamily="49" charset="-122"/>
              </a:rPr>
              <a:t>组号索引：共</a:t>
            </a:r>
            <a:r>
              <a:rPr lang="en-US" altLang="zh-CN" sz="2400" dirty="0">
                <a:solidFill>
                  <a:srgbClr val="0432FF"/>
                </a:solidFill>
                <a:ea typeface="SimHei" panose="02010609060101010101" pitchFamily="49" charset="-122"/>
              </a:rPr>
              <a:t>256</a:t>
            </a:r>
            <a:r>
              <a:rPr lang="en-US" sz="2400" dirty="0">
                <a:solidFill>
                  <a:srgbClr val="0432FF"/>
                </a:solidFill>
                <a:ea typeface="SimHei" panose="02010609060101010101" pitchFamily="49" charset="-122"/>
              </a:rPr>
              <a:t>K</a:t>
            </a:r>
            <a:r>
              <a:rPr lang="en-US" sz="2400" dirty="0">
                <a:ea typeface="SimHei" panose="02010609060101010101" pitchFamily="49" charset="-122"/>
              </a:rPr>
              <a:t>/</a:t>
            </a:r>
            <a:r>
              <a:rPr lang="en-US" sz="2400" dirty="0">
                <a:solidFill>
                  <a:srgbClr val="7030A0"/>
                </a:solidFill>
                <a:ea typeface="SimHei" panose="02010609060101010101" pitchFamily="49" charset="-122"/>
              </a:rPr>
              <a:t>16</a:t>
            </a:r>
            <a:r>
              <a:rPr lang="en-US" sz="2400" dirty="0">
                <a:ea typeface="SimHei" panose="02010609060101010101" pitchFamily="49" charset="-122"/>
              </a:rPr>
              <a:t>/</a:t>
            </a:r>
            <a:r>
              <a:rPr lang="en-US" sz="2400" dirty="0">
                <a:solidFill>
                  <a:srgbClr val="00B050"/>
                </a:solidFill>
                <a:ea typeface="SimHei" panose="02010609060101010101" pitchFamily="49" charset="-122"/>
              </a:rPr>
              <a:t>4</a:t>
            </a:r>
            <a:r>
              <a:rPr lang="en-US" sz="2400" dirty="0">
                <a:ea typeface="SimHei" panose="02010609060101010101" pitchFamily="49" charset="-122"/>
              </a:rPr>
              <a:t>=4k</a:t>
            </a:r>
            <a:r>
              <a:rPr lang="zh-CN" altLang="en-US" sz="2400" dirty="0">
                <a:ea typeface="SimHei" panose="02010609060101010101" pitchFamily="49" charset="-122"/>
              </a:rPr>
              <a:t>组</a:t>
            </a:r>
            <a:r>
              <a:rPr lang="en-US" altLang="zh-CN" sz="2400" dirty="0">
                <a:ea typeface="SimHei" panose="02010609060101010101" pitchFamily="49" charset="-122"/>
              </a:rPr>
              <a:t>(4096)</a:t>
            </a:r>
            <a:r>
              <a:rPr lang="zh-CN" altLang="en-US" sz="2400" dirty="0">
                <a:ea typeface="SimHei" panose="02010609060101010101" pitchFamily="49" charset="-122"/>
              </a:rPr>
              <a:t>，定位哪一组需要</a:t>
            </a:r>
            <a:r>
              <a:rPr lang="en-US" sz="2400" dirty="0">
                <a:ea typeface="SimHei" panose="02010609060101010101" pitchFamily="49" charset="-122"/>
              </a:rPr>
              <a:t>log</a:t>
            </a:r>
            <a:r>
              <a:rPr lang="en-US" sz="2400" baseline="-25000" dirty="0">
                <a:ea typeface="SimHei" panose="02010609060101010101" pitchFamily="49" charset="-122"/>
              </a:rPr>
              <a:t>2</a:t>
            </a:r>
            <a:r>
              <a:rPr lang="en-US" sz="2400" dirty="0">
                <a:ea typeface="SimHei" panose="02010609060101010101" pitchFamily="49" charset="-122"/>
              </a:rPr>
              <a:t>(4k)=</a:t>
            </a:r>
            <a:r>
              <a:rPr lang="en-US" sz="2400" dirty="0">
                <a:solidFill>
                  <a:srgbClr val="FF0000"/>
                </a:solidFill>
                <a:ea typeface="SimHei" panose="02010609060101010101" pitchFamily="49" charset="-122"/>
              </a:rPr>
              <a:t>12</a:t>
            </a:r>
            <a:r>
              <a:rPr lang="zh-CN" altLang="en-US" sz="2400" dirty="0">
                <a:solidFill>
                  <a:srgbClr val="FF0000"/>
                </a:solidFill>
                <a:ea typeface="SimHei" panose="02010609060101010101" pitchFamily="49" charset="-122"/>
              </a:rPr>
              <a:t>位</a:t>
            </a:r>
          </a:p>
          <a:p>
            <a:pPr marL="285750" indent="-285750">
              <a:buFont typeface="Arial" panose="020B0604020202020204" pitchFamily="34" charset="0"/>
              <a:buChar char="•"/>
            </a:pPr>
            <a:r>
              <a:rPr lang="zh-CN" altLang="en-US" sz="2400" dirty="0">
                <a:ea typeface="SimHei" panose="02010609060101010101" pitchFamily="49" charset="-122"/>
              </a:rPr>
              <a:t>剩下的位数作为标签：</a:t>
            </a:r>
            <a:r>
              <a:rPr lang="en-US" altLang="zh-CN" sz="2400" dirty="0">
                <a:ea typeface="SimHei" panose="02010609060101010101" pitchFamily="49" charset="-122"/>
              </a:rPr>
              <a:t>32-</a:t>
            </a:r>
            <a:r>
              <a:rPr lang="en-US" altLang="zh-CN" sz="2400" dirty="0">
                <a:solidFill>
                  <a:srgbClr val="00B050"/>
                </a:solidFill>
                <a:ea typeface="SimHei" panose="02010609060101010101" pitchFamily="49" charset="-122"/>
              </a:rPr>
              <a:t>4</a:t>
            </a:r>
            <a:r>
              <a:rPr lang="en-US" altLang="zh-CN" sz="2400" dirty="0">
                <a:ea typeface="SimHei" panose="02010609060101010101" pitchFamily="49" charset="-122"/>
              </a:rPr>
              <a:t>-</a:t>
            </a:r>
            <a:r>
              <a:rPr lang="en-US" altLang="zh-CN" sz="2400" dirty="0">
                <a:solidFill>
                  <a:srgbClr val="FF0000"/>
                </a:solidFill>
                <a:ea typeface="SimHei" panose="02010609060101010101" pitchFamily="49" charset="-122"/>
              </a:rPr>
              <a:t>12</a:t>
            </a:r>
            <a:r>
              <a:rPr lang="en-US" altLang="zh-CN" sz="2400" dirty="0">
                <a:ea typeface="SimHei" panose="02010609060101010101" pitchFamily="49" charset="-122"/>
              </a:rPr>
              <a:t>=16</a:t>
            </a:r>
            <a:r>
              <a:rPr lang="zh-CN" altLang="en-US" sz="2400" dirty="0">
                <a:ea typeface="SimHei" panose="02010609060101010101" pitchFamily="49" charset="-122"/>
              </a:rPr>
              <a:t>位</a:t>
            </a:r>
          </a:p>
        </p:txBody>
      </p:sp>
      <p:sp>
        <p:nvSpPr>
          <p:cNvPr id="5" name="Rectangle 4">
            <a:extLst>
              <a:ext uri="{FF2B5EF4-FFF2-40B4-BE49-F238E27FC236}">
                <a16:creationId xmlns:a16="http://schemas.microsoft.com/office/drawing/2014/main" id="{C3DB3001-5B11-8C4B-A106-A533FF23A8D3}"/>
              </a:ext>
            </a:extLst>
          </p:cNvPr>
          <p:cNvSpPr/>
          <p:nvPr/>
        </p:nvSpPr>
        <p:spPr>
          <a:xfrm>
            <a:off x="720969" y="5116606"/>
            <a:ext cx="7702062" cy="1323439"/>
          </a:xfrm>
          <a:prstGeom prst="rect">
            <a:avLst/>
          </a:prstGeom>
        </p:spPr>
        <p:txBody>
          <a:bodyPr wrap="square">
            <a:spAutoFit/>
          </a:bodyPr>
          <a:lstStyle/>
          <a:p>
            <a:r>
              <a:rPr lang="zh-CN" altLang="en-US" sz="2000" b="1" dirty="0">
                <a:latin typeface="+mn-ea"/>
                <a:ea typeface="+mn-ea"/>
              </a:rPr>
              <a:t>思考</a:t>
            </a:r>
            <a:r>
              <a:rPr lang="en-US" altLang="zh-CN" sz="2000" b="1" dirty="0">
                <a:latin typeface="+mn-ea"/>
                <a:ea typeface="+mn-ea"/>
              </a:rPr>
              <a:t>1</a:t>
            </a:r>
            <a:r>
              <a:rPr lang="zh-CN" altLang="en-US" sz="2000" b="1" dirty="0">
                <a:latin typeface="+mn-ea"/>
                <a:ea typeface="+mn-ea"/>
              </a:rPr>
              <a:t>：</a:t>
            </a:r>
            <a:r>
              <a:rPr lang="zh-CN" altLang="en-US" sz="2000" dirty="0">
                <a:latin typeface="+mn-ea"/>
                <a:ea typeface="+mn-ea"/>
              </a:rPr>
              <a:t>一个</a:t>
            </a:r>
            <a:r>
              <a:rPr lang="en-US" altLang="zh-CN" sz="2000" dirty="0">
                <a:latin typeface="+mn-ea"/>
                <a:ea typeface="+mn-ea"/>
              </a:rPr>
              <a:t>Cache</a:t>
            </a:r>
            <a:r>
              <a:rPr lang="zh-CN" altLang="en-US" sz="2000" dirty="0">
                <a:latin typeface="+mn-ea"/>
                <a:ea typeface="+mn-ea"/>
              </a:rPr>
              <a:t>的容量为</a:t>
            </a:r>
            <a:r>
              <a:rPr lang="en-US" altLang="zh-CN" sz="2000" dirty="0">
                <a:latin typeface="+mn-ea"/>
                <a:ea typeface="+mn-ea"/>
              </a:rPr>
              <a:t>8KB</a:t>
            </a:r>
            <a:r>
              <a:rPr lang="zh-CN" altLang="en-US" sz="2000" dirty="0">
                <a:latin typeface="+mn-ea"/>
                <a:ea typeface="+mn-ea"/>
              </a:rPr>
              <a:t>，采用</a:t>
            </a:r>
            <a:r>
              <a:rPr lang="en-US" altLang="zh-CN" sz="2000" dirty="0">
                <a:latin typeface="+mn-ea"/>
                <a:ea typeface="+mn-ea"/>
              </a:rPr>
              <a:t>2</a:t>
            </a:r>
            <a:r>
              <a:rPr lang="zh-CN" altLang="en-US" sz="2000" dirty="0">
                <a:latin typeface="+mn-ea"/>
                <a:ea typeface="+mn-ea"/>
              </a:rPr>
              <a:t>路组相连，每行</a:t>
            </a:r>
            <a:r>
              <a:rPr lang="en-US" altLang="zh-CN" sz="2000" dirty="0">
                <a:latin typeface="+mn-ea"/>
                <a:ea typeface="+mn-ea"/>
              </a:rPr>
              <a:t>16</a:t>
            </a:r>
            <a:r>
              <a:rPr lang="zh-CN" altLang="en-US" sz="2000" dirty="0">
                <a:latin typeface="+mn-ea"/>
                <a:ea typeface="+mn-ea"/>
              </a:rPr>
              <a:t>字节，主存地址为</a:t>
            </a:r>
            <a:r>
              <a:rPr lang="en-US" altLang="zh-CN" sz="2000" dirty="0">
                <a:latin typeface="+mn-ea"/>
                <a:ea typeface="+mn-ea"/>
              </a:rPr>
              <a:t>32</a:t>
            </a:r>
            <a:r>
              <a:rPr lang="zh-CN" altLang="en-US" sz="2000" dirty="0">
                <a:latin typeface="+mn-ea"/>
                <a:ea typeface="+mn-ea"/>
              </a:rPr>
              <a:t>位，主存地址</a:t>
            </a:r>
            <a:r>
              <a:rPr lang="en-US" altLang="zh-CN" sz="2000" dirty="0">
                <a:solidFill>
                  <a:srgbClr val="0432FF"/>
                </a:solidFill>
                <a:latin typeface="+mn-ea"/>
                <a:ea typeface="+mn-ea"/>
              </a:rPr>
              <a:t>0x1111_1111</a:t>
            </a:r>
            <a:r>
              <a:rPr lang="zh-CN" altLang="en-US" sz="2000" dirty="0">
                <a:latin typeface="+mn-ea"/>
                <a:ea typeface="+mn-ea"/>
              </a:rPr>
              <a:t>可能出现在</a:t>
            </a:r>
            <a:r>
              <a:rPr lang="en-US" altLang="zh-CN" sz="2000" dirty="0">
                <a:latin typeface="+mn-ea"/>
                <a:ea typeface="+mn-ea"/>
              </a:rPr>
              <a:t>Cache</a:t>
            </a:r>
            <a:r>
              <a:rPr lang="zh-CN" altLang="en-US" sz="2000" dirty="0">
                <a:latin typeface="+mn-ea"/>
                <a:ea typeface="+mn-ea"/>
              </a:rPr>
              <a:t>的哪一行？</a:t>
            </a:r>
            <a:endParaRPr lang="en-US" altLang="zh-CN" sz="2000" dirty="0">
              <a:latin typeface="+mn-ea"/>
              <a:ea typeface="+mn-ea"/>
            </a:endParaRPr>
          </a:p>
          <a:p>
            <a:endParaRPr lang="en-US" altLang="zh-CN" sz="2000" b="1" dirty="0">
              <a:latin typeface="+mn-ea"/>
              <a:ea typeface="+mn-ea"/>
            </a:endParaRPr>
          </a:p>
          <a:p>
            <a:r>
              <a:rPr lang="zh-CN" altLang="en-US" sz="2000" b="1" dirty="0">
                <a:latin typeface="+mn-ea"/>
                <a:ea typeface="+mn-ea"/>
              </a:rPr>
              <a:t>思考</a:t>
            </a:r>
            <a:r>
              <a:rPr lang="en-US" altLang="zh-CN" sz="2000" b="1" dirty="0">
                <a:latin typeface="+mn-ea"/>
                <a:ea typeface="+mn-ea"/>
              </a:rPr>
              <a:t>2</a:t>
            </a:r>
            <a:r>
              <a:rPr lang="zh-CN" altLang="en-US" sz="2000" b="1" dirty="0">
                <a:latin typeface="+mn-ea"/>
                <a:ea typeface="+mn-ea"/>
              </a:rPr>
              <a:t>：</a:t>
            </a:r>
            <a:r>
              <a:rPr lang="zh-CN" altLang="en-US" sz="2000" dirty="0">
                <a:latin typeface="+mn-ea"/>
                <a:ea typeface="+mn-ea"/>
              </a:rPr>
              <a:t>如果</a:t>
            </a:r>
            <a:r>
              <a:rPr lang="en-US" altLang="zh-CN" sz="2000" dirty="0">
                <a:latin typeface="+mn-ea"/>
                <a:ea typeface="+mn-ea"/>
              </a:rPr>
              <a:t>Memory</a:t>
            </a:r>
            <a:r>
              <a:rPr lang="zh-CN" altLang="en-US" sz="2000" dirty="0">
                <a:latin typeface="+mn-ea"/>
                <a:ea typeface="+mn-ea"/>
              </a:rPr>
              <a:t>地址是</a:t>
            </a:r>
            <a:r>
              <a:rPr lang="en-US" altLang="zh-CN" sz="2000" dirty="0">
                <a:latin typeface="+mn-ea"/>
                <a:ea typeface="+mn-ea"/>
              </a:rPr>
              <a:t>word (</a:t>
            </a:r>
            <a:r>
              <a:rPr lang="zh-CN" altLang="en-US" sz="2000" dirty="0">
                <a:latin typeface="+mn-ea"/>
                <a:ea typeface="+mn-ea"/>
              </a:rPr>
              <a:t>而非</a:t>
            </a:r>
            <a:r>
              <a:rPr lang="en-US" altLang="zh-CN" sz="2000" dirty="0">
                <a:latin typeface="+mn-ea"/>
                <a:ea typeface="+mn-ea"/>
              </a:rPr>
              <a:t> byte)</a:t>
            </a:r>
            <a:r>
              <a:rPr lang="zh-CN" altLang="en-US" sz="2000" dirty="0">
                <a:latin typeface="+mn-ea"/>
                <a:ea typeface="+mn-ea"/>
              </a:rPr>
              <a:t>呢</a:t>
            </a:r>
            <a:r>
              <a:rPr lang="en-US" altLang="zh-CN" sz="2000" dirty="0">
                <a:latin typeface="+mn-ea"/>
                <a:ea typeface="+mn-ea"/>
              </a:rPr>
              <a:t>?</a:t>
            </a:r>
            <a:endParaRPr lang="zh-CN" altLang="en-US" sz="2000" dirty="0">
              <a:latin typeface="+mn-ea"/>
              <a:ea typeface="+mn-ea"/>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63CB785-A9B4-512C-DB21-33CC3D5FDE7E}"/>
                  </a:ext>
                </a:extLst>
              </p14:cNvPr>
              <p14:cNvContentPartPr/>
              <p14:nvPr/>
            </p14:nvContentPartPr>
            <p14:xfrm>
              <a:off x="6431400" y="2495880"/>
              <a:ext cx="625680" cy="2097360"/>
            </p14:xfrm>
          </p:contentPart>
        </mc:Choice>
        <mc:Fallback xmlns="">
          <p:pic>
            <p:nvPicPr>
              <p:cNvPr id="2" name="墨迹 1">
                <a:extLst>
                  <a:ext uri="{FF2B5EF4-FFF2-40B4-BE49-F238E27FC236}">
                    <a16:creationId xmlns:a16="http://schemas.microsoft.com/office/drawing/2014/main" id="{363CB785-A9B4-512C-DB21-33CC3D5FDE7E}"/>
                  </a:ext>
                </a:extLst>
              </p:cNvPr>
              <p:cNvPicPr/>
              <p:nvPr/>
            </p:nvPicPr>
            <p:blipFill>
              <a:blip r:embed="rId4"/>
              <a:stretch>
                <a:fillRect/>
              </a:stretch>
            </p:blipFill>
            <p:spPr>
              <a:xfrm>
                <a:off x="6422040" y="2486520"/>
                <a:ext cx="644400" cy="2116080"/>
              </a:xfrm>
              <a:prstGeom prst="rect">
                <a:avLst/>
              </a:prstGeom>
            </p:spPr>
          </p:pic>
        </mc:Fallback>
      </mc:AlternateContent>
    </p:spTree>
    <p:extLst>
      <p:ext uri="{BB962C8B-B14F-4D97-AF65-F5344CB8AC3E}">
        <p14:creationId xmlns:p14="http://schemas.microsoft.com/office/powerpoint/2010/main" val="14438036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地址映像方式</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54</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5170043"/>
          </a:xfrm>
        </p:spPr>
        <p:txBody>
          <a:bodyPr/>
          <a:lstStyle/>
          <a:p>
            <a:pPr marL="514350" indent="-457200">
              <a:spcBef>
                <a:spcPts val="1000"/>
              </a:spcBef>
            </a:pPr>
            <a:r>
              <a:rPr kumimoji="1" lang="zh-CN" altLang="en-US" sz="2400" dirty="0"/>
              <a:t>给定</a:t>
            </a:r>
            <a:r>
              <a:rPr kumimoji="1" lang="zh-CN" altLang="en-US" dirty="0"/>
              <a:t>：</a:t>
            </a:r>
            <a:endParaRPr kumimoji="1" lang="en-US" altLang="zh-CN" dirty="0"/>
          </a:p>
          <a:p>
            <a:pPr marL="914400" lvl="1" indent="-457200">
              <a:spcBef>
                <a:spcPts val="1000"/>
              </a:spcBef>
            </a:pPr>
            <a:r>
              <a:rPr lang="zh-CN" altLang="en-US" sz="2000" dirty="0"/>
              <a:t>主存储器容量大小 </a:t>
            </a:r>
            <a:r>
              <a:rPr lang="en-US" altLang="zh-CN" sz="2000" dirty="0"/>
              <a:t>(</a:t>
            </a:r>
            <a:r>
              <a:rPr lang="en-US" altLang="zh-CN" sz="2000" dirty="0" err="1"/>
              <a:t>Memory</a:t>
            </a:r>
            <a:r>
              <a:rPr lang="en-US" altLang="zh-CN" sz="2000" dirty="0" err="1">
                <a:sym typeface="Wingdings" panose="05000000000000000000" pitchFamily="2" charset="2"/>
              </a:rPr>
              <a:t>M</a:t>
            </a:r>
            <a:r>
              <a:rPr lang="en-US" altLang="zh-CN" sz="2000" dirty="0"/>
              <a:t>)</a:t>
            </a:r>
          </a:p>
          <a:p>
            <a:pPr marL="914400" lvl="1" indent="-457200">
              <a:spcBef>
                <a:spcPts val="1000"/>
              </a:spcBef>
            </a:pPr>
            <a:r>
              <a:rPr lang="en-US" altLang="zh-CN" sz="2000" dirty="0"/>
              <a:t>Cache</a:t>
            </a:r>
            <a:r>
              <a:rPr lang="zh-CN" altLang="en-US" sz="2000" dirty="0"/>
              <a:t>容量大小 </a:t>
            </a:r>
            <a:r>
              <a:rPr lang="en-US" altLang="zh-CN" sz="2000" dirty="0"/>
              <a:t>(</a:t>
            </a:r>
            <a:r>
              <a:rPr lang="en-US" altLang="zh-CN" sz="2000" dirty="0" err="1"/>
              <a:t>Cache</a:t>
            </a:r>
            <a:r>
              <a:rPr lang="en-US" altLang="zh-CN" sz="2000" dirty="0" err="1">
                <a:sym typeface="Wingdings" panose="05000000000000000000" pitchFamily="2" charset="2"/>
              </a:rPr>
              <a:t>C</a:t>
            </a:r>
            <a:r>
              <a:rPr lang="en-US" altLang="zh-CN" sz="2000" dirty="0"/>
              <a:t>)</a:t>
            </a:r>
          </a:p>
          <a:p>
            <a:pPr marL="914400" lvl="1" indent="-457200">
              <a:spcBef>
                <a:spcPts val="1000"/>
              </a:spcBef>
            </a:pPr>
            <a:r>
              <a:rPr lang="en-US" altLang="zh-CN" sz="2000" dirty="0"/>
              <a:t>Cache</a:t>
            </a:r>
            <a:r>
              <a:rPr lang="zh-CN" altLang="en-US" sz="2000" dirty="0"/>
              <a:t>行大小 </a:t>
            </a:r>
            <a:r>
              <a:rPr lang="en-US" altLang="zh-CN" sz="2000" dirty="0"/>
              <a:t>(</a:t>
            </a:r>
            <a:r>
              <a:rPr lang="en-US" altLang="zh-CN" sz="2000" dirty="0" err="1"/>
              <a:t>Block</a:t>
            </a:r>
            <a:r>
              <a:rPr lang="en-US" altLang="zh-CN" sz="2000" dirty="0" err="1">
                <a:sym typeface="Wingdings" panose="05000000000000000000" pitchFamily="2" charset="2"/>
              </a:rPr>
              <a:t>B</a:t>
            </a:r>
            <a:r>
              <a:rPr lang="en-US" altLang="zh-CN" sz="2000" dirty="0"/>
              <a:t>)</a:t>
            </a:r>
          </a:p>
          <a:p>
            <a:pPr marL="914400" lvl="1" indent="-457200">
              <a:spcBef>
                <a:spcPts val="1000"/>
              </a:spcBef>
            </a:pPr>
            <a:r>
              <a:rPr lang="en-US" altLang="zh-CN" sz="2000" dirty="0"/>
              <a:t>N</a:t>
            </a:r>
            <a:r>
              <a:rPr lang="zh-CN" altLang="en-US" sz="2000" dirty="0"/>
              <a:t>路组相联 </a:t>
            </a:r>
            <a:r>
              <a:rPr lang="en-US" altLang="zh-CN" sz="2000" dirty="0"/>
              <a:t>(</a:t>
            </a:r>
            <a:r>
              <a:rPr lang="en-US" altLang="zh-CN" sz="2000" dirty="0" err="1"/>
              <a:t>N-way</a:t>
            </a:r>
            <a:r>
              <a:rPr lang="en-US" altLang="zh-CN" sz="2000" dirty="0" err="1">
                <a:sym typeface="Wingdings" panose="05000000000000000000" pitchFamily="2" charset="2"/>
              </a:rPr>
              <a:t>N</a:t>
            </a:r>
            <a:r>
              <a:rPr lang="en-US" altLang="zh-CN" sz="2000" dirty="0"/>
              <a:t>)</a:t>
            </a:r>
          </a:p>
          <a:p>
            <a:pPr marL="514350" indent="-457200">
              <a:spcBef>
                <a:spcPts val="1000"/>
              </a:spcBef>
            </a:pPr>
            <a:r>
              <a:rPr lang="zh-CN" altLang="en-US" sz="2400" dirty="0"/>
              <a:t>确定</a:t>
            </a:r>
            <a:r>
              <a:rPr lang="en-US" altLang="zh-CN" sz="2400" dirty="0"/>
              <a:t>cache</a:t>
            </a:r>
            <a:r>
              <a:rPr lang="zh-CN" altLang="en-US" sz="2400" dirty="0"/>
              <a:t>的设计：</a:t>
            </a:r>
            <a:endParaRPr lang="en-US" altLang="zh-CN" sz="2400" dirty="0"/>
          </a:p>
          <a:p>
            <a:pPr marL="914400" lvl="1" indent="-457200">
              <a:spcBef>
                <a:spcPts val="1000"/>
              </a:spcBef>
            </a:pPr>
            <a:r>
              <a:rPr lang="zh-CN" altLang="en-US" sz="2000" dirty="0"/>
              <a:t>每个组多少</a:t>
            </a:r>
            <a:r>
              <a:rPr lang="en-US" altLang="zh-CN" sz="2000" dirty="0"/>
              <a:t>cache</a:t>
            </a:r>
            <a:r>
              <a:rPr lang="zh-CN" altLang="en-US" sz="2000" dirty="0"/>
              <a:t>行</a:t>
            </a:r>
            <a:r>
              <a:rPr lang="en-US" altLang="zh-CN" sz="2000" dirty="0"/>
              <a:t>?</a:t>
            </a:r>
          </a:p>
          <a:p>
            <a:pPr marL="914400" lvl="1" indent="-457200">
              <a:spcBef>
                <a:spcPts val="1000"/>
              </a:spcBef>
            </a:pPr>
            <a:r>
              <a:rPr lang="zh-CN" altLang="en-US" sz="2000" dirty="0"/>
              <a:t>行内地址需要多少位表示</a:t>
            </a:r>
            <a:r>
              <a:rPr lang="en-US" altLang="zh-CN" sz="2000" dirty="0"/>
              <a:t>?</a:t>
            </a:r>
          </a:p>
          <a:p>
            <a:pPr marL="914400" lvl="1" indent="-457200">
              <a:spcBef>
                <a:spcPts val="1000"/>
              </a:spcBef>
            </a:pPr>
            <a:r>
              <a:rPr lang="zh-CN" altLang="en-US" sz="2000" dirty="0"/>
              <a:t>共有多少个组</a:t>
            </a:r>
            <a:r>
              <a:rPr lang="en-US" altLang="zh-CN" sz="2000" dirty="0"/>
              <a:t>?</a:t>
            </a:r>
          </a:p>
          <a:p>
            <a:pPr marL="914400" lvl="1" indent="-457200">
              <a:spcBef>
                <a:spcPts val="1000"/>
              </a:spcBef>
            </a:pPr>
            <a:r>
              <a:rPr lang="zh-CN" altLang="en-US" sz="2000" dirty="0"/>
              <a:t>索引需要多少位表示</a:t>
            </a:r>
            <a:r>
              <a:rPr lang="en-US" altLang="zh-CN" sz="2000" dirty="0"/>
              <a:t>?</a:t>
            </a:r>
          </a:p>
          <a:p>
            <a:pPr marL="914400" lvl="1" indent="-457200">
              <a:spcBef>
                <a:spcPts val="1000"/>
              </a:spcBef>
            </a:pPr>
            <a:r>
              <a:rPr lang="zh-CN" altLang="en-US" sz="2000" dirty="0"/>
              <a:t>标签需要多少位表示</a:t>
            </a:r>
            <a:r>
              <a:rPr lang="en-US" altLang="zh-CN" sz="2000" dirty="0"/>
              <a:t>?</a:t>
            </a:r>
          </a:p>
          <a:p>
            <a:pPr marL="914400" lvl="1" indent="-457200">
              <a:spcBef>
                <a:spcPts val="1000"/>
              </a:spcBef>
            </a:pPr>
            <a:endParaRPr lang="en-US" altLang="zh-CN" sz="2400" dirty="0"/>
          </a:p>
        </p:txBody>
      </p:sp>
      <p:sp>
        <p:nvSpPr>
          <p:cNvPr id="5" name="Text Box 5">
            <a:extLst>
              <a:ext uri="{FF2B5EF4-FFF2-40B4-BE49-F238E27FC236}">
                <a16:creationId xmlns:a16="http://schemas.microsoft.com/office/drawing/2014/main" id="{3160154C-6598-4C49-8322-2510D213FE97}"/>
              </a:ext>
            </a:extLst>
          </p:cNvPr>
          <p:cNvSpPr txBox="1">
            <a:spLocks noChangeArrowheads="1"/>
          </p:cNvSpPr>
          <p:nvPr/>
        </p:nvSpPr>
        <p:spPr bwMode="auto">
          <a:xfrm>
            <a:off x="5209954" y="2560794"/>
            <a:ext cx="3795824" cy="10252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hlink"/>
                </a:solidFill>
                <a:miter lim="800000"/>
                <a:headEnd/>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zh-CN" altLang="en-US" sz="2000" dirty="0">
                <a:solidFill>
                  <a:srgbClr val="0432FF"/>
                </a:solidFill>
                <a:latin typeface="+mn-lt"/>
                <a:ea typeface="SimHei" panose="02010609060101010101" pitchFamily="49" charset="-122"/>
              </a:rPr>
              <a:t>思考：和主存的一个地址存的是一个字节</a:t>
            </a:r>
            <a:r>
              <a:rPr lang="en-US" altLang="zh-CN" sz="2000" dirty="0">
                <a:solidFill>
                  <a:srgbClr val="0432FF"/>
                </a:solidFill>
                <a:latin typeface="+mn-lt"/>
                <a:ea typeface="SimHei" panose="02010609060101010101" pitchFamily="49" charset="-122"/>
              </a:rPr>
              <a:t>byte</a:t>
            </a:r>
            <a:r>
              <a:rPr lang="zh-CN" altLang="en-US" sz="2000" dirty="0">
                <a:solidFill>
                  <a:srgbClr val="0432FF"/>
                </a:solidFill>
                <a:latin typeface="+mn-lt"/>
                <a:ea typeface="SimHei" panose="02010609060101010101" pitchFamily="49" charset="-122"/>
              </a:rPr>
              <a:t>或者一个字</a:t>
            </a:r>
            <a:r>
              <a:rPr lang="en-US" altLang="zh-CN" sz="2000" dirty="0">
                <a:solidFill>
                  <a:srgbClr val="0432FF"/>
                </a:solidFill>
                <a:latin typeface="+mn-lt"/>
                <a:ea typeface="SimHei" panose="02010609060101010101" pitchFamily="49" charset="-122"/>
              </a:rPr>
              <a:t>word</a:t>
            </a:r>
            <a:r>
              <a:rPr lang="zh-CN" altLang="en-US" sz="2000" dirty="0">
                <a:solidFill>
                  <a:srgbClr val="0432FF"/>
                </a:solidFill>
                <a:latin typeface="+mn-lt"/>
                <a:ea typeface="SimHei" panose="02010609060101010101" pitchFamily="49" charset="-122"/>
              </a:rPr>
              <a:t>有关系吗？</a:t>
            </a:r>
            <a:endParaRPr lang="en-US" altLang="zh-CN" sz="2000" dirty="0">
              <a:solidFill>
                <a:srgbClr val="0432FF"/>
              </a:solidFill>
              <a:latin typeface="+mn-lt"/>
              <a:ea typeface="SimHei" panose="02010609060101010101" pitchFamily="49" charset="-122"/>
            </a:endParaRPr>
          </a:p>
        </p:txBody>
      </p:sp>
      <p:sp>
        <p:nvSpPr>
          <p:cNvPr id="7" name="Text Box 4">
            <a:extLst>
              <a:ext uri="{FF2B5EF4-FFF2-40B4-BE49-F238E27FC236}">
                <a16:creationId xmlns:a16="http://schemas.microsoft.com/office/drawing/2014/main" id="{6AC26C9A-3F06-3D4B-A10D-C5BCA0AC133E}"/>
              </a:ext>
            </a:extLst>
          </p:cNvPr>
          <p:cNvSpPr txBox="1">
            <a:spLocks noChangeArrowheads="1"/>
          </p:cNvSpPr>
          <p:nvPr/>
        </p:nvSpPr>
        <p:spPr bwMode="auto">
          <a:xfrm>
            <a:off x="4635774" y="4368753"/>
            <a:ext cx="2968789" cy="409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hlink"/>
                </a:solidFill>
                <a:miter lim="800000"/>
                <a:headEnd/>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rgbClr val="0432FF"/>
                </a:solidFill>
                <a:latin typeface="+mn-lt"/>
                <a:ea typeface="SimHei" panose="02010609060101010101" pitchFamily="49" charset="-122"/>
              </a:rPr>
              <a:t>N</a:t>
            </a:r>
          </a:p>
        </p:txBody>
      </p:sp>
      <p:sp>
        <p:nvSpPr>
          <p:cNvPr id="8" name="Text Box 4">
            <a:extLst>
              <a:ext uri="{FF2B5EF4-FFF2-40B4-BE49-F238E27FC236}">
                <a16:creationId xmlns:a16="http://schemas.microsoft.com/office/drawing/2014/main" id="{70680AE6-5ADA-D345-B165-9F167ECB22C2}"/>
              </a:ext>
            </a:extLst>
          </p:cNvPr>
          <p:cNvSpPr txBox="1">
            <a:spLocks noChangeArrowheads="1"/>
          </p:cNvSpPr>
          <p:nvPr/>
        </p:nvSpPr>
        <p:spPr bwMode="auto">
          <a:xfrm>
            <a:off x="4620815" y="5266432"/>
            <a:ext cx="2968789" cy="409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hlink"/>
                </a:solidFill>
                <a:miter lim="800000"/>
                <a:headEnd/>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rgbClr val="0432FF"/>
                </a:solidFill>
                <a:latin typeface="+mn-lt"/>
                <a:ea typeface="SimHei" panose="02010609060101010101" pitchFamily="49" charset="-122"/>
              </a:rPr>
              <a:t>(C/B)/N</a:t>
            </a:r>
          </a:p>
        </p:txBody>
      </p:sp>
      <p:sp>
        <p:nvSpPr>
          <p:cNvPr id="9" name="Text Box 4">
            <a:extLst>
              <a:ext uri="{FF2B5EF4-FFF2-40B4-BE49-F238E27FC236}">
                <a16:creationId xmlns:a16="http://schemas.microsoft.com/office/drawing/2014/main" id="{2822E276-7A19-9448-A55D-E5F5844E70DA}"/>
              </a:ext>
            </a:extLst>
          </p:cNvPr>
          <p:cNvSpPr txBox="1">
            <a:spLocks noChangeArrowheads="1"/>
          </p:cNvSpPr>
          <p:nvPr/>
        </p:nvSpPr>
        <p:spPr bwMode="auto">
          <a:xfrm>
            <a:off x="4597369" y="4815728"/>
            <a:ext cx="2968789" cy="409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hlink"/>
                </a:solidFill>
                <a:miter lim="800000"/>
                <a:headEnd/>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rgbClr val="0432FF"/>
                </a:solidFill>
                <a:latin typeface="+mn-lt"/>
                <a:ea typeface="SimHei" panose="02010609060101010101" pitchFamily="49" charset="-122"/>
              </a:rPr>
              <a:t>log</a:t>
            </a:r>
            <a:r>
              <a:rPr lang="en-US" altLang="zh-CN" sz="2000" baseline="-25000" dirty="0">
                <a:solidFill>
                  <a:srgbClr val="0432FF"/>
                </a:solidFill>
                <a:latin typeface="+mn-lt"/>
                <a:ea typeface="SimHei" panose="02010609060101010101" pitchFamily="49" charset="-122"/>
              </a:rPr>
              <a:t>2</a:t>
            </a:r>
            <a:r>
              <a:rPr lang="en-US" altLang="zh-CN" sz="2000" dirty="0">
                <a:solidFill>
                  <a:srgbClr val="0432FF"/>
                </a:solidFill>
                <a:latin typeface="+mn-lt"/>
                <a:ea typeface="SimHei" panose="02010609060101010101" pitchFamily="49" charset="-122"/>
              </a:rPr>
              <a:t>B</a:t>
            </a:r>
          </a:p>
        </p:txBody>
      </p:sp>
      <p:sp>
        <p:nvSpPr>
          <p:cNvPr id="10" name="Text Box 4">
            <a:extLst>
              <a:ext uri="{FF2B5EF4-FFF2-40B4-BE49-F238E27FC236}">
                <a16:creationId xmlns:a16="http://schemas.microsoft.com/office/drawing/2014/main" id="{9120FB8F-A11F-8B41-B40B-2D5554698A09}"/>
              </a:ext>
            </a:extLst>
          </p:cNvPr>
          <p:cNvSpPr txBox="1">
            <a:spLocks noChangeArrowheads="1"/>
          </p:cNvSpPr>
          <p:nvPr/>
        </p:nvSpPr>
        <p:spPr bwMode="auto">
          <a:xfrm>
            <a:off x="4635774" y="5647422"/>
            <a:ext cx="2968789" cy="409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hlink"/>
                </a:solidFill>
                <a:miter lim="800000"/>
                <a:headEnd/>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rgbClr val="0432FF"/>
                </a:solidFill>
                <a:latin typeface="+mn-lt"/>
                <a:ea typeface="SimHei" panose="02010609060101010101" pitchFamily="49" charset="-122"/>
              </a:rPr>
              <a:t>log</a:t>
            </a:r>
            <a:r>
              <a:rPr lang="en-US" altLang="zh-CN" sz="2000" baseline="-25000" dirty="0">
                <a:solidFill>
                  <a:srgbClr val="0432FF"/>
                </a:solidFill>
                <a:latin typeface="+mn-lt"/>
                <a:ea typeface="SimHei" panose="02010609060101010101" pitchFamily="49" charset="-122"/>
              </a:rPr>
              <a:t>2</a:t>
            </a:r>
            <a:r>
              <a:rPr lang="en-US" altLang="zh-CN" sz="2000" dirty="0">
                <a:solidFill>
                  <a:srgbClr val="0432FF"/>
                </a:solidFill>
                <a:latin typeface="+mn-lt"/>
                <a:ea typeface="SimHei" panose="02010609060101010101" pitchFamily="49" charset="-122"/>
              </a:rPr>
              <a:t>((C/B)/N)</a:t>
            </a:r>
          </a:p>
        </p:txBody>
      </p:sp>
      <p:sp>
        <p:nvSpPr>
          <p:cNvPr id="11" name="Text Box 4">
            <a:extLst>
              <a:ext uri="{FF2B5EF4-FFF2-40B4-BE49-F238E27FC236}">
                <a16:creationId xmlns:a16="http://schemas.microsoft.com/office/drawing/2014/main" id="{9E76EBC1-0CD7-4A4C-8135-303809073A75}"/>
              </a:ext>
            </a:extLst>
          </p:cNvPr>
          <p:cNvSpPr txBox="1">
            <a:spLocks noChangeArrowheads="1"/>
          </p:cNvSpPr>
          <p:nvPr/>
        </p:nvSpPr>
        <p:spPr bwMode="auto">
          <a:xfrm>
            <a:off x="4635774" y="6073644"/>
            <a:ext cx="3478075" cy="409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8575">
                <a:solidFill>
                  <a:schemeClr val="hlink"/>
                </a:solidFill>
                <a:miter lim="800000"/>
                <a:headEnd/>
                <a:tailEnd type="none" w="med"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0944" tIns="50472" rIns="100944" bIns="50472">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000" dirty="0">
                <a:solidFill>
                  <a:srgbClr val="0432FF"/>
                </a:solidFill>
                <a:latin typeface="+mn-lt"/>
                <a:ea typeface="SimHei" panose="02010609060101010101" pitchFamily="49" charset="-122"/>
              </a:rPr>
              <a:t>log</a:t>
            </a:r>
            <a:r>
              <a:rPr lang="en-US" altLang="zh-CN" sz="2000" baseline="-25000" dirty="0">
                <a:solidFill>
                  <a:srgbClr val="0432FF"/>
                </a:solidFill>
                <a:latin typeface="+mn-lt"/>
                <a:ea typeface="SimHei" panose="02010609060101010101" pitchFamily="49" charset="-122"/>
              </a:rPr>
              <a:t>2</a:t>
            </a:r>
            <a:r>
              <a:rPr lang="en-US" altLang="zh-CN" sz="2000" dirty="0">
                <a:solidFill>
                  <a:srgbClr val="0432FF"/>
                </a:solidFill>
                <a:latin typeface="+mn-lt"/>
                <a:ea typeface="SimHei" panose="02010609060101010101" pitchFamily="49" charset="-122"/>
              </a:rPr>
              <a:t>M-log</a:t>
            </a:r>
            <a:r>
              <a:rPr lang="en-US" altLang="zh-CN" sz="2000" baseline="-25000" dirty="0">
                <a:solidFill>
                  <a:srgbClr val="0432FF"/>
                </a:solidFill>
                <a:latin typeface="+mn-lt"/>
                <a:ea typeface="SimHei" panose="02010609060101010101" pitchFamily="49" charset="-122"/>
              </a:rPr>
              <a:t>2</a:t>
            </a:r>
            <a:r>
              <a:rPr lang="en-US" altLang="zh-CN" sz="2000" dirty="0">
                <a:solidFill>
                  <a:srgbClr val="0432FF"/>
                </a:solidFill>
                <a:latin typeface="+mn-lt"/>
                <a:ea typeface="SimHei" panose="02010609060101010101" pitchFamily="49" charset="-122"/>
              </a:rPr>
              <a:t>((C/B)/N)-log</a:t>
            </a:r>
            <a:r>
              <a:rPr lang="en-US" altLang="zh-CN" sz="2000" baseline="-25000" dirty="0">
                <a:solidFill>
                  <a:srgbClr val="0432FF"/>
                </a:solidFill>
                <a:latin typeface="+mn-lt"/>
                <a:ea typeface="SimHei" panose="02010609060101010101" pitchFamily="49" charset="-122"/>
              </a:rPr>
              <a:t>2</a:t>
            </a:r>
            <a:r>
              <a:rPr lang="en-US" altLang="zh-CN" sz="2000" dirty="0">
                <a:solidFill>
                  <a:srgbClr val="0432FF"/>
                </a:solidFill>
                <a:latin typeface="+mn-lt"/>
                <a:ea typeface="SimHei" panose="02010609060101010101" pitchFamily="49" charset="-122"/>
              </a:rPr>
              <a:t>B</a:t>
            </a:r>
          </a:p>
        </p:txBody>
      </p:sp>
    </p:spTree>
    <p:extLst>
      <p:ext uri="{BB962C8B-B14F-4D97-AF65-F5344CB8AC3E}">
        <p14:creationId xmlns:p14="http://schemas.microsoft.com/office/powerpoint/2010/main" val="1027517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地址映像方式练习</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55</a:t>
            </a:fld>
            <a:endParaRPr lang="en-US" altLang="zh-CN"/>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t>CPU</a:t>
                </a:r>
                <a:r>
                  <a:rPr kumimoji="1" lang="zh-CN" altLang="en-US" dirty="0"/>
                  <a:t>产生</a:t>
                </a:r>
                <a:r>
                  <a:rPr kumimoji="1" lang="en-US" altLang="zh-CN" dirty="0"/>
                  <a:t>32</a:t>
                </a:r>
                <a:r>
                  <a:rPr kumimoji="1" lang="zh-CN" altLang="en-US" dirty="0"/>
                  <a:t>位的地址读取数据和指令，指令和数据分别有自己的</a:t>
                </a:r>
                <a:r>
                  <a:rPr kumimoji="1" lang="en-US" altLang="zh-CN" dirty="0"/>
                  <a:t>Cache(</a:t>
                </a:r>
                <a:r>
                  <a:rPr kumimoji="1" lang="zh-CN" altLang="en-US" dirty="0"/>
                  <a:t>哈佛架构</a:t>
                </a:r>
                <a:r>
                  <a:rPr kumimoji="1" lang="en-US" altLang="zh-CN" dirty="0"/>
                  <a:t>)</a:t>
                </a:r>
              </a:p>
              <a:p>
                <a:pPr marL="914400" lvl="1" indent="-457200">
                  <a:spcBef>
                    <a:spcPts val="1000"/>
                  </a:spcBef>
                </a:pPr>
                <a:r>
                  <a:rPr kumimoji="1" lang="zh-CN" altLang="en-US" sz="2400" dirty="0"/>
                  <a:t>指令</a:t>
                </a:r>
                <a:r>
                  <a:rPr kumimoji="1" lang="en-US" altLang="zh-CN" sz="2400" dirty="0"/>
                  <a:t>cache</a:t>
                </a:r>
                <a:r>
                  <a:rPr kumimoji="1" lang="zh-CN" altLang="en-US" sz="2400" dirty="0"/>
                  <a:t>共</a:t>
                </a:r>
                <a14:m>
                  <m:oMath xmlns:m="http://schemas.openxmlformats.org/officeDocument/2006/math">
                    <m:sSup>
                      <m:sSupPr>
                        <m:ctrlPr>
                          <a:rPr kumimoji="1" lang="en-US" altLang="zh-CN" sz="2400" i="1" dirty="0" smtClean="0">
                            <a:latin typeface="Cambria Math" panose="02040503050406030204" pitchFamily="18" charset="0"/>
                          </a:rPr>
                        </m:ctrlPr>
                      </m:sSupPr>
                      <m:e>
                        <m:r>
                          <a:rPr kumimoji="1" lang="en-US" altLang="zh-CN" sz="2400" b="1" i="0" dirty="0" smtClean="0">
                            <a:latin typeface="Cambria Math" panose="02040503050406030204" pitchFamily="18" charset="0"/>
                          </a:rPr>
                          <m:t>𝟐</m:t>
                        </m:r>
                      </m:e>
                      <m:sup>
                        <m:r>
                          <a:rPr kumimoji="1" lang="en-US" altLang="zh-CN" sz="2400" b="1" i="0" dirty="0" smtClean="0">
                            <a:latin typeface="Cambria Math" panose="02040503050406030204" pitchFamily="18" charset="0"/>
                          </a:rPr>
                          <m:t>𝟏𝟐</m:t>
                        </m:r>
                      </m:sup>
                    </m:sSup>
                  </m:oMath>
                </a14:m>
                <a:r>
                  <a:rPr kumimoji="1" lang="zh-CN" altLang="en-US" sz="2400" dirty="0"/>
                  <a:t>个字节的容量，采用</a:t>
                </a:r>
                <a:r>
                  <a:rPr kumimoji="1" lang="en-US" altLang="zh-CN" sz="2400" dirty="0">
                    <a:solidFill>
                      <a:srgbClr val="0432FF"/>
                    </a:solidFill>
                  </a:rPr>
                  <a:t>2</a:t>
                </a:r>
                <a:r>
                  <a:rPr kumimoji="1" lang="zh-CN" altLang="en-US" sz="2400" dirty="0">
                    <a:solidFill>
                      <a:srgbClr val="0432FF"/>
                    </a:solidFill>
                  </a:rPr>
                  <a:t>路</a:t>
                </a:r>
                <a:r>
                  <a:rPr kumimoji="1" lang="zh-CN" altLang="en-US" sz="2400" dirty="0"/>
                  <a:t>组相联映像，</a:t>
                </a:r>
                <a:r>
                  <a:rPr kumimoji="1" lang="zh-CN" altLang="en-US" sz="2400" dirty="0">
                    <a:solidFill>
                      <a:srgbClr val="7030A0"/>
                    </a:solidFill>
                  </a:rPr>
                  <a:t>每个</a:t>
                </a:r>
                <a:r>
                  <a:rPr kumimoji="1" lang="en-US" altLang="zh-CN" sz="2400" dirty="0">
                    <a:solidFill>
                      <a:srgbClr val="7030A0"/>
                    </a:solidFill>
                  </a:rPr>
                  <a:t>cache</a:t>
                </a:r>
                <a:r>
                  <a:rPr kumimoji="1" lang="zh-CN" altLang="en-US" sz="2400" dirty="0">
                    <a:solidFill>
                      <a:srgbClr val="7030A0"/>
                    </a:solidFill>
                  </a:rPr>
                  <a:t>行</a:t>
                </a:r>
                <a:r>
                  <a:rPr kumimoji="1" lang="en-US" altLang="zh-CN" sz="2400" dirty="0">
                    <a:solidFill>
                      <a:srgbClr val="7030A0"/>
                    </a:solidFill>
                  </a:rPr>
                  <a:t>32</a:t>
                </a:r>
                <a:r>
                  <a:rPr kumimoji="1" lang="zh-CN" altLang="en-US" sz="2400" dirty="0">
                    <a:solidFill>
                      <a:srgbClr val="7030A0"/>
                    </a:solidFill>
                  </a:rPr>
                  <a:t>字节</a:t>
                </a:r>
              </a:p>
              <a:p>
                <a:pPr marL="914400" lvl="1" indent="-457200">
                  <a:spcBef>
                    <a:spcPts val="1000"/>
                  </a:spcBef>
                </a:pPr>
                <a:r>
                  <a:rPr kumimoji="1" lang="zh-CN" altLang="en-US" sz="2400" dirty="0"/>
                  <a:t>问题</a:t>
                </a:r>
                <a:r>
                  <a:rPr kumimoji="1" lang="en-US" altLang="zh-CN" sz="2400" dirty="0"/>
                  <a:t>1</a:t>
                </a:r>
                <a:r>
                  <a:rPr kumimoji="1" lang="zh-CN" altLang="en-US" sz="2400" dirty="0"/>
                  <a:t>：指令</a:t>
                </a:r>
                <a:r>
                  <a:rPr kumimoji="1" lang="en-US" altLang="zh-CN" sz="2400" dirty="0"/>
                  <a:t>cache</a:t>
                </a:r>
                <a:r>
                  <a:rPr kumimoji="1" lang="zh-CN" altLang="en-US" sz="2400" dirty="0"/>
                  <a:t>标签应为多少</a:t>
                </a:r>
                <a:r>
                  <a:rPr kumimoji="1" lang="en-US" altLang="zh-CN" sz="2400" dirty="0"/>
                  <a:t>bit</a:t>
                </a:r>
                <a:r>
                  <a:rPr kumimoji="1" lang="zh-CN" altLang="en-US" sz="2400" dirty="0"/>
                  <a:t>宽？</a:t>
                </a:r>
                <a:endParaRPr kumimoji="1" lang="en-US" altLang="zh-CN" sz="2400" dirty="0"/>
              </a:p>
              <a:p>
                <a:pPr marL="1314450" lvl="2" indent="-457200">
                  <a:spcBef>
                    <a:spcPts val="1000"/>
                  </a:spcBef>
                  <a:buFont typeface="Wingdings" pitchFamily="2" charset="2"/>
                  <a:buChar char="Ø"/>
                </a:pPr>
                <a:r>
                  <a:rPr lang="zh-CN" altLang="en-US" sz="2000" dirty="0"/>
                  <a:t>指令</a:t>
                </a:r>
                <a:r>
                  <a:rPr lang="en-US" altLang="zh-CN" sz="2000" dirty="0"/>
                  <a:t>cache</a:t>
                </a:r>
                <a:r>
                  <a:rPr lang="zh-CN" altLang="en-US" sz="2000" dirty="0"/>
                  <a:t>的组数：</a:t>
                </a:r>
                <a:r>
                  <a:rPr lang="en-US" altLang="zh-CN" sz="2000" dirty="0"/>
                  <a:t> </a:t>
                </a:r>
                <a14:m>
                  <m:oMath xmlns:m="http://schemas.openxmlformats.org/officeDocument/2006/math">
                    <m:f>
                      <m:fPr>
                        <m:ctrlPr>
                          <a:rPr lang="en-US" altLang="zh-CN" sz="2000" b="1" i="1" smtClean="0">
                            <a:latin typeface="Cambria Math" panose="02040503050406030204" pitchFamily="18" charset="0"/>
                          </a:rPr>
                        </m:ctrlPr>
                      </m:fPr>
                      <m:num>
                        <m:sSup>
                          <m:sSupPr>
                            <m:ctrlPr>
                              <a:rPr lang="en-US" altLang="zh-CN" sz="2000" i="1" smtClean="0">
                                <a:latin typeface="Cambria Math" panose="02040503050406030204" pitchFamily="18" charset="0"/>
                              </a:rPr>
                            </m:ctrlPr>
                          </m:sSupPr>
                          <m:e>
                            <m:r>
                              <a:rPr lang="en-US" altLang="zh-CN" sz="2000" b="1" i="1" smtClean="0">
                                <a:latin typeface="Cambria Math" panose="02040503050406030204" pitchFamily="18" charset="0"/>
                              </a:rPr>
                              <m:t>𝟐</m:t>
                            </m:r>
                          </m:e>
                          <m:sup>
                            <m:r>
                              <a:rPr lang="en-US" altLang="zh-CN" sz="2000" b="1" i="1" smtClean="0">
                                <a:latin typeface="Cambria Math" panose="02040503050406030204" pitchFamily="18" charset="0"/>
                              </a:rPr>
                              <m:t>𝟏𝟐</m:t>
                            </m:r>
                          </m:sup>
                        </m:sSup>
                      </m:num>
                      <m:den>
                        <m:r>
                          <a:rPr lang="en-US" altLang="zh-CN" sz="2000" b="1" i="1" smtClean="0">
                            <a:solidFill>
                              <a:srgbClr val="0432FF"/>
                            </a:solidFill>
                            <a:latin typeface="Cambria Math" panose="02040503050406030204" pitchFamily="18" charset="0"/>
                          </a:rPr>
                          <m:t>𝟐</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𝟑𝟐</m:t>
                        </m:r>
                      </m:den>
                    </m:f>
                    <m:r>
                      <a:rPr lang="en-US" altLang="zh-CN" sz="2000" b="1" i="1" smtClean="0">
                        <a:latin typeface="Cambria Math" panose="02040503050406030204" pitchFamily="18" charset="0"/>
                      </a:rPr>
                      <m:t>=</m:t>
                    </m:r>
                    <m:sSup>
                      <m:sSupPr>
                        <m:ctrlPr>
                          <a:rPr lang="en-US" altLang="zh-CN" sz="2000" i="1" smtClean="0">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𝟐</m:t>
                        </m:r>
                      </m:e>
                      <m:sup>
                        <m:r>
                          <a:rPr lang="en-US" altLang="zh-CN" sz="2000" b="1" i="1" smtClean="0">
                            <a:solidFill>
                              <a:srgbClr val="FF0000"/>
                            </a:solidFill>
                            <a:latin typeface="Cambria Math" panose="02040503050406030204" pitchFamily="18" charset="0"/>
                          </a:rPr>
                          <m:t>𝟔</m:t>
                        </m:r>
                      </m:sup>
                    </m:sSup>
                  </m:oMath>
                </a14:m>
                <a:endParaRPr lang="en-US" altLang="zh-CN" sz="2000" dirty="0"/>
              </a:p>
              <a:p>
                <a:pPr marL="1314450" lvl="2" indent="-457200">
                  <a:spcBef>
                    <a:spcPts val="1000"/>
                  </a:spcBef>
                  <a:buFont typeface="Wingdings" pitchFamily="2" charset="2"/>
                  <a:buChar char="Ø"/>
                </a:pPr>
                <a:r>
                  <a:rPr lang="zh-CN" altLang="en-US" sz="2000" dirty="0"/>
                  <a:t>指令</a:t>
                </a:r>
                <a:r>
                  <a:rPr lang="en-US" altLang="zh-CN" sz="2000" dirty="0"/>
                  <a:t>cache</a:t>
                </a:r>
                <a:r>
                  <a:rPr lang="zh-CN" altLang="en-US" sz="2000" dirty="0"/>
                  <a:t>的行内地址</a:t>
                </a:r>
                <a:r>
                  <a:rPr lang="en-US" altLang="zh-CN" sz="2000" dirty="0"/>
                  <a:t>bit</a:t>
                </a:r>
                <a:r>
                  <a:rPr lang="zh-CN" altLang="en-US" sz="2000" dirty="0"/>
                  <a:t>数：</a:t>
                </a:r>
                <a14:m>
                  <m:oMath xmlns:m="http://schemas.openxmlformats.org/officeDocument/2006/math">
                    <m:sSub>
                      <m:sSubPr>
                        <m:ctrlPr>
                          <a:rPr lang="en-US" altLang="zh-CN" sz="2000" i="1" smtClean="0">
                            <a:solidFill>
                              <a:srgbClr val="7030A0"/>
                            </a:solidFill>
                            <a:latin typeface="Cambria Math" panose="02040503050406030204" pitchFamily="18" charset="0"/>
                          </a:rPr>
                        </m:ctrlPr>
                      </m:sSubPr>
                      <m:e>
                        <m:r>
                          <m:rPr>
                            <m:sty m:val="p"/>
                          </m:rPr>
                          <a:rPr lang="en-US" altLang="zh-CN" sz="2000" i="0">
                            <a:solidFill>
                              <a:srgbClr val="7030A0"/>
                            </a:solidFill>
                            <a:latin typeface="Cambria Math" panose="02040503050406030204" pitchFamily="18" charset="0"/>
                          </a:rPr>
                          <m:t>log</m:t>
                        </m:r>
                      </m:e>
                      <m:sub>
                        <m:r>
                          <a:rPr lang="en-US" altLang="zh-CN" sz="2000" b="1" i="0" smtClean="0">
                            <a:solidFill>
                              <a:srgbClr val="7030A0"/>
                            </a:solidFill>
                            <a:latin typeface="Cambria Math" panose="02040503050406030204" pitchFamily="18" charset="0"/>
                          </a:rPr>
                          <m:t>𝟐</m:t>
                        </m:r>
                      </m:sub>
                    </m:sSub>
                    <m:d>
                      <m:dPr>
                        <m:ctrlPr>
                          <a:rPr lang="en-US" altLang="zh-CN" sz="2000" b="1" i="1" smtClean="0">
                            <a:solidFill>
                              <a:srgbClr val="7030A0"/>
                            </a:solidFill>
                            <a:latin typeface="Cambria Math" panose="02040503050406030204" pitchFamily="18" charset="0"/>
                          </a:rPr>
                        </m:ctrlPr>
                      </m:dPr>
                      <m:e>
                        <m:r>
                          <a:rPr lang="en-US" altLang="zh-CN" sz="2000" b="1" i="0" smtClean="0">
                            <a:solidFill>
                              <a:srgbClr val="7030A0"/>
                            </a:solidFill>
                            <a:latin typeface="Cambria Math" panose="02040503050406030204" pitchFamily="18" charset="0"/>
                          </a:rPr>
                          <m:t>𝟑𝟐</m:t>
                        </m:r>
                      </m:e>
                    </m:d>
                    <m:r>
                      <a:rPr lang="en-US" altLang="zh-CN" sz="2000" b="1" i="0" smtClean="0">
                        <a:solidFill>
                          <a:srgbClr val="7030A0"/>
                        </a:solidFill>
                        <a:latin typeface="Cambria Math" panose="02040503050406030204" pitchFamily="18" charset="0"/>
                      </a:rPr>
                      <m:t>=</m:t>
                    </m:r>
                  </m:oMath>
                </a14:m>
                <a:r>
                  <a:rPr lang="en-US" altLang="zh-CN" sz="2000" dirty="0">
                    <a:solidFill>
                      <a:srgbClr val="7030A0"/>
                    </a:solidFill>
                  </a:rPr>
                  <a:t>5 bit</a:t>
                </a:r>
              </a:p>
              <a:p>
                <a:pPr marL="1314450" lvl="2" indent="-457200">
                  <a:spcBef>
                    <a:spcPts val="1000"/>
                  </a:spcBef>
                  <a:buFont typeface="Wingdings" pitchFamily="2" charset="2"/>
                  <a:buChar char="Ø"/>
                </a:pPr>
                <a:r>
                  <a:rPr lang="zh-CN" altLang="en-US" sz="2000" dirty="0"/>
                  <a:t>指令</a:t>
                </a:r>
                <a:r>
                  <a:rPr lang="en-US" altLang="zh-CN" sz="2000" dirty="0"/>
                  <a:t>cache</a:t>
                </a:r>
                <a:r>
                  <a:rPr lang="zh-CN" altLang="en-US" sz="2000" dirty="0"/>
                  <a:t>的组号索引</a:t>
                </a:r>
                <a:r>
                  <a:rPr lang="en-US" altLang="zh-CN" sz="2000" dirty="0"/>
                  <a:t>bit</a:t>
                </a:r>
                <a:r>
                  <a:rPr lang="zh-CN" altLang="en-US" sz="2000" dirty="0"/>
                  <a:t>数：</a:t>
                </a:r>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a:latin typeface="Cambria Math" panose="02040503050406030204" pitchFamily="18" charset="0"/>
                              </a:rPr>
                              <m:t>𝟐</m:t>
                            </m:r>
                          </m:sub>
                        </m:sSub>
                        <m:r>
                          <a:rPr lang="en-US" altLang="zh-CN" sz="2000" b="1" i="1" smtClean="0">
                            <a:latin typeface="Cambria Math" panose="02040503050406030204" pitchFamily="18" charset="0"/>
                          </a:rPr>
                          <m:t>(</m:t>
                        </m:r>
                        <m:r>
                          <a:rPr lang="en-US" altLang="zh-CN" sz="2000" i="1" smtClean="0">
                            <a:solidFill>
                              <a:srgbClr val="FF0000"/>
                            </a:solidFill>
                            <a:latin typeface="Cambria Math" panose="02040503050406030204" pitchFamily="18" charset="0"/>
                          </a:rPr>
                          <m:t>𝟐</m:t>
                        </m:r>
                      </m:e>
                      <m:sup>
                        <m:r>
                          <a:rPr lang="en-US" altLang="zh-CN" sz="2000" b="1" i="1" smtClean="0">
                            <a:solidFill>
                              <a:srgbClr val="FF0000"/>
                            </a:solidFill>
                            <a:latin typeface="Cambria Math" panose="02040503050406030204" pitchFamily="18" charset="0"/>
                          </a:rPr>
                          <m:t>𝟔</m:t>
                        </m:r>
                      </m:sup>
                    </m:sSup>
                    <m:r>
                      <a:rPr lang="en-US" altLang="zh-CN" sz="2000" b="1" i="1" smtClean="0">
                        <a:latin typeface="Cambria Math" panose="02040503050406030204" pitchFamily="18" charset="0"/>
                      </a:rPr>
                      <m:t>)=</m:t>
                    </m:r>
                  </m:oMath>
                </a14:m>
                <a:r>
                  <a:rPr lang="en-US" altLang="zh-CN" sz="2000" dirty="0">
                    <a:solidFill>
                      <a:srgbClr val="00B050"/>
                    </a:solidFill>
                  </a:rPr>
                  <a:t>6 bit</a:t>
                </a:r>
              </a:p>
              <a:p>
                <a:pPr marL="1314450" lvl="2" indent="-457200">
                  <a:spcBef>
                    <a:spcPts val="1000"/>
                  </a:spcBef>
                  <a:buFont typeface="Wingdings" pitchFamily="2" charset="2"/>
                  <a:buChar char="Ø"/>
                </a:pPr>
                <a:r>
                  <a:rPr lang="zh-CN" altLang="en-US" sz="2000" dirty="0"/>
                  <a:t>指令</a:t>
                </a:r>
                <a:r>
                  <a:rPr lang="en-US" altLang="zh-CN" sz="2000" dirty="0"/>
                  <a:t>cache</a:t>
                </a:r>
                <a:r>
                  <a:rPr lang="zh-CN" altLang="en-US" sz="2000" dirty="0"/>
                  <a:t>的标签</a:t>
                </a:r>
                <a:r>
                  <a:rPr lang="en-US" altLang="zh-CN" sz="2000" dirty="0"/>
                  <a:t>bit</a:t>
                </a:r>
                <a:r>
                  <a:rPr lang="zh-CN" altLang="en-US" sz="2000" dirty="0"/>
                  <a:t>数：</a:t>
                </a:r>
                <a:r>
                  <a:rPr lang="en-US" altLang="zh-CN" sz="2000" dirty="0"/>
                  <a:t>32-</a:t>
                </a:r>
                <a:r>
                  <a:rPr lang="en-US" altLang="zh-CN" sz="2000" dirty="0">
                    <a:solidFill>
                      <a:srgbClr val="7030A0"/>
                    </a:solidFill>
                  </a:rPr>
                  <a:t>5</a:t>
                </a:r>
                <a:r>
                  <a:rPr lang="en-US" altLang="zh-CN" sz="2000" dirty="0"/>
                  <a:t>-</a:t>
                </a:r>
                <a:r>
                  <a:rPr lang="en-US" altLang="zh-CN" sz="2000" dirty="0">
                    <a:solidFill>
                      <a:srgbClr val="00B050"/>
                    </a:solidFill>
                  </a:rPr>
                  <a:t>6</a:t>
                </a:r>
                <a:r>
                  <a:rPr lang="en-US" altLang="zh-CN" sz="2000" dirty="0"/>
                  <a:t>=21 bit</a:t>
                </a:r>
              </a:p>
            </p:txBody>
          </p:sp>
        </mc:Choice>
        <mc:Fallback xmlns="">
          <p:sp>
            <p:nvSpPr>
              <p:cNvPr id="4" name="内容占位符 2">
                <a:extLst>
                  <a:ext uri="{FF2B5EF4-FFF2-40B4-BE49-F238E27FC236}">
                    <a16:creationId xmlns:a16="http://schemas.microsoft.com/office/drawing/2014/main" id="{FBE02D7A-4922-804D-B66B-910F9081B8A5}"/>
                  </a:ext>
                </a:extLst>
              </p:cNvPr>
              <p:cNvSpPr>
                <a:spLocks noGrp="1" noRot="1" noChangeAspect="1" noMove="1" noResize="1" noEditPoints="1" noAdjustHandles="1" noChangeArrowheads="1" noChangeShapeType="1" noTextEdit="1"/>
              </p:cNvSpPr>
              <p:nvPr>
                <p:ph idx="1"/>
              </p:nvPr>
            </p:nvSpPr>
            <p:spPr>
              <a:xfrm>
                <a:off x="457200" y="1551432"/>
                <a:ext cx="8229600" cy="4779793"/>
              </a:xfrm>
              <a:blipFill>
                <a:blip r:embed="rId3"/>
                <a:stretch>
                  <a:fillRect l="-1037" t="-2041" r="-48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2277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地址映像方式练习</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56</a:t>
            </a:fld>
            <a:endParaRPr lang="en-US" altLang="zh-CN"/>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5306568"/>
              </a:xfrm>
            </p:spPr>
            <p:txBody>
              <a:bodyPr/>
              <a:lstStyle/>
              <a:p>
                <a:pPr marL="514350" indent="-457200">
                  <a:spcBef>
                    <a:spcPts val="1000"/>
                  </a:spcBef>
                </a:pPr>
                <a:r>
                  <a:rPr kumimoji="1" lang="en-US" altLang="zh-CN" dirty="0"/>
                  <a:t>CPU</a:t>
                </a:r>
                <a:r>
                  <a:rPr kumimoji="1" lang="zh-CN" altLang="en-US" dirty="0"/>
                  <a:t>产生</a:t>
                </a:r>
                <a:r>
                  <a:rPr kumimoji="1" lang="en-US" altLang="zh-CN" dirty="0"/>
                  <a:t>32</a:t>
                </a:r>
                <a:r>
                  <a:rPr kumimoji="1" lang="zh-CN" altLang="en-US" dirty="0"/>
                  <a:t>位的地址读取数据和指令，指令和数据分别有自己的</a:t>
                </a:r>
                <a:r>
                  <a:rPr kumimoji="1" lang="en-US" altLang="zh-CN" dirty="0"/>
                  <a:t>Cache(</a:t>
                </a:r>
                <a:r>
                  <a:rPr kumimoji="1" lang="zh-CN" altLang="en-US" dirty="0"/>
                  <a:t>哈佛架构</a:t>
                </a:r>
                <a:r>
                  <a:rPr kumimoji="1" lang="en-US" altLang="zh-CN" dirty="0"/>
                  <a:t>)</a:t>
                </a:r>
              </a:p>
              <a:p>
                <a:pPr marL="914400" lvl="1" indent="-457200">
                  <a:spcBef>
                    <a:spcPts val="1000"/>
                  </a:spcBef>
                </a:pPr>
                <a:r>
                  <a:rPr kumimoji="1" lang="zh-CN" altLang="en-US" sz="2400" dirty="0"/>
                  <a:t>指令</a:t>
                </a:r>
                <a:r>
                  <a:rPr kumimoji="1" lang="en-US" altLang="zh-CN" sz="2400" dirty="0"/>
                  <a:t>cache</a:t>
                </a:r>
                <a:r>
                  <a:rPr kumimoji="1" lang="zh-CN" altLang="en-US" sz="2400" dirty="0"/>
                  <a:t>共</a:t>
                </a:r>
                <a14:m>
                  <m:oMath xmlns:m="http://schemas.openxmlformats.org/officeDocument/2006/math">
                    <m:sSup>
                      <m:sSupPr>
                        <m:ctrlPr>
                          <a:rPr kumimoji="1" lang="en-US" altLang="zh-CN" sz="2400" i="1" dirty="0" smtClean="0">
                            <a:latin typeface="Cambria Math" panose="02040503050406030204" pitchFamily="18" charset="0"/>
                          </a:rPr>
                        </m:ctrlPr>
                      </m:sSupPr>
                      <m:e>
                        <m:r>
                          <a:rPr kumimoji="1" lang="en-US" altLang="zh-CN" sz="2400" b="1" i="0" dirty="0" smtClean="0">
                            <a:latin typeface="Cambria Math" panose="02040503050406030204" pitchFamily="18" charset="0"/>
                          </a:rPr>
                          <m:t>𝟐</m:t>
                        </m:r>
                      </m:e>
                      <m:sup>
                        <m:r>
                          <a:rPr kumimoji="1" lang="en-US" altLang="zh-CN" sz="2400" b="1" i="0" dirty="0" smtClean="0">
                            <a:latin typeface="Cambria Math" panose="02040503050406030204" pitchFamily="18" charset="0"/>
                          </a:rPr>
                          <m:t>𝟏𝟐</m:t>
                        </m:r>
                      </m:sup>
                    </m:sSup>
                  </m:oMath>
                </a14:m>
                <a:r>
                  <a:rPr kumimoji="1" lang="zh-CN" altLang="en-US" sz="2400" dirty="0"/>
                  <a:t>个字节的容量，采用</a:t>
                </a:r>
                <a:r>
                  <a:rPr kumimoji="1" lang="en-US" altLang="zh-CN" sz="2400" dirty="0"/>
                  <a:t>2</a:t>
                </a:r>
                <a:r>
                  <a:rPr kumimoji="1" lang="zh-CN" altLang="en-US" sz="2400" dirty="0"/>
                  <a:t>路组相联映像，每个</a:t>
                </a:r>
                <a:r>
                  <a:rPr kumimoji="1" lang="en-US" altLang="zh-CN" sz="2400" dirty="0"/>
                  <a:t>cache</a:t>
                </a:r>
                <a:r>
                  <a:rPr kumimoji="1" lang="zh-CN" altLang="en-US" sz="2400" dirty="0"/>
                  <a:t>行</a:t>
                </a:r>
                <a:r>
                  <a:rPr kumimoji="1" lang="en-US" altLang="zh-CN" sz="2400" dirty="0"/>
                  <a:t>32</a:t>
                </a:r>
                <a:r>
                  <a:rPr kumimoji="1" lang="zh-CN" altLang="en-US" sz="2400" dirty="0"/>
                  <a:t>字节</a:t>
                </a:r>
                <a:endParaRPr kumimoji="1" lang="en-US" altLang="zh-CN" sz="2400" dirty="0"/>
              </a:p>
              <a:p>
                <a:pPr marL="914400" lvl="1" indent="-457200">
                  <a:spcBef>
                    <a:spcPts val="1000"/>
                  </a:spcBef>
                </a:pPr>
                <a:r>
                  <a:rPr kumimoji="1" lang="zh-CN" altLang="en-US" sz="2400" dirty="0"/>
                  <a:t>数据</a:t>
                </a:r>
                <a:r>
                  <a:rPr kumimoji="1" lang="en-US" altLang="zh-CN" sz="2400" dirty="0"/>
                  <a:t>cache</a:t>
                </a:r>
                <a:r>
                  <a:rPr kumimoji="1" lang="zh-CN" altLang="en-US" sz="2400" dirty="0"/>
                  <a:t>共</a:t>
                </a:r>
                <a14:m>
                  <m:oMath xmlns:m="http://schemas.openxmlformats.org/officeDocument/2006/math">
                    <m:sSup>
                      <m:sSupPr>
                        <m:ctrlPr>
                          <a:rPr kumimoji="1" lang="en-US" altLang="zh-CN" sz="2400" i="1" dirty="0">
                            <a:latin typeface="Cambria Math" panose="02040503050406030204" pitchFamily="18" charset="0"/>
                          </a:rPr>
                        </m:ctrlPr>
                      </m:sSupPr>
                      <m:e>
                        <m:r>
                          <a:rPr kumimoji="1" lang="en-US" altLang="zh-CN" sz="2400" dirty="0">
                            <a:latin typeface="Cambria Math" panose="02040503050406030204" pitchFamily="18" charset="0"/>
                          </a:rPr>
                          <m:t>𝟐</m:t>
                        </m:r>
                      </m:e>
                      <m:sup>
                        <m:r>
                          <a:rPr kumimoji="1" lang="en-US" altLang="zh-CN" sz="2400" dirty="0">
                            <a:latin typeface="Cambria Math" panose="02040503050406030204" pitchFamily="18" charset="0"/>
                          </a:rPr>
                          <m:t>𝟏</m:t>
                        </m:r>
                        <m:r>
                          <a:rPr kumimoji="1" lang="en-US" altLang="zh-CN" sz="2400" b="1" i="1" dirty="0" smtClean="0">
                            <a:latin typeface="Cambria Math" panose="02040503050406030204" pitchFamily="18" charset="0"/>
                          </a:rPr>
                          <m:t>𝟑</m:t>
                        </m:r>
                      </m:sup>
                    </m:sSup>
                  </m:oMath>
                </a14:m>
                <a:r>
                  <a:rPr kumimoji="1" lang="zh-CN" altLang="en-US" sz="2400" dirty="0"/>
                  <a:t>个字节的容量，采用</a:t>
                </a:r>
                <a:r>
                  <a:rPr kumimoji="1" lang="en-US" altLang="zh-CN" sz="2400" dirty="0"/>
                  <a:t>2</a:t>
                </a:r>
                <a:r>
                  <a:rPr kumimoji="1" lang="zh-CN" altLang="en-US" sz="2400" dirty="0"/>
                  <a:t>路组相联映像，每个数据块</a:t>
                </a:r>
                <a:r>
                  <a:rPr kumimoji="1" lang="en-US" altLang="zh-CN" sz="2400" dirty="0"/>
                  <a:t>32</a:t>
                </a:r>
                <a:r>
                  <a:rPr kumimoji="1" lang="zh-CN" altLang="en-US" sz="2400" dirty="0"/>
                  <a:t>字节</a:t>
                </a:r>
              </a:p>
              <a:p>
                <a:pPr marL="914400" lvl="1" indent="-457200">
                  <a:spcBef>
                    <a:spcPts val="1000"/>
                  </a:spcBef>
                </a:pPr>
                <a:r>
                  <a:rPr kumimoji="1" lang="zh-CN" altLang="en-US" sz="2400" dirty="0"/>
                  <a:t>问题</a:t>
                </a:r>
                <a:r>
                  <a:rPr kumimoji="1" lang="en-US" altLang="zh-CN" sz="2400" dirty="0"/>
                  <a:t>2</a:t>
                </a:r>
                <a:r>
                  <a:rPr kumimoji="1" lang="zh-CN" altLang="en-US" sz="2400" dirty="0"/>
                  <a:t>：数据</a:t>
                </a:r>
                <a:r>
                  <a:rPr kumimoji="1" lang="en-US" altLang="zh-CN" sz="2400" dirty="0"/>
                  <a:t>cache</a:t>
                </a:r>
                <a:r>
                  <a:rPr kumimoji="1" lang="zh-CN" altLang="en-US" sz="2400" dirty="0"/>
                  <a:t>标签应为多少</a:t>
                </a:r>
                <a:r>
                  <a:rPr kumimoji="1" lang="en-US" altLang="zh-CN" sz="2400" dirty="0"/>
                  <a:t>bit</a:t>
                </a:r>
                <a:r>
                  <a:rPr kumimoji="1" lang="zh-CN" altLang="en-US" sz="2400" dirty="0"/>
                  <a:t>宽？</a:t>
                </a:r>
                <a:endParaRPr kumimoji="1" lang="en-US" altLang="zh-CN" sz="2400" dirty="0"/>
              </a:p>
              <a:p>
                <a:pPr marL="1314450" lvl="2" indent="-457200">
                  <a:spcBef>
                    <a:spcPts val="1000"/>
                  </a:spcBef>
                  <a:buFont typeface="Wingdings" pitchFamily="2" charset="2"/>
                  <a:buChar char="Ø"/>
                </a:pPr>
                <a:r>
                  <a:rPr kumimoji="1" lang="zh-CN" altLang="en-US" sz="2000" dirty="0"/>
                  <a:t>数据</a:t>
                </a:r>
                <a:r>
                  <a:rPr lang="en-US" altLang="zh-CN" sz="2000" dirty="0"/>
                  <a:t>cache</a:t>
                </a:r>
                <a:r>
                  <a:rPr lang="zh-CN" altLang="en-US" sz="2000" dirty="0"/>
                  <a:t>的组数：</a:t>
                </a:r>
                <a:r>
                  <a:rPr lang="en-US" altLang="zh-CN" sz="2000" dirty="0"/>
                  <a:t> </a:t>
                </a:r>
                <a14:m>
                  <m:oMath xmlns:m="http://schemas.openxmlformats.org/officeDocument/2006/math">
                    <m:f>
                      <m:fPr>
                        <m:ctrlPr>
                          <a:rPr lang="en-US" altLang="zh-CN" sz="2000" i="1">
                            <a:latin typeface="Cambria Math" panose="02040503050406030204" pitchFamily="18" charset="0"/>
                          </a:rPr>
                        </m:ctrlPr>
                      </m:fPr>
                      <m:num>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𝟐</m:t>
                            </m:r>
                          </m:e>
                          <m:sup>
                            <m:r>
                              <a:rPr lang="en-US" altLang="zh-CN" sz="2000" i="1">
                                <a:latin typeface="Cambria Math" panose="02040503050406030204" pitchFamily="18" charset="0"/>
                              </a:rPr>
                              <m:t>𝟏</m:t>
                            </m:r>
                            <m:r>
                              <a:rPr lang="en-US" altLang="zh-CN" sz="2000" b="1" i="1" smtClean="0">
                                <a:latin typeface="Cambria Math" panose="02040503050406030204" pitchFamily="18" charset="0"/>
                              </a:rPr>
                              <m:t>𝟑</m:t>
                            </m:r>
                          </m:sup>
                        </m:sSup>
                      </m:num>
                      <m:den>
                        <m:r>
                          <a:rPr lang="en-US" altLang="zh-CN" sz="2000" i="1">
                            <a:latin typeface="Cambria Math" panose="02040503050406030204" pitchFamily="18" charset="0"/>
                          </a:rPr>
                          <m:t>𝟐</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𝟑𝟐</m:t>
                        </m:r>
                      </m:den>
                    </m:f>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𝟐</m:t>
                        </m:r>
                      </m:e>
                      <m:sup>
                        <m:r>
                          <a:rPr lang="en-US" altLang="zh-CN" sz="2000" b="1" i="1" smtClean="0">
                            <a:latin typeface="Cambria Math" panose="02040503050406030204" pitchFamily="18" charset="0"/>
                          </a:rPr>
                          <m:t>𝟕</m:t>
                        </m:r>
                      </m:sup>
                    </m:sSup>
                  </m:oMath>
                </a14:m>
                <a:endParaRPr lang="en-US" altLang="zh-CN" sz="2000" dirty="0"/>
              </a:p>
              <a:p>
                <a:pPr marL="1314450" lvl="2" indent="-457200">
                  <a:spcBef>
                    <a:spcPts val="1000"/>
                  </a:spcBef>
                  <a:buFont typeface="Wingdings" pitchFamily="2" charset="2"/>
                  <a:buChar char="Ø"/>
                </a:pPr>
                <a:r>
                  <a:rPr kumimoji="1" lang="zh-CN" altLang="en-US" sz="2000" dirty="0"/>
                  <a:t>数据</a:t>
                </a:r>
                <a:r>
                  <a:rPr lang="en-US" altLang="zh-CN" sz="2000" dirty="0"/>
                  <a:t>cache</a:t>
                </a:r>
                <a:r>
                  <a:rPr lang="zh-CN" altLang="en-US" sz="2000" dirty="0"/>
                  <a:t>的行内地址</a:t>
                </a:r>
                <a:r>
                  <a:rPr lang="en-US" altLang="zh-CN" sz="2000" dirty="0"/>
                  <a:t>bit</a:t>
                </a:r>
                <a:r>
                  <a:rPr lang="zh-CN" altLang="en-US" sz="2000" dirty="0"/>
                  <a:t>数：</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a:latin typeface="Cambria Math" panose="02040503050406030204" pitchFamily="18" charset="0"/>
                          </a:rPr>
                          <m:t>𝟐</m:t>
                        </m:r>
                      </m:sub>
                    </m:sSub>
                    <m:d>
                      <m:dPr>
                        <m:ctrlPr>
                          <a:rPr lang="en-US" altLang="zh-CN" sz="2000" i="1">
                            <a:latin typeface="Cambria Math" panose="02040503050406030204" pitchFamily="18" charset="0"/>
                          </a:rPr>
                        </m:ctrlPr>
                      </m:dPr>
                      <m:e>
                        <m:r>
                          <a:rPr lang="en-US" altLang="zh-CN" sz="2000">
                            <a:latin typeface="Cambria Math" panose="02040503050406030204" pitchFamily="18" charset="0"/>
                          </a:rPr>
                          <m:t>𝟑𝟐</m:t>
                        </m:r>
                      </m:e>
                    </m:d>
                    <m:r>
                      <a:rPr lang="en-US" altLang="zh-CN" sz="2000">
                        <a:latin typeface="Cambria Math" panose="02040503050406030204" pitchFamily="18" charset="0"/>
                      </a:rPr>
                      <m:t>=</m:t>
                    </m:r>
                  </m:oMath>
                </a14:m>
                <a:r>
                  <a:rPr lang="en-US" altLang="zh-CN" sz="2000" dirty="0"/>
                  <a:t>5 bit</a:t>
                </a:r>
              </a:p>
              <a:p>
                <a:pPr marL="1314450" lvl="2" indent="-457200">
                  <a:spcBef>
                    <a:spcPts val="1000"/>
                  </a:spcBef>
                  <a:buFont typeface="Wingdings" pitchFamily="2" charset="2"/>
                  <a:buChar char="Ø"/>
                </a:pPr>
                <a:r>
                  <a:rPr kumimoji="1" lang="zh-CN" altLang="en-US" sz="2000" dirty="0"/>
                  <a:t>数据</a:t>
                </a:r>
                <a:r>
                  <a:rPr lang="en-US" altLang="zh-CN" sz="2000" dirty="0"/>
                  <a:t>cache</a:t>
                </a:r>
                <a:r>
                  <a:rPr lang="zh-CN" altLang="en-US" sz="2000" dirty="0"/>
                  <a:t>的组号索引</a:t>
                </a:r>
                <a:r>
                  <a:rPr lang="en-US" altLang="zh-CN" sz="2000" dirty="0"/>
                  <a:t>bit</a:t>
                </a:r>
                <a:r>
                  <a:rPr lang="zh-CN" altLang="en-US" sz="2000" dirty="0"/>
                  <a:t>数：</a:t>
                </a:r>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log</m:t>
                            </m:r>
                          </m:e>
                          <m:sub>
                            <m:r>
                              <a:rPr lang="en-US" altLang="zh-CN" sz="2000">
                                <a:latin typeface="Cambria Math" panose="02040503050406030204" pitchFamily="18" charset="0"/>
                              </a:rPr>
                              <m:t>𝟐</m:t>
                            </m:r>
                          </m:sub>
                        </m:sSub>
                        <m:r>
                          <a:rPr lang="en-US" altLang="zh-CN" sz="2000" i="1">
                            <a:latin typeface="Cambria Math" panose="02040503050406030204" pitchFamily="18" charset="0"/>
                          </a:rPr>
                          <m:t>(</m:t>
                        </m:r>
                        <m:r>
                          <a:rPr lang="en-US" altLang="zh-CN" sz="2000" i="1">
                            <a:latin typeface="Cambria Math" panose="02040503050406030204" pitchFamily="18" charset="0"/>
                          </a:rPr>
                          <m:t>𝟐</m:t>
                        </m:r>
                      </m:e>
                      <m:sup>
                        <m:r>
                          <a:rPr lang="en-US" altLang="zh-CN" sz="2000" b="1" i="1" smtClean="0">
                            <a:latin typeface="Cambria Math" panose="02040503050406030204" pitchFamily="18" charset="0"/>
                          </a:rPr>
                          <m:t>𝟕</m:t>
                        </m:r>
                      </m:sup>
                    </m:sSup>
                    <m:r>
                      <a:rPr lang="en-US" altLang="zh-CN" sz="2000" i="1">
                        <a:latin typeface="Cambria Math" panose="02040503050406030204" pitchFamily="18" charset="0"/>
                      </a:rPr>
                      <m:t>)=</m:t>
                    </m:r>
                  </m:oMath>
                </a14:m>
                <a:r>
                  <a:rPr lang="en-US" altLang="zh-CN" sz="2000" dirty="0"/>
                  <a:t>7 bit</a:t>
                </a:r>
              </a:p>
              <a:p>
                <a:pPr marL="1314450" lvl="2" indent="-457200">
                  <a:spcBef>
                    <a:spcPts val="1000"/>
                  </a:spcBef>
                  <a:buFont typeface="Wingdings" pitchFamily="2" charset="2"/>
                  <a:buChar char="Ø"/>
                </a:pPr>
                <a:r>
                  <a:rPr kumimoji="1" lang="zh-CN" altLang="en-US" sz="2000" dirty="0"/>
                  <a:t>数据</a:t>
                </a:r>
                <a:r>
                  <a:rPr lang="en-US" altLang="zh-CN" sz="2000" dirty="0"/>
                  <a:t>cache</a:t>
                </a:r>
                <a:r>
                  <a:rPr lang="zh-CN" altLang="en-US" sz="2000" dirty="0"/>
                  <a:t>的标签</a:t>
                </a:r>
                <a:r>
                  <a:rPr lang="en-US" altLang="zh-CN" sz="2000" dirty="0"/>
                  <a:t>bit</a:t>
                </a:r>
                <a:r>
                  <a:rPr lang="zh-CN" altLang="en-US" sz="2000" dirty="0"/>
                  <a:t>数：</a:t>
                </a:r>
                <a:r>
                  <a:rPr lang="en-US" altLang="zh-CN" sz="2000" dirty="0"/>
                  <a:t>32-5-7=20 bit</a:t>
                </a:r>
              </a:p>
            </p:txBody>
          </p:sp>
        </mc:Choice>
        <mc:Fallback xmlns="">
          <p:sp>
            <p:nvSpPr>
              <p:cNvPr id="4" name="内容占位符 2">
                <a:extLst>
                  <a:ext uri="{FF2B5EF4-FFF2-40B4-BE49-F238E27FC236}">
                    <a16:creationId xmlns:a16="http://schemas.microsoft.com/office/drawing/2014/main" id="{FBE02D7A-4922-804D-B66B-910F9081B8A5}"/>
                  </a:ext>
                </a:extLst>
              </p:cNvPr>
              <p:cNvSpPr>
                <a:spLocks noGrp="1" noRot="1" noChangeAspect="1" noMove="1" noResize="1" noEditPoints="1" noAdjustHandles="1" noChangeArrowheads="1" noChangeShapeType="1" noTextEdit="1"/>
              </p:cNvSpPr>
              <p:nvPr>
                <p:ph idx="1"/>
              </p:nvPr>
            </p:nvSpPr>
            <p:spPr>
              <a:xfrm>
                <a:off x="457200" y="1551432"/>
                <a:ext cx="8229600" cy="5306568"/>
              </a:xfrm>
              <a:blipFill>
                <a:blip r:embed="rId3"/>
                <a:stretch>
                  <a:fillRect l="-1080" t="-1914" r="-4938" b="-239"/>
                </a:stretch>
              </a:blipFill>
            </p:spPr>
            <p:txBody>
              <a:bodyPr/>
              <a:lstStyle/>
              <a:p>
                <a:r>
                  <a:rPr lang="en-CN">
                    <a:noFill/>
                  </a:rPr>
                  <a:t> </a:t>
                </a:r>
              </a:p>
            </p:txBody>
          </p:sp>
        </mc:Fallback>
      </mc:AlternateContent>
    </p:spTree>
    <p:extLst>
      <p:ext uri="{BB962C8B-B14F-4D97-AF65-F5344CB8AC3E}">
        <p14:creationId xmlns:p14="http://schemas.microsoft.com/office/powerpoint/2010/main" val="3746785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地址映像方式练习</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57</a:t>
            </a:fld>
            <a:endParaRPr lang="en-US" altLang="zh-CN"/>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693793"/>
              </a:xfrm>
            </p:spPr>
            <p:txBody>
              <a:bodyPr/>
              <a:lstStyle/>
              <a:p>
                <a:pPr marL="514350" indent="-457200">
                  <a:spcBef>
                    <a:spcPts val="1000"/>
                  </a:spcBef>
                </a:pPr>
                <a:r>
                  <a:rPr kumimoji="1" lang="en-US" altLang="zh-CN" dirty="0">
                    <a:solidFill>
                      <a:schemeClr val="tx1"/>
                    </a:solidFill>
                  </a:rPr>
                  <a:t>CPU</a:t>
                </a:r>
                <a:r>
                  <a:rPr kumimoji="1" lang="zh-CN" altLang="en-US" dirty="0">
                    <a:solidFill>
                      <a:schemeClr val="tx1"/>
                    </a:solidFill>
                  </a:rPr>
                  <a:t>产生</a:t>
                </a:r>
                <a:r>
                  <a:rPr kumimoji="1" lang="en-US" altLang="zh-CN" dirty="0">
                    <a:solidFill>
                      <a:schemeClr val="tx1"/>
                    </a:solidFill>
                  </a:rPr>
                  <a:t>32</a:t>
                </a:r>
                <a:r>
                  <a:rPr kumimoji="1" lang="zh-CN" altLang="en-US" dirty="0">
                    <a:solidFill>
                      <a:schemeClr val="tx1"/>
                    </a:solidFill>
                  </a:rPr>
                  <a:t>位的地址读取数据和指令，指令和数据分别有自己的</a:t>
                </a:r>
                <a:r>
                  <a:rPr kumimoji="1" lang="en-US" altLang="zh-CN" dirty="0">
                    <a:solidFill>
                      <a:schemeClr val="tx1"/>
                    </a:solidFill>
                  </a:rPr>
                  <a:t>Cache(</a:t>
                </a:r>
                <a:r>
                  <a:rPr kumimoji="1" lang="zh-CN" altLang="en-US" dirty="0">
                    <a:solidFill>
                      <a:schemeClr val="tx1"/>
                    </a:solidFill>
                  </a:rPr>
                  <a:t>哈佛架构</a:t>
                </a:r>
                <a:r>
                  <a:rPr kumimoji="1" lang="en-US" altLang="zh-CN" dirty="0">
                    <a:solidFill>
                      <a:schemeClr val="tx1"/>
                    </a:solidFill>
                  </a:rPr>
                  <a:t>)</a:t>
                </a:r>
              </a:p>
              <a:p>
                <a:pPr marL="914400" lvl="1" indent="-457200">
                  <a:spcBef>
                    <a:spcPts val="1000"/>
                  </a:spcBef>
                </a:pPr>
                <a:r>
                  <a:rPr kumimoji="1" lang="zh-CN" altLang="en-US" sz="2400" b="0" dirty="0">
                    <a:solidFill>
                      <a:schemeClr val="tx1"/>
                    </a:solidFill>
                  </a:rPr>
                  <a:t>指令</a:t>
                </a:r>
                <a:r>
                  <a:rPr kumimoji="1" lang="en-US" altLang="zh-CN" sz="2400" b="0" dirty="0">
                    <a:solidFill>
                      <a:schemeClr val="tx1"/>
                    </a:solidFill>
                  </a:rPr>
                  <a:t>cache</a:t>
                </a:r>
                <a:r>
                  <a:rPr kumimoji="1" lang="zh-CN" altLang="en-US" sz="2400" b="0" dirty="0">
                    <a:solidFill>
                      <a:schemeClr val="tx1"/>
                    </a:solidFill>
                  </a:rPr>
                  <a:t>共</a:t>
                </a:r>
                <a14:m>
                  <m:oMath xmlns:m="http://schemas.openxmlformats.org/officeDocument/2006/math">
                    <m:sSup>
                      <m:sSupPr>
                        <m:ctrlPr>
                          <a:rPr kumimoji="1" lang="en-US" altLang="zh-CN" sz="2400" b="0" i="1" dirty="0" smtClean="0">
                            <a:solidFill>
                              <a:schemeClr val="tx1"/>
                            </a:solidFill>
                            <a:latin typeface="Cambria Math" panose="02040503050406030204" pitchFamily="18" charset="0"/>
                          </a:rPr>
                        </m:ctrlPr>
                      </m:sSupPr>
                      <m:e>
                        <m:r>
                          <a:rPr kumimoji="1" lang="en-US" altLang="zh-CN" sz="2400" b="0" i="0" dirty="0" smtClean="0">
                            <a:solidFill>
                              <a:schemeClr val="tx1"/>
                            </a:solidFill>
                            <a:latin typeface="Cambria Math" panose="02040503050406030204" pitchFamily="18" charset="0"/>
                          </a:rPr>
                          <m:t>2</m:t>
                        </m:r>
                      </m:e>
                      <m:sup>
                        <m:r>
                          <a:rPr kumimoji="1" lang="en-US" altLang="zh-CN" sz="2400" b="0" i="0" dirty="0" smtClean="0">
                            <a:solidFill>
                              <a:schemeClr val="tx1"/>
                            </a:solidFill>
                            <a:latin typeface="Cambria Math" panose="02040503050406030204" pitchFamily="18" charset="0"/>
                          </a:rPr>
                          <m:t>12</m:t>
                        </m:r>
                      </m:sup>
                    </m:sSup>
                  </m:oMath>
                </a14:m>
                <a:r>
                  <a:rPr kumimoji="1" lang="zh-CN" altLang="en-US" sz="2400" b="0" dirty="0">
                    <a:solidFill>
                      <a:schemeClr val="tx1"/>
                    </a:solidFill>
                  </a:rPr>
                  <a:t>个字节的容量，采用</a:t>
                </a:r>
                <a:r>
                  <a:rPr kumimoji="1" lang="en-US" altLang="zh-CN" sz="2400" b="0" dirty="0">
                    <a:solidFill>
                      <a:schemeClr val="tx1"/>
                    </a:solidFill>
                  </a:rPr>
                  <a:t>2</a:t>
                </a:r>
                <a:r>
                  <a:rPr kumimoji="1" lang="zh-CN" altLang="en-US" sz="2400" b="0" dirty="0">
                    <a:solidFill>
                      <a:schemeClr val="tx1"/>
                    </a:solidFill>
                  </a:rPr>
                  <a:t>路组相联映像，每个</a:t>
                </a:r>
                <a:r>
                  <a:rPr kumimoji="1" lang="en-US" altLang="zh-CN" sz="2400" b="0" dirty="0">
                    <a:solidFill>
                      <a:schemeClr val="tx1"/>
                    </a:solidFill>
                  </a:rPr>
                  <a:t>cache</a:t>
                </a:r>
                <a:r>
                  <a:rPr kumimoji="1" lang="zh-CN" altLang="en-US" sz="2400" b="0" dirty="0">
                    <a:solidFill>
                      <a:schemeClr val="tx1"/>
                    </a:solidFill>
                  </a:rPr>
                  <a:t>行</a:t>
                </a:r>
                <a:r>
                  <a:rPr kumimoji="1" lang="en-US" altLang="zh-CN" sz="2400" b="0" dirty="0">
                    <a:solidFill>
                      <a:schemeClr val="tx1"/>
                    </a:solidFill>
                  </a:rPr>
                  <a:t>32</a:t>
                </a:r>
                <a:r>
                  <a:rPr kumimoji="1" lang="zh-CN" altLang="en-US" sz="2400" b="0" dirty="0">
                    <a:solidFill>
                      <a:schemeClr val="tx1"/>
                    </a:solidFill>
                  </a:rPr>
                  <a:t>字节</a:t>
                </a:r>
                <a:endParaRPr kumimoji="1" lang="en-US" altLang="zh-CN" sz="2400" b="0" dirty="0">
                  <a:solidFill>
                    <a:schemeClr val="tx1"/>
                  </a:solidFill>
                </a:endParaRPr>
              </a:p>
              <a:p>
                <a:pPr marL="914400" lvl="1" indent="-457200">
                  <a:spcBef>
                    <a:spcPts val="1000"/>
                  </a:spcBef>
                </a:pPr>
                <a:r>
                  <a:rPr kumimoji="1" lang="zh-CN" altLang="en-US" sz="2400" b="0" dirty="0">
                    <a:solidFill>
                      <a:schemeClr val="tx1"/>
                    </a:solidFill>
                  </a:rPr>
                  <a:t>数据</a:t>
                </a:r>
                <a:r>
                  <a:rPr kumimoji="1" lang="en-US" altLang="zh-CN" sz="2400" b="0" dirty="0">
                    <a:solidFill>
                      <a:schemeClr val="tx1"/>
                    </a:solidFill>
                  </a:rPr>
                  <a:t>cache</a:t>
                </a:r>
                <a:r>
                  <a:rPr kumimoji="1" lang="zh-CN" altLang="en-US" sz="2400" b="0" dirty="0">
                    <a:solidFill>
                      <a:schemeClr val="tx1"/>
                    </a:solidFill>
                  </a:rPr>
                  <a:t>共</a:t>
                </a:r>
                <a14:m>
                  <m:oMath xmlns:m="http://schemas.openxmlformats.org/officeDocument/2006/math">
                    <m:sSup>
                      <m:sSupPr>
                        <m:ctrlPr>
                          <a:rPr kumimoji="1" lang="en-US" altLang="zh-CN" sz="2400" b="0" i="1" dirty="0">
                            <a:solidFill>
                              <a:schemeClr val="tx1"/>
                            </a:solidFill>
                            <a:latin typeface="Cambria Math" panose="02040503050406030204" pitchFamily="18" charset="0"/>
                          </a:rPr>
                        </m:ctrlPr>
                      </m:sSupPr>
                      <m:e>
                        <m:r>
                          <a:rPr kumimoji="1" lang="en-US" altLang="zh-CN" sz="2400" b="0" i="1" dirty="0">
                            <a:solidFill>
                              <a:schemeClr val="tx1"/>
                            </a:solidFill>
                            <a:latin typeface="Cambria Math" panose="02040503050406030204" pitchFamily="18" charset="0"/>
                          </a:rPr>
                          <m:t>2</m:t>
                        </m:r>
                      </m:e>
                      <m:sup>
                        <m:r>
                          <a:rPr kumimoji="1" lang="en-US" altLang="zh-CN" sz="2400" b="0" i="1" dirty="0">
                            <a:solidFill>
                              <a:schemeClr val="tx1"/>
                            </a:solidFill>
                            <a:latin typeface="Cambria Math" panose="02040503050406030204" pitchFamily="18" charset="0"/>
                          </a:rPr>
                          <m:t>1</m:t>
                        </m:r>
                        <m:r>
                          <a:rPr kumimoji="1" lang="en-US" altLang="zh-CN" sz="2400" b="0" i="1" dirty="0" smtClean="0">
                            <a:solidFill>
                              <a:schemeClr val="tx1"/>
                            </a:solidFill>
                            <a:latin typeface="Cambria Math" panose="02040503050406030204" pitchFamily="18" charset="0"/>
                          </a:rPr>
                          <m:t>3</m:t>
                        </m:r>
                      </m:sup>
                    </m:sSup>
                  </m:oMath>
                </a14:m>
                <a:r>
                  <a:rPr kumimoji="1" lang="zh-CN" altLang="en-US" sz="2400" b="0" dirty="0">
                    <a:solidFill>
                      <a:schemeClr val="tx1"/>
                    </a:solidFill>
                  </a:rPr>
                  <a:t>个字节的容量，采用</a:t>
                </a:r>
                <a:r>
                  <a:rPr kumimoji="1" lang="en-US" altLang="zh-CN" sz="2400" b="0" dirty="0">
                    <a:solidFill>
                      <a:schemeClr val="tx1"/>
                    </a:solidFill>
                  </a:rPr>
                  <a:t>2</a:t>
                </a:r>
                <a:r>
                  <a:rPr kumimoji="1" lang="zh-CN" altLang="en-US" sz="2400" b="0" dirty="0">
                    <a:solidFill>
                      <a:schemeClr val="tx1"/>
                    </a:solidFill>
                  </a:rPr>
                  <a:t>路组相联映像，每个数据块</a:t>
                </a:r>
                <a:r>
                  <a:rPr kumimoji="1" lang="en-US" altLang="zh-CN" sz="2400" b="0" dirty="0">
                    <a:solidFill>
                      <a:schemeClr val="tx1"/>
                    </a:solidFill>
                  </a:rPr>
                  <a:t>32</a:t>
                </a:r>
                <a:r>
                  <a:rPr kumimoji="1" lang="zh-CN" altLang="en-US" sz="2400" b="0" dirty="0">
                    <a:solidFill>
                      <a:schemeClr val="tx1"/>
                    </a:solidFill>
                  </a:rPr>
                  <a:t>字节</a:t>
                </a:r>
              </a:p>
              <a:p>
                <a:pPr marL="914400" lvl="1" indent="-457200">
                  <a:spcBef>
                    <a:spcPts val="1000"/>
                  </a:spcBef>
                </a:pPr>
                <a:r>
                  <a:rPr kumimoji="1" lang="zh-CN" altLang="en-US" sz="2000" dirty="0">
                    <a:solidFill>
                      <a:schemeClr val="tx1"/>
                    </a:solidFill>
                  </a:rPr>
                  <a:t>问题</a:t>
                </a:r>
                <a:r>
                  <a:rPr kumimoji="1" lang="en-US" altLang="zh-CN" sz="2000" dirty="0">
                    <a:solidFill>
                      <a:schemeClr val="tx1"/>
                    </a:solidFill>
                  </a:rPr>
                  <a:t>3</a:t>
                </a:r>
                <a:r>
                  <a:rPr kumimoji="1" lang="zh-CN" altLang="en-US" sz="2000" dirty="0">
                    <a:solidFill>
                      <a:schemeClr val="tx1"/>
                    </a:solidFill>
                  </a:rPr>
                  <a:t>：下面哪个地址一定不和指令地址</a:t>
                </a:r>
                <a:r>
                  <a:rPr kumimoji="1" lang="en-US" altLang="zh-CN" sz="2000" dirty="0">
                    <a:solidFill>
                      <a:schemeClr val="tx1"/>
                    </a:solidFill>
                  </a:rPr>
                  <a:t>0x0ACE6004</a:t>
                </a:r>
                <a:r>
                  <a:rPr kumimoji="1" lang="zh-CN" altLang="en-US" sz="2000" dirty="0">
                    <a:solidFill>
                      <a:schemeClr val="tx1"/>
                    </a:solidFill>
                  </a:rPr>
                  <a:t> 冲突？</a:t>
                </a:r>
                <a:endParaRPr kumimoji="1" lang="en-US" altLang="zh-CN" sz="2000" dirty="0">
                  <a:solidFill>
                    <a:schemeClr val="tx1"/>
                  </a:solidFill>
                </a:endParaRPr>
              </a:p>
            </p:txBody>
          </p:sp>
        </mc:Choice>
        <mc:Fallback xmlns="">
          <p:sp>
            <p:nvSpPr>
              <p:cNvPr id="4" name="内容占位符 2">
                <a:extLst>
                  <a:ext uri="{FF2B5EF4-FFF2-40B4-BE49-F238E27FC236}">
                    <a16:creationId xmlns:a16="http://schemas.microsoft.com/office/drawing/2014/main" id="{FBE02D7A-4922-804D-B66B-910F9081B8A5}"/>
                  </a:ext>
                </a:extLst>
              </p:cNvPr>
              <p:cNvSpPr>
                <a:spLocks noGrp="1" noRot="1" noChangeAspect="1" noMove="1" noResize="1" noEditPoints="1" noAdjustHandles="1" noChangeArrowheads="1" noChangeShapeType="1" noTextEdit="1"/>
              </p:cNvSpPr>
              <p:nvPr>
                <p:ph idx="1"/>
              </p:nvPr>
            </p:nvSpPr>
            <p:spPr>
              <a:xfrm>
                <a:off x="457200" y="1551432"/>
                <a:ext cx="8229600" cy="4693793"/>
              </a:xfrm>
              <a:blipFill>
                <a:blip r:embed="rId3"/>
                <a:stretch>
                  <a:fillRect l="-1037" t="-2081" r="-4815"/>
                </a:stretch>
              </a:blipFill>
            </p:spPr>
            <p:txBody>
              <a:bodyPr/>
              <a:lstStyle/>
              <a:p>
                <a:r>
                  <a:rPr lang="zh-CN" altLang="en-US">
                    <a:noFill/>
                  </a:rPr>
                  <a:t> </a:t>
                </a:r>
              </a:p>
            </p:txBody>
          </p:sp>
        </mc:Fallback>
      </mc:AlternateContent>
      <p:sp>
        <p:nvSpPr>
          <p:cNvPr id="5" name="Text Box 6">
            <a:extLst>
              <a:ext uri="{FF2B5EF4-FFF2-40B4-BE49-F238E27FC236}">
                <a16:creationId xmlns:a16="http://schemas.microsoft.com/office/drawing/2014/main" id="{05B496C0-DC09-6345-9C64-B1F123D63000}"/>
              </a:ext>
            </a:extLst>
          </p:cNvPr>
          <p:cNvSpPr txBox="1">
            <a:spLocks noChangeArrowheads="1"/>
          </p:cNvSpPr>
          <p:nvPr/>
        </p:nvSpPr>
        <p:spPr bwMode="auto">
          <a:xfrm>
            <a:off x="2404740" y="4822539"/>
            <a:ext cx="4334520" cy="14058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Tahoma" pitchFamily="34" charset="0"/>
                <a:ea typeface="宋体" charset="-122"/>
              </a:defRPr>
            </a:lvl1pPr>
            <a:lvl2pPr marL="742950" indent="-285750" eaLnBrk="0" hangingPunct="0">
              <a:defRPr>
                <a:solidFill>
                  <a:schemeClr val="tx1"/>
                </a:solidFill>
                <a:latin typeface="Tahoma" pitchFamily="34" charset="0"/>
                <a:ea typeface="宋体" charset="-122"/>
              </a:defRPr>
            </a:lvl2pPr>
            <a:lvl3pPr marL="1143000" indent="-228600" eaLnBrk="0" hangingPunct="0">
              <a:defRPr>
                <a:solidFill>
                  <a:schemeClr val="tx1"/>
                </a:solidFill>
                <a:latin typeface="Tahoma" pitchFamily="34" charset="0"/>
                <a:ea typeface="宋体" charset="-122"/>
              </a:defRPr>
            </a:lvl3pPr>
            <a:lvl4pPr marL="1600200" indent="-228600" eaLnBrk="0" hangingPunct="0">
              <a:defRPr>
                <a:solidFill>
                  <a:schemeClr val="tx1"/>
                </a:solidFill>
                <a:latin typeface="Tahoma" pitchFamily="34" charset="0"/>
                <a:ea typeface="宋体" charset="-122"/>
              </a:defRPr>
            </a:lvl4pPr>
            <a:lvl5pPr marL="2057400" indent="-228600" eaLnBrk="0" hangingPunct="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eaLnBrk="1" hangingPunct="1">
              <a:lnSpc>
                <a:spcPct val="150000"/>
              </a:lnSpc>
            </a:pPr>
            <a:r>
              <a:rPr lang="zh-CN" altLang="en-US" sz="2000" b="1" dirty="0">
                <a:latin typeface="+mn-ea"/>
                <a:ea typeface="+mn-ea"/>
              </a:rPr>
              <a:t>（</a:t>
            </a:r>
            <a:r>
              <a:rPr lang="en-US" altLang="zh-CN" sz="2000" b="1" dirty="0">
                <a:latin typeface="+mn-ea"/>
                <a:ea typeface="+mn-ea"/>
              </a:rPr>
              <a:t>A</a:t>
            </a:r>
            <a:r>
              <a:rPr lang="zh-CN" altLang="en-US" sz="2000" b="1" dirty="0">
                <a:latin typeface="+mn-ea"/>
                <a:ea typeface="+mn-ea"/>
              </a:rPr>
              <a:t>）</a:t>
            </a:r>
            <a:r>
              <a:rPr lang="en-US" altLang="zh-CN" sz="2000" b="1" dirty="0">
                <a:latin typeface="+mn-ea"/>
                <a:ea typeface="+mn-ea"/>
              </a:rPr>
              <a:t>0x0BAD6004  </a:t>
            </a:r>
            <a:r>
              <a:rPr lang="zh-CN" altLang="en-US" sz="2000" b="1" dirty="0">
                <a:latin typeface="+mn-ea"/>
                <a:ea typeface="+mn-ea"/>
              </a:rPr>
              <a:t>（</a:t>
            </a:r>
            <a:r>
              <a:rPr lang="en-US" altLang="zh-CN" sz="2000" b="1" dirty="0">
                <a:latin typeface="+mn-ea"/>
                <a:ea typeface="+mn-ea"/>
              </a:rPr>
              <a:t>D</a:t>
            </a:r>
            <a:r>
              <a:rPr lang="zh-CN" altLang="en-US" sz="2000" b="1" dirty="0">
                <a:latin typeface="+mn-ea"/>
                <a:ea typeface="+mn-ea"/>
              </a:rPr>
              <a:t>）</a:t>
            </a:r>
            <a:r>
              <a:rPr lang="en-US" altLang="zh-CN" sz="2000" b="1" dirty="0">
                <a:latin typeface="+mn-ea"/>
                <a:ea typeface="+mn-ea"/>
              </a:rPr>
              <a:t>0x0ACE6838</a:t>
            </a:r>
          </a:p>
          <a:p>
            <a:pPr eaLnBrk="1" hangingPunct="1">
              <a:lnSpc>
                <a:spcPct val="150000"/>
              </a:lnSpc>
            </a:pPr>
            <a:r>
              <a:rPr lang="zh-CN" altLang="en-US" sz="2000" b="1" dirty="0">
                <a:latin typeface="+mn-ea"/>
                <a:ea typeface="+mn-ea"/>
              </a:rPr>
              <a:t>（</a:t>
            </a:r>
            <a:r>
              <a:rPr lang="en-US" altLang="zh-CN" sz="2000" b="1" dirty="0">
                <a:latin typeface="+mn-ea"/>
                <a:ea typeface="+mn-ea"/>
              </a:rPr>
              <a:t>B</a:t>
            </a:r>
            <a:r>
              <a:rPr lang="zh-CN" altLang="en-US" sz="2000" b="1" dirty="0">
                <a:latin typeface="+mn-ea"/>
                <a:ea typeface="+mn-ea"/>
              </a:rPr>
              <a:t>）</a:t>
            </a:r>
            <a:r>
              <a:rPr lang="en-US" altLang="zh-CN" sz="2000" b="1" dirty="0">
                <a:latin typeface="+mn-ea"/>
                <a:ea typeface="+mn-ea"/>
              </a:rPr>
              <a:t>0x0C81C81C  </a:t>
            </a:r>
            <a:r>
              <a:rPr lang="zh-CN" altLang="en-US" sz="2000" b="1" dirty="0">
                <a:latin typeface="+mn-ea"/>
                <a:ea typeface="+mn-ea"/>
              </a:rPr>
              <a:t>（</a:t>
            </a:r>
            <a:r>
              <a:rPr lang="en-US" altLang="zh-CN" sz="2000" b="1" dirty="0">
                <a:latin typeface="+mn-ea"/>
                <a:ea typeface="+mn-ea"/>
              </a:rPr>
              <a:t>E</a:t>
            </a:r>
            <a:r>
              <a:rPr lang="zh-CN" altLang="en-US" sz="2000" b="1" dirty="0">
                <a:latin typeface="+mn-ea"/>
                <a:ea typeface="+mn-ea"/>
              </a:rPr>
              <a:t>）</a:t>
            </a:r>
            <a:r>
              <a:rPr lang="en-US" altLang="zh-CN" sz="2000" b="1" dirty="0">
                <a:latin typeface="+mn-ea"/>
                <a:ea typeface="+mn-ea"/>
              </a:rPr>
              <a:t>0xFACE6004</a:t>
            </a:r>
          </a:p>
          <a:p>
            <a:pPr eaLnBrk="1" hangingPunct="1">
              <a:lnSpc>
                <a:spcPct val="150000"/>
              </a:lnSpc>
            </a:pPr>
            <a:r>
              <a:rPr lang="zh-CN" altLang="en-US" sz="2000" b="1" dirty="0">
                <a:latin typeface="+mn-ea"/>
                <a:ea typeface="+mn-ea"/>
              </a:rPr>
              <a:t>（</a:t>
            </a:r>
            <a:r>
              <a:rPr lang="en-US" altLang="zh-CN" sz="2000" b="1" dirty="0">
                <a:latin typeface="+mn-ea"/>
                <a:ea typeface="+mn-ea"/>
              </a:rPr>
              <a:t>C</a:t>
            </a:r>
            <a:r>
              <a:rPr lang="zh-CN" altLang="en-US" sz="2000" b="1" dirty="0">
                <a:latin typeface="+mn-ea"/>
                <a:ea typeface="+mn-ea"/>
              </a:rPr>
              <a:t>）</a:t>
            </a:r>
            <a:r>
              <a:rPr lang="en-US" altLang="zh-CN" sz="2000" b="1" dirty="0">
                <a:latin typeface="+mn-ea"/>
                <a:ea typeface="+mn-ea"/>
              </a:rPr>
              <a:t>0x00000004 </a:t>
            </a:r>
            <a:r>
              <a:rPr lang="zh-CN" altLang="en-US" sz="2000" b="1" dirty="0">
                <a:latin typeface="+mn-ea"/>
                <a:ea typeface="+mn-ea"/>
              </a:rPr>
              <a:t> （</a:t>
            </a:r>
            <a:r>
              <a:rPr lang="en-US" altLang="zh-CN" sz="2000" b="1" dirty="0">
                <a:latin typeface="+mn-ea"/>
                <a:ea typeface="+mn-ea"/>
              </a:rPr>
              <a:t>F</a:t>
            </a:r>
            <a:r>
              <a:rPr lang="zh-CN" altLang="en-US" sz="2000" b="1" dirty="0">
                <a:latin typeface="+mn-ea"/>
                <a:ea typeface="+mn-ea"/>
              </a:rPr>
              <a:t>）</a:t>
            </a:r>
            <a:r>
              <a:rPr lang="en-US" altLang="zh-CN" sz="2000" b="1" dirty="0">
                <a:latin typeface="+mn-ea"/>
                <a:ea typeface="+mn-ea"/>
              </a:rPr>
              <a:t>0x0CEDE008</a:t>
            </a:r>
          </a:p>
        </p:txBody>
      </p:sp>
    </p:spTree>
    <p:extLst>
      <p:ext uri="{BB962C8B-B14F-4D97-AF65-F5344CB8AC3E}">
        <p14:creationId xmlns:p14="http://schemas.microsoft.com/office/powerpoint/2010/main" val="14529735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地址映像方式练习</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58</a:t>
            </a:fld>
            <a:endParaRPr lang="en-US" altLang="zh-CN"/>
          </a:p>
        </p:txBody>
      </p:sp>
      <p:sp>
        <p:nvSpPr>
          <p:cNvPr id="5" name="文本框 4">
            <a:extLst>
              <a:ext uri="{FF2B5EF4-FFF2-40B4-BE49-F238E27FC236}">
                <a16:creationId xmlns:a16="http://schemas.microsoft.com/office/drawing/2014/main" id="{FCAB16DB-1B14-BC44-9284-CD29C6E48F10}"/>
              </a:ext>
            </a:extLst>
          </p:cNvPr>
          <p:cNvSpPr txBox="1"/>
          <p:nvPr/>
        </p:nvSpPr>
        <p:spPr>
          <a:xfrm>
            <a:off x="150471" y="3925476"/>
            <a:ext cx="4907661" cy="1938992"/>
          </a:xfrm>
          <a:prstGeom prst="rect">
            <a:avLst/>
          </a:prstGeom>
          <a:noFill/>
        </p:spPr>
        <p:txBody>
          <a:bodyPr wrap="square" rtlCol="0">
            <a:spAutoFit/>
          </a:bodyPr>
          <a:lstStyle/>
          <a:p>
            <a:pPr indent="7938"/>
            <a:r>
              <a:rPr lang="zh-CN" altLang="en-US" sz="2000" dirty="0">
                <a:latin typeface="STKaiti" panose="02010600040101010101" pitchFamily="2" charset="-122"/>
                <a:ea typeface="STKaiti" panose="02010600040101010101" pitchFamily="2" charset="-122"/>
              </a:rPr>
              <a:t>一定不会产生地址冲突的有以下两种情况：</a:t>
            </a:r>
            <a:endParaRPr lang="en-US" altLang="zh-CN" sz="2000" dirty="0">
              <a:latin typeface="STKaiti" panose="02010600040101010101" pitchFamily="2" charset="-122"/>
              <a:ea typeface="STKaiti" panose="02010600040101010101" pitchFamily="2" charset="-122"/>
            </a:endParaRPr>
          </a:p>
          <a:p>
            <a:pPr marL="7938" lvl="1" indent="-7938">
              <a:buFont typeface="+mj-lt"/>
              <a:buAutoNum type="arabicPeriod"/>
            </a:pPr>
            <a:r>
              <a:rPr lang="en-US" altLang="zh-CN" sz="2000" dirty="0">
                <a:solidFill>
                  <a:srgbClr val="0432FF"/>
                </a:solidFill>
                <a:latin typeface="STKaiti" panose="02010600040101010101" pitchFamily="2" charset="-122"/>
                <a:ea typeface="STKaiti" panose="02010600040101010101" pitchFamily="2" charset="-122"/>
              </a:rPr>
              <a:t> </a:t>
            </a:r>
            <a:r>
              <a:rPr lang="zh-CN" altLang="en-US" sz="2000" dirty="0">
                <a:solidFill>
                  <a:srgbClr val="0432FF"/>
                </a:solidFill>
                <a:latin typeface="STKaiti" panose="02010600040101010101" pitchFamily="2" charset="-122"/>
                <a:ea typeface="STKaiti" panose="02010600040101010101" pitchFamily="2" charset="-122"/>
              </a:rPr>
              <a:t>在主存中相同的块内</a:t>
            </a:r>
            <a:endParaRPr lang="en-US" altLang="zh-CN" sz="2000" dirty="0">
              <a:solidFill>
                <a:srgbClr val="0432FF"/>
              </a:solidFill>
              <a:latin typeface="STKaiti" panose="02010600040101010101" pitchFamily="2" charset="-122"/>
              <a:ea typeface="STKaiti" panose="02010600040101010101" pitchFamily="2" charset="-122"/>
            </a:endParaRPr>
          </a:p>
          <a:p>
            <a:pPr marL="7938" lvl="1" indent="-7938">
              <a:buFont typeface="+mj-lt"/>
              <a:buAutoNum type="arabicPeriod"/>
            </a:pPr>
            <a:r>
              <a:rPr lang="en-US" altLang="zh-CN" sz="2000" dirty="0">
                <a:solidFill>
                  <a:srgbClr val="0432FF"/>
                </a:solidFill>
                <a:latin typeface="STKaiti" panose="02010600040101010101" pitchFamily="2" charset="-122"/>
                <a:ea typeface="STKaiti" panose="02010600040101010101" pitchFamily="2" charset="-122"/>
              </a:rPr>
              <a:t> </a:t>
            </a:r>
            <a:r>
              <a:rPr lang="zh-CN" altLang="en-US" sz="2000" dirty="0">
                <a:solidFill>
                  <a:srgbClr val="0432FF"/>
                </a:solidFill>
                <a:latin typeface="STKaiti" panose="02010600040101010101" pitchFamily="2" charset="-122"/>
                <a:ea typeface="STKaiti" panose="02010600040101010101" pitchFamily="2" charset="-122"/>
              </a:rPr>
              <a:t>映射对应的</a:t>
            </a:r>
            <a:r>
              <a:rPr lang="en-US" altLang="zh-CN" sz="2000" dirty="0">
                <a:solidFill>
                  <a:srgbClr val="0432FF"/>
                </a:solidFill>
                <a:latin typeface="STKaiti" panose="02010600040101010101" pitchFamily="2" charset="-122"/>
                <a:ea typeface="STKaiti" panose="02010600040101010101" pitchFamily="2" charset="-122"/>
              </a:rPr>
              <a:t>cache</a:t>
            </a:r>
            <a:r>
              <a:rPr lang="zh-CN" altLang="en-US" sz="2000" dirty="0">
                <a:solidFill>
                  <a:srgbClr val="0432FF"/>
                </a:solidFill>
                <a:latin typeface="STKaiti" panose="02010600040101010101" pitchFamily="2" charset="-122"/>
                <a:ea typeface="STKaiti" panose="02010600040101010101" pitchFamily="2" charset="-122"/>
              </a:rPr>
              <a:t>组号不同</a:t>
            </a:r>
            <a:endParaRPr lang="en-US" altLang="zh-CN" sz="2000" dirty="0">
              <a:solidFill>
                <a:srgbClr val="0432FF"/>
              </a:solidFill>
              <a:latin typeface="STKaiti" panose="02010600040101010101" pitchFamily="2" charset="-122"/>
              <a:ea typeface="STKaiti" panose="02010600040101010101" pitchFamily="2" charset="-122"/>
            </a:endParaRPr>
          </a:p>
          <a:p>
            <a:endParaRPr lang="en-US" altLang="zh-CN" sz="2000" dirty="0">
              <a:latin typeface="STKaiti" panose="02010600040101010101" pitchFamily="2" charset="-122"/>
              <a:ea typeface="STKaiti" panose="02010600040101010101" pitchFamily="2" charset="-122"/>
            </a:endParaRPr>
          </a:p>
          <a:p>
            <a:r>
              <a:rPr lang="zh-CN" altLang="en-US" sz="2000" dirty="0">
                <a:latin typeface="STKaiti" panose="02010600040101010101" pitchFamily="2" charset="-122"/>
                <a:ea typeface="STKaiti" panose="02010600040101010101" pitchFamily="2" charset="-122"/>
              </a:rPr>
              <a:t>其中情况</a:t>
            </a:r>
            <a:r>
              <a:rPr lang="en-US" altLang="zh-CN" sz="2000" dirty="0">
                <a:latin typeface="STKaiti" panose="02010600040101010101" pitchFamily="2" charset="-122"/>
                <a:ea typeface="STKaiti" panose="02010600040101010101" pitchFamily="2" charset="-122"/>
              </a:rPr>
              <a:t>1</a:t>
            </a:r>
            <a:r>
              <a:rPr lang="zh-CN" altLang="en-US" sz="2000" dirty="0">
                <a:latin typeface="STKaiti" panose="02010600040101010101" pitchFamily="2" charset="-122"/>
                <a:ea typeface="STKaiti" panose="02010600040101010101" pitchFamily="2" charset="-122"/>
              </a:rPr>
              <a:t>只允许在主存地址中的块内地址部分有不同，本题不满足</a:t>
            </a:r>
          </a:p>
        </p:txBody>
      </p:sp>
      <p:grpSp>
        <p:nvGrpSpPr>
          <p:cNvPr id="6" name="组合 5">
            <a:extLst>
              <a:ext uri="{FF2B5EF4-FFF2-40B4-BE49-F238E27FC236}">
                <a16:creationId xmlns:a16="http://schemas.microsoft.com/office/drawing/2014/main" id="{BEA067B1-EC91-A74C-8F8E-2F2A80EA34E7}"/>
              </a:ext>
            </a:extLst>
          </p:cNvPr>
          <p:cNvGrpSpPr/>
          <p:nvPr/>
        </p:nvGrpSpPr>
        <p:grpSpPr>
          <a:xfrm>
            <a:off x="4979340" y="3970822"/>
            <a:ext cx="3647978" cy="2527487"/>
            <a:chOff x="5192936" y="3820813"/>
            <a:chExt cx="3647978" cy="2527487"/>
          </a:xfrm>
        </p:grpSpPr>
        <p:sp>
          <p:nvSpPr>
            <p:cNvPr id="7" name="矩形 6">
              <a:extLst>
                <a:ext uri="{FF2B5EF4-FFF2-40B4-BE49-F238E27FC236}">
                  <a16:creationId xmlns:a16="http://schemas.microsoft.com/office/drawing/2014/main" id="{A927DA20-2588-D545-A327-1A44B8971B36}"/>
                </a:ext>
              </a:extLst>
            </p:cNvPr>
            <p:cNvSpPr/>
            <p:nvPr/>
          </p:nvSpPr>
          <p:spPr>
            <a:xfrm>
              <a:off x="5192936" y="3820813"/>
              <a:ext cx="2520280" cy="2527487"/>
            </a:xfrm>
            <a:prstGeom prst="rect">
              <a:avLst/>
            </a:prstGeom>
          </p:spPr>
          <p:txBody>
            <a:bodyPr wrap="square">
              <a:spAutoFit/>
            </a:bodyPr>
            <a:lstStyle/>
            <a:p>
              <a:pPr eaLnBrk="1" hangingPunct="1">
                <a:lnSpc>
                  <a:spcPct val="150000"/>
                </a:lnSpc>
              </a:pPr>
              <a:r>
                <a:rPr lang="zh-CN" altLang="en-US" dirty="0">
                  <a:ea typeface="SimHei" panose="02010609060101010101" pitchFamily="49" charset="-122"/>
                </a:rPr>
                <a:t>（</a:t>
              </a:r>
              <a:r>
                <a:rPr lang="en-US" altLang="zh-CN" dirty="0">
                  <a:ea typeface="SimHei" panose="02010609060101010101" pitchFamily="49" charset="-122"/>
                </a:rPr>
                <a:t>A</a:t>
              </a:r>
              <a:r>
                <a:rPr lang="zh-CN" altLang="en-US" dirty="0">
                  <a:ea typeface="SimHei" panose="02010609060101010101" pitchFamily="49" charset="-122"/>
                </a:rPr>
                <a:t>）</a:t>
              </a:r>
              <a:r>
                <a:rPr lang="en-US" altLang="zh-CN" dirty="0">
                  <a:ea typeface="SimHei" panose="02010609060101010101" pitchFamily="49" charset="-122"/>
                </a:rPr>
                <a:t>0x0BAD6004  </a:t>
              </a:r>
            </a:p>
            <a:p>
              <a:pPr eaLnBrk="1" hangingPunct="1">
                <a:lnSpc>
                  <a:spcPct val="150000"/>
                </a:lnSpc>
              </a:pPr>
              <a:r>
                <a:rPr lang="zh-CN" altLang="en-US" dirty="0">
                  <a:ea typeface="SimHei" panose="02010609060101010101" pitchFamily="49" charset="-122"/>
                </a:rPr>
                <a:t>（</a:t>
              </a:r>
              <a:r>
                <a:rPr lang="en-US" altLang="zh-CN" dirty="0">
                  <a:ea typeface="SimHei" panose="02010609060101010101" pitchFamily="49" charset="-122"/>
                </a:rPr>
                <a:t>B</a:t>
              </a:r>
              <a:r>
                <a:rPr lang="zh-CN" altLang="en-US" dirty="0">
                  <a:ea typeface="SimHei" panose="02010609060101010101" pitchFamily="49" charset="-122"/>
                </a:rPr>
                <a:t>）</a:t>
              </a:r>
              <a:r>
                <a:rPr lang="en-US" altLang="zh-CN" dirty="0">
                  <a:ea typeface="SimHei" panose="02010609060101010101" pitchFamily="49" charset="-122"/>
                </a:rPr>
                <a:t>0x0C81C81C  </a:t>
              </a:r>
            </a:p>
            <a:p>
              <a:pPr eaLnBrk="1" hangingPunct="1">
                <a:lnSpc>
                  <a:spcPct val="150000"/>
                </a:lnSpc>
              </a:pPr>
              <a:r>
                <a:rPr lang="zh-CN" altLang="en-US" dirty="0">
                  <a:ea typeface="SimHei" panose="02010609060101010101" pitchFamily="49" charset="-122"/>
                </a:rPr>
                <a:t>（</a:t>
              </a:r>
              <a:r>
                <a:rPr lang="en-US" altLang="zh-CN" dirty="0">
                  <a:ea typeface="SimHei" panose="02010609060101010101" pitchFamily="49" charset="-122"/>
                </a:rPr>
                <a:t>C</a:t>
              </a:r>
              <a:r>
                <a:rPr lang="zh-CN" altLang="en-US" dirty="0">
                  <a:ea typeface="SimHei" panose="02010609060101010101" pitchFamily="49" charset="-122"/>
                </a:rPr>
                <a:t>）</a:t>
              </a:r>
              <a:r>
                <a:rPr lang="en-US" altLang="zh-CN" dirty="0">
                  <a:ea typeface="SimHei" panose="02010609060101010101" pitchFamily="49" charset="-122"/>
                </a:rPr>
                <a:t>0x00000004  </a:t>
              </a:r>
            </a:p>
            <a:p>
              <a:pPr eaLnBrk="1" hangingPunct="1">
                <a:lnSpc>
                  <a:spcPct val="150000"/>
                </a:lnSpc>
              </a:pPr>
              <a:r>
                <a:rPr lang="zh-CN" altLang="en-US" dirty="0">
                  <a:ea typeface="SimHei" panose="02010609060101010101" pitchFamily="49" charset="-122"/>
                </a:rPr>
                <a:t>（</a:t>
              </a:r>
              <a:r>
                <a:rPr lang="en-US" altLang="zh-CN" dirty="0">
                  <a:ea typeface="SimHei" panose="02010609060101010101" pitchFamily="49" charset="-122"/>
                </a:rPr>
                <a:t>D</a:t>
              </a:r>
              <a:r>
                <a:rPr lang="zh-CN" altLang="en-US" dirty="0">
                  <a:ea typeface="SimHei" panose="02010609060101010101" pitchFamily="49" charset="-122"/>
                </a:rPr>
                <a:t>）</a:t>
              </a:r>
              <a:r>
                <a:rPr lang="en-US" altLang="zh-CN" dirty="0">
                  <a:ea typeface="SimHei" panose="02010609060101010101" pitchFamily="49" charset="-122"/>
                </a:rPr>
                <a:t>0x0ACE6838</a:t>
              </a:r>
            </a:p>
            <a:p>
              <a:pPr>
                <a:lnSpc>
                  <a:spcPct val="150000"/>
                </a:lnSpc>
              </a:pPr>
              <a:r>
                <a:rPr lang="zh-CN" altLang="en-US" dirty="0">
                  <a:ea typeface="SimHei" panose="02010609060101010101" pitchFamily="49" charset="-122"/>
                </a:rPr>
                <a:t>（</a:t>
              </a:r>
              <a:r>
                <a:rPr lang="en-US" altLang="zh-CN" dirty="0">
                  <a:ea typeface="SimHei" panose="02010609060101010101" pitchFamily="49" charset="-122"/>
                </a:rPr>
                <a:t>E</a:t>
              </a:r>
              <a:r>
                <a:rPr lang="zh-CN" altLang="en-US" dirty="0">
                  <a:ea typeface="SimHei" panose="02010609060101010101" pitchFamily="49" charset="-122"/>
                </a:rPr>
                <a:t>）</a:t>
              </a:r>
              <a:r>
                <a:rPr lang="en-US" altLang="zh-CN" dirty="0">
                  <a:ea typeface="SimHei" panose="02010609060101010101" pitchFamily="49" charset="-122"/>
                </a:rPr>
                <a:t>0xFACE6004</a:t>
              </a:r>
            </a:p>
            <a:p>
              <a:pPr>
                <a:lnSpc>
                  <a:spcPct val="150000"/>
                </a:lnSpc>
              </a:pPr>
              <a:r>
                <a:rPr lang="zh-CN" altLang="en-US" dirty="0">
                  <a:ea typeface="SimHei" panose="02010609060101010101" pitchFamily="49" charset="-122"/>
                </a:rPr>
                <a:t>（</a:t>
              </a:r>
              <a:r>
                <a:rPr lang="en-US" altLang="zh-CN" dirty="0">
                  <a:ea typeface="SimHei" panose="02010609060101010101" pitchFamily="49" charset="-122"/>
                </a:rPr>
                <a:t>F</a:t>
              </a:r>
              <a:r>
                <a:rPr lang="zh-CN" altLang="en-US" dirty="0">
                  <a:ea typeface="SimHei" panose="02010609060101010101" pitchFamily="49" charset="-122"/>
                </a:rPr>
                <a:t>）</a:t>
              </a:r>
              <a:r>
                <a:rPr lang="en-US" altLang="zh-CN" dirty="0">
                  <a:ea typeface="SimHei" panose="02010609060101010101" pitchFamily="49" charset="-122"/>
                </a:rPr>
                <a:t>0x0CEDE008</a:t>
              </a:r>
            </a:p>
          </p:txBody>
        </p:sp>
        <p:cxnSp>
          <p:nvCxnSpPr>
            <p:cNvPr id="8" name="直接箭头连接符 52">
              <a:extLst>
                <a:ext uri="{FF2B5EF4-FFF2-40B4-BE49-F238E27FC236}">
                  <a16:creationId xmlns:a16="http://schemas.microsoft.com/office/drawing/2014/main" id="{ED7E644A-7C97-B048-AAC5-85212B2E9FFC}"/>
                </a:ext>
              </a:extLst>
            </p:cNvPr>
            <p:cNvCxnSpPr/>
            <p:nvPr/>
          </p:nvCxnSpPr>
          <p:spPr bwMode="auto">
            <a:xfrm>
              <a:off x="7506122" y="4092831"/>
              <a:ext cx="432196" cy="0"/>
            </a:xfrm>
            <a:prstGeom prst="straightConnector1">
              <a:avLst/>
            </a:prstGeom>
            <a:solidFill>
              <a:schemeClr val="accent1"/>
            </a:solidFill>
            <a:ln w="25400" cap="rnd" cmpd="sng" algn="ctr">
              <a:solidFill>
                <a:srgbClr val="0070C0"/>
              </a:solidFill>
              <a:prstDash val="sysDot"/>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9" name="直接箭头连接符 54">
              <a:extLst>
                <a:ext uri="{FF2B5EF4-FFF2-40B4-BE49-F238E27FC236}">
                  <a16:creationId xmlns:a16="http://schemas.microsoft.com/office/drawing/2014/main" id="{D942A5BF-8C48-D14E-A422-FD1CD165082E}"/>
                </a:ext>
              </a:extLst>
            </p:cNvPr>
            <p:cNvCxnSpPr/>
            <p:nvPr/>
          </p:nvCxnSpPr>
          <p:spPr bwMode="auto">
            <a:xfrm>
              <a:off x="7506122" y="4489152"/>
              <a:ext cx="432196" cy="0"/>
            </a:xfrm>
            <a:prstGeom prst="straightConnector1">
              <a:avLst/>
            </a:prstGeom>
            <a:solidFill>
              <a:schemeClr val="accent1"/>
            </a:solidFill>
            <a:ln w="25400" cap="rnd" cmpd="sng" algn="ctr">
              <a:solidFill>
                <a:srgbClr val="0070C0"/>
              </a:solidFill>
              <a:prstDash val="sysDot"/>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0" name="直接箭头连接符 55">
              <a:extLst>
                <a:ext uri="{FF2B5EF4-FFF2-40B4-BE49-F238E27FC236}">
                  <a16:creationId xmlns:a16="http://schemas.microsoft.com/office/drawing/2014/main" id="{4CDC7D11-EF82-3243-A2AF-6B05B10FDA51}"/>
                </a:ext>
              </a:extLst>
            </p:cNvPr>
            <p:cNvCxnSpPr/>
            <p:nvPr/>
          </p:nvCxnSpPr>
          <p:spPr bwMode="auto">
            <a:xfrm>
              <a:off x="7506016" y="4902831"/>
              <a:ext cx="432196" cy="0"/>
            </a:xfrm>
            <a:prstGeom prst="straightConnector1">
              <a:avLst/>
            </a:prstGeom>
            <a:solidFill>
              <a:schemeClr val="accent1"/>
            </a:solidFill>
            <a:ln w="25400" cap="rnd" cmpd="sng" algn="ctr">
              <a:solidFill>
                <a:srgbClr val="0070C0"/>
              </a:solidFill>
              <a:prstDash val="sysDot"/>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1" name="直接箭头连接符 56">
              <a:extLst>
                <a:ext uri="{FF2B5EF4-FFF2-40B4-BE49-F238E27FC236}">
                  <a16:creationId xmlns:a16="http://schemas.microsoft.com/office/drawing/2014/main" id="{052A4318-B6E7-684E-A5BD-761942369A50}"/>
                </a:ext>
              </a:extLst>
            </p:cNvPr>
            <p:cNvCxnSpPr/>
            <p:nvPr/>
          </p:nvCxnSpPr>
          <p:spPr bwMode="auto">
            <a:xfrm>
              <a:off x="7506016" y="5316831"/>
              <a:ext cx="432196" cy="0"/>
            </a:xfrm>
            <a:prstGeom prst="straightConnector1">
              <a:avLst/>
            </a:prstGeom>
            <a:solidFill>
              <a:schemeClr val="accent1"/>
            </a:solidFill>
            <a:ln w="25400" cap="rnd" cmpd="sng" algn="ctr">
              <a:solidFill>
                <a:srgbClr val="0070C0"/>
              </a:solidFill>
              <a:prstDash val="sysDot"/>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2" name="直接箭头连接符 57">
              <a:extLst>
                <a:ext uri="{FF2B5EF4-FFF2-40B4-BE49-F238E27FC236}">
                  <a16:creationId xmlns:a16="http://schemas.microsoft.com/office/drawing/2014/main" id="{A6E75DFA-DC94-7D4D-901A-4E980A93A8CF}"/>
                </a:ext>
              </a:extLst>
            </p:cNvPr>
            <p:cNvCxnSpPr/>
            <p:nvPr/>
          </p:nvCxnSpPr>
          <p:spPr bwMode="auto">
            <a:xfrm>
              <a:off x="7506016" y="5736722"/>
              <a:ext cx="432196" cy="0"/>
            </a:xfrm>
            <a:prstGeom prst="straightConnector1">
              <a:avLst/>
            </a:prstGeom>
            <a:solidFill>
              <a:schemeClr val="accent1"/>
            </a:solidFill>
            <a:ln w="25400" cap="rnd" cmpd="sng" algn="ctr">
              <a:solidFill>
                <a:srgbClr val="0070C0"/>
              </a:solidFill>
              <a:prstDash val="sysDot"/>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3" name="直接箭头连接符 58">
              <a:extLst>
                <a:ext uri="{FF2B5EF4-FFF2-40B4-BE49-F238E27FC236}">
                  <a16:creationId xmlns:a16="http://schemas.microsoft.com/office/drawing/2014/main" id="{5731766B-DD5C-F649-A26A-2984470A2893}"/>
                </a:ext>
              </a:extLst>
            </p:cNvPr>
            <p:cNvCxnSpPr/>
            <p:nvPr/>
          </p:nvCxnSpPr>
          <p:spPr bwMode="auto">
            <a:xfrm>
              <a:off x="7506016" y="6145336"/>
              <a:ext cx="432196" cy="0"/>
            </a:xfrm>
            <a:prstGeom prst="straightConnector1">
              <a:avLst/>
            </a:prstGeom>
            <a:solidFill>
              <a:schemeClr val="accent1"/>
            </a:solidFill>
            <a:ln w="25400" cap="rnd" cmpd="sng" algn="ctr">
              <a:solidFill>
                <a:srgbClr val="0070C0"/>
              </a:solidFill>
              <a:prstDash val="sysDot"/>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4" name="文本框 13">
              <a:extLst>
                <a:ext uri="{FF2B5EF4-FFF2-40B4-BE49-F238E27FC236}">
                  <a16:creationId xmlns:a16="http://schemas.microsoft.com/office/drawing/2014/main" id="{32079B4C-287F-B74E-8B8B-41C89C065D16}"/>
                </a:ext>
              </a:extLst>
            </p:cNvPr>
            <p:cNvSpPr txBox="1"/>
            <p:nvPr/>
          </p:nvSpPr>
          <p:spPr>
            <a:xfrm>
              <a:off x="8152953" y="3908165"/>
              <a:ext cx="687883" cy="369332"/>
            </a:xfrm>
            <a:prstGeom prst="rect">
              <a:avLst/>
            </a:prstGeom>
            <a:noFill/>
          </p:spPr>
          <p:txBody>
            <a:bodyPr wrap="square" rtlCol="0">
              <a:spAutoFit/>
            </a:bodyPr>
            <a:lstStyle/>
            <a:p>
              <a:r>
                <a:rPr lang="en-US" altLang="zh-CN" dirty="0">
                  <a:ea typeface="SimHei" panose="02010609060101010101" pitchFamily="49" charset="-122"/>
                </a:rPr>
                <a:t>0</a:t>
              </a:r>
              <a:endParaRPr lang="zh-CN" altLang="en-US" dirty="0">
                <a:ea typeface="SimHei" panose="02010609060101010101" pitchFamily="49" charset="-122"/>
              </a:endParaRPr>
            </a:p>
          </p:txBody>
        </p:sp>
        <p:sp>
          <p:nvSpPr>
            <p:cNvPr id="15" name="文本框 14">
              <a:extLst>
                <a:ext uri="{FF2B5EF4-FFF2-40B4-BE49-F238E27FC236}">
                  <a16:creationId xmlns:a16="http://schemas.microsoft.com/office/drawing/2014/main" id="{87FAD886-6AA1-E34B-969D-B35415AE777B}"/>
                </a:ext>
              </a:extLst>
            </p:cNvPr>
            <p:cNvSpPr txBox="1"/>
            <p:nvPr/>
          </p:nvSpPr>
          <p:spPr>
            <a:xfrm>
              <a:off x="8152953" y="4304486"/>
              <a:ext cx="687883" cy="369332"/>
            </a:xfrm>
            <a:prstGeom prst="rect">
              <a:avLst/>
            </a:prstGeom>
            <a:noFill/>
          </p:spPr>
          <p:txBody>
            <a:bodyPr wrap="square" rtlCol="0">
              <a:spAutoFit/>
            </a:bodyPr>
            <a:lstStyle/>
            <a:p>
              <a:r>
                <a:rPr lang="en-US" altLang="zh-CN" dirty="0">
                  <a:ea typeface="SimHei" panose="02010609060101010101" pitchFamily="49" charset="-122"/>
                </a:rPr>
                <a:t>0</a:t>
              </a:r>
              <a:endParaRPr lang="zh-CN" altLang="en-US" dirty="0">
                <a:ea typeface="SimHei" panose="02010609060101010101" pitchFamily="49" charset="-122"/>
              </a:endParaRPr>
            </a:p>
          </p:txBody>
        </p:sp>
        <p:sp>
          <p:nvSpPr>
            <p:cNvPr id="16" name="文本框 15">
              <a:extLst>
                <a:ext uri="{FF2B5EF4-FFF2-40B4-BE49-F238E27FC236}">
                  <a16:creationId xmlns:a16="http://schemas.microsoft.com/office/drawing/2014/main" id="{6EBED9F5-1288-AC40-9EE4-31B6B317EBB2}"/>
                </a:ext>
              </a:extLst>
            </p:cNvPr>
            <p:cNvSpPr txBox="1"/>
            <p:nvPr/>
          </p:nvSpPr>
          <p:spPr>
            <a:xfrm>
              <a:off x="8152953" y="4718165"/>
              <a:ext cx="687883" cy="369332"/>
            </a:xfrm>
            <a:prstGeom prst="rect">
              <a:avLst/>
            </a:prstGeom>
            <a:noFill/>
          </p:spPr>
          <p:txBody>
            <a:bodyPr wrap="square" rtlCol="0">
              <a:spAutoFit/>
            </a:bodyPr>
            <a:lstStyle/>
            <a:p>
              <a:r>
                <a:rPr lang="en-US" altLang="zh-CN" dirty="0">
                  <a:ea typeface="SimHei" panose="02010609060101010101" pitchFamily="49" charset="-122"/>
                </a:rPr>
                <a:t>0</a:t>
              </a:r>
              <a:endParaRPr lang="zh-CN" altLang="en-US" dirty="0">
                <a:ea typeface="SimHei" panose="02010609060101010101" pitchFamily="49" charset="-122"/>
              </a:endParaRPr>
            </a:p>
          </p:txBody>
        </p:sp>
        <p:sp>
          <p:nvSpPr>
            <p:cNvPr id="17" name="文本框 16">
              <a:extLst>
                <a:ext uri="{FF2B5EF4-FFF2-40B4-BE49-F238E27FC236}">
                  <a16:creationId xmlns:a16="http://schemas.microsoft.com/office/drawing/2014/main" id="{4F596D42-69F3-7C4B-A0B8-551311EE1B95}"/>
                </a:ext>
              </a:extLst>
            </p:cNvPr>
            <p:cNvSpPr txBox="1"/>
            <p:nvPr/>
          </p:nvSpPr>
          <p:spPr>
            <a:xfrm>
              <a:off x="8153031" y="5132165"/>
              <a:ext cx="687883" cy="369332"/>
            </a:xfrm>
            <a:prstGeom prst="rect">
              <a:avLst/>
            </a:prstGeom>
            <a:noFill/>
          </p:spPr>
          <p:txBody>
            <a:bodyPr wrap="square" rtlCol="0">
              <a:spAutoFit/>
            </a:bodyPr>
            <a:lstStyle/>
            <a:p>
              <a:r>
                <a:rPr lang="en-US" altLang="zh-CN" dirty="0">
                  <a:ea typeface="SimHei" panose="02010609060101010101" pitchFamily="49" charset="-122"/>
                </a:rPr>
                <a:t>1</a:t>
              </a:r>
              <a:endParaRPr lang="zh-CN" altLang="en-US" dirty="0">
                <a:ea typeface="SimHei" panose="02010609060101010101" pitchFamily="49" charset="-122"/>
              </a:endParaRPr>
            </a:p>
          </p:txBody>
        </p:sp>
        <p:sp>
          <p:nvSpPr>
            <p:cNvPr id="18" name="文本框 17">
              <a:extLst>
                <a:ext uri="{FF2B5EF4-FFF2-40B4-BE49-F238E27FC236}">
                  <a16:creationId xmlns:a16="http://schemas.microsoft.com/office/drawing/2014/main" id="{71C98D47-DF42-424F-A46A-F05B75B8EE2E}"/>
                </a:ext>
              </a:extLst>
            </p:cNvPr>
            <p:cNvSpPr txBox="1"/>
            <p:nvPr/>
          </p:nvSpPr>
          <p:spPr>
            <a:xfrm>
              <a:off x="8152953" y="5555044"/>
              <a:ext cx="687883" cy="369332"/>
            </a:xfrm>
            <a:prstGeom prst="rect">
              <a:avLst/>
            </a:prstGeom>
            <a:noFill/>
          </p:spPr>
          <p:txBody>
            <a:bodyPr wrap="square" rtlCol="0">
              <a:spAutoFit/>
            </a:bodyPr>
            <a:lstStyle/>
            <a:p>
              <a:r>
                <a:rPr lang="en-US" altLang="zh-CN" dirty="0">
                  <a:ea typeface="SimHei" panose="02010609060101010101" pitchFamily="49" charset="-122"/>
                </a:rPr>
                <a:t>0</a:t>
              </a:r>
              <a:endParaRPr lang="zh-CN" altLang="en-US" dirty="0">
                <a:ea typeface="SimHei" panose="02010609060101010101" pitchFamily="49" charset="-122"/>
              </a:endParaRPr>
            </a:p>
          </p:txBody>
        </p:sp>
        <p:sp>
          <p:nvSpPr>
            <p:cNvPr id="19" name="文本框 18">
              <a:extLst>
                <a:ext uri="{FF2B5EF4-FFF2-40B4-BE49-F238E27FC236}">
                  <a16:creationId xmlns:a16="http://schemas.microsoft.com/office/drawing/2014/main" id="{23D7625C-A233-BE41-A535-40A7AA8F23D4}"/>
                </a:ext>
              </a:extLst>
            </p:cNvPr>
            <p:cNvSpPr txBox="1"/>
            <p:nvPr/>
          </p:nvSpPr>
          <p:spPr>
            <a:xfrm>
              <a:off x="8152953" y="5959844"/>
              <a:ext cx="687883" cy="369332"/>
            </a:xfrm>
            <a:prstGeom prst="rect">
              <a:avLst/>
            </a:prstGeom>
            <a:noFill/>
          </p:spPr>
          <p:txBody>
            <a:bodyPr wrap="square" rtlCol="0">
              <a:spAutoFit/>
            </a:bodyPr>
            <a:lstStyle/>
            <a:p>
              <a:r>
                <a:rPr lang="en-US" altLang="zh-CN" dirty="0">
                  <a:ea typeface="SimHei" panose="02010609060101010101" pitchFamily="49" charset="-122"/>
                </a:rPr>
                <a:t>0</a:t>
              </a:r>
              <a:endParaRPr lang="zh-CN" altLang="en-US" dirty="0">
                <a:ea typeface="SimHei" panose="02010609060101010101" pitchFamily="49" charset="-122"/>
              </a:endParaRPr>
            </a:p>
          </p:txBody>
        </p:sp>
        <p:sp>
          <p:nvSpPr>
            <p:cNvPr id="20" name="Rectangle 9">
              <a:extLst>
                <a:ext uri="{FF2B5EF4-FFF2-40B4-BE49-F238E27FC236}">
                  <a16:creationId xmlns:a16="http://schemas.microsoft.com/office/drawing/2014/main" id="{C4E8D8CD-AD42-F649-AE82-CAE81843068C}"/>
                </a:ext>
              </a:extLst>
            </p:cNvPr>
            <p:cNvSpPr>
              <a:spLocks noChangeArrowheads="1"/>
            </p:cNvSpPr>
            <p:nvPr/>
          </p:nvSpPr>
          <p:spPr bwMode="auto">
            <a:xfrm>
              <a:off x="5335318" y="5137112"/>
              <a:ext cx="3392930" cy="369974"/>
            </a:xfrm>
            <a:prstGeom prst="rect">
              <a:avLst/>
            </a:prstGeom>
            <a:noFill/>
            <a:ln w="38100">
              <a:solidFill>
                <a:srgbClr val="0432FF"/>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2075" tIns="46038" rIns="92075" bIns="46038" anchor="ctr">
              <a:spAutoFit/>
            </a:bodyPr>
            <a:lstStyle/>
            <a:p>
              <a:endParaRPr lang="zh-CN" altLang="en-US" dirty="0">
                <a:ea typeface="SimHei" panose="02010609060101010101" pitchFamily="49" charset="-122"/>
              </a:endParaRPr>
            </a:p>
          </p:txBody>
        </p:sp>
      </p:grpSp>
      <p:grpSp>
        <p:nvGrpSpPr>
          <p:cNvPr id="23" name="组合 22">
            <a:extLst>
              <a:ext uri="{FF2B5EF4-FFF2-40B4-BE49-F238E27FC236}">
                <a16:creationId xmlns:a16="http://schemas.microsoft.com/office/drawing/2014/main" id="{7CDDAC52-DF9A-C340-9163-3DF432302329}"/>
              </a:ext>
            </a:extLst>
          </p:cNvPr>
          <p:cNvGrpSpPr/>
          <p:nvPr/>
        </p:nvGrpSpPr>
        <p:grpSpPr>
          <a:xfrm>
            <a:off x="586622" y="1228559"/>
            <a:ext cx="7673429" cy="2646993"/>
            <a:chOff x="1167408" y="1043672"/>
            <a:chExt cx="7673429" cy="2646993"/>
          </a:xfrm>
        </p:grpSpPr>
        <p:sp>
          <p:nvSpPr>
            <p:cNvPr id="24" name="矩形 23">
              <a:extLst>
                <a:ext uri="{FF2B5EF4-FFF2-40B4-BE49-F238E27FC236}">
                  <a16:creationId xmlns:a16="http://schemas.microsoft.com/office/drawing/2014/main" id="{364FBBDF-913A-8E4C-B891-7C2309B6E371}"/>
                </a:ext>
              </a:extLst>
            </p:cNvPr>
            <p:cNvSpPr/>
            <p:nvPr/>
          </p:nvSpPr>
          <p:spPr>
            <a:xfrm>
              <a:off x="1167408" y="2616944"/>
              <a:ext cx="1569660" cy="369332"/>
            </a:xfrm>
            <a:prstGeom prst="rect">
              <a:avLst/>
            </a:prstGeom>
          </p:spPr>
          <p:txBody>
            <a:bodyPr wrap="none">
              <a:spAutoFit/>
            </a:bodyPr>
            <a:lstStyle/>
            <a:p>
              <a:r>
                <a:rPr lang="en-US" altLang="zh-CN" dirty="0">
                  <a:ea typeface="SimHei" panose="02010609060101010101" pitchFamily="49" charset="-122"/>
                </a:rPr>
                <a:t>0x</a:t>
              </a:r>
              <a:r>
                <a:rPr lang="en-US" altLang="zh-CN" dirty="0">
                  <a:solidFill>
                    <a:srgbClr val="92D050"/>
                  </a:solidFill>
                  <a:ea typeface="SimHei" panose="02010609060101010101" pitchFamily="49" charset="-122"/>
                </a:rPr>
                <a:t>0</a:t>
              </a:r>
              <a:r>
                <a:rPr lang="en-US" altLang="zh-CN" dirty="0">
                  <a:solidFill>
                    <a:srgbClr val="FF0000"/>
                  </a:solidFill>
                  <a:ea typeface="SimHei" panose="02010609060101010101" pitchFamily="49" charset="-122"/>
                </a:rPr>
                <a:t>A</a:t>
              </a:r>
              <a:r>
                <a:rPr lang="en-US" altLang="zh-CN" dirty="0">
                  <a:solidFill>
                    <a:srgbClr val="7030A0"/>
                  </a:solidFill>
                  <a:ea typeface="SimHei" panose="02010609060101010101" pitchFamily="49" charset="-122"/>
                </a:rPr>
                <a:t>C</a:t>
              </a:r>
              <a:r>
                <a:rPr lang="en-US" altLang="zh-CN" dirty="0">
                  <a:solidFill>
                    <a:srgbClr val="FFC000"/>
                  </a:solidFill>
                  <a:ea typeface="SimHei" panose="02010609060101010101" pitchFamily="49" charset="-122"/>
                </a:rPr>
                <a:t>E</a:t>
              </a:r>
              <a:r>
                <a:rPr lang="en-US" altLang="zh-CN" dirty="0">
                  <a:solidFill>
                    <a:srgbClr val="0070C0"/>
                  </a:solidFill>
                  <a:ea typeface="SimHei" panose="02010609060101010101" pitchFamily="49" charset="-122"/>
                </a:rPr>
                <a:t>6</a:t>
              </a:r>
              <a:r>
                <a:rPr lang="en-US" altLang="zh-CN" dirty="0">
                  <a:solidFill>
                    <a:srgbClr val="00B050"/>
                  </a:solidFill>
                  <a:ea typeface="SimHei" panose="02010609060101010101" pitchFamily="49" charset="-122"/>
                </a:rPr>
                <a:t>0</a:t>
              </a: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25" name="AutoShape 95">
              <a:extLst>
                <a:ext uri="{FF2B5EF4-FFF2-40B4-BE49-F238E27FC236}">
                  <a16:creationId xmlns:a16="http://schemas.microsoft.com/office/drawing/2014/main" id="{B61FD188-2497-B745-BB98-45F7F1CB5FC7}"/>
                </a:ext>
              </a:extLst>
            </p:cNvPr>
            <p:cNvSpPr>
              <a:spLocks noChangeAspect="1" noChangeArrowheads="1" noTextEdit="1"/>
            </p:cNvSpPr>
            <p:nvPr/>
          </p:nvSpPr>
          <p:spPr bwMode="auto">
            <a:xfrm>
              <a:off x="3154784" y="1507222"/>
              <a:ext cx="4421188" cy="482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6" name="Rectangle 96">
              <a:extLst>
                <a:ext uri="{FF2B5EF4-FFF2-40B4-BE49-F238E27FC236}">
                  <a16:creationId xmlns:a16="http://schemas.microsoft.com/office/drawing/2014/main" id="{6186AD48-CBF0-394B-A8CD-42FDE19C1902}"/>
                </a:ext>
              </a:extLst>
            </p:cNvPr>
            <p:cNvSpPr>
              <a:spLocks noChangeArrowheads="1"/>
            </p:cNvSpPr>
            <p:nvPr/>
          </p:nvSpPr>
          <p:spPr bwMode="auto">
            <a:xfrm>
              <a:off x="3170659" y="1521509"/>
              <a:ext cx="1627188" cy="450850"/>
            </a:xfrm>
            <a:prstGeom prst="rect">
              <a:avLst/>
            </a:prstGeom>
            <a:solidFill>
              <a:srgbClr val="FF99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27" name="Freeform 97">
              <a:extLst>
                <a:ext uri="{FF2B5EF4-FFF2-40B4-BE49-F238E27FC236}">
                  <a16:creationId xmlns:a16="http://schemas.microsoft.com/office/drawing/2014/main" id="{76FA07AB-8962-764C-8410-22B5E3CC5A09}"/>
                </a:ext>
              </a:extLst>
            </p:cNvPr>
            <p:cNvSpPr>
              <a:spLocks/>
            </p:cNvSpPr>
            <p:nvPr/>
          </p:nvSpPr>
          <p:spPr bwMode="auto">
            <a:xfrm>
              <a:off x="3170659" y="1521509"/>
              <a:ext cx="1627188" cy="450850"/>
            </a:xfrm>
            <a:custGeom>
              <a:avLst/>
              <a:gdLst>
                <a:gd name="T0" fmla="*/ 0 w 1801"/>
                <a:gd name="T1" fmla="*/ 2147483647 h 536"/>
                <a:gd name="T2" fmla="*/ 2147483647 w 1801"/>
                <a:gd name="T3" fmla="*/ 2147483647 h 536"/>
                <a:gd name="T4" fmla="*/ 2147483647 w 1801"/>
                <a:gd name="T5" fmla="*/ 0 h 536"/>
                <a:gd name="T6" fmla="*/ 0 w 1801"/>
                <a:gd name="T7" fmla="*/ 0 h 536"/>
                <a:gd name="T8" fmla="*/ 0 w 1801"/>
                <a:gd name="T9" fmla="*/ 2147483647 h 536"/>
                <a:gd name="T10" fmla="*/ 0 w 1801"/>
                <a:gd name="T11" fmla="*/ 2147483647 h 5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01" h="536">
                  <a:moveTo>
                    <a:pt x="0" y="536"/>
                  </a:moveTo>
                  <a:lnTo>
                    <a:pt x="1801" y="536"/>
                  </a:lnTo>
                  <a:lnTo>
                    <a:pt x="1801" y="0"/>
                  </a:lnTo>
                  <a:lnTo>
                    <a:pt x="0" y="0"/>
                  </a:lnTo>
                  <a:lnTo>
                    <a:pt x="0" y="536"/>
                  </a:lnTo>
                </a:path>
              </a:pathLst>
            </a:custGeom>
            <a:noFill/>
            <a:ln w="1588">
              <a:solidFill>
                <a:srgbClr val="000000"/>
              </a:solidFill>
              <a:prstDash val="solid"/>
              <a:round/>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dirty="0">
                <a:ea typeface="SimHei" panose="02010609060101010101" pitchFamily="49" charset="-122"/>
              </a:endParaRPr>
            </a:p>
          </p:txBody>
        </p:sp>
        <p:sp>
          <p:nvSpPr>
            <p:cNvPr id="28" name="Rectangle 98">
              <a:extLst>
                <a:ext uri="{FF2B5EF4-FFF2-40B4-BE49-F238E27FC236}">
                  <a16:creationId xmlns:a16="http://schemas.microsoft.com/office/drawing/2014/main" id="{1628D04B-122A-B346-A1A7-F5266A08E39A}"/>
                </a:ext>
              </a:extLst>
            </p:cNvPr>
            <p:cNvSpPr>
              <a:spLocks noChangeArrowheads="1"/>
            </p:cNvSpPr>
            <p:nvPr/>
          </p:nvSpPr>
          <p:spPr bwMode="auto">
            <a:xfrm>
              <a:off x="3716759" y="1578659"/>
              <a:ext cx="589905" cy="3539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300" dirty="0">
                  <a:latin typeface="黑体" pitchFamily="2" charset="-122"/>
                  <a:ea typeface="SimHei" panose="02010609060101010101" pitchFamily="49" charset="-122"/>
                </a:rPr>
                <a:t>标签</a:t>
              </a:r>
              <a:endParaRPr lang="zh-CN" altLang="en-US" sz="2700" dirty="0">
                <a:latin typeface="Times New Roman" pitchFamily="18" charset="0"/>
                <a:ea typeface="SimHei" panose="02010609060101010101" pitchFamily="49" charset="-122"/>
              </a:endParaRPr>
            </a:p>
          </p:txBody>
        </p:sp>
        <p:sp>
          <p:nvSpPr>
            <p:cNvPr id="29" name="Rectangle 99">
              <a:extLst>
                <a:ext uri="{FF2B5EF4-FFF2-40B4-BE49-F238E27FC236}">
                  <a16:creationId xmlns:a16="http://schemas.microsoft.com/office/drawing/2014/main" id="{14409FAC-9069-C941-B212-0C9FC8AFFDDD}"/>
                </a:ext>
              </a:extLst>
            </p:cNvPr>
            <p:cNvSpPr>
              <a:spLocks noChangeArrowheads="1"/>
            </p:cNvSpPr>
            <p:nvPr/>
          </p:nvSpPr>
          <p:spPr bwMode="auto">
            <a:xfrm>
              <a:off x="4796259" y="1521509"/>
              <a:ext cx="1136650" cy="450850"/>
            </a:xfrm>
            <a:prstGeom prst="rect">
              <a:avLst/>
            </a:prstGeom>
            <a:solidFill>
              <a:srgbClr val="FFFF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30" name="Freeform 100">
              <a:extLst>
                <a:ext uri="{FF2B5EF4-FFF2-40B4-BE49-F238E27FC236}">
                  <a16:creationId xmlns:a16="http://schemas.microsoft.com/office/drawing/2014/main" id="{AD82A424-3287-DD49-BCD3-7093C69F21EE}"/>
                </a:ext>
              </a:extLst>
            </p:cNvPr>
            <p:cNvSpPr>
              <a:spLocks/>
            </p:cNvSpPr>
            <p:nvPr/>
          </p:nvSpPr>
          <p:spPr bwMode="auto">
            <a:xfrm>
              <a:off x="4796259" y="1521509"/>
              <a:ext cx="1136650" cy="450850"/>
            </a:xfrm>
            <a:custGeom>
              <a:avLst/>
              <a:gdLst>
                <a:gd name="T0" fmla="*/ 0 w 1259"/>
                <a:gd name="T1" fmla="*/ 2147483647 h 536"/>
                <a:gd name="T2" fmla="*/ 2147483647 w 1259"/>
                <a:gd name="T3" fmla="*/ 2147483647 h 536"/>
                <a:gd name="T4" fmla="*/ 2147483647 w 1259"/>
                <a:gd name="T5" fmla="*/ 0 h 536"/>
                <a:gd name="T6" fmla="*/ 0 w 1259"/>
                <a:gd name="T7" fmla="*/ 0 h 536"/>
                <a:gd name="T8" fmla="*/ 0 w 1259"/>
                <a:gd name="T9" fmla="*/ 2147483647 h 536"/>
                <a:gd name="T10" fmla="*/ 0 w 1259"/>
                <a:gd name="T11" fmla="*/ 2147483647 h 5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59" h="536">
                  <a:moveTo>
                    <a:pt x="0" y="536"/>
                  </a:moveTo>
                  <a:lnTo>
                    <a:pt x="1259" y="536"/>
                  </a:lnTo>
                  <a:lnTo>
                    <a:pt x="1259" y="0"/>
                  </a:lnTo>
                  <a:lnTo>
                    <a:pt x="0" y="0"/>
                  </a:lnTo>
                  <a:lnTo>
                    <a:pt x="0" y="536"/>
                  </a:lnTo>
                </a:path>
              </a:pathLst>
            </a:custGeom>
            <a:noFill/>
            <a:ln w="1588">
              <a:solidFill>
                <a:srgbClr val="000000"/>
              </a:solidFill>
              <a:prstDash val="solid"/>
              <a:round/>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dirty="0">
                <a:ea typeface="SimHei" panose="02010609060101010101" pitchFamily="49" charset="-122"/>
              </a:endParaRPr>
            </a:p>
          </p:txBody>
        </p:sp>
        <p:sp>
          <p:nvSpPr>
            <p:cNvPr id="31" name="Rectangle 101">
              <a:extLst>
                <a:ext uri="{FF2B5EF4-FFF2-40B4-BE49-F238E27FC236}">
                  <a16:creationId xmlns:a16="http://schemas.microsoft.com/office/drawing/2014/main" id="{3EDFAED2-BEA1-EB43-8CA0-6FB31598F673}"/>
                </a:ext>
              </a:extLst>
            </p:cNvPr>
            <p:cNvSpPr>
              <a:spLocks noChangeArrowheads="1"/>
            </p:cNvSpPr>
            <p:nvPr/>
          </p:nvSpPr>
          <p:spPr bwMode="auto">
            <a:xfrm>
              <a:off x="5105822" y="1589772"/>
              <a:ext cx="589905" cy="3539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300" dirty="0">
                  <a:latin typeface="黑体" pitchFamily="2" charset="-122"/>
                  <a:ea typeface="SimHei" panose="02010609060101010101" pitchFamily="49" charset="-122"/>
                </a:rPr>
                <a:t>组号</a:t>
              </a:r>
              <a:endParaRPr lang="zh-CN" altLang="en-US" sz="2700" dirty="0">
                <a:latin typeface="Times New Roman" pitchFamily="18" charset="0"/>
                <a:ea typeface="SimHei" panose="02010609060101010101" pitchFamily="49" charset="-122"/>
              </a:endParaRPr>
            </a:p>
          </p:txBody>
        </p:sp>
        <p:sp>
          <p:nvSpPr>
            <p:cNvPr id="32" name="Rectangle 102">
              <a:extLst>
                <a:ext uri="{FF2B5EF4-FFF2-40B4-BE49-F238E27FC236}">
                  <a16:creationId xmlns:a16="http://schemas.microsoft.com/office/drawing/2014/main" id="{1BFB8919-16D2-E347-A968-DF0FBF41799D}"/>
                </a:ext>
              </a:extLst>
            </p:cNvPr>
            <p:cNvSpPr>
              <a:spLocks noChangeArrowheads="1"/>
            </p:cNvSpPr>
            <p:nvPr/>
          </p:nvSpPr>
          <p:spPr bwMode="auto">
            <a:xfrm>
              <a:off x="5932909" y="1521509"/>
              <a:ext cx="1624013" cy="450850"/>
            </a:xfrm>
            <a:prstGeom prst="rect">
              <a:avLst/>
            </a:prstGeom>
            <a:solidFill>
              <a:srgbClr val="CC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dirty="0">
                <a:ea typeface="SimHei" panose="02010609060101010101" pitchFamily="49" charset="-122"/>
              </a:endParaRPr>
            </a:p>
          </p:txBody>
        </p:sp>
        <p:sp>
          <p:nvSpPr>
            <p:cNvPr id="33" name="Freeform 103">
              <a:extLst>
                <a:ext uri="{FF2B5EF4-FFF2-40B4-BE49-F238E27FC236}">
                  <a16:creationId xmlns:a16="http://schemas.microsoft.com/office/drawing/2014/main" id="{7CD53C95-0AA2-7245-AE6A-D4E1BE81F78F}"/>
                </a:ext>
              </a:extLst>
            </p:cNvPr>
            <p:cNvSpPr>
              <a:spLocks/>
            </p:cNvSpPr>
            <p:nvPr/>
          </p:nvSpPr>
          <p:spPr bwMode="auto">
            <a:xfrm>
              <a:off x="5932909" y="1521509"/>
              <a:ext cx="1624013" cy="450850"/>
            </a:xfrm>
            <a:custGeom>
              <a:avLst/>
              <a:gdLst>
                <a:gd name="T0" fmla="*/ 0 w 1800"/>
                <a:gd name="T1" fmla="*/ 2147483647 h 536"/>
                <a:gd name="T2" fmla="*/ 2147483647 w 1800"/>
                <a:gd name="T3" fmla="*/ 2147483647 h 536"/>
                <a:gd name="T4" fmla="*/ 2147483647 w 1800"/>
                <a:gd name="T5" fmla="*/ 0 h 536"/>
                <a:gd name="T6" fmla="*/ 0 w 1800"/>
                <a:gd name="T7" fmla="*/ 0 h 536"/>
                <a:gd name="T8" fmla="*/ 0 w 1800"/>
                <a:gd name="T9" fmla="*/ 2147483647 h 536"/>
                <a:gd name="T10" fmla="*/ 0 w 1800"/>
                <a:gd name="T11" fmla="*/ 2147483647 h 5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00" h="536">
                  <a:moveTo>
                    <a:pt x="0" y="536"/>
                  </a:moveTo>
                  <a:lnTo>
                    <a:pt x="1800" y="536"/>
                  </a:lnTo>
                  <a:lnTo>
                    <a:pt x="1800" y="0"/>
                  </a:lnTo>
                  <a:lnTo>
                    <a:pt x="0" y="0"/>
                  </a:lnTo>
                  <a:lnTo>
                    <a:pt x="0" y="536"/>
                  </a:lnTo>
                </a:path>
              </a:pathLst>
            </a:custGeom>
            <a:noFill/>
            <a:ln w="1588">
              <a:solidFill>
                <a:srgbClr val="000000"/>
              </a:solidFill>
              <a:prstDash val="solid"/>
              <a:round/>
              <a:headEnd/>
              <a:tailEnd/>
            </a:ln>
            <a:extLst>
              <a:ext uri="{909E8E84-426E-40dd-AFC4-6F175D3DCCD1}">
                <a14:hiddenFill xmlns="" xmlns:a14="http://schemas.microsoft.com/office/drawing/2010/main">
                  <a:solidFill>
                    <a:srgbClr val="FFFFFF"/>
                  </a:solidFill>
                </a14:hiddenFill>
              </a:ext>
            </a:extLst>
          </p:spPr>
          <p:txBody>
            <a:bodyPr/>
            <a:lstStyle/>
            <a:p>
              <a:endParaRPr lang="zh-CN" altLang="en-US" dirty="0">
                <a:ea typeface="SimHei" panose="02010609060101010101" pitchFamily="49" charset="-122"/>
              </a:endParaRPr>
            </a:p>
          </p:txBody>
        </p:sp>
        <p:sp>
          <p:nvSpPr>
            <p:cNvPr id="34" name="Rectangle 104">
              <a:extLst>
                <a:ext uri="{FF2B5EF4-FFF2-40B4-BE49-F238E27FC236}">
                  <a16:creationId xmlns:a16="http://schemas.microsoft.com/office/drawing/2014/main" id="{FD8E9A86-AC83-E54B-8922-451671C02DD7}"/>
                </a:ext>
              </a:extLst>
            </p:cNvPr>
            <p:cNvSpPr>
              <a:spLocks noChangeArrowheads="1"/>
            </p:cNvSpPr>
            <p:nvPr/>
          </p:nvSpPr>
          <p:spPr bwMode="auto">
            <a:xfrm>
              <a:off x="6228184" y="1589772"/>
              <a:ext cx="1179810" cy="3539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300" dirty="0">
                  <a:latin typeface="黑体" pitchFamily="2" charset="-122"/>
                  <a:ea typeface="SimHei" panose="02010609060101010101" pitchFamily="49" charset="-122"/>
                </a:rPr>
                <a:t>块内地址</a:t>
              </a:r>
              <a:endParaRPr lang="zh-CN" altLang="en-US" sz="2700" dirty="0">
                <a:latin typeface="Times New Roman" pitchFamily="18" charset="0"/>
                <a:ea typeface="SimHei" panose="02010609060101010101" pitchFamily="49" charset="-122"/>
              </a:endParaRPr>
            </a:p>
          </p:txBody>
        </p:sp>
        <p:sp>
          <p:nvSpPr>
            <p:cNvPr id="35" name="Text Box 105">
              <a:extLst>
                <a:ext uri="{FF2B5EF4-FFF2-40B4-BE49-F238E27FC236}">
                  <a16:creationId xmlns:a16="http://schemas.microsoft.com/office/drawing/2014/main" id="{12342200-5468-234E-870D-5D15CFC7922C}"/>
                </a:ext>
              </a:extLst>
            </p:cNvPr>
            <p:cNvSpPr txBox="1">
              <a:spLocks noChangeArrowheads="1"/>
            </p:cNvSpPr>
            <p:nvPr/>
          </p:nvSpPr>
          <p:spPr bwMode="auto">
            <a:xfrm>
              <a:off x="4695800" y="1043672"/>
              <a:ext cx="1646238" cy="4405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spcBef>
                  <a:spcPct val="50000"/>
                </a:spcBef>
              </a:pPr>
              <a:r>
                <a:rPr kumimoji="1" lang="zh-CN" altLang="en-US" sz="2200" dirty="0">
                  <a:latin typeface="Times New Roman" pitchFamily="18" charset="0"/>
                  <a:ea typeface="SimHei" panose="02010609060101010101" pitchFamily="49" charset="-122"/>
                </a:rPr>
                <a:t>主存地址</a:t>
              </a:r>
            </a:p>
          </p:txBody>
        </p:sp>
        <p:sp>
          <p:nvSpPr>
            <p:cNvPr id="36" name="左大括号 35">
              <a:extLst>
                <a:ext uri="{FF2B5EF4-FFF2-40B4-BE49-F238E27FC236}">
                  <a16:creationId xmlns:a16="http://schemas.microsoft.com/office/drawing/2014/main" id="{F53EFE2D-AD54-B142-B5C5-A36B09545A39}"/>
                </a:ext>
              </a:extLst>
            </p:cNvPr>
            <p:cNvSpPr/>
            <p:nvPr/>
          </p:nvSpPr>
          <p:spPr bwMode="auto">
            <a:xfrm rot="16200000">
              <a:off x="3858688" y="1942455"/>
              <a:ext cx="249543" cy="423645"/>
            </a:xfrm>
            <a:prstGeom prst="leftBrace">
              <a:avLst>
                <a:gd name="adj1" fmla="val 37790"/>
                <a:gd name="adj2" fmla="val 50000"/>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37" name="文本框 36">
              <a:extLst>
                <a:ext uri="{FF2B5EF4-FFF2-40B4-BE49-F238E27FC236}">
                  <a16:creationId xmlns:a16="http://schemas.microsoft.com/office/drawing/2014/main" id="{9CCE5A7A-2934-0447-896D-B1CB077DBD75}"/>
                </a:ext>
              </a:extLst>
            </p:cNvPr>
            <p:cNvSpPr txBox="1"/>
            <p:nvPr/>
          </p:nvSpPr>
          <p:spPr>
            <a:xfrm>
              <a:off x="3479403" y="2279050"/>
              <a:ext cx="1008112" cy="276999"/>
            </a:xfrm>
            <a:prstGeom prst="rect">
              <a:avLst/>
            </a:prstGeom>
            <a:noFill/>
          </p:spPr>
          <p:txBody>
            <a:bodyPr wrap="square" rtlCol="0">
              <a:spAutoFit/>
            </a:bodyPr>
            <a:lstStyle/>
            <a:p>
              <a:pPr algn="ctr"/>
              <a:r>
                <a:rPr lang="en-US" altLang="zh-CN" sz="1200" dirty="0">
                  <a:ea typeface="SimHei" panose="02010609060101010101" pitchFamily="49" charset="-122"/>
                </a:rPr>
                <a:t>21bits</a:t>
              </a:r>
              <a:endParaRPr lang="zh-CN" altLang="en-US" sz="1200" dirty="0">
                <a:ea typeface="SimHei" panose="02010609060101010101" pitchFamily="49" charset="-122"/>
              </a:endParaRPr>
            </a:p>
          </p:txBody>
        </p:sp>
        <p:sp>
          <p:nvSpPr>
            <p:cNvPr id="38" name="左大括号 37">
              <a:extLst>
                <a:ext uri="{FF2B5EF4-FFF2-40B4-BE49-F238E27FC236}">
                  <a16:creationId xmlns:a16="http://schemas.microsoft.com/office/drawing/2014/main" id="{127C2791-8BE9-C04C-90F9-B4BF1CF7DCEA}"/>
                </a:ext>
              </a:extLst>
            </p:cNvPr>
            <p:cNvSpPr/>
            <p:nvPr/>
          </p:nvSpPr>
          <p:spPr bwMode="auto">
            <a:xfrm rot="16200000">
              <a:off x="5231094" y="1942454"/>
              <a:ext cx="249544" cy="423645"/>
            </a:xfrm>
            <a:prstGeom prst="leftBrace">
              <a:avLst>
                <a:gd name="adj1" fmla="val 37790"/>
                <a:gd name="adj2" fmla="val 50000"/>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39" name="文本框 38">
              <a:extLst>
                <a:ext uri="{FF2B5EF4-FFF2-40B4-BE49-F238E27FC236}">
                  <a16:creationId xmlns:a16="http://schemas.microsoft.com/office/drawing/2014/main" id="{0FEBDB35-5EA5-1D4E-B75D-A873DA891F10}"/>
                </a:ext>
              </a:extLst>
            </p:cNvPr>
            <p:cNvSpPr txBox="1"/>
            <p:nvPr/>
          </p:nvSpPr>
          <p:spPr>
            <a:xfrm>
              <a:off x="5064446" y="2279049"/>
              <a:ext cx="600276" cy="276999"/>
            </a:xfrm>
            <a:prstGeom prst="rect">
              <a:avLst/>
            </a:prstGeom>
            <a:noFill/>
          </p:spPr>
          <p:txBody>
            <a:bodyPr wrap="square" rtlCol="0">
              <a:spAutoFit/>
            </a:bodyPr>
            <a:lstStyle/>
            <a:p>
              <a:pPr algn="ctr"/>
              <a:r>
                <a:rPr lang="en-US" altLang="zh-CN" sz="1200" dirty="0">
                  <a:ea typeface="SimHei" panose="02010609060101010101" pitchFamily="49" charset="-122"/>
                </a:rPr>
                <a:t>6bits</a:t>
              </a:r>
              <a:endParaRPr lang="zh-CN" altLang="en-US" sz="1200" dirty="0">
                <a:ea typeface="SimHei" panose="02010609060101010101" pitchFamily="49" charset="-122"/>
              </a:endParaRPr>
            </a:p>
          </p:txBody>
        </p:sp>
        <p:sp>
          <p:nvSpPr>
            <p:cNvPr id="40" name="左大括号 39">
              <a:extLst>
                <a:ext uri="{FF2B5EF4-FFF2-40B4-BE49-F238E27FC236}">
                  <a16:creationId xmlns:a16="http://schemas.microsoft.com/office/drawing/2014/main" id="{23099C68-F2F4-5945-AA19-D627FA5F6D5F}"/>
                </a:ext>
              </a:extLst>
            </p:cNvPr>
            <p:cNvSpPr/>
            <p:nvPr/>
          </p:nvSpPr>
          <p:spPr bwMode="auto">
            <a:xfrm rot="16200000">
              <a:off x="6602880" y="1946051"/>
              <a:ext cx="260323" cy="427223"/>
            </a:xfrm>
            <a:prstGeom prst="leftBrace">
              <a:avLst>
                <a:gd name="adj1" fmla="val 37790"/>
                <a:gd name="adj2" fmla="val 50000"/>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41" name="文本框 40">
              <a:extLst>
                <a:ext uri="{FF2B5EF4-FFF2-40B4-BE49-F238E27FC236}">
                  <a16:creationId xmlns:a16="http://schemas.microsoft.com/office/drawing/2014/main" id="{8D130F28-C8E8-4049-9B65-A39413B92FCE}"/>
                </a:ext>
              </a:extLst>
            </p:cNvPr>
            <p:cNvSpPr txBox="1"/>
            <p:nvPr/>
          </p:nvSpPr>
          <p:spPr>
            <a:xfrm>
              <a:off x="6228184" y="2278708"/>
              <a:ext cx="1008112" cy="276999"/>
            </a:xfrm>
            <a:prstGeom prst="rect">
              <a:avLst/>
            </a:prstGeom>
            <a:noFill/>
          </p:spPr>
          <p:txBody>
            <a:bodyPr wrap="square" rtlCol="0">
              <a:spAutoFit/>
            </a:bodyPr>
            <a:lstStyle/>
            <a:p>
              <a:pPr algn="ctr"/>
              <a:r>
                <a:rPr lang="en-US" altLang="zh-CN" sz="1200" dirty="0">
                  <a:ea typeface="SimHei" panose="02010609060101010101" pitchFamily="49" charset="-122"/>
                </a:rPr>
                <a:t>5bits</a:t>
              </a:r>
              <a:endParaRPr lang="zh-CN" altLang="en-US" sz="1200" dirty="0">
                <a:ea typeface="SimHei" panose="02010609060101010101" pitchFamily="49" charset="-122"/>
              </a:endParaRPr>
            </a:p>
          </p:txBody>
        </p:sp>
        <p:sp>
          <p:nvSpPr>
            <p:cNvPr id="43" name="矩形 42">
              <a:extLst>
                <a:ext uri="{FF2B5EF4-FFF2-40B4-BE49-F238E27FC236}">
                  <a16:creationId xmlns:a16="http://schemas.microsoft.com/office/drawing/2014/main" id="{F4C77A90-85AB-894B-8DE1-6B5E168A81D2}"/>
                </a:ext>
              </a:extLst>
            </p:cNvPr>
            <p:cNvSpPr/>
            <p:nvPr/>
          </p:nvSpPr>
          <p:spPr>
            <a:xfrm>
              <a:off x="3141691" y="2632996"/>
              <a:ext cx="4583099" cy="338554"/>
            </a:xfrm>
            <a:prstGeom prst="rect">
              <a:avLst/>
            </a:prstGeom>
            <a:noFill/>
          </p:spPr>
          <p:txBody>
            <a:bodyPr wrap="square">
              <a:spAutoFit/>
            </a:bodyPr>
            <a:lstStyle/>
            <a:p>
              <a:r>
                <a:rPr lang="en-US" altLang="zh-CN" sz="1600" dirty="0">
                  <a:solidFill>
                    <a:srgbClr val="0432FF"/>
                  </a:solidFill>
                  <a:ea typeface="SimHei" panose="02010609060101010101" pitchFamily="49" charset="-122"/>
                </a:rPr>
                <a:t>0b</a:t>
              </a:r>
              <a:r>
                <a:rPr lang="en-US" altLang="zh-CN" sz="1600" dirty="0">
                  <a:solidFill>
                    <a:srgbClr val="92D050"/>
                  </a:solidFill>
                  <a:ea typeface="SimHei" panose="02010609060101010101" pitchFamily="49" charset="-122"/>
                </a:rPr>
                <a:t>0000</a:t>
              </a:r>
              <a:r>
                <a:rPr lang="en-US" altLang="zh-CN" sz="1600" dirty="0">
                  <a:solidFill>
                    <a:srgbClr val="0432FF"/>
                  </a:solidFill>
                  <a:ea typeface="SimHei" panose="02010609060101010101" pitchFamily="49" charset="-122"/>
                </a:rPr>
                <a:t> </a:t>
              </a:r>
              <a:r>
                <a:rPr lang="en-US" altLang="zh-CN" sz="1600" dirty="0">
                  <a:solidFill>
                    <a:srgbClr val="FF0000"/>
                  </a:solidFill>
                  <a:ea typeface="SimHei" panose="02010609060101010101" pitchFamily="49" charset="-122"/>
                </a:rPr>
                <a:t>1010</a:t>
              </a:r>
              <a:r>
                <a:rPr lang="en-US" altLang="zh-CN" sz="1600" dirty="0">
                  <a:solidFill>
                    <a:srgbClr val="0432FF"/>
                  </a:solidFill>
                  <a:ea typeface="SimHei" panose="02010609060101010101" pitchFamily="49" charset="-122"/>
                </a:rPr>
                <a:t> </a:t>
              </a:r>
              <a:r>
                <a:rPr lang="en-US" altLang="zh-CN" sz="1600" dirty="0">
                  <a:solidFill>
                    <a:srgbClr val="7030A0"/>
                  </a:solidFill>
                  <a:ea typeface="SimHei" panose="02010609060101010101" pitchFamily="49" charset="-122"/>
                </a:rPr>
                <a:t>1100</a:t>
              </a:r>
              <a:r>
                <a:rPr lang="en-US" altLang="zh-CN" sz="1600" dirty="0">
                  <a:solidFill>
                    <a:srgbClr val="0432FF"/>
                  </a:solidFill>
                  <a:ea typeface="SimHei" panose="02010609060101010101" pitchFamily="49" charset="-122"/>
                </a:rPr>
                <a:t> </a:t>
              </a:r>
              <a:r>
                <a:rPr lang="en-US" altLang="zh-CN" sz="1600" dirty="0">
                  <a:solidFill>
                    <a:srgbClr val="FFC000"/>
                  </a:solidFill>
                  <a:ea typeface="SimHei" panose="02010609060101010101" pitchFamily="49" charset="-122"/>
                </a:rPr>
                <a:t>1110</a:t>
              </a:r>
              <a:r>
                <a:rPr lang="en-US" altLang="zh-CN" sz="1600" dirty="0">
                  <a:solidFill>
                    <a:srgbClr val="0432FF"/>
                  </a:solidFill>
                  <a:ea typeface="SimHei" panose="02010609060101010101" pitchFamily="49" charset="-122"/>
                </a:rPr>
                <a:t> </a:t>
              </a:r>
              <a:r>
                <a:rPr lang="en-US" altLang="zh-CN" sz="1600" dirty="0">
                  <a:solidFill>
                    <a:srgbClr val="0070C0"/>
                  </a:solidFill>
                  <a:ea typeface="SimHei" panose="02010609060101010101" pitchFamily="49" charset="-122"/>
                </a:rPr>
                <a:t>0110</a:t>
              </a:r>
              <a:r>
                <a:rPr lang="en-US" altLang="zh-CN" sz="1600" dirty="0">
                  <a:solidFill>
                    <a:srgbClr val="0432FF"/>
                  </a:solidFill>
                  <a:ea typeface="SimHei" panose="02010609060101010101" pitchFamily="49" charset="-122"/>
                </a:rPr>
                <a:t> </a:t>
              </a:r>
              <a:r>
                <a:rPr lang="en-US" altLang="zh-CN" sz="1600" dirty="0">
                  <a:solidFill>
                    <a:srgbClr val="00B050"/>
                  </a:solidFill>
                  <a:ea typeface="SimHei" panose="02010609060101010101" pitchFamily="49" charset="-122"/>
                </a:rPr>
                <a:t>0000</a:t>
              </a:r>
              <a:r>
                <a:rPr lang="en-US" altLang="zh-CN" sz="1600" dirty="0">
                  <a:solidFill>
                    <a:srgbClr val="0432FF"/>
                  </a:solidFill>
                  <a:ea typeface="SimHei" panose="02010609060101010101" pitchFamily="49" charset="-122"/>
                </a:rPr>
                <a:t> </a:t>
              </a:r>
              <a:r>
                <a:rPr lang="en-US" altLang="zh-CN" sz="1600" dirty="0">
                  <a:ea typeface="SimHei" panose="02010609060101010101" pitchFamily="49" charset="-122"/>
                </a:rPr>
                <a:t>0000 0100</a:t>
              </a:r>
              <a:endParaRPr lang="zh-CN" altLang="en-US" sz="1600" dirty="0">
                <a:ea typeface="SimHei" panose="02010609060101010101" pitchFamily="49" charset="-122"/>
              </a:endParaRPr>
            </a:p>
          </p:txBody>
        </p:sp>
        <p:sp>
          <p:nvSpPr>
            <p:cNvPr id="44" name="左大括号 43">
              <a:extLst>
                <a:ext uri="{FF2B5EF4-FFF2-40B4-BE49-F238E27FC236}">
                  <a16:creationId xmlns:a16="http://schemas.microsoft.com/office/drawing/2014/main" id="{0314B424-D3E6-C94E-8756-EF5A1E9296EE}"/>
                </a:ext>
              </a:extLst>
            </p:cNvPr>
            <p:cNvSpPr/>
            <p:nvPr/>
          </p:nvSpPr>
          <p:spPr bwMode="auto">
            <a:xfrm rot="16200000">
              <a:off x="4648252" y="1749818"/>
              <a:ext cx="211842" cy="2549534"/>
            </a:xfrm>
            <a:prstGeom prst="leftBrace">
              <a:avLst>
                <a:gd name="adj1" fmla="val 37790"/>
                <a:gd name="adj2" fmla="val 49511"/>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45" name="左大括号 44">
              <a:extLst>
                <a:ext uri="{FF2B5EF4-FFF2-40B4-BE49-F238E27FC236}">
                  <a16:creationId xmlns:a16="http://schemas.microsoft.com/office/drawing/2014/main" id="{60706E0A-F376-F54F-A828-6B4F00F0F28C}"/>
                </a:ext>
              </a:extLst>
            </p:cNvPr>
            <p:cNvSpPr/>
            <p:nvPr/>
          </p:nvSpPr>
          <p:spPr bwMode="auto">
            <a:xfrm rot="16200000">
              <a:off x="7003868" y="2732886"/>
              <a:ext cx="218349" cy="589903"/>
            </a:xfrm>
            <a:prstGeom prst="leftBrace">
              <a:avLst>
                <a:gd name="adj1" fmla="val 37790"/>
                <a:gd name="adj2" fmla="val 50000"/>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46" name="左大括号 45">
              <a:extLst>
                <a:ext uri="{FF2B5EF4-FFF2-40B4-BE49-F238E27FC236}">
                  <a16:creationId xmlns:a16="http://schemas.microsoft.com/office/drawing/2014/main" id="{2F6167C3-F9CC-7B46-BE35-D9D8F48A11B3}"/>
                </a:ext>
              </a:extLst>
            </p:cNvPr>
            <p:cNvSpPr/>
            <p:nvPr/>
          </p:nvSpPr>
          <p:spPr bwMode="auto">
            <a:xfrm rot="16200000">
              <a:off x="6307876" y="2697104"/>
              <a:ext cx="211842" cy="654963"/>
            </a:xfrm>
            <a:prstGeom prst="leftBrace">
              <a:avLst>
                <a:gd name="adj1" fmla="val 37790"/>
                <a:gd name="adj2" fmla="val 50000"/>
              </a:avLst>
            </a:prstGeom>
            <a:no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47" name="文本框 46">
              <a:extLst>
                <a:ext uri="{FF2B5EF4-FFF2-40B4-BE49-F238E27FC236}">
                  <a16:creationId xmlns:a16="http://schemas.microsoft.com/office/drawing/2014/main" id="{E2C42157-FD68-2F46-9351-56BC96C3C92C}"/>
                </a:ext>
              </a:extLst>
            </p:cNvPr>
            <p:cNvSpPr txBox="1"/>
            <p:nvPr/>
          </p:nvSpPr>
          <p:spPr>
            <a:xfrm>
              <a:off x="4395079" y="3072551"/>
              <a:ext cx="712341" cy="369332"/>
            </a:xfrm>
            <a:prstGeom prst="rect">
              <a:avLst/>
            </a:prstGeom>
            <a:noFill/>
          </p:spPr>
          <p:txBody>
            <a:bodyPr wrap="square" rtlCol="0">
              <a:spAutoFit/>
            </a:bodyPr>
            <a:lstStyle/>
            <a:p>
              <a:pPr algn="ctr"/>
              <a:r>
                <a:rPr lang="zh-CN" altLang="en-US" dirty="0">
                  <a:ea typeface="SimHei" panose="02010609060101010101" pitchFamily="49" charset="-122"/>
                </a:rPr>
                <a:t>标签</a:t>
              </a:r>
            </a:p>
          </p:txBody>
        </p:sp>
        <p:sp>
          <p:nvSpPr>
            <p:cNvPr id="48" name="文本框 47">
              <a:extLst>
                <a:ext uri="{FF2B5EF4-FFF2-40B4-BE49-F238E27FC236}">
                  <a16:creationId xmlns:a16="http://schemas.microsoft.com/office/drawing/2014/main" id="{2907A4A6-9B75-2640-8353-33453DBECFF7}"/>
                </a:ext>
              </a:extLst>
            </p:cNvPr>
            <p:cNvSpPr txBox="1"/>
            <p:nvPr/>
          </p:nvSpPr>
          <p:spPr>
            <a:xfrm>
              <a:off x="6073413" y="3072551"/>
              <a:ext cx="712341" cy="369332"/>
            </a:xfrm>
            <a:prstGeom prst="rect">
              <a:avLst/>
            </a:prstGeom>
            <a:noFill/>
          </p:spPr>
          <p:txBody>
            <a:bodyPr wrap="square" rtlCol="0">
              <a:spAutoFit/>
            </a:bodyPr>
            <a:lstStyle/>
            <a:p>
              <a:pPr algn="ctr"/>
              <a:r>
                <a:rPr lang="zh-CN" altLang="en-US" dirty="0">
                  <a:ea typeface="SimHei" panose="02010609060101010101" pitchFamily="49" charset="-122"/>
                </a:rPr>
                <a:t>组号</a:t>
              </a:r>
            </a:p>
          </p:txBody>
        </p:sp>
        <p:sp>
          <p:nvSpPr>
            <p:cNvPr id="49" name="文本框 48">
              <a:extLst>
                <a:ext uri="{FF2B5EF4-FFF2-40B4-BE49-F238E27FC236}">
                  <a16:creationId xmlns:a16="http://schemas.microsoft.com/office/drawing/2014/main" id="{FDB0A61A-C214-0749-B271-01A2CACD6483}"/>
                </a:ext>
              </a:extLst>
            </p:cNvPr>
            <p:cNvSpPr txBox="1"/>
            <p:nvPr/>
          </p:nvSpPr>
          <p:spPr>
            <a:xfrm>
              <a:off x="6785752" y="3044334"/>
              <a:ext cx="712341" cy="646331"/>
            </a:xfrm>
            <a:prstGeom prst="rect">
              <a:avLst/>
            </a:prstGeom>
            <a:noFill/>
          </p:spPr>
          <p:txBody>
            <a:bodyPr wrap="square" rtlCol="0">
              <a:spAutoFit/>
            </a:bodyPr>
            <a:lstStyle/>
            <a:p>
              <a:pPr algn="ctr"/>
              <a:r>
                <a:rPr lang="zh-CN" altLang="en-US" dirty="0">
                  <a:ea typeface="SimHei" panose="02010609060101010101" pitchFamily="49" charset="-122"/>
                </a:rPr>
                <a:t>块内地址</a:t>
              </a:r>
            </a:p>
          </p:txBody>
        </p:sp>
        <p:cxnSp>
          <p:nvCxnSpPr>
            <p:cNvPr id="50" name="肘形连接符 49">
              <a:extLst>
                <a:ext uri="{FF2B5EF4-FFF2-40B4-BE49-F238E27FC236}">
                  <a16:creationId xmlns:a16="http://schemas.microsoft.com/office/drawing/2014/main" id="{6DE7CAC1-0C71-7D43-8179-C1F10BC98081}"/>
                </a:ext>
              </a:extLst>
            </p:cNvPr>
            <p:cNvCxnSpPr>
              <a:cxnSpLocks/>
            </p:cNvCxnSpPr>
            <p:nvPr/>
          </p:nvCxnSpPr>
          <p:spPr bwMode="auto">
            <a:xfrm rot="5400000" flipH="1" flipV="1">
              <a:off x="6917722" y="2323220"/>
              <a:ext cx="615208" cy="1565684"/>
            </a:xfrm>
            <a:prstGeom prst="bentConnector4">
              <a:avLst>
                <a:gd name="adj1" fmla="val -53157"/>
                <a:gd name="adj2" fmla="val 79828"/>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51" name="直接箭头连接符 47">
              <a:extLst>
                <a:ext uri="{FF2B5EF4-FFF2-40B4-BE49-F238E27FC236}">
                  <a16:creationId xmlns:a16="http://schemas.microsoft.com/office/drawing/2014/main" id="{9C68087B-C8AD-234A-8661-45A92E2DFADD}"/>
                </a:ext>
              </a:extLst>
            </p:cNvPr>
            <p:cNvCxnSpPr>
              <a:stCxn id="24" idx="3"/>
            </p:cNvCxnSpPr>
            <p:nvPr/>
          </p:nvCxnSpPr>
          <p:spPr bwMode="auto">
            <a:xfrm flipV="1">
              <a:off x="2737068" y="2798458"/>
              <a:ext cx="446564"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52" name="文本框 51">
              <a:extLst>
                <a:ext uri="{FF2B5EF4-FFF2-40B4-BE49-F238E27FC236}">
                  <a16:creationId xmlns:a16="http://schemas.microsoft.com/office/drawing/2014/main" id="{AA2D7C1C-9F07-984E-8778-1B3C7ED21805}"/>
                </a:ext>
              </a:extLst>
            </p:cNvPr>
            <p:cNvSpPr txBox="1"/>
            <p:nvPr/>
          </p:nvSpPr>
          <p:spPr>
            <a:xfrm>
              <a:off x="8152954" y="2637561"/>
              <a:ext cx="687883" cy="369332"/>
            </a:xfrm>
            <a:prstGeom prst="rect">
              <a:avLst/>
            </a:prstGeom>
            <a:noFill/>
          </p:spPr>
          <p:txBody>
            <a:bodyPr wrap="square" rtlCol="0">
              <a:spAutoFit/>
            </a:bodyPr>
            <a:lstStyle/>
            <a:p>
              <a:r>
                <a:rPr lang="en-US" altLang="zh-CN" dirty="0">
                  <a:ea typeface="SimHei" panose="02010609060101010101" pitchFamily="49" charset="-122"/>
                </a:rPr>
                <a:t>0</a:t>
              </a:r>
              <a:endParaRPr lang="zh-CN" altLang="en-US" dirty="0">
                <a:ea typeface="SimHei" panose="02010609060101010101" pitchFamily="49" charset="-122"/>
              </a:endParaRPr>
            </a:p>
          </p:txBody>
        </p:sp>
        <p:sp>
          <p:nvSpPr>
            <p:cNvPr id="53" name="文本框 52">
              <a:extLst>
                <a:ext uri="{FF2B5EF4-FFF2-40B4-BE49-F238E27FC236}">
                  <a16:creationId xmlns:a16="http://schemas.microsoft.com/office/drawing/2014/main" id="{65AEC73F-FED7-AC40-BC48-9BCCA73B00BE}"/>
                </a:ext>
              </a:extLst>
            </p:cNvPr>
            <p:cNvSpPr txBox="1"/>
            <p:nvPr/>
          </p:nvSpPr>
          <p:spPr>
            <a:xfrm>
              <a:off x="8152953" y="2304646"/>
              <a:ext cx="687883" cy="369332"/>
            </a:xfrm>
            <a:prstGeom prst="rect">
              <a:avLst/>
            </a:prstGeom>
            <a:noFill/>
          </p:spPr>
          <p:txBody>
            <a:bodyPr wrap="square" rtlCol="0">
              <a:spAutoFit/>
            </a:bodyPr>
            <a:lstStyle/>
            <a:p>
              <a:r>
                <a:rPr lang="zh-CN" altLang="en-US" dirty="0">
                  <a:ea typeface="SimHei" panose="02010609060101010101" pitchFamily="49" charset="-122"/>
                </a:rPr>
                <a:t>组号</a:t>
              </a:r>
            </a:p>
          </p:txBody>
        </p:sp>
      </p:grpSp>
    </p:spTree>
    <p:extLst>
      <p:ext uri="{BB962C8B-B14F-4D97-AF65-F5344CB8AC3E}">
        <p14:creationId xmlns:p14="http://schemas.microsoft.com/office/powerpoint/2010/main" val="503002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缓存技术实现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59</a:t>
            </a:fld>
            <a:endParaRPr lang="en-US" altLang="zh-CN"/>
          </a:p>
        </p:txBody>
      </p:sp>
      <p:sp>
        <p:nvSpPr>
          <p:cNvPr id="7" name="内容占位符 2">
            <a:extLst>
              <a:ext uri="{FF2B5EF4-FFF2-40B4-BE49-F238E27FC236}">
                <a16:creationId xmlns:a16="http://schemas.microsoft.com/office/drawing/2014/main" id="{44AD668E-C9A5-DB48-A89D-D4F75849297A}"/>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solidFill>
                  <a:srgbClr val="0432FF"/>
                </a:solidFill>
              </a:rPr>
              <a:t>Cache</a:t>
            </a:r>
            <a:r>
              <a:rPr kumimoji="1" lang="zh-CN" altLang="en-US" dirty="0">
                <a:solidFill>
                  <a:srgbClr val="0432FF"/>
                </a:solidFill>
              </a:rPr>
              <a:t>技术实现</a:t>
            </a:r>
            <a:endParaRPr kumimoji="1" lang="en-US" altLang="zh-CN" dirty="0">
              <a:solidFill>
                <a:srgbClr val="0432FF"/>
              </a:solidFill>
            </a:endParaRPr>
          </a:p>
          <a:p>
            <a:pPr marL="914400" lvl="1" indent="-457200">
              <a:spcBef>
                <a:spcPts val="1000"/>
              </a:spcBef>
              <a:buFont typeface="+mj-lt"/>
              <a:buAutoNum type="arabicPeriod"/>
            </a:pPr>
            <a:r>
              <a:rPr lang="en-US" altLang="zh-CN" sz="2400" dirty="0"/>
              <a:t>Cache</a:t>
            </a:r>
            <a:r>
              <a:rPr lang="zh-CN" altLang="en-US" sz="2400" dirty="0"/>
              <a:t>基本结构</a:t>
            </a:r>
          </a:p>
          <a:p>
            <a:pPr marL="1314450" lvl="2" indent="-457200">
              <a:spcBef>
                <a:spcPts val="1000"/>
              </a:spcBef>
              <a:buFont typeface="Wingdings" pitchFamily="2" charset="2"/>
              <a:buChar char="Ø"/>
            </a:pPr>
            <a:r>
              <a:rPr lang="en-US" altLang="zh-CN" sz="2000" dirty="0"/>
              <a:t>Cache</a:t>
            </a:r>
            <a:r>
              <a:rPr lang="zh-CN" altLang="en-US" sz="2000" dirty="0"/>
              <a:t>的存储体结构、寻址流程</a:t>
            </a:r>
          </a:p>
          <a:p>
            <a:pPr marL="914400" lvl="1" indent="-457200">
              <a:spcBef>
                <a:spcPts val="1000"/>
              </a:spcBef>
              <a:buFont typeface="+mj-lt"/>
              <a:buAutoNum type="arabicPeriod"/>
            </a:pPr>
            <a:r>
              <a:rPr lang="en-US" altLang="zh-CN" sz="2400" dirty="0"/>
              <a:t>Cache</a:t>
            </a:r>
            <a:r>
              <a:rPr lang="zh-CN" altLang="en-US" sz="2400" dirty="0"/>
              <a:t>地址映像方式</a:t>
            </a:r>
          </a:p>
          <a:p>
            <a:pPr marL="1314450" lvl="2" indent="-457200">
              <a:spcBef>
                <a:spcPts val="1000"/>
              </a:spcBef>
              <a:buFont typeface="Wingdings" pitchFamily="2" charset="2"/>
              <a:buChar char="Ø"/>
            </a:pPr>
            <a:r>
              <a:rPr lang="zh-CN" altLang="en-US" sz="2000" dirty="0"/>
              <a:t>直接映像、全相连映像、组相联映像</a:t>
            </a:r>
          </a:p>
          <a:p>
            <a:pPr marL="914400" lvl="1" indent="-457200">
              <a:spcBef>
                <a:spcPts val="1000"/>
              </a:spcBef>
              <a:buFont typeface="+mj-lt"/>
              <a:buAutoNum type="arabicPeriod"/>
            </a:pPr>
            <a:r>
              <a:rPr lang="en-US" altLang="zh-CN" sz="2400" dirty="0">
                <a:solidFill>
                  <a:srgbClr val="0432FF"/>
                </a:solidFill>
              </a:rPr>
              <a:t>Cache</a:t>
            </a:r>
            <a:r>
              <a:rPr lang="zh-CN" altLang="en-US" sz="2400" dirty="0">
                <a:solidFill>
                  <a:srgbClr val="0432FF"/>
                </a:solidFill>
              </a:rPr>
              <a:t>数据的替换及更新</a:t>
            </a:r>
          </a:p>
          <a:p>
            <a:pPr marL="914400" lvl="1" indent="-457200">
              <a:spcBef>
                <a:spcPts val="1000"/>
              </a:spcBef>
              <a:buFont typeface="+mj-lt"/>
              <a:buAutoNum type="arabicPeriod"/>
            </a:pPr>
            <a:r>
              <a:rPr lang="en-US" altLang="zh-CN" sz="2400" dirty="0"/>
              <a:t>Cache</a:t>
            </a:r>
            <a:r>
              <a:rPr lang="zh-CN" altLang="en-US" sz="2400" dirty="0"/>
              <a:t>的作用</a:t>
            </a:r>
            <a:endParaRPr lang="en-US" altLang="zh-CN" sz="2400" dirty="0"/>
          </a:p>
        </p:txBody>
      </p:sp>
    </p:spTree>
    <p:extLst>
      <p:ext uri="{BB962C8B-B14F-4D97-AF65-F5344CB8AC3E}">
        <p14:creationId xmlns:p14="http://schemas.microsoft.com/office/powerpoint/2010/main" val="3157872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a:t>
            </a:r>
            <a:r>
              <a:rPr lang="en-US" altLang="zh-CN" dirty="0"/>
              <a:t>Cache</a:t>
            </a:r>
            <a:r>
              <a:rPr lang="zh-CN" altLang="en-US" dirty="0"/>
              <a:t>基本结构</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sz="2400" dirty="0"/>
              <a:t>Cache</a:t>
            </a:r>
            <a:r>
              <a:rPr kumimoji="1" lang="zh-CN" altLang="en-US" sz="2400" dirty="0"/>
              <a:t>一般由</a:t>
            </a:r>
            <a:r>
              <a:rPr kumimoji="1" lang="en-US" altLang="zh-CN" sz="2400" dirty="0">
                <a:solidFill>
                  <a:srgbClr val="0432FF"/>
                </a:solidFill>
              </a:rPr>
              <a:t>Cache</a:t>
            </a:r>
            <a:r>
              <a:rPr kumimoji="1" lang="zh-CN" altLang="en-US" sz="2400" dirty="0">
                <a:solidFill>
                  <a:srgbClr val="0432FF"/>
                </a:solidFill>
              </a:rPr>
              <a:t>存储体</a:t>
            </a:r>
            <a:r>
              <a:rPr kumimoji="1" lang="zh-CN" altLang="en-US" sz="2400" dirty="0"/>
              <a:t>、</a:t>
            </a:r>
            <a:r>
              <a:rPr kumimoji="1" lang="zh-CN" altLang="en-US" sz="2400" dirty="0">
                <a:solidFill>
                  <a:srgbClr val="0432FF"/>
                </a:solidFill>
              </a:rPr>
              <a:t>地址映像变换机构</a:t>
            </a:r>
            <a:r>
              <a:rPr kumimoji="1" lang="zh-CN" altLang="en-US" sz="2400" dirty="0"/>
              <a:t>、</a:t>
            </a:r>
            <a:r>
              <a:rPr kumimoji="1" lang="en-US" altLang="zh-CN" sz="2400" dirty="0">
                <a:solidFill>
                  <a:srgbClr val="0432FF"/>
                </a:solidFill>
              </a:rPr>
              <a:t>Cache</a:t>
            </a:r>
            <a:r>
              <a:rPr kumimoji="1" lang="zh-CN" altLang="en-US" sz="2400" dirty="0">
                <a:solidFill>
                  <a:srgbClr val="0432FF"/>
                </a:solidFill>
              </a:rPr>
              <a:t>替换机构</a:t>
            </a:r>
            <a:r>
              <a:rPr kumimoji="1" lang="zh-CN" altLang="en-US" sz="2400" dirty="0"/>
              <a:t>几大模块组成</a:t>
            </a:r>
          </a:p>
        </p:txBody>
      </p:sp>
      <p:grpSp>
        <p:nvGrpSpPr>
          <p:cNvPr id="64" name="组合 63">
            <a:extLst>
              <a:ext uri="{FF2B5EF4-FFF2-40B4-BE49-F238E27FC236}">
                <a16:creationId xmlns:a16="http://schemas.microsoft.com/office/drawing/2014/main" id="{A9F43A42-00B4-B445-8BD5-01345B50D7E9}"/>
              </a:ext>
            </a:extLst>
          </p:cNvPr>
          <p:cNvGrpSpPr/>
          <p:nvPr/>
        </p:nvGrpSpPr>
        <p:grpSpPr>
          <a:xfrm>
            <a:off x="1764209" y="2568048"/>
            <a:ext cx="5794385" cy="4150656"/>
            <a:chOff x="1764209" y="2568048"/>
            <a:chExt cx="5794385" cy="4150656"/>
          </a:xfrm>
        </p:grpSpPr>
        <p:sp>
          <p:nvSpPr>
            <p:cNvPr id="5" name="矩形 4">
              <a:extLst>
                <a:ext uri="{FF2B5EF4-FFF2-40B4-BE49-F238E27FC236}">
                  <a16:creationId xmlns:a16="http://schemas.microsoft.com/office/drawing/2014/main" id="{CDB69541-A4E0-784E-81D4-4BE514952978}"/>
                </a:ext>
              </a:extLst>
            </p:cNvPr>
            <p:cNvSpPr/>
            <p:nvPr/>
          </p:nvSpPr>
          <p:spPr>
            <a:xfrm>
              <a:off x="3070440" y="3142649"/>
              <a:ext cx="2311074" cy="381000"/>
            </a:xfrm>
            <a:prstGeom prst="rect">
              <a:avLst/>
            </a:prstGeom>
            <a:solidFill>
              <a:srgbClr val="FF99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主存块号</a:t>
              </a:r>
            </a:p>
          </p:txBody>
        </p:sp>
        <p:sp>
          <p:nvSpPr>
            <p:cNvPr id="6" name="矩形 5">
              <a:extLst>
                <a:ext uri="{FF2B5EF4-FFF2-40B4-BE49-F238E27FC236}">
                  <a16:creationId xmlns:a16="http://schemas.microsoft.com/office/drawing/2014/main" id="{1C878B47-D4FC-9D4D-A776-E1EE475A3CC9}"/>
                </a:ext>
              </a:extLst>
            </p:cNvPr>
            <p:cNvSpPr/>
            <p:nvPr/>
          </p:nvSpPr>
          <p:spPr>
            <a:xfrm>
              <a:off x="5381513" y="3142649"/>
              <a:ext cx="1228725" cy="381000"/>
            </a:xfrm>
            <a:prstGeom prst="rect">
              <a:avLst/>
            </a:prstGeom>
            <a:solidFill>
              <a:srgbClr val="CD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块内地址</a:t>
              </a:r>
            </a:p>
          </p:txBody>
        </p:sp>
        <p:cxnSp>
          <p:nvCxnSpPr>
            <p:cNvPr id="7" name="直线箭头连接符 6">
              <a:extLst>
                <a:ext uri="{FF2B5EF4-FFF2-40B4-BE49-F238E27FC236}">
                  <a16:creationId xmlns:a16="http://schemas.microsoft.com/office/drawing/2014/main" id="{D0F465A9-773D-5D48-AF99-CD7D9169232E}"/>
                </a:ext>
              </a:extLst>
            </p:cNvPr>
            <p:cNvCxnSpPr/>
            <p:nvPr/>
          </p:nvCxnSpPr>
          <p:spPr>
            <a:xfrm>
              <a:off x="5381513" y="2883237"/>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1992792D-54E7-EB4E-8ED8-DFE041691AB7}"/>
                </a:ext>
              </a:extLst>
            </p:cNvPr>
            <p:cNvSpPr txBox="1"/>
            <p:nvPr/>
          </p:nvSpPr>
          <p:spPr>
            <a:xfrm>
              <a:off x="4615926" y="2568048"/>
              <a:ext cx="1531188"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CPU</a:t>
              </a: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给出主存地址</a:t>
              </a:r>
            </a:p>
          </p:txBody>
        </p:sp>
        <p:sp>
          <p:nvSpPr>
            <p:cNvPr id="9" name="矩形 8">
              <a:extLst>
                <a:ext uri="{FF2B5EF4-FFF2-40B4-BE49-F238E27FC236}">
                  <a16:creationId xmlns:a16="http://schemas.microsoft.com/office/drawing/2014/main" id="{6E5DD2C1-2CDE-F44B-81CF-1A700D96449C}"/>
                </a:ext>
              </a:extLst>
            </p:cNvPr>
            <p:cNvSpPr/>
            <p:nvPr/>
          </p:nvSpPr>
          <p:spPr>
            <a:xfrm>
              <a:off x="4161004" y="4888530"/>
              <a:ext cx="1228725" cy="381000"/>
            </a:xfrm>
            <a:prstGeom prst="rect">
              <a:avLst/>
            </a:prstGeom>
            <a:solidFill>
              <a:srgbClr val="FFFF9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行号</a:t>
              </a:r>
            </a:p>
          </p:txBody>
        </p:sp>
        <p:sp>
          <p:nvSpPr>
            <p:cNvPr id="10" name="矩形 9">
              <a:extLst>
                <a:ext uri="{FF2B5EF4-FFF2-40B4-BE49-F238E27FC236}">
                  <a16:creationId xmlns:a16="http://schemas.microsoft.com/office/drawing/2014/main" id="{A8CE24E3-99FF-7A4D-86E5-1EEAF5CB4C3D}"/>
                </a:ext>
              </a:extLst>
            </p:cNvPr>
            <p:cNvSpPr/>
            <p:nvPr/>
          </p:nvSpPr>
          <p:spPr>
            <a:xfrm>
              <a:off x="5389729" y="4888530"/>
              <a:ext cx="1228725" cy="381000"/>
            </a:xfrm>
            <a:prstGeom prst="rect">
              <a:avLst/>
            </a:prstGeom>
            <a:solidFill>
              <a:srgbClr val="CD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行内地址</a:t>
              </a:r>
            </a:p>
          </p:txBody>
        </p:sp>
        <p:sp>
          <p:nvSpPr>
            <p:cNvPr id="11" name="圆角矩形 10">
              <a:extLst>
                <a:ext uri="{FF2B5EF4-FFF2-40B4-BE49-F238E27FC236}">
                  <a16:creationId xmlns:a16="http://schemas.microsoft.com/office/drawing/2014/main" id="{58011C76-ACF6-9140-A6E6-753983B3696F}"/>
                </a:ext>
              </a:extLst>
            </p:cNvPr>
            <p:cNvSpPr/>
            <p:nvPr/>
          </p:nvSpPr>
          <p:spPr>
            <a:xfrm>
              <a:off x="4161004" y="3777623"/>
              <a:ext cx="1220509" cy="701325"/>
            </a:xfrm>
            <a:prstGeom prst="roundRect">
              <a:avLst>
                <a:gd name="adj" fmla="val 16504"/>
              </a:avLst>
            </a:prstGeom>
            <a:solidFill>
              <a:srgbClr val="05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地址映像变换机构</a:t>
              </a:r>
            </a:p>
          </p:txBody>
        </p:sp>
        <p:cxnSp>
          <p:nvCxnSpPr>
            <p:cNvPr id="12" name="直线箭头连接符 11">
              <a:extLst>
                <a:ext uri="{FF2B5EF4-FFF2-40B4-BE49-F238E27FC236}">
                  <a16:creationId xmlns:a16="http://schemas.microsoft.com/office/drawing/2014/main" id="{78C16D69-E8E7-3949-9512-69CEB558DA5E}"/>
                </a:ext>
              </a:extLst>
            </p:cNvPr>
            <p:cNvCxnSpPr/>
            <p:nvPr/>
          </p:nvCxnSpPr>
          <p:spPr>
            <a:xfrm>
              <a:off x="4771914" y="3528696"/>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3F8CF56F-BE02-EF4B-ACFF-82AE606A0A2C}"/>
                </a:ext>
              </a:extLst>
            </p:cNvPr>
            <p:cNvCxnSpPr/>
            <p:nvPr/>
          </p:nvCxnSpPr>
          <p:spPr>
            <a:xfrm>
              <a:off x="4771914" y="4478948"/>
              <a:ext cx="0" cy="396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8D2C56CB-7A55-5E40-82F7-A6F0F95435C9}"/>
                </a:ext>
              </a:extLst>
            </p:cNvPr>
            <p:cNvSpPr txBox="1"/>
            <p:nvPr/>
          </p:nvSpPr>
          <p:spPr>
            <a:xfrm>
              <a:off x="4256840" y="4523834"/>
              <a:ext cx="543739"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命中</a:t>
              </a:r>
            </a:p>
          </p:txBody>
        </p:sp>
        <p:cxnSp>
          <p:nvCxnSpPr>
            <p:cNvPr id="15" name="直线箭头连接符 14">
              <a:extLst>
                <a:ext uri="{FF2B5EF4-FFF2-40B4-BE49-F238E27FC236}">
                  <a16:creationId xmlns:a16="http://schemas.microsoft.com/office/drawing/2014/main" id="{CCDFE811-49AD-7B4F-9285-A108B31B1526}"/>
                </a:ext>
              </a:extLst>
            </p:cNvPr>
            <p:cNvCxnSpPr/>
            <p:nvPr/>
          </p:nvCxnSpPr>
          <p:spPr>
            <a:xfrm>
              <a:off x="6004091" y="3528696"/>
              <a:ext cx="0" cy="135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EF52EE3-5CB0-9343-B7D9-D83EC7A7F72A}"/>
                </a:ext>
              </a:extLst>
            </p:cNvPr>
            <p:cNvSpPr txBox="1"/>
            <p:nvPr/>
          </p:nvSpPr>
          <p:spPr>
            <a:xfrm>
              <a:off x="6610899" y="3168124"/>
              <a:ext cx="902811"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主存地址</a:t>
              </a:r>
            </a:p>
          </p:txBody>
        </p:sp>
        <p:sp>
          <p:nvSpPr>
            <p:cNvPr id="17" name="文本框 16">
              <a:extLst>
                <a:ext uri="{FF2B5EF4-FFF2-40B4-BE49-F238E27FC236}">
                  <a16:creationId xmlns:a16="http://schemas.microsoft.com/office/drawing/2014/main" id="{D93A514D-6158-C440-8C64-227E4EF904F2}"/>
                </a:ext>
              </a:extLst>
            </p:cNvPr>
            <p:cNvSpPr txBox="1"/>
            <p:nvPr/>
          </p:nvSpPr>
          <p:spPr>
            <a:xfrm>
              <a:off x="6566015" y="4925141"/>
              <a:ext cx="992579"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地址</a:t>
              </a:r>
            </a:p>
          </p:txBody>
        </p:sp>
        <p:sp>
          <p:nvSpPr>
            <p:cNvPr id="18" name="圆角矩形 17">
              <a:extLst>
                <a:ext uri="{FF2B5EF4-FFF2-40B4-BE49-F238E27FC236}">
                  <a16:creationId xmlns:a16="http://schemas.microsoft.com/office/drawing/2014/main" id="{5B9F1BC1-F7E5-1C40-BA90-D4C779B6762E}"/>
                </a:ext>
              </a:extLst>
            </p:cNvPr>
            <p:cNvSpPr/>
            <p:nvPr/>
          </p:nvSpPr>
          <p:spPr>
            <a:xfrm>
              <a:off x="1764209" y="4660649"/>
              <a:ext cx="1220509" cy="701325"/>
            </a:xfrm>
            <a:prstGeom prst="roundRect">
              <a:avLst>
                <a:gd name="adj" fmla="val 19805"/>
              </a:avLst>
            </a:prstGeom>
            <a:solidFill>
              <a:srgbClr val="FF99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替换机构</a:t>
              </a:r>
            </a:p>
          </p:txBody>
        </p:sp>
        <p:sp>
          <p:nvSpPr>
            <p:cNvPr id="19" name="圆角矩形 18">
              <a:extLst>
                <a:ext uri="{FF2B5EF4-FFF2-40B4-BE49-F238E27FC236}">
                  <a16:creationId xmlns:a16="http://schemas.microsoft.com/office/drawing/2014/main" id="{37AA8251-2B8B-5546-B5BB-290175961B86}"/>
                </a:ext>
              </a:extLst>
            </p:cNvPr>
            <p:cNvSpPr/>
            <p:nvPr/>
          </p:nvSpPr>
          <p:spPr>
            <a:xfrm>
              <a:off x="4791614" y="5461568"/>
              <a:ext cx="1220509" cy="701325"/>
            </a:xfrm>
            <a:prstGeom prst="roundRect">
              <a:avLst>
                <a:gd name="adj" fmla="val 19805"/>
              </a:avLst>
            </a:prstGeom>
            <a:solidFill>
              <a:srgbClr val="FFFF9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6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存储体</a:t>
              </a:r>
            </a:p>
          </p:txBody>
        </p:sp>
        <p:cxnSp>
          <p:nvCxnSpPr>
            <p:cNvPr id="20" name="直线箭头连接符 19">
              <a:extLst>
                <a:ext uri="{FF2B5EF4-FFF2-40B4-BE49-F238E27FC236}">
                  <a16:creationId xmlns:a16="http://schemas.microsoft.com/office/drawing/2014/main" id="{0C83DD0A-1CEB-9F4E-8508-57BED61288A2}"/>
                </a:ext>
              </a:extLst>
            </p:cNvPr>
            <p:cNvCxnSpPr/>
            <p:nvPr/>
          </p:nvCxnSpPr>
          <p:spPr>
            <a:xfrm>
              <a:off x="5390478" y="5188845"/>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肘形连接符 20">
              <a:extLst>
                <a:ext uri="{FF2B5EF4-FFF2-40B4-BE49-F238E27FC236}">
                  <a16:creationId xmlns:a16="http://schemas.microsoft.com/office/drawing/2014/main" id="{792C6A82-7A05-7548-8ADC-8522004E4F45}"/>
                </a:ext>
              </a:extLst>
            </p:cNvPr>
            <p:cNvCxnSpPr>
              <a:cxnSpLocks/>
              <a:stCxn id="11" idx="1"/>
              <a:endCxn id="18" idx="0"/>
            </p:cNvCxnSpPr>
            <p:nvPr/>
          </p:nvCxnSpPr>
          <p:spPr>
            <a:xfrm rot="10800000" flipV="1">
              <a:off x="2374464" y="4128285"/>
              <a:ext cx="1786540" cy="532363"/>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6582427-3205-2244-B957-706CDC32FBFC}"/>
                </a:ext>
              </a:extLst>
            </p:cNvPr>
            <p:cNvSpPr txBox="1"/>
            <p:nvPr/>
          </p:nvSpPr>
          <p:spPr>
            <a:xfrm>
              <a:off x="3574287" y="3830247"/>
              <a:ext cx="543739"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缺失</a:t>
              </a:r>
            </a:p>
          </p:txBody>
        </p:sp>
        <p:sp>
          <p:nvSpPr>
            <p:cNvPr id="23" name="文本框 22">
              <a:extLst>
                <a:ext uri="{FF2B5EF4-FFF2-40B4-BE49-F238E27FC236}">
                  <a16:creationId xmlns:a16="http://schemas.microsoft.com/office/drawing/2014/main" id="{090DF252-213D-A042-A77D-23C7BC2FB9B0}"/>
                </a:ext>
              </a:extLst>
            </p:cNvPr>
            <p:cNvSpPr txBox="1"/>
            <p:nvPr/>
          </p:nvSpPr>
          <p:spPr>
            <a:xfrm>
              <a:off x="1796893" y="4138024"/>
              <a:ext cx="633507"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已满</a:t>
              </a:r>
            </a:p>
          </p:txBody>
        </p:sp>
        <p:cxnSp>
          <p:nvCxnSpPr>
            <p:cNvPr id="24" name="直线箭头连接符 23">
              <a:extLst>
                <a:ext uri="{FF2B5EF4-FFF2-40B4-BE49-F238E27FC236}">
                  <a16:creationId xmlns:a16="http://schemas.microsoft.com/office/drawing/2014/main" id="{97C99DC7-83D8-864D-B4CE-5E524A090D4B}"/>
                </a:ext>
              </a:extLst>
            </p:cNvPr>
            <p:cNvCxnSpPr/>
            <p:nvPr/>
          </p:nvCxnSpPr>
          <p:spPr>
            <a:xfrm>
              <a:off x="2370349" y="5361974"/>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D3FFEF8C-A812-1643-A089-51D32CFA5421}"/>
                </a:ext>
              </a:extLst>
            </p:cNvPr>
            <p:cNvSpPr txBox="1"/>
            <p:nvPr/>
          </p:nvSpPr>
          <p:spPr>
            <a:xfrm>
              <a:off x="1829179" y="5613974"/>
              <a:ext cx="1082348"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用主存数据</a:t>
              </a:r>
              <a:endPar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替换</a:t>
              </a: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endPar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endParaRPr>
            </a:p>
          </p:txBody>
        </p:sp>
        <p:cxnSp>
          <p:nvCxnSpPr>
            <p:cNvPr id="26" name="直线箭头连接符 25">
              <a:extLst>
                <a:ext uri="{FF2B5EF4-FFF2-40B4-BE49-F238E27FC236}">
                  <a16:creationId xmlns:a16="http://schemas.microsoft.com/office/drawing/2014/main" id="{8A0D2181-758F-D043-8C3B-B418C90F0135}"/>
                </a:ext>
              </a:extLst>
            </p:cNvPr>
            <p:cNvCxnSpPr/>
            <p:nvPr/>
          </p:nvCxnSpPr>
          <p:spPr>
            <a:xfrm>
              <a:off x="3574287" y="4128285"/>
              <a:ext cx="0" cy="1476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03C770B2-4B9D-5D49-BBBF-02BEBA6B0B63}"/>
                </a:ext>
              </a:extLst>
            </p:cNvPr>
            <p:cNvSpPr txBox="1"/>
            <p:nvPr/>
          </p:nvSpPr>
          <p:spPr>
            <a:xfrm>
              <a:off x="2940495" y="4138024"/>
              <a:ext cx="633507"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未满</a:t>
              </a:r>
            </a:p>
          </p:txBody>
        </p:sp>
        <p:sp>
          <p:nvSpPr>
            <p:cNvPr id="28" name="文本框 27">
              <a:extLst>
                <a:ext uri="{FF2B5EF4-FFF2-40B4-BE49-F238E27FC236}">
                  <a16:creationId xmlns:a16="http://schemas.microsoft.com/office/drawing/2014/main" id="{5E064564-880B-C74C-963A-88AF5361DB66}"/>
                </a:ext>
              </a:extLst>
            </p:cNvPr>
            <p:cNvSpPr txBox="1"/>
            <p:nvPr/>
          </p:nvSpPr>
          <p:spPr>
            <a:xfrm>
              <a:off x="3070440" y="5613974"/>
              <a:ext cx="1082348"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将主存数据</a:t>
              </a:r>
              <a:endPar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载入</a:t>
              </a: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cache</a:t>
              </a:r>
              <a:endPar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endParaRPr>
            </a:p>
          </p:txBody>
        </p:sp>
        <p:sp>
          <p:nvSpPr>
            <p:cNvPr id="29" name="矩形 28">
              <a:extLst>
                <a:ext uri="{FF2B5EF4-FFF2-40B4-BE49-F238E27FC236}">
                  <a16:creationId xmlns:a16="http://schemas.microsoft.com/office/drawing/2014/main" id="{22AD7E36-79C9-B04A-902A-EEDBCA9E2333}"/>
                </a:ext>
              </a:extLst>
            </p:cNvPr>
            <p:cNvSpPr/>
            <p:nvPr/>
          </p:nvSpPr>
          <p:spPr>
            <a:xfrm>
              <a:off x="1823922" y="6261504"/>
              <a:ext cx="385482"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cxnSp>
          <p:nvCxnSpPr>
            <p:cNvPr id="30" name="肘形连接符 29">
              <a:extLst>
                <a:ext uri="{FF2B5EF4-FFF2-40B4-BE49-F238E27FC236}">
                  <a16:creationId xmlns:a16="http://schemas.microsoft.com/office/drawing/2014/main" id="{06C58D45-050B-1B40-B7A8-F78C5D130D8E}"/>
                </a:ext>
              </a:extLst>
            </p:cNvPr>
            <p:cNvCxnSpPr>
              <a:cxnSpLocks/>
              <a:stCxn id="19" idx="2"/>
              <a:endCxn id="29" idx="3"/>
            </p:cNvCxnSpPr>
            <p:nvPr/>
          </p:nvCxnSpPr>
          <p:spPr>
            <a:xfrm rot="5400000">
              <a:off x="3642032" y="4730266"/>
              <a:ext cx="327211" cy="3192465"/>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D67F129-AE61-1F4F-ADD6-E3D3ECE27A93}"/>
                </a:ext>
              </a:extLst>
            </p:cNvPr>
            <p:cNvSpPr txBox="1"/>
            <p:nvPr/>
          </p:nvSpPr>
          <p:spPr>
            <a:xfrm>
              <a:off x="3060337" y="6196492"/>
              <a:ext cx="1710725"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返回</a:t>
              </a:r>
              <a:r>
                <a:rPr kumimoji="1" lang="en-US" altLang="zh-CN"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CPU</a:t>
              </a:r>
              <a:r>
                <a:rPr kumimoji="1" lang="zh-CN" altLang="en-US" sz="140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单个数据字</a:t>
              </a:r>
            </a:p>
          </p:txBody>
        </p:sp>
      </p:grpSp>
      <p:sp>
        <p:nvSpPr>
          <p:cNvPr id="33" name="椭圆 32">
            <a:extLst>
              <a:ext uri="{FF2B5EF4-FFF2-40B4-BE49-F238E27FC236}">
                <a16:creationId xmlns:a16="http://schemas.microsoft.com/office/drawing/2014/main" id="{CEB1FCC8-E197-CE42-8188-1642C59E9235}"/>
              </a:ext>
            </a:extLst>
          </p:cNvPr>
          <p:cNvSpPr/>
          <p:nvPr/>
        </p:nvSpPr>
        <p:spPr>
          <a:xfrm>
            <a:off x="1280580" y="4578016"/>
            <a:ext cx="2197867" cy="88355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34" name="椭圆 33">
            <a:extLst>
              <a:ext uri="{FF2B5EF4-FFF2-40B4-BE49-F238E27FC236}">
                <a16:creationId xmlns:a16="http://schemas.microsoft.com/office/drawing/2014/main" id="{D7BF606C-053A-B84D-BFEA-88173BE8C021}"/>
              </a:ext>
            </a:extLst>
          </p:cNvPr>
          <p:cNvSpPr/>
          <p:nvPr/>
        </p:nvSpPr>
        <p:spPr>
          <a:xfrm>
            <a:off x="3710383" y="3689562"/>
            <a:ext cx="2197867" cy="88355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
        <p:nvSpPr>
          <p:cNvPr id="37" name="椭圆 36">
            <a:extLst>
              <a:ext uri="{FF2B5EF4-FFF2-40B4-BE49-F238E27FC236}">
                <a16:creationId xmlns:a16="http://schemas.microsoft.com/office/drawing/2014/main" id="{B2ADD533-82C0-2F43-9D75-7263A1CB4D9C}"/>
              </a:ext>
            </a:extLst>
          </p:cNvPr>
          <p:cNvSpPr/>
          <p:nvPr/>
        </p:nvSpPr>
        <p:spPr>
          <a:xfrm>
            <a:off x="4329379" y="5402054"/>
            <a:ext cx="2197867" cy="88355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1800" u="none" strike="noStrike" kern="1200" cap="none" spc="0" normalizeH="0" baseline="0" noProof="0" dirty="0">
              <a:ln>
                <a:noFill/>
              </a:ln>
              <a:solidFill>
                <a:srgbClr val="FFFFFF"/>
              </a:solidFill>
              <a:effectLst/>
              <a:uLnTx/>
              <a:uFillTx/>
              <a:latin typeface="Arial"/>
              <a:ea typeface="SimHei" panose="02010609060101010101" pitchFamily="49" charset="-122"/>
              <a:cs typeface="+mn-cs"/>
            </a:endParaRPr>
          </a:p>
        </p:txBody>
      </p:sp>
    </p:spTree>
    <p:extLst>
      <p:ext uri="{BB962C8B-B14F-4D97-AF65-F5344CB8AC3E}">
        <p14:creationId xmlns:p14="http://schemas.microsoft.com/office/powerpoint/2010/main" val="3516038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61</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2916395"/>
          </a:xfrm>
        </p:spPr>
        <p:txBody>
          <a:bodyPr/>
          <a:lstStyle/>
          <a:p>
            <a:pPr marL="514350" indent="-457200">
              <a:spcBef>
                <a:spcPts val="1000"/>
              </a:spcBef>
            </a:pPr>
            <a:r>
              <a:rPr kumimoji="1" lang="zh-CN" altLang="en-US" dirty="0"/>
              <a:t>回忆：有效标志位</a:t>
            </a:r>
            <a:r>
              <a:rPr kumimoji="1" lang="en-US" altLang="zh-CN" dirty="0"/>
              <a:t>(Valid bit)</a:t>
            </a:r>
          </a:p>
          <a:p>
            <a:pPr marL="914400" lvl="1" indent="-457200">
              <a:spcBef>
                <a:spcPts val="1000"/>
              </a:spcBef>
            </a:pPr>
            <a:r>
              <a:rPr kumimoji="1" lang="zh-CN" altLang="en-US" sz="2400" dirty="0"/>
              <a:t>每个</a:t>
            </a:r>
            <a:r>
              <a:rPr kumimoji="1" lang="en-US" altLang="zh-CN" sz="2400" dirty="0"/>
              <a:t>cache</a:t>
            </a:r>
            <a:r>
              <a:rPr kumimoji="1" lang="zh-CN" altLang="en-US" sz="2400" dirty="0"/>
              <a:t>行有一个有效标志位</a:t>
            </a:r>
            <a:r>
              <a:rPr kumimoji="1" lang="en-US" altLang="zh-CN" sz="2400" dirty="0"/>
              <a:t>v</a:t>
            </a:r>
            <a:r>
              <a:rPr kumimoji="1" lang="zh-CN" altLang="en-US" sz="2400" dirty="0"/>
              <a:t>，表明“这一行的主存数据副本是有效的”</a:t>
            </a:r>
          </a:p>
          <a:p>
            <a:pPr marL="914400" lvl="1" indent="-457200">
              <a:spcBef>
                <a:spcPts val="1000"/>
              </a:spcBef>
            </a:pPr>
            <a:r>
              <a:rPr kumimoji="1" lang="en-US" altLang="zh-CN" sz="2400" dirty="0">
                <a:solidFill>
                  <a:srgbClr val="0432FF"/>
                </a:solidFill>
              </a:rPr>
              <a:t>Cache</a:t>
            </a:r>
            <a:r>
              <a:rPr kumimoji="1" lang="zh-CN" altLang="en-US" sz="2400" dirty="0">
                <a:solidFill>
                  <a:srgbClr val="0432FF"/>
                </a:solidFill>
              </a:rPr>
              <a:t>行要被命中必须在</a:t>
            </a:r>
            <a:r>
              <a:rPr kumimoji="1" lang="en-US" altLang="zh-CN" sz="2400" dirty="0">
                <a:solidFill>
                  <a:srgbClr val="0432FF"/>
                </a:solidFill>
              </a:rPr>
              <a:t>v=1</a:t>
            </a:r>
            <a:r>
              <a:rPr kumimoji="1" lang="zh-CN" altLang="en-US" sz="2400" dirty="0">
                <a:solidFill>
                  <a:srgbClr val="0432FF"/>
                </a:solidFill>
              </a:rPr>
              <a:t>的条件下</a:t>
            </a:r>
          </a:p>
          <a:p>
            <a:pPr marL="914400" lvl="1" indent="-457200">
              <a:spcBef>
                <a:spcPts val="1000"/>
              </a:spcBef>
            </a:pPr>
            <a:r>
              <a:rPr kumimoji="1" lang="zh-CN" altLang="en-US" sz="2400" dirty="0"/>
              <a:t>在复位、刚上电或清空</a:t>
            </a:r>
            <a:r>
              <a:rPr kumimoji="1" lang="en-US" altLang="zh-CN" sz="2400" dirty="0"/>
              <a:t>cache</a:t>
            </a:r>
            <a:r>
              <a:rPr kumimoji="1" lang="zh-CN" altLang="en-US" sz="2400" dirty="0"/>
              <a:t>时，所有行的</a:t>
            </a:r>
            <a:r>
              <a:rPr kumimoji="1" lang="en-US" altLang="zh-CN" sz="2400" dirty="0"/>
              <a:t>v=0</a:t>
            </a:r>
          </a:p>
          <a:p>
            <a:pPr marL="914400" lvl="1" indent="-457200">
              <a:spcBef>
                <a:spcPts val="1000"/>
              </a:spcBef>
            </a:pPr>
            <a:r>
              <a:rPr kumimoji="1" lang="zh-CN" altLang="en-US" sz="2400" dirty="0"/>
              <a:t>在</a:t>
            </a:r>
            <a:r>
              <a:rPr kumimoji="1" lang="en-US" altLang="zh-CN" sz="2400" dirty="0"/>
              <a:t>cache</a:t>
            </a:r>
            <a:r>
              <a:rPr kumimoji="1" lang="zh-CN" altLang="en-US" sz="2400" dirty="0"/>
              <a:t>行刚刚被替换时，对应行的</a:t>
            </a:r>
            <a:r>
              <a:rPr kumimoji="1" lang="en-US" altLang="zh-CN" sz="2400" dirty="0"/>
              <a:t>v=1</a:t>
            </a:r>
          </a:p>
        </p:txBody>
      </p:sp>
      <p:grpSp>
        <p:nvGrpSpPr>
          <p:cNvPr id="17" name="组合 16">
            <a:extLst>
              <a:ext uri="{FF2B5EF4-FFF2-40B4-BE49-F238E27FC236}">
                <a16:creationId xmlns:a16="http://schemas.microsoft.com/office/drawing/2014/main" id="{E4E897BF-8B3D-124D-95CA-42FF3513C74E}"/>
              </a:ext>
            </a:extLst>
          </p:cNvPr>
          <p:cNvGrpSpPr/>
          <p:nvPr/>
        </p:nvGrpSpPr>
        <p:grpSpPr>
          <a:xfrm>
            <a:off x="2590801" y="4467828"/>
            <a:ext cx="3708400" cy="2137913"/>
            <a:chOff x="560413" y="2969544"/>
            <a:chExt cx="3708400" cy="2137913"/>
          </a:xfrm>
        </p:grpSpPr>
        <p:sp>
          <p:nvSpPr>
            <p:cNvPr id="18" name="Rectangle 10">
              <a:extLst>
                <a:ext uri="{FF2B5EF4-FFF2-40B4-BE49-F238E27FC236}">
                  <a16:creationId xmlns:a16="http://schemas.microsoft.com/office/drawing/2014/main" id="{630FBB94-CABE-A14E-BD1D-932F28A05CA3}"/>
                </a:ext>
              </a:extLst>
            </p:cNvPr>
            <p:cNvSpPr>
              <a:spLocks noChangeArrowheads="1"/>
            </p:cNvSpPr>
            <p:nvPr/>
          </p:nvSpPr>
          <p:spPr bwMode="auto">
            <a:xfrm>
              <a:off x="1095400" y="3329907"/>
              <a:ext cx="3155950" cy="175895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19" name="Line 11">
              <a:extLst>
                <a:ext uri="{FF2B5EF4-FFF2-40B4-BE49-F238E27FC236}">
                  <a16:creationId xmlns:a16="http://schemas.microsoft.com/office/drawing/2014/main" id="{F412147F-1BCD-5845-A6C2-B55090BAF10C}"/>
                </a:ext>
              </a:extLst>
            </p:cNvPr>
            <p:cNvSpPr>
              <a:spLocks noChangeShapeType="1"/>
            </p:cNvSpPr>
            <p:nvPr/>
          </p:nvSpPr>
          <p:spPr bwMode="auto">
            <a:xfrm>
              <a:off x="1543075" y="3328319"/>
              <a:ext cx="0" cy="175895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20" name="Text Box 13">
              <a:extLst>
                <a:ext uri="{FF2B5EF4-FFF2-40B4-BE49-F238E27FC236}">
                  <a16:creationId xmlns:a16="http://schemas.microsoft.com/office/drawing/2014/main" id="{8A3AFBA4-AE90-7A4F-B46A-441738581170}"/>
                </a:ext>
              </a:extLst>
            </p:cNvPr>
            <p:cNvSpPr txBox="1">
              <a:spLocks noChangeArrowheads="1"/>
            </p:cNvSpPr>
            <p:nvPr/>
          </p:nvSpPr>
          <p:spPr bwMode="auto">
            <a:xfrm>
              <a:off x="1025550" y="2969544"/>
              <a:ext cx="1104814" cy="378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300" dirty="0">
                  <a:latin typeface="Times New Roman" pitchFamily="18" charset="0"/>
                  <a:ea typeface="SimHei" panose="02010609060101010101" pitchFamily="49" charset="-122"/>
                </a:rPr>
                <a:t>标签</a:t>
              </a:r>
              <a:r>
                <a:rPr kumimoji="1" lang="zh-CN" altLang="en-US" dirty="0">
                  <a:latin typeface="Times New Roman" pitchFamily="18" charset="0"/>
                  <a:ea typeface="SimHei" panose="02010609060101010101" pitchFamily="49" charset="-122"/>
                </a:rPr>
                <a:t> </a:t>
              </a:r>
              <a:r>
                <a:rPr kumimoji="1" lang="zh-CN" altLang="en-US" sz="1300" dirty="0">
                  <a:latin typeface="Times New Roman" pitchFamily="18" charset="0"/>
                  <a:ea typeface="SimHei" panose="02010609060101010101" pitchFamily="49" charset="-122"/>
                </a:rPr>
                <a:t>有效位</a:t>
              </a:r>
            </a:p>
          </p:txBody>
        </p:sp>
        <p:sp>
          <p:nvSpPr>
            <p:cNvPr id="21" name="Text Box 14">
              <a:extLst>
                <a:ext uri="{FF2B5EF4-FFF2-40B4-BE49-F238E27FC236}">
                  <a16:creationId xmlns:a16="http://schemas.microsoft.com/office/drawing/2014/main" id="{78015A77-89B6-4A48-9D49-5FA9E87468C0}"/>
                </a:ext>
              </a:extLst>
            </p:cNvPr>
            <p:cNvSpPr txBox="1">
              <a:spLocks noChangeArrowheads="1"/>
            </p:cNvSpPr>
            <p:nvPr/>
          </p:nvSpPr>
          <p:spPr bwMode="auto">
            <a:xfrm>
              <a:off x="2825775" y="3021932"/>
              <a:ext cx="537351" cy="3020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zh-CN" altLang="en-US" sz="1300" dirty="0">
                  <a:latin typeface="Times New Roman" pitchFamily="18" charset="0"/>
                  <a:ea typeface="SimHei" panose="02010609060101010101" pitchFamily="49" charset="-122"/>
                </a:rPr>
                <a:t>数据</a:t>
              </a:r>
            </a:p>
          </p:txBody>
        </p:sp>
        <p:sp>
          <p:nvSpPr>
            <p:cNvPr id="22" name="Line 15">
              <a:extLst>
                <a:ext uri="{FF2B5EF4-FFF2-40B4-BE49-F238E27FC236}">
                  <a16:creationId xmlns:a16="http://schemas.microsoft.com/office/drawing/2014/main" id="{C8DAF953-DFDA-A14E-A41B-E3D131EAAA37}"/>
                </a:ext>
              </a:extLst>
            </p:cNvPr>
            <p:cNvSpPr>
              <a:spLocks noChangeShapeType="1"/>
            </p:cNvSpPr>
            <p:nvPr/>
          </p:nvSpPr>
          <p:spPr bwMode="auto">
            <a:xfrm>
              <a:off x="1093813" y="3644232"/>
              <a:ext cx="3175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23" name="Line 16">
              <a:extLst>
                <a:ext uri="{FF2B5EF4-FFF2-40B4-BE49-F238E27FC236}">
                  <a16:creationId xmlns:a16="http://schemas.microsoft.com/office/drawing/2014/main" id="{15F86DF7-F31B-7E43-9881-AA74E7459DC8}"/>
                </a:ext>
              </a:extLst>
            </p:cNvPr>
            <p:cNvSpPr>
              <a:spLocks noChangeShapeType="1"/>
            </p:cNvSpPr>
            <p:nvPr/>
          </p:nvSpPr>
          <p:spPr bwMode="auto">
            <a:xfrm>
              <a:off x="1095400" y="4741194"/>
              <a:ext cx="315595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24" name="Line 17">
              <a:extLst>
                <a:ext uri="{FF2B5EF4-FFF2-40B4-BE49-F238E27FC236}">
                  <a16:creationId xmlns:a16="http://schemas.microsoft.com/office/drawing/2014/main" id="{05536E28-511E-3F40-BEB7-8B994612DD2C}"/>
                </a:ext>
              </a:extLst>
            </p:cNvPr>
            <p:cNvSpPr>
              <a:spLocks noChangeShapeType="1"/>
            </p:cNvSpPr>
            <p:nvPr/>
          </p:nvSpPr>
          <p:spPr bwMode="auto">
            <a:xfrm>
              <a:off x="1095400" y="4009357"/>
              <a:ext cx="315595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SimHei" panose="02010609060101010101" pitchFamily="49" charset="-122"/>
              </a:endParaRPr>
            </a:p>
          </p:txBody>
        </p:sp>
        <p:sp>
          <p:nvSpPr>
            <p:cNvPr id="25" name="Text Box 18">
              <a:extLst>
                <a:ext uri="{FF2B5EF4-FFF2-40B4-BE49-F238E27FC236}">
                  <a16:creationId xmlns:a16="http://schemas.microsoft.com/office/drawing/2014/main" id="{4C436B37-BEC3-3C47-827E-C2B5833B6E12}"/>
                </a:ext>
              </a:extLst>
            </p:cNvPr>
            <p:cNvSpPr txBox="1">
              <a:spLocks noChangeArrowheads="1"/>
            </p:cNvSpPr>
            <p:nvPr/>
          </p:nvSpPr>
          <p:spPr bwMode="auto">
            <a:xfrm>
              <a:off x="690588" y="3318794"/>
              <a:ext cx="319342" cy="378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en-US" altLang="zh-CN" dirty="0">
                  <a:latin typeface="Times New Roman" pitchFamily="18" charset="0"/>
                  <a:ea typeface="SimHei" panose="02010609060101010101" pitchFamily="49" charset="-122"/>
                </a:rPr>
                <a:t>0</a:t>
              </a:r>
            </a:p>
          </p:txBody>
        </p:sp>
        <p:sp>
          <p:nvSpPr>
            <p:cNvPr id="26" name="Text Box 19">
              <a:extLst>
                <a:ext uri="{FF2B5EF4-FFF2-40B4-BE49-F238E27FC236}">
                  <a16:creationId xmlns:a16="http://schemas.microsoft.com/office/drawing/2014/main" id="{088996E1-04A1-2E42-B0AC-E8B01D8194B2}"/>
                </a:ext>
              </a:extLst>
            </p:cNvPr>
            <p:cNvSpPr txBox="1">
              <a:spLocks noChangeArrowheads="1"/>
            </p:cNvSpPr>
            <p:nvPr/>
          </p:nvSpPr>
          <p:spPr bwMode="auto">
            <a:xfrm>
              <a:off x="560413" y="4728494"/>
              <a:ext cx="562999" cy="378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en-US" altLang="zh-CN" dirty="0">
                  <a:latin typeface="Times New Roman" pitchFamily="18" charset="0"/>
                  <a:ea typeface="SimHei" panose="02010609060101010101" pitchFamily="49" charset="-122"/>
                </a:rPr>
                <a:t>N-1</a:t>
              </a:r>
            </a:p>
          </p:txBody>
        </p:sp>
        <p:sp>
          <p:nvSpPr>
            <p:cNvPr id="27" name="Text Box 26">
              <a:extLst>
                <a:ext uri="{FF2B5EF4-FFF2-40B4-BE49-F238E27FC236}">
                  <a16:creationId xmlns:a16="http://schemas.microsoft.com/office/drawing/2014/main" id="{276CEC44-A80E-A04C-9310-ED3CC66DF5C3}"/>
                </a:ext>
              </a:extLst>
            </p:cNvPr>
            <p:cNvSpPr txBox="1">
              <a:spLocks noChangeArrowheads="1"/>
            </p:cNvSpPr>
            <p:nvPr/>
          </p:nvSpPr>
          <p:spPr bwMode="auto">
            <a:xfrm>
              <a:off x="2481160" y="4172869"/>
              <a:ext cx="620840" cy="44892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type="none" w="sm" len="sm"/>
                  <a:tailEnd type="none" w="sm" len="sm"/>
                </a14:hiddenLine>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vert="eaVert" wrap="none" lIns="101678" tIns="50840" rIns="101678" bIns="50840">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lang="en-US" altLang="zh-CN" sz="2700" dirty="0">
                  <a:latin typeface="Times New Roman" pitchFamily="18" charset="0"/>
                  <a:ea typeface="SimHei" panose="02010609060101010101" pitchFamily="49" charset="-122"/>
                </a:rPr>
                <a:t>…</a:t>
              </a:r>
            </a:p>
          </p:txBody>
        </p:sp>
        <p:sp>
          <p:nvSpPr>
            <p:cNvPr id="28" name="Line 37">
              <a:extLst>
                <a:ext uri="{FF2B5EF4-FFF2-40B4-BE49-F238E27FC236}">
                  <a16:creationId xmlns:a16="http://schemas.microsoft.com/office/drawing/2014/main" id="{2F4B9239-EA42-6742-AE54-B24596C9DBE0}"/>
                </a:ext>
              </a:extLst>
            </p:cNvPr>
            <p:cNvSpPr>
              <a:spLocks noChangeShapeType="1"/>
            </p:cNvSpPr>
            <p:nvPr/>
          </p:nvSpPr>
          <p:spPr bwMode="auto">
            <a:xfrm>
              <a:off x="1919313" y="3317207"/>
              <a:ext cx="0" cy="1766887"/>
            </a:xfrm>
            <a:prstGeom prst="line">
              <a:avLst/>
            </a:prstGeom>
            <a:noFill/>
            <a:ln w="9525">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zh-CN" altLang="en-US" dirty="0">
                <a:ea typeface="SimHei" panose="02010609060101010101" pitchFamily="49" charset="-122"/>
              </a:endParaRPr>
            </a:p>
          </p:txBody>
        </p:sp>
      </p:grpSp>
      <p:sp>
        <p:nvSpPr>
          <p:cNvPr id="29" name="圆角矩形 28">
            <a:extLst>
              <a:ext uri="{FF2B5EF4-FFF2-40B4-BE49-F238E27FC236}">
                <a16:creationId xmlns:a16="http://schemas.microsoft.com/office/drawing/2014/main" id="{3BED374F-F8C9-1D47-A0AD-1E02E9C41123}"/>
              </a:ext>
            </a:extLst>
          </p:cNvPr>
          <p:cNvSpPr/>
          <p:nvPr/>
        </p:nvSpPr>
        <p:spPr>
          <a:xfrm>
            <a:off x="1059949" y="5174266"/>
            <a:ext cx="1284790" cy="83299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处理器</a:t>
            </a:r>
          </a:p>
        </p:txBody>
      </p:sp>
      <p:sp>
        <p:nvSpPr>
          <p:cNvPr id="30" name="圆角矩形 29">
            <a:extLst>
              <a:ext uri="{FF2B5EF4-FFF2-40B4-BE49-F238E27FC236}">
                <a16:creationId xmlns:a16="http://schemas.microsoft.com/office/drawing/2014/main" id="{9A66B42E-59D1-D243-817A-8D007AA04BAB}"/>
              </a:ext>
            </a:extLst>
          </p:cNvPr>
          <p:cNvSpPr/>
          <p:nvPr/>
        </p:nvSpPr>
        <p:spPr>
          <a:xfrm>
            <a:off x="7047055" y="5174266"/>
            <a:ext cx="1284790" cy="83299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存储器</a:t>
            </a:r>
          </a:p>
        </p:txBody>
      </p:sp>
      <p:cxnSp>
        <p:nvCxnSpPr>
          <p:cNvPr id="32" name="直线箭头连接符 31">
            <a:extLst>
              <a:ext uri="{FF2B5EF4-FFF2-40B4-BE49-F238E27FC236}">
                <a16:creationId xmlns:a16="http://schemas.microsoft.com/office/drawing/2014/main" id="{920A8B46-8B47-E448-BA11-12A2299C4E57}"/>
              </a:ext>
            </a:extLst>
          </p:cNvPr>
          <p:cNvCxnSpPr/>
          <p:nvPr/>
        </p:nvCxnSpPr>
        <p:spPr>
          <a:xfrm>
            <a:off x="2344739" y="5578997"/>
            <a:ext cx="7794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4C8FAA98-4783-024D-BC79-571C4BCADF05}"/>
              </a:ext>
            </a:extLst>
          </p:cNvPr>
          <p:cNvCxnSpPr/>
          <p:nvPr/>
        </p:nvCxnSpPr>
        <p:spPr>
          <a:xfrm>
            <a:off x="6276051" y="5578997"/>
            <a:ext cx="7794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5543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62</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4693792"/>
          </a:xfrm>
        </p:spPr>
        <p:txBody>
          <a:bodyPr/>
          <a:lstStyle/>
          <a:p>
            <a:pPr marL="514350" indent="-457200">
              <a:spcBef>
                <a:spcPts val="1000"/>
              </a:spcBef>
            </a:pPr>
            <a:r>
              <a:rPr kumimoji="1" lang="zh-CN" altLang="en-US" sz="2800" dirty="0"/>
              <a:t>当访问一个地址发现其不在</a:t>
            </a:r>
            <a:r>
              <a:rPr kumimoji="1" lang="en-US" altLang="zh-CN" sz="2800" dirty="0"/>
              <a:t>Cache</a:t>
            </a:r>
            <a:r>
              <a:rPr kumimoji="1" lang="zh-CN" altLang="en-US" sz="2800" dirty="0"/>
              <a:t>中时，复制</a:t>
            </a:r>
            <a:r>
              <a:rPr kumimoji="1" lang="zh-CN" altLang="en-US" sz="2800" dirty="0">
                <a:solidFill>
                  <a:srgbClr val="FF0000"/>
                </a:solidFill>
              </a:rPr>
              <a:t>主存块</a:t>
            </a:r>
            <a:r>
              <a:rPr kumimoji="1" lang="zh-CN" altLang="en-US" sz="2800" dirty="0"/>
              <a:t>到缓存的行中。</a:t>
            </a:r>
            <a:endParaRPr kumimoji="1" lang="en-US" altLang="zh-CN" sz="2800" dirty="0"/>
          </a:p>
          <a:p>
            <a:pPr marL="914400" lvl="1" indent="-457200">
              <a:spcBef>
                <a:spcPts val="1000"/>
              </a:spcBef>
            </a:pPr>
            <a:r>
              <a:rPr kumimoji="1" lang="zh-CN" altLang="en-US" sz="2400" dirty="0">
                <a:solidFill>
                  <a:srgbClr val="0432FF"/>
                </a:solidFill>
              </a:rPr>
              <a:t>行替换</a:t>
            </a:r>
            <a:r>
              <a:rPr kumimoji="1" lang="zh-CN" altLang="en-US" sz="2400" dirty="0"/>
              <a:t>：当</a:t>
            </a:r>
            <a:r>
              <a:rPr kumimoji="1" lang="zh-CN" altLang="en-US" sz="2400" dirty="0">
                <a:solidFill>
                  <a:srgbClr val="FF0000"/>
                </a:solidFill>
              </a:rPr>
              <a:t>主存块</a:t>
            </a:r>
            <a:r>
              <a:rPr kumimoji="1" lang="zh-CN" altLang="en-US" sz="2400" dirty="0"/>
              <a:t>对应的</a:t>
            </a:r>
            <a:r>
              <a:rPr kumimoji="1" lang="en-US" altLang="zh-CN" sz="2400" dirty="0"/>
              <a:t>Cache</a:t>
            </a:r>
            <a:r>
              <a:rPr kumimoji="1" lang="zh-CN" altLang="en-US" sz="2400" dirty="0"/>
              <a:t>行均被占用</a:t>
            </a:r>
            <a:r>
              <a:rPr kumimoji="1" lang="en-US" altLang="zh-CN" sz="2400" dirty="0"/>
              <a:t>(</a:t>
            </a:r>
            <a:r>
              <a:rPr kumimoji="1" lang="zh-CN" altLang="en-US" sz="2400" dirty="0"/>
              <a:t>有效位为</a:t>
            </a:r>
            <a:r>
              <a:rPr kumimoji="1" lang="en-US" altLang="zh-CN" sz="2400" dirty="0"/>
              <a:t>1)</a:t>
            </a:r>
            <a:r>
              <a:rPr kumimoji="1" lang="zh-CN" altLang="en-US" sz="2400" dirty="0"/>
              <a:t>时，需要选择一个</a:t>
            </a:r>
            <a:r>
              <a:rPr kumimoji="1" lang="en-US" altLang="zh-CN" sz="2400" dirty="0"/>
              <a:t>Cache</a:t>
            </a:r>
            <a:r>
              <a:rPr kumimoji="1" lang="zh-CN" altLang="en-US" sz="2400" dirty="0"/>
              <a:t>行进行替换</a:t>
            </a:r>
            <a:endParaRPr kumimoji="1" lang="en-US" altLang="zh-CN" sz="2400" dirty="0"/>
          </a:p>
          <a:p>
            <a:pPr marL="914400" lvl="1" indent="-457200">
              <a:spcBef>
                <a:spcPts val="1000"/>
              </a:spcBef>
            </a:pPr>
            <a:r>
              <a:rPr kumimoji="1" lang="zh-CN" altLang="en-US" sz="2400" dirty="0"/>
              <a:t>直接映像：只有一行可以被替换，不用选</a:t>
            </a:r>
          </a:p>
          <a:p>
            <a:pPr marL="914400" lvl="1" indent="-457200">
              <a:spcBef>
                <a:spcPts val="1000"/>
              </a:spcBef>
            </a:pPr>
            <a:r>
              <a:rPr kumimoji="1" lang="zh-CN" altLang="en-US" sz="2400" dirty="0"/>
              <a:t>组相联或者全相联：</a:t>
            </a:r>
            <a:endParaRPr kumimoji="1" lang="en-US" altLang="zh-CN" sz="2400" dirty="0"/>
          </a:p>
          <a:p>
            <a:pPr marL="1314450" lvl="2" indent="-457200">
              <a:spcBef>
                <a:spcPts val="1000"/>
              </a:spcBef>
              <a:buFont typeface="Wingdings" pitchFamily="2" charset="2"/>
              <a:buChar char="Ø"/>
            </a:pPr>
            <a:r>
              <a:rPr kumimoji="1" lang="zh-CN" altLang="en-US" sz="2000" dirty="0">
                <a:solidFill>
                  <a:srgbClr val="0432FF"/>
                </a:solidFill>
              </a:rPr>
              <a:t>随机法</a:t>
            </a:r>
            <a:r>
              <a:rPr kumimoji="1" lang="en-US" altLang="zh-CN" sz="2000" dirty="0"/>
              <a:t>(Random)</a:t>
            </a:r>
            <a:r>
              <a:rPr kumimoji="1" lang="zh-CN" altLang="en-US" sz="2000" dirty="0"/>
              <a:t>：在</a:t>
            </a:r>
            <a:r>
              <a:rPr kumimoji="1" lang="en-US" altLang="zh-CN" sz="2000" dirty="0"/>
              <a:t>cache</a:t>
            </a:r>
            <a:r>
              <a:rPr kumimoji="1" lang="zh-CN" altLang="en-US" sz="2000" dirty="0"/>
              <a:t>中随机选择一个主存块</a:t>
            </a:r>
          </a:p>
          <a:p>
            <a:pPr marL="1314450" lvl="2" indent="-457200">
              <a:spcBef>
                <a:spcPts val="1000"/>
              </a:spcBef>
              <a:buFont typeface="Wingdings" pitchFamily="2" charset="2"/>
              <a:buChar char="Ø"/>
            </a:pPr>
            <a:r>
              <a:rPr kumimoji="1" lang="zh-CN" altLang="en-US" sz="2000" dirty="0">
                <a:solidFill>
                  <a:srgbClr val="0432FF"/>
                </a:solidFill>
              </a:rPr>
              <a:t>先进先出法</a:t>
            </a:r>
            <a:r>
              <a:rPr kumimoji="1" lang="en-US" altLang="zh-CN" sz="2000" dirty="0"/>
              <a:t>(FIFO, First-In First-Out)</a:t>
            </a:r>
            <a:r>
              <a:rPr kumimoji="1" lang="zh-CN" altLang="en-US" sz="2000" dirty="0"/>
              <a:t>：选择一个集合中最先进入</a:t>
            </a:r>
            <a:r>
              <a:rPr kumimoji="1" lang="en-US" altLang="zh-CN" sz="2000" dirty="0"/>
              <a:t>cache</a:t>
            </a:r>
            <a:r>
              <a:rPr kumimoji="1" lang="zh-CN" altLang="en-US" sz="2000" dirty="0"/>
              <a:t>中的主存块</a:t>
            </a:r>
            <a:r>
              <a:rPr kumimoji="1" lang="en-US" altLang="zh-CN" sz="2000" dirty="0"/>
              <a:t>(</a:t>
            </a:r>
            <a:r>
              <a:rPr kumimoji="1" lang="zh-CN" altLang="en-US" sz="2000" dirty="0"/>
              <a:t>即存在时间最长的块</a:t>
            </a:r>
            <a:r>
              <a:rPr kumimoji="1" lang="en-US" altLang="zh-CN" sz="2000" dirty="0"/>
              <a:t>)</a:t>
            </a:r>
          </a:p>
          <a:p>
            <a:pPr marL="1314450" lvl="2" indent="-457200">
              <a:spcBef>
                <a:spcPts val="1000"/>
              </a:spcBef>
              <a:buFont typeface="Wingdings" pitchFamily="2" charset="2"/>
              <a:buChar char="Ø"/>
            </a:pPr>
            <a:r>
              <a:rPr kumimoji="1" lang="zh-CN" altLang="en-US" sz="2000" dirty="0">
                <a:solidFill>
                  <a:srgbClr val="0432FF"/>
                </a:solidFill>
              </a:rPr>
              <a:t>最近最少使用法</a:t>
            </a:r>
            <a:r>
              <a:rPr kumimoji="1" lang="en-US" altLang="zh-CN" sz="2000" dirty="0"/>
              <a:t>(LRU, Least recently used)</a:t>
            </a:r>
            <a:r>
              <a:rPr kumimoji="1" lang="zh-CN" altLang="en-US" sz="2000" dirty="0"/>
              <a:t>：替换</a:t>
            </a:r>
            <a:r>
              <a:rPr kumimoji="1" lang="en-US" altLang="zh-CN" sz="2000" dirty="0"/>
              <a:t>cache</a:t>
            </a:r>
            <a:r>
              <a:rPr kumimoji="1" lang="zh-CN" altLang="en-US" sz="2000" dirty="0"/>
              <a:t>中最近最少被使用的主存块</a:t>
            </a:r>
          </a:p>
        </p:txBody>
      </p:sp>
    </p:spTree>
    <p:extLst>
      <p:ext uri="{BB962C8B-B14F-4D97-AF65-F5344CB8AC3E}">
        <p14:creationId xmlns:p14="http://schemas.microsoft.com/office/powerpoint/2010/main" val="2558867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63</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659332"/>
          </a:xfrm>
        </p:spPr>
        <p:txBody>
          <a:bodyPr/>
          <a:lstStyle/>
          <a:p>
            <a:pPr marL="514350" indent="-457200">
              <a:spcBef>
                <a:spcPts val="1000"/>
              </a:spcBef>
            </a:pPr>
            <a:r>
              <a:rPr kumimoji="1" lang="zh-CN" altLang="en-US" dirty="0"/>
              <a:t>替换策略：先进先出</a:t>
            </a:r>
            <a:r>
              <a:rPr kumimoji="1" lang="en-US" altLang="zh-CN" dirty="0"/>
              <a:t>(FIFO)</a:t>
            </a:r>
          </a:p>
          <a:p>
            <a:pPr marL="914400" lvl="1" indent="-457200">
              <a:spcBef>
                <a:spcPts val="1000"/>
              </a:spcBef>
            </a:pPr>
            <a:r>
              <a:rPr kumimoji="1" lang="en-US" altLang="zh-CN" sz="1600" dirty="0"/>
              <a:t>4</a:t>
            </a:r>
            <a:r>
              <a:rPr kumimoji="1" lang="zh-CN" altLang="en-US" sz="1600" dirty="0"/>
              <a:t>路组相联为例</a:t>
            </a:r>
          </a:p>
        </p:txBody>
      </p:sp>
      <p:grpSp>
        <p:nvGrpSpPr>
          <p:cNvPr id="161" name="组合 160">
            <a:extLst>
              <a:ext uri="{FF2B5EF4-FFF2-40B4-BE49-F238E27FC236}">
                <a16:creationId xmlns:a16="http://schemas.microsoft.com/office/drawing/2014/main" id="{85CDC634-2EEA-3349-B7DB-9EC1AB0A2181}"/>
              </a:ext>
            </a:extLst>
          </p:cNvPr>
          <p:cNvGrpSpPr/>
          <p:nvPr/>
        </p:nvGrpSpPr>
        <p:grpSpPr>
          <a:xfrm>
            <a:off x="1059332" y="2697620"/>
            <a:ext cx="1354538" cy="3046253"/>
            <a:chOff x="1059332" y="2697620"/>
            <a:chExt cx="1354538" cy="3046253"/>
          </a:xfrm>
        </p:grpSpPr>
        <p:sp>
          <p:nvSpPr>
            <p:cNvPr id="5" name="Rectangle 4">
              <a:extLst>
                <a:ext uri="{FF2B5EF4-FFF2-40B4-BE49-F238E27FC236}">
                  <a16:creationId xmlns:a16="http://schemas.microsoft.com/office/drawing/2014/main" id="{D933F89B-3CF1-024E-AB60-AFD9CBE702DA}"/>
                </a:ext>
              </a:extLst>
            </p:cNvPr>
            <p:cNvSpPr>
              <a:spLocks noChangeArrowheads="1"/>
            </p:cNvSpPr>
            <p:nvPr/>
          </p:nvSpPr>
          <p:spPr bwMode="auto">
            <a:xfrm>
              <a:off x="1059332" y="2697620"/>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访问顺序</a:t>
              </a:r>
              <a:endParaRPr lang="zh-CN" altLang="en-US" sz="1400" dirty="0">
                <a:latin typeface="Times New Roman" pitchFamily="18" charset="0"/>
                <a:ea typeface="SimHei" panose="02010609060101010101" pitchFamily="49" charset="-122"/>
              </a:endParaRPr>
            </a:p>
          </p:txBody>
        </p:sp>
        <p:sp>
          <p:nvSpPr>
            <p:cNvPr id="7" name="Rectangle 6">
              <a:extLst>
                <a:ext uri="{FF2B5EF4-FFF2-40B4-BE49-F238E27FC236}">
                  <a16:creationId xmlns:a16="http://schemas.microsoft.com/office/drawing/2014/main" id="{55EE8148-C364-CB45-8778-591FD27B7652}"/>
                </a:ext>
              </a:extLst>
            </p:cNvPr>
            <p:cNvSpPr>
              <a:spLocks noChangeArrowheads="1"/>
            </p:cNvSpPr>
            <p:nvPr/>
          </p:nvSpPr>
          <p:spPr bwMode="auto">
            <a:xfrm>
              <a:off x="1059332" y="3108325"/>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地址块号</a:t>
              </a:r>
              <a:endParaRPr lang="zh-CN" altLang="en-US" sz="1400" dirty="0">
                <a:latin typeface="Times New Roman" pitchFamily="18" charset="0"/>
                <a:ea typeface="SimHei" panose="02010609060101010101" pitchFamily="49" charset="-122"/>
              </a:endParaRPr>
            </a:p>
          </p:txBody>
        </p:sp>
        <p:sp>
          <p:nvSpPr>
            <p:cNvPr id="9" name="Rectangle 8">
              <a:extLst>
                <a:ext uri="{FF2B5EF4-FFF2-40B4-BE49-F238E27FC236}">
                  <a16:creationId xmlns:a16="http://schemas.microsoft.com/office/drawing/2014/main" id="{435145A4-C8B1-3849-9AD0-14C6E6ADE214}"/>
                </a:ext>
              </a:extLst>
            </p:cNvPr>
            <p:cNvSpPr>
              <a:spLocks noChangeArrowheads="1"/>
            </p:cNvSpPr>
            <p:nvPr/>
          </p:nvSpPr>
          <p:spPr bwMode="auto">
            <a:xfrm>
              <a:off x="1059332" y="4248594"/>
              <a:ext cx="1354538"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行分配情况</a:t>
              </a:r>
              <a:endParaRPr lang="zh-CN" altLang="en-US" sz="1400" dirty="0">
                <a:latin typeface="Times New Roman" pitchFamily="18" charset="0"/>
                <a:ea typeface="SimHei" panose="02010609060101010101" pitchFamily="49" charset="-122"/>
              </a:endParaRPr>
            </a:p>
          </p:txBody>
        </p:sp>
        <p:sp>
          <p:nvSpPr>
            <p:cNvPr id="10" name="Rectangle 9">
              <a:extLst>
                <a:ext uri="{FF2B5EF4-FFF2-40B4-BE49-F238E27FC236}">
                  <a16:creationId xmlns:a16="http://schemas.microsoft.com/office/drawing/2014/main" id="{11748429-E317-BE40-8716-C6DBA3114E46}"/>
                </a:ext>
              </a:extLst>
            </p:cNvPr>
            <p:cNvSpPr>
              <a:spLocks noChangeArrowheads="1"/>
            </p:cNvSpPr>
            <p:nvPr/>
          </p:nvSpPr>
          <p:spPr bwMode="auto">
            <a:xfrm>
              <a:off x="1059332" y="5423198"/>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操作状态</a:t>
              </a:r>
              <a:endParaRPr lang="zh-CN" altLang="en-US" sz="1400" dirty="0">
                <a:latin typeface="Times New Roman" pitchFamily="18" charset="0"/>
                <a:ea typeface="SimHei" panose="02010609060101010101" pitchFamily="49" charset="-122"/>
              </a:endParaRPr>
            </a:p>
          </p:txBody>
        </p:sp>
      </p:grpSp>
      <p:grpSp>
        <p:nvGrpSpPr>
          <p:cNvPr id="135" name="组合 134">
            <a:extLst>
              <a:ext uri="{FF2B5EF4-FFF2-40B4-BE49-F238E27FC236}">
                <a16:creationId xmlns:a16="http://schemas.microsoft.com/office/drawing/2014/main" id="{7B827021-C907-4F41-AACD-512D1DEC2EE0}"/>
              </a:ext>
            </a:extLst>
          </p:cNvPr>
          <p:cNvGrpSpPr/>
          <p:nvPr/>
        </p:nvGrpSpPr>
        <p:grpSpPr>
          <a:xfrm>
            <a:off x="2554465" y="2700898"/>
            <a:ext cx="540001" cy="3042975"/>
            <a:chOff x="2554465" y="2700898"/>
            <a:chExt cx="540001" cy="3042975"/>
          </a:xfrm>
        </p:grpSpPr>
        <p:sp>
          <p:nvSpPr>
            <p:cNvPr id="12" name="Rectangle 11">
              <a:extLst>
                <a:ext uri="{FF2B5EF4-FFF2-40B4-BE49-F238E27FC236}">
                  <a16:creationId xmlns:a16="http://schemas.microsoft.com/office/drawing/2014/main" id="{6D1320D0-0EEE-9343-88B7-2FE26083E021}"/>
                </a:ext>
              </a:extLst>
            </p:cNvPr>
            <p:cNvSpPr>
              <a:spLocks noChangeArrowheads="1"/>
            </p:cNvSpPr>
            <p:nvPr/>
          </p:nvSpPr>
          <p:spPr bwMode="auto">
            <a:xfrm>
              <a:off x="2554465" y="5423198"/>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grpSp>
          <p:nvGrpSpPr>
            <p:cNvPr id="94" name="组合 93">
              <a:extLst>
                <a:ext uri="{FF2B5EF4-FFF2-40B4-BE49-F238E27FC236}">
                  <a16:creationId xmlns:a16="http://schemas.microsoft.com/office/drawing/2014/main" id="{7898F32A-5852-4648-9A78-CDC1FE3DF300}"/>
                </a:ext>
              </a:extLst>
            </p:cNvPr>
            <p:cNvGrpSpPr/>
            <p:nvPr/>
          </p:nvGrpSpPr>
          <p:grpSpPr>
            <a:xfrm>
              <a:off x="2554466" y="3525423"/>
              <a:ext cx="540000" cy="1781143"/>
              <a:chOff x="2596031" y="3525424"/>
              <a:chExt cx="540000" cy="1449124"/>
            </a:xfrm>
          </p:grpSpPr>
          <p:sp>
            <p:nvSpPr>
              <p:cNvPr id="27" name="Rectangle 26">
                <a:extLst>
                  <a:ext uri="{FF2B5EF4-FFF2-40B4-BE49-F238E27FC236}">
                    <a16:creationId xmlns:a16="http://schemas.microsoft.com/office/drawing/2014/main" id="{0BF3019C-4958-E644-912A-29BC3E6F4C91}"/>
                  </a:ext>
                </a:extLst>
              </p:cNvPr>
              <p:cNvSpPr>
                <a:spLocks noChangeArrowheads="1"/>
              </p:cNvSpPr>
              <p:nvPr/>
            </p:nvSpPr>
            <p:spPr bwMode="auto">
              <a:xfrm>
                <a:off x="2596031" y="3525424"/>
                <a:ext cx="540000" cy="360000"/>
              </a:xfrm>
              <a:prstGeom prst="rect">
                <a:avLst/>
              </a:prstGeom>
              <a:solidFill>
                <a:srgbClr val="FFFF00"/>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91" name="Rectangle 26">
                <a:extLst>
                  <a:ext uri="{FF2B5EF4-FFF2-40B4-BE49-F238E27FC236}">
                    <a16:creationId xmlns:a16="http://schemas.microsoft.com/office/drawing/2014/main" id="{C2E5AEF4-704E-844A-B116-E4443E911393}"/>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92" name="Rectangle 26">
                <a:extLst>
                  <a:ext uri="{FF2B5EF4-FFF2-40B4-BE49-F238E27FC236}">
                    <a16:creationId xmlns:a16="http://schemas.microsoft.com/office/drawing/2014/main" id="{43C27539-51E0-5340-80E2-04A94772F16E}"/>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93" name="Rectangle 26">
                <a:extLst>
                  <a:ext uri="{FF2B5EF4-FFF2-40B4-BE49-F238E27FC236}">
                    <a16:creationId xmlns:a16="http://schemas.microsoft.com/office/drawing/2014/main" id="{1DCCE657-9FB6-3E43-B40E-394DE8F6DB88}"/>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130" name="Rectangle 11">
              <a:extLst>
                <a:ext uri="{FF2B5EF4-FFF2-40B4-BE49-F238E27FC236}">
                  <a16:creationId xmlns:a16="http://schemas.microsoft.com/office/drawing/2014/main" id="{D809D9D1-7828-C24E-8E25-6F42F6C240A4}"/>
                </a:ext>
              </a:extLst>
            </p:cNvPr>
            <p:cNvSpPr>
              <a:spLocks noChangeArrowheads="1"/>
            </p:cNvSpPr>
            <p:nvPr/>
          </p:nvSpPr>
          <p:spPr bwMode="auto">
            <a:xfrm>
              <a:off x="2554465"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131" name="Rectangle 11">
              <a:extLst>
                <a:ext uri="{FF2B5EF4-FFF2-40B4-BE49-F238E27FC236}">
                  <a16:creationId xmlns:a16="http://schemas.microsoft.com/office/drawing/2014/main" id="{704D9643-44BB-4C41-9496-B4984D73921E}"/>
                </a:ext>
              </a:extLst>
            </p:cNvPr>
            <p:cNvSpPr>
              <a:spLocks noChangeArrowheads="1"/>
            </p:cNvSpPr>
            <p:nvPr/>
          </p:nvSpPr>
          <p:spPr bwMode="auto">
            <a:xfrm>
              <a:off x="2554465"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grpSp>
      <p:grpSp>
        <p:nvGrpSpPr>
          <p:cNvPr id="160" name="组合 159">
            <a:extLst>
              <a:ext uri="{FF2B5EF4-FFF2-40B4-BE49-F238E27FC236}">
                <a16:creationId xmlns:a16="http://schemas.microsoft.com/office/drawing/2014/main" id="{C0266711-2FC0-F849-96B5-DD921D3D9656}"/>
              </a:ext>
            </a:extLst>
          </p:cNvPr>
          <p:cNvGrpSpPr/>
          <p:nvPr/>
        </p:nvGrpSpPr>
        <p:grpSpPr>
          <a:xfrm>
            <a:off x="3294977" y="2700898"/>
            <a:ext cx="540001" cy="3042975"/>
            <a:chOff x="3293564" y="2700898"/>
            <a:chExt cx="540001" cy="3042975"/>
          </a:xfrm>
        </p:grpSpPr>
        <p:grpSp>
          <p:nvGrpSpPr>
            <p:cNvPr id="95" name="组合 94">
              <a:extLst>
                <a:ext uri="{FF2B5EF4-FFF2-40B4-BE49-F238E27FC236}">
                  <a16:creationId xmlns:a16="http://schemas.microsoft.com/office/drawing/2014/main" id="{677490DC-2CE9-C343-920E-2D694ECD4D19}"/>
                </a:ext>
              </a:extLst>
            </p:cNvPr>
            <p:cNvGrpSpPr/>
            <p:nvPr/>
          </p:nvGrpSpPr>
          <p:grpSpPr>
            <a:xfrm>
              <a:off x="3293564" y="3525423"/>
              <a:ext cx="540000" cy="1781143"/>
              <a:chOff x="2596031" y="3525424"/>
              <a:chExt cx="540000" cy="1449124"/>
            </a:xfrm>
          </p:grpSpPr>
          <p:sp>
            <p:nvSpPr>
              <p:cNvPr id="96" name="Rectangle 26">
                <a:extLst>
                  <a:ext uri="{FF2B5EF4-FFF2-40B4-BE49-F238E27FC236}">
                    <a16:creationId xmlns:a16="http://schemas.microsoft.com/office/drawing/2014/main" id="{B313062C-2BA3-1147-91C1-6F805066272E}"/>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97" name="Rectangle 26">
                <a:extLst>
                  <a:ext uri="{FF2B5EF4-FFF2-40B4-BE49-F238E27FC236}">
                    <a16:creationId xmlns:a16="http://schemas.microsoft.com/office/drawing/2014/main" id="{0EFA8EE7-9E6B-2546-9471-DF69CD05FB7D}"/>
                  </a:ext>
                </a:extLst>
              </p:cNvPr>
              <p:cNvSpPr>
                <a:spLocks noChangeArrowheads="1"/>
              </p:cNvSpPr>
              <p:nvPr/>
            </p:nvSpPr>
            <p:spPr bwMode="auto">
              <a:xfrm>
                <a:off x="2596031" y="3889854"/>
                <a:ext cx="540000" cy="360000"/>
              </a:xfrm>
              <a:prstGeom prst="rect">
                <a:avLst/>
              </a:prstGeom>
              <a:solidFill>
                <a:srgbClr val="FFFF00"/>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98" name="Rectangle 26">
                <a:extLst>
                  <a:ext uri="{FF2B5EF4-FFF2-40B4-BE49-F238E27FC236}">
                    <a16:creationId xmlns:a16="http://schemas.microsoft.com/office/drawing/2014/main" id="{0B7AC64C-F465-4D44-87CA-66EF5D834470}"/>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99" name="Rectangle 26">
                <a:extLst>
                  <a:ext uri="{FF2B5EF4-FFF2-40B4-BE49-F238E27FC236}">
                    <a16:creationId xmlns:a16="http://schemas.microsoft.com/office/drawing/2014/main" id="{43C6D900-0030-774E-B142-CBBE0509BA13}"/>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132" name="Rectangle 11">
              <a:extLst>
                <a:ext uri="{FF2B5EF4-FFF2-40B4-BE49-F238E27FC236}">
                  <a16:creationId xmlns:a16="http://schemas.microsoft.com/office/drawing/2014/main" id="{7ABA2BC9-2CD3-084F-88F4-E32CE013C837}"/>
                </a:ext>
              </a:extLst>
            </p:cNvPr>
            <p:cNvSpPr>
              <a:spLocks noChangeArrowheads="1"/>
            </p:cNvSpPr>
            <p:nvPr/>
          </p:nvSpPr>
          <p:spPr bwMode="auto">
            <a:xfrm>
              <a:off x="3293564" y="5423198"/>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33" name="Rectangle 11">
              <a:extLst>
                <a:ext uri="{FF2B5EF4-FFF2-40B4-BE49-F238E27FC236}">
                  <a16:creationId xmlns:a16="http://schemas.microsoft.com/office/drawing/2014/main" id="{0878839A-E1CA-5041-9CEC-147CAA849620}"/>
                </a:ext>
              </a:extLst>
            </p:cNvPr>
            <p:cNvSpPr>
              <a:spLocks noChangeArrowheads="1"/>
            </p:cNvSpPr>
            <p:nvPr/>
          </p:nvSpPr>
          <p:spPr bwMode="auto">
            <a:xfrm>
              <a:off x="3293564"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11</a:t>
              </a:r>
              <a:endParaRPr lang="zh-CN" altLang="en-US" sz="1400" dirty="0">
                <a:latin typeface="+mn-lt"/>
                <a:ea typeface="SimHei" panose="02010609060101010101" pitchFamily="49" charset="-122"/>
              </a:endParaRPr>
            </a:p>
          </p:txBody>
        </p:sp>
        <p:sp>
          <p:nvSpPr>
            <p:cNvPr id="134" name="Rectangle 11">
              <a:extLst>
                <a:ext uri="{FF2B5EF4-FFF2-40B4-BE49-F238E27FC236}">
                  <a16:creationId xmlns:a16="http://schemas.microsoft.com/office/drawing/2014/main" id="{8A6E830F-9828-E94B-B9FC-38D4A70091DA}"/>
                </a:ext>
              </a:extLst>
            </p:cNvPr>
            <p:cNvSpPr>
              <a:spLocks noChangeArrowheads="1"/>
            </p:cNvSpPr>
            <p:nvPr/>
          </p:nvSpPr>
          <p:spPr bwMode="auto">
            <a:xfrm>
              <a:off x="3293564"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grpSp>
      <p:grpSp>
        <p:nvGrpSpPr>
          <p:cNvPr id="159" name="组合 158">
            <a:extLst>
              <a:ext uri="{FF2B5EF4-FFF2-40B4-BE49-F238E27FC236}">
                <a16:creationId xmlns:a16="http://schemas.microsoft.com/office/drawing/2014/main" id="{9370A740-18CB-514E-BF27-83A250228348}"/>
              </a:ext>
            </a:extLst>
          </p:cNvPr>
          <p:cNvGrpSpPr/>
          <p:nvPr/>
        </p:nvGrpSpPr>
        <p:grpSpPr>
          <a:xfrm>
            <a:off x="4035489" y="2700898"/>
            <a:ext cx="540001" cy="3045465"/>
            <a:chOff x="4034252" y="2700898"/>
            <a:chExt cx="540001" cy="3045465"/>
          </a:xfrm>
        </p:grpSpPr>
        <p:grpSp>
          <p:nvGrpSpPr>
            <p:cNvPr id="100" name="组合 99">
              <a:extLst>
                <a:ext uri="{FF2B5EF4-FFF2-40B4-BE49-F238E27FC236}">
                  <a16:creationId xmlns:a16="http://schemas.microsoft.com/office/drawing/2014/main" id="{3A81C649-F310-B949-AF45-8701DB36A4AF}"/>
                </a:ext>
              </a:extLst>
            </p:cNvPr>
            <p:cNvGrpSpPr/>
            <p:nvPr/>
          </p:nvGrpSpPr>
          <p:grpSpPr>
            <a:xfrm>
              <a:off x="4034252" y="3525423"/>
              <a:ext cx="540000" cy="1781143"/>
              <a:chOff x="2596031" y="3525424"/>
              <a:chExt cx="540000" cy="1449124"/>
            </a:xfrm>
          </p:grpSpPr>
          <p:sp>
            <p:nvSpPr>
              <p:cNvPr id="101" name="Rectangle 26">
                <a:extLst>
                  <a:ext uri="{FF2B5EF4-FFF2-40B4-BE49-F238E27FC236}">
                    <a16:creationId xmlns:a16="http://schemas.microsoft.com/office/drawing/2014/main" id="{B30F3252-6D29-AA46-B9BB-578FBCCEE46B}"/>
                  </a:ext>
                </a:extLst>
              </p:cNvPr>
              <p:cNvSpPr>
                <a:spLocks noChangeArrowheads="1"/>
              </p:cNvSpPr>
              <p:nvPr/>
            </p:nvSpPr>
            <p:spPr bwMode="auto">
              <a:xfrm>
                <a:off x="2596031" y="3525424"/>
                <a:ext cx="540000" cy="360000"/>
              </a:xfrm>
              <a:prstGeom prst="rect">
                <a:avLst/>
              </a:prstGeom>
              <a:solidFill>
                <a:srgbClr val="CCFF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102" name="Rectangle 26">
                <a:extLst>
                  <a:ext uri="{FF2B5EF4-FFF2-40B4-BE49-F238E27FC236}">
                    <a16:creationId xmlns:a16="http://schemas.microsoft.com/office/drawing/2014/main" id="{5826BB38-7215-164D-8279-63DF03485FC6}"/>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103" name="Rectangle 26">
                <a:extLst>
                  <a:ext uri="{FF2B5EF4-FFF2-40B4-BE49-F238E27FC236}">
                    <a16:creationId xmlns:a16="http://schemas.microsoft.com/office/drawing/2014/main" id="{C2384ED7-EBBD-2749-99C7-8FA270EB5873}"/>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104" name="Rectangle 26">
                <a:extLst>
                  <a:ext uri="{FF2B5EF4-FFF2-40B4-BE49-F238E27FC236}">
                    <a16:creationId xmlns:a16="http://schemas.microsoft.com/office/drawing/2014/main" id="{81105BDE-10BC-DE4B-8D55-0E6B10357A59}"/>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136" name="Rectangle 11">
              <a:extLst>
                <a:ext uri="{FF2B5EF4-FFF2-40B4-BE49-F238E27FC236}">
                  <a16:creationId xmlns:a16="http://schemas.microsoft.com/office/drawing/2014/main" id="{94DCB39C-BC12-8548-BB2D-71D1C7D8EB9D}"/>
                </a:ext>
              </a:extLst>
            </p:cNvPr>
            <p:cNvSpPr>
              <a:spLocks noChangeArrowheads="1"/>
            </p:cNvSpPr>
            <p:nvPr/>
          </p:nvSpPr>
          <p:spPr bwMode="auto">
            <a:xfrm>
              <a:off x="4034252"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latin typeface="+mn-lt"/>
                  <a:ea typeface="SimHei" panose="02010609060101010101" pitchFamily="49" charset="-122"/>
                </a:rPr>
                <a:t>命中</a:t>
              </a:r>
              <a:endParaRPr lang="zh-CN" altLang="en-US" sz="1400" dirty="0">
                <a:solidFill>
                  <a:srgbClr val="0432FF"/>
                </a:solidFill>
                <a:latin typeface="+mn-lt"/>
                <a:ea typeface="SimHei" panose="02010609060101010101" pitchFamily="49" charset="-122"/>
              </a:endParaRPr>
            </a:p>
          </p:txBody>
        </p:sp>
        <p:sp>
          <p:nvSpPr>
            <p:cNvPr id="137" name="Rectangle 11">
              <a:extLst>
                <a:ext uri="{FF2B5EF4-FFF2-40B4-BE49-F238E27FC236}">
                  <a16:creationId xmlns:a16="http://schemas.microsoft.com/office/drawing/2014/main" id="{68C580E9-1C0A-0744-A995-0A4A713B7463}"/>
                </a:ext>
              </a:extLst>
            </p:cNvPr>
            <p:cNvSpPr>
              <a:spLocks noChangeArrowheads="1"/>
            </p:cNvSpPr>
            <p:nvPr/>
          </p:nvSpPr>
          <p:spPr bwMode="auto">
            <a:xfrm>
              <a:off x="4034252"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138" name="Rectangle 11">
              <a:extLst>
                <a:ext uri="{FF2B5EF4-FFF2-40B4-BE49-F238E27FC236}">
                  <a16:creationId xmlns:a16="http://schemas.microsoft.com/office/drawing/2014/main" id="{4F6EC336-DE71-F541-8E3B-ED611335A3AE}"/>
                </a:ext>
              </a:extLst>
            </p:cNvPr>
            <p:cNvSpPr>
              <a:spLocks noChangeArrowheads="1"/>
            </p:cNvSpPr>
            <p:nvPr/>
          </p:nvSpPr>
          <p:spPr bwMode="auto">
            <a:xfrm>
              <a:off x="4034252"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grpSp>
      <p:grpSp>
        <p:nvGrpSpPr>
          <p:cNvPr id="158" name="组合 157">
            <a:extLst>
              <a:ext uri="{FF2B5EF4-FFF2-40B4-BE49-F238E27FC236}">
                <a16:creationId xmlns:a16="http://schemas.microsoft.com/office/drawing/2014/main" id="{DC867E34-03CB-564C-B7C5-8028B33ABAB3}"/>
              </a:ext>
            </a:extLst>
          </p:cNvPr>
          <p:cNvGrpSpPr/>
          <p:nvPr/>
        </p:nvGrpSpPr>
        <p:grpSpPr>
          <a:xfrm>
            <a:off x="4776001" y="2700898"/>
            <a:ext cx="540001" cy="3045465"/>
            <a:chOff x="4773978" y="2700898"/>
            <a:chExt cx="540001" cy="3045465"/>
          </a:xfrm>
        </p:grpSpPr>
        <p:grpSp>
          <p:nvGrpSpPr>
            <p:cNvPr id="105" name="组合 104">
              <a:extLst>
                <a:ext uri="{FF2B5EF4-FFF2-40B4-BE49-F238E27FC236}">
                  <a16:creationId xmlns:a16="http://schemas.microsoft.com/office/drawing/2014/main" id="{1B929A26-EC0D-AB42-A59B-02597B3A0BA7}"/>
                </a:ext>
              </a:extLst>
            </p:cNvPr>
            <p:cNvGrpSpPr/>
            <p:nvPr/>
          </p:nvGrpSpPr>
          <p:grpSpPr>
            <a:xfrm>
              <a:off x="4773978" y="3525423"/>
              <a:ext cx="540000" cy="1781143"/>
              <a:chOff x="2596031" y="3525424"/>
              <a:chExt cx="540000" cy="1449124"/>
            </a:xfrm>
          </p:grpSpPr>
          <p:sp>
            <p:nvSpPr>
              <p:cNvPr id="106" name="Rectangle 26">
                <a:extLst>
                  <a:ext uri="{FF2B5EF4-FFF2-40B4-BE49-F238E27FC236}">
                    <a16:creationId xmlns:a16="http://schemas.microsoft.com/office/drawing/2014/main" id="{F0EB50FE-5C47-444F-827A-26B13E073728}"/>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107" name="Rectangle 26">
                <a:extLst>
                  <a:ext uri="{FF2B5EF4-FFF2-40B4-BE49-F238E27FC236}">
                    <a16:creationId xmlns:a16="http://schemas.microsoft.com/office/drawing/2014/main" id="{51337717-59A6-BC4A-AB23-90A6FF1BF9A6}"/>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108" name="Rectangle 26">
                <a:extLst>
                  <a:ext uri="{FF2B5EF4-FFF2-40B4-BE49-F238E27FC236}">
                    <a16:creationId xmlns:a16="http://schemas.microsoft.com/office/drawing/2014/main" id="{4D3566CB-6F8E-7844-8503-6296CD30E820}"/>
                  </a:ext>
                </a:extLst>
              </p:cNvPr>
              <p:cNvSpPr>
                <a:spLocks noChangeArrowheads="1"/>
              </p:cNvSpPr>
              <p:nvPr/>
            </p:nvSpPr>
            <p:spPr bwMode="auto">
              <a:xfrm>
                <a:off x="2596031" y="4251765"/>
                <a:ext cx="540000" cy="360000"/>
              </a:xfrm>
              <a:prstGeom prst="rect">
                <a:avLst/>
              </a:prstGeom>
              <a:solidFill>
                <a:srgbClr val="FFFF00"/>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109" name="Rectangle 26">
                <a:extLst>
                  <a:ext uri="{FF2B5EF4-FFF2-40B4-BE49-F238E27FC236}">
                    <a16:creationId xmlns:a16="http://schemas.microsoft.com/office/drawing/2014/main" id="{E4FFD3B7-F313-DE46-B851-0B4B08022DFE}"/>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139" name="Rectangle 11">
              <a:extLst>
                <a:ext uri="{FF2B5EF4-FFF2-40B4-BE49-F238E27FC236}">
                  <a16:creationId xmlns:a16="http://schemas.microsoft.com/office/drawing/2014/main" id="{D74895E8-14D2-AE4D-97E1-B24683D9DBB6}"/>
                </a:ext>
              </a:extLst>
            </p:cNvPr>
            <p:cNvSpPr>
              <a:spLocks noChangeArrowheads="1"/>
            </p:cNvSpPr>
            <p:nvPr/>
          </p:nvSpPr>
          <p:spPr bwMode="auto">
            <a:xfrm>
              <a:off x="4773978"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40" name="Rectangle 11">
              <a:extLst>
                <a:ext uri="{FF2B5EF4-FFF2-40B4-BE49-F238E27FC236}">
                  <a16:creationId xmlns:a16="http://schemas.microsoft.com/office/drawing/2014/main" id="{DAC30E14-B821-F44A-A06A-BB508816E59D}"/>
                </a:ext>
              </a:extLst>
            </p:cNvPr>
            <p:cNvSpPr>
              <a:spLocks noChangeArrowheads="1"/>
            </p:cNvSpPr>
            <p:nvPr/>
          </p:nvSpPr>
          <p:spPr bwMode="auto">
            <a:xfrm>
              <a:off x="4773978"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9</a:t>
              </a:r>
              <a:endParaRPr lang="zh-CN" altLang="en-US" sz="1400" dirty="0">
                <a:latin typeface="+mn-lt"/>
                <a:ea typeface="SimHei" panose="02010609060101010101" pitchFamily="49" charset="-122"/>
              </a:endParaRPr>
            </a:p>
          </p:txBody>
        </p:sp>
        <p:sp>
          <p:nvSpPr>
            <p:cNvPr id="141" name="Rectangle 11">
              <a:extLst>
                <a:ext uri="{FF2B5EF4-FFF2-40B4-BE49-F238E27FC236}">
                  <a16:creationId xmlns:a16="http://schemas.microsoft.com/office/drawing/2014/main" id="{4C55EFAD-4A58-2344-84B6-4965C4714034}"/>
                </a:ext>
              </a:extLst>
            </p:cNvPr>
            <p:cNvSpPr>
              <a:spLocks noChangeArrowheads="1"/>
            </p:cNvSpPr>
            <p:nvPr/>
          </p:nvSpPr>
          <p:spPr bwMode="auto">
            <a:xfrm>
              <a:off x="4773978"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grpSp>
      <p:grpSp>
        <p:nvGrpSpPr>
          <p:cNvPr id="157" name="组合 156">
            <a:extLst>
              <a:ext uri="{FF2B5EF4-FFF2-40B4-BE49-F238E27FC236}">
                <a16:creationId xmlns:a16="http://schemas.microsoft.com/office/drawing/2014/main" id="{856D5DDA-B52C-074E-AD2E-C88685F2781B}"/>
              </a:ext>
            </a:extLst>
          </p:cNvPr>
          <p:cNvGrpSpPr/>
          <p:nvPr/>
        </p:nvGrpSpPr>
        <p:grpSpPr>
          <a:xfrm>
            <a:off x="5516513" y="2700898"/>
            <a:ext cx="540001" cy="3045465"/>
            <a:chOff x="5518537" y="2700898"/>
            <a:chExt cx="540001" cy="3045465"/>
          </a:xfrm>
        </p:grpSpPr>
        <p:grpSp>
          <p:nvGrpSpPr>
            <p:cNvPr id="110" name="组合 109">
              <a:extLst>
                <a:ext uri="{FF2B5EF4-FFF2-40B4-BE49-F238E27FC236}">
                  <a16:creationId xmlns:a16="http://schemas.microsoft.com/office/drawing/2014/main" id="{B0BACF8F-F161-6A4A-BBF7-223F55FCF5EB}"/>
                </a:ext>
              </a:extLst>
            </p:cNvPr>
            <p:cNvGrpSpPr/>
            <p:nvPr/>
          </p:nvGrpSpPr>
          <p:grpSpPr>
            <a:xfrm>
              <a:off x="5518537" y="3525423"/>
              <a:ext cx="540000" cy="1781143"/>
              <a:chOff x="2596031" y="3525424"/>
              <a:chExt cx="540000" cy="1449124"/>
            </a:xfrm>
          </p:grpSpPr>
          <p:sp>
            <p:nvSpPr>
              <p:cNvPr id="111" name="Rectangle 26">
                <a:extLst>
                  <a:ext uri="{FF2B5EF4-FFF2-40B4-BE49-F238E27FC236}">
                    <a16:creationId xmlns:a16="http://schemas.microsoft.com/office/drawing/2014/main" id="{E049D38F-5801-3B4C-A26F-8379F0F6D9F8}"/>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112" name="Rectangle 26">
                <a:extLst>
                  <a:ext uri="{FF2B5EF4-FFF2-40B4-BE49-F238E27FC236}">
                    <a16:creationId xmlns:a16="http://schemas.microsoft.com/office/drawing/2014/main" id="{DA5D294D-BBA3-CC4E-9AC5-0406EDA415E9}"/>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113" name="Rectangle 26">
                <a:extLst>
                  <a:ext uri="{FF2B5EF4-FFF2-40B4-BE49-F238E27FC236}">
                    <a16:creationId xmlns:a16="http://schemas.microsoft.com/office/drawing/2014/main" id="{0FC55284-E896-1940-A7B4-E401FB33BDF1}"/>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114" name="Rectangle 26">
                <a:extLst>
                  <a:ext uri="{FF2B5EF4-FFF2-40B4-BE49-F238E27FC236}">
                    <a16:creationId xmlns:a16="http://schemas.microsoft.com/office/drawing/2014/main" id="{2DDB2EF5-C444-A245-A19C-D89E1D828FA7}"/>
                  </a:ext>
                </a:extLst>
              </p:cNvPr>
              <p:cNvSpPr>
                <a:spLocks noChangeArrowheads="1"/>
              </p:cNvSpPr>
              <p:nvPr/>
            </p:nvSpPr>
            <p:spPr bwMode="auto">
              <a:xfrm>
                <a:off x="2596031" y="4614548"/>
                <a:ext cx="540000" cy="360000"/>
              </a:xfrm>
              <a:prstGeom prst="rect">
                <a:avLst/>
              </a:prstGeom>
              <a:solidFill>
                <a:srgbClr val="FFFF00"/>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142" name="Rectangle 11">
              <a:extLst>
                <a:ext uri="{FF2B5EF4-FFF2-40B4-BE49-F238E27FC236}">
                  <a16:creationId xmlns:a16="http://schemas.microsoft.com/office/drawing/2014/main" id="{0370FAAB-C597-7442-A125-72F30C015BD3}"/>
                </a:ext>
              </a:extLst>
            </p:cNvPr>
            <p:cNvSpPr>
              <a:spLocks noChangeArrowheads="1"/>
            </p:cNvSpPr>
            <p:nvPr/>
          </p:nvSpPr>
          <p:spPr bwMode="auto">
            <a:xfrm>
              <a:off x="5518537"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43" name="Rectangle 11">
              <a:extLst>
                <a:ext uri="{FF2B5EF4-FFF2-40B4-BE49-F238E27FC236}">
                  <a16:creationId xmlns:a16="http://schemas.microsoft.com/office/drawing/2014/main" id="{F8236FB2-64FB-CF4C-8760-ED735BF8961B}"/>
                </a:ext>
              </a:extLst>
            </p:cNvPr>
            <p:cNvSpPr>
              <a:spLocks noChangeArrowheads="1"/>
            </p:cNvSpPr>
            <p:nvPr/>
          </p:nvSpPr>
          <p:spPr bwMode="auto">
            <a:xfrm>
              <a:off x="5518537"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7</a:t>
              </a:r>
              <a:endParaRPr lang="zh-CN" altLang="en-US" sz="1400" dirty="0">
                <a:latin typeface="+mn-lt"/>
                <a:ea typeface="SimHei" panose="02010609060101010101" pitchFamily="49" charset="-122"/>
              </a:endParaRPr>
            </a:p>
          </p:txBody>
        </p:sp>
        <p:sp>
          <p:nvSpPr>
            <p:cNvPr id="144" name="Rectangle 11">
              <a:extLst>
                <a:ext uri="{FF2B5EF4-FFF2-40B4-BE49-F238E27FC236}">
                  <a16:creationId xmlns:a16="http://schemas.microsoft.com/office/drawing/2014/main" id="{D4EBEE75-259E-5042-A26F-E31079E71E44}"/>
                </a:ext>
              </a:extLst>
            </p:cNvPr>
            <p:cNvSpPr>
              <a:spLocks noChangeArrowheads="1"/>
            </p:cNvSpPr>
            <p:nvPr/>
          </p:nvSpPr>
          <p:spPr bwMode="auto">
            <a:xfrm>
              <a:off x="5518537"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5</a:t>
              </a:r>
              <a:endParaRPr lang="zh-CN" altLang="en-US" sz="1400" dirty="0">
                <a:latin typeface="+mn-lt"/>
                <a:ea typeface="SimHei" panose="02010609060101010101" pitchFamily="49" charset="-122"/>
              </a:endParaRPr>
            </a:p>
          </p:txBody>
        </p:sp>
      </p:grpSp>
      <p:grpSp>
        <p:nvGrpSpPr>
          <p:cNvPr id="156" name="组合 155">
            <a:extLst>
              <a:ext uri="{FF2B5EF4-FFF2-40B4-BE49-F238E27FC236}">
                <a16:creationId xmlns:a16="http://schemas.microsoft.com/office/drawing/2014/main" id="{C911C926-ECCB-4A4C-BF15-E155B09C7AA5}"/>
              </a:ext>
            </a:extLst>
          </p:cNvPr>
          <p:cNvGrpSpPr/>
          <p:nvPr/>
        </p:nvGrpSpPr>
        <p:grpSpPr>
          <a:xfrm>
            <a:off x="6257025" y="2700898"/>
            <a:ext cx="540001" cy="3045465"/>
            <a:chOff x="6259554" y="2700898"/>
            <a:chExt cx="540001" cy="3045465"/>
          </a:xfrm>
        </p:grpSpPr>
        <p:grpSp>
          <p:nvGrpSpPr>
            <p:cNvPr id="115" name="组合 114">
              <a:extLst>
                <a:ext uri="{FF2B5EF4-FFF2-40B4-BE49-F238E27FC236}">
                  <a16:creationId xmlns:a16="http://schemas.microsoft.com/office/drawing/2014/main" id="{FE30AD0A-E15C-B447-A2E1-148C48A70C35}"/>
                </a:ext>
              </a:extLst>
            </p:cNvPr>
            <p:cNvGrpSpPr/>
            <p:nvPr/>
          </p:nvGrpSpPr>
          <p:grpSpPr>
            <a:xfrm>
              <a:off x="6259554" y="3525423"/>
              <a:ext cx="540000" cy="1781143"/>
              <a:chOff x="2596031" y="3525424"/>
              <a:chExt cx="540000" cy="1449124"/>
            </a:xfrm>
          </p:grpSpPr>
          <p:sp>
            <p:nvSpPr>
              <p:cNvPr id="116" name="Rectangle 26">
                <a:extLst>
                  <a:ext uri="{FF2B5EF4-FFF2-40B4-BE49-F238E27FC236}">
                    <a16:creationId xmlns:a16="http://schemas.microsoft.com/office/drawing/2014/main" id="{BDFA81ED-6B99-7E48-BA4F-0FDBE46F4A36}"/>
                  </a:ext>
                </a:extLst>
              </p:cNvPr>
              <p:cNvSpPr>
                <a:spLocks noChangeArrowheads="1"/>
              </p:cNvSpPr>
              <p:nvPr/>
            </p:nvSpPr>
            <p:spPr bwMode="auto">
              <a:xfrm>
                <a:off x="2596031" y="3525424"/>
                <a:ext cx="540000" cy="360000"/>
              </a:xfrm>
              <a:prstGeom prst="rect">
                <a:avLst/>
              </a:prstGeom>
              <a:solidFill>
                <a:srgbClr val="FF99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6</a:t>
                </a:r>
                <a:endParaRPr lang="zh-CN" altLang="en-US" dirty="0">
                  <a:ea typeface="SimHei" panose="02010609060101010101" pitchFamily="49" charset="-122"/>
                </a:endParaRPr>
              </a:p>
            </p:txBody>
          </p:sp>
          <p:sp>
            <p:nvSpPr>
              <p:cNvPr id="117" name="Rectangle 26">
                <a:extLst>
                  <a:ext uri="{FF2B5EF4-FFF2-40B4-BE49-F238E27FC236}">
                    <a16:creationId xmlns:a16="http://schemas.microsoft.com/office/drawing/2014/main" id="{53F146B7-C2E9-F74F-866E-EF257B524FD9}"/>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118" name="Rectangle 26">
                <a:extLst>
                  <a:ext uri="{FF2B5EF4-FFF2-40B4-BE49-F238E27FC236}">
                    <a16:creationId xmlns:a16="http://schemas.microsoft.com/office/drawing/2014/main" id="{D643043F-BA0A-814A-9A23-2ACC4A506D45}"/>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119" name="Rectangle 26">
                <a:extLst>
                  <a:ext uri="{FF2B5EF4-FFF2-40B4-BE49-F238E27FC236}">
                    <a16:creationId xmlns:a16="http://schemas.microsoft.com/office/drawing/2014/main" id="{FAEC2497-B416-CD4D-869F-BE25338E7D58}"/>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145" name="Rectangle 11">
              <a:extLst>
                <a:ext uri="{FF2B5EF4-FFF2-40B4-BE49-F238E27FC236}">
                  <a16:creationId xmlns:a16="http://schemas.microsoft.com/office/drawing/2014/main" id="{E61A91DD-1581-2041-8691-15F57FECA8B1}"/>
                </a:ext>
              </a:extLst>
            </p:cNvPr>
            <p:cNvSpPr>
              <a:spLocks noChangeArrowheads="1"/>
            </p:cNvSpPr>
            <p:nvPr/>
          </p:nvSpPr>
          <p:spPr bwMode="auto">
            <a:xfrm>
              <a:off x="6259554"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替换</a:t>
              </a:r>
              <a:endParaRPr lang="zh-CN" altLang="en-US" sz="1400" dirty="0">
                <a:latin typeface="+mn-lt"/>
                <a:ea typeface="SimHei" panose="02010609060101010101" pitchFamily="49" charset="-122"/>
              </a:endParaRPr>
            </a:p>
          </p:txBody>
        </p:sp>
        <p:sp>
          <p:nvSpPr>
            <p:cNvPr id="146" name="Rectangle 11">
              <a:extLst>
                <a:ext uri="{FF2B5EF4-FFF2-40B4-BE49-F238E27FC236}">
                  <a16:creationId xmlns:a16="http://schemas.microsoft.com/office/drawing/2014/main" id="{D91E25F4-6011-904C-84F8-A5C2789609A4}"/>
                </a:ext>
              </a:extLst>
            </p:cNvPr>
            <p:cNvSpPr>
              <a:spLocks noChangeArrowheads="1"/>
            </p:cNvSpPr>
            <p:nvPr/>
          </p:nvSpPr>
          <p:spPr bwMode="auto">
            <a:xfrm>
              <a:off x="6259554"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6</a:t>
              </a:r>
              <a:endParaRPr lang="zh-CN" altLang="en-US" sz="1400" dirty="0">
                <a:latin typeface="+mn-lt"/>
                <a:ea typeface="SimHei" panose="02010609060101010101" pitchFamily="49" charset="-122"/>
              </a:endParaRPr>
            </a:p>
          </p:txBody>
        </p:sp>
        <p:sp>
          <p:nvSpPr>
            <p:cNvPr id="147" name="Rectangle 11">
              <a:extLst>
                <a:ext uri="{FF2B5EF4-FFF2-40B4-BE49-F238E27FC236}">
                  <a16:creationId xmlns:a16="http://schemas.microsoft.com/office/drawing/2014/main" id="{E4D66EC7-7CB0-EA4D-BDA5-E5682BAF89B6}"/>
                </a:ext>
              </a:extLst>
            </p:cNvPr>
            <p:cNvSpPr>
              <a:spLocks noChangeArrowheads="1"/>
            </p:cNvSpPr>
            <p:nvPr/>
          </p:nvSpPr>
          <p:spPr bwMode="auto">
            <a:xfrm>
              <a:off x="6259554"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6</a:t>
              </a:r>
              <a:endParaRPr lang="zh-CN" altLang="en-US" sz="1400" dirty="0">
                <a:latin typeface="+mn-lt"/>
                <a:ea typeface="SimHei" panose="02010609060101010101" pitchFamily="49" charset="-122"/>
              </a:endParaRPr>
            </a:p>
          </p:txBody>
        </p:sp>
      </p:grpSp>
      <p:grpSp>
        <p:nvGrpSpPr>
          <p:cNvPr id="155" name="组合 154">
            <a:extLst>
              <a:ext uri="{FF2B5EF4-FFF2-40B4-BE49-F238E27FC236}">
                <a16:creationId xmlns:a16="http://schemas.microsoft.com/office/drawing/2014/main" id="{DCDD8640-85F4-C445-922D-1F34214F5F1E}"/>
              </a:ext>
            </a:extLst>
          </p:cNvPr>
          <p:cNvGrpSpPr/>
          <p:nvPr/>
        </p:nvGrpSpPr>
        <p:grpSpPr>
          <a:xfrm>
            <a:off x="6997537" y="2700898"/>
            <a:ext cx="540001" cy="3045465"/>
            <a:chOff x="6999440" y="2700898"/>
            <a:chExt cx="540001" cy="3045465"/>
          </a:xfrm>
        </p:grpSpPr>
        <p:grpSp>
          <p:nvGrpSpPr>
            <p:cNvPr id="120" name="组合 119">
              <a:extLst>
                <a:ext uri="{FF2B5EF4-FFF2-40B4-BE49-F238E27FC236}">
                  <a16:creationId xmlns:a16="http://schemas.microsoft.com/office/drawing/2014/main" id="{3BDDCF26-79B5-5849-9E17-321F9286DF29}"/>
                </a:ext>
              </a:extLst>
            </p:cNvPr>
            <p:cNvGrpSpPr/>
            <p:nvPr/>
          </p:nvGrpSpPr>
          <p:grpSpPr>
            <a:xfrm>
              <a:off x="6999440" y="3525423"/>
              <a:ext cx="540000" cy="1781143"/>
              <a:chOff x="2596031" y="3525424"/>
              <a:chExt cx="540000" cy="1449124"/>
            </a:xfrm>
          </p:grpSpPr>
          <p:sp>
            <p:nvSpPr>
              <p:cNvPr id="121" name="Rectangle 26">
                <a:extLst>
                  <a:ext uri="{FF2B5EF4-FFF2-40B4-BE49-F238E27FC236}">
                    <a16:creationId xmlns:a16="http://schemas.microsoft.com/office/drawing/2014/main" id="{37BB995D-7355-6E4F-B24F-7A00EFD9CBDB}"/>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6</a:t>
                </a:r>
                <a:endParaRPr lang="zh-CN" altLang="en-US" dirty="0">
                  <a:ea typeface="SimHei" panose="02010609060101010101" pitchFamily="49" charset="-122"/>
                </a:endParaRPr>
              </a:p>
            </p:txBody>
          </p:sp>
          <p:sp>
            <p:nvSpPr>
              <p:cNvPr id="122" name="Rectangle 26">
                <a:extLst>
                  <a:ext uri="{FF2B5EF4-FFF2-40B4-BE49-F238E27FC236}">
                    <a16:creationId xmlns:a16="http://schemas.microsoft.com/office/drawing/2014/main" id="{9A8739F8-5979-614D-A75E-54D83DA84B8A}"/>
                  </a:ext>
                </a:extLst>
              </p:cNvPr>
              <p:cNvSpPr>
                <a:spLocks noChangeArrowheads="1"/>
              </p:cNvSpPr>
              <p:nvPr/>
            </p:nvSpPr>
            <p:spPr bwMode="auto">
              <a:xfrm>
                <a:off x="2596031" y="3889854"/>
                <a:ext cx="540000" cy="360000"/>
              </a:xfrm>
              <a:prstGeom prst="rect">
                <a:avLst/>
              </a:prstGeom>
              <a:solidFill>
                <a:srgbClr val="FF99CC"/>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123" name="Rectangle 26">
                <a:extLst>
                  <a:ext uri="{FF2B5EF4-FFF2-40B4-BE49-F238E27FC236}">
                    <a16:creationId xmlns:a16="http://schemas.microsoft.com/office/drawing/2014/main" id="{945233D3-0ECD-E340-B950-E6E130AB8A6A}"/>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124" name="Rectangle 26">
                <a:extLst>
                  <a:ext uri="{FF2B5EF4-FFF2-40B4-BE49-F238E27FC236}">
                    <a16:creationId xmlns:a16="http://schemas.microsoft.com/office/drawing/2014/main" id="{65150E08-1060-9C42-94AE-8FE79BA0FF83}"/>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148" name="Rectangle 11">
              <a:extLst>
                <a:ext uri="{FF2B5EF4-FFF2-40B4-BE49-F238E27FC236}">
                  <a16:creationId xmlns:a16="http://schemas.microsoft.com/office/drawing/2014/main" id="{07DBD808-A22B-6E4F-8C52-161332087FFF}"/>
                </a:ext>
              </a:extLst>
            </p:cNvPr>
            <p:cNvSpPr>
              <a:spLocks noChangeArrowheads="1"/>
            </p:cNvSpPr>
            <p:nvPr/>
          </p:nvSpPr>
          <p:spPr bwMode="auto">
            <a:xfrm>
              <a:off x="6999440"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替换</a:t>
              </a:r>
              <a:endParaRPr lang="zh-CN" altLang="en-US" sz="1400" dirty="0">
                <a:ea typeface="SimHei" panose="02010609060101010101" pitchFamily="49" charset="-122"/>
              </a:endParaRPr>
            </a:p>
          </p:txBody>
        </p:sp>
        <p:sp>
          <p:nvSpPr>
            <p:cNvPr id="149" name="Rectangle 11">
              <a:extLst>
                <a:ext uri="{FF2B5EF4-FFF2-40B4-BE49-F238E27FC236}">
                  <a16:creationId xmlns:a16="http://schemas.microsoft.com/office/drawing/2014/main" id="{2F74BA7F-9B85-694F-9ACD-45A1EE6DEA4A}"/>
                </a:ext>
              </a:extLst>
            </p:cNvPr>
            <p:cNvSpPr>
              <a:spLocks noChangeArrowheads="1"/>
            </p:cNvSpPr>
            <p:nvPr/>
          </p:nvSpPr>
          <p:spPr bwMode="auto">
            <a:xfrm>
              <a:off x="6999440"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150" name="Rectangle 11">
              <a:extLst>
                <a:ext uri="{FF2B5EF4-FFF2-40B4-BE49-F238E27FC236}">
                  <a16:creationId xmlns:a16="http://schemas.microsoft.com/office/drawing/2014/main" id="{931FC1CD-96CE-7F42-98BC-FE297868D96A}"/>
                </a:ext>
              </a:extLst>
            </p:cNvPr>
            <p:cNvSpPr>
              <a:spLocks noChangeArrowheads="1"/>
            </p:cNvSpPr>
            <p:nvPr/>
          </p:nvSpPr>
          <p:spPr bwMode="auto">
            <a:xfrm>
              <a:off x="6999440"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7</a:t>
              </a:r>
              <a:endParaRPr lang="zh-CN" altLang="en-US" sz="1400" dirty="0">
                <a:latin typeface="+mn-lt"/>
                <a:ea typeface="SimHei" panose="02010609060101010101" pitchFamily="49" charset="-122"/>
              </a:endParaRPr>
            </a:p>
          </p:txBody>
        </p:sp>
      </p:grpSp>
      <p:grpSp>
        <p:nvGrpSpPr>
          <p:cNvPr id="154" name="组合 153">
            <a:extLst>
              <a:ext uri="{FF2B5EF4-FFF2-40B4-BE49-F238E27FC236}">
                <a16:creationId xmlns:a16="http://schemas.microsoft.com/office/drawing/2014/main" id="{C293CF75-AA19-8E42-AEDA-A1E735812D3A}"/>
              </a:ext>
            </a:extLst>
          </p:cNvPr>
          <p:cNvGrpSpPr/>
          <p:nvPr/>
        </p:nvGrpSpPr>
        <p:grpSpPr>
          <a:xfrm>
            <a:off x="7738047" y="2700898"/>
            <a:ext cx="540001" cy="3045465"/>
            <a:chOff x="7738047" y="2700898"/>
            <a:chExt cx="540001" cy="3045465"/>
          </a:xfrm>
        </p:grpSpPr>
        <p:grpSp>
          <p:nvGrpSpPr>
            <p:cNvPr id="125" name="组合 124">
              <a:extLst>
                <a:ext uri="{FF2B5EF4-FFF2-40B4-BE49-F238E27FC236}">
                  <a16:creationId xmlns:a16="http://schemas.microsoft.com/office/drawing/2014/main" id="{CAFB4B31-6D7A-E140-9276-34F52E2BE7E4}"/>
                </a:ext>
              </a:extLst>
            </p:cNvPr>
            <p:cNvGrpSpPr/>
            <p:nvPr/>
          </p:nvGrpSpPr>
          <p:grpSpPr>
            <a:xfrm>
              <a:off x="7738047" y="3525423"/>
              <a:ext cx="540000" cy="1781143"/>
              <a:chOff x="2596031" y="3525424"/>
              <a:chExt cx="540000" cy="1449124"/>
            </a:xfrm>
          </p:grpSpPr>
          <p:sp>
            <p:nvSpPr>
              <p:cNvPr id="126" name="Rectangle 26">
                <a:extLst>
                  <a:ext uri="{FF2B5EF4-FFF2-40B4-BE49-F238E27FC236}">
                    <a16:creationId xmlns:a16="http://schemas.microsoft.com/office/drawing/2014/main" id="{19DDA087-DBF1-2243-AD43-3CEF49BB66FE}"/>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6</a:t>
                </a:r>
                <a:endParaRPr lang="zh-CN" altLang="en-US" dirty="0">
                  <a:ea typeface="SimHei" panose="02010609060101010101" pitchFamily="49" charset="-122"/>
                </a:endParaRPr>
              </a:p>
            </p:txBody>
          </p:sp>
          <p:sp>
            <p:nvSpPr>
              <p:cNvPr id="127" name="Rectangle 26">
                <a:extLst>
                  <a:ext uri="{FF2B5EF4-FFF2-40B4-BE49-F238E27FC236}">
                    <a16:creationId xmlns:a16="http://schemas.microsoft.com/office/drawing/2014/main" id="{490E13AE-8EBA-9147-BFE9-A68FE23E852A}"/>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128" name="Rectangle 26">
                <a:extLst>
                  <a:ext uri="{FF2B5EF4-FFF2-40B4-BE49-F238E27FC236}">
                    <a16:creationId xmlns:a16="http://schemas.microsoft.com/office/drawing/2014/main" id="{16BEE4EF-2D44-9346-B8FF-4830ED96D3D4}"/>
                  </a:ext>
                </a:extLst>
              </p:cNvPr>
              <p:cNvSpPr>
                <a:spLocks noChangeArrowheads="1"/>
              </p:cNvSpPr>
              <p:nvPr/>
            </p:nvSpPr>
            <p:spPr bwMode="auto">
              <a:xfrm>
                <a:off x="2596031" y="4251765"/>
                <a:ext cx="540000" cy="360000"/>
              </a:xfrm>
              <a:prstGeom prst="rect">
                <a:avLst/>
              </a:prstGeom>
              <a:solidFill>
                <a:srgbClr val="FF99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3</a:t>
                </a:r>
                <a:endParaRPr lang="zh-CN" altLang="en-US" dirty="0">
                  <a:ea typeface="SimHei" panose="02010609060101010101" pitchFamily="49" charset="-122"/>
                </a:endParaRPr>
              </a:p>
            </p:txBody>
          </p:sp>
          <p:sp>
            <p:nvSpPr>
              <p:cNvPr id="129" name="Rectangle 26">
                <a:extLst>
                  <a:ext uri="{FF2B5EF4-FFF2-40B4-BE49-F238E27FC236}">
                    <a16:creationId xmlns:a16="http://schemas.microsoft.com/office/drawing/2014/main" id="{8DFE19E9-8760-7A48-BC12-71BDBC49A634}"/>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151" name="Rectangle 11">
              <a:extLst>
                <a:ext uri="{FF2B5EF4-FFF2-40B4-BE49-F238E27FC236}">
                  <a16:creationId xmlns:a16="http://schemas.microsoft.com/office/drawing/2014/main" id="{BF158925-B339-9940-821F-42967502B3CB}"/>
                </a:ext>
              </a:extLst>
            </p:cNvPr>
            <p:cNvSpPr>
              <a:spLocks noChangeArrowheads="1"/>
            </p:cNvSpPr>
            <p:nvPr/>
          </p:nvSpPr>
          <p:spPr bwMode="auto">
            <a:xfrm>
              <a:off x="7738047"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替换</a:t>
              </a:r>
              <a:endParaRPr lang="zh-CN" altLang="en-US" sz="1400" dirty="0">
                <a:ea typeface="SimHei" panose="02010609060101010101" pitchFamily="49" charset="-122"/>
              </a:endParaRPr>
            </a:p>
          </p:txBody>
        </p:sp>
        <p:sp>
          <p:nvSpPr>
            <p:cNvPr id="152" name="Rectangle 11">
              <a:extLst>
                <a:ext uri="{FF2B5EF4-FFF2-40B4-BE49-F238E27FC236}">
                  <a16:creationId xmlns:a16="http://schemas.microsoft.com/office/drawing/2014/main" id="{D6BC4076-E2AE-C545-AF23-144CD5EC5859}"/>
                </a:ext>
              </a:extLst>
            </p:cNvPr>
            <p:cNvSpPr>
              <a:spLocks noChangeArrowheads="1"/>
            </p:cNvSpPr>
            <p:nvPr/>
          </p:nvSpPr>
          <p:spPr bwMode="auto">
            <a:xfrm>
              <a:off x="7738047"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sp>
          <p:nvSpPr>
            <p:cNvPr id="153" name="Rectangle 11">
              <a:extLst>
                <a:ext uri="{FF2B5EF4-FFF2-40B4-BE49-F238E27FC236}">
                  <a16:creationId xmlns:a16="http://schemas.microsoft.com/office/drawing/2014/main" id="{8D5D7D58-1B0A-CF47-AFEE-E88325EDB992}"/>
                </a:ext>
              </a:extLst>
            </p:cNvPr>
            <p:cNvSpPr>
              <a:spLocks noChangeArrowheads="1"/>
            </p:cNvSpPr>
            <p:nvPr/>
          </p:nvSpPr>
          <p:spPr bwMode="auto">
            <a:xfrm>
              <a:off x="7738047"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8</a:t>
              </a:r>
              <a:endParaRPr lang="zh-CN" altLang="en-US" sz="1400" dirty="0">
                <a:latin typeface="+mn-lt"/>
                <a:ea typeface="SimHei" panose="02010609060101010101" pitchFamily="49" charset="-122"/>
              </a:endParaRPr>
            </a:p>
          </p:txBody>
        </p:sp>
      </p:grpSp>
      <p:sp>
        <p:nvSpPr>
          <p:cNvPr id="83" name="Rectangle 8">
            <a:extLst>
              <a:ext uri="{FF2B5EF4-FFF2-40B4-BE49-F238E27FC236}">
                <a16:creationId xmlns:a16="http://schemas.microsoft.com/office/drawing/2014/main" id="{5F64747F-058B-464A-81CE-4A2BB84C2759}"/>
              </a:ext>
            </a:extLst>
          </p:cNvPr>
          <p:cNvSpPr>
            <a:spLocks noChangeArrowheads="1"/>
          </p:cNvSpPr>
          <p:nvPr/>
        </p:nvSpPr>
        <p:spPr bwMode="auto">
          <a:xfrm>
            <a:off x="1059331" y="5920906"/>
            <a:ext cx="7304083"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defTabSz="1009650">
              <a:buFont typeface="Arial" panose="020B0604020202020204" pitchFamily="34" charset="0"/>
              <a:buChar char="•"/>
            </a:pPr>
            <a:r>
              <a:rPr lang="zh-CN" altLang="en-US" sz="2100" dirty="0">
                <a:latin typeface="SimHei" panose="02010609060101010101" pitchFamily="49" charset="-122"/>
                <a:ea typeface="SimHei" panose="02010609060101010101" pitchFamily="49" charset="-122"/>
              </a:rPr>
              <a:t>按照空间顺序进行</a:t>
            </a:r>
            <a:r>
              <a:rPr lang="en-US" altLang="zh-CN" sz="2100" dirty="0">
                <a:latin typeface="SimHei" panose="02010609060101010101" pitchFamily="49" charset="-122"/>
                <a:ea typeface="SimHei" panose="02010609060101010101" pitchFamily="49" charset="-122"/>
              </a:rPr>
              <a:t>cache</a:t>
            </a:r>
            <a:r>
              <a:rPr lang="zh-CN" altLang="en-US" sz="2100" dirty="0">
                <a:latin typeface="SimHei" panose="02010609060101010101" pitchFamily="49" charset="-122"/>
                <a:ea typeface="SimHei" panose="02010609060101010101" pitchFamily="49" charset="-122"/>
              </a:rPr>
              <a:t>行的替换，仅考虑了</a:t>
            </a:r>
            <a:r>
              <a:rPr lang="zh-CN" altLang="en-US" sz="2100" dirty="0">
                <a:solidFill>
                  <a:srgbClr val="0432FF"/>
                </a:solidFill>
                <a:latin typeface="SimHei" panose="02010609060101010101" pitchFamily="49" charset="-122"/>
                <a:ea typeface="SimHei" panose="02010609060101010101" pitchFamily="49" charset="-122"/>
              </a:rPr>
              <a:t>空间局部性</a:t>
            </a:r>
            <a:endParaRPr lang="zh-CN" altLang="en-US" sz="1400" dirty="0">
              <a:solidFill>
                <a:srgbClr val="0432FF"/>
              </a:solidFill>
              <a:latin typeface="Times New Roman" pitchFamily="18" charset="0"/>
              <a:ea typeface="SimHei" panose="02010609060101010101" pitchFamily="49" charset="-122"/>
            </a:endParaRPr>
          </a:p>
        </p:txBody>
      </p:sp>
    </p:spTree>
    <p:extLst>
      <p:ext uri="{BB962C8B-B14F-4D97-AF65-F5344CB8AC3E}">
        <p14:creationId xmlns:p14="http://schemas.microsoft.com/office/powerpoint/2010/main" val="21868259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64</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659332"/>
          </a:xfrm>
        </p:spPr>
        <p:txBody>
          <a:bodyPr/>
          <a:lstStyle/>
          <a:p>
            <a:pPr marL="514350" indent="-457200">
              <a:spcBef>
                <a:spcPts val="1000"/>
              </a:spcBef>
            </a:pPr>
            <a:r>
              <a:rPr kumimoji="1" lang="zh-CN" altLang="en-US" dirty="0"/>
              <a:t>替换策略：最近最少使用法</a:t>
            </a:r>
            <a:r>
              <a:rPr kumimoji="1" lang="en-US" altLang="zh-CN" dirty="0"/>
              <a:t>(LRU)</a:t>
            </a:r>
            <a:endParaRPr kumimoji="1" lang="zh-CN" altLang="en-US" sz="2000" dirty="0"/>
          </a:p>
        </p:txBody>
      </p:sp>
      <p:grpSp>
        <p:nvGrpSpPr>
          <p:cNvPr id="5" name="组合 4">
            <a:extLst>
              <a:ext uri="{FF2B5EF4-FFF2-40B4-BE49-F238E27FC236}">
                <a16:creationId xmlns:a16="http://schemas.microsoft.com/office/drawing/2014/main" id="{8528D6BB-3265-A843-A768-5729E31D18C6}"/>
              </a:ext>
            </a:extLst>
          </p:cNvPr>
          <p:cNvGrpSpPr/>
          <p:nvPr/>
        </p:nvGrpSpPr>
        <p:grpSpPr>
          <a:xfrm>
            <a:off x="1059332" y="2512988"/>
            <a:ext cx="1354538" cy="3046253"/>
            <a:chOff x="1059332" y="2697620"/>
            <a:chExt cx="1354538" cy="3046253"/>
          </a:xfrm>
        </p:grpSpPr>
        <p:sp>
          <p:nvSpPr>
            <p:cNvPr id="6" name="Rectangle 4">
              <a:extLst>
                <a:ext uri="{FF2B5EF4-FFF2-40B4-BE49-F238E27FC236}">
                  <a16:creationId xmlns:a16="http://schemas.microsoft.com/office/drawing/2014/main" id="{3DE451B5-7C27-954F-BAC8-2AB2848D0AEA}"/>
                </a:ext>
              </a:extLst>
            </p:cNvPr>
            <p:cNvSpPr>
              <a:spLocks noChangeArrowheads="1"/>
            </p:cNvSpPr>
            <p:nvPr/>
          </p:nvSpPr>
          <p:spPr bwMode="auto">
            <a:xfrm>
              <a:off x="1059332" y="2697620"/>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访问顺序</a:t>
              </a:r>
              <a:endParaRPr lang="zh-CN" altLang="en-US" sz="1400" dirty="0">
                <a:latin typeface="Times New Roman" pitchFamily="18" charset="0"/>
                <a:ea typeface="SimHei" panose="02010609060101010101" pitchFamily="49" charset="-122"/>
              </a:endParaRPr>
            </a:p>
          </p:txBody>
        </p:sp>
        <p:sp>
          <p:nvSpPr>
            <p:cNvPr id="7" name="Rectangle 6">
              <a:extLst>
                <a:ext uri="{FF2B5EF4-FFF2-40B4-BE49-F238E27FC236}">
                  <a16:creationId xmlns:a16="http://schemas.microsoft.com/office/drawing/2014/main" id="{FDCB2FB3-276E-184B-B249-FE812861B191}"/>
                </a:ext>
              </a:extLst>
            </p:cNvPr>
            <p:cNvSpPr>
              <a:spLocks noChangeArrowheads="1"/>
            </p:cNvSpPr>
            <p:nvPr/>
          </p:nvSpPr>
          <p:spPr bwMode="auto">
            <a:xfrm>
              <a:off x="1059332" y="3108325"/>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地址块号</a:t>
              </a:r>
              <a:endParaRPr lang="zh-CN" altLang="en-US" sz="1400" dirty="0">
                <a:latin typeface="Times New Roman" pitchFamily="18" charset="0"/>
                <a:ea typeface="SimHei" panose="02010609060101010101" pitchFamily="49" charset="-122"/>
              </a:endParaRPr>
            </a:p>
          </p:txBody>
        </p:sp>
        <p:sp>
          <p:nvSpPr>
            <p:cNvPr id="8" name="Rectangle 8">
              <a:extLst>
                <a:ext uri="{FF2B5EF4-FFF2-40B4-BE49-F238E27FC236}">
                  <a16:creationId xmlns:a16="http://schemas.microsoft.com/office/drawing/2014/main" id="{56147E92-C2DC-3F4D-BB3D-5F857515F759}"/>
                </a:ext>
              </a:extLst>
            </p:cNvPr>
            <p:cNvSpPr>
              <a:spLocks noChangeArrowheads="1"/>
            </p:cNvSpPr>
            <p:nvPr/>
          </p:nvSpPr>
          <p:spPr bwMode="auto">
            <a:xfrm>
              <a:off x="1059332" y="4248594"/>
              <a:ext cx="1354538"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行分配情况</a:t>
              </a:r>
              <a:endParaRPr lang="zh-CN" altLang="en-US" sz="1400" dirty="0">
                <a:latin typeface="Times New Roman" pitchFamily="18" charset="0"/>
                <a:ea typeface="SimHei" panose="02010609060101010101" pitchFamily="49" charset="-122"/>
              </a:endParaRPr>
            </a:p>
          </p:txBody>
        </p:sp>
        <p:sp>
          <p:nvSpPr>
            <p:cNvPr id="9" name="Rectangle 9">
              <a:extLst>
                <a:ext uri="{FF2B5EF4-FFF2-40B4-BE49-F238E27FC236}">
                  <a16:creationId xmlns:a16="http://schemas.microsoft.com/office/drawing/2014/main" id="{EC71EBF3-6494-EE44-BF45-76FCAA0E96A2}"/>
                </a:ext>
              </a:extLst>
            </p:cNvPr>
            <p:cNvSpPr>
              <a:spLocks noChangeArrowheads="1"/>
            </p:cNvSpPr>
            <p:nvPr/>
          </p:nvSpPr>
          <p:spPr bwMode="auto">
            <a:xfrm>
              <a:off x="1059332" y="5423198"/>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操作状态</a:t>
              </a:r>
              <a:endParaRPr lang="zh-CN" altLang="en-US" sz="1400" dirty="0">
                <a:latin typeface="Times New Roman" pitchFamily="18" charset="0"/>
                <a:ea typeface="SimHei" panose="02010609060101010101" pitchFamily="49" charset="-122"/>
              </a:endParaRPr>
            </a:p>
          </p:txBody>
        </p:sp>
      </p:grpSp>
      <p:grpSp>
        <p:nvGrpSpPr>
          <p:cNvPr id="10" name="组合 9">
            <a:extLst>
              <a:ext uri="{FF2B5EF4-FFF2-40B4-BE49-F238E27FC236}">
                <a16:creationId xmlns:a16="http://schemas.microsoft.com/office/drawing/2014/main" id="{B0A1BCE5-B7BE-6A4C-BC43-4C51F5C640BA}"/>
              </a:ext>
            </a:extLst>
          </p:cNvPr>
          <p:cNvGrpSpPr/>
          <p:nvPr/>
        </p:nvGrpSpPr>
        <p:grpSpPr>
          <a:xfrm>
            <a:off x="2554465" y="2516266"/>
            <a:ext cx="540001" cy="3042975"/>
            <a:chOff x="2554465" y="2700898"/>
            <a:chExt cx="540001" cy="3042975"/>
          </a:xfrm>
        </p:grpSpPr>
        <p:sp>
          <p:nvSpPr>
            <p:cNvPr id="11" name="Rectangle 11">
              <a:extLst>
                <a:ext uri="{FF2B5EF4-FFF2-40B4-BE49-F238E27FC236}">
                  <a16:creationId xmlns:a16="http://schemas.microsoft.com/office/drawing/2014/main" id="{B61EC27E-375D-9649-9E9B-2584C3ED4FD9}"/>
                </a:ext>
              </a:extLst>
            </p:cNvPr>
            <p:cNvSpPr>
              <a:spLocks noChangeArrowheads="1"/>
            </p:cNvSpPr>
            <p:nvPr/>
          </p:nvSpPr>
          <p:spPr bwMode="auto">
            <a:xfrm>
              <a:off x="2554465" y="5423198"/>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grpSp>
          <p:nvGrpSpPr>
            <p:cNvPr id="12" name="组合 11">
              <a:extLst>
                <a:ext uri="{FF2B5EF4-FFF2-40B4-BE49-F238E27FC236}">
                  <a16:creationId xmlns:a16="http://schemas.microsoft.com/office/drawing/2014/main" id="{EBCE3416-E30D-2945-B142-911BE550A0D3}"/>
                </a:ext>
              </a:extLst>
            </p:cNvPr>
            <p:cNvGrpSpPr/>
            <p:nvPr/>
          </p:nvGrpSpPr>
          <p:grpSpPr>
            <a:xfrm>
              <a:off x="2554466" y="3525423"/>
              <a:ext cx="540000" cy="1781143"/>
              <a:chOff x="2596031" y="3525424"/>
              <a:chExt cx="540000" cy="1449124"/>
            </a:xfrm>
          </p:grpSpPr>
          <p:sp>
            <p:nvSpPr>
              <p:cNvPr id="15" name="Rectangle 26">
                <a:extLst>
                  <a:ext uri="{FF2B5EF4-FFF2-40B4-BE49-F238E27FC236}">
                    <a16:creationId xmlns:a16="http://schemas.microsoft.com/office/drawing/2014/main" id="{82C0CCA5-6E68-C14B-ACC1-D4E52BAFAD24}"/>
                  </a:ext>
                </a:extLst>
              </p:cNvPr>
              <p:cNvSpPr>
                <a:spLocks noChangeArrowheads="1"/>
              </p:cNvSpPr>
              <p:nvPr/>
            </p:nvSpPr>
            <p:spPr bwMode="auto">
              <a:xfrm>
                <a:off x="2596031" y="3525424"/>
                <a:ext cx="540000" cy="360000"/>
              </a:xfrm>
              <a:prstGeom prst="rect">
                <a:avLst/>
              </a:prstGeom>
              <a:solidFill>
                <a:srgbClr val="FFFF00"/>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16" name="Rectangle 26">
                <a:extLst>
                  <a:ext uri="{FF2B5EF4-FFF2-40B4-BE49-F238E27FC236}">
                    <a16:creationId xmlns:a16="http://schemas.microsoft.com/office/drawing/2014/main" id="{90E54DE1-9570-5A48-B6D9-602113993EDE}"/>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17" name="Rectangle 26">
                <a:extLst>
                  <a:ext uri="{FF2B5EF4-FFF2-40B4-BE49-F238E27FC236}">
                    <a16:creationId xmlns:a16="http://schemas.microsoft.com/office/drawing/2014/main" id="{288526BB-2645-0F4B-A383-2E69920AC594}"/>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18" name="Rectangle 26">
                <a:extLst>
                  <a:ext uri="{FF2B5EF4-FFF2-40B4-BE49-F238E27FC236}">
                    <a16:creationId xmlns:a16="http://schemas.microsoft.com/office/drawing/2014/main" id="{7D77B5F0-1ECD-2F41-8627-3C2E4611C626}"/>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13" name="Rectangle 11">
              <a:extLst>
                <a:ext uri="{FF2B5EF4-FFF2-40B4-BE49-F238E27FC236}">
                  <a16:creationId xmlns:a16="http://schemas.microsoft.com/office/drawing/2014/main" id="{BF0D8150-9740-2D4C-A127-93E2C1BFFE3E}"/>
                </a:ext>
              </a:extLst>
            </p:cNvPr>
            <p:cNvSpPr>
              <a:spLocks noChangeArrowheads="1"/>
            </p:cNvSpPr>
            <p:nvPr/>
          </p:nvSpPr>
          <p:spPr bwMode="auto">
            <a:xfrm>
              <a:off x="2554465"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14" name="Rectangle 11">
              <a:extLst>
                <a:ext uri="{FF2B5EF4-FFF2-40B4-BE49-F238E27FC236}">
                  <a16:creationId xmlns:a16="http://schemas.microsoft.com/office/drawing/2014/main" id="{A7D87A3F-0DF3-C346-A9C5-ECA70E1A8F27}"/>
                </a:ext>
              </a:extLst>
            </p:cNvPr>
            <p:cNvSpPr>
              <a:spLocks noChangeArrowheads="1"/>
            </p:cNvSpPr>
            <p:nvPr/>
          </p:nvSpPr>
          <p:spPr bwMode="auto">
            <a:xfrm>
              <a:off x="2554465"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grpSp>
      <p:grpSp>
        <p:nvGrpSpPr>
          <p:cNvPr id="19" name="组合 18">
            <a:extLst>
              <a:ext uri="{FF2B5EF4-FFF2-40B4-BE49-F238E27FC236}">
                <a16:creationId xmlns:a16="http://schemas.microsoft.com/office/drawing/2014/main" id="{955B5C82-E202-DF4F-A1B1-51059A29CD8A}"/>
              </a:ext>
            </a:extLst>
          </p:cNvPr>
          <p:cNvGrpSpPr/>
          <p:nvPr/>
        </p:nvGrpSpPr>
        <p:grpSpPr>
          <a:xfrm>
            <a:off x="3294977" y="2516266"/>
            <a:ext cx="540001" cy="3042975"/>
            <a:chOff x="3293564" y="2700898"/>
            <a:chExt cx="540001" cy="3042975"/>
          </a:xfrm>
        </p:grpSpPr>
        <p:grpSp>
          <p:nvGrpSpPr>
            <p:cNvPr id="20" name="组合 19">
              <a:extLst>
                <a:ext uri="{FF2B5EF4-FFF2-40B4-BE49-F238E27FC236}">
                  <a16:creationId xmlns:a16="http://schemas.microsoft.com/office/drawing/2014/main" id="{8639C818-A210-B543-A7AA-4CE7046948CA}"/>
                </a:ext>
              </a:extLst>
            </p:cNvPr>
            <p:cNvGrpSpPr/>
            <p:nvPr/>
          </p:nvGrpSpPr>
          <p:grpSpPr>
            <a:xfrm>
              <a:off x="3293564" y="3525423"/>
              <a:ext cx="540000" cy="1781143"/>
              <a:chOff x="2596031" y="3525424"/>
              <a:chExt cx="540000" cy="1449124"/>
            </a:xfrm>
          </p:grpSpPr>
          <p:sp>
            <p:nvSpPr>
              <p:cNvPr id="24" name="Rectangle 26">
                <a:extLst>
                  <a:ext uri="{FF2B5EF4-FFF2-40B4-BE49-F238E27FC236}">
                    <a16:creationId xmlns:a16="http://schemas.microsoft.com/office/drawing/2014/main" id="{077FAD11-E4EF-154D-B278-3F5FD5B2D995}"/>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25" name="Rectangle 26">
                <a:extLst>
                  <a:ext uri="{FF2B5EF4-FFF2-40B4-BE49-F238E27FC236}">
                    <a16:creationId xmlns:a16="http://schemas.microsoft.com/office/drawing/2014/main" id="{1F78374F-77B6-654E-B48E-2F96B7C16726}"/>
                  </a:ext>
                </a:extLst>
              </p:cNvPr>
              <p:cNvSpPr>
                <a:spLocks noChangeArrowheads="1"/>
              </p:cNvSpPr>
              <p:nvPr/>
            </p:nvSpPr>
            <p:spPr bwMode="auto">
              <a:xfrm>
                <a:off x="2596031" y="3889854"/>
                <a:ext cx="540000" cy="360000"/>
              </a:xfrm>
              <a:prstGeom prst="rect">
                <a:avLst/>
              </a:prstGeom>
              <a:solidFill>
                <a:srgbClr val="FFFF00"/>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26" name="Rectangle 26">
                <a:extLst>
                  <a:ext uri="{FF2B5EF4-FFF2-40B4-BE49-F238E27FC236}">
                    <a16:creationId xmlns:a16="http://schemas.microsoft.com/office/drawing/2014/main" id="{18E249D9-C5E7-484D-9BDE-E75589BB439B}"/>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27" name="Rectangle 26">
                <a:extLst>
                  <a:ext uri="{FF2B5EF4-FFF2-40B4-BE49-F238E27FC236}">
                    <a16:creationId xmlns:a16="http://schemas.microsoft.com/office/drawing/2014/main" id="{6BA15B0F-3349-4645-BB24-7EC9CBE9CB77}"/>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21" name="Rectangle 11">
              <a:extLst>
                <a:ext uri="{FF2B5EF4-FFF2-40B4-BE49-F238E27FC236}">
                  <a16:creationId xmlns:a16="http://schemas.microsoft.com/office/drawing/2014/main" id="{7FCBC8E3-5F13-E345-9784-B1E12290D960}"/>
                </a:ext>
              </a:extLst>
            </p:cNvPr>
            <p:cNvSpPr>
              <a:spLocks noChangeArrowheads="1"/>
            </p:cNvSpPr>
            <p:nvPr/>
          </p:nvSpPr>
          <p:spPr bwMode="auto">
            <a:xfrm>
              <a:off x="3293564" y="5423198"/>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22" name="Rectangle 11">
              <a:extLst>
                <a:ext uri="{FF2B5EF4-FFF2-40B4-BE49-F238E27FC236}">
                  <a16:creationId xmlns:a16="http://schemas.microsoft.com/office/drawing/2014/main" id="{003C51AE-CB3A-0E47-AE10-E2AC5DC6F798}"/>
                </a:ext>
              </a:extLst>
            </p:cNvPr>
            <p:cNvSpPr>
              <a:spLocks noChangeArrowheads="1"/>
            </p:cNvSpPr>
            <p:nvPr/>
          </p:nvSpPr>
          <p:spPr bwMode="auto">
            <a:xfrm>
              <a:off x="3293564"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11</a:t>
              </a:r>
              <a:endParaRPr lang="zh-CN" altLang="en-US" sz="1400" dirty="0">
                <a:latin typeface="+mn-lt"/>
                <a:ea typeface="SimHei" panose="02010609060101010101" pitchFamily="49" charset="-122"/>
              </a:endParaRPr>
            </a:p>
          </p:txBody>
        </p:sp>
        <p:sp>
          <p:nvSpPr>
            <p:cNvPr id="23" name="Rectangle 11">
              <a:extLst>
                <a:ext uri="{FF2B5EF4-FFF2-40B4-BE49-F238E27FC236}">
                  <a16:creationId xmlns:a16="http://schemas.microsoft.com/office/drawing/2014/main" id="{EE5FC9F5-1EC9-2845-94F0-5201DBD56F59}"/>
                </a:ext>
              </a:extLst>
            </p:cNvPr>
            <p:cNvSpPr>
              <a:spLocks noChangeArrowheads="1"/>
            </p:cNvSpPr>
            <p:nvPr/>
          </p:nvSpPr>
          <p:spPr bwMode="auto">
            <a:xfrm>
              <a:off x="3293564"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grpSp>
      <p:grpSp>
        <p:nvGrpSpPr>
          <p:cNvPr id="28" name="组合 27">
            <a:extLst>
              <a:ext uri="{FF2B5EF4-FFF2-40B4-BE49-F238E27FC236}">
                <a16:creationId xmlns:a16="http://schemas.microsoft.com/office/drawing/2014/main" id="{49680239-1731-A743-8E2C-6114BBEBC7CD}"/>
              </a:ext>
            </a:extLst>
          </p:cNvPr>
          <p:cNvGrpSpPr/>
          <p:nvPr/>
        </p:nvGrpSpPr>
        <p:grpSpPr>
          <a:xfrm>
            <a:off x="4035489" y="2516266"/>
            <a:ext cx="540001" cy="3045465"/>
            <a:chOff x="4034252" y="2700898"/>
            <a:chExt cx="540001" cy="3045465"/>
          </a:xfrm>
        </p:grpSpPr>
        <p:grpSp>
          <p:nvGrpSpPr>
            <p:cNvPr id="29" name="组合 28">
              <a:extLst>
                <a:ext uri="{FF2B5EF4-FFF2-40B4-BE49-F238E27FC236}">
                  <a16:creationId xmlns:a16="http://schemas.microsoft.com/office/drawing/2014/main" id="{A4D8AB96-371B-E54E-A864-10FFC4FFD36F}"/>
                </a:ext>
              </a:extLst>
            </p:cNvPr>
            <p:cNvGrpSpPr/>
            <p:nvPr/>
          </p:nvGrpSpPr>
          <p:grpSpPr>
            <a:xfrm>
              <a:off x="4034252" y="3525423"/>
              <a:ext cx="540000" cy="1781143"/>
              <a:chOff x="2596031" y="3525424"/>
              <a:chExt cx="540000" cy="1449124"/>
            </a:xfrm>
          </p:grpSpPr>
          <p:sp>
            <p:nvSpPr>
              <p:cNvPr id="33" name="Rectangle 26">
                <a:extLst>
                  <a:ext uri="{FF2B5EF4-FFF2-40B4-BE49-F238E27FC236}">
                    <a16:creationId xmlns:a16="http://schemas.microsoft.com/office/drawing/2014/main" id="{97612B8B-4AF6-854E-9ADB-F6381AF25467}"/>
                  </a:ext>
                </a:extLst>
              </p:cNvPr>
              <p:cNvSpPr>
                <a:spLocks noChangeArrowheads="1"/>
              </p:cNvSpPr>
              <p:nvPr/>
            </p:nvSpPr>
            <p:spPr bwMode="auto">
              <a:xfrm>
                <a:off x="2596031" y="3525424"/>
                <a:ext cx="540000" cy="360000"/>
              </a:xfrm>
              <a:prstGeom prst="rect">
                <a:avLst/>
              </a:prstGeom>
              <a:solidFill>
                <a:srgbClr val="CCFF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34" name="Rectangle 26">
                <a:extLst>
                  <a:ext uri="{FF2B5EF4-FFF2-40B4-BE49-F238E27FC236}">
                    <a16:creationId xmlns:a16="http://schemas.microsoft.com/office/drawing/2014/main" id="{CC800D31-4A70-BE4E-A7E2-DA4A138CBCD7}"/>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35" name="Rectangle 26">
                <a:extLst>
                  <a:ext uri="{FF2B5EF4-FFF2-40B4-BE49-F238E27FC236}">
                    <a16:creationId xmlns:a16="http://schemas.microsoft.com/office/drawing/2014/main" id="{81B22445-D221-B043-B8F7-3C04F55519EE}"/>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36" name="Rectangle 26">
                <a:extLst>
                  <a:ext uri="{FF2B5EF4-FFF2-40B4-BE49-F238E27FC236}">
                    <a16:creationId xmlns:a16="http://schemas.microsoft.com/office/drawing/2014/main" id="{BC3BC62D-8117-F349-A994-8BE652DFBB1F}"/>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30" name="Rectangle 11">
              <a:extLst>
                <a:ext uri="{FF2B5EF4-FFF2-40B4-BE49-F238E27FC236}">
                  <a16:creationId xmlns:a16="http://schemas.microsoft.com/office/drawing/2014/main" id="{0A132A7B-9ED1-4943-86C0-271EC5725552}"/>
                </a:ext>
              </a:extLst>
            </p:cNvPr>
            <p:cNvSpPr>
              <a:spLocks noChangeArrowheads="1"/>
            </p:cNvSpPr>
            <p:nvPr/>
          </p:nvSpPr>
          <p:spPr bwMode="auto">
            <a:xfrm>
              <a:off x="4034252"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latin typeface="+mn-lt"/>
                  <a:ea typeface="SimHei" panose="02010609060101010101" pitchFamily="49" charset="-122"/>
                </a:rPr>
                <a:t>命中</a:t>
              </a:r>
              <a:endParaRPr lang="zh-CN" altLang="en-US" sz="1400" dirty="0">
                <a:solidFill>
                  <a:srgbClr val="0432FF"/>
                </a:solidFill>
                <a:latin typeface="+mn-lt"/>
                <a:ea typeface="SimHei" panose="02010609060101010101" pitchFamily="49" charset="-122"/>
              </a:endParaRPr>
            </a:p>
          </p:txBody>
        </p:sp>
        <p:sp>
          <p:nvSpPr>
            <p:cNvPr id="31" name="Rectangle 11">
              <a:extLst>
                <a:ext uri="{FF2B5EF4-FFF2-40B4-BE49-F238E27FC236}">
                  <a16:creationId xmlns:a16="http://schemas.microsoft.com/office/drawing/2014/main" id="{AB45E6F9-0430-D148-8787-37FDDB2CA1C0}"/>
                </a:ext>
              </a:extLst>
            </p:cNvPr>
            <p:cNvSpPr>
              <a:spLocks noChangeArrowheads="1"/>
            </p:cNvSpPr>
            <p:nvPr/>
          </p:nvSpPr>
          <p:spPr bwMode="auto">
            <a:xfrm>
              <a:off x="4034252"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32" name="Rectangle 11">
              <a:extLst>
                <a:ext uri="{FF2B5EF4-FFF2-40B4-BE49-F238E27FC236}">
                  <a16:creationId xmlns:a16="http://schemas.microsoft.com/office/drawing/2014/main" id="{DB19C4A5-F2A3-2C4D-85B7-87E0163C4C29}"/>
                </a:ext>
              </a:extLst>
            </p:cNvPr>
            <p:cNvSpPr>
              <a:spLocks noChangeArrowheads="1"/>
            </p:cNvSpPr>
            <p:nvPr/>
          </p:nvSpPr>
          <p:spPr bwMode="auto">
            <a:xfrm>
              <a:off x="4034252"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grpSp>
      <p:grpSp>
        <p:nvGrpSpPr>
          <p:cNvPr id="37" name="组合 36">
            <a:extLst>
              <a:ext uri="{FF2B5EF4-FFF2-40B4-BE49-F238E27FC236}">
                <a16:creationId xmlns:a16="http://schemas.microsoft.com/office/drawing/2014/main" id="{BDA62F6B-2A19-BB4D-8059-D37FD8BE27A6}"/>
              </a:ext>
            </a:extLst>
          </p:cNvPr>
          <p:cNvGrpSpPr/>
          <p:nvPr/>
        </p:nvGrpSpPr>
        <p:grpSpPr>
          <a:xfrm>
            <a:off x="4776001" y="2516266"/>
            <a:ext cx="540001" cy="3045465"/>
            <a:chOff x="4773978" y="2700898"/>
            <a:chExt cx="540001" cy="3045465"/>
          </a:xfrm>
        </p:grpSpPr>
        <p:grpSp>
          <p:nvGrpSpPr>
            <p:cNvPr id="38" name="组合 37">
              <a:extLst>
                <a:ext uri="{FF2B5EF4-FFF2-40B4-BE49-F238E27FC236}">
                  <a16:creationId xmlns:a16="http://schemas.microsoft.com/office/drawing/2014/main" id="{8A684158-975F-FB4C-B289-B5972131F7DF}"/>
                </a:ext>
              </a:extLst>
            </p:cNvPr>
            <p:cNvGrpSpPr/>
            <p:nvPr/>
          </p:nvGrpSpPr>
          <p:grpSpPr>
            <a:xfrm>
              <a:off x="4773978" y="3525423"/>
              <a:ext cx="540000" cy="1781143"/>
              <a:chOff x="2596031" y="3525424"/>
              <a:chExt cx="540000" cy="1449124"/>
            </a:xfrm>
          </p:grpSpPr>
          <p:sp>
            <p:nvSpPr>
              <p:cNvPr id="42" name="Rectangle 26">
                <a:extLst>
                  <a:ext uri="{FF2B5EF4-FFF2-40B4-BE49-F238E27FC236}">
                    <a16:creationId xmlns:a16="http://schemas.microsoft.com/office/drawing/2014/main" id="{34A0E6F0-F39E-8C4B-9669-63280F0000D0}"/>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43" name="Rectangle 26">
                <a:extLst>
                  <a:ext uri="{FF2B5EF4-FFF2-40B4-BE49-F238E27FC236}">
                    <a16:creationId xmlns:a16="http://schemas.microsoft.com/office/drawing/2014/main" id="{7D182232-8F20-954D-A375-E524078FA99F}"/>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44" name="Rectangle 26">
                <a:extLst>
                  <a:ext uri="{FF2B5EF4-FFF2-40B4-BE49-F238E27FC236}">
                    <a16:creationId xmlns:a16="http://schemas.microsoft.com/office/drawing/2014/main" id="{9D304F00-9D64-0F4D-8417-B4B76528D2D3}"/>
                  </a:ext>
                </a:extLst>
              </p:cNvPr>
              <p:cNvSpPr>
                <a:spLocks noChangeArrowheads="1"/>
              </p:cNvSpPr>
              <p:nvPr/>
            </p:nvSpPr>
            <p:spPr bwMode="auto">
              <a:xfrm>
                <a:off x="2596031" y="4251765"/>
                <a:ext cx="540000" cy="360000"/>
              </a:xfrm>
              <a:prstGeom prst="rect">
                <a:avLst/>
              </a:prstGeom>
              <a:solidFill>
                <a:srgbClr val="FFFF00"/>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45" name="Rectangle 26">
                <a:extLst>
                  <a:ext uri="{FF2B5EF4-FFF2-40B4-BE49-F238E27FC236}">
                    <a16:creationId xmlns:a16="http://schemas.microsoft.com/office/drawing/2014/main" id="{1A965C84-2B0B-B44A-8CD3-29F6B49EDEE7}"/>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39" name="Rectangle 11">
              <a:extLst>
                <a:ext uri="{FF2B5EF4-FFF2-40B4-BE49-F238E27FC236}">
                  <a16:creationId xmlns:a16="http://schemas.microsoft.com/office/drawing/2014/main" id="{3D2A9FD3-73B3-2E47-A6AE-006C01C4B7B8}"/>
                </a:ext>
              </a:extLst>
            </p:cNvPr>
            <p:cNvSpPr>
              <a:spLocks noChangeArrowheads="1"/>
            </p:cNvSpPr>
            <p:nvPr/>
          </p:nvSpPr>
          <p:spPr bwMode="auto">
            <a:xfrm>
              <a:off x="4773978"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40" name="Rectangle 11">
              <a:extLst>
                <a:ext uri="{FF2B5EF4-FFF2-40B4-BE49-F238E27FC236}">
                  <a16:creationId xmlns:a16="http://schemas.microsoft.com/office/drawing/2014/main" id="{A832E104-50A4-C145-BAF1-1461EBDEB37B}"/>
                </a:ext>
              </a:extLst>
            </p:cNvPr>
            <p:cNvSpPr>
              <a:spLocks noChangeArrowheads="1"/>
            </p:cNvSpPr>
            <p:nvPr/>
          </p:nvSpPr>
          <p:spPr bwMode="auto">
            <a:xfrm>
              <a:off x="4773978"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9</a:t>
              </a:r>
              <a:endParaRPr lang="zh-CN" altLang="en-US" sz="1400" dirty="0">
                <a:latin typeface="+mn-lt"/>
                <a:ea typeface="SimHei" panose="02010609060101010101" pitchFamily="49" charset="-122"/>
              </a:endParaRPr>
            </a:p>
          </p:txBody>
        </p:sp>
        <p:sp>
          <p:nvSpPr>
            <p:cNvPr id="41" name="Rectangle 11">
              <a:extLst>
                <a:ext uri="{FF2B5EF4-FFF2-40B4-BE49-F238E27FC236}">
                  <a16:creationId xmlns:a16="http://schemas.microsoft.com/office/drawing/2014/main" id="{A2CC6B32-5085-C447-9C8B-D6BB25AC66DC}"/>
                </a:ext>
              </a:extLst>
            </p:cNvPr>
            <p:cNvSpPr>
              <a:spLocks noChangeArrowheads="1"/>
            </p:cNvSpPr>
            <p:nvPr/>
          </p:nvSpPr>
          <p:spPr bwMode="auto">
            <a:xfrm>
              <a:off x="4773978"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grpSp>
      <p:grpSp>
        <p:nvGrpSpPr>
          <p:cNvPr id="46" name="组合 45">
            <a:extLst>
              <a:ext uri="{FF2B5EF4-FFF2-40B4-BE49-F238E27FC236}">
                <a16:creationId xmlns:a16="http://schemas.microsoft.com/office/drawing/2014/main" id="{CD04B430-278F-1742-8F35-6C336A3435B6}"/>
              </a:ext>
            </a:extLst>
          </p:cNvPr>
          <p:cNvGrpSpPr/>
          <p:nvPr/>
        </p:nvGrpSpPr>
        <p:grpSpPr>
          <a:xfrm>
            <a:off x="5516513" y="2516266"/>
            <a:ext cx="540001" cy="3045465"/>
            <a:chOff x="5518537" y="2700898"/>
            <a:chExt cx="540001" cy="3045465"/>
          </a:xfrm>
        </p:grpSpPr>
        <p:grpSp>
          <p:nvGrpSpPr>
            <p:cNvPr id="47" name="组合 46">
              <a:extLst>
                <a:ext uri="{FF2B5EF4-FFF2-40B4-BE49-F238E27FC236}">
                  <a16:creationId xmlns:a16="http://schemas.microsoft.com/office/drawing/2014/main" id="{18D01B83-ACD8-084F-B753-F115F94A4DA4}"/>
                </a:ext>
              </a:extLst>
            </p:cNvPr>
            <p:cNvGrpSpPr/>
            <p:nvPr/>
          </p:nvGrpSpPr>
          <p:grpSpPr>
            <a:xfrm>
              <a:off x="5518537" y="3525423"/>
              <a:ext cx="540000" cy="1781143"/>
              <a:chOff x="2596031" y="3525424"/>
              <a:chExt cx="540000" cy="1449124"/>
            </a:xfrm>
          </p:grpSpPr>
          <p:sp>
            <p:nvSpPr>
              <p:cNvPr id="51" name="Rectangle 26">
                <a:extLst>
                  <a:ext uri="{FF2B5EF4-FFF2-40B4-BE49-F238E27FC236}">
                    <a16:creationId xmlns:a16="http://schemas.microsoft.com/office/drawing/2014/main" id="{96AE2319-4AD7-0344-A4CB-1FDE40B76CD1}"/>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52" name="Rectangle 26">
                <a:extLst>
                  <a:ext uri="{FF2B5EF4-FFF2-40B4-BE49-F238E27FC236}">
                    <a16:creationId xmlns:a16="http://schemas.microsoft.com/office/drawing/2014/main" id="{EB26E5F5-2E1E-BF45-93F4-ACE6B7D5A87D}"/>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11</a:t>
                </a:r>
                <a:endParaRPr lang="zh-CN" altLang="en-US" dirty="0">
                  <a:ea typeface="SimHei" panose="02010609060101010101" pitchFamily="49" charset="-122"/>
                </a:endParaRPr>
              </a:p>
            </p:txBody>
          </p:sp>
          <p:sp>
            <p:nvSpPr>
              <p:cNvPr id="53" name="Rectangle 26">
                <a:extLst>
                  <a:ext uri="{FF2B5EF4-FFF2-40B4-BE49-F238E27FC236}">
                    <a16:creationId xmlns:a16="http://schemas.microsoft.com/office/drawing/2014/main" id="{0A4921A2-86BE-024B-8BD4-0287F2CB45AF}"/>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54" name="Rectangle 26">
                <a:extLst>
                  <a:ext uri="{FF2B5EF4-FFF2-40B4-BE49-F238E27FC236}">
                    <a16:creationId xmlns:a16="http://schemas.microsoft.com/office/drawing/2014/main" id="{DF6B05AF-AB34-384C-BF34-1D172812B467}"/>
                  </a:ext>
                </a:extLst>
              </p:cNvPr>
              <p:cNvSpPr>
                <a:spLocks noChangeArrowheads="1"/>
              </p:cNvSpPr>
              <p:nvPr/>
            </p:nvSpPr>
            <p:spPr bwMode="auto">
              <a:xfrm>
                <a:off x="2596031" y="4614548"/>
                <a:ext cx="540000" cy="360000"/>
              </a:xfrm>
              <a:prstGeom prst="rect">
                <a:avLst/>
              </a:prstGeom>
              <a:solidFill>
                <a:srgbClr val="FFFF00"/>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48" name="Rectangle 11">
              <a:extLst>
                <a:ext uri="{FF2B5EF4-FFF2-40B4-BE49-F238E27FC236}">
                  <a16:creationId xmlns:a16="http://schemas.microsoft.com/office/drawing/2014/main" id="{15BC1F09-2092-F94D-8B0D-B7509FC10D36}"/>
                </a:ext>
              </a:extLst>
            </p:cNvPr>
            <p:cNvSpPr>
              <a:spLocks noChangeArrowheads="1"/>
            </p:cNvSpPr>
            <p:nvPr/>
          </p:nvSpPr>
          <p:spPr bwMode="auto">
            <a:xfrm>
              <a:off x="5518537"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49" name="Rectangle 11">
              <a:extLst>
                <a:ext uri="{FF2B5EF4-FFF2-40B4-BE49-F238E27FC236}">
                  <a16:creationId xmlns:a16="http://schemas.microsoft.com/office/drawing/2014/main" id="{8A2851D4-6C70-1041-B752-E6669E169295}"/>
                </a:ext>
              </a:extLst>
            </p:cNvPr>
            <p:cNvSpPr>
              <a:spLocks noChangeArrowheads="1"/>
            </p:cNvSpPr>
            <p:nvPr/>
          </p:nvSpPr>
          <p:spPr bwMode="auto">
            <a:xfrm>
              <a:off x="5518537"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7</a:t>
              </a:r>
              <a:endParaRPr lang="zh-CN" altLang="en-US" sz="1400" dirty="0">
                <a:latin typeface="+mn-lt"/>
                <a:ea typeface="SimHei" panose="02010609060101010101" pitchFamily="49" charset="-122"/>
              </a:endParaRPr>
            </a:p>
          </p:txBody>
        </p:sp>
        <p:sp>
          <p:nvSpPr>
            <p:cNvPr id="50" name="Rectangle 11">
              <a:extLst>
                <a:ext uri="{FF2B5EF4-FFF2-40B4-BE49-F238E27FC236}">
                  <a16:creationId xmlns:a16="http://schemas.microsoft.com/office/drawing/2014/main" id="{1C66374E-FC42-3544-B23D-259F378CF28F}"/>
                </a:ext>
              </a:extLst>
            </p:cNvPr>
            <p:cNvSpPr>
              <a:spLocks noChangeArrowheads="1"/>
            </p:cNvSpPr>
            <p:nvPr/>
          </p:nvSpPr>
          <p:spPr bwMode="auto">
            <a:xfrm>
              <a:off x="5518537"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5</a:t>
              </a:r>
              <a:endParaRPr lang="zh-CN" altLang="en-US" sz="1400" dirty="0">
                <a:latin typeface="+mn-lt"/>
                <a:ea typeface="SimHei" panose="02010609060101010101" pitchFamily="49" charset="-122"/>
              </a:endParaRPr>
            </a:p>
          </p:txBody>
        </p:sp>
      </p:grpSp>
      <p:grpSp>
        <p:nvGrpSpPr>
          <p:cNvPr id="55" name="组合 54">
            <a:extLst>
              <a:ext uri="{FF2B5EF4-FFF2-40B4-BE49-F238E27FC236}">
                <a16:creationId xmlns:a16="http://schemas.microsoft.com/office/drawing/2014/main" id="{FC873BCD-2951-4E48-8AB5-B191EC510FED}"/>
              </a:ext>
            </a:extLst>
          </p:cNvPr>
          <p:cNvGrpSpPr/>
          <p:nvPr/>
        </p:nvGrpSpPr>
        <p:grpSpPr>
          <a:xfrm>
            <a:off x="6257025" y="2516266"/>
            <a:ext cx="540001" cy="3045465"/>
            <a:chOff x="6259554" y="2700898"/>
            <a:chExt cx="540001" cy="3045465"/>
          </a:xfrm>
        </p:grpSpPr>
        <p:grpSp>
          <p:nvGrpSpPr>
            <p:cNvPr id="56" name="组合 55">
              <a:extLst>
                <a:ext uri="{FF2B5EF4-FFF2-40B4-BE49-F238E27FC236}">
                  <a16:creationId xmlns:a16="http://schemas.microsoft.com/office/drawing/2014/main" id="{121D316E-E0E6-FB44-9464-20506C9BA9AE}"/>
                </a:ext>
              </a:extLst>
            </p:cNvPr>
            <p:cNvGrpSpPr/>
            <p:nvPr/>
          </p:nvGrpSpPr>
          <p:grpSpPr>
            <a:xfrm>
              <a:off x="6259554" y="3525423"/>
              <a:ext cx="540000" cy="1781143"/>
              <a:chOff x="2596031" y="3525424"/>
              <a:chExt cx="540000" cy="1449124"/>
            </a:xfrm>
          </p:grpSpPr>
          <p:sp>
            <p:nvSpPr>
              <p:cNvPr id="60" name="Rectangle 26">
                <a:extLst>
                  <a:ext uri="{FF2B5EF4-FFF2-40B4-BE49-F238E27FC236}">
                    <a16:creationId xmlns:a16="http://schemas.microsoft.com/office/drawing/2014/main" id="{9CA71BF7-BF21-DE4A-B598-ED11D93109BC}"/>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61" name="Rectangle 26">
                <a:extLst>
                  <a:ext uri="{FF2B5EF4-FFF2-40B4-BE49-F238E27FC236}">
                    <a16:creationId xmlns:a16="http://schemas.microsoft.com/office/drawing/2014/main" id="{9FDF7790-5A3D-3A47-8B2C-2FFD670A149F}"/>
                  </a:ext>
                </a:extLst>
              </p:cNvPr>
              <p:cNvSpPr>
                <a:spLocks noChangeArrowheads="1"/>
              </p:cNvSpPr>
              <p:nvPr/>
            </p:nvSpPr>
            <p:spPr bwMode="auto">
              <a:xfrm>
                <a:off x="2596031" y="3889854"/>
                <a:ext cx="540000" cy="360000"/>
              </a:xfrm>
              <a:prstGeom prst="rect">
                <a:avLst/>
              </a:prstGeom>
              <a:solidFill>
                <a:srgbClr val="FF99CC"/>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6</a:t>
                </a:r>
                <a:endParaRPr lang="zh-CN" altLang="en-US" dirty="0">
                  <a:ea typeface="SimHei" panose="02010609060101010101" pitchFamily="49" charset="-122"/>
                </a:endParaRPr>
              </a:p>
            </p:txBody>
          </p:sp>
          <p:sp>
            <p:nvSpPr>
              <p:cNvPr id="62" name="Rectangle 26">
                <a:extLst>
                  <a:ext uri="{FF2B5EF4-FFF2-40B4-BE49-F238E27FC236}">
                    <a16:creationId xmlns:a16="http://schemas.microsoft.com/office/drawing/2014/main" id="{3DB73AF2-357B-F643-8378-A08DC30AE77C}"/>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63" name="Rectangle 26">
                <a:extLst>
                  <a:ext uri="{FF2B5EF4-FFF2-40B4-BE49-F238E27FC236}">
                    <a16:creationId xmlns:a16="http://schemas.microsoft.com/office/drawing/2014/main" id="{95259B31-DFEE-1B45-AF5A-BF34337EA8E7}"/>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57" name="Rectangle 11">
              <a:extLst>
                <a:ext uri="{FF2B5EF4-FFF2-40B4-BE49-F238E27FC236}">
                  <a16:creationId xmlns:a16="http://schemas.microsoft.com/office/drawing/2014/main" id="{4416F44F-F70F-1F4C-8F4A-D2D9A5B59727}"/>
                </a:ext>
              </a:extLst>
            </p:cNvPr>
            <p:cNvSpPr>
              <a:spLocks noChangeArrowheads="1"/>
            </p:cNvSpPr>
            <p:nvPr/>
          </p:nvSpPr>
          <p:spPr bwMode="auto">
            <a:xfrm>
              <a:off x="6259554"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替换</a:t>
              </a:r>
              <a:endParaRPr lang="zh-CN" altLang="en-US" sz="1400" dirty="0">
                <a:latin typeface="+mn-lt"/>
                <a:ea typeface="SimHei" panose="02010609060101010101" pitchFamily="49" charset="-122"/>
              </a:endParaRPr>
            </a:p>
          </p:txBody>
        </p:sp>
        <p:sp>
          <p:nvSpPr>
            <p:cNvPr id="58" name="Rectangle 11">
              <a:extLst>
                <a:ext uri="{FF2B5EF4-FFF2-40B4-BE49-F238E27FC236}">
                  <a16:creationId xmlns:a16="http://schemas.microsoft.com/office/drawing/2014/main" id="{5F75413D-586A-3445-A6E0-F992D208B444}"/>
                </a:ext>
              </a:extLst>
            </p:cNvPr>
            <p:cNvSpPr>
              <a:spLocks noChangeArrowheads="1"/>
            </p:cNvSpPr>
            <p:nvPr/>
          </p:nvSpPr>
          <p:spPr bwMode="auto">
            <a:xfrm>
              <a:off x="6259554"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6</a:t>
              </a:r>
              <a:endParaRPr lang="zh-CN" altLang="en-US" sz="1400" dirty="0">
                <a:latin typeface="+mn-lt"/>
                <a:ea typeface="SimHei" panose="02010609060101010101" pitchFamily="49" charset="-122"/>
              </a:endParaRPr>
            </a:p>
          </p:txBody>
        </p:sp>
        <p:sp>
          <p:nvSpPr>
            <p:cNvPr id="59" name="Rectangle 11">
              <a:extLst>
                <a:ext uri="{FF2B5EF4-FFF2-40B4-BE49-F238E27FC236}">
                  <a16:creationId xmlns:a16="http://schemas.microsoft.com/office/drawing/2014/main" id="{E7F249FD-06D5-894D-9CD4-D82BF2CE0B9D}"/>
                </a:ext>
              </a:extLst>
            </p:cNvPr>
            <p:cNvSpPr>
              <a:spLocks noChangeArrowheads="1"/>
            </p:cNvSpPr>
            <p:nvPr/>
          </p:nvSpPr>
          <p:spPr bwMode="auto">
            <a:xfrm>
              <a:off x="6259554"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6</a:t>
              </a:r>
              <a:endParaRPr lang="zh-CN" altLang="en-US" sz="1400" dirty="0">
                <a:latin typeface="+mn-lt"/>
                <a:ea typeface="SimHei" panose="02010609060101010101" pitchFamily="49" charset="-122"/>
              </a:endParaRPr>
            </a:p>
          </p:txBody>
        </p:sp>
      </p:grpSp>
      <p:grpSp>
        <p:nvGrpSpPr>
          <p:cNvPr id="64" name="组合 63">
            <a:extLst>
              <a:ext uri="{FF2B5EF4-FFF2-40B4-BE49-F238E27FC236}">
                <a16:creationId xmlns:a16="http://schemas.microsoft.com/office/drawing/2014/main" id="{B8D68430-5208-4C46-9678-BC120ADEADA2}"/>
              </a:ext>
            </a:extLst>
          </p:cNvPr>
          <p:cNvGrpSpPr/>
          <p:nvPr/>
        </p:nvGrpSpPr>
        <p:grpSpPr>
          <a:xfrm>
            <a:off x="6997537" y="2516266"/>
            <a:ext cx="540001" cy="3045465"/>
            <a:chOff x="6999440" y="2700898"/>
            <a:chExt cx="540001" cy="3045465"/>
          </a:xfrm>
        </p:grpSpPr>
        <p:grpSp>
          <p:nvGrpSpPr>
            <p:cNvPr id="65" name="组合 64">
              <a:extLst>
                <a:ext uri="{FF2B5EF4-FFF2-40B4-BE49-F238E27FC236}">
                  <a16:creationId xmlns:a16="http://schemas.microsoft.com/office/drawing/2014/main" id="{373202FF-1ADF-7842-868D-63A8C016D4E1}"/>
                </a:ext>
              </a:extLst>
            </p:cNvPr>
            <p:cNvGrpSpPr/>
            <p:nvPr/>
          </p:nvGrpSpPr>
          <p:grpSpPr>
            <a:xfrm>
              <a:off x="6999440" y="3525423"/>
              <a:ext cx="540000" cy="1781143"/>
              <a:chOff x="2596031" y="3525424"/>
              <a:chExt cx="540000" cy="1449124"/>
            </a:xfrm>
          </p:grpSpPr>
          <p:sp>
            <p:nvSpPr>
              <p:cNvPr id="69" name="Rectangle 26">
                <a:extLst>
                  <a:ext uri="{FF2B5EF4-FFF2-40B4-BE49-F238E27FC236}">
                    <a16:creationId xmlns:a16="http://schemas.microsoft.com/office/drawing/2014/main" id="{C0E6712C-A483-744C-8274-9A71D73518B9}"/>
                  </a:ext>
                </a:extLst>
              </p:cNvPr>
              <p:cNvSpPr>
                <a:spLocks noChangeArrowheads="1"/>
              </p:cNvSpPr>
              <p:nvPr/>
            </p:nvSpPr>
            <p:spPr bwMode="auto">
              <a:xfrm>
                <a:off x="2596031" y="3525424"/>
                <a:ext cx="540000" cy="360000"/>
              </a:xfrm>
              <a:prstGeom prst="rect">
                <a:avLst/>
              </a:prstGeom>
              <a:solidFill>
                <a:srgbClr val="CCFF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70" name="Rectangle 26">
                <a:extLst>
                  <a:ext uri="{FF2B5EF4-FFF2-40B4-BE49-F238E27FC236}">
                    <a16:creationId xmlns:a16="http://schemas.microsoft.com/office/drawing/2014/main" id="{788CD137-0FBD-414B-94F4-E0E1FD366EB0}"/>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6</a:t>
                </a:r>
                <a:endParaRPr lang="zh-CN" altLang="en-US" dirty="0">
                  <a:ea typeface="SimHei" panose="02010609060101010101" pitchFamily="49" charset="-122"/>
                </a:endParaRPr>
              </a:p>
            </p:txBody>
          </p:sp>
          <p:sp>
            <p:nvSpPr>
              <p:cNvPr id="71" name="Rectangle 26">
                <a:extLst>
                  <a:ext uri="{FF2B5EF4-FFF2-40B4-BE49-F238E27FC236}">
                    <a16:creationId xmlns:a16="http://schemas.microsoft.com/office/drawing/2014/main" id="{53D532E3-AC6D-DF4B-88A0-2B7093F26607}"/>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9</a:t>
                </a:r>
                <a:endParaRPr lang="zh-CN" altLang="en-US" dirty="0">
                  <a:ea typeface="SimHei" panose="02010609060101010101" pitchFamily="49" charset="-122"/>
                </a:endParaRPr>
              </a:p>
            </p:txBody>
          </p:sp>
          <p:sp>
            <p:nvSpPr>
              <p:cNvPr id="72" name="Rectangle 26">
                <a:extLst>
                  <a:ext uri="{FF2B5EF4-FFF2-40B4-BE49-F238E27FC236}">
                    <a16:creationId xmlns:a16="http://schemas.microsoft.com/office/drawing/2014/main" id="{E6DA7D00-6024-C040-ACDA-E7F994369FB6}"/>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66" name="Rectangle 11">
              <a:extLst>
                <a:ext uri="{FF2B5EF4-FFF2-40B4-BE49-F238E27FC236}">
                  <a16:creationId xmlns:a16="http://schemas.microsoft.com/office/drawing/2014/main" id="{9BB3550D-2CA5-384F-9CF2-247548E07F16}"/>
                </a:ext>
              </a:extLst>
            </p:cNvPr>
            <p:cNvSpPr>
              <a:spLocks noChangeArrowheads="1"/>
            </p:cNvSpPr>
            <p:nvPr/>
          </p:nvSpPr>
          <p:spPr bwMode="auto">
            <a:xfrm>
              <a:off x="6999440"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ea typeface="SimHei" panose="02010609060101010101" pitchFamily="49" charset="-122"/>
                </a:rPr>
                <a:t>命中</a:t>
              </a:r>
              <a:endParaRPr lang="zh-CN" altLang="en-US" sz="1400" dirty="0">
                <a:solidFill>
                  <a:srgbClr val="0432FF"/>
                </a:solidFill>
                <a:ea typeface="SimHei" panose="02010609060101010101" pitchFamily="49" charset="-122"/>
              </a:endParaRPr>
            </a:p>
          </p:txBody>
        </p:sp>
        <p:sp>
          <p:nvSpPr>
            <p:cNvPr id="67" name="Rectangle 11">
              <a:extLst>
                <a:ext uri="{FF2B5EF4-FFF2-40B4-BE49-F238E27FC236}">
                  <a16:creationId xmlns:a16="http://schemas.microsoft.com/office/drawing/2014/main" id="{0C879727-720A-2142-90A4-D8F25C6EAC02}"/>
                </a:ext>
              </a:extLst>
            </p:cNvPr>
            <p:cNvSpPr>
              <a:spLocks noChangeArrowheads="1"/>
            </p:cNvSpPr>
            <p:nvPr/>
          </p:nvSpPr>
          <p:spPr bwMode="auto">
            <a:xfrm>
              <a:off x="6999440"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68" name="Rectangle 11">
              <a:extLst>
                <a:ext uri="{FF2B5EF4-FFF2-40B4-BE49-F238E27FC236}">
                  <a16:creationId xmlns:a16="http://schemas.microsoft.com/office/drawing/2014/main" id="{715D6E4E-FA2B-2D47-AA9A-CBAE539EC88D}"/>
                </a:ext>
              </a:extLst>
            </p:cNvPr>
            <p:cNvSpPr>
              <a:spLocks noChangeArrowheads="1"/>
            </p:cNvSpPr>
            <p:nvPr/>
          </p:nvSpPr>
          <p:spPr bwMode="auto">
            <a:xfrm>
              <a:off x="6999440"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7</a:t>
              </a:r>
              <a:endParaRPr lang="zh-CN" altLang="en-US" sz="1400" dirty="0">
                <a:latin typeface="+mn-lt"/>
                <a:ea typeface="SimHei" panose="02010609060101010101" pitchFamily="49" charset="-122"/>
              </a:endParaRPr>
            </a:p>
          </p:txBody>
        </p:sp>
      </p:grpSp>
      <p:grpSp>
        <p:nvGrpSpPr>
          <p:cNvPr id="73" name="组合 72">
            <a:extLst>
              <a:ext uri="{FF2B5EF4-FFF2-40B4-BE49-F238E27FC236}">
                <a16:creationId xmlns:a16="http://schemas.microsoft.com/office/drawing/2014/main" id="{128DD72D-A210-B94E-868F-1E88C481A40C}"/>
              </a:ext>
            </a:extLst>
          </p:cNvPr>
          <p:cNvGrpSpPr/>
          <p:nvPr/>
        </p:nvGrpSpPr>
        <p:grpSpPr>
          <a:xfrm>
            <a:off x="7738047" y="2516266"/>
            <a:ext cx="540001" cy="3045465"/>
            <a:chOff x="7738047" y="2700898"/>
            <a:chExt cx="540001" cy="3045465"/>
          </a:xfrm>
        </p:grpSpPr>
        <p:grpSp>
          <p:nvGrpSpPr>
            <p:cNvPr id="74" name="组合 73">
              <a:extLst>
                <a:ext uri="{FF2B5EF4-FFF2-40B4-BE49-F238E27FC236}">
                  <a16:creationId xmlns:a16="http://schemas.microsoft.com/office/drawing/2014/main" id="{3B422A0D-C1A5-D242-B6F5-6FC5E3911127}"/>
                </a:ext>
              </a:extLst>
            </p:cNvPr>
            <p:cNvGrpSpPr/>
            <p:nvPr/>
          </p:nvGrpSpPr>
          <p:grpSpPr>
            <a:xfrm>
              <a:off x="7738047" y="3525423"/>
              <a:ext cx="540000" cy="1781143"/>
              <a:chOff x="2596031" y="3525424"/>
              <a:chExt cx="540000" cy="1449124"/>
            </a:xfrm>
          </p:grpSpPr>
          <p:sp>
            <p:nvSpPr>
              <p:cNvPr id="78" name="Rectangle 26">
                <a:extLst>
                  <a:ext uri="{FF2B5EF4-FFF2-40B4-BE49-F238E27FC236}">
                    <a16:creationId xmlns:a16="http://schemas.microsoft.com/office/drawing/2014/main" id="{FAE7647A-F561-D64A-9EDB-69D569DB0EE6}"/>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2</a:t>
                </a:r>
                <a:endParaRPr lang="zh-CN" altLang="en-US" dirty="0">
                  <a:ea typeface="SimHei" panose="02010609060101010101" pitchFamily="49" charset="-122"/>
                </a:endParaRPr>
              </a:p>
            </p:txBody>
          </p:sp>
          <p:sp>
            <p:nvSpPr>
              <p:cNvPr id="79" name="Rectangle 26">
                <a:extLst>
                  <a:ext uri="{FF2B5EF4-FFF2-40B4-BE49-F238E27FC236}">
                    <a16:creationId xmlns:a16="http://schemas.microsoft.com/office/drawing/2014/main" id="{747FB806-12B7-734C-B90A-79BF753F7E4A}"/>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6</a:t>
                </a:r>
                <a:endParaRPr lang="zh-CN" altLang="en-US" dirty="0">
                  <a:ea typeface="SimHei" panose="02010609060101010101" pitchFamily="49" charset="-122"/>
                </a:endParaRPr>
              </a:p>
            </p:txBody>
          </p:sp>
          <p:sp>
            <p:nvSpPr>
              <p:cNvPr id="80" name="Rectangle 26">
                <a:extLst>
                  <a:ext uri="{FF2B5EF4-FFF2-40B4-BE49-F238E27FC236}">
                    <a16:creationId xmlns:a16="http://schemas.microsoft.com/office/drawing/2014/main" id="{33B16D48-A934-1348-A091-51E62BCFEA1A}"/>
                  </a:ext>
                </a:extLst>
              </p:cNvPr>
              <p:cNvSpPr>
                <a:spLocks noChangeArrowheads="1"/>
              </p:cNvSpPr>
              <p:nvPr/>
            </p:nvSpPr>
            <p:spPr bwMode="auto">
              <a:xfrm>
                <a:off x="2596031" y="4251765"/>
                <a:ext cx="540000" cy="360000"/>
              </a:xfrm>
              <a:prstGeom prst="rect">
                <a:avLst/>
              </a:prstGeom>
              <a:solidFill>
                <a:srgbClr val="FF99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3</a:t>
                </a:r>
                <a:endParaRPr lang="zh-CN" altLang="en-US" dirty="0">
                  <a:ea typeface="SimHei" panose="02010609060101010101" pitchFamily="49" charset="-122"/>
                </a:endParaRPr>
              </a:p>
            </p:txBody>
          </p:sp>
          <p:sp>
            <p:nvSpPr>
              <p:cNvPr id="81" name="Rectangle 26">
                <a:extLst>
                  <a:ext uri="{FF2B5EF4-FFF2-40B4-BE49-F238E27FC236}">
                    <a16:creationId xmlns:a16="http://schemas.microsoft.com/office/drawing/2014/main" id="{85417156-E15D-E346-B4D5-603BC1872080}"/>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7</a:t>
                </a:r>
                <a:endParaRPr lang="zh-CN" altLang="en-US" dirty="0">
                  <a:ea typeface="SimHei" panose="02010609060101010101" pitchFamily="49" charset="-122"/>
                </a:endParaRPr>
              </a:p>
            </p:txBody>
          </p:sp>
        </p:grpSp>
        <p:sp>
          <p:nvSpPr>
            <p:cNvPr id="75" name="Rectangle 11">
              <a:extLst>
                <a:ext uri="{FF2B5EF4-FFF2-40B4-BE49-F238E27FC236}">
                  <a16:creationId xmlns:a16="http://schemas.microsoft.com/office/drawing/2014/main" id="{028E211B-CAD8-854B-BC25-175AC16DB00D}"/>
                </a:ext>
              </a:extLst>
            </p:cNvPr>
            <p:cNvSpPr>
              <a:spLocks noChangeArrowheads="1"/>
            </p:cNvSpPr>
            <p:nvPr/>
          </p:nvSpPr>
          <p:spPr bwMode="auto">
            <a:xfrm>
              <a:off x="7738047" y="54231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替换</a:t>
              </a:r>
              <a:endParaRPr lang="zh-CN" altLang="en-US" sz="1400" dirty="0">
                <a:ea typeface="SimHei" panose="02010609060101010101" pitchFamily="49" charset="-122"/>
              </a:endParaRPr>
            </a:p>
          </p:txBody>
        </p:sp>
        <p:sp>
          <p:nvSpPr>
            <p:cNvPr id="76" name="Rectangle 11">
              <a:extLst>
                <a:ext uri="{FF2B5EF4-FFF2-40B4-BE49-F238E27FC236}">
                  <a16:creationId xmlns:a16="http://schemas.microsoft.com/office/drawing/2014/main" id="{629D430D-96BC-2949-A575-9029BEC0697B}"/>
                </a:ext>
              </a:extLst>
            </p:cNvPr>
            <p:cNvSpPr>
              <a:spLocks noChangeArrowheads="1"/>
            </p:cNvSpPr>
            <p:nvPr/>
          </p:nvSpPr>
          <p:spPr bwMode="auto">
            <a:xfrm>
              <a:off x="7738047" y="311021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sp>
          <p:nvSpPr>
            <p:cNvPr id="77" name="Rectangle 11">
              <a:extLst>
                <a:ext uri="{FF2B5EF4-FFF2-40B4-BE49-F238E27FC236}">
                  <a16:creationId xmlns:a16="http://schemas.microsoft.com/office/drawing/2014/main" id="{ECE0B98F-E20C-0A4F-AF6A-B5335193318A}"/>
                </a:ext>
              </a:extLst>
            </p:cNvPr>
            <p:cNvSpPr>
              <a:spLocks noChangeArrowheads="1"/>
            </p:cNvSpPr>
            <p:nvPr/>
          </p:nvSpPr>
          <p:spPr bwMode="auto">
            <a:xfrm>
              <a:off x="7738047" y="2700898"/>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8</a:t>
              </a:r>
              <a:endParaRPr lang="zh-CN" altLang="en-US" sz="1400" dirty="0">
                <a:latin typeface="+mn-lt"/>
                <a:ea typeface="SimHei" panose="02010609060101010101" pitchFamily="49" charset="-122"/>
              </a:endParaRPr>
            </a:p>
          </p:txBody>
        </p:sp>
      </p:grpSp>
      <p:sp>
        <p:nvSpPr>
          <p:cNvPr id="82" name="Rectangle 8">
            <a:extLst>
              <a:ext uri="{FF2B5EF4-FFF2-40B4-BE49-F238E27FC236}">
                <a16:creationId xmlns:a16="http://schemas.microsoft.com/office/drawing/2014/main" id="{B55FC89A-4820-4A4A-83B8-0403B7F3214A}"/>
              </a:ext>
            </a:extLst>
          </p:cNvPr>
          <p:cNvSpPr>
            <a:spLocks noChangeArrowheads="1"/>
          </p:cNvSpPr>
          <p:nvPr/>
        </p:nvSpPr>
        <p:spPr bwMode="auto">
          <a:xfrm>
            <a:off x="1059331" y="5736274"/>
            <a:ext cx="7218715"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defTabSz="1009650">
              <a:buFont typeface="Arial" panose="020B0604020202020204" pitchFamily="34" charset="0"/>
              <a:buChar char="•"/>
            </a:pPr>
            <a:r>
              <a:rPr lang="zh-CN" altLang="en-US" sz="2100" dirty="0">
                <a:latin typeface="SimHei" panose="02010609060101010101" pitchFamily="49" charset="-122"/>
                <a:ea typeface="SimHei" panose="02010609060101010101" pitchFamily="49" charset="-122"/>
              </a:rPr>
              <a:t>需要对数据访问的次数、时间进行统计，同时考虑了</a:t>
            </a:r>
            <a:r>
              <a:rPr lang="zh-CN" altLang="en-US" sz="2100" dirty="0">
                <a:solidFill>
                  <a:srgbClr val="0432FF"/>
                </a:solidFill>
                <a:latin typeface="SimHei" panose="02010609060101010101" pitchFamily="49" charset="-122"/>
                <a:ea typeface="SimHei" panose="02010609060101010101" pitchFamily="49" charset="-122"/>
              </a:rPr>
              <a:t>时间局部性和空间局部性</a:t>
            </a:r>
            <a:endParaRPr lang="zh-CN" altLang="en-US" sz="1400" dirty="0">
              <a:solidFill>
                <a:srgbClr val="0432FF"/>
              </a:solidFill>
              <a:latin typeface="Times New Roman" pitchFamily="18" charset="0"/>
              <a:ea typeface="SimHei" panose="02010609060101010101" pitchFamily="49" charset="-122"/>
            </a:endParaRPr>
          </a:p>
        </p:txBody>
      </p:sp>
    </p:spTree>
    <p:extLst>
      <p:ext uri="{BB962C8B-B14F-4D97-AF65-F5344CB8AC3E}">
        <p14:creationId xmlns:p14="http://schemas.microsoft.com/office/powerpoint/2010/main" val="35091017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65</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199" y="1333881"/>
            <a:ext cx="8408505" cy="3307689"/>
          </a:xfrm>
        </p:spPr>
        <p:txBody>
          <a:bodyPr/>
          <a:lstStyle/>
          <a:p>
            <a:pPr marL="514350" indent="-457200">
              <a:spcBef>
                <a:spcPts val="1000"/>
              </a:spcBef>
            </a:pPr>
            <a:r>
              <a:rPr kumimoji="1" lang="zh-CN" altLang="en-US" sz="2400" dirty="0">
                <a:solidFill>
                  <a:srgbClr val="0432FF"/>
                </a:solidFill>
              </a:rPr>
              <a:t>数据更新</a:t>
            </a:r>
            <a:r>
              <a:rPr kumimoji="1" lang="zh-CN" altLang="en-US" sz="2400" dirty="0"/>
              <a:t>：当需要向层次结构存储器</a:t>
            </a:r>
            <a:r>
              <a:rPr kumimoji="1" lang="zh-CN" altLang="en-US" sz="2400" dirty="0">
                <a:solidFill>
                  <a:srgbClr val="0432FF"/>
                </a:solidFill>
              </a:rPr>
              <a:t>写入</a:t>
            </a:r>
            <a:r>
              <a:rPr kumimoji="1" lang="zh-CN" altLang="en-US" sz="2400" dirty="0"/>
              <a:t>数据时，需要考虑将数据存入</a:t>
            </a:r>
            <a:r>
              <a:rPr kumimoji="1" lang="en-US" altLang="zh-CN" sz="2400" dirty="0"/>
              <a:t>cache</a:t>
            </a:r>
            <a:r>
              <a:rPr kumimoji="1" lang="zh-CN" altLang="en-US" sz="2400" dirty="0"/>
              <a:t>还是主存的问题。</a:t>
            </a:r>
            <a:endParaRPr kumimoji="1" lang="en-US" altLang="zh-CN" sz="2400" dirty="0"/>
          </a:p>
          <a:p>
            <a:pPr marL="914400" lvl="1" indent="-457200">
              <a:spcBef>
                <a:spcPts val="1000"/>
              </a:spcBef>
            </a:pPr>
            <a:r>
              <a:rPr kumimoji="1" lang="zh-CN" altLang="en-US" sz="2000" dirty="0">
                <a:solidFill>
                  <a:srgbClr val="0432FF"/>
                </a:solidFill>
              </a:rPr>
              <a:t>写通过</a:t>
            </a:r>
            <a:r>
              <a:rPr kumimoji="1" lang="en-US" altLang="zh-CN" sz="2000" dirty="0"/>
              <a:t>: </a:t>
            </a:r>
            <a:r>
              <a:rPr kumimoji="1" lang="zh-CN" altLang="en-US" sz="2000" dirty="0"/>
              <a:t>高速缓存和主存都写入</a:t>
            </a:r>
            <a:endParaRPr kumimoji="1" lang="en-US" altLang="zh-CN" sz="2000" dirty="0"/>
          </a:p>
          <a:p>
            <a:pPr marL="914400" lvl="1" indent="-457200">
              <a:spcBef>
                <a:spcPts val="1000"/>
              </a:spcBef>
            </a:pPr>
            <a:r>
              <a:rPr kumimoji="1" lang="zh-CN" altLang="en-US" sz="2000" dirty="0"/>
              <a:t>优点</a:t>
            </a:r>
            <a:endParaRPr kumimoji="1" lang="en-US" altLang="zh-CN" sz="2000" dirty="0"/>
          </a:p>
          <a:p>
            <a:pPr marL="1314450" lvl="2" indent="-457200">
              <a:spcBef>
                <a:spcPts val="0"/>
              </a:spcBef>
            </a:pPr>
            <a:r>
              <a:rPr kumimoji="1" lang="zh-CN" altLang="en-US" sz="1800" dirty="0"/>
              <a:t>硬件简单</a:t>
            </a:r>
            <a:endParaRPr kumimoji="1" lang="en-US" altLang="zh-CN" sz="1800" dirty="0"/>
          </a:p>
          <a:p>
            <a:pPr marL="1314450" lvl="2" indent="-457200">
              <a:spcBef>
                <a:spcPts val="0"/>
              </a:spcBef>
            </a:pPr>
            <a:r>
              <a:rPr kumimoji="1" lang="zh-CN" altLang="en-US" sz="1800" dirty="0"/>
              <a:t>缓存和内存中数据一致</a:t>
            </a:r>
            <a:r>
              <a:rPr kumimoji="1" lang="en-US" altLang="zh-CN" sz="1800" dirty="0">
                <a:sym typeface="Wingdings" panose="05000000000000000000" pitchFamily="2" charset="2"/>
              </a:rPr>
              <a:t></a:t>
            </a:r>
            <a:r>
              <a:rPr kumimoji="1" lang="zh-CN" altLang="en-US" sz="1800" dirty="0">
                <a:sym typeface="Wingdings" panose="05000000000000000000" pitchFamily="2" charset="2"/>
              </a:rPr>
              <a:t>在</a:t>
            </a:r>
            <a:r>
              <a:rPr kumimoji="1" lang="en-US" altLang="zh-CN" sz="1800" dirty="0">
                <a:sym typeface="Wingdings" panose="05000000000000000000" pitchFamily="2" charset="2"/>
              </a:rPr>
              <a:t>Cache</a:t>
            </a:r>
            <a:r>
              <a:rPr kumimoji="1" lang="zh-CN" altLang="en-US" sz="1800" dirty="0">
                <a:sym typeface="Wingdings" panose="05000000000000000000" pitchFamily="2" charset="2"/>
              </a:rPr>
              <a:t>替换时无内存写回</a:t>
            </a:r>
            <a:endParaRPr kumimoji="1" lang="en-US" altLang="zh-CN" sz="1800" dirty="0"/>
          </a:p>
          <a:p>
            <a:pPr marL="914400" lvl="1" indent="-457200">
              <a:spcBef>
                <a:spcPts val="1000"/>
              </a:spcBef>
            </a:pPr>
            <a:r>
              <a:rPr kumimoji="1" lang="zh-CN" altLang="en-US" sz="2000" dirty="0"/>
              <a:t>缺点</a:t>
            </a:r>
            <a:endParaRPr kumimoji="1" lang="en-US" altLang="zh-CN" sz="2000" dirty="0"/>
          </a:p>
          <a:p>
            <a:pPr marL="1314450" lvl="2" indent="-457200">
              <a:spcBef>
                <a:spcPts val="1000"/>
              </a:spcBef>
            </a:pPr>
            <a:r>
              <a:rPr kumimoji="1" lang="zh-CN" altLang="en-US" sz="1800" dirty="0"/>
              <a:t>写时间等于内存访问时间，开销大</a:t>
            </a:r>
            <a:endParaRPr kumimoji="1" lang="en-US" altLang="zh-CN" sz="1800" dirty="0"/>
          </a:p>
          <a:p>
            <a:pPr marL="1314450" lvl="2" indent="-457200">
              <a:spcBef>
                <a:spcPts val="0"/>
              </a:spcBef>
            </a:pPr>
            <a:r>
              <a:rPr kumimoji="1" lang="zh-CN" altLang="en-US" sz="1600" dirty="0"/>
              <a:t>使用</a:t>
            </a:r>
            <a:r>
              <a:rPr kumimoji="1" lang="zh-CN" altLang="en-US" sz="1600" dirty="0">
                <a:solidFill>
                  <a:srgbClr val="0432FF"/>
                </a:solidFill>
              </a:rPr>
              <a:t>高速写缓冲区</a:t>
            </a:r>
            <a:r>
              <a:rPr kumimoji="1" lang="zh-CN" altLang="en-US" sz="1600" dirty="0"/>
              <a:t>，减少</a:t>
            </a:r>
            <a:r>
              <a:rPr kumimoji="1" lang="en-US" altLang="zh-CN" sz="1600" dirty="0"/>
              <a:t>CPU</a:t>
            </a:r>
            <a:r>
              <a:rPr kumimoji="1" lang="zh-CN" altLang="en-US" sz="1600" dirty="0"/>
              <a:t>等待的情形。</a:t>
            </a:r>
            <a:endParaRPr kumimoji="1" lang="en-US" altLang="zh-CN" sz="1600" dirty="0"/>
          </a:p>
        </p:txBody>
      </p:sp>
      <p:grpSp>
        <p:nvGrpSpPr>
          <p:cNvPr id="24" name="组合 23">
            <a:extLst>
              <a:ext uri="{FF2B5EF4-FFF2-40B4-BE49-F238E27FC236}">
                <a16:creationId xmlns:a16="http://schemas.microsoft.com/office/drawing/2014/main" id="{3DCDBAFD-2951-BC49-8B12-4AA537C24612}"/>
              </a:ext>
            </a:extLst>
          </p:cNvPr>
          <p:cNvGrpSpPr/>
          <p:nvPr/>
        </p:nvGrpSpPr>
        <p:grpSpPr>
          <a:xfrm>
            <a:off x="150471" y="4825082"/>
            <a:ext cx="4290670" cy="1193291"/>
            <a:chOff x="1948395" y="4904713"/>
            <a:chExt cx="5840652" cy="1193291"/>
          </a:xfrm>
        </p:grpSpPr>
        <p:sp>
          <p:nvSpPr>
            <p:cNvPr id="6" name="Line 12">
              <a:extLst>
                <a:ext uri="{FF2B5EF4-FFF2-40B4-BE49-F238E27FC236}">
                  <a16:creationId xmlns:a16="http://schemas.microsoft.com/office/drawing/2014/main" id="{1627AEEB-580D-C34F-BDE1-7605DF2B938F}"/>
                </a:ext>
              </a:extLst>
            </p:cNvPr>
            <p:cNvSpPr>
              <a:spLocks noChangeShapeType="1"/>
            </p:cNvSpPr>
            <p:nvPr/>
          </p:nvSpPr>
          <p:spPr bwMode="auto">
            <a:xfrm>
              <a:off x="5095045" y="5313298"/>
              <a:ext cx="1044000" cy="0"/>
            </a:xfrm>
            <a:prstGeom prst="line">
              <a:avLst/>
            </a:prstGeom>
            <a:noFill/>
            <a:ln w="25400">
              <a:solidFill>
                <a:schemeClr val="tx1"/>
              </a:solidFill>
              <a:round/>
              <a:headEnd type="non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7" name="Rectangle 13">
              <a:extLst>
                <a:ext uri="{FF2B5EF4-FFF2-40B4-BE49-F238E27FC236}">
                  <a16:creationId xmlns:a16="http://schemas.microsoft.com/office/drawing/2014/main" id="{46E38D7F-91B9-6240-A88F-4D4DC7D1F3B7}"/>
                </a:ext>
              </a:extLst>
            </p:cNvPr>
            <p:cNvSpPr>
              <a:spLocks noChangeArrowheads="1"/>
            </p:cNvSpPr>
            <p:nvPr/>
          </p:nvSpPr>
          <p:spPr bwMode="auto">
            <a:xfrm>
              <a:off x="2838286" y="4904713"/>
              <a:ext cx="992793" cy="348860"/>
            </a:xfrm>
            <a:prstGeom prst="rect">
              <a:avLst/>
            </a:prstGeom>
            <a:noFill/>
            <a:ln>
              <a:noFill/>
            </a:ln>
            <a:effectLst/>
            <a:extLst>
              <a:ext uri="{909E8E84-426E-40dd-AFC4-6F175D3DCCD1}">
                <a14:hiddenFill xmlns="" xmlns:a14="http://schemas.microsoft.com/office/drawing/2010/main" xmlns:mc="http://schemas.openxmlformats.org/markup-compatibility/2006">
                  <a:solidFill>
                    <a:schemeClr val="accent1"/>
                  </a:solidFill>
                </a14:hiddenFill>
              </a:ext>
              <a:ext uri="{91240B29-F687-4f45-9708-019B960494DF}">
                <a14:hiddenLine xmlns="" xmlns:a14="http://schemas.microsoft.com/office/drawing/2010/main" xmlns:mc="http://schemas.openxmlformats.org/markup-compatibility/2006" w="9525">
                  <a:solidFill>
                    <a:schemeClr val="tx1"/>
                  </a:solidFill>
                  <a:miter lim="800000"/>
                  <a:headEnd/>
                  <a:tailEnd/>
                </a14:hiddenLine>
              </a:ext>
              <a:ext uri="{AF507438-7753-43e0-B8FC-AC1667EBCBE1}">
                <a14:hiddenEffects xmlns="" xmlns:a14="http://schemas.microsoft.com/office/drawing/2010/main" xmlns:mc="http://schemas.openxmlformats.org/markup-compatibility/2006">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en-US" altLang="zh-CN" sz="1600" b="1" dirty="0" err="1">
                  <a:latin typeface="+mj-lt"/>
                  <a:ea typeface="+mn-ea"/>
                </a:rPr>
                <a:t>Addr</a:t>
              </a:r>
              <a:r>
                <a:rPr lang="en-US" altLang="zh-CN" sz="1600" b="1" dirty="0">
                  <a:latin typeface="+mj-lt"/>
                  <a:ea typeface="+mn-ea"/>
                </a:rPr>
                <a:t>.</a:t>
              </a:r>
            </a:p>
          </p:txBody>
        </p:sp>
        <p:sp>
          <p:nvSpPr>
            <p:cNvPr id="8" name="Rectangle 14">
              <a:extLst>
                <a:ext uri="{FF2B5EF4-FFF2-40B4-BE49-F238E27FC236}">
                  <a16:creationId xmlns:a16="http://schemas.microsoft.com/office/drawing/2014/main" id="{FD26A272-0B74-1543-894C-7C282342F3B9}"/>
                </a:ext>
              </a:extLst>
            </p:cNvPr>
            <p:cNvSpPr>
              <a:spLocks noChangeArrowheads="1"/>
            </p:cNvSpPr>
            <p:nvPr/>
          </p:nvSpPr>
          <p:spPr bwMode="auto">
            <a:xfrm>
              <a:off x="5052744" y="4904713"/>
              <a:ext cx="992793" cy="348860"/>
            </a:xfrm>
            <a:prstGeom prst="rect">
              <a:avLst/>
            </a:prstGeom>
            <a:noFill/>
            <a:ln>
              <a:noFill/>
            </a:ln>
            <a:effectLst/>
            <a:extLst>
              <a:ext uri="{909E8E84-426E-40dd-AFC4-6F175D3DCCD1}">
                <a14:hiddenFill xmlns="" xmlns:a14="http://schemas.microsoft.com/office/drawing/2010/main" xmlns:mc="http://schemas.openxmlformats.org/markup-compatibility/2006">
                  <a:solidFill>
                    <a:schemeClr val="accent1"/>
                  </a:solidFill>
                </a14:hiddenFill>
              </a:ext>
              <a:ext uri="{91240B29-F687-4f45-9708-019B960494DF}">
                <a14:hiddenLine xmlns="" xmlns:a14="http://schemas.microsoft.com/office/drawing/2010/main" xmlns:mc="http://schemas.openxmlformats.org/markup-compatibility/2006" w="9525">
                  <a:solidFill>
                    <a:schemeClr val="tx1"/>
                  </a:solidFill>
                  <a:miter lim="800000"/>
                  <a:headEnd/>
                  <a:tailEnd/>
                </a14:hiddenLine>
              </a:ext>
              <a:ext uri="{AF507438-7753-43e0-B8FC-AC1667EBCBE1}">
                <a14:hiddenEffects xmlns="" xmlns:a14="http://schemas.microsoft.com/office/drawing/2010/main" xmlns:mc="http://schemas.openxmlformats.org/markup-compatibility/2006">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en-US" altLang="zh-CN" sz="1600" b="1" dirty="0" err="1">
                  <a:latin typeface="+mj-lt"/>
                  <a:ea typeface="+mn-ea"/>
                </a:rPr>
                <a:t>Addr</a:t>
              </a:r>
              <a:r>
                <a:rPr lang="en-US" altLang="zh-CN" sz="1600" b="1" dirty="0">
                  <a:latin typeface="+mj-lt"/>
                  <a:ea typeface="+mn-ea"/>
                </a:rPr>
                <a:t>.</a:t>
              </a:r>
            </a:p>
          </p:txBody>
        </p:sp>
        <p:sp>
          <p:nvSpPr>
            <p:cNvPr id="9" name="Line 16">
              <a:extLst>
                <a:ext uri="{FF2B5EF4-FFF2-40B4-BE49-F238E27FC236}">
                  <a16:creationId xmlns:a16="http://schemas.microsoft.com/office/drawing/2014/main" id="{41DB3002-47B0-1B42-99B2-30613B65D80B}"/>
                </a:ext>
              </a:extLst>
            </p:cNvPr>
            <p:cNvSpPr>
              <a:spLocks noChangeShapeType="1"/>
            </p:cNvSpPr>
            <p:nvPr/>
          </p:nvSpPr>
          <p:spPr bwMode="auto">
            <a:xfrm>
              <a:off x="2855280" y="5318924"/>
              <a:ext cx="882000" cy="0"/>
            </a:xfrm>
            <a:prstGeom prst="line">
              <a:avLst/>
            </a:prstGeom>
            <a:noFill/>
            <a:ln w="25400">
              <a:solidFill>
                <a:schemeClr val="tx1"/>
              </a:solidFill>
              <a:round/>
              <a:headEnd type="non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0" name="Rectangle 4">
              <a:extLst>
                <a:ext uri="{FF2B5EF4-FFF2-40B4-BE49-F238E27FC236}">
                  <a16:creationId xmlns:a16="http://schemas.microsoft.com/office/drawing/2014/main" id="{0BF4451C-2564-B446-88FC-FCC12556B171}"/>
                </a:ext>
              </a:extLst>
            </p:cNvPr>
            <p:cNvSpPr>
              <a:spLocks noChangeArrowheads="1"/>
            </p:cNvSpPr>
            <p:nvPr/>
          </p:nvSpPr>
          <p:spPr bwMode="auto">
            <a:xfrm>
              <a:off x="3735018" y="5258942"/>
              <a:ext cx="1357313" cy="538163"/>
            </a:xfrm>
            <a:prstGeom prst="rect">
              <a:avLst/>
            </a:prstGeom>
            <a:solidFill>
              <a:schemeClr val="bg1"/>
            </a:solidFill>
            <a:ln w="254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1" name="Rectangle 5">
              <a:extLst>
                <a:ext uri="{FF2B5EF4-FFF2-40B4-BE49-F238E27FC236}">
                  <a16:creationId xmlns:a16="http://schemas.microsoft.com/office/drawing/2014/main" id="{44B7B9BA-A999-604A-8ABB-DA3028F38F8B}"/>
                </a:ext>
              </a:extLst>
            </p:cNvPr>
            <p:cNvSpPr>
              <a:spLocks noChangeArrowheads="1"/>
            </p:cNvSpPr>
            <p:nvPr/>
          </p:nvSpPr>
          <p:spPr bwMode="auto">
            <a:xfrm>
              <a:off x="3730986" y="5330748"/>
              <a:ext cx="1321758" cy="379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1644" tIns="50823" rIns="101644" bIns="50823">
              <a:spAutoFit/>
            </a:bodyPr>
            <a:lstStyle/>
            <a:p>
              <a:pPr defTabSz="1009650" eaLnBrk="0" hangingPunct="0"/>
              <a:r>
                <a:rPr lang="en-US" altLang="zh-CN" b="1" dirty="0">
                  <a:latin typeface="+mj-lt"/>
                  <a:ea typeface="+mn-ea"/>
                </a:rPr>
                <a:t>Cache</a:t>
              </a:r>
            </a:p>
          </p:txBody>
        </p:sp>
        <p:sp>
          <p:nvSpPr>
            <p:cNvPr id="12" name="Rectangle 6">
              <a:extLst>
                <a:ext uri="{FF2B5EF4-FFF2-40B4-BE49-F238E27FC236}">
                  <a16:creationId xmlns:a16="http://schemas.microsoft.com/office/drawing/2014/main" id="{D28932D9-94ED-2242-9B04-C1F8631CF69D}"/>
                </a:ext>
              </a:extLst>
            </p:cNvPr>
            <p:cNvSpPr>
              <a:spLocks noChangeArrowheads="1"/>
            </p:cNvSpPr>
            <p:nvPr/>
          </p:nvSpPr>
          <p:spPr bwMode="auto">
            <a:xfrm>
              <a:off x="1948395" y="5359270"/>
              <a:ext cx="942779" cy="379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en-US" altLang="zh-CN" b="1" dirty="0">
                  <a:latin typeface="+mj-lt"/>
                  <a:ea typeface="+mn-ea"/>
                </a:rPr>
                <a:t>CPU</a:t>
              </a:r>
            </a:p>
          </p:txBody>
        </p:sp>
        <p:sp>
          <p:nvSpPr>
            <p:cNvPr id="13" name="Line 7">
              <a:extLst>
                <a:ext uri="{FF2B5EF4-FFF2-40B4-BE49-F238E27FC236}">
                  <a16:creationId xmlns:a16="http://schemas.microsoft.com/office/drawing/2014/main" id="{D9E2A6D4-D35A-0B47-9006-F955AA4AF98D}"/>
                </a:ext>
              </a:extLst>
            </p:cNvPr>
            <p:cNvSpPr>
              <a:spLocks noChangeShapeType="1"/>
            </p:cNvSpPr>
            <p:nvPr/>
          </p:nvSpPr>
          <p:spPr bwMode="auto">
            <a:xfrm>
              <a:off x="2118755" y="5165280"/>
              <a:ext cx="738000"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4" name="Line 8">
              <a:extLst>
                <a:ext uri="{FF2B5EF4-FFF2-40B4-BE49-F238E27FC236}">
                  <a16:creationId xmlns:a16="http://schemas.microsoft.com/office/drawing/2014/main" id="{56B1560D-9211-F146-BFC2-43A6BF424428}"/>
                </a:ext>
              </a:extLst>
            </p:cNvPr>
            <p:cNvSpPr>
              <a:spLocks noChangeShapeType="1"/>
            </p:cNvSpPr>
            <p:nvPr/>
          </p:nvSpPr>
          <p:spPr bwMode="auto">
            <a:xfrm>
              <a:off x="2118755" y="5973317"/>
              <a:ext cx="738002"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5" name="Line 9">
              <a:extLst>
                <a:ext uri="{FF2B5EF4-FFF2-40B4-BE49-F238E27FC236}">
                  <a16:creationId xmlns:a16="http://schemas.microsoft.com/office/drawing/2014/main" id="{223F80F6-FFCD-A649-A07C-A381FA63E539}"/>
                </a:ext>
              </a:extLst>
            </p:cNvPr>
            <p:cNvSpPr>
              <a:spLocks noChangeShapeType="1"/>
            </p:cNvSpPr>
            <p:nvPr/>
          </p:nvSpPr>
          <p:spPr bwMode="auto">
            <a:xfrm>
              <a:off x="6135439" y="5165280"/>
              <a:ext cx="1332000"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6" name="Line 10">
              <a:extLst>
                <a:ext uri="{FF2B5EF4-FFF2-40B4-BE49-F238E27FC236}">
                  <a16:creationId xmlns:a16="http://schemas.microsoft.com/office/drawing/2014/main" id="{6A9D9AD6-F0DE-BF4A-AFA9-6A973E627A8D}"/>
                </a:ext>
              </a:extLst>
            </p:cNvPr>
            <p:cNvSpPr>
              <a:spLocks noChangeShapeType="1"/>
            </p:cNvSpPr>
            <p:nvPr/>
          </p:nvSpPr>
          <p:spPr bwMode="auto">
            <a:xfrm>
              <a:off x="6135439" y="5165280"/>
              <a:ext cx="0" cy="808037"/>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7" name="Line 11">
              <a:extLst>
                <a:ext uri="{FF2B5EF4-FFF2-40B4-BE49-F238E27FC236}">
                  <a16:creationId xmlns:a16="http://schemas.microsoft.com/office/drawing/2014/main" id="{65DC5E21-1A0D-4C4D-8444-ADCA6B92A764}"/>
                </a:ext>
              </a:extLst>
            </p:cNvPr>
            <p:cNvSpPr>
              <a:spLocks noChangeShapeType="1"/>
            </p:cNvSpPr>
            <p:nvPr/>
          </p:nvSpPr>
          <p:spPr bwMode="auto">
            <a:xfrm>
              <a:off x="6135438" y="5973317"/>
              <a:ext cx="1332000" cy="0"/>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18" name="Rectangle 12">
              <a:extLst>
                <a:ext uri="{FF2B5EF4-FFF2-40B4-BE49-F238E27FC236}">
                  <a16:creationId xmlns:a16="http://schemas.microsoft.com/office/drawing/2014/main" id="{1E7336CD-5E79-D542-9938-A918B88CB4B5}"/>
                </a:ext>
              </a:extLst>
            </p:cNvPr>
            <p:cNvSpPr>
              <a:spLocks noChangeArrowheads="1"/>
            </p:cNvSpPr>
            <p:nvPr/>
          </p:nvSpPr>
          <p:spPr bwMode="auto">
            <a:xfrm>
              <a:off x="6068006" y="5220771"/>
              <a:ext cx="1721041" cy="6566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1644" tIns="50823" rIns="101644" bIns="50823">
              <a:spAutoFit/>
            </a:bodyPr>
            <a:lstStyle/>
            <a:p>
              <a:pPr algn="ctr" defTabSz="1009650" eaLnBrk="0" hangingPunct="0"/>
              <a:r>
                <a:rPr lang="en-US" altLang="zh-CN" b="1" dirty="0">
                  <a:latin typeface="+mj-lt"/>
                  <a:ea typeface="+mn-ea"/>
                </a:rPr>
                <a:t>Main memory</a:t>
              </a:r>
            </a:p>
          </p:txBody>
        </p:sp>
        <p:sp>
          <p:nvSpPr>
            <p:cNvPr id="19" name="Line 19">
              <a:extLst>
                <a:ext uri="{FF2B5EF4-FFF2-40B4-BE49-F238E27FC236}">
                  <a16:creationId xmlns:a16="http://schemas.microsoft.com/office/drawing/2014/main" id="{5BC4D310-A54C-0049-8456-9952481A6A5E}"/>
                </a:ext>
              </a:extLst>
            </p:cNvPr>
            <p:cNvSpPr>
              <a:spLocks noChangeShapeType="1"/>
            </p:cNvSpPr>
            <p:nvPr/>
          </p:nvSpPr>
          <p:spPr bwMode="auto">
            <a:xfrm>
              <a:off x="2853956" y="5165280"/>
              <a:ext cx="0" cy="808037"/>
            </a:xfrm>
            <a:prstGeom prst="line">
              <a:avLst/>
            </a:prstGeom>
            <a:noFill/>
            <a:ln w="254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20" name="Line 12">
              <a:extLst>
                <a:ext uri="{FF2B5EF4-FFF2-40B4-BE49-F238E27FC236}">
                  <a16:creationId xmlns:a16="http://schemas.microsoft.com/office/drawing/2014/main" id="{5715766D-23A2-B94B-B275-0D5DFC893965}"/>
                </a:ext>
              </a:extLst>
            </p:cNvPr>
            <p:cNvSpPr>
              <a:spLocks noChangeShapeType="1"/>
            </p:cNvSpPr>
            <p:nvPr/>
          </p:nvSpPr>
          <p:spPr bwMode="auto">
            <a:xfrm>
              <a:off x="3732308" y="5718226"/>
              <a:ext cx="2406737" cy="1"/>
            </a:xfrm>
            <a:prstGeom prst="line">
              <a:avLst/>
            </a:prstGeom>
            <a:noFill/>
            <a:ln w="25400">
              <a:solidFill>
                <a:schemeClr val="tx1"/>
              </a:solidFill>
              <a:round/>
              <a:headEnd type="non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21" name="Line 16">
              <a:extLst>
                <a:ext uri="{FF2B5EF4-FFF2-40B4-BE49-F238E27FC236}">
                  <a16:creationId xmlns:a16="http://schemas.microsoft.com/office/drawing/2014/main" id="{81A8DA5C-588A-C74B-86AE-2ACD5C64E84C}"/>
                </a:ext>
              </a:extLst>
            </p:cNvPr>
            <p:cNvSpPr>
              <a:spLocks noChangeShapeType="1"/>
            </p:cNvSpPr>
            <p:nvPr/>
          </p:nvSpPr>
          <p:spPr bwMode="auto">
            <a:xfrm>
              <a:off x="2855280" y="5723853"/>
              <a:ext cx="882000" cy="0"/>
            </a:xfrm>
            <a:prstGeom prst="line">
              <a:avLst/>
            </a:prstGeom>
            <a:noFill/>
            <a:ln w="25400">
              <a:solidFill>
                <a:schemeClr val="tx1"/>
              </a:solidFill>
              <a:round/>
              <a:headEnd type="non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j-lt"/>
                <a:ea typeface="+mn-ea"/>
              </a:endParaRPr>
            </a:p>
          </p:txBody>
        </p:sp>
        <p:sp>
          <p:nvSpPr>
            <p:cNvPr id="22" name="Rectangle 13">
              <a:extLst>
                <a:ext uri="{FF2B5EF4-FFF2-40B4-BE49-F238E27FC236}">
                  <a16:creationId xmlns:a16="http://schemas.microsoft.com/office/drawing/2014/main" id="{60290910-54DA-804C-923E-FBF884A501A6}"/>
                </a:ext>
              </a:extLst>
            </p:cNvPr>
            <p:cNvSpPr>
              <a:spLocks noChangeArrowheads="1"/>
            </p:cNvSpPr>
            <p:nvPr/>
          </p:nvSpPr>
          <p:spPr bwMode="auto">
            <a:xfrm>
              <a:off x="2900535" y="5749144"/>
              <a:ext cx="883864" cy="348860"/>
            </a:xfrm>
            <a:prstGeom prst="rect">
              <a:avLst/>
            </a:prstGeom>
            <a:noFill/>
            <a:ln>
              <a:noFill/>
            </a:ln>
            <a:effectLst/>
            <a:extLst>
              <a:ext uri="{909E8E84-426E-40dd-AFC4-6F175D3DCCD1}">
                <a14:hiddenFill xmlns="" xmlns:a14="http://schemas.microsoft.com/office/drawing/2010/main" xmlns:mc="http://schemas.openxmlformats.org/markup-compatibility/2006">
                  <a:solidFill>
                    <a:schemeClr val="accent1"/>
                  </a:solidFill>
                </a14:hiddenFill>
              </a:ext>
              <a:ext uri="{91240B29-F687-4f45-9708-019B960494DF}">
                <a14:hiddenLine xmlns="" xmlns:a14="http://schemas.microsoft.com/office/drawing/2010/main" xmlns:mc="http://schemas.openxmlformats.org/markup-compatibility/2006" w="9525">
                  <a:solidFill>
                    <a:schemeClr val="tx1"/>
                  </a:solidFill>
                  <a:miter lim="800000"/>
                  <a:headEnd/>
                  <a:tailEnd/>
                </a14:hiddenLine>
              </a:ext>
              <a:ext uri="{AF507438-7753-43e0-B8FC-AC1667EBCBE1}">
                <a14:hiddenEffects xmlns="" xmlns:a14="http://schemas.microsoft.com/office/drawing/2010/main" xmlns:mc="http://schemas.openxmlformats.org/markup-compatibility/2006">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en-US" altLang="zh-CN" sz="1600" b="1" dirty="0">
                  <a:latin typeface="+mj-lt"/>
                  <a:ea typeface="+mn-ea"/>
                </a:rPr>
                <a:t>Data</a:t>
              </a:r>
            </a:p>
          </p:txBody>
        </p:sp>
        <p:sp>
          <p:nvSpPr>
            <p:cNvPr id="23" name="Rectangle 13">
              <a:extLst>
                <a:ext uri="{FF2B5EF4-FFF2-40B4-BE49-F238E27FC236}">
                  <a16:creationId xmlns:a16="http://schemas.microsoft.com/office/drawing/2014/main" id="{A87B4A7A-8D90-ED4F-B796-DA7547BE32B3}"/>
                </a:ext>
              </a:extLst>
            </p:cNvPr>
            <p:cNvSpPr>
              <a:spLocks noChangeArrowheads="1"/>
            </p:cNvSpPr>
            <p:nvPr/>
          </p:nvSpPr>
          <p:spPr bwMode="auto">
            <a:xfrm>
              <a:off x="5259730" y="5749144"/>
              <a:ext cx="883864" cy="348860"/>
            </a:xfrm>
            <a:prstGeom prst="rect">
              <a:avLst/>
            </a:prstGeom>
            <a:noFill/>
            <a:ln>
              <a:noFill/>
            </a:ln>
            <a:effectLst/>
            <a:extLst>
              <a:ext uri="{909E8E84-426E-40dd-AFC4-6F175D3DCCD1}">
                <a14:hiddenFill xmlns="" xmlns:a14="http://schemas.microsoft.com/office/drawing/2010/main" xmlns:mc="http://schemas.openxmlformats.org/markup-compatibility/2006">
                  <a:solidFill>
                    <a:schemeClr val="accent1"/>
                  </a:solidFill>
                </a14:hiddenFill>
              </a:ext>
              <a:ext uri="{91240B29-F687-4f45-9708-019B960494DF}">
                <a14:hiddenLine xmlns="" xmlns:a14="http://schemas.microsoft.com/office/drawing/2010/main" xmlns:mc="http://schemas.openxmlformats.org/markup-compatibility/2006" w="9525">
                  <a:solidFill>
                    <a:schemeClr val="tx1"/>
                  </a:solidFill>
                  <a:miter lim="800000"/>
                  <a:headEnd/>
                  <a:tailEnd/>
                </a14:hiddenLine>
              </a:ext>
              <a:ext uri="{AF507438-7753-43e0-B8FC-AC1667EBCBE1}">
                <a14:hiddenEffects xmlns="" xmlns:a14="http://schemas.microsoft.com/office/drawing/2010/main" xmlns:mc="http://schemas.openxmlformats.org/markup-compatibility/2006">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en-US" altLang="zh-CN" sz="1600" b="1" dirty="0">
                  <a:latin typeface="+mj-lt"/>
                  <a:ea typeface="+mn-ea"/>
                </a:rPr>
                <a:t>Data</a:t>
              </a:r>
            </a:p>
          </p:txBody>
        </p:sp>
      </p:grpSp>
      <p:sp>
        <p:nvSpPr>
          <p:cNvPr id="26" name="标题 1">
            <a:extLst>
              <a:ext uri="{FF2B5EF4-FFF2-40B4-BE49-F238E27FC236}">
                <a16:creationId xmlns:a16="http://schemas.microsoft.com/office/drawing/2014/main" id="{FF0310BE-DA30-4AD0-8A95-C16F6BA49799}"/>
              </a:ext>
            </a:extLst>
          </p:cNvPr>
          <p:cNvSpPr>
            <a:spLocks noGrp="1"/>
          </p:cNvSpPr>
          <p:nvPr>
            <p:ph type="title"/>
          </p:nvPr>
        </p:nvSpPr>
        <p:spPr>
          <a:xfrm>
            <a:off x="150471" y="136525"/>
            <a:ext cx="8889357" cy="1143000"/>
          </a:xfrm>
        </p:spPr>
        <p:txBody>
          <a:bodyPr/>
          <a:lstStyle/>
          <a:p>
            <a:r>
              <a:rPr lang="zh-CN" altLang="en-US" sz="3600" dirty="0"/>
              <a:t>缓存</a:t>
            </a:r>
            <a:r>
              <a:rPr lang="zh-CN" altLang="en-US" sz="3600" dirty="0">
                <a:latin typeface="+mn-lt"/>
              </a:rPr>
              <a:t>：数据替换和更新策略</a:t>
            </a:r>
          </a:p>
        </p:txBody>
      </p:sp>
      <p:grpSp>
        <p:nvGrpSpPr>
          <p:cNvPr id="5" name="组合 4">
            <a:extLst>
              <a:ext uri="{FF2B5EF4-FFF2-40B4-BE49-F238E27FC236}">
                <a16:creationId xmlns:a16="http://schemas.microsoft.com/office/drawing/2014/main" id="{EEE03FEC-99B9-F09D-D5B6-846B147FA086}"/>
              </a:ext>
            </a:extLst>
          </p:cNvPr>
          <p:cNvGrpSpPr/>
          <p:nvPr/>
        </p:nvGrpSpPr>
        <p:grpSpPr>
          <a:xfrm>
            <a:off x="5034950" y="4947899"/>
            <a:ext cx="3830754" cy="1862775"/>
            <a:chOff x="5034950" y="4947899"/>
            <a:chExt cx="3830754" cy="1862775"/>
          </a:xfrm>
        </p:grpSpPr>
        <p:grpSp>
          <p:nvGrpSpPr>
            <p:cNvPr id="25" name="组合 4">
              <a:extLst>
                <a:ext uri="{FF2B5EF4-FFF2-40B4-BE49-F238E27FC236}">
                  <a16:creationId xmlns:a16="http://schemas.microsoft.com/office/drawing/2014/main" id="{449B505D-6BAC-5CE1-7E1D-1F3CA5DA84A0}"/>
                </a:ext>
              </a:extLst>
            </p:cNvPr>
            <p:cNvGrpSpPr/>
            <p:nvPr/>
          </p:nvGrpSpPr>
          <p:grpSpPr>
            <a:xfrm>
              <a:off x="5034950" y="4947899"/>
              <a:ext cx="3830754" cy="1463596"/>
              <a:chOff x="2870984" y="4551077"/>
              <a:chExt cx="3830754" cy="1463596"/>
            </a:xfrm>
          </p:grpSpPr>
          <p:sp>
            <p:nvSpPr>
              <p:cNvPr id="27" name="Freeform 26">
                <a:extLst>
                  <a:ext uri="{FF2B5EF4-FFF2-40B4-BE49-F238E27FC236}">
                    <a16:creationId xmlns:a16="http://schemas.microsoft.com/office/drawing/2014/main" id="{50C007AB-20A7-0E6B-BA5A-444A82735F81}"/>
                  </a:ext>
                </a:extLst>
              </p:cNvPr>
              <p:cNvSpPr>
                <a:spLocks/>
              </p:cNvSpPr>
              <p:nvPr/>
            </p:nvSpPr>
            <p:spPr bwMode="auto">
              <a:xfrm>
                <a:off x="2870984" y="4551077"/>
                <a:ext cx="650443" cy="1023112"/>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0" h="10000">
                    <a:moveTo>
                      <a:pt x="0" y="0"/>
                    </a:moveTo>
                    <a:lnTo>
                      <a:pt x="10000" y="0"/>
                    </a:lnTo>
                    <a:lnTo>
                      <a:pt x="10000" y="10000"/>
                    </a:lnTo>
                    <a:lnTo>
                      <a:pt x="0" y="10000"/>
                    </a:lnTo>
                    <a:lnTo>
                      <a:pt x="0" y="0"/>
                    </a:lnTo>
                    <a:close/>
                    <a:moveTo>
                      <a:pt x="0" y="0"/>
                    </a:moveTo>
                  </a:path>
                </a:pathLst>
              </a:custGeom>
              <a:noFill/>
              <a:ln w="25400">
                <a:solidFill>
                  <a:schemeClr val="tx1"/>
                </a:solidFill>
                <a:prstDash val="solid"/>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28" name="Text Box 6">
                <a:extLst>
                  <a:ext uri="{FF2B5EF4-FFF2-40B4-BE49-F238E27FC236}">
                    <a16:creationId xmlns:a16="http://schemas.microsoft.com/office/drawing/2014/main" id="{D4492C59-1D38-3B37-1C62-B5094C9DF819}"/>
                  </a:ext>
                </a:extLst>
              </p:cNvPr>
              <p:cNvSpPr txBox="1">
                <a:spLocks noChangeArrowheads="1"/>
              </p:cNvSpPr>
              <p:nvPr/>
            </p:nvSpPr>
            <p:spPr bwMode="auto">
              <a:xfrm>
                <a:off x="2946235" y="4927980"/>
                <a:ext cx="487313" cy="2693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009650" eaLnBrk="0" hangingPunct="0">
                  <a:tabLst>
                    <a:tab pos="0" algn="l"/>
                    <a:tab pos="1009650" algn="l"/>
                  </a:tabLst>
                  <a:defRPr>
                    <a:solidFill>
                      <a:schemeClr val="tx1"/>
                    </a:solidFill>
                    <a:latin typeface="Tahoma" pitchFamily="34" charset="0"/>
                    <a:ea typeface="宋体" charset="-122"/>
                  </a:defRPr>
                </a:lvl1pPr>
                <a:lvl2pPr marL="742950" indent="-285750" defTabSz="1009650" eaLnBrk="0" hangingPunct="0">
                  <a:tabLst>
                    <a:tab pos="0" algn="l"/>
                    <a:tab pos="1009650" algn="l"/>
                  </a:tabLst>
                  <a:defRPr>
                    <a:solidFill>
                      <a:schemeClr val="tx1"/>
                    </a:solidFill>
                    <a:latin typeface="Tahoma" pitchFamily="34" charset="0"/>
                    <a:ea typeface="宋体" charset="-122"/>
                  </a:defRPr>
                </a:lvl2pPr>
                <a:lvl3pPr marL="1143000" indent="-228600" defTabSz="1009650" eaLnBrk="0" hangingPunct="0">
                  <a:tabLst>
                    <a:tab pos="0" algn="l"/>
                    <a:tab pos="1009650" algn="l"/>
                  </a:tabLst>
                  <a:defRPr>
                    <a:solidFill>
                      <a:schemeClr val="tx1"/>
                    </a:solidFill>
                    <a:latin typeface="Tahoma" pitchFamily="34" charset="0"/>
                    <a:ea typeface="宋体" charset="-122"/>
                  </a:defRPr>
                </a:lvl3pPr>
                <a:lvl4pPr marL="1600200" indent="-228600" defTabSz="1009650" eaLnBrk="0" hangingPunct="0">
                  <a:tabLst>
                    <a:tab pos="0" algn="l"/>
                    <a:tab pos="1009650" algn="l"/>
                  </a:tabLst>
                  <a:defRPr>
                    <a:solidFill>
                      <a:schemeClr val="tx1"/>
                    </a:solidFill>
                    <a:latin typeface="Tahoma" pitchFamily="34" charset="0"/>
                    <a:ea typeface="宋体" charset="-122"/>
                  </a:defRPr>
                </a:lvl4pPr>
                <a:lvl5pPr marL="2057400" indent="-228600" defTabSz="1009650" eaLnBrk="0" hangingPunct="0">
                  <a:tabLst>
                    <a:tab pos="0" algn="l"/>
                    <a:tab pos="1009650" algn="l"/>
                  </a:tabLst>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9pPr>
              </a:lstStyle>
              <a:p>
                <a:pPr eaLnBrk="1" hangingPunct="1">
                  <a:lnSpc>
                    <a:spcPts val="2100"/>
                  </a:lnSpc>
                </a:pPr>
                <a:r>
                  <a:rPr lang="en-US" altLang="zh-CN" dirty="0">
                    <a:latin typeface="+mj-lt"/>
                    <a:ea typeface="SimHei" panose="02010609060101010101" pitchFamily="49" charset="-122"/>
                  </a:rPr>
                  <a:t>CPU</a:t>
                </a:r>
              </a:p>
            </p:txBody>
          </p:sp>
          <p:sp>
            <p:nvSpPr>
              <p:cNvPr id="29" name="Freeform 28">
                <a:extLst>
                  <a:ext uri="{FF2B5EF4-FFF2-40B4-BE49-F238E27FC236}">
                    <a16:creationId xmlns:a16="http://schemas.microsoft.com/office/drawing/2014/main" id="{E2437091-C684-4105-BFB9-C8FA5E9262B4}"/>
                  </a:ext>
                </a:extLst>
              </p:cNvPr>
              <p:cNvSpPr>
                <a:spLocks/>
              </p:cNvSpPr>
              <p:nvPr/>
            </p:nvSpPr>
            <p:spPr bwMode="auto">
              <a:xfrm>
                <a:off x="4070358" y="4551077"/>
                <a:ext cx="1011125" cy="619252"/>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0" h="10000">
                    <a:moveTo>
                      <a:pt x="0" y="0"/>
                    </a:moveTo>
                    <a:lnTo>
                      <a:pt x="10000" y="0"/>
                    </a:lnTo>
                    <a:lnTo>
                      <a:pt x="10000" y="10000"/>
                    </a:lnTo>
                    <a:lnTo>
                      <a:pt x="0" y="10000"/>
                    </a:lnTo>
                    <a:lnTo>
                      <a:pt x="0" y="0"/>
                    </a:lnTo>
                    <a:close/>
                    <a:moveTo>
                      <a:pt x="0" y="0"/>
                    </a:moveTo>
                  </a:path>
                </a:pathLst>
              </a:custGeom>
              <a:noFill/>
              <a:ln w="25400">
                <a:solidFill>
                  <a:schemeClr val="tx1"/>
                </a:solidFill>
                <a:prstDash val="solid"/>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0" name="Text Box 8">
                <a:extLst>
                  <a:ext uri="{FF2B5EF4-FFF2-40B4-BE49-F238E27FC236}">
                    <a16:creationId xmlns:a16="http://schemas.microsoft.com/office/drawing/2014/main" id="{835AAAAE-7966-2E22-EC56-DC40C9FF8E26}"/>
                  </a:ext>
                </a:extLst>
              </p:cNvPr>
              <p:cNvSpPr txBox="1">
                <a:spLocks noChangeArrowheads="1"/>
              </p:cNvSpPr>
              <p:nvPr/>
            </p:nvSpPr>
            <p:spPr bwMode="auto">
              <a:xfrm>
                <a:off x="4230994" y="4729449"/>
                <a:ext cx="693343" cy="2692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009650" eaLnBrk="0" hangingPunct="0">
                  <a:tabLst>
                    <a:tab pos="0" algn="l"/>
                  </a:tabLst>
                  <a:defRPr>
                    <a:solidFill>
                      <a:schemeClr val="tx1"/>
                    </a:solidFill>
                    <a:latin typeface="Tahoma" pitchFamily="34" charset="0"/>
                    <a:ea typeface="宋体" charset="-122"/>
                  </a:defRPr>
                </a:lvl1pPr>
                <a:lvl2pPr marL="742950" indent="-285750" defTabSz="1009650" eaLnBrk="0" hangingPunct="0">
                  <a:tabLst>
                    <a:tab pos="0" algn="l"/>
                  </a:tabLst>
                  <a:defRPr>
                    <a:solidFill>
                      <a:schemeClr val="tx1"/>
                    </a:solidFill>
                    <a:latin typeface="Tahoma" pitchFamily="34" charset="0"/>
                    <a:ea typeface="宋体" charset="-122"/>
                  </a:defRPr>
                </a:lvl2pPr>
                <a:lvl3pPr marL="1143000" indent="-228600" defTabSz="1009650" eaLnBrk="0" hangingPunct="0">
                  <a:tabLst>
                    <a:tab pos="0" algn="l"/>
                  </a:tabLst>
                  <a:defRPr>
                    <a:solidFill>
                      <a:schemeClr val="tx1"/>
                    </a:solidFill>
                    <a:latin typeface="Tahoma" pitchFamily="34" charset="0"/>
                    <a:ea typeface="宋体" charset="-122"/>
                  </a:defRPr>
                </a:lvl3pPr>
                <a:lvl4pPr marL="1600200" indent="-228600" defTabSz="1009650" eaLnBrk="0" hangingPunct="0">
                  <a:tabLst>
                    <a:tab pos="0" algn="l"/>
                  </a:tabLst>
                  <a:defRPr>
                    <a:solidFill>
                      <a:schemeClr val="tx1"/>
                    </a:solidFill>
                    <a:latin typeface="Tahoma" pitchFamily="34" charset="0"/>
                    <a:ea typeface="宋体" charset="-122"/>
                  </a:defRPr>
                </a:lvl4pPr>
                <a:lvl5pPr marL="2057400" indent="-228600" defTabSz="1009650" eaLnBrk="0" hangingPunct="0">
                  <a:tabLst>
                    <a:tab pos="0" algn="l"/>
                  </a:tabLst>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9pPr>
              </a:lstStyle>
              <a:p>
                <a:pPr eaLnBrk="1" hangingPunct="1">
                  <a:lnSpc>
                    <a:spcPts val="2100"/>
                  </a:lnSpc>
                </a:pPr>
                <a:r>
                  <a:rPr lang="en-US" altLang="zh-CN" dirty="0">
                    <a:latin typeface="+mj-lt"/>
                    <a:ea typeface="SimHei" panose="02010609060101010101" pitchFamily="49" charset="-122"/>
                  </a:rPr>
                  <a:t>Cache</a:t>
                </a:r>
              </a:p>
            </p:txBody>
          </p:sp>
          <p:sp>
            <p:nvSpPr>
              <p:cNvPr id="31" name="Freeform 30">
                <a:extLst>
                  <a:ext uri="{FF2B5EF4-FFF2-40B4-BE49-F238E27FC236}">
                    <a16:creationId xmlns:a16="http://schemas.microsoft.com/office/drawing/2014/main" id="{D0AA3F70-918B-0FFB-1D25-729FEE72E691}"/>
                  </a:ext>
                </a:extLst>
              </p:cNvPr>
              <p:cNvSpPr>
                <a:spLocks/>
              </p:cNvSpPr>
              <p:nvPr/>
            </p:nvSpPr>
            <p:spPr bwMode="auto">
              <a:xfrm>
                <a:off x="4095758" y="5278025"/>
                <a:ext cx="1011125" cy="296164"/>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0" h="10000">
                    <a:moveTo>
                      <a:pt x="0" y="0"/>
                    </a:moveTo>
                    <a:lnTo>
                      <a:pt x="10000" y="0"/>
                    </a:lnTo>
                    <a:lnTo>
                      <a:pt x="10000" y="10000"/>
                    </a:lnTo>
                    <a:lnTo>
                      <a:pt x="0" y="10000"/>
                    </a:lnTo>
                    <a:lnTo>
                      <a:pt x="0" y="0"/>
                    </a:lnTo>
                    <a:close/>
                    <a:moveTo>
                      <a:pt x="0" y="0"/>
                    </a:moveTo>
                  </a:path>
                </a:pathLst>
              </a:custGeom>
              <a:noFill/>
              <a:ln w="25400">
                <a:solidFill>
                  <a:schemeClr val="tx1"/>
                </a:solidFill>
                <a:prstDash val="solid"/>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2" name="Line 10">
                <a:extLst>
                  <a:ext uri="{FF2B5EF4-FFF2-40B4-BE49-F238E27FC236}">
                    <a16:creationId xmlns:a16="http://schemas.microsoft.com/office/drawing/2014/main" id="{33996A8B-889B-5CF7-3E76-8B70A9352B99}"/>
                  </a:ext>
                </a:extLst>
              </p:cNvPr>
              <p:cNvSpPr>
                <a:spLocks noChangeShapeType="1"/>
              </p:cNvSpPr>
              <p:nvPr/>
            </p:nvSpPr>
            <p:spPr bwMode="auto">
              <a:xfrm>
                <a:off x="4346795" y="5278025"/>
                <a:ext cx="0" cy="296164"/>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3" name="Line 11">
                <a:extLst>
                  <a:ext uri="{FF2B5EF4-FFF2-40B4-BE49-F238E27FC236}">
                    <a16:creationId xmlns:a16="http://schemas.microsoft.com/office/drawing/2014/main" id="{B6BAD81E-6975-E1CE-D4C7-6BD78F46E700}"/>
                  </a:ext>
                </a:extLst>
              </p:cNvPr>
              <p:cNvSpPr>
                <a:spLocks noChangeShapeType="1"/>
              </p:cNvSpPr>
              <p:nvPr/>
            </p:nvSpPr>
            <p:spPr bwMode="auto">
              <a:xfrm>
                <a:off x="4606798" y="5278025"/>
                <a:ext cx="0" cy="296164"/>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4" name="Line 12">
                <a:extLst>
                  <a:ext uri="{FF2B5EF4-FFF2-40B4-BE49-F238E27FC236}">
                    <a16:creationId xmlns:a16="http://schemas.microsoft.com/office/drawing/2014/main" id="{A96F8B84-3315-C60B-548E-7A822E55AA99}"/>
                  </a:ext>
                </a:extLst>
              </p:cNvPr>
              <p:cNvSpPr>
                <a:spLocks noChangeShapeType="1"/>
              </p:cNvSpPr>
              <p:nvPr/>
            </p:nvSpPr>
            <p:spPr bwMode="auto">
              <a:xfrm>
                <a:off x="4866802" y="5278025"/>
                <a:ext cx="0" cy="296164"/>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5" name="Line 13">
                <a:extLst>
                  <a:ext uri="{FF2B5EF4-FFF2-40B4-BE49-F238E27FC236}">
                    <a16:creationId xmlns:a16="http://schemas.microsoft.com/office/drawing/2014/main" id="{61FB38F8-02E6-466A-2739-889AF0033B0A}"/>
                  </a:ext>
                </a:extLst>
              </p:cNvPr>
              <p:cNvSpPr>
                <a:spLocks noChangeShapeType="1"/>
              </p:cNvSpPr>
              <p:nvPr/>
            </p:nvSpPr>
            <p:spPr bwMode="auto">
              <a:xfrm>
                <a:off x="3790151" y="5386944"/>
                <a:ext cx="304765"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6" name="Line 14">
                <a:extLst>
                  <a:ext uri="{FF2B5EF4-FFF2-40B4-BE49-F238E27FC236}">
                    <a16:creationId xmlns:a16="http://schemas.microsoft.com/office/drawing/2014/main" id="{57988F0D-6440-42C8-5F23-07B597B8BAD1}"/>
                  </a:ext>
                </a:extLst>
              </p:cNvPr>
              <p:cNvSpPr>
                <a:spLocks noChangeShapeType="1"/>
              </p:cNvSpPr>
              <p:nvPr/>
            </p:nvSpPr>
            <p:spPr bwMode="auto">
              <a:xfrm>
                <a:off x="3523075" y="4853972"/>
                <a:ext cx="543266" cy="0"/>
              </a:xfrm>
              <a:prstGeom prst="line">
                <a:avLst/>
              </a:prstGeom>
              <a:noFill/>
              <a:ln w="254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7" name="Text Box 15">
                <a:extLst>
                  <a:ext uri="{FF2B5EF4-FFF2-40B4-BE49-F238E27FC236}">
                    <a16:creationId xmlns:a16="http://schemas.microsoft.com/office/drawing/2014/main" id="{A77EC4C3-0DBD-3A3F-B82E-3B0181864307}"/>
                  </a:ext>
                </a:extLst>
              </p:cNvPr>
              <p:cNvSpPr txBox="1">
                <a:spLocks noChangeArrowheads="1"/>
              </p:cNvSpPr>
              <p:nvPr/>
            </p:nvSpPr>
            <p:spPr bwMode="auto">
              <a:xfrm>
                <a:off x="4144513" y="5571263"/>
                <a:ext cx="929742" cy="2693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009650" eaLnBrk="0" hangingPunct="0">
                  <a:tabLst>
                    <a:tab pos="0" algn="l"/>
                    <a:tab pos="1009650" algn="l"/>
                  </a:tabLst>
                  <a:defRPr>
                    <a:solidFill>
                      <a:schemeClr val="tx1"/>
                    </a:solidFill>
                    <a:latin typeface="Tahoma" pitchFamily="34" charset="0"/>
                    <a:ea typeface="宋体" charset="-122"/>
                  </a:defRPr>
                </a:lvl1pPr>
                <a:lvl2pPr marL="742950" indent="-285750" defTabSz="1009650" eaLnBrk="0" hangingPunct="0">
                  <a:tabLst>
                    <a:tab pos="0" algn="l"/>
                    <a:tab pos="1009650" algn="l"/>
                  </a:tabLst>
                  <a:defRPr>
                    <a:solidFill>
                      <a:schemeClr val="tx1"/>
                    </a:solidFill>
                    <a:latin typeface="Tahoma" pitchFamily="34" charset="0"/>
                    <a:ea typeface="宋体" charset="-122"/>
                  </a:defRPr>
                </a:lvl2pPr>
                <a:lvl3pPr marL="1143000" indent="-228600" defTabSz="1009650" eaLnBrk="0" hangingPunct="0">
                  <a:tabLst>
                    <a:tab pos="0" algn="l"/>
                    <a:tab pos="1009650" algn="l"/>
                  </a:tabLst>
                  <a:defRPr>
                    <a:solidFill>
                      <a:schemeClr val="tx1"/>
                    </a:solidFill>
                    <a:latin typeface="Tahoma" pitchFamily="34" charset="0"/>
                    <a:ea typeface="宋体" charset="-122"/>
                  </a:defRPr>
                </a:lvl3pPr>
                <a:lvl4pPr marL="1600200" indent="-228600" defTabSz="1009650" eaLnBrk="0" hangingPunct="0">
                  <a:tabLst>
                    <a:tab pos="0" algn="l"/>
                    <a:tab pos="1009650" algn="l"/>
                  </a:tabLst>
                  <a:defRPr>
                    <a:solidFill>
                      <a:schemeClr val="tx1"/>
                    </a:solidFill>
                    <a:latin typeface="Tahoma" pitchFamily="34" charset="0"/>
                    <a:ea typeface="宋体" charset="-122"/>
                  </a:defRPr>
                </a:lvl4pPr>
                <a:lvl5pPr marL="2057400" indent="-228600" defTabSz="1009650" eaLnBrk="0" hangingPunct="0">
                  <a:tabLst>
                    <a:tab pos="0" algn="l"/>
                    <a:tab pos="1009650" algn="l"/>
                  </a:tabLst>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tabLst>
                    <a:tab pos="0" algn="l"/>
                    <a:tab pos="1009650" algn="l"/>
                  </a:tabLst>
                  <a:defRPr>
                    <a:solidFill>
                      <a:schemeClr val="tx1"/>
                    </a:solidFill>
                    <a:latin typeface="Tahoma" pitchFamily="34" charset="0"/>
                    <a:ea typeface="宋体" charset="-122"/>
                  </a:defRPr>
                </a:lvl9pPr>
              </a:lstStyle>
              <a:p>
                <a:pPr eaLnBrk="1" hangingPunct="1">
                  <a:lnSpc>
                    <a:spcPts val="2100"/>
                  </a:lnSpc>
                </a:pPr>
                <a:r>
                  <a:rPr lang="zh-CN" altLang="en-US" dirty="0">
                    <a:solidFill>
                      <a:srgbClr val="0432FF"/>
                    </a:solidFill>
                    <a:latin typeface="+mj-lt"/>
                    <a:ea typeface="SimHei" panose="02010609060101010101" pitchFamily="49" charset="-122"/>
                  </a:rPr>
                  <a:t>写缓冲区</a:t>
                </a:r>
                <a:endParaRPr lang="en-US" altLang="zh-CN" dirty="0">
                  <a:solidFill>
                    <a:srgbClr val="0432FF"/>
                  </a:solidFill>
                  <a:latin typeface="+mj-lt"/>
                  <a:ea typeface="SimHei" panose="02010609060101010101" pitchFamily="49" charset="-122"/>
                </a:endParaRPr>
              </a:p>
            </p:txBody>
          </p:sp>
          <p:sp>
            <p:nvSpPr>
              <p:cNvPr id="38" name="Freeform 37">
                <a:extLst>
                  <a:ext uri="{FF2B5EF4-FFF2-40B4-BE49-F238E27FC236}">
                    <a16:creationId xmlns:a16="http://schemas.microsoft.com/office/drawing/2014/main" id="{572FF705-5759-DAEA-9550-3E08A8C88478}"/>
                  </a:ext>
                </a:extLst>
              </p:cNvPr>
              <p:cNvSpPr>
                <a:spLocks/>
              </p:cNvSpPr>
              <p:nvPr/>
            </p:nvSpPr>
            <p:spPr bwMode="auto">
              <a:xfrm>
                <a:off x="5517278" y="4551077"/>
                <a:ext cx="1184460" cy="1023112"/>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0" h="10000">
                    <a:moveTo>
                      <a:pt x="0" y="0"/>
                    </a:moveTo>
                    <a:lnTo>
                      <a:pt x="10000" y="0"/>
                    </a:lnTo>
                    <a:lnTo>
                      <a:pt x="10000" y="10000"/>
                    </a:lnTo>
                    <a:lnTo>
                      <a:pt x="0" y="10000"/>
                    </a:lnTo>
                    <a:lnTo>
                      <a:pt x="0" y="0"/>
                    </a:lnTo>
                    <a:close/>
                    <a:moveTo>
                      <a:pt x="0" y="0"/>
                    </a:moveTo>
                  </a:path>
                </a:pathLst>
              </a:custGeom>
              <a:noFill/>
              <a:ln w="25400">
                <a:solidFill>
                  <a:schemeClr val="tx1"/>
                </a:solidFill>
                <a:prstDash val="solid"/>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39" name="Text Box 17">
                <a:extLst>
                  <a:ext uri="{FF2B5EF4-FFF2-40B4-BE49-F238E27FC236}">
                    <a16:creationId xmlns:a16="http://schemas.microsoft.com/office/drawing/2014/main" id="{358DC0CE-EA9C-1F0A-0212-7E7AFFCCC32D}"/>
                  </a:ext>
                </a:extLst>
              </p:cNvPr>
              <p:cNvSpPr txBox="1">
                <a:spLocks noChangeArrowheads="1"/>
              </p:cNvSpPr>
              <p:nvPr/>
            </p:nvSpPr>
            <p:spPr bwMode="auto">
              <a:xfrm>
                <a:off x="5593112" y="4793328"/>
                <a:ext cx="1032792" cy="5386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1009650" eaLnBrk="0" hangingPunct="0">
                  <a:tabLst>
                    <a:tab pos="0" algn="l"/>
                  </a:tabLst>
                  <a:defRPr>
                    <a:solidFill>
                      <a:schemeClr val="tx1"/>
                    </a:solidFill>
                    <a:latin typeface="Tahoma" pitchFamily="34" charset="0"/>
                    <a:ea typeface="宋体" charset="-122"/>
                  </a:defRPr>
                </a:lvl1pPr>
                <a:lvl2pPr marL="742950" indent="-285750" defTabSz="1009650" eaLnBrk="0" hangingPunct="0">
                  <a:tabLst>
                    <a:tab pos="0" algn="l"/>
                  </a:tabLst>
                  <a:defRPr>
                    <a:solidFill>
                      <a:schemeClr val="tx1"/>
                    </a:solidFill>
                    <a:latin typeface="Tahoma" pitchFamily="34" charset="0"/>
                    <a:ea typeface="宋体" charset="-122"/>
                  </a:defRPr>
                </a:lvl2pPr>
                <a:lvl3pPr marL="1143000" indent="-228600" defTabSz="1009650" eaLnBrk="0" hangingPunct="0">
                  <a:tabLst>
                    <a:tab pos="0" algn="l"/>
                  </a:tabLst>
                  <a:defRPr>
                    <a:solidFill>
                      <a:schemeClr val="tx1"/>
                    </a:solidFill>
                    <a:latin typeface="Tahoma" pitchFamily="34" charset="0"/>
                    <a:ea typeface="宋体" charset="-122"/>
                  </a:defRPr>
                </a:lvl3pPr>
                <a:lvl4pPr marL="1600200" indent="-228600" defTabSz="1009650" eaLnBrk="0" hangingPunct="0">
                  <a:tabLst>
                    <a:tab pos="0" algn="l"/>
                  </a:tabLst>
                  <a:defRPr>
                    <a:solidFill>
                      <a:schemeClr val="tx1"/>
                    </a:solidFill>
                    <a:latin typeface="Tahoma" pitchFamily="34" charset="0"/>
                    <a:ea typeface="宋体" charset="-122"/>
                  </a:defRPr>
                </a:lvl4pPr>
                <a:lvl5pPr marL="2057400" indent="-228600" defTabSz="1009650" eaLnBrk="0" hangingPunct="0">
                  <a:tabLst>
                    <a:tab pos="0" algn="l"/>
                  </a:tabLst>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tabLst>
                    <a:tab pos="0" algn="l"/>
                  </a:tabLst>
                  <a:defRPr>
                    <a:solidFill>
                      <a:schemeClr val="tx1"/>
                    </a:solidFill>
                    <a:latin typeface="Tahoma" pitchFamily="34" charset="0"/>
                    <a:ea typeface="宋体" charset="-122"/>
                  </a:defRPr>
                </a:lvl9pPr>
              </a:lstStyle>
              <a:p>
                <a:pPr algn="ctr" eaLnBrk="1" hangingPunct="1">
                  <a:lnSpc>
                    <a:spcPts val="2100"/>
                  </a:lnSpc>
                </a:pPr>
                <a:r>
                  <a:rPr lang="en-US" altLang="zh-CN" dirty="0">
                    <a:latin typeface="+mj-lt"/>
                    <a:ea typeface="SimHei" panose="02010609060101010101" pitchFamily="49" charset="-122"/>
                  </a:rPr>
                  <a:t>Main memory</a:t>
                </a:r>
              </a:p>
            </p:txBody>
          </p:sp>
          <p:sp>
            <p:nvSpPr>
              <p:cNvPr id="40" name="Line 18">
                <a:extLst>
                  <a:ext uri="{FF2B5EF4-FFF2-40B4-BE49-F238E27FC236}">
                    <a16:creationId xmlns:a16="http://schemas.microsoft.com/office/drawing/2014/main" id="{98B5F3E6-38A3-6A44-6D7E-1D9C69963068}"/>
                  </a:ext>
                </a:extLst>
              </p:cNvPr>
              <p:cNvSpPr>
                <a:spLocks noChangeShapeType="1"/>
              </p:cNvSpPr>
              <p:nvPr/>
            </p:nvSpPr>
            <p:spPr bwMode="auto">
              <a:xfrm>
                <a:off x="5113739" y="5419376"/>
                <a:ext cx="403539"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41" name="Line 19">
                <a:extLst>
                  <a:ext uri="{FF2B5EF4-FFF2-40B4-BE49-F238E27FC236}">
                    <a16:creationId xmlns:a16="http://schemas.microsoft.com/office/drawing/2014/main" id="{91173588-EDD5-3129-6BBF-B492CCA073A0}"/>
                  </a:ext>
                </a:extLst>
              </p:cNvPr>
              <p:cNvSpPr>
                <a:spLocks noChangeShapeType="1"/>
              </p:cNvSpPr>
              <p:nvPr/>
            </p:nvSpPr>
            <p:spPr bwMode="auto">
              <a:xfrm>
                <a:off x="5086198" y="4853972"/>
                <a:ext cx="431080" cy="0"/>
              </a:xfrm>
              <a:prstGeom prst="line">
                <a:avLst/>
              </a:prstGeom>
              <a:noFill/>
              <a:ln w="254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42" name="Line 20">
                <a:extLst>
                  <a:ext uri="{FF2B5EF4-FFF2-40B4-BE49-F238E27FC236}">
                    <a16:creationId xmlns:a16="http://schemas.microsoft.com/office/drawing/2014/main" id="{7E0339BC-7B12-749E-2C19-9679CFAEE9E9}"/>
                  </a:ext>
                </a:extLst>
              </p:cNvPr>
              <p:cNvSpPr>
                <a:spLocks noChangeShapeType="1"/>
              </p:cNvSpPr>
              <p:nvPr/>
            </p:nvSpPr>
            <p:spPr bwMode="auto">
              <a:xfrm>
                <a:off x="3790152" y="4847837"/>
                <a:ext cx="0" cy="53848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sp>
            <p:nvSpPr>
              <p:cNvPr id="43" name="Freeform 22">
                <a:extLst>
                  <a:ext uri="{FF2B5EF4-FFF2-40B4-BE49-F238E27FC236}">
                    <a16:creationId xmlns:a16="http://schemas.microsoft.com/office/drawing/2014/main" id="{DA7925B5-173C-480B-FB9A-8E8AB2951071}"/>
                  </a:ext>
                </a:extLst>
              </p:cNvPr>
              <p:cNvSpPr>
                <a:spLocks/>
              </p:cNvSpPr>
              <p:nvPr/>
            </p:nvSpPr>
            <p:spPr bwMode="auto">
              <a:xfrm>
                <a:off x="3872389" y="5156841"/>
                <a:ext cx="1471996" cy="857832"/>
              </a:xfrm>
              <a:custGeom>
                <a:avLst/>
                <a:gdLst>
                  <a:gd name="T0" fmla="*/ 1 w 9111"/>
                  <a:gd name="T1" fmla="*/ 0 h 9111"/>
                  <a:gd name="T2" fmla="*/ 1 w 9111"/>
                  <a:gd name="T3" fmla="*/ 0 h 9111"/>
                  <a:gd name="T4" fmla="*/ 0 w 9111"/>
                  <a:gd name="T5" fmla="*/ 0 h 9111"/>
                  <a:gd name="T6" fmla="*/ 0 w 9111"/>
                  <a:gd name="T7" fmla="*/ 0 h 9111"/>
                  <a:gd name="T8" fmla="*/ 1 w 9111"/>
                  <a:gd name="T9" fmla="*/ 0 h 9111"/>
                  <a:gd name="T10" fmla="*/ 1 w 9111"/>
                  <a:gd name="T11" fmla="*/ 0 h 91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25400">
                <a:solidFill>
                  <a:srgbClr val="0432FF"/>
                </a:solidFill>
                <a:prstDash val="solid"/>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dirty="0">
                  <a:ea typeface="SimHei" panose="02010609060101010101" pitchFamily="49" charset="-122"/>
                </a:endParaRPr>
              </a:p>
            </p:txBody>
          </p:sp>
        </p:grpSp>
        <p:sp>
          <p:nvSpPr>
            <p:cNvPr id="2" name="TextBox 1">
              <a:extLst>
                <a:ext uri="{FF2B5EF4-FFF2-40B4-BE49-F238E27FC236}">
                  <a16:creationId xmlns:a16="http://schemas.microsoft.com/office/drawing/2014/main" id="{124CB44E-8D51-F10C-568C-B29BE7858EB9}"/>
                </a:ext>
              </a:extLst>
            </p:cNvPr>
            <p:cNvSpPr txBox="1"/>
            <p:nvPr/>
          </p:nvSpPr>
          <p:spPr>
            <a:xfrm>
              <a:off x="5363009" y="6441342"/>
              <a:ext cx="2787943" cy="369332"/>
            </a:xfrm>
            <a:prstGeom prst="rect">
              <a:avLst/>
            </a:prstGeom>
            <a:noFill/>
          </p:spPr>
          <p:txBody>
            <a:bodyPr wrap="none" rtlCol="0">
              <a:spAutoFit/>
            </a:bodyPr>
            <a:lstStyle/>
            <a:p>
              <a:r>
                <a:rPr lang="zh-CN" altLang="en-US" dirty="0">
                  <a:solidFill>
                    <a:srgbClr val="0432FF"/>
                  </a:solidFill>
                  <a:ea typeface="SimHei" panose="02010609060101010101" pitchFamily="49" charset="-122"/>
                </a:rPr>
                <a:t>在读取内存前检查写缓冲</a:t>
              </a:r>
              <a:r>
                <a:rPr lang="en-CN" dirty="0">
                  <a:solidFill>
                    <a:srgbClr val="0432FF"/>
                  </a:solidFill>
                  <a:ea typeface="SimHei" panose="02010609060101010101" pitchFamily="49" charset="-122"/>
                </a:rPr>
                <a:t>!</a:t>
              </a:r>
            </a:p>
          </p:txBody>
        </p:sp>
      </p:grpSp>
      <mc:AlternateContent xmlns:mc="http://schemas.openxmlformats.org/markup-compatibility/2006">
        <mc:Choice xmlns:p14="http://schemas.microsoft.com/office/powerpoint/2010/main" Requires="p14">
          <p:contentPart p14:bwMode="auto" r:id="rId3">
            <p14:nvContentPartPr>
              <p14:cNvPr id="44" name="墨迹 43">
                <a:extLst>
                  <a:ext uri="{FF2B5EF4-FFF2-40B4-BE49-F238E27FC236}">
                    <a16:creationId xmlns:a16="http://schemas.microsoft.com/office/drawing/2014/main" id="{4BFC0492-D3E8-BD3F-1D64-6E3CDAE695AA}"/>
                  </a:ext>
                </a:extLst>
              </p14:cNvPr>
              <p14:cNvContentPartPr/>
              <p14:nvPr/>
            </p14:nvContentPartPr>
            <p14:xfrm>
              <a:off x="2230560" y="2351160"/>
              <a:ext cx="2467800" cy="640800"/>
            </p14:xfrm>
          </p:contentPart>
        </mc:Choice>
        <mc:Fallback>
          <p:pic>
            <p:nvPicPr>
              <p:cNvPr id="44" name="墨迹 43">
                <a:extLst>
                  <a:ext uri="{FF2B5EF4-FFF2-40B4-BE49-F238E27FC236}">
                    <a16:creationId xmlns:a16="http://schemas.microsoft.com/office/drawing/2014/main" id="{4BFC0492-D3E8-BD3F-1D64-6E3CDAE695AA}"/>
                  </a:ext>
                </a:extLst>
              </p:cNvPr>
              <p:cNvPicPr/>
              <p:nvPr/>
            </p:nvPicPr>
            <p:blipFill>
              <a:blip r:embed="rId4"/>
              <a:stretch>
                <a:fillRect/>
              </a:stretch>
            </p:blipFill>
            <p:spPr>
              <a:xfrm>
                <a:off x="2221200" y="2341800"/>
                <a:ext cx="2486520" cy="659520"/>
              </a:xfrm>
              <a:prstGeom prst="rect">
                <a:avLst/>
              </a:prstGeom>
            </p:spPr>
          </p:pic>
        </mc:Fallback>
      </mc:AlternateContent>
    </p:spTree>
    <p:extLst>
      <p:ext uri="{BB962C8B-B14F-4D97-AF65-F5344CB8AC3E}">
        <p14:creationId xmlns:p14="http://schemas.microsoft.com/office/powerpoint/2010/main" val="2111327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66</a:t>
            </a:fld>
            <a:endParaRPr lang="en-US" altLang="zh-CN"/>
          </a:p>
        </p:txBody>
      </p:sp>
      <p:grpSp>
        <p:nvGrpSpPr>
          <p:cNvPr id="57" name="组合 56">
            <a:extLst>
              <a:ext uri="{FF2B5EF4-FFF2-40B4-BE49-F238E27FC236}">
                <a16:creationId xmlns:a16="http://schemas.microsoft.com/office/drawing/2014/main" id="{759EC936-F9F1-1C40-870B-C3F785884237}"/>
              </a:ext>
            </a:extLst>
          </p:cNvPr>
          <p:cNvGrpSpPr/>
          <p:nvPr/>
        </p:nvGrpSpPr>
        <p:grpSpPr>
          <a:xfrm>
            <a:off x="868607" y="2032402"/>
            <a:ext cx="7886041" cy="4328106"/>
            <a:chOff x="1027883" y="2088372"/>
            <a:chExt cx="7886041" cy="4328106"/>
          </a:xfrm>
        </p:grpSpPr>
        <p:cxnSp>
          <p:nvCxnSpPr>
            <p:cNvPr id="42" name="直线箭头连接符 41">
              <a:extLst>
                <a:ext uri="{FF2B5EF4-FFF2-40B4-BE49-F238E27FC236}">
                  <a16:creationId xmlns:a16="http://schemas.microsoft.com/office/drawing/2014/main" id="{7E040DFD-85FD-2B4E-9E6D-00D2B91E56DA}"/>
                </a:ext>
              </a:extLst>
            </p:cNvPr>
            <p:cNvCxnSpPr>
              <a:cxnSpLocks/>
              <a:endCxn id="51" idx="0"/>
            </p:cNvCxnSpPr>
            <p:nvPr/>
          </p:nvCxnSpPr>
          <p:spPr>
            <a:xfrm>
              <a:off x="6094489" y="2875553"/>
              <a:ext cx="0" cy="73789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圆角矩形 22">
              <a:extLst>
                <a:ext uri="{FF2B5EF4-FFF2-40B4-BE49-F238E27FC236}">
                  <a16:creationId xmlns:a16="http://schemas.microsoft.com/office/drawing/2014/main" id="{7A6BF694-E8E9-8F4C-AA80-147B8912C38D}"/>
                </a:ext>
              </a:extLst>
            </p:cNvPr>
            <p:cNvSpPr/>
            <p:nvPr/>
          </p:nvSpPr>
          <p:spPr>
            <a:xfrm>
              <a:off x="3330983" y="2088372"/>
              <a:ext cx="1537115" cy="264044"/>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访存请求</a:t>
              </a:r>
            </a:p>
          </p:txBody>
        </p:sp>
        <p:cxnSp>
          <p:nvCxnSpPr>
            <p:cNvPr id="24" name="直线箭头连接符 23">
              <a:extLst>
                <a:ext uri="{FF2B5EF4-FFF2-40B4-BE49-F238E27FC236}">
                  <a16:creationId xmlns:a16="http://schemas.microsoft.com/office/drawing/2014/main" id="{7873D2C6-4E4A-BB4A-929E-2819B8689746}"/>
                </a:ext>
              </a:extLst>
            </p:cNvPr>
            <p:cNvCxnSpPr/>
            <p:nvPr/>
          </p:nvCxnSpPr>
          <p:spPr>
            <a:xfrm>
              <a:off x="4099540" y="2352416"/>
              <a:ext cx="0" cy="236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菱形 24">
              <a:extLst>
                <a:ext uri="{FF2B5EF4-FFF2-40B4-BE49-F238E27FC236}">
                  <a16:creationId xmlns:a16="http://schemas.microsoft.com/office/drawing/2014/main" id="{BC2F7DD1-58AD-1A45-BAD4-E5A24DAF2FF5}"/>
                </a:ext>
              </a:extLst>
            </p:cNvPr>
            <p:cNvSpPr/>
            <p:nvPr/>
          </p:nvSpPr>
          <p:spPr>
            <a:xfrm>
              <a:off x="3022832" y="2590003"/>
              <a:ext cx="2153417" cy="383688"/>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请求类型</a:t>
              </a:r>
            </a:p>
          </p:txBody>
        </p:sp>
        <p:sp>
          <p:nvSpPr>
            <p:cNvPr id="26" name="菱形 25">
              <a:extLst>
                <a:ext uri="{FF2B5EF4-FFF2-40B4-BE49-F238E27FC236}">
                  <a16:creationId xmlns:a16="http://schemas.microsoft.com/office/drawing/2014/main" id="{7F9EBE37-306C-914D-B8CF-A1C15A194088}"/>
                </a:ext>
              </a:extLst>
            </p:cNvPr>
            <p:cNvSpPr/>
            <p:nvPr/>
          </p:nvSpPr>
          <p:spPr>
            <a:xfrm>
              <a:off x="1027883" y="2994599"/>
              <a:ext cx="2153417" cy="383688"/>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是否命中</a:t>
              </a:r>
            </a:p>
          </p:txBody>
        </p:sp>
        <p:sp>
          <p:nvSpPr>
            <p:cNvPr id="27" name="菱形 26">
              <a:extLst>
                <a:ext uri="{FF2B5EF4-FFF2-40B4-BE49-F238E27FC236}">
                  <a16:creationId xmlns:a16="http://schemas.microsoft.com/office/drawing/2014/main" id="{9E596679-45AB-4743-9CB0-42789411B4F7}"/>
                </a:ext>
              </a:extLst>
            </p:cNvPr>
            <p:cNvSpPr/>
            <p:nvPr/>
          </p:nvSpPr>
          <p:spPr>
            <a:xfrm>
              <a:off x="5017780" y="2994599"/>
              <a:ext cx="2153417" cy="383688"/>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是否命中</a:t>
              </a:r>
            </a:p>
          </p:txBody>
        </p:sp>
        <p:cxnSp>
          <p:nvCxnSpPr>
            <p:cNvPr id="28" name="肘形连接符 27">
              <a:extLst>
                <a:ext uri="{FF2B5EF4-FFF2-40B4-BE49-F238E27FC236}">
                  <a16:creationId xmlns:a16="http://schemas.microsoft.com/office/drawing/2014/main" id="{48303EF9-C931-2244-B8BB-32D2DC7965E6}"/>
                </a:ext>
              </a:extLst>
            </p:cNvPr>
            <p:cNvCxnSpPr>
              <a:stCxn id="25" idx="1"/>
              <a:endCxn id="26" idx="0"/>
            </p:cNvCxnSpPr>
            <p:nvPr/>
          </p:nvCxnSpPr>
          <p:spPr>
            <a:xfrm rot="10800000" flipV="1">
              <a:off x="2104593" y="2781847"/>
              <a:ext cx="918240" cy="21275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肘形连接符 28">
              <a:extLst>
                <a:ext uri="{FF2B5EF4-FFF2-40B4-BE49-F238E27FC236}">
                  <a16:creationId xmlns:a16="http://schemas.microsoft.com/office/drawing/2014/main" id="{1E91F0AA-0308-884C-92D2-A9F2F9DBC5E8}"/>
                </a:ext>
              </a:extLst>
            </p:cNvPr>
            <p:cNvCxnSpPr>
              <a:cxnSpLocks/>
              <a:stCxn id="25" idx="3"/>
              <a:endCxn id="27" idx="0"/>
            </p:cNvCxnSpPr>
            <p:nvPr/>
          </p:nvCxnSpPr>
          <p:spPr>
            <a:xfrm>
              <a:off x="5176249" y="2781847"/>
              <a:ext cx="918240" cy="21275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F9BF6180-2850-C540-B403-B4DCD96E1952}"/>
                </a:ext>
              </a:extLst>
            </p:cNvPr>
            <p:cNvSpPr txBox="1"/>
            <p:nvPr/>
          </p:nvSpPr>
          <p:spPr>
            <a:xfrm>
              <a:off x="2199922" y="2471236"/>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读</a:t>
              </a:r>
            </a:p>
          </p:txBody>
        </p:sp>
        <p:sp>
          <p:nvSpPr>
            <p:cNvPr id="31" name="文本框 30">
              <a:extLst>
                <a:ext uri="{FF2B5EF4-FFF2-40B4-BE49-F238E27FC236}">
                  <a16:creationId xmlns:a16="http://schemas.microsoft.com/office/drawing/2014/main" id="{4550C8CE-C4D2-FD49-A208-BD2253A91F6A}"/>
                </a:ext>
              </a:extLst>
            </p:cNvPr>
            <p:cNvSpPr txBox="1"/>
            <p:nvPr/>
          </p:nvSpPr>
          <p:spPr>
            <a:xfrm>
              <a:off x="5630620" y="2471236"/>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写</a:t>
              </a:r>
            </a:p>
          </p:txBody>
        </p:sp>
        <p:sp>
          <p:nvSpPr>
            <p:cNvPr id="32" name="矩形 31">
              <a:extLst>
                <a:ext uri="{FF2B5EF4-FFF2-40B4-BE49-F238E27FC236}">
                  <a16:creationId xmlns:a16="http://schemas.microsoft.com/office/drawing/2014/main" id="{87D69875-F812-344B-8FD5-1E02805471E5}"/>
                </a:ext>
              </a:extLst>
            </p:cNvPr>
            <p:cNvSpPr/>
            <p:nvPr/>
          </p:nvSpPr>
          <p:spPr>
            <a:xfrm>
              <a:off x="1027883" y="3613450"/>
              <a:ext cx="2153417" cy="59594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选择主存地址对应的</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a:t>
              </a:r>
            </a:p>
          </p:txBody>
        </p:sp>
        <p:cxnSp>
          <p:nvCxnSpPr>
            <p:cNvPr id="33" name="直线箭头连接符 32">
              <a:extLst>
                <a:ext uri="{FF2B5EF4-FFF2-40B4-BE49-F238E27FC236}">
                  <a16:creationId xmlns:a16="http://schemas.microsoft.com/office/drawing/2014/main" id="{9A9893E2-3782-1D4F-BDE6-DBD3BE53553B}"/>
                </a:ext>
              </a:extLst>
            </p:cNvPr>
            <p:cNvCxnSpPr/>
            <p:nvPr/>
          </p:nvCxnSpPr>
          <p:spPr>
            <a:xfrm>
              <a:off x="2104592" y="3378287"/>
              <a:ext cx="0" cy="236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82E62C14-6D12-C24F-98BD-3BAF6D843C97}"/>
                </a:ext>
              </a:extLst>
            </p:cNvPr>
            <p:cNvSpPr/>
            <p:nvPr/>
          </p:nvSpPr>
          <p:spPr>
            <a:xfrm>
              <a:off x="1027883" y="4446015"/>
              <a:ext cx="2153417" cy="59759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将数据从主存储器内加载到对应</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行中</a:t>
              </a:r>
            </a:p>
          </p:txBody>
        </p:sp>
        <p:cxnSp>
          <p:nvCxnSpPr>
            <p:cNvPr id="35" name="直线箭头连接符 34">
              <a:extLst>
                <a:ext uri="{FF2B5EF4-FFF2-40B4-BE49-F238E27FC236}">
                  <a16:creationId xmlns:a16="http://schemas.microsoft.com/office/drawing/2014/main" id="{612EEDC3-8DBC-284B-8613-17DBA296D7EF}"/>
                </a:ext>
              </a:extLst>
            </p:cNvPr>
            <p:cNvCxnSpPr/>
            <p:nvPr/>
          </p:nvCxnSpPr>
          <p:spPr>
            <a:xfrm>
              <a:off x="2104592" y="4210853"/>
              <a:ext cx="0" cy="236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409431E8-2540-3144-BE40-1E2194386E1C}"/>
                </a:ext>
              </a:extLst>
            </p:cNvPr>
            <p:cNvSpPr txBox="1"/>
            <p:nvPr/>
          </p:nvSpPr>
          <p:spPr>
            <a:xfrm>
              <a:off x="2199922" y="3298972"/>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否</a:t>
              </a:r>
            </a:p>
          </p:txBody>
        </p:sp>
        <p:sp>
          <p:nvSpPr>
            <p:cNvPr id="37" name="矩形 36">
              <a:extLst>
                <a:ext uri="{FF2B5EF4-FFF2-40B4-BE49-F238E27FC236}">
                  <a16:creationId xmlns:a16="http://schemas.microsoft.com/office/drawing/2014/main" id="{B54E662C-28EB-AB4A-A61D-C57778DC7A17}"/>
                </a:ext>
              </a:extLst>
            </p:cNvPr>
            <p:cNvSpPr/>
            <p:nvPr/>
          </p:nvSpPr>
          <p:spPr>
            <a:xfrm>
              <a:off x="1027883" y="5272841"/>
              <a:ext cx="2153417" cy="61850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将需要读的数据返回给处理器</a:t>
              </a:r>
            </a:p>
          </p:txBody>
        </p:sp>
        <p:cxnSp>
          <p:nvCxnSpPr>
            <p:cNvPr id="38" name="直线箭头连接符 37">
              <a:extLst>
                <a:ext uri="{FF2B5EF4-FFF2-40B4-BE49-F238E27FC236}">
                  <a16:creationId xmlns:a16="http://schemas.microsoft.com/office/drawing/2014/main" id="{07F50271-5605-0440-9116-BC5A59FBCCC7}"/>
                </a:ext>
              </a:extLst>
            </p:cNvPr>
            <p:cNvCxnSpPr/>
            <p:nvPr/>
          </p:nvCxnSpPr>
          <p:spPr>
            <a:xfrm>
              <a:off x="2104592" y="5037680"/>
              <a:ext cx="0" cy="236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肘形连接符 38">
              <a:extLst>
                <a:ext uri="{FF2B5EF4-FFF2-40B4-BE49-F238E27FC236}">
                  <a16:creationId xmlns:a16="http://schemas.microsoft.com/office/drawing/2014/main" id="{CBBEA5FB-5839-034F-B8A0-2D5EC38FF4C9}"/>
                </a:ext>
              </a:extLst>
            </p:cNvPr>
            <p:cNvCxnSpPr>
              <a:cxnSpLocks/>
              <a:stCxn id="26" idx="3"/>
              <a:endCxn id="37" idx="3"/>
            </p:cNvCxnSpPr>
            <p:nvPr/>
          </p:nvCxnSpPr>
          <p:spPr>
            <a:xfrm>
              <a:off x="3181300" y="3186443"/>
              <a:ext cx="21349" cy="2395650"/>
            </a:xfrm>
            <a:prstGeom prst="bentConnector3">
              <a:avLst>
                <a:gd name="adj1" fmla="val 180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04FF3B40-1A1A-7B41-90C6-37BA21A0667D}"/>
                </a:ext>
              </a:extLst>
            </p:cNvPr>
            <p:cNvSpPr txBox="1"/>
            <p:nvPr/>
          </p:nvSpPr>
          <p:spPr>
            <a:xfrm>
              <a:off x="3216607" y="2884205"/>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是</a:t>
              </a:r>
            </a:p>
          </p:txBody>
        </p:sp>
        <p:sp>
          <p:nvSpPr>
            <p:cNvPr id="41" name="矩形 40">
              <a:extLst>
                <a:ext uri="{FF2B5EF4-FFF2-40B4-BE49-F238E27FC236}">
                  <a16:creationId xmlns:a16="http://schemas.microsoft.com/office/drawing/2014/main" id="{97F0865B-13D8-9245-9FAE-1842D4B0602B}"/>
                </a:ext>
              </a:extLst>
            </p:cNvPr>
            <p:cNvSpPr/>
            <p:nvPr/>
          </p:nvSpPr>
          <p:spPr>
            <a:xfrm>
              <a:off x="5016128" y="5299677"/>
              <a:ext cx="2153417" cy="5976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CN" sz="1600" dirty="0">
                  <a:solidFill>
                    <a:schemeClr val="tx1"/>
                  </a:solidFill>
                  <a:latin typeface="SimHei" panose="02010609060101010101" pitchFamily="49" charset="-122"/>
                  <a:ea typeface="SimHei" panose="02010609060101010101" pitchFamily="49" charset="-122"/>
                </a:rPr>
                <a:t>更新</a:t>
              </a:r>
              <a:r>
                <a:rPr kumimoji="1" lang="zh-CN" altLang="en-US" sz="1600" dirty="0">
                  <a:solidFill>
                    <a:schemeClr val="tx1"/>
                  </a:solidFill>
                  <a:latin typeface="SimHei" panose="02010609060101010101" pitchFamily="49" charset="-122"/>
                  <a:ea typeface="SimHei" panose="02010609060101010101" pitchFamily="49" charset="-122"/>
                </a:rPr>
                <a:t>主存储器块中</a:t>
              </a:r>
              <a:br>
                <a:rPr kumimoji="1" lang="en-US" altLang="zh-CN" sz="1600" dirty="0">
                  <a:solidFill>
                    <a:schemeClr val="tx1"/>
                  </a:solidFill>
                  <a:latin typeface="SimHei" panose="02010609060101010101" pitchFamily="49" charset="-122"/>
                  <a:ea typeface="SimHei" panose="02010609060101010101" pitchFamily="49" charset="-122"/>
                </a:rPr>
              </a:br>
              <a:r>
                <a:rPr kumimoji="1" lang="zh-CN" altLang="en-US" sz="1600" dirty="0">
                  <a:solidFill>
                    <a:schemeClr val="tx1"/>
                  </a:solidFill>
                  <a:latin typeface="SimHei" panose="02010609060101010101" pitchFamily="49" charset="-122"/>
                  <a:ea typeface="SimHei" panose="02010609060101010101" pitchFamily="49" charset="-122"/>
                </a:rPr>
                <a:t>对应的数据</a:t>
              </a:r>
            </a:p>
          </p:txBody>
        </p:sp>
        <p:sp>
          <p:nvSpPr>
            <p:cNvPr id="43" name="文本框 42">
              <a:extLst>
                <a:ext uri="{FF2B5EF4-FFF2-40B4-BE49-F238E27FC236}">
                  <a16:creationId xmlns:a16="http://schemas.microsoft.com/office/drawing/2014/main" id="{750FEE7D-FF81-2645-90E9-5F302BA01A01}"/>
                </a:ext>
              </a:extLst>
            </p:cNvPr>
            <p:cNvSpPr txBox="1"/>
            <p:nvPr/>
          </p:nvSpPr>
          <p:spPr>
            <a:xfrm>
              <a:off x="6094489" y="3298972"/>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否</a:t>
              </a:r>
            </a:p>
          </p:txBody>
        </p:sp>
        <p:sp>
          <p:nvSpPr>
            <p:cNvPr id="44" name="矩形 43">
              <a:extLst>
                <a:ext uri="{FF2B5EF4-FFF2-40B4-BE49-F238E27FC236}">
                  <a16:creationId xmlns:a16="http://schemas.microsoft.com/office/drawing/2014/main" id="{C84E4125-DE17-C34F-9C96-BE387015E856}"/>
                </a:ext>
              </a:extLst>
            </p:cNvPr>
            <p:cNvSpPr/>
            <p:nvPr/>
          </p:nvSpPr>
          <p:spPr>
            <a:xfrm>
              <a:off x="7357960" y="3613450"/>
              <a:ext cx="1555964" cy="59594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将数据写入对应的</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行中</a:t>
              </a:r>
            </a:p>
          </p:txBody>
        </p:sp>
        <p:cxnSp>
          <p:nvCxnSpPr>
            <p:cNvPr id="45" name="肘形连接符 44">
              <a:extLst>
                <a:ext uri="{FF2B5EF4-FFF2-40B4-BE49-F238E27FC236}">
                  <a16:creationId xmlns:a16="http://schemas.microsoft.com/office/drawing/2014/main" id="{3060019D-B4DC-3845-8BD9-5D630AD18BC1}"/>
                </a:ext>
              </a:extLst>
            </p:cNvPr>
            <p:cNvCxnSpPr>
              <a:cxnSpLocks/>
              <a:stCxn id="27" idx="3"/>
              <a:endCxn id="44" idx="0"/>
            </p:cNvCxnSpPr>
            <p:nvPr/>
          </p:nvCxnSpPr>
          <p:spPr>
            <a:xfrm>
              <a:off x="7171197" y="3186443"/>
              <a:ext cx="964745" cy="427007"/>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45">
              <a:extLst>
                <a:ext uri="{FF2B5EF4-FFF2-40B4-BE49-F238E27FC236}">
                  <a16:creationId xmlns:a16="http://schemas.microsoft.com/office/drawing/2014/main" id="{AE069C24-F471-5A4F-B848-36426C65F75B}"/>
                </a:ext>
              </a:extLst>
            </p:cNvPr>
            <p:cNvCxnSpPr>
              <a:cxnSpLocks/>
              <a:stCxn id="44" idx="2"/>
              <a:endCxn id="41" idx="3"/>
            </p:cNvCxnSpPr>
            <p:nvPr/>
          </p:nvCxnSpPr>
          <p:spPr>
            <a:xfrm rot="5400000">
              <a:off x="6958202" y="4420736"/>
              <a:ext cx="1389085" cy="966397"/>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A65CC6F7-F628-F341-87E0-EBF55EAF2251}"/>
                </a:ext>
              </a:extLst>
            </p:cNvPr>
            <p:cNvSpPr txBox="1"/>
            <p:nvPr/>
          </p:nvSpPr>
          <p:spPr>
            <a:xfrm>
              <a:off x="7219649" y="2884205"/>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是</a:t>
              </a:r>
            </a:p>
          </p:txBody>
        </p:sp>
        <p:sp>
          <p:nvSpPr>
            <p:cNvPr id="48" name="圆角矩形 47">
              <a:extLst>
                <a:ext uri="{FF2B5EF4-FFF2-40B4-BE49-F238E27FC236}">
                  <a16:creationId xmlns:a16="http://schemas.microsoft.com/office/drawing/2014/main" id="{68C7CC42-B0EB-7546-99C8-B4AA70BAB4FB}"/>
                </a:ext>
              </a:extLst>
            </p:cNvPr>
            <p:cNvSpPr/>
            <p:nvPr/>
          </p:nvSpPr>
          <p:spPr>
            <a:xfrm>
              <a:off x="3330983" y="6152433"/>
              <a:ext cx="1537115" cy="264045"/>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完成访存</a:t>
              </a:r>
            </a:p>
          </p:txBody>
        </p:sp>
        <p:cxnSp>
          <p:nvCxnSpPr>
            <p:cNvPr id="49" name="肘形连接符 48">
              <a:extLst>
                <a:ext uri="{FF2B5EF4-FFF2-40B4-BE49-F238E27FC236}">
                  <a16:creationId xmlns:a16="http://schemas.microsoft.com/office/drawing/2014/main" id="{B5D55F96-2BAE-1448-AB4D-31205D7EA861}"/>
                </a:ext>
              </a:extLst>
            </p:cNvPr>
            <p:cNvCxnSpPr>
              <a:cxnSpLocks/>
              <a:stCxn id="37" idx="2"/>
              <a:endCxn id="48" idx="0"/>
            </p:cNvCxnSpPr>
            <p:nvPr/>
          </p:nvCxnSpPr>
          <p:spPr>
            <a:xfrm rot="16200000" flipH="1">
              <a:off x="2971522" y="5024413"/>
              <a:ext cx="261089" cy="199494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肘形连接符 49">
              <a:extLst>
                <a:ext uri="{FF2B5EF4-FFF2-40B4-BE49-F238E27FC236}">
                  <a16:creationId xmlns:a16="http://schemas.microsoft.com/office/drawing/2014/main" id="{EA04217B-CC59-EE4E-A10B-E1381EDC5D6B}"/>
                </a:ext>
              </a:extLst>
            </p:cNvPr>
            <p:cNvCxnSpPr>
              <a:cxnSpLocks/>
              <a:stCxn id="41" idx="2"/>
              <a:endCxn id="48" idx="0"/>
            </p:cNvCxnSpPr>
            <p:nvPr/>
          </p:nvCxnSpPr>
          <p:spPr>
            <a:xfrm rot="5400000">
              <a:off x="4968611" y="5028207"/>
              <a:ext cx="255156" cy="1993296"/>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40">
              <a:extLst>
                <a:ext uri="{FF2B5EF4-FFF2-40B4-BE49-F238E27FC236}">
                  <a16:creationId xmlns:a16="http://schemas.microsoft.com/office/drawing/2014/main" id="{834CAA34-567E-FC4F-83CF-A67069AC0E53}"/>
                </a:ext>
              </a:extLst>
            </p:cNvPr>
            <p:cNvSpPr/>
            <p:nvPr/>
          </p:nvSpPr>
          <p:spPr>
            <a:xfrm>
              <a:off x="5017780" y="3613450"/>
              <a:ext cx="2153417" cy="597600"/>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选择主存地址对应的</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a:t>
              </a:r>
            </a:p>
          </p:txBody>
        </p:sp>
        <p:sp>
          <p:nvSpPr>
            <p:cNvPr id="52" name="矩形 40">
              <a:extLst>
                <a:ext uri="{FF2B5EF4-FFF2-40B4-BE49-F238E27FC236}">
                  <a16:creationId xmlns:a16="http://schemas.microsoft.com/office/drawing/2014/main" id="{49352393-B752-5246-9D9F-7946692F3FA4}"/>
                </a:ext>
              </a:extLst>
            </p:cNvPr>
            <p:cNvSpPr/>
            <p:nvPr/>
          </p:nvSpPr>
          <p:spPr>
            <a:xfrm>
              <a:off x="5017780" y="4379690"/>
              <a:ext cx="2153417" cy="756086"/>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将数据从主存加载到对应</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行中，并更新行内对应字节数据</a:t>
              </a:r>
            </a:p>
          </p:txBody>
        </p:sp>
        <p:cxnSp>
          <p:nvCxnSpPr>
            <p:cNvPr id="53" name="直线箭头连接符 34">
              <a:extLst>
                <a:ext uri="{FF2B5EF4-FFF2-40B4-BE49-F238E27FC236}">
                  <a16:creationId xmlns:a16="http://schemas.microsoft.com/office/drawing/2014/main" id="{18CB672E-A427-9A49-8622-5968B29645F6}"/>
                </a:ext>
              </a:extLst>
            </p:cNvPr>
            <p:cNvCxnSpPr>
              <a:cxnSpLocks/>
              <a:endCxn id="52" idx="0"/>
            </p:cNvCxnSpPr>
            <p:nvPr/>
          </p:nvCxnSpPr>
          <p:spPr>
            <a:xfrm>
              <a:off x="6094488" y="4202234"/>
              <a:ext cx="1" cy="1774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34">
              <a:extLst>
                <a:ext uri="{FF2B5EF4-FFF2-40B4-BE49-F238E27FC236}">
                  <a16:creationId xmlns:a16="http://schemas.microsoft.com/office/drawing/2014/main" id="{D38FDAF2-DA17-2049-9C8F-ADFB2C55263C}"/>
                </a:ext>
              </a:extLst>
            </p:cNvPr>
            <p:cNvCxnSpPr>
              <a:cxnSpLocks/>
              <a:stCxn id="52" idx="2"/>
              <a:endCxn id="41" idx="0"/>
            </p:cNvCxnSpPr>
            <p:nvPr/>
          </p:nvCxnSpPr>
          <p:spPr>
            <a:xfrm flipH="1">
              <a:off x="6092837" y="5135776"/>
              <a:ext cx="1652" cy="1639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3" name="内容占位符 2">
            <a:extLst>
              <a:ext uri="{FF2B5EF4-FFF2-40B4-BE49-F238E27FC236}">
                <a16:creationId xmlns:a16="http://schemas.microsoft.com/office/drawing/2014/main" id="{FC23F893-2CE7-0A4E-9757-45B1C427214A}"/>
              </a:ext>
            </a:extLst>
          </p:cNvPr>
          <p:cNvSpPr>
            <a:spLocks noGrp="1"/>
          </p:cNvSpPr>
          <p:nvPr>
            <p:ph idx="1"/>
          </p:nvPr>
        </p:nvSpPr>
        <p:spPr>
          <a:xfrm>
            <a:off x="457200" y="1303081"/>
            <a:ext cx="8582628" cy="536940"/>
          </a:xfrm>
        </p:spPr>
        <p:txBody>
          <a:bodyPr/>
          <a:lstStyle/>
          <a:p>
            <a:pPr marL="514350" indent="-457200">
              <a:spcBef>
                <a:spcPts val="1000"/>
              </a:spcBef>
            </a:pPr>
            <a:r>
              <a:rPr kumimoji="1" lang="zh-CN" altLang="en-US" dirty="0"/>
              <a:t>更新策略为写通过时的总流程</a:t>
            </a:r>
            <a:endParaRPr kumimoji="1" lang="en-US" altLang="zh-CN" sz="2400" dirty="0"/>
          </a:p>
        </p:txBody>
      </p:sp>
      <p:sp>
        <p:nvSpPr>
          <p:cNvPr id="14" name="TextBox 13">
            <a:extLst>
              <a:ext uri="{FF2B5EF4-FFF2-40B4-BE49-F238E27FC236}">
                <a16:creationId xmlns:a16="http://schemas.microsoft.com/office/drawing/2014/main" id="{3FC0C2EA-2C30-524C-8947-70087710361D}"/>
              </a:ext>
            </a:extLst>
          </p:cNvPr>
          <p:cNvSpPr txBox="1"/>
          <p:nvPr/>
        </p:nvSpPr>
        <p:spPr>
          <a:xfrm>
            <a:off x="3447181" y="3476187"/>
            <a:ext cx="1147967" cy="2308324"/>
          </a:xfrm>
          <a:prstGeom prst="rect">
            <a:avLst/>
          </a:prstGeom>
          <a:noFill/>
        </p:spPr>
        <p:txBody>
          <a:bodyPr wrap="square" rtlCol="0">
            <a:spAutoFit/>
          </a:bodyPr>
          <a:lstStyle/>
          <a:p>
            <a:r>
              <a:rPr lang="en-CN" b="1" dirty="0">
                <a:solidFill>
                  <a:schemeClr val="accent2"/>
                </a:solidFill>
                <a:latin typeface="STKaiti" panose="02010600040101010101" pitchFamily="2" charset="-122"/>
                <a:ea typeface="STKaiti" panose="02010600040101010101" pitchFamily="2" charset="-122"/>
              </a:rPr>
              <a:t>写操作没有命中时</a:t>
            </a:r>
            <a:r>
              <a:rPr lang="zh-CN" altLang="en-US" b="1" dirty="0">
                <a:solidFill>
                  <a:schemeClr val="accent2"/>
                </a:solidFill>
                <a:latin typeface="STKaiti" panose="02010600040101010101" pitchFamily="2" charset="-122"/>
                <a:ea typeface="STKaiti" panose="02010600040101010101" pitchFamily="2" charset="-122"/>
              </a:rPr>
              <a:t>，把内存对应的块缓存不是必须要求，但一般会加载。</a:t>
            </a:r>
            <a:endParaRPr lang="en-CN" b="1" dirty="0">
              <a:solidFill>
                <a:schemeClr val="accent2"/>
              </a:solidFill>
              <a:latin typeface="STKaiti" panose="02010600040101010101" pitchFamily="2" charset="-122"/>
              <a:ea typeface="STKaiti" panose="02010600040101010101" pitchFamily="2" charset="-122"/>
            </a:endParaRPr>
          </a:p>
        </p:txBody>
      </p:sp>
      <p:cxnSp>
        <p:nvCxnSpPr>
          <p:cNvPr id="16" name="Straight Arrow Connector 15">
            <a:extLst>
              <a:ext uri="{FF2B5EF4-FFF2-40B4-BE49-F238E27FC236}">
                <a16:creationId xmlns:a16="http://schemas.microsoft.com/office/drawing/2014/main" id="{E9910AF7-5F0E-4046-81FE-B2AB5A48F6F5}"/>
              </a:ext>
            </a:extLst>
          </p:cNvPr>
          <p:cNvCxnSpPr>
            <a:cxnSpLocks/>
            <a:stCxn id="14" idx="3"/>
            <a:endCxn id="51" idx="1"/>
          </p:cNvCxnSpPr>
          <p:nvPr/>
        </p:nvCxnSpPr>
        <p:spPr>
          <a:xfrm flipV="1">
            <a:off x="4595148" y="3856280"/>
            <a:ext cx="263356" cy="77406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9D7DFCA1-FF82-124F-8540-6EDA1257E62A}"/>
              </a:ext>
            </a:extLst>
          </p:cNvPr>
          <p:cNvCxnSpPr>
            <a:cxnSpLocks/>
            <a:endCxn id="52" idx="1"/>
          </p:cNvCxnSpPr>
          <p:nvPr/>
        </p:nvCxnSpPr>
        <p:spPr>
          <a:xfrm>
            <a:off x="4595149" y="4366462"/>
            <a:ext cx="263355" cy="3353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36561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67</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3"/>
            <a:ext cx="8229600" cy="3315780"/>
          </a:xfrm>
        </p:spPr>
        <p:txBody>
          <a:bodyPr/>
          <a:lstStyle/>
          <a:p>
            <a:pPr marL="514350" indent="-457200">
              <a:spcBef>
                <a:spcPts val="1000"/>
              </a:spcBef>
            </a:pPr>
            <a:r>
              <a:rPr kumimoji="1" lang="zh-CN" altLang="en-US" sz="2800" dirty="0">
                <a:solidFill>
                  <a:srgbClr val="0432FF"/>
                </a:solidFill>
              </a:rPr>
              <a:t>数据更新</a:t>
            </a:r>
            <a:r>
              <a:rPr kumimoji="1" lang="zh-CN" altLang="en-US" sz="2800" dirty="0"/>
              <a:t>：当需要向层次结构存储器</a:t>
            </a:r>
            <a:r>
              <a:rPr kumimoji="1" lang="zh-CN" altLang="en-US" sz="2800" dirty="0">
                <a:solidFill>
                  <a:srgbClr val="0432FF"/>
                </a:solidFill>
              </a:rPr>
              <a:t>写入</a:t>
            </a:r>
            <a:r>
              <a:rPr kumimoji="1" lang="zh-CN" altLang="en-US" sz="2800" dirty="0"/>
              <a:t>数据时，需要考虑将数据存入</a:t>
            </a:r>
            <a:r>
              <a:rPr kumimoji="1" lang="en-US" altLang="zh-CN" sz="2800" dirty="0"/>
              <a:t>cache</a:t>
            </a:r>
            <a:r>
              <a:rPr kumimoji="1" lang="zh-CN" altLang="en-US" sz="2800" dirty="0"/>
              <a:t>还是主存的问题。</a:t>
            </a:r>
            <a:endParaRPr kumimoji="1" lang="en-US" altLang="zh-CN" sz="2800" dirty="0"/>
          </a:p>
          <a:p>
            <a:pPr marL="914400" lvl="1" indent="-457200">
              <a:spcBef>
                <a:spcPts val="1000"/>
              </a:spcBef>
            </a:pPr>
            <a:r>
              <a:rPr kumimoji="1" lang="zh-CN" altLang="en-US" sz="2000" dirty="0">
                <a:solidFill>
                  <a:srgbClr val="0432FF"/>
                </a:solidFill>
              </a:rPr>
              <a:t>写回</a:t>
            </a:r>
            <a:r>
              <a:rPr kumimoji="1" lang="en-US" altLang="zh-CN" sz="2000" dirty="0">
                <a:solidFill>
                  <a:srgbClr val="0432FF"/>
                </a:solidFill>
              </a:rPr>
              <a:t>(Write Back)</a:t>
            </a:r>
            <a:r>
              <a:rPr kumimoji="1" lang="zh-CN" altLang="en-US" sz="2000" dirty="0"/>
              <a:t>：先将数据写入</a:t>
            </a:r>
            <a:r>
              <a:rPr kumimoji="1" lang="en-US" altLang="zh-CN" sz="2000" dirty="0"/>
              <a:t>Cache</a:t>
            </a:r>
            <a:r>
              <a:rPr kumimoji="1" lang="zh-CN" altLang="en-US" sz="2000" dirty="0"/>
              <a:t>中，之后在该块要被替换出</a:t>
            </a:r>
            <a:r>
              <a:rPr kumimoji="1" lang="en-US" altLang="zh-CN" sz="2000" dirty="0"/>
              <a:t>Cache</a:t>
            </a:r>
            <a:r>
              <a:rPr kumimoji="1" lang="zh-CN" altLang="en-US" sz="2000" dirty="0"/>
              <a:t>时才将数据写到主存储器中。</a:t>
            </a:r>
            <a:endParaRPr kumimoji="1" lang="en-US" altLang="zh-CN" sz="2000" dirty="0"/>
          </a:p>
          <a:p>
            <a:pPr marL="1314450" lvl="2" indent="-457200">
              <a:spcBef>
                <a:spcPts val="1000"/>
              </a:spcBef>
            </a:pPr>
            <a:r>
              <a:rPr kumimoji="1" lang="zh-CN" altLang="en-US" sz="1800" dirty="0"/>
              <a:t>会存在</a:t>
            </a:r>
            <a:r>
              <a:rPr kumimoji="1" lang="en-US" altLang="zh-CN" sz="1800" dirty="0"/>
              <a:t>cache</a:t>
            </a:r>
            <a:r>
              <a:rPr kumimoji="1" lang="zh-CN" altLang="en-US" sz="1800" dirty="0"/>
              <a:t>和主存数据暂时不一致的现象。</a:t>
            </a:r>
            <a:endParaRPr kumimoji="1" lang="en-US" altLang="zh-CN" sz="1800" dirty="0"/>
          </a:p>
          <a:p>
            <a:pPr marL="1314450" lvl="2" indent="-457200">
              <a:spcBef>
                <a:spcPts val="1000"/>
              </a:spcBef>
            </a:pPr>
            <a:r>
              <a:rPr kumimoji="1" lang="zh-CN" altLang="en-US" sz="1800" dirty="0"/>
              <a:t>缓存每一行有一个</a:t>
            </a:r>
            <a:r>
              <a:rPr kumimoji="1" lang="zh-CN" altLang="en-US" sz="1800" dirty="0">
                <a:solidFill>
                  <a:srgbClr val="0432FF"/>
                </a:solidFill>
              </a:rPr>
              <a:t>脏位（</a:t>
            </a:r>
            <a:r>
              <a:rPr kumimoji="1" lang="en-US" altLang="zh-CN" sz="1800" dirty="0">
                <a:solidFill>
                  <a:srgbClr val="0432FF"/>
                </a:solidFill>
              </a:rPr>
              <a:t>D</a:t>
            </a:r>
            <a:r>
              <a:rPr kumimoji="1" lang="zh-CN" altLang="en-US" sz="1800" dirty="0">
                <a:solidFill>
                  <a:srgbClr val="0432FF"/>
                </a:solidFill>
              </a:rPr>
              <a:t>）</a:t>
            </a:r>
            <a:r>
              <a:rPr kumimoji="1" lang="zh-CN" altLang="en-US" sz="1800" dirty="0"/>
              <a:t>：记录这一行是否被修改。</a:t>
            </a:r>
            <a:br>
              <a:rPr kumimoji="1" lang="zh-CN" altLang="en-US" sz="1600" dirty="0"/>
            </a:br>
            <a:endParaRPr kumimoji="1" lang="zh-CN" altLang="en-US" sz="1200" dirty="0"/>
          </a:p>
        </p:txBody>
      </p:sp>
      <p:grpSp>
        <p:nvGrpSpPr>
          <p:cNvPr id="24" name="组合 23">
            <a:extLst>
              <a:ext uri="{FF2B5EF4-FFF2-40B4-BE49-F238E27FC236}">
                <a16:creationId xmlns:a16="http://schemas.microsoft.com/office/drawing/2014/main" id="{3DCDBAFD-2951-BC49-8B12-4AA537C24612}"/>
              </a:ext>
            </a:extLst>
          </p:cNvPr>
          <p:cNvGrpSpPr/>
          <p:nvPr/>
        </p:nvGrpSpPr>
        <p:grpSpPr>
          <a:xfrm>
            <a:off x="1558556" y="4634057"/>
            <a:ext cx="6086683" cy="1213083"/>
            <a:chOff x="1380756" y="4915699"/>
            <a:chExt cx="6086683" cy="1213083"/>
          </a:xfrm>
        </p:grpSpPr>
        <p:sp>
          <p:nvSpPr>
            <p:cNvPr id="6" name="Line 12">
              <a:extLst>
                <a:ext uri="{FF2B5EF4-FFF2-40B4-BE49-F238E27FC236}">
                  <a16:creationId xmlns:a16="http://schemas.microsoft.com/office/drawing/2014/main" id="{1627AEEB-580D-C34F-BDE1-7605DF2B938F}"/>
                </a:ext>
              </a:extLst>
            </p:cNvPr>
            <p:cNvSpPr>
              <a:spLocks noChangeShapeType="1"/>
            </p:cNvSpPr>
            <p:nvPr/>
          </p:nvSpPr>
          <p:spPr bwMode="auto">
            <a:xfrm>
              <a:off x="5095045" y="5313298"/>
              <a:ext cx="1044000" cy="0"/>
            </a:xfrm>
            <a:prstGeom prst="line">
              <a:avLst/>
            </a:prstGeom>
            <a:noFill/>
            <a:ln w="25400">
              <a:solidFill>
                <a:schemeClr val="tx1"/>
              </a:solidFill>
              <a:round/>
              <a:headEnd type="non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mc:AlternateContent xmlns:mc="http://schemas.openxmlformats.org/markup-compatibility/2006" xmlns:a14="http://schemas.microsoft.com/office/drawing/2010/main">
          <mc:Choice Requires="a14">
            <p:sp>
              <p:nvSpPr>
                <p:cNvPr id="7" name="Rectangle 13">
                  <a:extLst>
                    <a:ext uri="{FF2B5EF4-FFF2-40B4-BE49-F238E27FC236}">
                      <a16:creationId xmlns:a16="http://schemas.microsoft.com/office/drawing/2014/main" id="{46E38D7F-91B9-6240-A88F-4D4DC7D1F3B7}"/>
                    </a:ext>
                  </a:extLst>
                </p:cNvPr>
                <p:cNvSpPr>
                  <a:spLocks noChangeArrowheads="1"/>
                </p:cNvSpPr>
                <p:nvPr/>
              </p:nvSpPr>
              <p:spPr bwMode="auto">
                <a:xfrm>
                  <a:off x="2900536" y="4915699"/>
                  <a:ext cx="783957" cy="379638"/>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14:m>
                    <m:oMathPara xmlns:m="http://schemas.openxmlformats.org/officeDocument/2006/math">
                      <m:oMathParaPr>
                        <m:jc m:val="centerGroup"/>
                      </m:oMathParaPr>
                      <m:oMath xmlns:m="http://schemas.openxmlformats.org/officeDocument/2006/math">
                        <m:r>
                          <a:rPr lang="zh-CN" altLang="en-US" b="1" i="1">
                            <a:latin typeface="Cambria Math" panose="02040503050406030204" pitchFamily="18" charset="0"/>
                            <a:ea typeface="+mn-ea"/>
                          </a:rPr>
                          <m:t>地址</m:t>
                        </m:r>
                      </m:oMath>
                    </m:oMathPara>
                  </a14:m>
                  <a:endParaRPr lang="en-US" altLang="zh-CN" b="1" dirty="0">
                    <a:latin typeface="+mn-ea"/>
                    <a:ea typeface="+mn-ea"/>
                  </a:endParaRPr>
                </a:p>
              </p:txBody>
            </p:sp>
          </mc:Choice>
          <mc:Fallback xmlns="">
            <p:sp>
              <p:nvSpPr>
                <p:cNvPr id="7" name="Rectangle 13">
                  <a:extLst>
                    <a:ext uri="{FF2B5EF4-FFF2-40B4-BE49-F238E27FC236}">
                      <a16:creationId xmlns:a16="http://schemas.microsoft.com/office/drawing/2014/main" id="{46E38D7F-91B9-6240-A88F-4D4DC7D1F3B7}"/>
                    </a:ext>
                  </a:extLst>
                </p:cNvPr>
                <p:cNvSpPr>
                  <a:spLocks noRot="1" noChangeAspect="1" noMove="1" noResize="1" noEditPoints="1" noAdjustHandles="1" noChangeArrowheads="1" noChangeShapeType="1" noTextEdit="1"/>
                </p:cNvSpPr>
                <p:nvPr/>
              </p:nvSpPr>
              <p:spPr bwMode="auto">
                <a:xfrm>
                  <a:off x="2900536" y="4915699"/>
                  <a:ext cx="783957" cy="379638"/>
                </a:xfrm>
                <a:prstGeom prst="rect">
                  <a:avLst/>
                </a:prstGeom>
                <a:blipFill>
                  <a:blip r:embed="rId3"/>
                  <a:stretch>
                    <a:fillRect b="-3125"/>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14">
                  <a:extLst>
                    <a:ext uri="{FF2B5EF4-FFF2-40B4-BE49-F238E27FC236}">
                      <a16:creationId xmlns:a16="http://schemas.microsoft.com/office/drawing/2014/main" id="{FD26A272-0B74-1543-894C-7C282342F3B9}"/>
                    </a:ext>
                  </a:extLst>
                </p:cNvPr>
                <p:cNvSpPr>
                  <a:spLocks noChangeArrowheads="1"/>
                </p:cNvSpPr>
                <p:nvPr/>
              </p:nvSpPr>
              <p:spPr bwMode="auto">
                <a:xfrm>
                  <a:off x="5207959" y="4971986"/>
                  <a:ext cx="783957" cy="379638"/>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14:m>
                    <m:oMathPara xmlns:m="http://schemas.openxmlformats.org/officeDocument/2006/math">
                      <m:oMathParaPr>
                        <m:jc m:val="centerGroup"/>
                      </m:oMathParaPr>
                      <m:oMath xmlns:m="http://schemas.openxmlformats.org/officeDocument/2006/math">
                        <m:r>
                          <a:rPr lang="zh-CN" altLang="en-US" b="1" i="1">
                            <a:latin typeface="Cambria Math" panose="02040503050406030204" pitchFamily="18" charset="0"/>
                            <a:ea typeface="+mn-ea"/>
                          </a:rPr>
                          <m:t>地址</m:t>
                        </m:r>
                      </m:oMath>
                    </m:oMathPara>
                  </a14:m>
                  <a:endParaRPr lang="en-US" altLang="zh-CN" b="1" dirty="0">
                    <a:latin typeface="+mn-ea"/>
                    <a:ea typeface="+mn-ea"/>
                  </a:endParaRPr>
                </a:p>
              </p:txBody>
            </p:sp>
          </mc:Choice>
          <mc:Fallback xmlns="">
            <p:sp>
              <p:nvSpPr>
                <p:cNvPr id="8" name="Rectangle 14">
                  <a:extLst>
                    <a:ext uri="{FF2B5EF4-FFF2-40B4-BE49-F238E27FC236}">
                      <a16:creationId xmlns:a16="http://schemas.microsoft.com/office/drawing/2014/main" id="{FD26A272-0B74-1543-894C-7C282342F3B9}"/>
                    </a:ext>
                  </a:extLst>
                </p:cNvPr>
                <p:cNvSpPr>
                  <a:spLocks noRot="1" noChangeAspect="1" noMove="1" noResize="1" noEditPoints="1" noAdjustHandles="1" noChangeArrowheads="1" noChangeShapeType="1" noTextEdit="1"/>
                </p:cNvSpPr>
                <p:nvPr/>
              </p:nvSpPr>
              <p:spPr bwMode="auto">
                <a:xfrm>
                  <a:off x="5207959" y="4971986"/>
                  <a:ext cx="783957" cy="379638"/>
                </a:xfrm>
                <a:prstGeom prst="rect">
                  <a:avLst/>
                </a:prstGeom>
                <a:blipFill>
                  <a:blip r:embed="rId4"/>
                  <a:stretch>
                    <a:fillRect b="-3226"/>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9" name="Line 16">
              <a:extLst>
                <a:ext uri="{FF2B5EF4-FFF2-40B4-BE49-F238E27FC236}">
                  <a16:creationId xmlns:a16="http://schemas.microsoft.com/office/drawing/2014/main" id="{41DB3002-47B0-1B42-99B2-30613B65D80B}"/>
                </a:ext>
              </a:extLst>
            </p:cNvPr>
            <p:cNvSpPr>
              <a:spLocks noChangeShapeType="1"/>
            </p:cNvSpPr>
            <p:nvPr/>
          </p:nvSpPr>
          <p:spPr bwMode="auto">
            <a:xfrm>
              <a:off x="2855280" y="5318924"/>
              <a:ext cx="882000" cy="0"/>
            </a:xfrm>
            <a:prstGeom prst="line">
              <a:avLst/>
            </a:prstGeom>
            <a:noFill/>
            <a:ln w="25400">
              <a:solidFill>
                <a:schemeClr val="tx1"/>
              </a:solidFill>
              <a:round/>
              <a:headEnd type="non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0" name="Rectangle 4">
              <a:extLst>
                <a:ext uri="{FF2B5EF4-FFF2-40B4-BE49-F238E27FC236}">
                  <a16:creationId xmlns:a16="http://schemas.microsoft.com/office/drawing/2014/main" id="{0BF4451C-2564-B446-88FC-FCC12556B171}"/>
                </a:ext>
              </a:extLst>
            </p:cNvPr>
            <p:cNvSpPr>
              <a:spLocks noChangeArrowheads="1"/>
            </p:cNvSpPr>
            <p:nvPr/>
          </p:nvSpPr>
          <p:spPr bwMode="auto">
            <a:xfrm>
              <a:off x="3735018" y="5258942"/>
              <a:ext cx="1357313" cy="538163"/>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1" name="Rectangle 5">
              <a:extLst>
                <a:ext uri="{FF2B5EF4-FFF2-40B4-BE49-F238E27FC236}">
                  <a16:creationId xmlns:a16="http://schemas.microsoft.com/office/drawing/2014/main" id="{44B7B9BA-A999-604A-8ABB-DA3028F38F8B}"/>
                </a:ext>
              </a:extLst>
            </p:cNvPr>
            <p:cNvSpPr>
              <a:spLocks noChangeArrowheads="1"/>
            </p:cNvSpPr>
            <p:nvPr/>
          </p:nvSpPr>
          <p:spPr bwMode="auto">
            <a:xfrm>
              <a:off x="3936187" y="5307426"/>
              <a:ext cx="1045577" cy="4411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p>
              <a:pPr defTabSz="1009650" eaLnBrk="0" hangingPunct="0"/>
              <a:r>
                <a:rPr lang="en-US" altLang="zh-CN" sz="2200" b="1" dirty="0">
                  <a:latin typeface="+mn-ea"/>
                  <a:ea typeface="+mn-ea"/>
                </a:rPr>
                <a:t>Cache</a:t>
              </a:r>
            </a:p>
          </p:txBody>
        </p:sp>
        <p:sp>
          <p:nvSpPr>
            <p:cNvPr id="12" name="Rectangle 6">
              <a:extLst>
                <a:ext uri="{FF2B5EF4-FFF2-40B4-BE49-F238E27FC236}">
                  <a16:creationId xmlns:a16="http://schemas.microsoft.com/office/drawing/2014/main" id="{D28932D9-94ED-2242-9B04-C1F8631CF69D}"/>
                </a:ext>
              </a:extLst>
            </p:cNvPr>
            <p:cNvSpPr>
              <a:spLocks noChangeArrowheads="1"/>
            </p:cNvSpPr>
            <p:nvPr/>
          </p:nvSpPr>
          <p:spPr bwMode="auto">
            <a:xfrm>
              <a:off x="1581625" y="5382767"/>
              <a:ext cx="1109367" cy="4104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zh-CN" altLang="en-US" sz="2000" b="1" dirty="0">
                  <a:latin typeface="+mn-ea"/>
                  <a:ea typeface="+mn-ea"/>
                </a:rPr>
                <a:t>处理器</a:t>
              </a:r>
              <a:r>
                <a:rPr lang="en-US" altLang="zh-CN" sz="2000" b="1" dirty="0">
                  <a:latin typeface="+mn-ea"/>
                  <a:ea typeface="+mn-ea"/>
                </a:rPr>
                <a:t> </a:t>
              </a:r>
            </a:p>
          </p:txBody>
        </p:sp>
        <p:sp>
          <p:nvSpPr>
            <p:cNvPr id="13" name="Line 7">
              <a:extLst>
                <a:ext uri="{FF2B5EF4-FFF2-40B4-BE49-F238E27FC236}">
                  <a16:creationId xmlns:a16="http://schemas.microsoft.com/office/drawing/2014/main" id="{D9E2A6D4-D35A-0B47-9006-F955AA4AF98D}"/>
                </a:ext>
              </a:extLst>
            </p:cNvPr>
            <p:cNvSpPr>
              <a:spLocks noChangeShapeType="1"/>
            </p:cNvSpPr>
            <p:nvPr/>
          </p:nvSpPr>
          <p:spPr bwMode="auto">
            <a:xfrm>
              <a:off x="1380756" y="5165280"/>
              <a:ext cx="1476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4" name="Line 8">
              <a:extLst>
                <a:ext uri="{FF2B5EF4-FFF2-40B4-BE49-F238E27FC236}">
                  <a16:creationId xmlns:a16="http://schemas.microsoft.com/office/drawing/2014/main" id="{56B1560D-9211-F146-BFC2-43A6BF424428}"/>
                </a:ext>
              </a:extLst>
            </p:cNvPr>
            <p:cNvSpPr>
              <a:spLocks noChangeShapeType="1"/>
            </p:cNvSpPr>
            <p:nvPr/>
          </p:nvSpPr>
          <p:spPr bwMode="auto">
            <a:xfrm>
              <a:off x="1380756" y="5973317"/>
              <a:ext cx="1476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5" name="Line 9">
              <a:extLst>
                <a:ext uri="{FF2B5EF4-FFF2-40B4-BE49-F238E27FC236}">
                  <a16:creationId xmlns:a16="http://schemas.microsoft.com/office/drawing/2014/main" id="{223F80F6-FFCD-A649-A07C-A381FA63E539}"/>
                </a:ext>
              </a:extLst>
            </p:cNvPr>
            <p:cNvSpPr>
              <a:spLocks noChangeShapeType="1"/>
            </p:cNvSpPr>
            <p:nvPr/>
          </p:nvSpPr>
          <p:spPr bwMode="auto">
            <a:xfrm>
              <a:off x="6135439" y="5165280"/>
              <a:ext cx="1332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6" name="Line 10">
              <a:extLst>
                <a:ext uri="{FF2B5EF4-FFF2-40B4-BE49-F238E27FC236}">
                  <a16:creationId xmlns:a16="http://schemas.microsoft.com/office/drawing/2014/main" id="{6A9D9AD6-F0DE-BF4A-AFA9-6A973E627A8D}"/>
                </a:ext>
              </a:extLst>
            </p:cNvPr>
            <p:cNvSpPr>
              <a:spLocks noChangeShapeType="1"/>
            </p:cNvSpPr>
            <p:nvPr/>
          </p:nvSpPr>
          <p:spPr bwMode="auto">
            <a:xfrm>
              <a:off x="6135439" y="5165280"/>
              <a:ext cx="0" cy="80803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7" name="Line 11">
              <a:extLst>
                <a:ext uri="{FF2B5EF4-FFF2-40B4-BE49-F238E27FC236}">
                  <a16:creationId xmlns:a16="http://schemas.microsoft.com/office/drawing/2014/main" id="{65DC5E21-1A0D-4C4D-8444-ADCA6B92A764}"/>
                </a:ext>
              </a:extLst>
            </p:cNvPr>
            <p:cNvSpPr>
              <a:spLocks noChangeShapeType="1"/>
            </p:cNvSpPr>
            <p:nvPr/>
          </p:nvSpPr>
          <p:spPr bwMode="auto">
            <a:xfrm>
              <a:off x="6135438" y="5973317"/>
              <a:ext cx="13320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18" name="Rectangle 12">
              <a:extLst>
                <a:ext uri="{FF2B5EF4-FFF2-40B4-BE49-F238E27FC236}">
                  <a16:creationId xmlns:a16="http://schemas.microsoft.com/office/drawing/2014/main" id="{1E7336CD-5E79-D542-9938-A918B88CB4B5}"/>
                </a:ext>
              </a:extLst>
            </p:cNvPr>
            <p:cNvSpPr>
              <a:spLocks noChangeArrowheads="1"/>
            </p:cNvSpPr>
            <p:nvPr/>
          </p:nvSpPr>
          <p:spPr bwMode="auto">
            <a:xfrm>
              <a:off x="6203702" y="5313438"/>
              <a:ext cx="1237607" cy="4104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r>
                <a:rPr lang="zh-CN" altLang="en-US" sz="2000" b="1" dirty="0">
                  <a:latin typeface="+mn-ea"/>
                  <a:ea typeface="+mn-ea"/>
                </a:rPr>
                <a:t>主存储器</a:t>
              </a:r>
              <a:endParaRPr lang="en-US" altLang="zh-CN" sz="2000" b="1" dirty="0">
                <a:latin typeface="+mn-ea"/>
                <a:ea typeface="+mn-ea"/>
              </a:endParaRPr>
            </a:p>
          </p:txBody>
        </p:sp>
        <p:sp>
          <p:nvSpPr>
            <p:cNvPr id="19" name="Line 19">
              <a:extLst>
                <a:ext uri="{FF2B5EF4-FFF2-40B4-BE49-F238E27FC236}">
                  <a16:creationId xmlns:a16="http://schemas.microsoft.com/office/drawing/2014/main" id="{5BC4D310-A54C-0049-8456-9952481A6A5E}"/>
                </a:ext>
              </a:extLst>
            </p:cNvPr>
            <p:cNvSpPr>
              <a:spLocks noChangeShapeType="1"/>
            </p:cNvSpPr>
            <p:nvPr/>
          </p:nvSpPr>
          <p:spPr bwMode="auto">
            <a:xfrm>
              <a:off x="2853956" y="5165280"/>
              <a:ext cx="0" cy="80803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0" name="Line 12">
              <a:extLst>
                <a:ext uri="{FF2B5EF4-FFF2-40B4-BE49-F238E27FC236}">
                  <a16:creationId xmlns:a16="http://schemas.microsoft.com/office/drawing/2014/main" id="{5715766D-23A2-B94B-B275-0D5DFC893965}"/>
                </a:ext>
              </a:extLst>
            </p:cNvPr>
            <p:cNvSpPr>
              <a:spLocks noChangeShapeType="1"/>
            </p:cNvSpPr>
            <p:nvPr/>
          </p:nvSpPr>
          <p:spPr bwMode="auto">
            <a:xfrm>
              <a:off x="3732308" y="5718226"/>
              <a:ext cx="2406737" cy="1"/>
            </a:xfrm>
            <a:prstGeom prst="line">
              <a:avLst/>
            </a:prstGeom>
            <a:noFill/>
            <a:ln w="25400">
              <a:solidFill>
                <a:schemeClr val="tx1"/>
              </a:solidFill>
              <a:round/>
              <a:headEnd type="non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p:sp>
          <p:nvSpPr>
            <p:cNvPr id="21" name="Line 16">
              <a:extLst>
                <a:ext uri="{FF2B5EF4-FFF2-40B4-BE49-F238E27FC236}">
                  <a16:creationId xmlns:a16="http://schemas.microsoft.com/office/drawing/2014/main" id="{81A8DA5C-588A-C74B-86AE-2ACD5C64E84C}"/>
                </a:ext>
              </a:extLst>
            </p:cNvPr>
            <p:cNvSpPr>
              <a:spLocks noChangeShapeType="1"/>
            </p:cNvSpPr>
            <p:nvPr/>
          </p:nvSpPr>
          <p:spPr bwMode="auto">
            <a:xfrm>
              <a:off x="2855280" y="5723853"/>
              <a:ext cx="882000" cy="0"/>
            </a:xfrm>
            <a:prstGeom prst="line">
              <a:avLst/>
            </a:prstGeom>
            <a:noFill/>
            <a:ln w="25400">
              <a:solidFill>
                <a:schemeClr val="tx1"/>
              </a:solidFill>
              <a:round/>
              <a:headEnd type="non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latin typeface="+mn-ea"/>
                <a:ea typeface="+mn-ea"/>
              </a:endParaRPr>
            </a:p>
          </p:txBody>
        </p:sp>
        <mc:AlternateContent xmlns:mc="http://schemas.openxmlformats.org/markup-compatibility/2006" xmlns:a14="http://schemas.microsoft.com/office/drawing/2010/main">
          <mc:Choice Requires="a14">
            <p:sp>
              <p:nvSpPr>
                <p:cNvPr id="22" name="Rectangle 13">
                  <a:extLst>
                    <a:ext uri="{FF2B5EF4-FFF2-40B4-BE49-F238E27FC236}">
                      <a16:creationId xmlns:a16="http://schemas.microsoft.com/office/drawing/2014/main" id="{60290910-54DA-804C-923E-FBF884A501A6}"/>
                    </a:ext>
                  </a:extLst>
                </p:cNvPr>
                <p:cNvSpPr>
                  <a:spLocks noChangeArrowheads="1"/>
                </p:cNvSpPr>
                <p:nvPr/>
              </p:nvSpPr>
              <p:spPr bwMode="auto">
                <a:xfrm>
                  <a:off x="2900536" y="5749144"/>
                  <a:ext cx="783958" cy="379638"/>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ea typeface="+mn-ea"/>
                          </a:rPr>
                          <m:t>数据</m:t>
                        </m:r>
                      </m:oMath>
                    </m:oMathPara>
                  </a14:m>
                  <a:endParaRPr lang="en-US" altLang="zh-CN" b="1" dirty="0">
                    <a:latin typeface="+mn-ea"/>
                    <a:ea typeface="+mn-ea"/>
                  </a:endParaRPr>
                </a:p>
              </p:txBody>
            </p:sp>
          </mc:Choice>
          <mc:Fallback xmlns="">
            <p:sp>
              <p:nvSpPr>
                <p:cNvPr id="22" name="Rectangle 13">
                  <a:extLst>
                    <a:ext uri="{FF2B5EF4-FFF2-40B4-BE49-F238E27FC236}">
                      <a16:creationId xmlns:a16="http://schemas.microsoft.com/office/drawing/2014/main" id="{60290910-54DA-804C-923E-FBF884A501A6}"/>
                    </a:ext>
                  </a:extLst>
                </p:cNvPr>
                <p:cNvSpPr>
                  <a:spLocks noRot="1" noChangeAspect="1" noMove="1" noResize="1" noEditPoints="1" noAdjustHandles="1" noChangeArrowheads="1" noChangeShapeType="1" noTextEdit="1"/>
                </p:cNvSpPr>
                <p:nvPr/>
              </p:nvSpPr>
              <p:spPr bwMode="auto">
                <a:xfrm>
                  <a:off x="2900536" y="5749144"/>
                  <a:ext cx="783958" cy="379638"/>
                </a:xfrm>
                <a:prstGeom prst="rect">
                  <a:avLst/>
                </a:prstGeom>
                <a:blipFill>
                  <a:blip r:embed="rId5"/>
                  <a:stretch>
                    <a:fillRect b="-9677"/>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Rectangle 13">
                  <a:extLst>
                    <a:ext uri="{FF2B5EF4-FFF2-40B4-BE49-F238E27FC236}">
                      <a16:creationId xmlns:a16="http://schemas.microsoft.com/office/drawing/2014/main" id="{A87B4A7A-8D90-ED4F-B796-DA7547BE32B3}"/>
                    </a:ext>
                  </a:extLst>
                </p:cNvPr>
                <p:cNvSpPr>
                  <a:spLocks noChangeArrowheads="1"/>
                </p:cNvSpPr>
                <p:nvPr/>
              </p:nvSpPr>
              <p:spPr bwMode="auto">
                <a:xfrm>
                  <a:off x="5185716" y="5749144"/>
                  <a:ext cx="783958" cy="379638"/>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wrap="none" lIns="101644" tIns="50823" rIns="101644" bIns="50823">
                  <a:spAutoFit/>
                </a:bodyPr>
                <a:lstStyle/>
                <a:p>
                  <a:pPr defTabSz="1009650" eaLnBrk="0" hangingPunct="0"/>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ea typeface="+mn-ea"/>
                          </a:rPr>
                          <m:t>数据</m:t>
                        </m:r>
                      </m:oMath>
                    </m:oMathPara>
                  </a14:m>
                  <a:endParaRPr lang="en-US" altLang="zh-CN" b="1" dirty="0">
                    <a:latin typeface="+mn-ea"/>
                    <a:ea typeface="+mn-ea"/>
                  </a:endParaRPr>
                </a:p>
              </p:txBody>
            </p:sp>
          </mc:Choice>
          <mc:Fallback xmlns="">
            <p:sp>
              <p:nvSpPr>
                <p:cNvPr id="23" name="Rectangle 13">
                  <a:extLst>
                    <a:ext uri="{FF2B5EF4-FFF2-40B4-BE49-F238E27FC236}">
                      <a16:creationId xmlns:a16="http://schemas.microsoft.com/office/drawing/2014/main" id="{A87B4A7A-8D90-ED4F-B796-DA7547BE32B3}"/>
                    </a:ext>
                  </a:extLst>
                </p:cNvPr>
                <p:cNvSpPr>
                  <a:spLocks noRot="1" noChangeAspect="1" noMove="1" noResize="1" noEditPoints="1" noAdjustHandles="1" noChangeArrowheads="1" noChangeShapeType="1" noTextEdit="1"/>
                </p:cNvSpPr>
                <p:nvPr/>
              </p:nvSpPr>
              <p:spPr bwMode="auto">
                <a:xfrm>
                  <a:off x="5185716" y="5749144"/>
                  <a:ext cx="783958" cy="379638"/>
                </a:xfrm>
                <a:prstGeom prst="rect">
                  <a:avLst/>
                </a:prstGeom>
                <a:blipFill>
                  <a:blip r:embed="rId6"/>
                  <a:stretch>
                    <a:fillRect b="-9677"/>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1467888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68</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3897799"/>
            <a:ext cx="8229600" cy="2066584"/>
          </a:xfrm>
        </p:spPr>
        <p:txBody>
          <a:bodyPr/>
          <a:lstStyle/>
          <a:p>
            <a:pPr marL="514350" indent="-457200">
              <a:spcBef>
                <a:spcPts val="1000"/>
              </a:spcBef>
            </a:pPr>
            <a:r>
              <a:rPr kumimoji="1" lang="zh-CN" altLang="en-US" sz="2400" dirty="0"/>
              <a:t>脏位</a:t>
            </a:r>
            <a:r>
              <a:rPr kumimoji="1" lang="en-US" altLang="zh-CN" sz="2400" dirty="0"/>
              <a:t>D=1</a:t>
            </a:r>
            <a:r>
              <a:rPr kumimoji="1" lang="zh-CN" altLang="en-US" sz="2400" dirty="0"/>
              <a:t>意味着</a:t>
            </a:r>
            <a:r>
              <a:rPr kumimoji="1" lang="en-US" altLang="zh-CN" sz="2400" dirty="0"/>
              <a:t>cache</a:t>
            </a:r>
            <a:r>
              <a:rPr kumimoji="1" lang="zh-CN" altLang="en-US" sz="2400" dirty="0"/>
              <a:t>里面的数据是更新后的，而主存储器里面的数据是过时的。也就是说</a:t>
            </a:r>
            <a:r>
              <a:rPr kumimoji="1" lang="en-US" altLang="zh-CN" sz="2400" dirty="0"/>
              <a:t>cache</a:t>
            </a:r>
            <a:r>
              <a:rPr kumimoji="1" lang="zh-CN" altLang="en-US" sz="2400" dirty="0"/>
              <a:t>行的数据已经和主存储器不一样了，但是还没来得及将数据写回去</a:t>
            </a:r>
          </a:p>
          <a:p>
            <a:pPr marL="514350" indent="-457200">
              <a:spcBef>
                <a:spcPts val="1000"/>
              </a:spcBef>
            </a:pPr>
            <a:r>
              <a:rPr kumimoji="1" lang="en-US" altLang="zh-CN" sz="2400" dirty="0"/>
              <a:t>Cache</a:t>
            </a:r>
            <a:r>
              <a:rPr kumimoji="1" lang="zh-CN" altLang="en-US" sz="2400" dirty="0"/>
              <a:t>数据与主存暂时不一致是可允许的，直到要被替换出去。不一致的数据在被替换时一定要写回主存中</a:t>
            </a:r>
          </a:p>
        </p:txBody>
      </p:sp>
      <p:grpSp>
        <p:nvGrpSpPr>
          <p:cNvPr id="38" name="组合 37">
            <a:extLst>
              <a:ext uri="{FF2B5EF4-FFF2-40B4-BE49-F238E27FC236}">
                <a16:creationId xmlns:a16="http://schemas.microsoft.com/office/drawing/2014/main" id="{C477B849-24AA-514E-AE05-6030045F60B9}"/>
              </a:ext>
            </a:extLst>
          </p:cNvPr>
          <p:cNvGrpSpPr/>
          <p:nvPr/>
        </p:nvGrpSpPr>
        <p:grpSpPr>
          <a:xfrm>
            <a:off x="885776" y="1459182"/>
            <a:ext cx="7552453" cy="2070853"/>
            <a:chOff x="885776" y="1261753"/>
            <a:chExt cx="7552453" cy="2070853"/>
          </a:xfrm>
        </p:grpSpPr>
        <p:sp>
          <p:nvSpPr>
            <p:cNvPr id="17" name="圆角矩形 16">
              <a:extLst>
                <a:ext uri="{FF2B5EF4-FFF2-40B4-BE49-F238E27FC236}">
                  <a16:creationId xmlns:a16="http://schemas.microsoft.com/office/drawing/2014/main" id="{F0D1B54B-9199-0C45-A54D-C2FD83D0397C}"/>
                </a:ext>
              </a:extLst>
            </p:cNvPr>
            <p:cNvSpPr/>
            <p:nvPr/>
          </p:nvSpPr>
          <p:spPr>
            <a:xfrm>
              <a:off x="885776" y="2009317"/>
              <a:ext cx="1284790" cy="83299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处理器</a:t>
              </a:r>
            </a:p>
          </p:txBody>
        </p:sp>
        <p:sp>
          <p:nvSpPr>
            <p:cNvPr id="18" name="圆角矩形 17">
              <a:extLst>
                <a:ext uri="{FF2B5EF4-FFF2-40B4-BE49-F238E27FC236}">
                  <a16:creationId xmlns:a16="http://schemas.microsoft.com/office/drawing/2014/main" id="{53926E48-9466-174E-A02F-3AA66DCAEC4D}"/>
                </a:ext>
              </a:extLst>
            </p:cNvPr>
            <p:cNvSpPr/>
            <p:nvPr/>
          </p:nvSpPr>
          <p:spPr>
            <a:xfrm>
              <a:off x="7153439" y="2009317"/>
              <a:ext cx="1284790" cy="83299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存储器</a:t>
              </a:r>
            </a:p>
          </p:txBody>
        </p:sp>
        <p:cxnSp>
          <p:nvCxnSpPr>
            <p:cNvPr id="19" name="直线箭头连接符 18">
              <a:extLst>
                <a:ext uri="{FF2B5EF4-FFF2-40B4-BE49-F238E27FC236}">
                  <a16:creationId xmlns:a16="http://schemas.microsoft.com/office/drawing/2014/main" id="{B78B2237-2B75-E34D-B05C-8E5736FE4C3A}"/>
                </a:ext>
              </a:extLst>
            </p:cNvPr>
            <p:cNvCxnSpPr/>
            <p:nvPr/>
          </p:nvCxnSpPr>
          <p:spPr>
            <a:xfrm>
              <a:off x="2170566" y="2414048"/>
              <a:ext cx="7794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8B9AAA5F-D540-044E-9B7E-9C6A50E6D6EA}"/>
                </a:ext>
              </a:extLst>
            </p:cNvPr>
            <p:cNvCxnSpPr/>
            <p:nvPr/>
          </p:nvCxnSpPr>
          <p:spPr>
            <a:xfrm>
              <a:off x="6382435" y="2414048"/>
              <a:ext cx="7794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6A0A3A8E-422F-8844-AD31-4E4BA309F11F}"/>
                </a:ext>
              </a:extLst>
            </p:cNvPr>
            <p:cNvSpPr/>
            <p:nvPr/>
          </p:nvSpPr>
          <p:spPr>
            <a:xfrm>
              <a:off x="2957335" y="1559367"/>
              <a:ext cx="3429240" cy="176399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3" name="直线连接符 22">
              <a:extLst>
                <a:ext uri="{FF2B5EF4-FFF2-40B4-BE49-F238E27FC236}">
                  <a16:creationId xmlns:a16="http://schemas.microsoft.com/office/drawing/2014/main" id="{5F3889C7-6178-5747-AB8E-184CD0667325}"/>
                </a:ext>
              </a:extLst>
            </p:cNvPr>
            <p:cNvCxnSpPr>
              <a:cxnSpLocks/>
            </p:cNvCxnSpPr>
            <p:nvPr/>
          </p:nvCxnSpPr>
          <p:spPr>
            <a:xfrm>
              <a:off x="2961067" y="1926956"/>
              <a:ext cx="34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49AC28D1-5334-EE4F-8BEE-D8C6A39D7F55}"/>
                </a:ext>
              </a:extLst>
            </p:cNvPr>
            <p:cNvSpPr txBox="1"/>
            <p:nvPr/>
          </p:nvSpPr>
          <p:spPr>
            <a:xfrm>
              <a:off x="4962955" y="2408874"/>
              <a:ext cx="615553" cy="453009"/>
            </a:xfrm>
            <a:prstGeom prst="rect">
              <a:avLst/>
            </a:prstGeom>
            <a:noFill/>
          </p:spPr>
          <p:txBody>
            <a:bodyPr vert="eaVert" wrap="none" rtlCol="0">
              <a:spAutoFit/>
            </a:bodyPr>
            <a:lstStyle/>
            <a:p>
              <a:r>
                <a:rPr kumimoji="1" lang="en-US" altLang="zh-CN" sz="2800" dirty="0">
                  <a:ea typeface="SimHei" panose="02010609060101010101" pitchFamily="49" charset="-122"/>
                </a:rPr>
                <a:t>···</a:t>
              </a:r>
              <a:endParaRPr kumimoji="1" lang="zh-CN" altLang="en-US" sz="2800" dirty="0">
                <a:ea typeface="SimHei" panose="02010609060101010101" pitchFamily="49" charset="-122"/>
              </a:endParaRPr>
            </a:p>
          </p:txBody>
        </p:sp>
        <p:cxnSp>
          <p:nvCxnSpPr>
            <p:cNvPr id="26" name="直线连接符 25">
              <a:extLst>
                <a:ext uri="{FF2B5EF4-FFF2-40B4-BE49-F238E27FC236}">
                  <a16:creationId xmlns:a16="http://schemas.microsoft.com/office/drawing/2014/main" id="{B9448FF1-964D-1444-92F0-7134D397892A}"/>
                </a:ext>
              </a:extLst>
            </p:cNvPr>
            <p:cNvCxnSpPr>
              <a:cxnSpLocks/>
            </p:cNvCxnSpPr>
            <p:nvPr/>
          </p:nvCxnSpPr>
          <p:spPr>
            <a:xfrm>
              <a:off x="2961067" y="2296045"/>
              <a:ext cx="34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线连接符 26">
              <a:extLst>
                <a:ext uri="{FF2B5EF4-FFF2-40B4-BE49-F238E27FC236}">
                  <a16:creationId xmlns:a16="http://schemas.microsoft.com/office/drawing/2014/main" id="{6C717945-6DDE-1441-9036-3B1C5CFAA9CB}"/>
                </a:ext>
              </a:extLst>
            </p:cNvPr>
            <p:cNvCxnSpPr>
              <a:cxnSpLocks/>
            </p:cNvCxnSpPr>
            <p:nvPr/>
          </p:nvCxnSpPr>
          <p:spPr>
            <a:xfrm>
              <a:off x="2961067" y="2948545"/>
              <a:ext cx="34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D05F55A8-8B30-0D45-B530-AF888A4608DE}"/>
                </a:ext>
              </a:extLst>
            </p:cNvPr>
            <p:cNvCxnSpPr>
              <a:cxnSpLocks/>
            </p:cNvCxnSpPr>
            <p:nvPr/>
          </p:nvCxnSpPr>
          <p:spPr>
            <a:xfrm>
              <a:off x="4376317" y="1559366"/>
              <a:ext cx="0" cy="176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线连接符 28">
              <a:extLst>
                <a:ext uri="{FF2B5EF4-FFF2-40B4-BE49-F238E27FC236}">
                  <a16:creationId xmlns:a16="http://schemas.microsoft.com/office/drawing/2014/main" id="{678DB022-E48D-D14C-B449-5D716C55672D}"/>
                </a:ext>
              </a:extLst>
            </p:cNvPr>
            <p:cNvCxnSpPr>
              <a:cxnSpLocks/>
            </p:cNvCxnSpPr>
            <p:nvPr/>
          </p:nvCxnSpPr>
          <p:spPr>
            <a:xfrm>
              <a:off x="3890504" y="1559366"/>
              <a:ext cx="0" cy="176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F78877C8-DAA5-4649-B5FE-3CB23FCE1669}"/>
                </a:ext>
              </a:extLst>
            </p:cNvPr>
            <p:cNvSpPr txBox="1"/>
            <p:nvPr/>
          </p:nvSpPr>
          <p:spPr>
            <a:xfrm>
              <a:off x="3401189" y="1261753"/>
              <a:ext cx="543739" cy="307777"/>
            </a:xfrm>
            <a:prstGeom prst="rect">
              <a:avLst/>
            </a:prstGeom>
            <a:noFill/>
          </p:spPr>
          <p:txBody>
            <a:bodyPr wrap="none" rtlCol="0">
              <a:spAutoFit/>
            </a:bodyPr>
            <a:lstStyle/>
            <a:p>
              <a:r>
                <a:rPr kumimoji="1" lang="zh-CN" altLang="en-US" sz="1400" dirty="0">
                  <a:latin typeface="SimHei" panose="02010609060101010101" pitchFamily="49" charset="-122"/>
                  <a:ea typeface="SimHei" panose="02010609060101010101" pitchFamily="49" charset="-122"/>
                </a:rPr>
                <a:t>标签</a:t>
              </a:r>
            </a:p>
          </p:txBody>
        </p:sp>
        <p:sp>
          <p:nvSpPr>
            <p:cNvPr id="31" name="文本框 30">
              <a:extLst>
                <a:ext uri="{FF2B5EF4-FFF2-40B4-BE49-F238E27FC236}">
                  <a16:creationId xmlns:a16="http://schemas.microsoft.com/office/drawing/2014/main" id="{7163622B-AC95-6645-B989-CB856E643B3E}"/>
                </a:ext>
              </a:extLst>
            </p:cNvPr>
            <p:cNvSpPr txBox="1"/>
            <p:nvPr/>
          </p:nvSpPr>
          <p:spPr>
            <a:xfrm>
              <a:off x="3803913" y="1261753"/>
              <a:ext cx="723275" cy="307777"/>
            </a:xfrm>
            <a:prstGeom prst="rect">
              <a:avLst/>
            </a:prstGeom>
            <a:noFill/>
          </p:spPr>
          <p:txBody>
            <a:bodyPr wrap="none" rtlCol="0">
              <a:spAutoFit/>
            </a:bodyPr>
            <a:lstStyle/>
            <a:p>
              <a:r>
                <a:rPr kumimoji="1" lang="zh-CN" altLang="en-US" sz="1400" dirty="0">
                  <a:latin typeface="SimHei" panose="02010609060101010101" pitchFamily="49" charset="-122"/>
                  <a:ea typeface="SimHei" panose="02010609060101010101" pitchFamily="49" charset="-122"/>
                </a:rPr>
                <a:t>有效位</a:t>
              </a:r>
            </a:p>
          </p:txBody>
        </p:sp>
        <p:sp>
          <p:nvSpPr>
            <p:cNvPr id="32" name="文本框 31">
              <a:extLst>
                <a:ext uri="{FF2B5EF4-FFF2-40B4-BE49-F238E27FC236}">
                  <a16:creationId xmlns:a16="http://schemas.microsoft.com/office/drawing/2014/main" id="{AC774AC0-B73C-084E-BB23-DBBFDB8AFF4C}"/>
                </a:ext>
              </a:extLst>
            </p:cNvPr>
            <p:cNvSpPr txBox="1"/>
            <p:nvPr/>
          </p:nvSpPr>
          <p:spPr>
            <a:xfrm>
              <a:off x="4981544" y="1261753"/>
              <a:ext cx="543739" cy="307777"/>
            </a:xfrm>
            <a:prstGeom prst="rect">
              <a:avLst/>
            </a:prstGeom>
            <a:noFill/>
          </p:spPr>
          <p:txBody>
            <a:bodyPr wrap="none" rtlCol="0">
              <a:spAutoFit/>
            </a:bodyPr>
            <a:lstStyle/>
            <a:p>
              <a:pPr algn="ctr"/>
              <a:r>
                <a:rPr kumimoji="1" lang="zh-CN" altLang="en-US" sz="1400" dirty="0">
                  <a:latin typeface="SimHei" panose="02010609060101010101" pitchFamily="49" charset="-122"/>
                  <a:ea typeface="SimHei" panose="02010609060101010101" pitchFamily="49" charset="-122"/>
                </a:rPr>
                <a:t>数据</a:t>
              </a:r>
            </a:p>
          </p:txBody>
        </p:sp>
        <p:cxnSp>
          <p:nvCxnSpPr>
            <p:cNvPr id="33" name="直线连接符 32">
              <a:extLst>
                <a:ext uri="{FF2B5EF4-FFF2-40B4-BE49-F238E27FC236}">
                  <a16:creationId xmlns:a16="http://schemas.microsoft.com/office/drawing/2014/main" id="{CD3D12D1-382C-8F48-944C-851E86A141E4}"/>
                </a:ext>
              </a:extLst>
            </p:cNvPr>
            <p:cNvCxnSpPr>
              <a:cxnSpLocks/>
            </p:cNvCxnSpPr>
            <p:nvPr/>
          </p:nvCxnSpPr>
          <p:spPr>
            <a:xfrm>
              <a:off x="3411580" y="1559366"/>
              <a:ext cx="0" cy="176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710969CB-239B-304C-AA30-3241EE1706C3}"/>
                </a:ext>
              </a:extLst>
            </p:cNvPr>
            <p:cNvSpPr txBox="1"/>
            <p:nvPr/>
          </p:nvSpPr>
          <p:spPr>
            <a:xfrm>
              <a:off x="2926015" y="1261753"/>
              <a:ext cx="543739" cy="307777"/>
            </a:xfrm>
            <a:prstGeom prst="rect">
              <a:avLst/>
            </a:prstGeom>
            <a:noFill/>
          </p:spPr>
          <p:txBody>
            <a:bodyPr wrap="none" rtlCol="0">
              <a:spAutoFit/>
            </a:bodyPr>
            <a:lstStyle/>
            <a:p>
              <a:r>
                <a:rPr kumimoji="1" lang="zh-CN" altLang="en-US" sz="1400" dirty="0">
                  <a:latin typeface="SimHei" panose="02010609060101010101" pitchFamily="49" charset="-122"/>
                  <a:ea typeface="SimHei" panose="02010609060101010101" pitchFamily="49" charset="-122"/>
                </a:rPr>
                <a:t>脏位</a:t>
              </a:r>
            </a:p>
          </p:txBody>
        </p:sp>
        <p:sp>
          <p:nvSpPr>
            <p:cNvPr id="36" name="Text Box 18">
              <a:extLst>
                <a:ext uri="{FF2B5EF4-FFF2-40B4-BE49-F238E27FC236}">
                  <a16:creationId xmlns:a16="http://schemas.microsoft.com/office/drawing/2014/main" id="{1D48CE3D-97FE-CF4F-95B2-6C8ACB63564A}"/>
                </a:ext>
              </a:extLst>
            </p:cNvPr>
            <p:cNvSpPr txBox="1">
              <a:spLocks noChangeArrowheads="1"/>
            </p:cNvSpPr>
            <p:nvPr/>
          </p:nvSpPr>
          <p:spPr bwMode="auto">
            <a:xfrm>
              <a:off x="2606675" y="1543943"/>
              <a:ext cx="319342" cy="378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en-US" altLang="zh-CN" dirty="0">
                  <a:latin typeface="Times New Roman" pitchFamily="18" charset="0"/>
                  <a:ea typeface="SimHei" panose="02010609060101010101" pitchFamily="49" charset="-122"/>
                </a:rPr>
                <a:t>0</a:t>
              </a:r>
            </a:p>
          </p:txBody>
        </p:sp>
        <p:sp>
          <p:nvSpPr>
            <p:cNvPr id="37" name="Text Box 19">
              <a:extLst>
                <a:ext uri="{FF2B5EF4-FFF2-40B4-BE49-F238E27FC236}">
                  <a16:creationId xmlns:a16="http://schemas.microsoft.com/office/drawing/2014/main" id="{68679B0C-20D1-B147-9183-D47A5D3DA397}"/>
                </a:ext>
              </a:extLst>
            </p:cNvPr>
            <p:cNvSpPr txBox="1">
              <a:spLocks noChangeArrowheads="1"/>
            </p:cNvSpPr>
            <p:nvPr/>
          </p:nvSpPr>
          <p:spPr bwMode="auto">
            <a:xfrm>
              <a:off x="2476500" y="2953643"/>
              <a:ext cx="562999" cy="378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0977" tIns="50489" rIns="100977" bIns="50489">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pPr eaLnBrk="1" hangingPunct="1"/>
              <a:r>
                <a:rPr kumimoji="1" lang="en-US" altLang="zh-CN" dirty="0">
                  <a:latin typeface="Times New Roman" pitchFamily="18" charset="0"/>
                  <a:ea typeface="SimHei" panose="02010609060101010101" pitchFamily="49" charset="-122"/>
                </a:rPr>
                <a:t>N-1</a:t>
              </a:r>
            </a:p>
          </p:txBody>
        </p:sp>
      </p:grpSp>
    </p:spTree>
    <p:extLst>
      <p:ext uri="{BB962C8B-B14F-4D97-AF65-F5344CB8AC3E}">
        <p14:creationId xmlns:p14="http://schemas.microsoft.com/office/powerpoint/2010/main" val="1042306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69</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303081"/>
            <a:ext cx="8582628" cy="536940"/>
          </a:xfrm>
        </p:spPr>
        <p:txBody>
          <a:bodyPr/>
          <a:lstStyle/>
          <a:p>
            <a:pPr marL="514350" indent="-457200">
              <a:spcBef>
                <a:spcPts val="1000"/>
              </a:spcBef>
            </a:pPr>
            <a:r>
              <a:rPr kumimoji="1" lang="zh-CN" altLang="en-US" dirty="0"/>
              <a:t>更新策略为写回时的总流程</a:t>
            </a:r>
            <a:endParaRPr kumimoji="1" lang="en-US" altLang="zh-CN" sz="2400" dirty="0"/>
          </a:p>
        </p:txBody>
      </p:sp>
      <p:grpSp>
        <p:nvGrpSpPr>
          <p:cNvPr id="133" name="组合 132">
            <a:extLst>
              <a:ext uri="{FF2B5EF4-FFF2-40B4-BE49-F238E27FC236}">
                <a16:creationId xmlns:a16="http://schemas.microsoft.com/office/drawing/2014/main" id="{8279C736-37D7-684A-864F-825BA2CD68DD}"/>
              </a:ext>
            </a:extLst>
          </p:cNvPr>
          <p:cNvGrpSpPr/>
          <p:nvPr/>
        </p:nvGrpSpPr>
        <p:grpSpPr>
          <a:xfrm>
            <a:off x="565899" y="1827753"/>
            <a:ext cx="7929670" cy="5000531"/>
            <a:chOff x="565899" y="1827753"/>
            <a:chExt cx="7929670" cy="5000531"/>
          </a:xfrm>
        </p:grpSpPr>
        <p:cxnSp>
          <p:nvCxnSpPr>
            <p:cNvPr id="51" name="肘形连接符 50">
              <a:extLst>
                <a:ext uri="{FF2B5EF4-FFF2-40B4-BE49-F238E27FC236}">
                  <a16:creationId xmlns:a16="http://schemas.microsoft.com/office/drawing/2014/main" id="{F0B8A4A8-CC18-034F-AD12-4630B86F457E}"/>
                </a:ext>
              </a:extLst>
            </p:cNvPr>
            <p:cNvCxnSpPr>
              <a:cxnSpLocks/>
              <a:endCxn id="59" idx="0"/>
            </p:cNvCxnSpPr>
            <p:nvPr/>
          </p:nvCxnSpPr>
          <p:spPr>
            <a:xfrm rot="10800000" flipV="1">
              <a:off x="1629843" y="2494659"/>
              <a:ext cx="1511102" cy="136716"/>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线箭头连接符 51">
              <a:extLst>
                <a:ext uri="{FF2B5EF4-FFF2-40B4-BE49-F238E27FC236}">
                  <a16:creationId xmlns:a16="http://schemas.microsoft.com/office/drawing/2014/main" id="{6D6E2771-7BF2-824E-8FF8-B1F590DBD65D}"/>
                </a:ext>
              </a:extLst>
            </p:cNvPr>
            <p:cNvCxnSpPr>
              <a:cxnSpLocks/>
              <a:stCxn id="60" idx="2"/>
              <a:endCxn id="87" idx="0"/>
            </p:cNvCxnSpPr>
            <p:nvPr/>
          </p:nvCxnSpPr>
          <p:spPr>
            <a:xfrm flipH="1">
              <a:off x="5998727" y="3044087"/>
              <a:ext cx="460" cy="20537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线箭头连接符 52">
              <a:extLst>
                <a:ext uri="{FF2B5EF4-FFF2-40B4-BE49-F238E27FC236}">
                  <a16:creationId xmlns:a16="http://schemas.microsoft.com/office/drawing/2014/main" id="{0DEB526E-C5F8-6843-9D0A-ACE40A54E2A6}"/>
                </a:ext>
              </a:extLst>
            </p:cNvPr>
            <p:cNvCxnSpPr>
              <a:cxnSpLocks/>
              <a:stCxn id="64" idx="2"/>
              <a:endCxn id="78" idx="0"/>
            </p:cNvCxnSpPr>
            <p:nvPr/>
          </p:nvCxnSpPr>
          <p:spPr>
            <a:xfrm>
              <a:off x="1629843" y="3754808"/>
              <a:ext cx="0" cy="168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53">
              <a:extLst>
                <a:ext uri="{FF2B5EF4-FFF2-40B4-BE49-F238E27FC236}">
                  <a16:creationId xmlns:a16="http://schemas.microsoft.com/office/drawing/2014/main" id="{DF67CCAF-D722-A545-A66F-8E053A2248A0}"/>
                </a:ext>
              </a:extLst>
            </p:cNvPr>
            <p:cNvCxnSpPr>
              <a:cxnSpLocks/>
              <a:stCxn id="59" idx="2"/>
              <a:endCxn id="64" idx="0"/>
            </p:cNvCxnSpPr>
            <p:nvPr/>
          </p:nvCxnSpPr>
          <p:spPr>
            <a:xfrm>
              <a:off x="1629843" y="3044087"/>
              <a:ext cx="0" cy="2053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圆角矩形 54">
              <a:extLst>
                <a:ext uri="{FF2B5EF4-FFF2-40B4-BE49-F238E27FC236}">
                  <a16:creationId xmlns:a16="http://schemas.microsoft.com/office/drawing/2014/main" id="{F3C24BA9-8AD9-7D44-9F27-3638018EA619}"/>
                </a:ext>
              </a:extLst>
            </p:cNvPr>
            <p:cNvSpPr/>
            <p:nvPr/>
          </p:nvSpPr>
          <p:spPr>
            <a:xfrm>
              <a:off x="3174512" y="1827753"/>
              <a:ext cx="1518892" cy="284018"/>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访存请求</a:t>
              </a:r>
            </a:p>
          </p:txBody>
        </p:sp>
        <p:cxnSp>
          <p:nvCxnSpPr>
            <p:cNvPr id="56" name="直线箭头连接符 55">
              <a:extLst>
                <a:ext uri="{FF2B5EF4-FFF2-40B4-BE49-F238E27FC236}">
                  <a16:creationId xmlns:a16="http://schemas.microsoft.com/office/drawing/2014/main" id="{8EACAA30-2803-A84A-852E-8B9E41E3583B}"/>
                </a:ext>
              </a:extLst>
            </p:cNvPr>
            <p:cNvCxnSpPr>
              <a:cxnSpLocks/>
              <a:stCxn id="55" idx="2"/>
            </p:cNvCxnSpPr>
            <p:nvPr/>
          </p:nvCxnSpPr>
          <p:spPr>
            <a:xfrm>
              <a:off x="3933958" y="2111771"/>
              <a:ext cx="0" cy="16421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菱形 57">
              <a:extLst>
                <a:ext uri="{FF2B5EF4-FFF2-40B4-BE49-F238E27FC236}">
                  <a16:creationId xmlns:a16="http://schemas.microsoft.com/office/drawing/2014/main" id="{F34FBA25-DFF2-8847-A976-53D2D8409719}"/>
                </a:ext>
              </a:extLst>
            </p:cNvPr>
            <p:cNvSpPr/>
            <p:nvPr/>
          </p:nvSpPr>
          <p:spPr>
            <a:xfrm>
              <a:off x="2870015" y="2288303"/>
              <a:ext cx="2127888" cy="412712"/>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请求类型</a:t>
              </a:r>
            </a:p>
          </p:txBody>
        </p:sp>
        <p:sp>
          <p:nvSpPr>
            <p:cNvPr id="59" name="菱形 58">
              <a:extLst>
                <a:ext uri="{FF2B5EF4-FFF2-40B4-BE49-F238E27FC236}">
                  <a16:creationId xmlns:a16="http://schemas.microsoft.com/office/drawing/2014/main" id="{84AAB51D-A829-0A4E-9BCE-DABAF905B857}"/>
                </a:ext>
              </a:extLst>
            </p:cNvPr>
            <p:cNvSpPr/>
            <p:nvPr/>
          </p:nvSpPr>
          <p:spPr>
            <a:xfrm>
              <a:off x="565899" y="2631375"/>
              <a:ext cx="2127888" cy="412712"/>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是否命中</a:t>
              </a:r>
            </a:p>
          </p:txBody>
        </p:sp>
        <p:sp>
          <p:nvSpPr>
            <p:cNvPr id="60" name="菱形 59">
              <a:extLst>
                <a:ext uri="{FF2B5EF4-FFF2-40B4-BE49-F238E27FC236}">
                  <a16:creationId xmlns:a16="http://schemas.microsoft.com/office/drawing/2014/main" id="{1D1621F1-EB8F-604F-8992-175F91DC5695}"/>
                </a:ext>
              </a:extLst>
            </p:cNvPr>
            <p:cNvSpPr/>
            <p:nvPr/>
          </p:nvSpPr>
          <p:spPr>
            <a:xfrm>
              <a:off x="4935243" y="2631375"/>
              <a:ext cx="2127888" cy="412712"/>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是否命中</a:t>
              </a:r>
            </a:p>
          </p:txBody>
        </p:sp>
        <p:cxnSp>
          <p:nvCxnSpPr>
            <p:cNvPr id="61" name="肘形连接符 60">
              <a:extLst>
                <a:ext uri="{FF2B5EF4-FFF2-40B4-BE49-F238E27FC236}">
                  <a16:creationId xmlns:a16="http://schemas.microsoft.com/office/drawing/2014/main" id="{42368943-A0A9-F74F-A71D-C91956C6370A}"/>
                </a:ext>
              </a:extLst>
            </p:cNvPr>
            <p:cNvCxnSpPr>
              <a:cxnSpLocks/>
              <a:stCxn id="58" idx="3"/>
              <a:endCxn id="60" idx="0"/>
            </p:cNvCxnSpPr>
            <p:nvPr/>
          </p:nvCxnSpPr>
          <p:spPr>
            <a:xfrm>
              <a:off x="4997903" y="2494659"/>
              <a:ext cx="1001284" cy="136716"/>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596C0C46-E9F6-3C44-B90D-C3563B78565C}"/>
                </a:ext>
              </a:extLst>
            </p:cNvPr>
            <p:cNvSpPr txBox="1"/>
            <p:nvPr/>
          </p:nvSpPr>
          <p:spPr>
            <a:xfrm>
              <a:off x="2103281" y="2195077"/>
              <a:ext cx="244799" cy="338554"/>
            </a:xfrm>
            <a:prstGeom prst="rect">
              <a:avLst/>
            </a:prstGeom>
            <a:noFill/>
          </p:spPr>
          <p:txBody>
            <a:bodyPr wrap="square" rtlCol="0">
              <a:spAutoFit/>
            </a:bodyPr>
            <a:lstStyle/>
            <a:p>
              <a:r>
                <a:rPr kumimoji="1" lang="zh-CN" altLang="en-US" sz="1600" dirty="0">
                  <a:latin typeface="SimHei" panose="02010609060101010101" pitchFamily="49" charset="-122"/>
                  <a:ea typeface="SimHei" panose="02010609060101010101" pitchFamily="49" charset="-122"/>
                </a:rPr>
                <a:t>读</a:t>
              </a:r>
            </a:p>
          </p:txBody>
        </p:sp>
        <p:sp>
          <p:nvSpPr>
            <p:cNvPr id="63" name="文本框 62">
              <a:extLst>
                <a:ext uri="{FF2B5EF4-FFF2-40B4-BE49-F238E27FC236}">
                  <a16:creationId xmlns:a16="http://schemas.microsoft.com/office/drawing/2014/main" id="{3B536978-6501-7A4E-A439-877F6B85429B}"/>
                </a:ext>
              </a:extLst>
            </p:cNvPr>
            <p:cNvSpPr txBox="1"/>
            <p:nvPr/>
          </p:nvSpPr>
          <p:spPr>
            <a:xfrm>
              <a:off x="5623982" y="2195077"/>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写</a:t>
              </a:r>
            </a:p>
          </p:txBody>
        </p:sp>
        <p:sp>
          <p:nvSpPr>
            <p:cNvPr id="64" name="矩形 63">
              <a:extLst>
                <a:ext uri="{FF2B5EF4-FFF2-40B4-BE49-F238E27FC236}">
                  <a16:creationId xmlns:a16="http://schemas.microsoft.com/office/drawing/2014/main" id="{0425B7D0-F951-184E-A989-8D5FF4A34DB0}"/>
                </a:ext>
              </a:extLst>
            </p:cNvPr>
            <p:cNvSpPr/>
            <p:nvPr/>
          </p:nvSpPr>
          <p:spPr>
            <a:xfrm>
              <a:off x="565899" y="3249465"/>
              <a:ext cx="2127888" cy="50534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选择主存地址对应的</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a:t>
              </a:r>
            </a:p>
          </p:txBody>
        </p:sp>
        <p:sp>
          <p:nvSpPr>
            <p:cNvPr id="65" name="矩形 64">
              <a:extLst>
                <a:ext uri="{FF2B5EF4-FFF2-40B4-BE49-F238E27FC236}">
                  <a16:creationId xmlns:a16="http://schemas.microsoft.com/office/drawing/2014/main" id="{99F24038-756F-1D49-94AE-E32351C55CBA}"/>
                </a:ext>
              </a:extLst>
            </p:cNvPr>
            <p:cNvSpPr/>
            <p:nvPr/>
          </p:nvSpPr>
          <p:spPr>
            <a:xfrm>
              <a:off x="565899" y="4553894"/>
              <a:ext cx="2127888" cy="57764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将数据从主存储器内加载到对应</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行中</a:t>
              </a:r>
            </a:p>
          </p:txBody>
        </p:sp>
        <p:cxnSp>
          <p:nvCxnSpPr>
            <p:cNvPr id="66" name="直线箭头连接符 65">
              <a:extLst>
                <a:ext uri="{FF2B5EF4-FFF2-40B4-BE49-F238E27FC236}">
                  <a16:creationId xmlns:a16="http://schemas.microsoft.com/office/drawing/2014/main" id="{C6C910B5-5C89-1E4F-8D45-5B417ECA744B}"/>
                </a:ext>
              </a:extLst>
            </p:cNvPr>
            <p:cNvCxnSpPr>
              <a:cxnSpLocks/>
              <a:stCxn id="78" idx="2"/>
              <a:endCxn id="65" idx="0"/>
            </p:cNvCxnSpPr>
            <p:nvPr/>
          </p:nvCxnSpPr>
          <p:spPr>
            <a:xfrm>
              <a:off x="1629843" y="4336144"/>
              <a:ext cx="0" cy="2177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E5EFCDC8-C9E0-F542-B82A-C52318AA09B1}"/>
                </a:ext>
              </a:extLst>
            </p:cNvPr>
            <p:cNvSpPr txBox="1"/>
            <p:nvPr/>
          </p:nvSpPr>
          <p:spPr>
            <a:xfrm>
              <a:off x="1682238" y="2957157"/>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否</a:t>
              </a:r>
            </a:p>
          </p:txBody>
        </p:sp>
        <p:sp>
          <p:nvSpPr>
            <p:cNvPr id="68" name="矩形 67">
              <a:extLst>
                <a:ext uri="{FF2B5EF4-FFF2-40B4-BE49-F238E27FC236}">
                  <a16:creationId xmlns:a16="http://schemas.microsoft.com/office/drawing/2014/main" id="{2212858E-5CEA-364A-BAD4-5CE534B1C6D0}"/>
                </a:ext>
              </a:extLst>
            </p:cNvPr>
            <p:cNvSpPr/>
            <p:nvPr/>
          </p:nvSpPr>
          <p:spPr>
            <a:xfrm>
              <a:off x="565899" y="5741382"/>
              <a:ext cx="2127888" cy="54120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将需要读的数据返回给处理器</a:t>
              </a:r>
            </a:p>
          </p:txBody>
        </p:sp>
        <p:cxnSp>
          <p:nvCxnSpPr>
            <p:cNvPr id="69" name="直线箭头连接符 68">
              <a:extLst>
                <a:ext uri="{FF2B5EF4-FFF2-40B4-BE49-F238E27FC236}">
                  <a16:creationId xmlns:a16="http://schemas.microsoft.com/office/drawing/2014/main" id="{BAA7961C-13B1-0247-8CDA-7127AE86FAD6}"/>
                </a:ext>
              </a:extLst>
            </p:cNvPr>
            <p:cNvCxnSpPr>
              <a:cxnSpLocks/>
              <a:stCxn id="65" idx="2"/>
              <a:endCxn id="84" idx="0"/>
            </p:cNvCxnSpPr>
            <p:nvPr/>
          </p:nvCxnSpPr>
          <p:spPr>
            <a:xfrm>
              <a:off x="1629843" y="5131536"/>
              <a:ext cx="0" cy="1606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肘形连接符 69">
              <a:extLst>
                <a:ext uri="{FF2B5EF4-FFF2-40B4-BE49-F238E27FC236}">
                  <a16:creationId xmlns:a16="http://schemas.microsoft.com/office/drawing/2014/main" id="{451647AB-EABE-6943-9688-5C7AA064B401}"/>
                </a:ext>
              </a:extLst>
            </p:cNvPr>
            <p:cNvCxnSpPr>
              <a:cxnSpLocks/>
              <a:stCxn id="59" idx="3"/>
              <a:endCxn id="68" idx="3"/>
            </p:cNvCxnSpPr>
            <p:nvPr/>
          </p:nvCxnSpPr>
          <p:spPr>
            <a:xfrm>
              <a:off x="2693787" y="2837731"/>
              <a:ext cx="12700" cy="3174252"/>
            </a:xfrm>
            <a:prstGeom prst="bentConnector3">
              <a:avLst>
                <a:gd name="adj1" fmla="val 1242222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6F4FA922-7435-894D-9ABE-3CCC315BE613}"/>
                </a:ext>
              </a:extLst>
            </p:cNvPr>
            <p:cNvSpPr txBox="1"/>
            <p:nvPr/>
          </p:nvSpPr>
          <p:spPr>
            <a:xfrm>
              <a:off x="2588770" y="2481249"/>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是</a:t>
              </a:r>
            </a:p>
          </p:txBody>
        </p:sp>
        <p:sp>
          <p:nvSpPr>
            <p:cNvPr id="72" name="矩形 71">
              <a:extLst>
                <a:ext uri="{FF2B5EF4-FFF2-40B4-BE49-F238E27FC236}">
                  <a16:creationId xmlns:a16="http://schemas.microsoft.com/office/drawing/2014/main" id="{C4104BAC-5AE2-3844-BFC6-E5525DD5C801}"/>
                </a:ext>
              </a:extLst>
            </p:cNvPr>
            <p:cNvSpPr/>
            <p:nvPr/>
          </p:nvSpPr>
          <p:spPr>
            <a:xfrm>
              <a:off x="4941142" y="4553198"/>
              <a:ext cx="2127888" cy="576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rgbClr val="0432FF"/>
                  </a:solidFill>
                  <a:latin typeface="SimHei" panose="02010609060101010101" pitchFamily="49" charset="-122"/>
                  <a:ea typeface="SimHei" panose="02010609060101010101" pitchFamily="49" charset="-122"/>
                </a:rPr>
                <a:t>将数据从主存储器内加载到对应</a:t>
              </a:r>
              <a:r>
                <a:rPr kumimoji="1" lang="en-US" altLang="zh-CN" sz="1600" dirty="0">
                  <a:solidFill>
                    <a:srgbClr val="0432FF"/>
                  </a:solidFill>
                  <a:latin typeface="SimHei" panose="02010609060101010101" pitchFamily="49" charset="-122"/>
                  <a:ea typeface="SimHei" panose="02010609060101010101" pitchFamily="49" charset="-122"/>
                </a:rPr>
                <a:t>cache</a:t>
              </a:r>
              <a:r>
                <a:rPr kumimoji="1" lang="zh-CN" altLang="en-US" sz="1600" dirty="0">
                  <a:solidFill>
                    <a:srgbClr val="0432FF"/>
                  </a:solidFill>
                  <a:latin typeface="SimHei" panose="02010609060101010101" pitchFamily="49" charset="-122"/>
                  <a:ea typeface="SimHei" panose="02010609060101010101" pitchFamily="49" charset="-122"/>
                </a:rPr>
                <a:t>行中</a:t>
              </a:r>
            </a:p>
          </p:txBody>
        </p:sp>
        <p:cxnSp>
          <p:nvCxnSpPr>
            <p:cNvPr id="73" name="肘形连接符 72">
              <a:extLst>
                <a:ext uri="{FF2B5EF4-FFF2-40B4-BE49-F238E27FC236}">
                  <a16:creationId xmlns:a16="http://schemas.microsoft.com/office/drawing/2014/main" id="{9E44AE57-5A52-0341-992F-F845DB087F5B}"/>
                </a:ext>
              </a:extLst>
            </p:cNvPr>
            <p:cNvCxnSpPr>
              <a:cxnSpLocks/>
              <a:endCxn id="57" idx="3"/>
            </p:cNvCxnSpPr>
            <p:nvPr/>
          </p:nvCxnSpPr>
          <p:spPr>
            <a:xfrm rot="16200000" flipH="1">
              <a:off x="5715518" y="4169778"/>
              <a:ext cx="2693342" cy="13682"/>
            </a:xfrm>
            <a:prstGeom prst="bentConnector4">
              <a:avLst>
                <a:gd name="adj1" fmla="val 213"/>
                <a:gd name="adj2" fmla="val 1115304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07B92316-42C3-004E-9F38-4947397E12CD}"/>
                </a:ext>
              </a:extLst>
            </p:cNvPr>
            <p:cNvSpPr txBox="1"/>
            <p:nvPr/>
          </p:nvSpPr>
          <p:spPr>
            <a:xfrm>
              <a:off x="7116907" y="2481249"/>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是</a:t>
              </a:r>
            </a:p>
          </p:txBody>
        </p:sp>
        <p:sp>
          <p:nvSpPr>
            <p:cNvPr id="75" name="圆角矩形 74">
              <a:extLst>
                <a:ext uri="{FF2B5EF4-FFF2-40B4-BE49-F238E27FC236}">
                  <a16:creationId xmlns:a16="http://schemas.microsoft.com/office/drawing/2014/main" id="{BE3BE028-F826-7A40-B24D-51CBC64A1608}"/>
                </a:ext>
              </a:extLst>
            </p:cNvPr>
            <p:cNvSpPr/>
            <p:nvPr/>
          </p:nvSpPr>
          <p:spPr>
            <a:xfrm>
              <a:off x="3174512" y="6544266"/>
              <a:ext cx="1518892" cy="284018"/>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完成访存</a:t>
              </a:r>
            </a:p>
          </p:txBody>
        </p:sp>
        <p:cxnSp>
          <p:nvCxnSpPr>
            <p:cNvPr id="76" name="肘形连接符 75">
              <a:extLst>
                <a:ext uri="{FF2B5EF4-FFF2-40B4-BE49-F238E27FC236}">
                  <a16:creationId xmlns:a16="http://schemas.microsoft.com/office/drawing/2014/main" id="{B2D565AA-C838-CA47-B66F-CDE6B558FFF6}"/>
                </a:ext>
              </a:extLst>
            </p:cNvPr>
            <p:cNvCxnSpPr>
              <a:cxnSpLocks/>
              <a:stCxn id="68" idx="2"/>
              <a:endCxn id="75" idx="0"/>
            </p:cNvCxnSpPr>
            <p:nvPr/>
          </p:nvCxnSpPr>
          <p:spPr>
            <a:xfrm rot="16200000" flipH="1">
              <a:off x="2651059" y="5261367"/>
              <a:ext cx="261682" cy="230411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肘形连接符 76">
              <a:extLst>
                <a:ext uri="{FF2B5EF4-FFF2-40B4-BE49-F238E27FC236}">
                  <a16:creationId xmlns:a16="http://schemas.microsoft.com/office/drawing/2014/main" id="{A88D14E0-10AD-1242-9952-702DCDB10112}"/>
                </a:ext>
              </a:extLst>
            </p:cNvPr>
            <p:cNvCxnSpPr>
              <a:cxnSpLocks/>
              <a:stCxn id="97" idx="2"/>
              <a:endCxn id="75" idx="0"/>
            </p:cNvCxnSpPr>
            <p:nvPr/>
          </p:nvCxnSpPr>
          <p:spPr>
            <a:xfrm rot="5400000">
              <a:off x="4800994" y="5340173"/>
              <a:ext cx="337057" cy="2071128"/>
            </a:xfrm>
            <a:prstGeom prst="bentConnector3">
              <a:avLst>
                <a:gd name="adj1" fmla="val 60435"/>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菱形 77">
              <a:extLst>
                <a:ext uri="{FF2B5EF4-FFF2-40B4-BE49-F238E27FC236}">
                  <a16:creationId xmlns:a16="http://schemas.microsoft.com/office/drawing/2014/main" id="{76DAFE8A-9B35-164D-9F2D-F357DD3C0D8A}"/>
                </a:ext>
              </a:extLst>
            </p:cNvPr>
            <p:cNvSpPr/>
            <p:nvPr/>
          </p:nvSpPr>
          <p:spPr>
            <a:xfrm>
              <a:off x="565899" y="3923432"/>
              <a:ext cx="2127888" cy="412712"/>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脏位为</a:t>
              </a:r>
              <a:r>
                <a:rPr kumimoji="1" lang="en-US" altLang="zh-CN" sz="1600" dirty="0">
                  <a:solidFill>
                    <a:schemeClr val="tx1"/>
                  </a:solidFill>
                  <a:latin typeface="SimHei" panose="02010609060101010101" pitchFamily="49" charset="-122"/>
                  <a:ea typeface="SimHei" panose="02010609060101010101" pitchFamily="49" charset="-122"/>
                </a:rPr>
                <a:t>1</a:t>
              </a:r>
              <a:endParaRPr kumimoji="1" lang="zh-CN" altLang="en-US" sz="1600" dirty="0">
                <a:solidFill>
                  <a:schemeClr val="tx1"/>
                </a:solidFill>
                <a:latin typeface="SimHei" panose="02010609060101010101" pitchFamily="49" charset="-122"/>
                <a:ea typeface="SimHei" panose="02010609060101010101" pitchFamily="49" charset="-122"/>
              </a:endParaRPr>
            </a:p>
          </p:txBody>
        </p:sp>
        <p:sp>
          <p:nvSpPr>
            <p:cNvPr id="79" name="文本框 78">
              <a:extLst>
                <a:ext uri="{FF2B5EF4-FFF2-40B4-BE49-F238E27FC236}">
                  <a16:creationId xmlns:a16="http://schemas.microsoft.com/office/drawing/2014/main" id="{0029A15A-029B-6D48-A9F5-21E8C0F8F9FD}"/>
                </a:ext>
              </a:extLst>
            </p:cNvPr>
            <p:cNvSpPr txBox="1"/>
            <p:nvPr/>
          </p:nvSpPr>
          <p:spPr>
            <a:xfrm>
              <a:off x="1711733" y="4241260"/>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否</a:t>
              </a:r>
            </a:p>
          </p:txBody>
        </p:sp>
        <p:sp>
          <p:nvSpPr>
            <p:cNvPr id="80" name="矩形 79">
              <a:extLst>
                <a:ext uri="{FF2B5EF4-FFF2-40B4-BE49-F238E27FC236}">
                  <a16:creationId xmlns:a16="http://schemas.microsoft.com/office/drawing/2014/main" id="{8BE39D8F-94E7-5F46-B483-E314E41BA03F}"/>
                </a:ext>
              </a:extLst>
            </p:cNvPr>
            <p:cNvSpPr/>
            <p:nvPr/>
          </p:nvSpPr>
          <p:spPr>
            <a:xfrm>
              <a:off x="2813868" y="4307671"/>
              <a:ext cx="1353717" cy="5080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行数据写回主存</a:t>
              </a:r>
            </a:p>
          </p:txBody>
        </p:sp>
        <p:cxnSp>
          <p:nvCxnSpPr>
            <p:cNvPr id="81" name="肘形连接符 80">
              <a:extLst>
                <a:ext uri="{FF2B5EF4-FFF2-40B4-BE49-F238E27FC236}">
                  <a16:creationId xmlns:a16="http://schemas.microsoft.com/office/drawing/2014/main" id="{BB7D94AC-7EA0-4D43-9CB3-2281C07CEC6C}"/>
                </a:ext>
              </a:extLst>
            </p:cNvPr>
            <p:cNvCxnSpPr>
              <a:cxnSpLocks/>
              <a:stCxn id="78" idx="3"/>
              <a:endCxn id="80" idx="0"/>
            </p:cNvCxnSpPr>
            <p:nvPr/>
          </p:nvCxnSpPr>
          <p:spPr>
            <a:xfrm>
              <a:off x="2693787" y="4129788"/>
              <a:ext cx="796940" cy="177883"/>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肘形连接符 81">
              <a:extLst>
                <a:ext uri="{FF2B5EF4-FFF2-40B4-BE49-F238E27FC236}">
                  <a16:creationId xmlns:a16="http://schemas.microsoft.com/office/drawing/2014/main" id="{6D257F66-3B05-CA49-8CF9-05E71348BCAC}"/>
                </a:ext>
              </a:extLst>
            </p:cNvPr>
            <p:cNvCxnSpPr>
              <a:cxnSpLocks/>
              <a:stCxn id="80" idx="2"/>
            </p:cNvCxnSpPr>
            <p:nvPr/>
          </p:nvCxnSpPr>
          <p:spPr>
            <a:xfrm rot="5400000">
              <a:off x="2999123" y="4510390"/>
              <a:ext cx="186283" cy="796927"/>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D6FFB915-C348-B249-AA29-5EB7D92A3394}"/>
                </a:ext>
              </a:extLst>
            </p:cNvPr>
            <p:cNvSpPr txBox="1"/>
            <p:nvPr/>
          </p:nvSpPr>
          <p:spPr>
            <a:xfrm>
              <a:off x="2665461" y="3836384"/>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是</a:t>
              </a:r>
            </a:p>
          </p:txBody>
        </p:sp>
        <p:sp>
          <p:nvSpPr>
            <p:cNvPr id="84" name="矩形 83">
              <a:extLst>
                <a:ext uri="{FF2B5EF4-FFF2-40B4-BE49-F238E27FC236}">
                  <a16:creationId xmlns:a16="http://schemas.microsoft.com/office/drawing/2014/main" id="{733C6C74-02C0-8F46-A101-3DED2F5C0417}"/>
                </a:ext>
              </a:extLst>
            </p:cNvPr>
            <p:cNvSpPr/>
            <p:nvPr/>
          </p:nvSpPr>
          <p:spPr>
            <a:xfrm>
              <a:off x="565899" y="5292189"/>
              <a:ext cx="2127888" cy="29940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当前</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行脏位置</a:t>
              </a:r>
              <a:r>
                <a:rPr kumimoji="1" lang="en-US" altLang="zh-CN" sz="1600" dirty="0">
                  <a:solidFill>
                    <a:schemeClr val="tx1"/>
                  </a:solidFill>
                  <a:latin typeface="SimHei" panose="02010609060101010101" pitchFamily="49" charset="-122"/>
                  <a:ea typeface="SimHei" panose="02010609060101010101" pitchFamily="49" charset="-122"/>
                </a:rPr>
                <a:t>0</a:t>
              </a:r>
              <a:endParaRPr kumimoji="1" lang="zh-CN" altLang="en-US" sz="1600" dirty="0">
                <a:solidFill>
                  <a:schemeClr val="tx1"/>
                </a:solidFill>
                <a:latin typeface="SimHei" panose="02010609060101010101" pitchFamily="49" charset="-122"/>
                <a:ea typeface="SimHei" panose="02010609060101010101" pitchFamily="49" charset="-122"/>
              </a:endParaRPr>
            </a:p>
          </p:txBody>
        </p:sp>
        <p:cxnSp>
          <p:nvCxnSpPr>
            <p:cNvPr id="85" name="直线箭头连接符 84">
              <a:extLst>
                <a:ext uri="{FF2B5EF4-FFF2-40B4-BE49-F238E27FC236}">
                  <a16:creationId xmlns:a16="http://schemas.microsoft.com/office/drawing/2014/main" id="{59A41F3A-727E-4C4D-869F-65D42FCB19CF}"/>
                </a:ext>
              </a:extLst>
            </p:cNvPr>
            <p:cNvCxnSpPr>
              <a:cxnSpLocks/>
              <a:stCxn id="84" idx="2"/>
            </p:cNvCxnSpPr>
            <p:nvPr/>
          </p:nvCxnSpPr>
          <p:spPr>
            <a:xfrm>
              <a:off x="1629843" y="5591595"/>
              <a:ext cx="0" cy="1629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线箭头连接符 85">
              <a:extLst>
                <a:ext uri="{FF2B5EF4-FFF2-40B4-BE49-F238E27FC236}">
                  <a16:creationId xmlns:a16="http://schemas.microsoft.com/office/drawing/2014/main" id="{99459D5D-9F10-114D-A526-141E5C312A6B}"/>
                </a:ext>
              </a:extLst>
            </p:cNvPr>
            <p:cNvCxnSpPr>
              <a:cxnSpLocks/>
              <a:stCxn id="87" idx="2"/>
              <a:endCxn id="90" idx="0"/>
            </p:cNvCxnSpPr>
            <p:nvPr/>
          </p:nvCxnSpPr>
          <p:spPr>
            <a:xfrm>
              <a:off x="5998727" y="3754808"/>
              <a:ext cx="0" cy="168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矩形 86">
              <a:extLst>
                <a:ext uri="{FF2B5EF4-FFF2-40B4-BE49-F238E27FC236}">
                  <a16:creationId xmlns:a16="http://schemas.microsoft.com/office/drawing/2014/main" id="{C3E1D236-EEDB-FA4D-94F3-4D1DBD2E74AF}"/>
                </a:ext>
              </a:extLst>
            </p:cNvPr>
            <p:cNvSpPr/>
            <p:nvPr/>
          </p:nvSpPr>
          <p:spPr>
            <a:xfrm>
              <a:off x="4934783" y="3249466"/>
              <a:ext cx="2127888" cy="50534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选择主存地址对应的</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a:t>
              </a:r>
            </a:p>
          </p:txBody>
        </p:sp>
        <p:cxnSp>
          <p:nvCxnSpPr>
            <p:cNvPr id="88" name="直线箭头连接符 87">
              <a:extLst>
                <a:ext uri="{FF2B5EF4-FFF2-40B4-BE49-F238E27FC236}">
                  <a16:creationId xmlns:a16="http://schemas.microsoft.com/office/drawing/2014/main" id="{5F9CD3DE-80D0-2B43-BFD8-504E89CA9338}"/>
                </a:ext>
              </a:extLst>
            </p:cNvPr>
            <p:cNvCxnSpPr>
              <a:cxnSpLocks/>
              <a:stCxn id="90" idx="2"/>
              <a:endCxn id="72" idx="0"/>
            </p:cNvCxnSpPr>
            <p:nvPr/>
          </p:nvCxnSpPr>
          <p:spPr>
            <a:xfrm>
              <a:off x="5998727" y="4336144"/>
              <a:ext cx="6359" cy="2170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F9C32670-4A61-0845-8AF4-5A3B8CF4C146}"/>
                </a:ext>
              </a:extLst>
            </p:cNvPr>
            <p:cNvSpPr txBox="1"/>
            <p:nvPr/>
          </p:nvSpPr>
          <p:spPr>
            <a:xfrm>
              <a:off x="6051123" y="2957157"/>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否</a:t>
              </a:r>
            </a:p>
          </p:txBody>
        </p:sp>
        <p:sp>
          <p:nvSpPr>
            <p:cNvPr id="90" name="菱形 89">
              <a:extLst>
                <a:ext uri="{FF2B5EF4-FFF2-40B4-BE49-F238E27FC236}">
                  <a16:creationId xmlns:a16="http://schemas.microsoft.com/office/drawing/2014/main" id="{969732DF-B827-A54C-944B-648007270CAC}"/>
                </a:ext>
              </a:extLst>
            </p:cNvPr>
            <p:cNvSpPr/>
            <p:nvPr/>
          </p:nvSpPr>
          <p:spPr>
            <a:xfrm>
              <a:off x="4934783" y="3923432"/>
              <a:ext cx="2127888" cy="412712"/>
            </a:xfrm>
            <a:prstGeom prst="diamond">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脏位为</a:t>
              </a:r>
              <a:r>
                <a:rPr kumimoji="1" lang="en-US" altLang="zh-CN" sz="1600" dirty="0">
                  <a:solidFill>
                    <a:schemeClr val="tx1"/>
                  </a:solidFill>
                  <a:latin typeface="SimHei" panose="02010609060101010101" pitchFamily="49" charset="-122"/>
                  <a:ea typeface="SimHei" panose="02010609060101010101" pitchFamily="49" charset="-122"/>
                </a:rPr>
                <a:t>1</a:t>
              </a:r>
              <a:endParaRPr kumimoji="1" lang="zh-CN" altLang="en-US" sz="1600" dirty="0">
                <a:solidFill>
                  <a:schemeClr val="tx1"/>
                </a:solidFill>
                <a:latin typeface="SimHei" panose="02010609060101010101" pitchFamily="49" charset="-122"/>
                <a:ea typeface="SimHei" panose="02010609060101010101" pitchFamily="49" charset="-122"/>
              </a:endParaRPr>
            </a:p>
          </p:txBody>
        </p:sp>
        <p:sp>
          <p:nvSpPr>
            <p:cNvPr id="91" name="文本框 90">
              <a:extLst>
                <a:ext uri="{FF2B5EF4-FFF2-40B4-BE49-F238E27FC236}">
                  <a16:creationId xmlns:a16="http://schemas.microsoft.com/office/drawing/2014/main" id="{5F414E11-1DED-C549-9B0D-B7F9D198DFBC}"/>
                </a:ext>
              </a:extLst>
            </p:cNvPr>
            <p:cNvSpPr txBox="1"/>
            <p:nvPr/>
          </p:nvSpPr>
          <p:spPr>
            <a:xfrm>
              <a:off x="6086933" y="4212525"/>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否</a:t>
              </a:r>
            </a:p>
          </p:txBody>
        </p:sp>
        <p:sp>
          <p:nvSpPr>
            <p:cNvPr id="92" name="矩形 91">
              <a:extLst>
                <a:ext uri="{FF2B5EF4-FFF2-40B4-BE49-F238E27FC236}">
                  <a16:creationId xmlns:a16="http://schemas.microsoft.com/office/drawing/2014/main" id="{3A2A3C72-E812-B24B-8DE4-528D50515B5C}"/>
                </a:ext>
              </a:extLst>
            </p:cNvPr>
            <p:cNvSpPr/>
            <p:nvPr/>
          </p:nvSpPr>
          <p:spPr>
            <a:xfrm>
              <a:off x="7182752" y="4307672"/>
              <a:ext cx="1312817" cy="5080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行数据写回主存</a:t>
              </a:r>
            </a:p>
          </p:txBody>
        </p:sp>
        <p:cxnSp>
          <p:nvCxnSpPr>
            <p:cNvPr id="93" name="肘形连接符 92">
              <a:extLst>
                <a:ext uri="{FF2B5EF4-FFF2-40B4-BE49-F238E27FC236}">
                  <a16:creationId xmlns:a16="http://schemas.microsoft.com/office/drawing/2014/main" id="{C03A6222-66EE-444C-8ED2-6E765D0AC15D}"/>
                </a:ext>
              </a:extLst>
            </p:cNvPr>
            <p:cNvCxnSpPr>
              <a:cxnSpLocks/>
              <a:stCxn id="90" idx="3"/>
              <a:endCxn id="92" idx="0"/>
            </p:cNvCxnSpPr>
            <p:nvPr/>
          </p:nvCxnSpPr>
          <p:spPr>
            <a:xfrm>
              <a:off x="7062671" y="4129788"/>
              <a:ext cx="776490" cy="17788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文本框 93">
              <a:extLst>
                <a:ext uri="{FF2B5EF4-FFF2-40B4-BE49-F238E27FC236}">
                  <a16:creationId xmlns:a16="http://schemas.microsoft.com/office/drawing/2014/main" id="{6A126683-78BE-844A-B48D-5DC709FF31CD}"/>
                </a:ext>
              </a:extLst>
            </p:cNvPr>
            <p:cNvSpPr txBox="1"/>
            <p:nvPr/>
          </p:nvSpPr>
          <p:spPr>
            <a:xfrm>
              <a:off x="7034345" y="3836384"/>
              <a:ext cx="389850" cy="338554"/>
            </a:xfrm>
            <a:prstGeom prst="rect">
              <a:avLst/>
            </a:prstGeom>
            <a:noFill/>
          </p:spPr>
          <p:txBody>
            <a:bodyPr wrap="none" rtlCol="0">
              <a:spAutoFit/>
            </a:bodyPr>
            <a:lstStyle/>
            <a:p>
              <a:r>
                <a:rPr kumimoji="1" lang="zh-CN" altLang="en-US" sz="1600" dirty="0">
                  <a:latin typeface="SimHei" panose="02010609060101010101" pitchFamily="49" charset="-122"/>
                  <a:ea typeface="SimHei" panose="02010609060101010101" pitchFamily="49" charset="-122"/>
                </a:rPr>
                <a:t>是</a:t>
              </a:r>
            </a:p>
          </p:txBody>
        </p:sp>
        <p:cxnSp>
          <p:nvCxnSpPr>
            <p:cNvPr id="95" name="肘形连接符 94">
              <a:extLst>
                <a:ext uri="{FF2B5EF4-FFF2-40B4-BE49-F238E27FC236}">
                  <a16:creationId xmlns:a16="http://schemas.microsoft.com/office/drawing/2014/main" id="{9E5CBCEC-EAE4-3A40-AB5B-1EF6D6695E67}"/>
                </a:ext>
              </a:extLst>
            </p:cNvPr>
            <p:cNvCxnSpPr>
              <a:cxnSpLocks/>
              <a:stCxn id="92" idx="2"/>
            </p:cNvCxnSpPr>
            <p:nvPr/>
          </p:nvCxnSpPr>
          <p:spPr>
            <a:xfrm rot="5400000">
              <a:off x="7367611" y="4517132"/>
              <a:ext cx="172970" cy="77013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线箭头连接符 95">
              <a:extLst>
                <a:ext uri="{FF2B5EF4-FFF2-40B4-BE49-F238E27FC236}">
                  <a16:creationId xmlns:a16="http://schemas.microsoft.com/office/drawing/2014/main" id="{26B8AC93-3992-D247-8097-1BF64DBE042F}"/>
                </a:ext>
              </a:extLst>
            </p:cNvPr>
            <p:cNvCxnSpPr>
              <a:cxnSpLocks/>
              <a:stCxn id="72" idx="2"/>
              <a:endCxn id="57" idx="0"/>
            </p:cNvCxnSpPr>
            <p:nvPr/>
          </p:nvCxnSpPr>
          <p:spPr>
            <a:xfrm flipH="1">
              <a:off x="5998245" y="5129198"/>
              <a:ext cx="6841" cy="2443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矩形 96">
              <a:extLst>
                <a:ext uri="{FF2B5EF4-FFF2-40B4-BE49-F238E27FC236}">
                  <a16:creationId xmlns:a16="http://schemas.microsoft.com/office/drawing/2014/main" id="{885993AE-84FB-6341-A91C-B6EFF5D8509B}"/>
                </a:ext>
              </a:extLst>
            </p:cNvPr>
            <p:cNvSpPr/>
            <p:nvPr/>
          </p:nvSpPr>
          <p:spPr>
            <a:xfrm>
              <a:off x="4941142" y="5907803"/>
              <a:ext cx="2127888" cy="29940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rgbClr val="0432FF"/>
                  </a:solidFill>
                  <a:latin typeface="SimHei" panose="02010609060101010101" pitchFamily="49" charset="-122"/>
                  <a:ea typeface="SimHei" panose="02010609060101010101" pitchFamily="49" charset="-122"/>
                </a:rPr>
                <a:t>当前</a:t>
              </a:r>
              <a:r>
                <a:rPr kumimoji="1" lang="en-US" altLang="zh-CN" sz="1600" dirty="0">
                  <a:solidFill>
                    <a:srgbClr val="0432FF"/>
                  </a:solidFill>
                  <a:latin typeface="SimHei" panose="02010609060101010101" pitchFamily="49" charset="-122"/>
                  <a:ea typeface="SimHei" panose="02010609060101010101" pitchFamily="49" charset="-122"/>
                </a:rPr>
                <a:t>cache</a:t>
              </a:r>
              <a:r>
                <a:rPr kumimoji="1" lang="zh-CN" altLang="en-US" sz="1600" dirty="0">
                  <a:solidFill>
                    <a:srgbClr val="0432FF"/>
                  </a:solidFill>
                  <a:latin typeface="SimHei" panose="02010609060101010101" pitchFamily="49" charset="-122"/>
                  <a:ea typeface="SimHei" panose="02010609060101010101" pitchFamily="49" charset="-122"/>
                </a:rPr>
                <a:t>行脏位置</a:t>
              </a:r>
              <a:r>
                <a:rPr kumimoji="1" lang="en-US" altLang="zh-CN" sz="1600" dirty="0">
                  <a:solidFill>
                    <a:srgbClr val="0432FF"/>
                  </a:solidFill>
                  <a:latin typeface="SimHei" panose="02010609060101010101" pitchFamily="49" charset="-122"/>
                  <a:ea typeface="SimHei" panose="02010609060101010101" pitchFamily="49" charset="-122"/>
                </a:rPr>
                <a:t>1</a:t>
              </a:r>
              <a:endParaRPr kumimoji="1" lang="zh-CN" altLang="en-US" sz="1600" dirty="0">
                <a:solidFill>
                  <a:srgbClr val="0432FF"/>
                </a:solidFill>
                <a:latin typeface="SimHei" panose="02010609060101010101" pitchFamily="49" charset="-122"/>
                <a:ea typeface="SimHei" panose="02010609060101010101" pitchFamily="49" charset="-122"/>
              </a:endParaRPr>
            </a:p>
          </p:txBody>
        </p:sp>
        <p:sp>
          <p:nvSpPr>
            <p:cNvPr id="57" name="矩形 96">
              <a:extLst>
                <a:ext uri="{FF2B5EF4-FFF2-40B4-BE49-F238E27FC236}">
                  <a16:creationId xmlns:a16="http://schemas.microsoft.com/office/drawing/2014/main" id="{33CCF216-BB87-E148-8B02-166A6EF44746}"/>
                </a:ext>
              </a:extLst>
            </p:cNvPr>
            <p:cNvSpPr/>
            <p:nvPr/>
          </p:nvSpPr>
          <p:spPr>
            <a:xfrm>
              <a:off x="4927460" y="5373587"/>
              <a:ext cx="2141570" cy="29940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latin typeface="SimHei" panose="02010609060101010101" pitchFamily="49" charset="-122"/>
                  <a:ea typeface="SimHei" panose="02010609060101010101" pitchFamily="49" charset="-122"/>
                </a:rPr>
                <a:t>将新数据写入</a:t>
              </a:r>
              <a:r>
                <a:rPr kumimoji="1" lang="en-US" altLang="zh-CN" sz="1600" dirty="0">
                  <a:solidFill>
                    <a:schemeClr val="tx1"/>
                  </a:solidFill>
                  <a:latin typeface="SimHei" panose="02010609060101010101" pitchFamily="49" charset="-122"/>
                  <a:ea typeface="SimHei" panose="02010609060101010101" pitchFamily="49" charset="-122"/>
                </a:rPr>
                <a:t>cache</a:t>
              </a:r>
              <a:r>
                <a:rPr kumimoji="1" lang="zh-CN" altLang="en-US" sz="1600" dirty="0">
                  <a:solidFill>
                    <a:schemeClr val="tx1"/>
                  </a:solidFill>
                  <a:latin typeface="SimHei" panose="02010609060101010101" pitchFamily="49" charset="-122"/>
                  <a:ea typeface="SimHei" panose="02010609060101010101" pitchFamily="49" charset="-122"/>
                </a:rPr>
                <a:t>行</a:t>
              </a:r>
            </a:p>
          </p:txBody>
        </p:sp>
        <p:cxnSp>
          <p:nvCxnSpPr>
            <p:cNvPr id="99" name="直线箭头连接符 95">
              <a:extLst>
                <a:ext uri="{FF2B5EF4-FFF2-40B4-BE49-F238E27FC236}">
                  <a16:creationId xmlns:a16="http://schemas.microsoft.com/office/drawing/2014/main" id="{E04DDFF4-7FB1-C042-B39B-7B16CCD236F3}"/>
                </a:ext>
              </a:extLst>
            </p:cNvPr>
            <p:cNvCxnSpPr>
              <a:cxnSpLocks/>
              <a:stCxn id="57" idx="2"/>
              <a:endCxn id="97" idx="0"/>
            </p:cNvCxnSpPr>
            <p:nvPr/>
          </p:nvCxnSpPr>
          <p:spPr>
            <a:xfrm>
              <a:off x="5998245" y="5672993"/>
              <a:ext cx="6841" cy="2348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4472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数据的替换及更新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70</a:t>
            </a:fld>
            <a:endParaRPr lang="en-US" altLang="zh-CN"/>
          </a:p>
        </p:txBody>
      </p:sp>
      <p:graphicFrame>
        <p:nvGraphicFramePr>
          <p:cNvPr id="27" name="Group 3">
            <a:extLst>
              <a:ext uri="{FF2B5EF4-FFF2-40B4-BE49-F238E27FC236}">
                <a16:creationId xmlns:a16="http://schemas.microsoft.com/office/drawing/2014/main" id="{8DB04DA2-C0B3-9841-8228-6723A0775A24}"/>
              </a:ext>
            </a:extLst>
          </p:cNvPr>
          <p:cNvGraphicFramePr>
            <a:graphicFrameLocks noGrp="1"/>
          </p:cNvGraphicFramePr>
          <p:nvPr>
            <p:extLst>
              <p:ext uri="{D42A27DB-BD31-4B8C-83A1-F6EECF244321}">
                <p14:modId xmlns:p14="http://schemas.microsoft.com/office/powerpoint/2010/main" val="2424445613"/>
              </p:ext>
            </p:extLst>
          </p:nvPr>
        </p:nvGraphicFramePr>
        <p:xfrm>
          <a:off x="329289" y="1649220"/>
          <a:ext cx="8609013" cy="4494212"/>
        </p:xfrm>
        <a:graphic>
          <a:graphicData uri="http://schemas.openxmlformats.org/drawingml/2006/table">
            <a:tbl>
              <a:tblPr/>
              <a:tblGrid>
                <a:gridCol w="2470150">
                  <a:extLst>
                    <a:ext uri="{9D8B030D-6E8A-4147-A177-3AD203B41FA5}">
                      <a16:colId xmlns:a16="http://schemas.microsoft.com/office/drawing/2014/main" val="20000"/>
                    </a:ext>
                  </a:extLst>
                </a:gridCol>
                <a:gridCol w="2962534">
                  <a:extLst>
                    <a:ext uri="{9D8B030D-6E8A-4147-A177-3AD203B41FA5}">
                      <a16:colId xmlns:a16="http://schemas.microsoft.com/office/drawing/2014/main" val="20001"/>
                    </a:ext>
                  </a:extLst>
                </a:gridCol>
                <a:gridCol w="3176329">
                  <a:extLst>
                    <a:ext uri="{9D8B030D-6E8A-4147-A177-3AD203B41FA5}">
                      <a16:colId xmlns:a16="http://schemas.microsoft.com/office/drawing/2014/main" val="20002"/>
                    </a:ext>
                  </a:extLst>
                </a:gridCol>
              </a:tblGrid>
              <a:tr h="574594">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zh-CN" altLang="en-US" sz="2400" b="0" i="0" u="none" strike="noStrike" cap="none" normalizeH="0" baseline="0" dirty="0">
                        <a:ln>
                          <a:noFill/>
                        </a:ln>
                        <a:solidFill>
                          <a:schemeClr val="tx1"/>
                        </a:solidFill>
                        <a:effectLst/>
                        <a:latin typeface="+mn-lt"/>
                        <a:ea typeface="+mn-ea"/>
                      </a:endParaRP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dirty="0">
                          <a:ln>
                            <a:noFill/>
                          </a:ln>
                          <a:solidFill>
                            <a:schemeClr val="tx1"/>
                          </a:solidFill>
                          <a:effectLst/>
                          <a:latin typeface="+mn-lt"/>
                          <a:ea typeface="+mn-ea"/>
                        </a:rPr>
                        <a:t>Write</a:t>
                      </a:r>
                      <a:r>
                        <a:rPr kumimoji="0" lang="zh-CN" altLang="en-US" sz="2400" b="1" i="0" u="none" strike="noStrike" cap="none" normalizeH="0" baseline="0" dirty="0">
                          <a:ln>
                            <a:noFill/>
                          </a:ln>
                          <a:solidFill>
                            <a:schemeClr val="tx1"/>
                          </a:solidFill>
                          <a:effectLst/>
                          <a:latin typeface="+mn-lt"/>
                          <a:ea typeface="+mn-ea"/>
                        </a:rPr>
                        <a:t> </a:t>
                      </a:r>
                      <a:r>
                        <a:rPr kumimoji="0" lang="en-US" altLang="zh-CN" sz="2400" b="1" i="0" u="none" strike="noStrike" cap="none" normalizeH="0" baseline="0" dirty="0">
                          <a:ln>
                            <a:noFill/>
                          </a:ln>
                          <a:solidFill>
                            <a:schemeClr val="tx1"/>
                          </a:solidFill>
                          <a:effectLst/>
                          <a:latin typeface="+mn-lt"/>
                          <a:ea typeface="+mn-ea"/>
                        </a:rPr>
                        <a:t>Through</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dirty="0">
                          <a:ln>
                            <a:noFill/>
                          </a:ln>
                          <a:solidFill>
                            <a:schemeClr val="tx1"/>
                          </a:solidFill>
                          <a:effectLst/>
                          <a:latin typeface="+mn-lt"/>
                          <a:ea typeface="+mn-ea"/>
                        </a:rPr>
                        <a:t>Write</a:t>
                      </a:r>
                      <a:r>
                        <a:rPr kumimoji="0" lang="zh-CN" altLang="en-US" sz="2400" b="1" i="0" u="none" strike="noStrike" cap="none" normalizeH="0" baseline="0" dirty="0">
                          <a:ln>
                            <a:noFill/>
                          </a:ln>
                          <a:solidFill>
                            <a:schemeClr val="tx1"/>
                          </a:solidFill>
                          <a:effectLst/>
                          <a:latin typeface="+mn-lt"/>
                          <a:ea typeface="+mn-ea"/>
                        </a:rPr>
                        <a:t> </a:t>
                      </a:r>
                      <a:r>
                        <a:rPr kumimoji="0" lang="en-US" altLang="zh-CN" sz="2400" b="1" i="0" u="none" strike="noStrike" cap="none" normalizeH="0" baseline="0" dirty="0">
                          <a:ln>
                            <a:noFill/>
                          </a:ln>
                          <a:solidFill>
                            <a:schemeClr val="tx1"/>
                          </a:solidFill>
                          <a:effectLst/>
                          <a:latin typeface="+mn-lt"/>
                          <a:ea typeface="+mn-ea"/>
                        </a:rPr>
                        <a:t>Back</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637114">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a:ln>
                            <a:noFill/>
                          </a:ln>
                          <a:solidFill>
                            <a:schemeClr val="tx1"/>
                          </a:solidFill>
                          <a:effectLst/>
                          <a:latin typeface="+mn-lt"/>
                          <a:ea typeface="+mn-ea"/>
                        </a:rPr>
                        <a:t>策略</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dirty="0">
                          <a:ln>
                            <a:noFill/>
                          </a:ln>
                          <a:solidFill>
                            <a:srgbClr val="0432FF"/>
                          </a:solidFill>
                          <a:effectLst/>
                          <a:latin typeface="+mn-lt"/>
                          <a:ea typeface="+mn-ea"/>
                        </a:rPr>
                        <a:t>既写到</a:t>
                      </a:r>
                      <a:r>
                        <a:rPr kumimoji="0" lang="en-US" altLang="zh-CN" sz="2400" b="1" i="0" u="none" strike="noStrike" cap="none" normalizeH="0" baseline="0" dirty="0">
                          <a:ln>
                            <a:noFill/>
                          </a:ln>
                          <a:solidFill>
                            <a:srgbClr val="0432FF"/>
                          </a:solidFill>
                          <a:effectLst/>
                          <a:latin typeface="+mn-lt"/>
                          <a:ea typeface="+mn-ea"/>
                        </a:rPr>
                        <a:t>Cache</a:t>
                      </a:r>
                      <a:r>
                        <a:rPr kumimoji="0" lang="zh-CN" altLang="en-US" sz="2400" b="1" i="0" u="none" strike="noStrike" cap="none" normalizeH="0" baseline="0" dirty="0">
                          <a:ln>
                            <a:noFill/>
                          </a:ln>
                          <a:solidFill>
                            <a:srgbClr val="0432FF"/>
                          </a:solidFill>
                          <a:effectLst/>
                          <a:latin typeface="+mn-lt"/>
                          <a:ea typeface="+mn-ea"/>
                        </a:rPr>
                        <a:t>同时也更新主存储器</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dirty="0">
                          <a:ln>
                            <a:noFill/>
                          </a:ln>
                          <a:solidFill>
                            <a:srgbClr val="0432FF"/>
                          </a:solidFill>
                          <a:effectLst/>
                          <a:latin typeface="+mn-lt"/>
                          <a:ea typeface="+mn-ea"/>
                        </a:rPr>
                        <a:t>只写</a:t>
                      </a:r>
                      <a:r>
                        <a:rPr kumimoji="0" lang="en-US" altLang="zh-CN" sz="2400" b="1" i="0" u="none" strike="noStrike" cap="none" normalizeH="0" baseline="0" dirty="0">
                          <a:ln>
                            <a:noFill/>
                          </a:ln>
                          <a:solidFill>
                            <a:srgbClr val="0432FF"/>
                          </a:solidFill>
                          <a:effectLst/>
                          <a:latin typeface="+mn-lt"/>
                          <a:ea typeface="+mn-ea"/>
                        </a:rPr>
                        <a:t>Cache</a:t>
                      </a:r>
                      <a:r>
                        <a:rPr kumimoji="0" lang="zh-CN" altLang="en-US" sz="2400" b="1" i="0" u="none" strike="noStrike" cap="none" normalizeH="0" baseline="0" dirty="0">
                          <a:ln>
                            <a:noFill/>
                          </a:ln>
                          <a:solidFill>
                            <a:srgbClr val="0432FF"/>
                          </a:solidFill>
                          <a:effectLst/>
                          <a:latin typeface="+mn-lt"/>
                          <a:ea typeface="+mn-ea"/>
                        </a:rPr>
                        <a:t>，当数据被替换出</a:t>
                      </a:r>
                      <a:r>
                        <a:rPr kumimoji="0" lang="en-US" altLang="zh-CN" sz="2400" b="1" i="0" u="none" strike="noStrike" cap="none" normalizeH="0" baseline="0" dirty="0">
                          <a:ln>
                            <a:noFill/>
                          </a:ln>
                          <a:solidFill>
                            <a:srgbClr val="0432FF"/>
                          </a:solidFill>
                          <a:effectLst/>
                          <a:latin typeface="+mn-lt"/>
                          <a:ea typeface="+mn-ea"/>
                        </a:rPr>
                        <a:t>Cache</a:t>
                      </a:r>
                      <a:r>
                        <a:rPr kumimoji="0" lang="zh-CN" altLang="en-US" sz="2400" b="1" i="0" u="none" strike="noStrike" cap="none" normalizeH="0" baseline="0" dirty="0">
                          <a:ln>
                            <a:noFill/>
                          </a:ln>
                          <a:solidFill>
                            <a:srgbClr val="0432FF"/>
                          </a:solidFill>
                          <a:effectLst/>
                          <a:latin typeface="+mn-lt"/>
                          <a:ea typeface="+mn-ea"/>
                        </a:rPr>
                        <a:t>时才将写回到主存储器</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31738">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dirty="0">
                          <a:ln>
                            <a:noFill/>
                          </a:ln>
                          <a:solidFill>
                            <a:schemeClr val="tx1"/>
                          </a:solidFill>
                          <a:effectLst/>
                          <a:latin typeface="+mn-lt"/>
                          <a:ea typeface="+mn-ea"/>
                        </a:rPr>
                        <a:t>更新延时</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dirty="0">
                          <a:ln>
                            <a:noFill/>
                          </a:ln>
                          <a:solidFill>
                            <a:schemeClr val="tx1"/>
                          </a:solidFill>
                          <a:effectLst/>
                          <a:latin typeface="+mn-lt"/>
                          <a:ea typeface="+mn-ea"/>
                        </a:rPr>
                        <a:t>长</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dirty="0">
                          <a:ln>
                            <a:noFill/>
                          </a:ln>
                          <a:solidFill>
                            <a:srgbClr val="0432FF"/>
                          </a:solidFill>
                          <a:effectLst/>
                          <a:latin typeface="+mn-lt"/>
                          <a:ea typeface="+mn-ea"/>
                        </a:rPr>
                        <a:t>短</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93649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dirty="0">
                          <a:ln>
                            <a:noFill/>
                          </a:ln>
                          <a:solidFill>
                            <a:schemeClr val="tx1"/>
                          </a:solidFill>
                          <a:effectLst/>
                          <a:latin typeface="+mn-lt"/>
                          <a:ea typeface="+mn-ea"/>
                        </a:rPr>
                        <a:t>Cache</a:t>
                      </a:r>
                      <a:r>
                        <a:rPr kumimoji="0" lang="zh-CN" altLang="en-US" sz="2400" b="1" i="0" u="none" strike="noStrike" cap="none" normalizeH="0" baseline="0" dirty="0">
                          <a:ln>
                            <a:noFill/>
                          </a:ln>
                          <a:solidFill>
                            <a:schemeClr val="tx1"/>
                          </a:solidFill>
                          <a:effectLst/>
                          <a:latin typeface="+mn-lt"/>
                          <a:ea typeface="+mn-ea"/>
                        </a:rPr>
                        <a:t>被替换是否会导致写操作</a:t>
                      </a:r>
                      <a:r>
                        <a:rPr kumimoji="0" lang="en-US" altLang="zh-CN" sz="2400" b="1" i="0" u="none" strike="noStrike" cap="none" normalizeH="0" baseline="0" dirty="0">
                          <a:ln>
                            <a:noFill/>
                          </a:ln>
                          <a:solidFill>
                            <a:schemeClr val="tx1"/>
                          </a:solidFill>
                          <a:effectLst/>
                          <a:latin typeface="+mn-lt"/>
                          <a:ea typeface="+mn-ea"/>
                        </a:rPr>
                        <a:t>?</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dirty="0">
                          <a:ln>
                            <a:noFill/>
                          </a:ln>
                          <a:solidFill>
                            <a:srgbClr val="0432FF"/>
                          </a:solidFill>
                          <a:effectLst/>
                          <a:latin typeface="+mn-lt"/>
                          <a:ea typeface="+mn-ea"/>
                        </a:rPr>
                        <a:t>No</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a:ln>
                            <a:noFill/>
                          </a:ln>
                          <a:solidFill>
                            <a:schemeClr val="tx1"/>
                          </a:solidFill>
                          <a:effectLst/>
                          <a:latin typeface="+mn-lt"/>
                          <a:ea typeface="+mn-ea"/>
                        </a:rPr>
                        <a:t>Yes</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91427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zh-CN" altLang="en-US" sz="2400" b="1" i="0" u="none" strike="noStrike" cap="none" normalizeH="0" baseline="0" dirty="0">
                          <a:ln>
                            <a:noFill/>
                          </a:ln>
                          <a:solidFill>
                            <a:schemeClr val="tx1"/>
                          </a:solidFill>
                          <a:effectLst/>
                          <a:latin typeface="+mn-lt"/>
                          <a:ea typeface="+mn-ea"/>
                        </a:rPr>
                        <a:t>重复写操作是否导致重复写主存</a:t>
                      </a:r>
                      <a:r>
                        <a:rPr kumimoji="0" lang="en-US" altLang="zh-CN" sz="2400" b="1" i="0" u="none" strike="noStrike" cap="none" normalizeH="0" baseline="0" dirty="0">
                          <a:ln>
                            <a:noFill/>
                          </a:ln>
                          <a:solidFill>
                            <a:schemeClr val="tx1"/>
                          </a:solidFill>
                          <a:effectLst/>
                          <a:latin typeface="+mn-lt"/>
                          <a:ea typeface="+mn-ea"/>
                        </a:rPr>
                        <a:t>?</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dirty="0">
                          <a:ln>
                            <a:noFill/>
                          </a:ln>
                          <a:solidFill>
                            <a:schemeClr val="tx1"/>
                          </a:solidFill>
                          <a:effectLst/>
                          <a:latin typeface="+mn-lt"/>
                          <a:ea typeface="+mn-ea"/>
                        </a:rPr>
                        <a:t>Yes</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2500"/>
                        </a:lnSpc>
                        <a:spcBef>
                          <a:spcPct val="20000"/>
                        </a:spcBef>
                        <a:spcAft>
                          <a:spcPct val="0"/>
                        </a:spcAft>
                        <a:buClr>
                          <a:schemeClr val="folHlink"/>
                        </a:buClr>
                        <a:buSzPct val="60000"/>
                        <a:buFont typeface="Wingdings" pitchFamily="2" charset="2"/>
                        <a:buNone/>
                        <a:tabLst>
                          <a:tab pos="595313" algn="l"/>
                          <a:tab pos="1511300" algn="l"/>
                          <a:tab pos="2424113" algn="l"/>
                          <a:tab pos="3340100" algn="l"/>
                          <a:tab pos="4252913" algn="l"/>
                          <a:tab pos="5165725" algn="l"/>
                          <a:tab pos="6081713" algn="l"/>
                          <a:tab pos="6994525" algn="l"/>
                        </a:tabLst>
                      </a:pPr>
                      <a:r>
                        <a:rPr kumimoji="0" lang="en-US" altLang="zh-CN" sz="2400" b="1" i="0" u="none" strike="noStrike" cap="none" normalizeH="0" baseline="0" dirty="0">
                          <a:ln>
                            <a:noFill/>
                          </a:ln>
                          <a:solidFill>
                            <a:srgbClr val="0432FF"/>
                          </a:solidFill>
                          <a:effectLst/>
                          <a:latin typeface="+mn-lt"/>
                          <a:ea typeface="+mn-ea"/>
                        </a:rPr>
                        <a:t>No</a:t>
                      </a:r>
                    </a:p>
                  </a:txBody>
                  <a:tcPr marL="100944" marR="100944" marT="50464" marB="50464" anchor="ctr" horzOverflow="overflow">
                    <a:lnL w="63500" cap="flat" cmpd="sng" algn="ctr">
                      <a:solidFill>
                        <a:srgbClr val="FFCC00"/>
                      </a:solidFill>
                      <a:prstDash val="solid"/>
                      <a:round/>
                      <a:headEnd type="none" w="med" len="med"/>
                      <a:tailEnd type="none" w="med" len="med"/>
                    </a:lnL>
                    <a:lnR w="63500" cap="flat" cmpd="sng" algn="ctr">
                      <a:solidFill>
                        <a:srgbClr val="FFCC00"/>
                      </a:solidFill>
                      <a:prstDash val="solid"/>
                      <a:round/>
                      <a:headEnd type="none" w="med" len="med"/>
                      <a:tailEnd type="none" w="med" len="med"/>
                    </a:lnR>
                    <a:lnT w="63500" cap="flat" cmpd="sng" algn="ctr">
                      <a:solidFill>
                        <a:srgbClr val="FFCC00"/>
                      </a:solidFill>
                      <a:prstDash val="solid"/>
                      <a:round/>
                      <a:headEnd type="none" w="med" len="med"/>
                      <a:tailEnd type="none" w="med" len="med"/>
                    </a:lnT>
                    <a:lnB w="63500" cap="flat" cmpd="sng" algn="ctr">
                      <a:solidFill>
                        <a:srgbClr val="FFCC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68834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9146BDF-8436-1625-870C-C3D039386BEC}"/>
              </a:ext>
            </a:extLst>
          </p:cNvPr>
          <p:cNvSpPr>
            <a:spLocks noGrp="1"/>
          </p:cNvSpPr>
          <p:nvPr>
            <p:ph type="sldNum" sz="quarter" idx="12"/>
          </p:nvPr>
        </p:nvSpPr>
        <p:spPr/>
        <p:txBody>
          <a:bodyPr/>
          <a:lstStyle/>
          <a:p>
            <a:fld id="{3F2AB43A-8F39-40F7-AB51-66BE5F0EDC88}" type="slidenum">
              <a:rPr lang="en-US" altLang="zh-CN" smtClean="0"/>
              <a:pPr/>
              <a:t>71</a:t>
            </a:fld>
            <a:endParaRPr lang="en-US" altLang="zh-CN"/>
          </a:p>
        </p:txBody>
      </p:sp>
      <p:sp>
        <p:nvSpPr>
          <p:cNvPr id="5" name="文本框 4">
            <a:extLst>
              <a:ext uri="{FF2B5EF4-FFF2-40B4-BE49-F238E27FC236}">
                <a16:creationId xmlns:a16="http://schemas.microsoft.com/office/drawing/2014/main" id="{554A31AB-294D-9E4B-FF9B-82DBCC3213D1}"/>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kumimoji="1" lang="zh-CN" altLang="en-US" sz="2800" dirty="0">
                <a:ea typeface="SimHei" panose="02010609060101010101" pitchFamily="49" charset="-122"/>
              </a:rPr>
              <a:t>关于</a:t>
            </a:r>
            <a:r>
              <a:rPr kumimoji="1" lang="en" altLang="zh-CN" sz="2800" dirty="0">
                <a:ea typeface="SimHei" panose="02010609060101010101" pitchFamily="49" charset="-122"/>
              </a:rPr>
              <a:t>Cache</a:t>
            </a:r>
            <a:r>
              <a:rPr kumimoji="1" lang="zh-CN" altLang="en-US" sz="2800" dirty="0">
                <a:ea typeface="SimHei" panose="02010609060101010101" pitchFamily="49" charset="-122"/>
              </a:rPr>
              <a:t>数据替换和更新策略描述不恰当的是：</a:t>
            </a:r>
            <a:endParaRPr lang="zh-CN" altLang="en-US" sz="28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6" name="文本框 5">
            <a:extLst>
              <a:ext uri="{FF2B5EF4-FFF2-40B4-BE49-F238E27FC236}">
                <a16:creationId xmlns:a16="http://schemas.microsoft.com/office/drawing/2014/main" id="{7F9F7321-4CBC-1561-37DA-D4944B97BAC1}"/>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a:spcBef>
                <a:spcPts val="879"/>
              </a:spcBef>
            </a:pPr>
            <a:r>
              <a:rPr kumimoji="1" lang="zh-CN" altLang="en-US" sz="2400" dirty="0">
                <a:latin typeface="+mn-ea"/>
                <a:ea typeface="SimHei" panose="02010609060101010101" pitchFamily="49" charset="-122"/>
              </a:rPr>
              <a:t>直接映像中每一个主存块只能被装入缓存中对应的特定行</a:t>
            </a:r>
          </a:p>
        </p:txBody>
      </p:sp>
      <p:sp>
        <p:nvSpPr>
          <p:cNvPr id="7" name="文本框 6">
            <a:extLst>
              <a:ext uri="{FF2B5EF4-FFF2-40B4-BE49-F238E27FC236}">
                <a16:creationId xmlns:a16="http://schemas.microsoft.com/office/drawing/2014/main" id="{7EB3B24B-B10D-BFCB-2167-8ED090F508A1}"/>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a:spcBef>
                <a:spcPts val="879"/>
              </a:spcBef>
            </a:pPr>
            <a:r>
              <a:rPr kumimoji="1" lang="en" altLang="zh-CN" sz="2400" dirty="0">
                <a:latin typeface="+mn-ea"/>
                <a:ea typeface="SimHei" panose="02010609060101010101" pitchFamily="49" charset="-122"/>
              </a:rPr>
              <a:t>LRU</a:t>
            </a:r>
            <a:r>
              <a:rPr kumimoji="1" lang="zh-CN" altLang="en-US" sz="2400" dirty="0">
                <a:latin typeface="+mn-ea"/>
                <a:ea typeface="SimHei" panose="02010609060101010101" pitchFamily="49" charset="-122"/>
              </a:rPr>
              <a:t>替换策略总可以取得比</a:t>
            </a:r>
            <a:r>
              <a:rPr kumimoji="1" lang="en" altLang="zh-CN" sz="2400" dirty="0">
                <a:latin typeface="+mn-ea"/>
                <a:ea typeface="SimHei" panose="02010609060101010101" pitchFamily="49" charset="-122"/>
              </a:rPr>
              <a:t>FIFO</a:t>
            </a:r>
            <a:r>
              <a:rPr kumimoji="1" lang="zh-CN" altLang="en-US" sz="2400" dirty="0">
                <a:latin typeface="+mn-ea"/>
                <a:ea typeface="SimHei" panose="02010609060101010101" pitchFamily="49" charset="-122"/>
              </a:rPr>
              <a:t>更好的效果，和具体的程序无关</a:t>
            </a:r>
          </a:p>
        </p:txBody>
      </p:sp>
      <p:sp>
        <p:nvSpPr>
          <p:cNvPr id="8" name="文本框 7">
            <a:extLst>
              <a:ext uri="{FF2B5EF4-FFF2-40B4-BE49-F238E27FC236}">
                <a16:creationId xmlns:a16="http://schemas.microsoft.com/office/drawing/2014/main" id="{BC9927C9-41F7-EB62-1B05-BF40FE799D1C}"/>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a:spcBef>
                <a:spcPts val="879"/>
              </a:spcBef>
            </a:pPr>
            <a:r>
              <a:rPr kumimoji="1" lang="zh-CN" altLang="en-US" sz="2400" dirty="0">
                <a:latin typeface="+mn-ea"/>
                <a:ea typeface="SimHei" panose="02010609060101010101" pitchFamily="49" charset="-122"/>
              </a:rPr>
              <a:t>写通过可以增加写缓冲来降低写数据时间损失</a:t>
            </a:r>
          </a:p>
        </p:txBody>
      </p:sp>
      <p:sp>
        <p:nvSpPr>
          <p:cNvPr id="9" name="文本框 8">
            <a:extLst>
              <a:ext uri="{FF2B5EF4-FFF2-40B4-BE49-F238E27FC236}">
                <a16:creationId xmlns:a16="http://schemas.microsoft.com/office/drawing/2014/main" id="{045ACE00-3352-825B-26E9-23D9EAD1F1C0}"/>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kumimoji="1" lang="zh-CN" altLang="en-US" sz="2400" dirty="0">
                <a:latin typeface="+mn-ea"/>
                <a:ea typeface="SimHei" panose="02010609060101010101" pitchFamily="49" charset="-122"/>
              </a:rPr>
              <a:t>写回策略的</a:t>
            </a:r>
            <a:r>
              <a:rPr kumimoji="1" lang="en" altLang="zh-CN" sz="2400" dirty="0">
                <a:latin typeface="+mn-ea"/>
                <a:ea typeface="SimHei" panose="02010609060101010101" pitchFamily="49" charset="-122"/>
              </a:rPr>
              <a:t>Cache</a:t>
            </a:r>
            <a:r>
              <a:rPr kumimoji="1" lang="zh-CN" altLang="en" sz="2400" dirty="0">
                <a:latin typeface="+mn-ea"/>
                <a:ea typeface="SimHei" panose="02010609060101010101" pitchFamily="49" charset="-122"/>
              </a:rPr>
              <a:t>一般</a:t>
            </a:r>
            <a:r>
              <a:rPr kumimoji="1" lang="zh-CN" altLang="en-US" sz="2400" dirty="0">
                <a:latin typeface="+mn-ea"/>
                <a:ea typeface="SimHei" panose="02010609060101010101" pitchFamily="49" charset="-122"/>
              </a:rPr>
              <a:t>只有当</a:t>
            </a:r>
            <a:r>
              <a:rPr kumimoji="1" lang="en" altLang="zh-CN" sz="2400" dirty="0">
                <a:latin typeface="+mn-ea"/>
                <a:ea typeface="SimHei" panose="02010609060101010101" pitchFamily="49" charset="-122"/>
              </a:rPr>
              <a:t>Cache</a:t>
            </a:r>
            <a:r>
              <a:rPr kumimoji="1" lang="zh-CN" altLang="en-US" sz="2400" dirty="0">
                <a:latin typeface="+mn-ea"/>
                <a:ea typeface="SimHei" panose="02010609060101010101" pitchFamily="49" charset="-122"/>
              </a:rPr>
              <a:t>行被替换出</a:t>
            </a:r>
            <a:r>
              <a:rPr kumimoji="1" lang="en" altLang="zh-CN" sz="2400" dirty="0">
                <a:latin typeface="+mn-ea"/>
                <a:ea typeface="SimHei" panose="02010609060101010101" pitchFamily="49" charset="-122"/>
              </a:rPr>
              <a:t>Cache</a:t>
            </a:r>
            <a:r>
              <a:rPr kumimoji="1" lang="zh-CN" altLang="en-US" sz="2400" dirty="0">
                <a:latin typeface="+mn-ea"/>
                <a:ea typeface="SimHei" panose="02010609060101010101" pitchFamily="49" charset="-122"/>
              </a:rPr>
              <a:t>时才需要考虑写回主存</a:t>
            </a:r>
            <a:endParaRPr lang="zh-CN" altLang="en-US" sz="2400"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0" name="椭圆 9">
            <a:extLst>
              <a:ext uri="{FF2B5EF4-FFF2-40B4-BE49-F238E27FC236}">
                <a16:creationId xmlns:a16="http://schemas.microsoft.com/office/drawing/2014/main" id="{87A4CF01-B408-44AD-C08B-9486FB3780FA}"/>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A</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1" name="椭圆 10">
            <a:extLst>
              <a:ext uri="{FF2B5EF4-FFF2-40B4-BE49-F238E27FC236}">
                <a16:creationId xmlns:a16="http://schemas.microsoft.com/office/drawing/2014/main" id="{CB6F1624-648F-4B6B-6CA3-5C415250F355}"/>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B</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2" name="椭圆 11">
            <a:extLst>
              <a:ext uri="{FF2B5EF4-FFF2-40B4-BE49-F238E27FC236}">
                <a16:creationId xmlns:a16="http://schemas.microsoft.com/office/drawing/2014/main" id="{59E03FB6-4551-F4B1-B333-15F1E2EBC0DD}"/>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C</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3" name="椭圆 12">
            <a:extLst>
              <a:ext uri="{FF2B5EF4-FFF2-40B4-BE49-F238E27FC236}">
                <a16:creationId xmlns:a16="http://schemas.microsoft.com/office/drawing/2014/main" id="{EDC284D2-26DF-29DE-1316-3E43882B918F}"/>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SimHei" panose="02010609060101010101" pitchFamily="49" charset="-122"/>
                <a:ea typeface="SimHei" panose="02010609060101010101" pitchFamily="49" charset="-122"/>
                <a:sym typeface="Microsoft Yahei" panose="020B0503020204020204" pitchFamily="34" charset="-122"/>
              </a:rPr>
              <a:t>D</a:t>
            </a:r>
            <a:endPar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1B157D81-B50A-8345-D516-414648F4235E}"/>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SimHei" panose="02010609060101010101" pitchFamily="49" charset="-122"/>
                <a:ea typeface="SimHei" panose="02010609060101010101" pitchFamily="49"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60BEAAAD-6795-FD5C-F7DA-44D1469C1767}"/>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3107A00C-FB88-BFCF-FDBA-07ED6297D082}"/>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0E71513B-8CFC-A65F-805B-6B3741A46D04}"/>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EF728ED1-E026-088C-32DC-4B1E44CFD55E}"/>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25054296-88CA-D9CA-82CD-E3B8D07AAE1B}"/>
                </a:ext>
              </a:extLst>
            </p:cNvPr>
            <p:cNvSpPr txBox="1"/>
            <p:nvPr>
              <p:custDataLst>
                <p:tags r:id="rId17"/>
              </p:custDataLst>
            </p:nvPr>
          </p:nvSpPr>
          <p:spPr>
            <a:xfrm>
              <a:off x="15925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SimHei" panose="02010609060101010101" pitchFamily="49" charset="-122"/>
                  <a:ea typeface="SimHei" panose="02010609060101010101" pitchFamily="49" charset="-122"/>
                  <a:sym typeface="Microsoft Yahei" panose="020B0503020204020204" pitchFamily="34" charset="-122"/>
                </a:rPr>
                <a:t>1</a:t>
              </a:r>
              <a:r>
                <a:rPr lang="zh-CN" altLang="en-US" sz="2000" dirty="0">
                  <a:solidFill>
                    <a:srgbClr val="808080"/>
                  </a:solidFill>
                  <a:latin typeface="SimHei" panose="02010609060101010101" pitchFamily="49" charset="-122"/>
                  <a:ea typeface="SimHei" panose="02010609060101010101" pitchFamily="49"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E25E9D01-CE87-0F67-0182-C6335E9DC5D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8658821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C4F9394-84EF-4E29-A8A8-350C05E6A716}"/>
              </a:ext>
            </a:extLst>
          </p:cNvPr>
          <p:cNvSpPr txBox="1"/>
          <p:nvPr>
            <p:custDataLst>
              <p:tags r:id="rId2"/>
            </p:custDataLst>
          </p:nvPr>
        </p:nvSpPr>
        <p:spPr>
          <a:xfrm>
            <a:off x="914400" y="790208"/>
            <a:ext cx="7315200" cy="1998199"/>
          </a:xfrm>
          <a:prstGeom prst="rect">
            <a:avLst/>
          </a:prstGeom>
          <a:noFill/>
        </p:spPr>
        <p:txBody>
          <a:bodyPr vert="horz" wrap="square" rtlCol="0" anchor="ctr" anchorCtr="0">
            <a:noAutofit/>
          </a:bodyPr>
          <a:lstStyle/>
          <a:p>
            <a:r>
              <a:rPr kumimoji="1" lang="zh-CN" altLang="en-US" sz="2814" dirty="0">
                <a:ea typeface="SimHei" panose="02010609060101010101" pitchFamily="49" charset="-122"/>
              </a:rPr>
              <a:t>关于</a:t>
            </a:r>
            <a:r>
              <a:rPr kumimoji="1" lang="en" altLang="zh-CN" sz="2814" dirty="0">
                <a:ea typeface="SimHei" panose="02010609060101010101" pitchFamily="49" charset="-122"/>
              </a:rPr>
              <a:t>Cache</a:t>
            </a:r>
            <a:r>
              <a:rPr kumimoji="1" lang="zh-CN" altLang="en-US" sz="2814" dirty="0">
                <a:ea typeface="SimHei" panose="02010609060101010101" pitchFamily="49" charset="-122"/>
              </a:rPr>
              <a:t>数据替换和更新策略描述不恰当的是：</a:t>
            </a:r>
            <a:endParaRPr lang="zh-CN" altLang="en-US" sz="2814" dirty="0">
              <a:solidFill>
                <a:srgbClr val="000000"/>
              </a:solidFill>
              <a:latin typeface="SimHei" panose="02010609060101010101" pitchFamily="49" charset="-122"/>
              <a:ea typeface="SimHei" panose="02010609060101010101" pitchFamily="49" charset="-122"/>
              <a:sym typeface="Microsoft Yahei" panose="020B0503020204020204" pitchFamily="34" charset="-122"/>
            </a:endParaRPr>
          </a:p>
        </p:txBody>
      </p:sp>
      <p:grpSp>
        <p:nvGrpSpPr>
          <p:cNvPr id="21" name="组合 20">
            <a:extLst>
              <a:ext uri="{FF2B5EF4-FFF2-40B4-BE49-F238E27FC236}">
                <a16:creationId xmlns:a16="http://schemas.microsoft.com/office/drawing/2014/main" id="{5A15B4B3-A843-4F04-90A3-8858E8283566}"/>
              </a:ext>
            </a:extLst>
          </p:cNvPr>
          <p:cNvGrpSpPr/>
          <p:nvPr>
            <p:custDataLst>
              <p:tags r:id="rId3"/>
            </p:custDataLst>
          </p:nvPr>
        </p:nvGrpSpPr>
        <p:grpSpPr>
          <a:xfrm>
            <a:off x="0" y="0"/>
            <a:ext cx="9144000" cy="558327"/>
            <a:chOff x="-1" y="-263723"/>
            <a:chExt cx="10399713" cy="635000"/>
          </a:xfrm>
        </p:grpSpPr>
        <p:sp>
          <p:nvSpPr>
            <p:cNvPr id="17" name="TitleBackground">
              <a:extLst>
                <a:ext uri="{FF2B5EF4-FFF2-40B4-BE49-F238E27FC236}">
                  <a16:creationId xmlns:a16="http://schemas.microsoft.com/office/drawing/2014/main" id="{307B9C74-614F-47D3-976C-1FDC3EEA9692}"/>
                </a:ext>
              </a:extLst>
            </p:cNvPr>
            <p:cNvSpPr/>
            <p:nvPr>
              <p:custDataLst>
                <p:tags r:id="rId5"/>
              </p:custDataLst>
            </p:nvPr>
          </p:nvSpPr>
          <p:spPr bwMode="auto">
            <a:xfrm>
              <a:off x="-1" y="-263723"/>
              <a:ext cx="10399713" cy="635000"/>
            </a:xfrm>
            <a:prstGeom prst="rect">
              <a:avLst/>
            </a:prstGeom>
            <a:solidFill>
              <a:srgbClr val="F6F7F8"/>
            </a:solidFill>
            <a:ln w="12700" cap="flat" cmpd="sng" algn="ctr">
              <a:noFill/>
              <a:prstDash val="solid"/>
              <a:round/>
              <a:headEnd type="none" w="med" len="med"/>
              <a:tailEnd type="none" w="med" len="med"/>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0957" tIns="40479" rIns="80957" bIns="40479" numCol="1" rtlCol="0" anchor="ctr" anchorCtr="0" compatLnSpc="1">
              <a:prstTxWarp prst="textNoShape">
                <a:avLst/>
              </a:prstTxWarp>
              <a:noAutofit/>
            </a:bodyPr>
            <a:lstStyle/>
            <a:p>
              <a:pPr algn="ctr" defTabSz="804032"/>
              <a:endParaRPr lang="zh-CN" altLang="en-US" sz="1583" dirty="0">
                <a:latin typeface="Tahoma" pitchFamily="34" charset="0"/>
                <a:ea typeface="SimHei" panose="02010609060101010101" pitchFamily="49" charset="-122"/>
              </a:endParaRPr>
            </a:p>
          </p:txBody>
        </p:sp>
        <p:sp>
          <p:nvSpPr>
            <p:cNvPr id="18" name="ColorBlock">
              <a:extLst>
                <a:ext uri="{FF2B5EF4-FFF2-40B4-BE49-F238E27FC236}">
                  <a16:creationId xmlns:a16="http://schemas.microsoft.com/office/drawing/2014/main" id="{A04622FE-5370-4910-A226-4AE38F24B121}"/>
                </a:ext>
              </a:extLst>
            </p:cNvPr>
            <p:cNvSpPr/>
            <p:nvPr>
              <p:custDataLst>
                <p:tags r:id="rId6"/>
              </p:custDataLst>
            </p:nvPr>
          </p:nvSpPr>
          <p:spPr bwMode="auto">
            <a:xfrm>
              <a:off x="-1" y="-263723"/>
              <a:ext cx="190500" cy="635000"/>
            </a:xfrm>
            <a:prstGeom prst="rect">
              <a:avLst/>
            </a:prstGeom>
            <a:solidFill>
              <a:srgbClr val="639EF4"/>
            </a:solidFill>
            <a:ln w="12700" cap="flat" cmpd="sng" algn="ctr">
              <a:noFill/>
              <a:prstDash val="solid"/>
              <a:round/>
              <a:headEnd type="none" w="med" len="med"/>
              <a:tailEnd type="none" w="med" len="med"/>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80957" tIns="40479" rIns="80957" bIns="40479" numCol="1" rtlCol="0" anchor="ctr" anchorCtr="0" compatLnSpc="1">
              <a:prstTxWarp prst="textNoShape">
                <a:avLst/>
              </a:prstTxWarp>
              <a:noAutofit/>
            </a:bodyPr>
            <a:lstStyle/>
            <a:p>
              <a:pPr algn="ctr" defTabSz="804032"/>
              <a:endParaRPr lang="zh-CN" altLang="en-US" sz="1583" dirty="0">
                <a:latin typeface="Tahoma" pitchFamily="34" charset="0"/>
                <a:ea typeface="SimHei" panose="02010609060101010101" pitchFamily="49" charset="-122"/>
              </a:endParaRPr>
            </a:p>
          </p:txBody>
        </p:sp>
      </p:grpSp>
      <p:sp>
        <p:nvSpPr>
          <p:cNvPr id="12" name="TypeText">
            <a:extLst>
              <a:ext uri="{FF2B5EF4-FFF2-40B4-BE49-F238E27FC236}">
                <a16:creationId xmlns:a16="http://schemas.microsoft.com/office/drawing/2014/main" id="{95773031-A515-2B3C-E8EC-B9D740931457}"/>
              </a:ext>
            </a:extLst>
          </p:cNvPr>
          <p:cNvSpPr txBox="1"/>
          <p:nvPr>
            <p:custDataLst>
              <p:tags r:id="rId4"/>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SimHei" panose="02010609060101010101" pitchFamily="49" charset="-122"/>
                <a:ea typeface="SimHei" panose="02010609060101010101" pitchFamily="49" charset="-122"/>
                <a:sym typeface="Microsoft Yahei" panose="020B0503020204020204" pitchFamily="34" charset="-122"/>
              </a:rPr>
              <a:t>习题解析 答案：</a:t>
            </a:r>
            <a:r>
              <a:rPr lang="en-US" altLang="zh-CN" sz="2600" dirty="0">
                <a:solidFill>
                  <a:srgbClr val="0432FF"/>
                </a:solidFill>
                <a:latin typeface="SimHei" panose="02010609060101010101" pitchFamily="49" charset="-122"/>
                <a:ea typeface="SimHei" panose="02010609060101010101" pitchFamily="49" charset="-122"/>
                <a:sym typeface="Microsoft Yahei" panose="020B0503020204020204" pitchFamily="34" charset="-122"/>
              </a:rPr>
              <a:t>B</a:t>
            </a:r>
            <a:endParaRPr lang="zh-CN" altLang="en-US" sz="2600" dirty="0">
              <a:solidFill>
                <a:srgbClr val="0432FF"/>
              </a:solidFill>
              <a:latin typeface="SimHei" panose="02010609060101010101" pitchFamily="49" charset="-122"/>
              <a:ea typeface="SimHei" panose="02010609060101010101" pitchFamily="49" charset="-122"/>
              <a:sym typeface="Microsoft Yahei" panose="020B0503020204020204" pitchFamily="34" charset="-122"/>
            </a:endParaRPr>
          </a:p>
        </p:txBody>
      </p:sp>
      <p:sp>
        <p:nvSpPr>
          <p:cNvPr id="6" name="文本框 5">
            <a:extLst>
              <a:ext uri="{FF2B5EF4-FFF2-40B4-BE49-F238E27FC236}">
                <a16:creationId xmlns:a16="http://schemas.microsoft.com/office/drawing/2014/main" id="{8A2B3FF4-595E-A690-18F8-789F2CA1F3A9}"/>
              </a:ext>
            </a:extLst>
          </p:cNvPr>
          <p:cNvSpPr txBox="1"/>
          <p:nvPr/>
        </p:nvSpPr>
        <p:spPr>
          <a:xfrm>
            <a:off x="785813" y="2420977"/>
            <a:ext cx="8043862" cy="4057521"/>
          </a:xfrm>
          <a:prstGeom prst="rect">
            <a:avLst/>
          </a:prstGeom>
          <a:noFill/>
        </p:spPr>
        <p:txBody>
          <a:bodyPr wrap="square">
            <a:spAutoFit/>
          </a:bodyPr>
          <a:lstStyle/>
          <a:p>
            <a:pPr marL="914400" lvl="1" indent="-457200">
              <a:spcBef>
                <a:spcPts val="1000"/>
              </a:spcBef>
              <a:buFont typeface="+mj-lt"/>
              <a:buAutoNum type="alphaUcPeriod"/>
            </a:pPr>
            <a:r>
              <a:rPr lang="zh-CN" altLang="en-US" sz="2400" dirty="0">
                <a:ea typeface="SimHei" panose="02010609060101010101" pitchFamily="49" charset="-122"/>
              </a:rPr>
              <a:t>正确，直接映像的替换方式是固定的，在确定了</a:t>
            </a:r>
            <a:r>
              <a:rPr lang="en-US" altLang="zh-CN" sz="2400" dirty="0">
                <a:ea typeface="SimHei" panose="02010609060101010101" pitchFamily="49" charset="-122"/>
              </a:rPr>
              <a:t>cache</a:t>
            </a:r>
            <a:r>
              <a:rPr lang="zh-CN" altLang="en-US" sz="2400" dirty="0">
                <a:ea typeface="SimHei" panose="02010609060101010101" pitchFamily="49" charset="-122"/>
              </a:rPr>
              <a:t>存储体参数之后，替换的行只与主存地址有关</a:t>
            </a:r>
            <a:endParaRPr lang="en-US" altLang="zh-CN" sz="2400" dirty="0">
              <a:ea typeface="SimHei" panose="02010609060101010101" pitchFamily="49" charset="-122"/>
            </a:endParaRPr>
          </a:p>
          <a:p>
            <a:pPr marL="914400" lvl="1" indent="-457200">
              <a:spcBef>
                <a:spcPts val="1000"/>
              </a:spcBef>
              <a:buFont typeface="+mj-lt"/>
              <a:buAutoNum type="alphaUcPeriod"/>
            </a:pPr>
            <a:r>
              <a:rPr lang="zh-CN" altLang="en-US" sz="2400" dirty="0">
                <a:solidFill>
                  <a:srgbClr val="0432FF"/>
                </a:solidFill>
                <a:ea typeface="SimHei" panose="02010609060101010101" pitchFamily="49" charset="-122"/>
              </a:rPr>
              <a:t>错误，反例：对于只有空间局部性的程序来说，两种算法的效果一致。</a:t>
            </a:r>
            <a:endParaRPr lang="en-US" altLang="zh-CN" sz="2400" dirty="0">
              <a:solidFill>
                <a:srgbClr val="0432FF"/>
              </a:solidFill>
              <a:ea typeface="SimHei" panose="02010609060101010101" pitchFamily="49" charset="-122"/>
            </a:endParaRPr>
          </a:p>
          <a:p>
            <a:pPr marL="914400" lvl="1" indent="-457200">
              <a:spcBef>
                <a:spcPts val="1000"/>
              </a:spcBef>
              <a:buFont typeface="+mj-lt"/>
              <a:buAutoNum type="alphaUcPeriod"/>
            </a:pPr>
            <a:r>
              <a:rPr lang="zh-CN" altLang="en-US" sz="2400" dirty="0">
                <a:ea typeface="SimHei" panose="02010609060101010101" pitchFamily="49" charset="-122"/>
              </a:rPr>
              <a:t>正确，写缓冲可以让</a:t>
            </a:r>
            <a:r>
              <a:rPr lang="en-US" altLang="zh-CN" sz="2400" dirty="0">
                <a:ea typeface="SimHei" panose="02010609060101010101" pitchFamily="49" charset="-122"/>
              </a:rPr>
              <a:t>CPU</a:t>
            </a:r>
            <a:r>
              <a:rPr lang="zh-CN" altLang="en-US" sz="2400" dirty="0">
                <a:ea typeface="SimHei" panose="02010609060101010101" pitchFamily="49" charset="-122"/>
              </a:rPr>
              <a:t>去处理其他指令而不影响将数据写入主存。</a:t>
            </a:r>
            <a:endParaRPr lang="en-US" altLang="zh-CN" sz="2400" dirty="0">
              <a:ea typeface="SimHei" panose="02010609060101010101" pitchFamily="49" charset="-122"/>
            </a:endParaRPr>
          </a:p>
          <a:p>
            <a:pPr marL="914400" lvl="1" indent="-457200">
              <a:spcBef>
                <a:spcPts val="1000"/>
              </a:spcBef>
              <a:buFont typeface="+mj-lt"/>
              <a:buAutoNum type="alphaUcPeriod"/>
            </a:pPr>
            <a:r>
              <a:rPr lang="zh-CN" altLang="en-US" sz="2400" dirty="0">
                <a:ea typeface="SimHei" panose="02010609060101010101" pitchFamily="49" charset="-122"/>
              </a:rPr>
              <a:t>正确，参见对</a:t>
            </a:r>
            <a:r>
              <a:rPr kumimoji="1" lang="zh-CN" altLang="en-US" sz="2400" dirty="0">
                <a:latin typeface="+mn-ea"/>
                <a:ea typeface="SimHei" panose="02010609060101010101" pitchFamily="49" charset="-122"/>
              </a:rPr>
              <a:t>写回策略的描述。</a:t>
            </a:r>
            <a:endParaRPr kumimoji="1" lang="en-US" altLang="zh-CN" sz="2400" dirty="0">
              <a:ea typeface="SimHei" panose="02010609060101010101" pitchFamily="49" charset="-122"/>
            </a:endParaRPr>
          </a:p>
          <a:p>
            <a:pPr lvl="1">
              <a:spcBef>
                <a:spcPts val="1000"/>
              </a:spcBef>
            </a:pPr>
            <a:endParaRPr lang="en-US" altLang="zh-CN" sz="2400" dirty="0">
              <a:ea typeface="SimHei" panose="02010609060101010101" pitchFamily="49" charset="-122"/>
            </a:endParaRPr>
          </a:p>
          <a:p>
            <a:pPr marL="914400" lvl="1" indent="-457200">
              <a:spcBef>
                <a:spcPts val="1000"/>
              </a:spcBef>
              <a:buFont typeface="+mj-lt"/>
              <a:buAutoNum type="alphaUcPeriod"/>
            </a:pPr>
            <a:endParaRPr lang="zh-CN" altLang="en-US" sz="2400" dirty="0">
              <a:ea typeface="SimHei" panose="02010609060101010101" pitchFamily="49" charset="-122"/>
            </a:endParaRPr>
          </a:p>
        </p:txBody>
      </p:sp>
      <p:sp>
        <p:nvSpPr>
          <p:cNvPr id="2" name="Slide Number Placeholder 2">
            <a:extLst>
              <a:ext uri="{FF2B5EF4-FFF2-40B4-BE49-F238E27FC236}">
                <a16:creationId xmlns:a16="http://schemas.microsoft.com/office/drawing/2014/main" id="{1E080A0E-5C4F-96F8-C86A-7CAEB89D536F}"/>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72</a:t>
            </a:fld>
            <a:endParaRPr lang="en-US" altLang="zh-CN"/>
          </a:p>
        </p:txBody>
      </p:sp>
    </p:spTree>
    <p:custDataLst>
      <p:tags r:id="rId1"/>
    </p:custDataLst>
    <p:extLst>
      <p:ext uri="{BB962C8B-B14F-4D97-AF65-F5344CB8AC3E}">
        <p14:creationId xmlns:p14="http://schemas.microsoft.com/office/powerpoint/2010/main" val="377929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缓存技术实现</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73</a:t>
            </a:fld>
            <a:endParaRPr lang="en-US" altLang="zh-CN"/>
          </a:p>
        </p:txBody>
      </p:sp>
      <p:sp>
        <p:nvSpPr>
          <p:cNvPr id="7" name="内容占位符 2">
            <a:extLst>
              <a:ext uri="{FF2B5EF4-FFF2-40B4-BE49-F238E27FC236}">
                <a16:creationId xmlns:a16="http://schemas.microsoft.com/office/drawing/2014/main" id="{44AD668E-C9A5-DB48-A89D-D4F75849297A}"/>
              </a:ext>
            </a:extLst>
          </p:cNvPr>
          <p:cNvSpPr>
            <a:spLocks noGrp="1"/>
          </p:cNvSpPr>
          <p:nvPr>
            <p:ph idx="1"/>
          </p:nvPr>
        </p:nvSpPr>
        <p:spPr>
          <a:xfrm>
            <a:off x="457200" y="1551432"/>
            <a:ext cx="8229600" cy="4779793"/>
          </a:xfrm>
        </p:spPr>
        <p:txBody>
          <a:bodyPr/>
          <a:lstStyle/>
          <a:p>
            <a:pPr marL="514350" indent="-457200">
              <a:spcBef>
                <a:spcPts val="1000"/>
              </a:spcBef>
            </a:pPr>
            <a:r>
              <a:rPr kumimoji="1" lang="en-US" altLang="zh-CN" dirty="0">
                <a:solidFill>
                  <a:srgbClr val="0432FF"/>
                </a:solidFill>
              </a:rPr>
              <a:t>Cache</a:t>
            </a:r>
            <a:r>
              <a:rPr kumimoji="1" lang="zh-CN" altLang="en-US" dirty="0">
                <a:solidFill>
                  <a:srgbClr val="0432FF"/>
                </a:solidFill>
              </a:rPr>
              <a:t>技术实现</a:t>
            </a:r>
            <a:endParaRPr lang="zh-CN" altLang="en-US" sz="2000" dirty="0">
              <a:solidFill>
                <a:srgbClr val="0432FF"/>
              </a:solidFill>
            </a:endParaRPr>
          </a:p>
          <a:p>
            <a:pPr marL="914400" lvl="1" indent="-457200">
              <a:spcBef>
                <a:spcPts val="1000"/>
              </a:spcBef>
              <a:buFont typeface="+mj-lt"/>
              <a:buAutoNum type="arabicPeriod"/>
            </a:pPr>
            <a:r>
              <a:rPr lang="en-US" altLang="zh-CN" sz="2400" dirty="0"/>
              <a:t>Cache</a:t>
            </a:r>
            <a:r>
              <a:rPr lang="zh-CN" altLang="en-US" sz="2400" dirty="0"/>
              <a:t>基本结构</a:t>
            </a:r>
          </a:p>
          <a:p>
            <a:pPr marL="1314450" lvl="2" indent="-457200">
              <a:spcBef>
                <a:spcPts val="1000"/>
              </a:spcBef>
              <a:buFont typeface="Wingdings" pitchFamily="2" charset="2"/>
              <a:buChar char="Ø"/>
            </a:pPr>
            <a:r>
              <a:rPr lang="en-US" altLang="zh-CN" sz="2000" dirty="0"/>
              <a:t>Cache</a:t>
            </a:r>
            <a:r>
              <a:rPr lang="zh-CN" altLang="en-US" sz="2000" dirty="0"/>
              <a:t>的存储体结构、寻址流程</a:t>
            </a:r>
          </a:p>
          <a:p>
            <a:pPr marL="914400" lvl="1" indent="-457200">
              <a:spcBef>
                <a:spcPts val="1000"/>
              </a:spcBef>
              <a:buFont typeface="+mj-lt"/>
              <a:buAutoNum type="arabicPeriod"/>
            </a:pPr>
            <a:r>
              <a:rPr lang="en-US" altLang="zh-CN" sz="2400" dirty="0"/>
              <a:t>Cache</a:t>
            </a:r>
            <a:r>
              <a:rPr lang="zh-CN" altLang="en-US" sz="2400" dirty="0"/>
              <a:t>地址映像方式</a:t>
            </a:r>
          </a:p>
          <a:p>
            <a:pPr marL="1314450" lvl="2" indent="-457200">
              <a:spcBef>
                <a:spcPts val="1000"/>
              </a:spcBef>
              <a:buFont typeface="Wingdings" pitchFamily="2" charset="2"/>
              <a:buChar char="Ø"/>
            </a:pPr>
            <a:r>
              <a:rPr lang="zh-CN" altLang="en-US" sz="2000" dirty="0"/>
              <a:t>直接映像、全相连映像、组相联映像</a:t>
            </a:r>
          </a:p>
          <a:p>
            <a:pPr marL="914400" lvl="1" indent="-457200">
              <a:spcBef>
                <a:spcPts val="1000"/>
              </a:spcBef>
              <a:buFont typeface="+mj-lt"/>
              <a:buAutoNum type="arabicPeriod"/>
            </a:pPr>
            <a:r>
              <a:rPr lang="en-US" altLang="zh-CN" sz="2400" dirty="0"/>
              <a:t>Cache</a:t>
            </a:r>
            <a:r>
              <a:rPr lang="zh-CN" altLang="en-US" sz="2400" dirty="0"/>
              <a:t>数据的替换及更新</a:t>
            </a:r>
          </a:p>
          <a:p>
            <a:pPr marL="914400" lvl="1" indent="-457200">
              <a:spcBef>
                <a:spcPts val="1000"/>
              </a:spcBef>
              <a:buFont typeface="+mj-lt"/>
              <a:buAutoNum type="arabicPeriod"/>
            </a:pPr>
            <a:r>
              <a:rPr lang="en-US" altLang="zh-CN" sz="2400" dirty="0">
                <a:solidFill>
                  <a:srgbClr val="0432FF"/>
                </a:solidFill>
              </a:rPr>
              <a:t>Cache</a:t>
            </a:r>
            <a:r>
              <a:rPr lang="zh-CN" altLang="en-US" sz="2400" dirty="0">
                <a:solidFill>
                  <a:srgbClr val="0432FF"/>
                </a:solidFill>
              </a:rPr>
              <a:t>的作用</a:t>
            </a:r>
            <a:endParaRPr lang="en-US" altLang="zh-CN" sz="2400" dirty="0">
              <a:solidFill>
                <a:srgbClr val="0432FF"/>
              </a:solidFill>
            </a:endParaRPr>
          </a:p>
        </p:txBody>
      </p:sp>
    </p:spTree>
    <p:extLst>
      <p:ext uri="{BB962C8B-B14F-4D97-AF65-F5344CB8AC3E}">
        <p14:creationId xmlns:p14="http://schemas.microsoft.com/office/powerpoint/2010/main" val="4275479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74</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199" y="1551432"/>
            <a:ext cx="8326581" cy="476251"/>
          </a:xfrm>
        </p:spPr>
        <p:txBody>
          <a:bodyPr/>
          <a:lstStyle/>
          <a:p>
            <a:pPr marL="514350" indent="-457200">
              <a:spcBef>
                <a:spcPts val="1000"/>
              </a:spcBef>
            </a:pPr>
            <a:r>
              <a:rPr kumimoji="1" lang="zh-CN" altLang="en-US" sz="2000" dirty="0"/>
              <a:t>如下代码和对应指令，</a:t>
            </a:r>
            <a:r>
              <a:rPr kumimoji="1" lang="en-US" altLang="zh-CN" sz="2000" dirty="0">
                <a:solidFill>
                  <a:srgbClr val="00B050"/>
                </a:solidFill>
              </a:rPr>
              <a:t>$1</a:t>
            </a:r>
            <a:r>
              <a:rPr kumimoji="1" lang="zh-CN" altLang="en-US" sz="2000" dirty="0"/>
              <a:t>和</a:t>
            </a:r>
            <a:r>
              <a:rPr kumimoji="1" lang="en-US" altLang="zh-CN" sz="2000" dirty="0">
                <a:solidFill>
                  <a:srgbClr val="0432FF"/>
                </a:solidFill>
              </a:rPr>
              <a:t>$4</a:t>
            </a:r>
            <a:r>
              <a:rPr kumimoji="1" lang="zh-CN" altLang="en-US" sz="2000" dirty="0"/>
              <a:t>初始值均为</a:t>
            </a:r>
            <a:r>
              <a:rPr kumimoji="1" lang="en-US" altLang="zh-CN" sz="2000" dirty="0"/>
              <a:t>0</a:t>
            </a:r>
            <a:r>
              <a:rPr kumimoji="1" lang="zh-CN" altLang="en-US" sz="2000" dirty="0"/>
              <a:t>，假定指令地址从</a:t>
            </a:r>
            <a:r>
              <a:rPr kumimoji="1" lang="en-US" altLang="zh-CN" sz="2000" dirty="0"/>
              <a:t>0</a:t>
            </a:r>
            <a:r>
              <a:rPr kumimoji="1" lang="zh-CN" altLang="en-US" sz="2000" dirty="0"/>
              <a:t>开始</a:t>
            </a:r>
            <a:endParaRPr kumimoji="1" lang="en-US" altLang="zh-CN" sz="2000" dirty="0"/>
          </a:p>
        </p:txBody>
      </p:sp>
      <p:sp>
        <p:nvSpPr>
          <p:cNvPr id="8" name="内容占位符 2">
            <a:extLst>
              <a:ext uri="{FF2B5EF4-FFF2-40B4-BE49-F238E27FC236}">
                <a16:creationId xmlns:a16="http://schemas.microsoft.com/office/drawing/2014/main" id="{0FF3231E-6BD5-9549-A546-289D64536DE7}"/>
              </a:ext>
            </a:extLst>
          </p:cNvPr>
          <p:cNvSpPr txBox="1">
            <a:spLocks/>
          </p:cNvSpPr>
          <p:nvPr/>
        </p:nvSpPr>
        <p:spPr bwMode="auto">
          <a:xfrm>
            <a:off x="457200" y="3673315"/>
            <a:ext cx="5090743" cy="24365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a:buClr>
                <a:schemeClr val="tx1"/>
              </a:buClr>
              <a:buFont typeface="Arial" panose="020B0604020202020204" pitchFamily="34" charset="0"/>
              <a:buChar char="•"/>
            </a:pPr>
            <a:r>
              <a:rPr lang="zh-CN" altLang="en-US" sz="2400" dirty="0"/>
              <a:t>假定我们有如下的</a:t>
            </a:r>
            <a:r>
              <a:rPr lang="en-US" altLang="zh-CN" sz="2400" dirty="0"/>
              <a:t>cache</a:t>
            </a:r>
          </a:p>
          <a:p>
            <a:pPr lvl="1">
              <a:buClr>
                <a:schemeClr val="tx1"/>
              </a:buClr>
              <a:buFont typeface="Wingdings" pitchFamily="2" charset="2"/>
              <a:buChar char="Ø"/>
            </a:pPr>
            <a:r>
              <a:rPr lang="zh-CN" altLang="en-US" sz="2000" dirty="0"/>
              <a:t>直接映像</a:t>
            </a:r>
          </a:p>
          <a:p>
            <a:pPr lvl="1">
              <a:buClr>
                <a:schemeClr val="tx1"/>
              </a:buClr>
              <a:buFont typeface="Wingdings" pitchFamily="2" charset="2"/>
              <a:buChar char="Ø"/>
            </a:pPr>
            <a:r>
              <a:rPr lang="en-US" altLang="zh-CN" sz="2000" dirty="0"/>
              <a:t>Cache</a:t>
            </a:r>
            <a:r>
              <a:rPr lang="zh-CN" altLang="en-US" sz="2000" dirty="0"/>
              <a:t>总容量八个字</a:t>
            </a:r>
            <a:r>
              <a:rPr lang="en-US" altLang="zh-CN" sz="2000" dirty="0"/>
              <a:t>(32 bytes)</a:t>
            </a:r>
            <a:endParaRPr lang="zh-CN" altLang="en-US" sz="2000" dirty="0"/>
          </a:p>
          <a:p>
            <a:pPr lvl="1">
              <a:buClr>
                <a:schemeClr val="tx1"/>
              </a:buClr>
              <a:buFont typeface="Wingdings" pitchFamily="2" charset="2"/>
              <a:buChar char="Ø"/>
            </a:pPr>
            <a:r>
              <a:rPr lang="en-US" altLang="zh-CN" sz="2000" dirty="0"/>
              <a:t>Cache</a:t>
            </a:r>
            <a:r>
              <a:rPr lang="zh-CN" altLang="en-US" sz="2000" dirty="0"/>
              <a:t>共</a:t>
            </a:r>
            <a:r>
              <a:rPr lang="en-US" altLang="zh-CN" sz="2000" dirty="0"/>
              <a:t>4</a:t>
            </a:r>
            <a:r>
              <a:rPr lang="zh-CN" altLang="en-US" sz="2000" dirty="0"/>
              <a:t>行，每行两个字</a:t>
            </a:r>
            <a:r>
              <a:rPr lang="en-US" altLang="zh-CN" sz="2000" dirty="0"/>
              <a:t>(8 bytes)</a:t>
            </a:r>
            <a:endParaRPr lang="zh-CN" altLang="en-US" sz="2000" dirty="0"/>
          </a:p>
          <a:p>
            <a:pPr>
              <a:buClr>
                <a:schemeClr val="tx1"/>
              </a:buClr>
              <a:buFont typeface="Arial" panose="020B0604020202020204" pitchFamily="34" charset="0"/>
              <a:buChar char="•"/>
            </a:pPr>
            <a:r>
              <a:rPr lang="zh-CN" altLang="en-US" sz="2400" dirty="0"/>
              <a:t>若指令和数据</a:t>
            </a:r>
            <a:r>
              <a:rPr lang="en-US" altLang="zh-CN" sz="2400" dirty="0"/>
              <a:t>a[]</a:t>
            </a:r>
            <a:r>
              <a:rPr lang="zh-CN" altLang="en-US" sz="2400" dirty="0"/>
              <a:t>分别有</a:t>
            </a:r>
            <a:r>
              <a:rPr lang="en-US" altLang="zh-CN" sz="2400" dirty="0"/>
              <a:t>cache</a:t>
            </a:r>
            <a:r>
              <a:rPr lang="zh-CN" altLang="en-US" sz="2400" dirty="0"/>
              <a:t>，上面代码的平均命中率为多少</a:t>
            </a:r>
            <a:r>
              <a:rPr lang="en-US" altLang="zh-CN" sz="2400" dirty="0"/>
              <a:t>?</a:t>
            </a:r>
          </a:p>
        </p:txBody>
      </p:sp>
      <p:sp>
        <p:nvSpPr>
          <p:cNvPr id="10" name="Rectangle 9">
            <a:extLst>
              <a:ext uri="{FF2B5EF4-FFF2-40B4-BE49-F238E27FC236}">
                <a16:creationId xmlns:a16="http://schemas.microsoft.com/office/drawing/2014/main" id="{3F374390-9BDE-3646-9652-F9A9B38D25E0}"/>
              </a:ext>
            </a:extLst>
          </p:cNvPr>
          <p:cNvSpPr/>
          <p:nvPr/>
        </p:nvSpPr>
        <p:spPr>
          <a:xfrm>
            <a:off x="5747159" y="3612249"/>
            <a:ext cx="2753880" cy="175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11" name="Table 20">
            <a:extLst>
              <a:ext uri="{FF2B5EF4-FFF2-40B4-BE49-F238E27FC236}">
                <a16:creationId xmlns:a16="http://schemas.microsoft.com/office/drawing/2014/main" id="{B0954F91-FEDF-A042-85C2-8B3EECFC2C11}"/>
              </a:ext>
            </a:extLst>
          </p:cNvPr>
          <p:cNvGraphicFramePr>
            <a:graphicFrameLocks noGrp="1"/>
          </p:cNvGraphicFramePr>
          <p:nvPr>
            <p:extLst>
              <p:ext uri="{D42A27DB-BD31-4B8C-83A1-F6EECF244321}">
                <p14:modId xmlns:p14="http://schemas.microsoft.com/office/powerpoint/2010/main" val="1358395730"/>
              </p:ext>
            </p:extLst>
          </p:nvPr>
        </p:nvGraphicFramePr>
        <p:xfrm>
          <a:off x="7931411" y="3679213"/>
          <a:ext cx="852359" cy="1935360"/>
        </p:xfrm>
        <a:graphic>
          <a:graphicData uri="http://schemas.openxmlformats.org/drawingml/2006/table">
            <a:tbl>
              <a:tblPr firstRow="1" bandRow="1">
                <a:tableStyleId>{5940675A-B579-460E-94D1-54222C63F5DA}</a:tableStyleId>
              </a:tblPr>
              <a:tblGrid>
                <a:gridCol w="852359">
                  <a:extLst>
                    <a:ext uri="{9D8B030D-6E8A-4147-A177-3AD203B41FA5}">
                      <a16:colId xmlns:a16="http://schemas.microsoft.com/office/drawing/2014/main" val="3777275115"/>
                    </a:ext>
                  </a:extLst>
                </a:gridCol>
              </a:tblGrid>
              <a:tr h="322560">
                <a:tc>
                  <a:txBody>
                    <a:bodyPr/>
                    <a:lstStyle/>
                    <a:p>
                      <a:pPr algn="ctr"/>
                      <a:r>
                        <a:rPr lang="en-US" sz="1100" dirty="0"/>
                        <a:t>W</a:t>
                      </a:r>
                      <a:r>
                        <a:rPr lang="en-CN" sz="1100"/>
                        <a:t>ord </a:t>
                      </a:r>
                      <a:r>
                        <a:rPr lang="en-US" sz="1100" dirty="0" err="1"/>
                        <a:t>addr</a:t>
                      </a:r>
                      <a:r>
                        <a:rPr lang="en-US" sz="1100" dirty="0"/>
                        <a:t> </a:t>
                      </a:r>
                      <a:r>
                        <a:rPr lang="en-CN" sz="1100"/>
                        <a:t>0</a:t>
                      </a:r>
                      <a:endParaRPr lang="en-CN" sz="1100" dirty="0"/>
                    </a:p>
                  </a:txBody>
                  <a:tcPr marL="0" marR="0" marT="0" marB="0" anchor="ctr">
                    <a:solidFill>
                      <a:schemeClr val="bg1"/>
                    </a:solidFill>
                  </a:tcPr>
                </a:tc>
                <a:extLst>
                  <a:ext uri="{0D108BD9-81ED-4DB2-BD59-A6C34878D82A}">
                    <a16:rowId xmlns:a16="http://schemas.microsoft.com/office/drawing/2014/main" val="1834820383"/>
                  </a:ext>
                </a:extLst>
              </a:tr>
              <a:tr h="322560">
                <a:tc>
                  <a:txBody>
                    <a:bodyPr/>
                    <a:lstStyle/>
                    <a:p>
                      <a:pPr algn="ctr"/>
                      <a:r>
                        <a:rPr lang="en-US" sz="1100" dirty="0"/>
                        <a:t>W</a:t>
                      </a:r>
                      <a:r>
                        <a:rPr lang="en-CN" sz="1100"/>
                        <a:t>ord </a:t>
                      </a:r>
                      <a:r>
                        <a:rPr lang="en-US" altLang="zh-CN" sz="1100" dirty="0" err="1"/>
                        <a:t>addr</a:t>
                      </a:r>
                      <a:r>
                        <a:rPr lang="en-US" altLang="zh-CN" sz="1100" dirty="0"/>
                        <a:t> </a:t>
                      </a:r>
                      <a:r>
                        <a:rPr lang="en-CN" sz="1100"/>
                        <a:t>4</a:t>
                      </a:r>
                      <a:endParaRPr lang="en-CN" sz="1100" dirty="0"/>
                    </a:p>
                  </a:txBody>
                  <a:tcPr marL="0" marR="0" marT="0" marB="0" anchor="ctr">
                    <a:solidFill>
                      <a:schemeClr val="bg1"/>
                    </a:solidFill>
                  </a:tcPr>
                </a:tc>
                <a:extLst>
                  <a:ext uri="{0D108BD9-81ED-4DB2-BD59-A6C34878D82A}">
                    <a16:rowId xmlns:a16="http://schemas.microsoft.com/office/drawing/2014/main" val="1202016351"/>
                  </a:ext>
                </a:extLst>
              </a:tr>
              <a:tr h="322560">
                <a:tc>
                  <a:txBody>
                    <a:bodyPr/>
                    <a:lstStyle/>
                    <a:p>
                      <a:pPr algn="ctr"/>
                      <a:r>
                        <a:rPr lang="en-US" sz="1100" dirty="0"/>
                        <a:t>W</a:t>
                      </a:r>
                      <a:r>
                        <a:rPr lang="en-CN" sz="1100"/>
                        <a:t>ord </a:t>
                      </a:r>
                      <a:r>
                        <a:rPr lang="en-US" altLang="zh-CN" sz="1100" dirty="0" err="1"/>
                        <a:t>addr</a:t>
                      </a:r>
                      <a:r>
                        <a:rPr lang="en-US" altLang="zh-CN" sz="1100" dirty="0"/>
                        <a:t> </a:t>
                      </a:r>
                      <a:r>
                        <a:rPr lang="en-CN" sz="1100"/>
                        <a:t>8</a:t>
                      </a:r>
                      <a:endParaRPr lang="en-CN" sz="1100" dirty="0"/>
                    </a:p>
                  </a:txBody>
                  <a:tcPr marL="0" marR="0" marT="0" marB="0" anchor="ctr">
                    <a:solidFill>
                      <a:schemeClr val="bg1"/>
                    </a:solidFill>
                  </a:tcPr>
                </a:tc>
                <a:extLst>
                  <a:ext uri="{0D108BD9-81ED-4DB2-BD59-A6C34878D82A}">
                    <a16:rowId xmlns:a16="http://schemas.microsoft.com/office/drawing/2014/main" val="1138424914"/>
                  </a:ext>
                </a:extLst>
              </a:tr>
              <a:tr h="322560">
                <a:tc>
                  <a:txBody>
                    <a:bodyPr/>
                    <a:lstStyle/>
                    <a:p>
                      <a:pPr algn="ctr"/>
                      <a:r>
                        <a:rPr lang="en-US" sz="1100" dirty="0"/>
                        <a:t>W</a:t>
                      </a:r>
                      <a:r>
                        <a:rPr lang="en-CN" sz="1100"/>
                        <a:t>ord </a:t>
                      </a:r>
                      <a:r>
                        <a:rPr lang="en-US" altLang="zh-CN" sz="1100" dirty="0" err="1"/>
                        <a:t>addr</a:t>
                      </a:r>
                      <a:r>
                        <a:rPr lang="en-US" altLang="zh-CN" sz="1100" dirty="0"/>
                        <a:t> </a:t>
                      </a:r>
                      <a:r>
                        <a:rPr lang="en-CN" sz="1100"/>
                        <a:t>12</a:t>
                      </a:r>
                      <a:endParaRPr lang="en-CN" sz="1100" dirty="0"/>
                    </a:p>
                  </a:txBody>
                  <a:tcPr marL="0" marR="0" marT="0" marB="0" anchor="ctr">
                    <a:solidFill>
                      <a:schemeClr val="bg1"/>
                    </a:solidFill>
                  </a:tcPr>
                </a:tc>
                <a:extLst>
                  <a:ext uri="{0D108BD9-81ED-4DB2-BD59-A6C34878D82A}">
                    <a16:rowId xmlns:a16="http://schemas.microsoft.com/office/drawing/2014/main" val="2717052093"/>
                  </a:ext>
                </a:extLst>
              </a:tr>
              <a:tr h="322560">
                <a:tc>
                  <a:txBody>
                    <a:bodyPr/>
                    <a:lstStyle/>
                    <a:p>
                      <a:pPr algn="ctr"/>
                      <a:r>
                        <a:rPr lang="en-US" sz="1100" dirty="0"/>
                        <a:t>W</a:t>
                      </a:r>
                      <a:r>
                        <a:rPr lang="en-CN" sz="1100"/>
                        <a:t>ord </a:t>
                      </a:r>
                      <a:r>
                        <a:rPr lang="en-US" altLang="zh-CN" sz="1100" dirty="0" err="1"/>
                        <a:t>addr</a:t>
                      </a:r>
                      <a:r>
                        <a:rPr lang="en-US" altLang="zh-CN" sz="1100" dirty="0"/>
                        <a:t> </a:t>
                      </a:r>
                      <a:r>
                        <a:rPr lang="en-CN" sz="1100"/>
                        <a:t>16</a:t>
                      </a:r>
                      <a:endParaRPr lang="en-CN" sz="1100" dirty="0"/>
                    </a:p>
                  </a:txBody>
                  <a:tcPr marL="0" marR="0" marT="0" marB="0" anchor="ctr">
                    <a:solidFill>
                      <a:schemeClr val="bg1"/>
                    </a:solidFill>
                  </a:tcPr>
                </a:tc>
                <a:extLst>
                  <a:ext uri="{0D108BD9-81ED-4DB2-BD59-A6C34878D82A}">
                    <a16:rowId xmlns:a16="http://schemas.microsoft.com/office/drawing/2014/main" val="575567721"/>
                  </a:ext>
                </a:extLst>
              </a:tr>
              <a:tr h="322560">
                <a:tc>
                  <a:txBody>
                    <a:bodyPr/>
                    <a:lstStyle/>
                    <a:p>
                      <a:pPr algn="ctr"/>
                      <a:r>
                        <a:rPr lang="en-US" sz="1100" dirty="0"/>
                        <a:t>W</a:t>
                      </a:r>
                      <a:r>
                        <a:rPr lang="en-CN" sz="1100"/>
                        <a:t>ord </a:t>
                      </a:r>
                      <a:r>
                        <a:rPr lang="en-US" altLang="zh-CN" sz="1100" dirty="0" err="1"/>
                        <a:t>addr</a:t>
                      </a:r>
                      <a:r>
                        <a:rPr lang="en-US" altLang="zh-CN" sz="1100" dirty="0"/>
                        <a:t> </a:t>
                      </a:r>
                      <a:r>
                        <a:rPr lang="en-CN" sz="1100"/>
                        <a:t>20</a:t>
                      </a:r>
                      <a:endParaRPr lang="en-CN" sz="1100" dirty="0"/>
                    </a:p>
                  </a:txBody>
                  <a:tcPr marL="0" marR="0" marT="0" marB="0" anchor="ctr">
                    <a:solidFill>
                      <a:schemeClr val="bg1"/>
                    </a:solidFill>
                  </a:tcPr>
                </a:tc>
                <a:extLst>
                  <a:ext uri="{0D108BD9-81ED-4DB2-BD59-A6C34878D82A}">
                    <a16:rowId xmlns:a16="http://schemas.microsoft.com/office/drawing/2014/main" val="2696168406"/>
                  </a:ext>
                </a:extLst>
              </a:tr>
            </a:tbl>
          </a:graphicData>
        </a:graphic>
      </p:graphicFrame>
      <p:graphicFrame>
        <p:nvGraphicFramePr>
          <p:cNvPr id="12" name="Table 11">
            <a:extLst>
              <a:ext uri="{FF2B5EF4-FFF2-40B4-BE49-F238E27FC236}">
                <a16:creationId xmlns:a16="http://schemas.microsoft.com/office/drawing/2014/main" id="{C118E131-D0C1-3546-9FF7-B996E4666376}"/>
              </a:ext>
            </a:extLst>
          </p:cNvPr>
          <p:cNvGraphicFramePr>
            <a:graphicFrameLocks noGrp="1"/>
          </p:cNvGraphicFramePr>
          <p:nvPr>
            <p:extLst>
              <p:ext uri="{D42A27DB-BD31-4B8C-83A1-F6EECF244321}">
                <p14:modId xmlns:p14="http://schemas.microsoft.com/office/powerpoint/2010/main" val="1892407523"/>
              </p:ext>
            </p:extLst>
          </p:nvPr>
        </p:nvGraphicFramePr>
        <p:xfrm>
          <a:off x="5747159" y="3828457"/>
          <a:ext cx="1821180" cy="136450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dirty="0"/>
                        <a:t>L</a:t>
                      </a:r>
                      <a:r>
                        <a:rPr lang="en-CN" sz="1600" dirty="0"/>
                        <a:t>ine 0: two words</a:t>
                      </a:r>
                    </a:p>
                  </a:txBody>
                  <a:tcPr>
                    <a:solidFill>
                      <a:schemeClr val="bg1"/>
                    </a:solidFill>
                  </a:tcPr>
                </a:tc>
                <a:extLst>
                  <a:ext uri="{0D108BD9-81ED-4DB2-BD59-A6C34878D82A}">
                    <a16:rowId xmlns:a16="http://schemas.microsoft.com/office/drawing/2014/main" val="1118228480"/>
                  </a:ext>
                </a:extLst>
              </a:tr>
              <a:tr h="322560">
                <a:tc>
                  <a:txBody>
                    <a:bodyPr/>
                    <a:lstStyle/>
                    <a:p>
                      <a:r>
                        <a:rPr lang="en-CN" sz="1600" dirty="0"/>
                        <a:t>Line 1: two words</a:t>
                      </a:r>
                    </a:p>
                  </a:txBody>
                  <a:tcPr>
                    <a:solidFill>
                      <a:schemeClr val="bg1"/>
                    </a:solidFill>
                  </a:tcPr>
                </a:tc>
                <a:extLst>
                  <a:ext uri="{0D108BD9-81ED-4DB2-BD59-A6C34878D82A}">
                    <a16:rowId xmlns:a16="http://schemas.microsoft.com/office/drawing/2014/main" val="3945531257"/>
                  </a:ext>
                </a:extLst>
              </a:tr>
              <a:tr h="322560">
                <a:tc>
                  <a:txBody>
                    <a:bodyPr/>
                    <a:lstStyle/>
                    <a:p>
                      <a:r>
                        <a:rPr lang="en-CN" sz="1600" dirty="0"/>
                        <a:t>Line 2: two words</a:t>
                      </a:r>
                    </a:p>
                  </a:txBody>
                  <a:tcPr>
                    <a:solidFill>
                      <a:schemeClr val="bg1"/>
                    </a:solidFill>
                  </a:tcPr>
                </a:tc>
                <a:extLst>
                  <a:ext uri="{0D108BD9-81ED-4DB2-BD59-A6C34878D82A}">
                    <a16:rowId xmlns:a16="http://schemas.microsoft.com/office/drawing/2014/main" val="605631684"/>
                  </a:ext>
                </a:extLst>
              </a:tr>
              <a:tr h="322560">
                <a:tc>
                  <a:txBody>
                    <a:bodyPr/>
                    <a:lstStyle/>
                    <a:p>
                      <a:r>
                        <a:rPr lang="en-CN" sz="1600" dirty="0"/>
                        <a:t>Line 3: two words</a:t>
                      </a:r>
                    </a:p>
                  </a:txBody>
                  <a:tcPr>
                    <a:solidFill>
                      <a:schemeClr val="bg1"/>
                    </a:solidFill>
                  </a:tcPr>
                </a:tc>
                <a:extLst>
                  <a:ext uri="{0D108BD9-81ED-4DB2-BD59-A6C34878D82A}">
                    <a16:rowId xmlns:a16="http://schemas.microsoft.com/office/drawing/2014/main" val="1931199062"/>
                  </a:ext>
                </a:extLst>
              </a:tr>
            </a:tbl>
          </a:graphicData>
        </a:graphic>
      </p:graphicFrame>
      <p:cxnSp>
        <p:nvCxnSpPr>
          <p:cNvPr id="13" name="Straight Arrow Connector 12">
            <a:extLst>
              <a:ext uri="{FF2B5EF4-FFF2-40B4-BE49-F238E27FC236}">
                <a16:creationId xmlns:a16="http://schemas.microsoft.com/office/drawing/2014/main" id="{828F04BB-947E-DB45-B95B-8288943335E2}"/>
              </a:ext>
            </a:extLst>
          </p:cNvPr>
          <p:cNvCxnSpPr/>
          <p:nvPr/>
        </p:nvCxnSpPr>
        <p:spPr>
          <a:xfrm flipH="1">
            <a:off x="7568339" y="3828457"/>
            <a:ext cx="363073" cy="1678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D423EF3E-7C9F-FB46-B0DF-81D5ADDC44F5}"/>
              </a:ext>
            </a:extLst>
          </p:cNvPr>
          <p:cNvCxnSpPr>
            <a:cxnSpLocks/>
          </p:cNvCxnSpPr>
          <p:nvPr/>
        </p:nvCxnSpPr>
        <p:spPr>
          <a:xfrm flipH="1" flipV="1">
            <a:off x="7568339" y="4319666"/>
            <a:ext cx="352105" cy="157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07AB150D-6FC8-6349-897B-53A37698F666}"/>
              </a:ext>
            </a:extLst>
          </p:cNvPr>
          <p:cNvSpPr/>
          <p:nvPr/>
        </p:nvSpPr>
        <p:spPr>
          <a:xfrm>
            <a:off x="7927346" y="3673315"/>
            <a:ext cx="852358"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Rectangle 17">
            <a:extLst>
              <a:ext uri="{FF2B5EF4-FFF2-40B4-BE49-F238E27FC236}">
                <a16:creationId xmlns:a16="http://schemas.microsoft.com/office/drawing/2014/main" id="{DFA3CE24-D3FB-884D-B704-2EC41FEA6DDF}"/>
              </a:ext>
            </a:extLst>
          </p:cNvPr>
          <p:cNvSpPr/>
          <p:nvPr/>
        </p:nvSpPr>
        <p:spPr>
          <a:xfrm>
            <a:off x="7927346" y="4340966"/>
            <a:ext cx="852358" cy="60799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9" name="Straight Arrow Connector 18">
            <a:extLst>
              <a:ext uri="{FF2B5EF4-FFF2-40B4-BE49-F238E27FC236}">
                <a16:creationId xmlns:a16="http://schemas.microsoft.com/office/drawing/2014/main" id="{899D847B-C4F9-DD4C-9EB4-6E3BC8AE2519}"/>
              </a:ext>
            </a:extLst>
          </p:cNvPr>
          <p:cNvCxnSpPr>
            <a:cxnSpLocks/>
          </p:cNvCxnSpPr>
          <p:nvPr/>
        </p:nvCxnSpPr>
        <p:spPr>
          <a:xfrm flipH="1" flipV="1">
            <a:off x="7575241" y="4671649"/>
            <a:ext cx="352105" cy="5224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1F79105E-4FE4-F946-93B2-41D8059F1368}"/>
              </a:ext>
            </a:extLst>
          </p:cNvPr>
          <p:cNvSpPr/>
          <p:nvPr/>
        </p:nvSpPr>
        <p:spPr>
          <a:xfrm>
            <a:off x="5748347" y="3820899"/>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Rectangle 20">
            <a:extLst>
              <a:ext uri="{FF2B5EF4-FFF2-40B4-BE49-F238E27FC236}">
                <a16:creationId xmlns:a16="http://schemas.microsoft.com/office/drawing/2014/main" id="{3F2147BD-7FD4-0E41-99E5-2A462B9C4BC2}"/>
              </a:ext>
            </a:extLst>
          </p:cNvPr>
          <p:cNvSpPr/>
          <p:nvPr/>
        </p:nvSpPr>
        <p:spPr>
          <a:xfrm>
            <a:off x="5751798" y="4201373"/>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Rectangle 21">
            <a:extLst>
              <a:ext uri="{FF2B5EF4-FFF2-40B4-BE49-F238E27FC236}">
                <a16:creationId xmlns:a16="http://schemas.microsoft.com/office/drawing/2014/main" id="{A8F22C73-0F10-6049-A28D-2BF8B5EEF32F}"/>
              </a:ext>
            </a:extLst>
          </p:cNvPr>
          <p:cNvSpPr/>
          <p:nvPr/>
        </p:nvSpPr>
        <p:spPr>
          <a:xfrm>
            <a:off x="5751798" y="4529985"/>
            <a:ext cx="1826894" cy="30880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ectangle 22">
            <a:extLst>
              <a:ext uri="{FF2B5EF4-FFF2-40B4-BE49-F238E27FC236}">
                <a16:creationId xmlns:a16="http://schemas.microsoft.com/office/drawing/2014/main" id="{47A7C45E-4663-0548-8C57-41288375CEF2}"/>
              </a:ext>
            </a:extLst>
          </p:cNvPr>
          <p:cNvSpPr/>
          <p:nvPr/>
        </p:nvSpPr>
        <p:spPr>
          <a:xfrm>
            <a:off x="7934248" y="4968330"/>
            <a:ext cx="852358" cy="62716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6" name="Straight Connector 25">
            <a:extLst>
              <a:ext uri="{FF2B5EF4-FFF2-40B4-BE49-F238E27FC236}">
                <a16:creationId xmlns:a16="http://schemas.microsoft.com/office/drawing/2014/main" id="{9EA8126B-7AEF-684F-99FD-D37267ACFECA}"/>
              </a:ext>
            </a:extLst>
          </p:cNvPr>
          <p:cNvCxnSpPr/>
          <p:nvPr/>
        </p:nvCxnSpPr>
        <p:spPr>
          <a:xfrm>
            <a:off x="8272153" y="5701895"/>
            <a:ext cx="0" cy="342900"/>
          </a:xfrm>
          <a:prstGeom prst="line">
            <a:avLst/>
          </a:prstGeom>
          <a:ln w="698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5" name="Text Box 4">
            <a:extLst>
              <a:ext uri="{FF2B5EF4-FFF2-40B4-BE49-F238E27FC236}">
                <a16:creationId xmlns:a16="http://schemas.microsoft.com/office/drawing/2014/main" id="{616D327E-5D02-4D7B-C341-FE54E84EFDC3}"/>
              </a:ext>
            </a:extLst>
          </p:cNvPr>
          <p:cNvSpPr txBox="1">
            <a:spLocks noChangeArrowheads="1"/>
          </p:cNvSpPr>
          <p:nvPr/>
        </p:nvSpPr>
        <p:spPr bwMode="auto">
          <a:xfrm>
            <a:off x="758539" y="2230940"/>
            <a:ext cx="3896582" cy="14568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hlink"/>
                </a:solidFill>
                <a:miter lim="800000"/>
                <a:headEnd/>
                <a:tailEnd type="none" w="lg" len="lg"/>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01644" tIns="50823" rIns="101644" bIns="5082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200" dirty="0">
                <a:latin typeface="+mn-lt"/>
                <a:ea typeface="SimHei" panose="02010609060101010101" pitchFamily="49" charset="-122"/>
              </a:rPr>
              <a:t>loop:	lw    </a:t>
            </a:r>
            <a:r>
              <a:rPr lang="en-US" altLang="zh-CN" sz="2200" dirty="0">
                <a:solidFill>
                  <a:srgbClr val="C00000"/>
                </a:solidFill>
                <a:latin typeface="+mn-lt"/>
                <a:ea typeface="SimHei" panose="02010609060101010101" pitchFamily="49" charset="-122"/>
              </a:rPr>
              <a:t>$2, </a:t>
            </a:r>
            <a:r>
              <a:rPr lang="en-US" altLang="zh-CN" sz="2200" dirty="0">
                <a:latin typeface="+mn-lt"/>
                <a:ea typeface="SimHei" panose="02010609060101010101" pitchFamily="49" charset="-122"/>
              </a:rPr>
              <a:t>1000</a:t>
            </a:r>
            <a:r>
              <a:rPr lang="en-US" altLang="zh-CN" sz="2200" dirty="0">
                <a:solidFill>
                  <a:srgbClr val="00B050"/>
                </a:solidFill>
                <a:latin typeface="+mn-lt"/>
                <a:ea typeface="SimHei" panose="02010609060101010101" pitchFamily="49" charset="-122"/>
              </a:rPr>
              <a:t>($1)</a:t>
            </a:r>
          </a:p>
          <a:p>
            <a:r>
              <a:rPr lang="en-US" altLang="zh-CN" sz="2200" dirty="0">
                <a:latin typeface="+mn-lt"/>
                <a:ea typeface="SimHei" panose="02010609060101010101" pitchFamily="49" charset="-122"/>
              </a:rPr>
              <a:t>	</a:t>
            </a:r>
            <a:r>
              <a:rPr lang="en-US" altLang="zh-CN" sz="2200" dirty="0" err="1">
                <a:latin typeface="+mn-lt"/>
                <a:ea typeface="SimHei" panose="02010609060101010101" pitchFamily="49" charset="-122"/>
              </a:rPr>
              <a:t>addi</a:t>
            </a:r>
            <a:r>
              <a:rPr lang="en-US" altLang="zh-CN" sz="2200" dirty="0">
                <a:latin typeface="+mn-lt"/>
                <a:ea typeface="SimHei" panose="02010609060101010101" pitchFamily="49" charset="-122"/>
              </a:rPr>
              <a:t> </a:t>
            </a:r>
            <a:r>
              <a:rPr lang="en-US" altLang="zh-CN" sz="2200" dirty="0">
                <a:solidFill>
                  <a:srgbClr val="00B050"/>
                </a:solidFill>
                <a:latin typeface="+mn-lt"/>
                <a:ea typeface="SimHei" panose="02010609060101010101" pitchFamily="49" charset="-122"/>
              </a:rPr>
              <a:t>$1, $1, </a:t>
            </a:r>
            <a:r>
              <a:rPr lang="en-US" altLang="zh-CN" sz="2200" dirty="0">
                <a:solidFill>
                  <a:srgbClr val="7030A0"/>
                </a:solidFill>
                <a:latin typeface="+mn-lt"/>
                <a:ea typeface="SimHei" panose="02010609060101010101" pitchFamily="49" charset="-122"/>
              </a:rPr>
              <a:t>4</a:t>
            </a:r>
          </a:p>
          <a:p>
            <a:r>
              <a:rPr lang="en-US" altLang="zh-CN" sz="2200" dirty="0">
                <a:latin typeface="+mn-lt"/>
                <a:ea typeface="SimHei" panose="02010609060101010101" pitchFamily="49" charset="-122"/>
              </a:rPr>
              <a:t>	add  </a:t>
            </a:r>
            <a:r>
              <a:rPr lang="en-US" altLang="zh-CN" sz="2200" dirty="0">
                <a:solidFill>
                  <a:srgbClr val="0432FF"/>
                </a:solidFill>
                <a:latin typeface="+mn-lt"/>
                <a:ea typeface="SimHei" panose="02010609060101010101" pitchFamily="49" charset="-122"/>
              </a:rPr>
              <a:t>$4</a:t>
            </a:r>
            <a:r>
              <a:rPr lang="en-US" altLang="zh-CN" sz="2200" dirty="0">
                <a:latin typeface="+mn-lt"/>
                <a:ea typeface="SimHei" panose="02010609060101010101" pitchFamily="49" charset="-122"/>
              </a:rPr>
              <a:t>, $2, </a:t>
            </a:r>
            <a:r>
              <a:rPr lang="en-US" altLang="zh-CN" sz="2200" dirty="0">
                <a:solidFill>
                  <a:srgbClr val="0432FF"/>
                </a:solidFill>
                <a:latin typeface="+mn-lt"/>
                <a:ea typeface="SimHei" panose="02010609060101010101" pitchFamily="49" charset="-122"/>
              </a:rPr>
              <a:t>$4</a:t>
            </a:r>
          </a:p>
          <a:p>
            <a:r>
              <a:rPr lang="en-US" altLang="zh-CN" sz="2200" dirty="0">
                <a:latin typeface="+mn-lt"/>
                <a:ea typeface="SimHei" panose="02010609060101010101" pitchFamily="49" charset="-122"/>
              </a:rPr>
              <a:t>	bne  </a:t>
            </a:r>
            <a:r>
              <a:rPr lang="en-US" altLang="zh-CN" sz="2200" dirty="0">
                <a:solidFill>
                  <a:srgbClr val="00B050"/>
                </a:solidFill>
                <a:latin typeface="+mn-lt"/>
                <a:ea typeface="SimHei" panose="02010609060101010101" pitchFamily="49" charset="-122"/>
              </a:rPr>
              <a:t>$1</a:t>
            </a:r>
            <a:r>
              <a:rPr lang="en-US" altLang="zh-CN" sz="2200" dirty="0">
                <a:latin typeface="+mn-lt"/>
                <a:ea typeface="SimHei" panose="02010609060101010101" pitchFamily="49" charset="-122"/>
              </a:rPr>
              <a:t>, </a:t>
            </a:r>
            <a:r>
              <a:rPr lang="en-US" altLang="zh-CN" sz="2200" dirty="0">
                <a:solidFill>
                  <a:srgbClr val="7030A0"/>
                </a:solidFill>
                <a:latin typeface="+mn-lt"/>
                <a:ea typeface="SimHei" panose="02010609060101010101" pitchFamily="49" charset="-122"/>
              </a:rPr>
              <a:t>1000</a:t>
            </a:r>
            <a:r>
              <a:rPr lang="en-US" altLang="zh-CN" sz="2200" dirty="0">
                <a:latin typeface="+mn-lt"/>
                <a:ea typeface="SimHei" panose="02010609060101010101" pitchFamily="49" charset="-122"/>
              </a:rPr>
              <a:t>, loop</a:t>
            </a:r>
            <a:r>
              <a:rPr lang="zh-CN" altLang="en-US" sz="2200" dirty="0">
                <a:latin typeface="+mn-lt"/>
                <a:ea typeface="SimHei" panose="02010609060101010101" pitchFamily="49" charset="-122"/>
              </a:rPr>
              <a:t> </a:t>
            </a:r>
            <a:endParaRPr lang="en-US" altLang="zh-CN" sz="2200" dirty="0">
              <a:latin typeface="+mn-lt"/>
              <a:ea typeface="SimHei" panose="02010609060101010101" pitchFamily="49" charset="-122"/>
            </a:endParaRPr>
          </a:p>
        </p:txBody>
      </p:sp>
      <p:sp>
        <p:nvSpPr>
          <p:cNvPr id="27" name="矩形 26">
            <a:extLst>
              <a:ext uri="{FF2B5EF4-FFF2-40B4-BE49-F238E27FC236}">
                <a16:creationId xmlns:a16="http://schemas.microsoft.com/office/drawing/2014/main" id="{CB11FC0F-46D3-BCDD-C928-13600719E699}"/>
              </a:ext>
            </a:extLst>
          </p:cNvPr>
          <p:cNvSpPr/>
          <p:nvPr/>
        </p:nvSpPr>
        <p:spPr>
          <a:xfrm>
            <a:off x="4810717" y="2230940"/>
            <a:ext cx="3792949" cy="1107996"/>
          </a:xfrm>
          <a:prstGeom prst="rect">
            <a:avLst/>
          </a:prstGeom>
        </p:spPr>
        <p:txBody>
          <a:bodyPr wrap="square">
            <a:spAutoFit/>
          </a:bodyPr>
          <a:lstStyle/>
          <a:p>
            <a:r>
              <a:rPr lang="en-US" altLang="zh-CN" sz="2200" dirty="0">
                <a:latin typeface="+mn-lt"/>
                <a:ea typeface="SimHei" panose="02010609060101010101" pitchFamily="49" charset="-122"/>
              </a:rPr>
              <a:t>int</a:t>
            </a:r>
            <a:r>
              <a:rPr lang="zh-CN" altLang="en-US" sz="2200" dirty="0">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sum</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0;</a:t>
            </a:r>
          </a:p>
          <a:p>
            <a:r>
              <a:rPr lang="en-US" altLang="zh-CN" sz="2200" dirty="0">
                <a:latin typeface="+mn-lt"/>
                <a:ea typeface="SimHei" panose="02010609060101010101" pitchFamily="49" charset="-122"/>
              </a:rPr>
              <a:t>for(</a:t>
            </a:r>
            <a:r>
              <a:rPr lang="en-US" altLang="zh-CN" sz="2200" dirty="0">
                <a:solidFill>
                  <a:srgbClr val="00B050"/>
                </a:solidFill>
                <a:latin typeface="+mn-lt"/>
                <a:ea typeface="SimHei" panose="02010609060101010101" pitchFamily="49" charset="-122"/>
              </a:rPr>
              <a:t>int</a:t>
            </a:r>
            <a:r>
              <a:rPr lang="zh-CN" altLang="en-US" sz="2200" dirty="0">
                <a:solidFill>
                  <a:srgbClr val="00B050"/>
                </a:solidFill>
                <a:latin typeface="+mn-lt"/>
                <a:ea typeface="SimHei" panose="02010609060101010101" pitchFamily="49" charset="-122"/>
              </a:rPr>
              <a:t> </a:t>
            </a:r>
            <a:r>
              <a:rPr lang="en-US" altLang="zh-CN" sz="2200" dirty="0">
                <a:solidFill>
                  <a:srgbClr val="00B050"/>
                </a:solidFill>
                <a:latin typeface="+mn-lt"/>
                <a:ea typeface="SimHei" panose="02010609060101010101" pitchFamily="49" charset="-122"/>
              </a:rPr>
              <a:t>i=0;</a:t>
            </a:r>
            <a:r>
              <a:rPr lang="zh-CN" altLang="en-US" sz="2200" dirty="0">
                <a:solidFill>
                  <a:srgbClr val="00B050"/>
                </a:solidFill>
                <a:latin typeface="+mn-lt"/>
                <a:ea typeface="SimHei" panose="02010609060101010101" pitchFamily="49" charset="-122"/>
              </a:rPr>
              <a:t> </a:t>
            </a:r>
            <a:r>
              <a:rPr lang="en-US" altLang="zh-CN" sz="2200" dirty="0" err="1">
                <a:solidFill>
                  <a:srgbClr val="00B050"/>
                </a:solidFill>
                <a:latin typeface="+mn-lt"/>
                <a:ea typeface="SimHei" panose="02010609060101010101" pitchFamily="49" charset="-122"/>
              </a:rPr>
              <a:t>i</a:t>
            </a:r>
            <a:r>
              <a:rPr lang="en-US" altLang="zh-CN" sz="2200" dirty="0">
                <a:solidFill>
                  <a:srgbClr val="00B050"/>
                </a:solidFill>
                <a:latin typeface="+mn-lt"/>
                <a:ea typeface="SimHei" panose="02010609060101010101" pitchFamily="49" charset="-122"/>
              </a:rPr>
              <a:t>&lt;</a:t>
            </a:r>
            <a:r>
              <a:rPr lang="en-US" altLang="zh-CN" sz="2200" dirty="0">
                <a:solidFill>
                  <a:srgbClr val="7030A0"/>
                </a:solidFill>
                <a:latin typeface="+mn-lt"/>
                <a:ea typeface="SimHei" panose="02010609060101010101" pitchFamily="49" charset="-122"/>
              </a:rPr>
              <a:t>1000/4</a:t>
            </a:r>
            <a:r>
              <a:rPr lang="en-US" altLang="zh-CN" sz="2200" dirty="0">
                <a:solidFill>
                  <a:srgbClr val="00B050"/>
                </a:solidFill>
                <a:latin typeface="+mn-lt"/>
                <a:ea typeface="SimHei" panose="02010609060101010101" pitchFamily="49" charset="-122"/>
              </a:rPr>
              <a:t>;</a:t>
            </a:r>
            <a:r>
              <a:rPr lang="zh-CN" altLang="en-US" sz="2200" dirty="0">
                <a:solidFill>
                  <a:srgbClr val="00B050"/>
                </a:solidFill>
                <a:latin typeface="+mn-lt"/>
                <a:ea typeface="SimHei" panose="02010609060101010101" pitchFamily="49" charset="-122"/>
              </a:rPr>
              <a:t> </a:t>
            </a:r>
            <a:r>
              <a:rPr lang="en-US" altLang="zh-CN" sz="2200" dirty="0">
                <a:solidFill>
                  <a:srgbClr val="00B050"/>
                </a:solidFill>
                <a:latin typeface="+mn-lt"/>
                <a:ea typeface="SimHei" panose="02010609060101010101" pitchFamily="49" charset="-122"/>
              </a:rPr>
              <a:t>i++)</a:t>
            </a:r>
          </a:p>
          <a:p>
            <a:r>
              <a:rPr lang="zh-CN" altLang="zh-CN" sz="2200" dirty="0">
                <a:latin typeface="+mn-lt"/>
                <a:ea typeface="SimHei" panose="02010609060101010101" pitchFamily="49" charset="-122"/>
              </a:rPr>
              <a:t> </a:t>
            </a:r>
            <a:r>
              <a:rPr lang="zh-CN" altLang="en-US" sz="2200" dirty="0">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sum</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sum</a:t>
            </a:r>
            <a:r>
              <a:rPr lang="zh-CN" altLang="en-US" sz="2200" dirty="0">
                <a:solidFill>
                  <a:srgbClr val="0432FF"/>
                </a:solidFill>
                <a:latin typeface="+mn-lt"/>
                <a:ea typeface="SimHei" panose="02010609060101010101" pitchFamily="49" charset="-122"/>
              </a:rPr>
              <a:t> </a:t>
            </a:r>
            <a:r>
              <a:rPr lang="en-US" altLang="zh-CN" sz="2200" dirty="0">
                <a:latin typeface="+mn-lt"/>
                <a:ea typeface="SimHei" panose="02010609060101010101" pitchFamily="49" charset="-122"/>
              </a:rPr>
              <a:t>+</a:t>
            </a:r>
            <a:r>
              <a:rPr lang="zh-CN" altLang="en-US" sz="2200" dirty="0">
                <a:latin typeface="+mn-lt"/>
                <a:ea typeface="SimHei" panose="02010609060101010101" pitchFamily="49" charset="-122"/>
              </a:rPr>
              <a:t> </a:t>
            </a:r>
            <a:r>
              <a:rPr lang="en-US" altLang="zh-CN" sz="2200" dirty="0">
                <a:solidFill>
                  <a:srgbClr val="C00000"/>
                </a:solidFill>
                <a:latin typeface="+mn-lt"/>
                <a:ea typeface="SimHei" panose="02010609060101010101" pitchFamily="49" charset="-122"/>
              </a:rPr>
              <a:t>a[i];</a:t>
            </a:r>
          </a:p>
        </p:txBody>
      </p:sp>
      <p:cxnSp>
        <p:nvCxnSpPr>
          <p:cNvPr id="28" name="直线连接符 6">
            <a:extLst>
              <a:ext uri="{FF2B5EF4-FFF2-40B4-BE49-F238E27FC236}">
                <a16:creationId xmlns:a16="http://schemas.microsoft.com/office/drawing/2014/main" id="{054A697B-6B9C-1E90-45AE-7562FEB41C53}"/>
              </a:ext>
            </a:extLst>
          </p:cNvPr>
          <p:cNvCxnSpPr/>
          <p:nvPr/>
        </p:nvCxnSpPr>
        <p:spPr bwMode="auto">
          <a:xfrm>
            <a:off x="4685566" y="2230940"/>
            <a:ext cx="0" cy="144019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5652043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75</a:t>
            </a:fld>
            <a:endParaRPr lang="en-US" altLang="zh-CN"/>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199" y="1551432"/>
            <a:ext cx="8340429" cy="476251"/>
          </a:xfrm>
        </p:spPr>
        <p:txBody>
          <a:bodyPr/>
          <a:lstStyle/>
          <a:p>
            <a:pPr marL="514350" indent="-457200">
              <a:spcBef>
                <a:spcPts val="1000"/>
              </a:spcBef>
            </a:pPr>
            <a:r>
              <a:rPr kumimoji="1" lang="zh-CN" altLang="en-US" sz="2000" dirty="0"/>
              <a:t>如下代码和对应指令，</a:t>
            </a:r>
            <a:r>
              <a:rPr kumimoji="1" lang="en-US" altLang="zh-CN" sz="2000" dirty="0"/>
              <a:t>$1</a:t>
            </a:r>
            <a:r>
              <a:rPr kumimoji="1" lang="zh-CN" altLang="en-US" sz="2000" dirty="0"/>
              <a:t>和</a:t>
            </a:r>
            <a:r>
              <a:rPr kumimoji="1" lang="en-US" altLang="zh-CN" sz="2000" dirty="0"/>
              <a:t>$4</a:t>
            </a:r>
            <a:r>
              <a:rPr kumimoji="1" lang="zh-CN" altLang="en-US" sz="2000" dirty="0"/>
              <a:t>初始值均为</a:t>
            </a:r>
            <a:r>
              <a:rPr kumimoji="1" lang="en-US" altLang="zh-CN" sz="2000" dirty="0"/>
              <a:t>0</a:t>
            </a:r>
            <a:r>
              <a:rPr kumimoji="1" lang="zh-CN" altLang="en-US" sz="2000" dirty="0"/>
              <a:t>，假定指令地址从</a:t>
            </a:r>
            <a:r>
              <a:rPr kumimoji="1" lang="en-US" altLang="zh-CN" sz="2000" dirty="0"/>
              <a:t>0</a:t>
            </a:r>
            <a:r>
              <a:rPr kumimoji="1" lang="zh-CN" altLang="en-US" sz="2000" dirty="0"/>
              <a:t>开始</a:t>
            </a:r>
            <a:endParaRPr kumimoji="1" lang="en-US" altLang="zh-CN" sz="2000" dirty="0"/>
          </a:p>
        </p:txBody>
      </p:sp>
      <p:sp>
        <p:nvSpPr>
          <p:cNvPr id="8" name="内容占位符 2">
            <a:extLst>
              <a:ext uri="{FF2B5EF4-FFF2-40B4-BE49-F238E27FC236}">
                <a16:creationId xmlns:a16="http://schemas.microsoft.com/office/drawing/2014/main" id="{0FF3231E-6BD5-9549-A546-289D64536DE7}"/>
              </a:ext>
            </a:extLst>
          </p:cNvPr>
          <p:cNvSpPr txBox="1">
            <a:spLocks/>
          </p:cNvSpPr>
          <p:nvPr/>
        </p:nvSpPr>
        <p:spPr bwMode="auto">
          <a:xfrm>
            <a:off x="457200" y="3673315"/>
            <a:ext cx="8229600" cy="24365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b="1">
                <a:solidFill>
                  <a:schemeClr val="tx1"/>
                </a:solidFill>
                <a:latin typeface="+mn-lt"/>
                <a:ea typeface="+mn-ea"/>
              </a:defRPr>
            </a:lvl2pPr>
            <a:lvl3pPr marL="1143000" indent="-228600" algn="l" rtl="0" fontAlgn="base">
              <a:spcBef>
                <a:spcPct val="20000"/>
              </a:spcBef>
              <a:spcAft>
                <a:spcPct val="0"/>
              </a:spcAft>
              <a:buChar char="•"/>
              <a:defRPr sz="2400" b="1">
                <a:solidFill>
                  <a:schemeClr val="tx1"/>
                </a:solidFill>
                <a:latin typeface="+mn-lt"/>
                <a:ea typeface="+mn-ea"/>
              </a:defRPr>
            </a:lvl3pPr>
            <a:lvl4pPr marL="1600200" indent="-228600" algn="l" rtl="0" fontAlgn="base">
              <a:spcBef>
                <a:spcPct val="20000"/>
              </a:spcBef>
              <a:spcAft>
                <a:spcPct val="0"/>
              </a:spcAft>
              <a:buChar char="–"/>
              <a:defRPr sz="2000" b="1">
                <a:solidFill>
                  <a:schemeClr val="tx1"/>
                </a:solidFill>
                <a:latin typeface="+mn-lt"/>
                <a:ea typeface="+mn-ea"/>
              </a:defRPr>
            </a:lvl4pPr>
            <a:lvl5pPr marL="2057400" indent="-228600" algn="l" rtl="0" fontAlgn="base">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a:lstStyle>
          <a:p>
            <a:pPr>
              <a:buClr>
                <a:schemeClr val="tx1"/>
              </a:buClr>
            </a:pPr>
            <a:r>
              <a:rPr lang="en-US" altLang="zh-CN" sz="2800" dirty="0">
                <a:solidFill>
                  <a:srgbClr val="0432FF"/>
                </a:solidFill>
              </a:rPr>
              <a:t>Step1</a:t>
            </a:r>
            <a:r>
              <a:rPr lang="zh-CN" altLang="en-US" sz="2800" dirty="0">
                <a:solidFill>
                  <a:srgbClr val="0432FF"/>
                </a:solidFill>
              </a:rPr>
              <a:t>：确定数据和指令的</a:t>
            </a:r>
            <a:r>
              <a:rPr lang="en-US" altLang="zh-CN" sz="2800" dirty="0">
                <a:solidFill>
                  <a:srgbClr val="0432FF"/>
                </a:solidFill>
              </a:rPr>
              <a:t>“</a:t>
            </a:r>
            <a:r>
              <a:rPr lang="zh-CN" altLang="en-US" sz="2800" dirty="0">
                <a:solidFill>
                  <a:srgbClr val="0432FF"/>
                </a:solidFill>
              </a:rPr>
              <a:t>轨迹</a:t>
            </a:r>
            <a:r>
              <a:rPr lang="en-US" altLang="zh-CN" sz="2800" dirty="0">
                <a:solidFill>
                  <a:srgbClr val="0432FF"/>
                </a:solidFill>
              </a:rPr>
              <a:t>”</a:t>
            </a:r>
          </a:p>
          <a:p>
            <a:pPr>
              <a:buClr>
                <a:schemeClr val="tx1"/>
              </a:buClr>
              <a:buFont typeface="Arial" panose="020B0604020202020204" pitchFamily="34" charset="0"/>
              <a:buChar char="•"/>
            </a:pPr>
            <a:r>
              <a:rPr lang="zh-CN" altLang="en-US" sz="2400" dirty="0"/>
              <a:t>指令地址序列</a:t>
            </a:r>
            <a:r>
              <a:rPr lang="en-US" altLang="zh-CN" sz="2400" dirty="0"/>
              <a:t>(</a:t>
            </a:r>
            <a:r>
              <a:rPr lang="zh-CN" altLang="en-US" sz="2400" kern="0" dirty="0">
                <a:solidFill>
                  <a:srgbClr val="0432FF"/>
                </a:solidFill>
                <a:latin typeface="+mn-ea"/>
              </a:rPr>
              <a:t>考虑流水线结构导致的</a:t>
            </a:r>
            <a:r>
              <a:rPr lang="en-US" altLang="zh-CN" sz="2400" kern="0" dirty="0">
                <a:solidFill>
                  <a:srgbClr val="0432FF"/>
                </a:solidFill>
                <a:latin typeface="+mn-ea"/>
              </a:rPr>
              <a:t>stall</a:t>
            </a:r>
            <a:r>
              <a:rPr lang="en-US" altLang="zh-CN" sz="2400" dirty="0"/>
              <a:t>)</a:t>
            </a:r>
            <a:r>
              <a:rPr lang="zh-CN" altLang="en-US" sz="2400" dirty="0"/>
              <a:t>：</a:t>
            </a:r>
          </a:p>
          <a:p>
            <a:pPr lvl="1">
              <a:buClr>
                <a:schemeClr val="tx1"/>
              </a:buClr>
              <a:buFont typeface="Wingdings" pitchFamily="2" charset="2"/>
              <a:buChar char="Ø"/>
            </a:pPr>
            <a:r>
              <a:rPr lang="en-US" altLang="zh-CN" sz="2000" dirty="0"/>
              <a:t>0,4,8,12,</a:t>
            </a:r>
            <a:r>
              <a:rPr lang="en-US" altLang="zh-CN" sz="2000" dirty="0">
                <a:solidFill>
                  <a:srgbClr val="0432FF"/>
                </a:solidFill>
              </a:rPr>
              <a:t>16</a:t>
            </a:r>
            <a:r>
              <a:rPr lang="en-US" altLang="zh-CN" sz="2000" dirty="0"/>
              <a:t>, 0,4,8,12,</a:t>
            </a:r>
            <a:r>
              <a:rPr lang="en-US" altLang="zh-CN" sz="2000" dirty="0">
                <a:solidFill>
                  <a:srgbClr val="0432FF"/>
                </a:solidFill>
              </a:rPr>
              <a:t>16</a:t>
            </a:r>
            <a:r>
              <a:rPr lang="en-US" altLang="zh-CN" sz="2000" dirty="0"/>
              <a:t>,</a:t>
            </a:r>
            <a:r>
              <a:rPr lang="zh-CN" altLang="en-US" sz="2000" dirty="0"/>
              <a:t> </a:t>
            </a:r>
            <a:r>
              <a:rPr lang="en-US" altLang="zh-CN" sz="2000" dirty="0"/>
              <a:t>…,</a:t>
            </a:r>
            <a:r>
              <a:rPr lang="zh-CN" altLang="en-US" sz="2000" dirty="0"/>
              <a:t> </a:t>
            </a:r>
            <a:r>
              <a:rPr lang="en-US" altLang="zh-CN" sz="2000" dirty="0"/>
              <a:t>0,4,8,12,</a:t>
            </a:r>
            <a:r>
              <a:rPr lang="en-US" altLang="zh-CN" sz="2000" dirty="0">
                <a:solidFill>
                  <a:srgbClr val="0432FF"/>
                </a:solidFill>
              </a:rPr>
              <a:t>16</a:t>
            </a:r>
            <a:r>
              <a:rPr lang="zh-CN" altLang="en-US" sz="2000" dirty="0">
                <a:solidFill>
                  <a:srgbClr val="0432FF"/>
                </a:solidFill>
              </a:rPr>
              <a:t> （十进制数）</a:t>
            </a:r>
            <a:endParaRPr lang="en-US" altLang="zh-CN" sz="2000" dirty="0">
              <a:solidFill>
                <a:srgbClr val="0432FF"/>
              </a:solidFill>
            </a:endParaRPr>
          </a:p>
          <a:p>
            <a:pPr>
              <a:buClr>
                <a:schemeClr val="tx1"/>
              </a:buClr>
              <a:buFont typeface="Arial" panose="020B0604020202020204" pitchFamily="34" charset="0"/>
              <a:buChar char="•"/>
            </a:pPr>
            <a:r>
              <a:rPr lang="zh-CN" altLang="en-US" sz="2400" dirty="0"/>
              <a:t>数据地址序列：</a:t>
            </a:r>
          </a:p>
          <a:p>
            <a:pPr lvl="1">
              <a:buClr>
                <a:schemeClr val="tx1"/>
              </a:buClr>
              <a:buFont typeface="Wingdings" pitchFamily="2" charset="2"/>
              <a:buChar char="Ø"/>
            </a:pPr>
            <a:r>
              <a:rPr lang="en-US" altLang="zh-CN" sz="2000" dirty="0"/>
              <a:t>1000,1000+4,1000+8,…,1000+(1000-4)</a:t>
            </a:r>
          </a:p>
          <a:p>
            <a:pPr lvl="1">
              <a:buClr>
                <a:schemeClr val="tx1"/>
              </a:buClr>
              <a:buFont typeface="Wingdings" pitchFamily="2" charset="2"/>
              <a:buChar char="Ø"/>
            </a:pPr>
            <a:r>
              <a:rPr lang="en-US" altLang="zh-CN" sz="2000" dirty="0"/>
              <a:t>1000,1004,1008,…,1996</a:t>
            </a:r>
          </a:p>
        </p:txBody>
      </p:sp>
      <p:sp>
        <p:nvSpPr>
          <p:cNvPr id="9" name="Text Box 4">
            <a:extLst>
              <a:ext uri="{FF2B5EF4-FFF2-40B4-BE49-F238E27FC236}">
                <a16:creationId xmlns:a16="http://schemas.microsoft.com/office/drawing/2014/main" id="{B61984CA-C93C-6CF5-7858-8188D96B5D1E}"/>
              </a:ext>
            </a:extLst>
          </p:cNvPr>
          <p:cNvSpPr txBox="1">
            <a:spLocks noChangeArrowheads="1"/>
          </p:cNvSpPr>
          <p:nvPr/>
        </p:nvSpPr>
        <p:spPr bwMode="auto">
          <a:xfrm>
            <a:off x="758539" y="2139499"/>
            <a:ext cx="3896582" cy="14568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hlink"/>
                </a:solidFill>
                <a:miter lim="800000"/>
                <a:headEnd/>
                <a:tailEnd type="none" w="lg" len="lg"/>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1644" tIns="50823" rIns="101644" bIns="50823">
            <a:spAutoFit/>
          </a:bodyPr>
          <a:lstStyle>
            <a:lvl1pPr defTabSz="1009650" eaLnBrk="0" hangingPunct="0">
              <a:defRPr>
                <a:solidFill>
                  <a:schemeClr val="tx1"/>
                </a:solidFill>
                <a:latin typeface="Tahoma" pitchFamily="34" charset="0"/>
                <a:ea typeface="宋体" charset="-122"/>
              </a:defRPr>
            </a:lvl1pPr>
            <a:lvl2pPr marL="742950" indent="-285750" defTabSz="1009650" eaLnBrk="0" hangingPunct="0">
              <a:defRPr>
                <a:solidFill>
                  <a:schemeClr val="tx1"/>
                </a:solidFill>
                <a:latin typeface="Tahoma" pitchFamily="34" charset="0"/>
                <a:ea typeface="宋体" charset="-122"/>
              </a:defRPr>
            </a:lvl2pPr>
            <a:lvl3pPr marL="1143000" indent="-228600" defTabSz="1009650" eaLnBrk="0" hangingPunct="0">
              <a:defRPr>
                <a:solidFill>
                  <a:schemeClr val="tx1"/>
                </a:solidFill>
                <a:latin typeface="Tahoma" pitchFamily="34" charset="0"/>
                <a:ea typeface="宋体" charset="-122"/>
              </a:defRPr>
            </a:lvl3pPr>
            <a:lvl4pPr marL="1600200" indent="-228600" defTabSz="1009650" eaLnBrk="0" hangingPunct="0">
              <a:defRPr>
                <a:solidFill>
                  <a:schemeClr val="tx1"/>
                </a:solidFill>
                <a:latin typeface="Tahoma" pitchFamily="34" charset="0"/>
                <a:ea typeface="宋体" charset="-122"/>
              </a:defRPr>
            </a:lvl4pPr>
            <a:lvl5pPr marL="2057400" indent="-228600" defTabSz="1009650" eaLnBrk="0" hangingPunct="0">
              <a:defRPr>
                <a:solidFill>
                  <a:schemeClr val="tx1"/>
                </a:solidFill>
                <a:latin typeface="Tahoma" pitchFamily="34" charset="0"/>
                <a:ea typeface="宋体" charset="-122"/>
              </a:defRPr>
            </a:lvl5pPr>
            <a:lvl6pPr marL="2514600" indent="-228600" defTabSz="1009650" eaLnBrk="0" fontAlgn="base" hangingPunct="0">
              <a:spcBef>
                <a:spcPct val="0"/>
              </a:spcBef>
              <a:spcAft>
                <a:spcPct val="0"/>
              </a:spcAft>
              <a:defRPr>
                <a:solidFill>
                  <a:schemeClr val="tx1"/>
                </a:solidFill>
                <a:latin typeface="Tahoma" pitchFamily="34" charset="0"/>
                <a:ea typeface="宋体" charset="-122"/>
              </a:defRPr>
            </a:lvl6pPr>
            <a:lvl7pPr marL="2971800" indent="-228600" defTabSz="1009650" eaLnBrk="0" fontAlgn="base" hangingPunct="0">
              <a:spcBef>
                <a:spcPct val="0"/>
              </a:spcBef>
              <a:spcAft>
                <a:spcPct val="0"/>
              </a:spcAft>
              <a:defRPr>
                <a:solidFill>
                  <a:schemeClr val="tx1"/>
                </a:solidFill>
                <a:latin typeface="Tahoma" pitchFamily="34" charset="0"/>
                <a:ea typeface="宋体" charset="-122"/>
              </a:defRPr>
            </a:lvl7pPr>
            <a:lvl8pPr marL="3429000" indent="-228600" defTabSz="1009650" eaLnBrk="0" fontAlgn="base" hangingPunct="0">
              <a:spcBef>
                <a:spcPct val="0"/>
              </a:spcBef>
              <a:spcAft>
                <a:spcPct val="0"/>
              </a:spcAft>
              <a:defRPr>
                <a:solidFill>
                  <a:schemeClr val="tx1"/>
                </a:solidFill>
                <a:latin typeface="Tahoma" pitchFamily="34" charset="0"/>
                <a:ea typeface="宋体" charset="-122"/>
              </a:defRPr>
            </a:lvl8pPr>
            <a:lvl9pPr marL="3886200" indent="-228600" defTabSz="1009650" eaLnBrk="0" fontAlgn="base" hangingPunct="0">
              <a:spcBef>
                <a:spcPct val="0"/>
              </a:spcBef>
              <a:spcAft>
                <a:spcPct val="0"/>
              </a:spcAft>
              <a:defRPr>
                <a:solidFill>
                  <a:schemeClr val="tx1"/>
                </a:solidFill>
                <a:latin typeface="Tahoma" pitchFamily="34" charset="0"/>
                <a:ea typeface="宋体" charset="-122"/>
              </a:defRPr>
            </a:lvl9pPr>
          </a:lstStyle>
          <a:p>
            <a:r>
              <a:rPr lang="en-US" altLang="zh-CN" sz="2200" dirty="0">
                <a:latin typeface="+mn-lt"/>
                <a:ea typeface="SimHei" panose="02010609060101010101" pitchFamily="49" charset="-122"/>
              </a:rPr>
              <a:t>loop:	lw    </a:t>
            </a:r>
            <a:r>
              <a:rPr lang="en-US" altLang="zh-CN" sz="2200" dirty="0">
                <a:solidFill>
                  <a:srgbClr val="C00000"/>
                </a:solidFill>
                <a:latin typeface="+mn-lt"/>
                <a:ea typeface="SimHei" panose="02010609060101010101" pitchFamily="49" charset="-122"/>
              </a:rPr>
              <a:t>$2, </a:t>
            </a:r>
            <a:r>
              <a:rPr lang="en-US" altLang="zh-CN" sz="2200" dirty="0">
                <a:latin typeface="+mn-lt"/>
                <a:ea typeface="SimHei" panose="02010609060101010101" pitchFamily="49" charset="-122"/>
              </a:rPr>
              <a:t>1000</a:t>
            </a:r>
            <a:r>
              <a:rPr lang="en-US" altLang="zh-CN" sz="2200" dirty="0">
                <a:solidFill>
                  <a:srgbClr val="00B050"/>
                </a:solidFill>
                <a:latin typeface="+mn-lt"/>
                <a:ea typeface="SimHei" panose="02010609060101010101" pitchFamily="49" charset="-122"/>
              </a:rPr>
              <a:t>($1)</a:t>
            </a:r>
          </a:p>
          <a:p>
            <a:r>
              <a:rPr lang="en-US" altLang="zh-CN" sz="2200" dirty="0">
                <a:latin typeface="+mn-lt"/>
                <a:ea typeface="SimHei" panose="02010609060101010101" pitchFamily="49" charset="-122"/>
              </a:rPr>
              <a:t>	</a:t>
            </a:r>
            <a:r>
              <a:rPr lang="en-US" altLang="zh-CN" sz="2200" dirty="0" err="1">
                <a:latin typeface="+mn-lt"/>
                <a:ea typeface="SimHei" panose="02010609060101010101" pitchFamily="49" charset="-122"/>
              </a:rPr>
              <a:t>addi</a:t>
            </a:r>
            <a:r>
              <a:rPr lang="en-US" altLang="zh-CN" sz="2200" dirty="0">
                <a:latin typeface="+mn-lt"/>
                <a:ea typeface="SimHei" panose="02010609060101010101" pitchFamily="49" charset="-122"/>
              </a:rPr>
              <a:t> </a:t>
            </a:r>
            <a:r>
              <a:rPr lang="en-US" altLang="zh-CN" sz="2200" dirty="0">
                <a:solidFill>
                  <a:srgbClr val="00B050"/>
                </a:solidFill>
                <a:latin typeface="+mn-lt"/>
                <a:ea typeface="SimHei" panose="02010609060101010101" pitchFamily="49" charset="-122"/>
              </a:rPr>
              <a:t>$1, $1, </a:t>
            </a:r>
            <a:r>
              <a:rPr lang="en-US" altLang="zh-CN" sz="2200" dirty="0">
                <a:solidFill>
                  <a:srgbClr val="7030A0"/>
                </a:solidFill>
                <a:latin typeface="+mn-lt"/>
                <a:ea typeface="SimHei" panose="02010609060101010101" pitchFamily="49" charset="-122"/>
              </a:rPr>
              <a:t>4</a:t>
            </a:r>
          </a:p>
          <a:p>
            <a:r>
              <a:rPr lang="en-US" altLang="zh-CN" sz="2200" dirty="0">
                <a:latin typeface="+mn-lt"/>
                <a:ea typeface="SimHei" panose="02010609060101010101" pitchFamily="49" charset="-122"/>
              </a:rPr>
              <a:t>	add  </a:t>
            </a:r>
            <a:r>
              <a:rPr lang="en-US" altLang="zh-CN" sz="2200" dirty="0">
                <a:solidFill>
                  <a:srgbClr val="0432FF"/>
                </a:solidFill>
                <a:latin typeface="+mn-lt"/>
                <a:ea typeface="SimHei" panose="02010609060101010101" pitchFamily="49" charset="-122"/>
              </a:rPr>
              <a:t>$4</a:t>
            </a:r>
            <a:r>
              <a:rPr lang="en-US" altLang="zh-CN" sz="2200" dirty="0">
                <a:latin typeface="+mn-lt"/>
                <a:ea typeface="SimHei" panose="02010609060101010101" pitchFamily="49" charset="-122"/>
              </a:rPr>
              <a:t>, $2, </a:t>
            </a:r>
            <a:r>
              <a:rPr lang="en-US" altLang="zh-CN" sz="2200" dirty="0">
                <a:solidFill>
                  <a:srgbClr val="0432FF"/>
                </a:solidFill>
                <a:latin typeface="+mn-lt"/>
                <a:ea typeface="SimHei" panose="02010609060101010101" pitchFamily="49" charset="-122"/>
              </a:rPr>
              <a:t>$4</a:t>
            </a:r>
          </a:p>
          <a:p>
            <a:r>
              <a:rPr lang="en-US" altLang="zh-CN" sz="2200" dirty="0">
                <a:latin typeface="+mn-lt"/>
                <a:ea typeface="SimHei" panose="02010609060101010101" pitchFamily="49" charset="-122"/>
              </a:rPr>
              <a:t>	bne  </a:t>
            </a:r>
            <a:r>
              <a:rPr lang="en-US" altLang="zh-CN" sz="2200" dirty="0">
                <a:solidFill>
                  <a:srgbClr val="00B050"/>
                </a:solidFill>
                <a:latin typeface="+mn-lt"/>
                <a:ea typeface="SimHei" panose="02010609060101010101" pitchFamily="49" charset="-122"/>
              </a:rPr>
              <a:t>$1</a:t>
            </a:r>
            <a:r>
              <a:rPr lang="en-US" altLang="zh-CN" sz="2200" dirty="0">
                <a:latin typeface="+mn-lt"/>
                <a:ea typeface="SimHei" panose="02010609060101010101" pitchFamily="49" charset="-122"/>
              </a:rPr>
              <a:t>, </a:t>
            </a:r>
            <a:r>
              <a:rPr lang="en-US" altLang="zh-CN" sz="2200" dirty="0">
                <a:solidFill>
                  <a:srgbClr val="7030A0"/>
                </a:solidFill>
                <a:latin typeface="+mn-lt"/>
                <a:ea typeface="SimHei" panose="02010609060101010101" pitchFamily="49" charset="-122"/>
              </a:rPr>
              <a:t>1000</a:t>
            </a:r>
            <a:r>
              <a:rPr lang="en-US" altLang="zh-CN" sz="2200" dirty="0">
                <a:latin typeface="+mn-lt"/>
                <a:ea typeface="SimHei" panose="02010609060101010101" pitchFamily="49" charset="-122"/>
              </a:rPr>
              <a:t>, loop</a:t>
            </a:r>
            <a:r>
              <a:rPr lang="zh-CN" altLang="en-US" sz="2200" dirty="0">
                <a:latin typeface="+mn-lt"/>
                <a:ea typeface="SimHei" panose="02010609060101010101" pitchFamily="49" charset="-122"/>
              </a:rPr>
              <a:t> </a:t>
            </a:r>
            <a:endParaRPr lang="en-US" altLang="zh-CN" sz="2200" dirty="0">
              <a:latin typeface="+mn-lt"/>
              <a:ea typeface="SimHei" panose="02010609060101010101" pitchFamily="49" charset="-122"/>
            </a:endParaRPr>
          </a:p>
        </p:txBody>
      </p:sp>
      <p:sp>
        <p:nvSpPr>
          <p:cNvPr id="10" name="矩形 9">
            <a:extLst>
              <a:ext uri="{FF2B5EF4-FFF2-40B4-BE49-F238E27FC236}">
                <a16:creationId xmlns:a16="http://schemas.microsoft.com/office/drawing/2014/main" id="{A1DEFA35-39C3-CAF1-A736-9F5800EB72C8}"/>
              </a:ext>
            </a:extLst>
          </p:cNvPr>
          <p:cNvSpPr/>
          <p:nvPr/>
        </p:nvSpPr>
        <p:spPr>
          <a:xfrm>
            <a:off x="4810717" y="2139499"/>
            <a:ext cx="3792949" cy="1107996"/>
          </a:xfrm>
          <a:prstGeom prst="rect">
            <a:avLst/>
          </a:prstGeom>
        </p:spPr>
        <p:txBody>
          <a:bodyPr wrap="square">
            <a:spAutoFit/>
          </a:bodyPr>
          <a:lstStyle/>
          <a:p>
            <a:r>
              <a:rPr lang="en-US" altLang="zh-CN" sz="2200" dirty="0">
                <a:latin typeface="+mn-lt"/>
                <a:ea typeface="SimHei" panose="02010609060101010101" pitchFamily="49" charset="-122"/>
              </a:rPr>
              <a:t>int</a:t>
            </a:r>
            <a:r>
              <a:rPr lang="zh-CN" altLang="en-US" sz="2200" dirty="0">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sum</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0;</a:t>
            </a:r>
          </a:p>
          <a:p>
            <a:r>
              <a:rPr lang="en-US" altLang="zh-CN" sz="2200" dirty="0">
                <a:latin typeface="+mn-lt"/>
                <a:ea typeface="SimHei" panose="02010609060101010101" pitchFamily="49" charset="-122"/>
              </a:rPr>
              <a:t>for(</a:t>
            </a:r>
            <a:r>
              <a:rPr lang="en-US" altLang="zh-CN" sz="2200" dirty="0">
                <a:solidFill>
                  <a:srgbClr val="00B050"/>
                </a:solidFill>
                <a:latin typeface="+mn-lt"/>
                <a:ea typeface="SimHei" panose="02010609060101010101" pitchFamily="49" charset="-122"/>
              </a:rPr>
              <a:t>int</a:t>
            </a:r>
            <a:r>
              <a:rPr lang="zh-CN" altLang="en-US" sz="2200" dirty="0">
                <a:solidFill>
                  <a:srgbClr val="00B050"/>
                </a:solidFill>
                <a:latin typeface="+mn-lt"/>
                <a:ea typeface="SimHei" panose="02010609060101010101" pitchFamily="49" charset="-122"/>
              </a:rPr>
              <a:t> </a:t>
            </a:r>
            <a:r>
              <a:rPr lang="en-US" altLang="zh-CN" sz="2200" dirty="0">
                <a:solidFill>
                  <a:srgbClr val="00B050"/>
                </a:solidFill>
                <a:latin typeface="+mn-lt"/>
                <a:ea typeface="SimHei" panose="02010609060101010101" pitchFamily="49" charset="-122"/>
              </a:rPr>
              <a:t>i=0;</a:t>
            </a:r>
            <a:r>
              <a:rPr lang="zh-CN" altLang="en-US" sz="2200" dirty="0">
                <a:solidFill>
                  <a:srgbClr val="00B050"/>
                </a:solidFill>
                <a:latin typeface="+mn-lt"/>
                <a:ea typeface="SimHei" panose="02010609060101010101" pitchFamily="49" charset="-122"/>
              </a:rPr>
              <a:t> </a:t>
            </a:r>
            <a:r>
              <a:rPr lang="en-US" altLang="zh-CN" sz="2200" dirty="0" err="1">
                <a:solidFill>
                  <a:srgbClr val="00B050"/>
                </a:solidFill>
                <a:latin typeface="+mn-lt"/>
                <a:ea typeface="SimHei" panose="02010609060101010101" pitchFamily="49" charset="-122"/>
              </a:rPr>
              <a:t>i</a:t>
            </a:r>
            <a:r>
              <a:rPr lang="en-US" altLang="zh-CN" sz="2200" dirty="0">
                <a:solidFill>
                  <a:srgbClr val="00B050"/>
                </a:solidFill>
                <a:latin typeface="+mn-lt"/>
                <a:ea typeface="SimHei" panose="02010609060101010101" pitchFamily="49" charset="-122"/>
              </a:rPr>
              <a:t>&lt;</a:t>
            </a:r>
            <a:r>
              <a:rPr lang="en-US" altLang="zh-CN" sz="2200" dirty="0">
                <a:solidFill>
                  <a:srgbClr val="7030A0"/>
                </a:solidFill>
                <a:latin typeface="+mn-lt"/>
                <a:ea typeface="SimHei" panose="02010609060101010101" pitchFamily="49" charset="-122"/>
              </a:rPr>
              <a:t>1000/4</a:t>
            </a:r>
            <a:r>
              <a:rPr lang="en-US" altLang="zh-CN" sz="2200" dirty="0">
                <a:solidFill>
                  <a:srgbClr val="00B050"/>
                </a:solidFill>
                <a:latin typeface="+mn-lt"/>
                <a:ea typeface="SimHei" panose="02010609060101010101" pitchFamily="49" charset="-122"/>
              </a:rPr>
              <a:t>;</a:t>
            </a:r>
            <a:r>
              <a:rPr lang="zh-CN" altLang="en-US" sz="2200" dirty="0">
                <a:solidFill>
                  <a:srgbClr val="00B050"/>
                </a:solidFill>
                <a:latin typeface="+mn-lt"/>
                <a:ea typeface="SimHei" panose="02010609060101010101" pitchFamily="49" charset="-122"/>
              </a:rPr>
              <a:t> </a:t>
            </a:r>
            <a:r>
              <a:rPr lang="en-US" altLang="zh-CN" sz="2200" dirty="0">
                <a:solidFill>
                  <a:srgbClr val="00B050"/>
                </a:solidFill>
                <a:latin typeface="+mn-lt"/>
                <a:ea typeface="SimHei" panose="02010609060101010101" pitchFamily="49" charset="-122"/>
              </a:rPr>
              <a:t>i++)</a:t>
            </a:r>
          </a:p>
          <a:p>
            <a:r>
              <a:rPr lang="zh-CN" altLang="zh-CN" sz="2200" dirty="0">
                <a:latin typeface="+mn-lt"/>
                <a:ea typeface="SimHei" panose="02010609060101010101" pitchFamily="49" charset="-122"/>
              </a:rPr>
              <a:t> </a:t>
            </a:r>
            <a:r>
              <a:rPr lang="zh-CN" altLang="en-US" sz="2200" dirty="0">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sum</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a:t>
            </a:r>
            <a:r>
              <a:rPr lang="zh-CN" altLang="en-US" sz="2200" dirty="0">
                <a:solidFill>
                  <a:srgbClr val="0432FF"/>
                </a:solidFill>
                <a:latin typeface="+mn-lt"/>
                <a:ea typeface="SimHei" panose="02010609060101010101" pitchFamily="49" charset="-122"/>
              </a:rPr>
              <a:t> </a:t>
            </a:r>
            <a:r>
              <a:rPr lang="en-US" altLang="zh-CN" sz="2200" dirty="0">
                <a:solidFill>
                  <a:srgbClr val="0432FF"/>
                </a:solidFill>
                <a:latin typeface="+mn-lt"/>
                <a:ea typeface="SimHei" panose="02010609060101010101" pitchFamily="49" charset="-122"/>
              </a:rPr>
              <a:t>sum</a:t>
            </a:r>
            <a:r>
              <a:rPr lang="zh-CN" altLang="en-US" sz="2200" dirty="0">
                <a:solidFill>
                  <a:srgbClr val="0432FF"/>
                </a:solidFill>
                <a:latin typeface="+mn-lt"/>
                <a:ea typeface="SimHei" panose="02010609060101010101" pitchFamily="49" charset="-122"/>
              </a:rPr>
              <a:t> </a:t>
            </a:r>
            <a:r>
              <a:rPr lang="en-US" altLang="zh-CN" sz="2200" dirty="0">
                <a:latin typeface="+mn-lt"/>
                <a:ea typeface="SimHei" panose="02010609060101010101" pitchFamily="49" charset="-122"/>
              </a:rPr>
              <a:t>+</a:t>
            </a:r>
            <a:r>
              <a:rPr lang="zh-CN" altLang="en-US" sz="2200" dirty="0">
                <a:latin typeface="+mn-lt"/>
                <a:ea typeface="SimHei" panose="02010609060101010101" pitchFamily="49" charset="-122"/>
              </a:rPr>
              <a:t> </a:t>
            </a:r>
            <a:r>
              <a:rPr lang="en-US" altLang="zh-CN" sz="2200" dirty="0">
                <a:solidFill>
                  <a:srgbClr val="C00000"/>
                </a:solidFill>
                <a:latin typeface="+mn-lt"/>
                <a:ea typeface="SimHei" panose="02010609060101010101" pitchFamily="49" charset="-122"/>
              </a:rPr>
              <a:t>a[i];</a:t>
            </a:r>
          </a:p>
        </p:txBody>
      </p:sp>
      <p:cxnSp>
        <p:nvCxnSpPr>
          <p:cNvPr id="11" name="直线连接符 6">
            <a:extLst>
              <a:ext uri="{FF2B5EF4-FFF2-40B4-BE49-F238E27FC236}">
                <a16:creationId xmlns:a16="http://schemas.microsoft.com/office/drawing/2014/main" id="{D3825687-3F39-7276-1D1E-EC1DE40208BA}"/>
              </a:ext>
            </a:extLst>
          </p:cNvPr>
          <p:cNvCxnSpPr/>
          <p:nvPr/>
        </p:nvCxnSpPr>
        <p:spPr bwMode="auto">
          <a:xfrm>
            <a:off x="4685566" y="2139499"/>
            <a:ext cx="0" cy="144019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900251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723BEE8B-C059-7841-B369-365810E3624E}"/>
              </a:ext>
            </a:extLst>
          </p:cNvPr>
          <p:cNvSpPr/>
          <p:nvPr/>
        </p:nvSpPr>
        <p:spPr>
          <a:xfrm>
            <a:off x="6390120" y="37931"/>
            <a:ext cx="2753880" cy="175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标题 1"/>
          <p:cNvSpPr>
            <a:spLocks noGrp="1"/>
          </p:cNvSpPr>
          <p:nvPr>
            <p:ph type="title"/>
          </p:nvPr>
        </p:nvSpPr>
        <p:spPr>
          <a:xfrm>
            <a:off x="150471" y="136525"/>
            <a:ext cx="8889357" cy="1143000"/>
          </a:xfrm>
        </p:spPr>
        <p:txBody>
          <a:bodyPr/>
          <a:lstStyle/>
          <a:p>
            <a:pPr algn="l"/>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76</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262646" y="1261159"/>
            <a:ext cx="7179689" cy="539939"/>
          </a:xfrm>
        </p:spPr>
        <p:txBody>
          <a:bodyPr/>
          <a:lstStyle/>
          <a:p>
            <a:pPr>
              <a:buClr>
                <a:schemeClr val="tx1"/>
              </a:buClr>
            </a:pPr>
            <a:r>
              <a:rPr lang="en-US" altLang="zh-CN" sz="2800" dirty="0">
                <a:solidFill>
                  <a:srgbClr val="0432FF"/>
                </a:solidFill>
              </a:rPr>
              <a:t>Step2</a:t>
            </a:r>
            <a:r>
              <a:rPr lang="zh-CN" altLang="en-US" sz="2800" dirty="0">
                <a:solidFill>
                  <a:srgbClr val="0432FF"/>
                </a:solidFill>
              </a:rPr>
              <a:t>：指令过程分析</a:t>
            </a:r>
            <a:endParaRPr lang="en-US" altLang="zh-CN" sz="2800" dirty="0">
              <a:solidFill>
                <a:srgbClr val="0432FF"/>
              </a:solidFill>
            </a:endParaRPr>
          </a:p>
        </p:txBody>
      </p:sp>
      <p:sp>
        <p:nvSpPr>
          <p:cNvPr id="6" name="Rectangle 4">
            <a:extLst>
              <a:ext uri="{FF2B5EF4-FFF2-40B4-BE49-F238E27FC236}">
                <a16:creationId xmlns:a16="http://schemas.microsoft.com/office/drawing/2014/main" id="{CA372B5B-E7A2-7043-9EED-5665506FBE81}"/>
              </a:ext>
            </a:extLst>
          </p:cNvPr>
          <p:cNvSpPr>
            <a:spLocks noChangeArrowheads="1"/>
          </p:cNvSpPr>
          <p:nvPr/>
        </p:nvSpPr>
        <p:spPr bwMode="auto">
          <a:xfrm>
            <a:off x="222131" y="2105624"/>
            <a:ext cx="108363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访问次数</a:t>
            </a:r>
            <a:endParaRPr lang="zh-CN" altLang="en-US" sz="1400" dirty="0">
              <a:latin typeface="Times New Roman" pitchFamily="18" charset="0"/>
              <a:ea typeface="SimHei" panose="02010609060101010101" pitchFamily="49" charset="-122"/>
            </a:endParaRPr>
          </a:p>
        </p:txBody>
      </p:sp>
      <p:sp>
        <p:nvSpPr>
          <p:cNvPr id="7" name="Rectangle 6">
            <a:extLst>
              <a:ext uri="{FF2B5EF4-FFF2-40B4-BE49-F238E27FC236}">
                <a16:creationId xmlns:a16="http://schemas.microsoft.com/office/drawing/2014/main" id="{EC158702-ADE3-F543-A0B8-F22935313E6F}"/>
              </a:ext>
            </a:extLst>
          </p:cNvPr>
          <p:cNvSpPr>
            <a:spLocks noChangeArrowheads="1"/>
          </p:cNvSpPr>
          <p:nvPr/>
        </p:nvSpPr>
        <p:spPr bwMode="auto">
          <a:xfrm>
            <a:off x="222131" y="2991448"/>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地址块号</a:t>
            </a:r>
            <a:endParaRPr lang="zh-CN" altLang="en-US" sz="1400" dirty="0">
              <a:latin typeface="Times New Roman" pitchFamily="18" charset="0"/>
              <a:ea typeface="SimHei" panose="02010609060101010101" pitchFamily="49" charset="-122"/>
            </a:endParaRPr>
          </a:p>
        </p:txBody>
      </p:sp>
      <p:sp>
        <p:nvSpPr>
          <p:cNvPr id="8" name="Rectangle 8">
            <a:extLst>
              <a:ext uri="{FF2B5EF4-FFF2-40B4-BE49-F238E27FC236}">
                <a16:creationId xmlns:a16="http://schemas.microsoft.com/office/drawing/2014/main" id="{2EC430C7-7F5B-0C4B-8B6F-40EE2F3D0ACF}"/>
              </a:ext>
            </a:extLst>
          </p:cNvPr>
          <p:cNvSpPr>
            <a:spLocks noChangeArrowheads="1"/>
          </p:cNvSpPr>
          <p:nvPr/>
        </p:nvSpPr>
        <p:spPr bwMode="auto">
          <a:xfrm>
            <a:off x="199228" y="3836932"/>
            <a:ext cx="812723"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行分配</a:t>
            </a:r>
            <a:endParaRPr lang="zh-CN" altLang="en-US" sz="1400" dirty="0">
              <a:latin typeface="Times New Roman" pitchFamily="18" charset="0"/>
              <a:ea typeface="SimHei" panose="02010609060101010101" pitchFamily="49" charset="-122"/>
            </a:endParaRPr>
          </a:p>
        </p:txBody>
      </p:sp>
      <p:sp>
        <p:nvSpPr>
          <p:cNvPr id="9" name="Rectangle 9">
            <a:extLst>
              <a:ext uri="{FF2B5EF4-FFF2-40B4-BE49-F238E27FC236}">
                <a16:creationId xmlns:a16="http://schemas.microsoft.com/office/drawing/2014/main" id="{00D3E4BB-13D8-8342-8DAB-0FF112C10D59}"/>
              </a:ext>
            </a:extLst>
          </p:cNvPr>
          <p:cNvSpPr>
            <a:spLocks noChangeArrowheads="1"/>
          </p:cNvSpPr>
          <p:nvPr/>
        </p:nvSpPr>
        <p:spPr bwMode="auto">
          <a:xfrm>
            <a:off x="222131" y="4831202"/>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操作状态</a:t>
            </a:r>
            <a:endParaRPr lang="zh-CN" altLang="en-US" sz="1400" dirty="0">
              <a:latin typeface="Times New Roman" pitchFamily="18" charset="0"/>
              <a:ea typeface="SimHei" panose="02010609060101010101" pitchFamily="49" charset="-122"/>
            </a:endParaRPr>
          </a:p>
        </p:txBody>
      </p:sp>
      <p:sp>
        <p:nvSpPr>
          <p:cNvPr id="11" name="Rectangle 11">
            <a:extLst>
              <a:ext uri="{FF2B5EF4-FFF2-40B4-BE49-F238E27FC236}">
                <a16:creationId xmlns:a16="http://schemas.microsoft.com/office/drawing/2014/main" id="{05E7EBF1-BA77-EF4E-BACC-42132A665471}"/>
              </a:ext>
            </a:extLst>
          </p:cNvPr>
          <p:cNvSpPr>
            <a:spLocks noChangeArrowheads="1"/>
          </p:cNvSpPr>
          <p:nvPr/>
        </p:nvSpPr>
        <p:spPr bwMode="auto">
          <a:xfrm>
            <a:off x="1717264" y="4831202"/>
            <a:ext cx="540001" cy="320675"/>
          </a:xfrm>
          <a:prstGeom prst="rect">
            <a:avLst/>
          </a:prstGeom>
          <a:solidFill>
            <a:srgbClr val="FFFF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grpSp>
        <p:nvGrpSpPr>
          <p:cNvPr id="12" name="组合 11">
            <a:extLst>
              <a:ext uri="{FF2B5EF4-FFF2-40B4-BE49-F238E27FC236}">
                <a16:creationId xmlns:a16="http://schemas.microsoft.com/office/drawing/2014/main" id="{A504FEC6-9A87-B847-87DB-C59132C468AB}"/>
              </a:ext>
            </a:extLst>
          </p:cNvPr>
          <p:cNvGrpSpPr/>
          <p:nvPr/>
        </p:nvGrpSpPr>
        <p:grpSpPr>
          <a:xfrm>
            <a:off x="1717266" y="3412284"/>
            <a:ext cx="540000" cy="1213599"/>
            <a:chOff x="2596031" y="3525424"/>
            <a:chExt cx="540000" cy="1449124"/>
          </a:xfrm>
        </p:grpSpPr>
        <p:sp>
          <p:nvSpPr>
            <p:cNvPr id="15" name="Rectangle 26">
              <a:extLst>
                <a:ext uri="{FF2B5EF4-FFF2-40B4-BE49-F238E27FC236}">
                  <a16:creationId xmlns:a16="http://schemas.microsoft.com/office/drawing/2014/main" id="{BEFC1C1B-7B91-1940-BE3D-E5C83B063F41}"/>
                </a:ext>
              </a:extLst>
            </p:cNvPr>
            <p:cNvSpPr>
              <a:spLocks noChangeArrowheads="1"/>
            </p:cNvSpPr>
            <p:nvPr/>
          </p:nvSpPr>
          <p:spPr bwMode="auto">
            <a:xfrm>
              <a:off x="2596031" y="3525424"/>
              <a:ext cx="540000" cy="360000"/>
            </a:xfrm>
            <a:prstGeom prst="rect">
              <a:avLst/>
            </a:prstGeom>
            <a:solidFill>
              <a:srgbClr val="FFFF00"/>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16" name="Rectangle 26">
              <a:extLst>
                <a:ext uri="{FF2B5EF4-FFF2-40B4-BE49-F238E27FC236}">
                  <a16:creationId xmlns:a16="http://schemas.microsoft.com/office/drawing/2014/main" id="{9AAE2028-D38D-2E44-81D3-B387C2C31BAB}"/>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17" name="Rectangle 26">
              <a:extLst>
                <a:ext uri="{FF2B5EF4-FFF2-40B4-BE49-F238E27FC236}">
                  <a16:creationId xmlns:a16="http://schemas.microsoft.com/office/drawing/2014/main" id="{4AEBBAE0-C493-BF4F-8A8B-853E1D7C8C50}"/>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18" name="Rectangle 26">
              <a:extLst>
                <a:ext uri="{FF2B5EF4-FFF2-40B4-BE49-F238E27FC236}">
                  <a16:creationId xmlns:a16="http://schemas.microsoft.com/office/drawing/2014/main" id="{38F401E3-766D-9349-96AB-08D1DA201361}"/>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0"/>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13" name="Rectangle 11">
            <a:extLst>
              <a:ext uri="{FF2B5EF4-FFF2-40B4-BE49-F238E27FC236}">
                <a16:creationId xmlns:a16="http://schemas.microsoft.com/office/drawing/2014/main" id="{0AEFDF77-968C-0F4B-A99E-607A350233A6}"/>
              </a:ext>
            </a:extLst>
          </p:cNvPr>
          <p:cNvSpPr>
            <a:spLocks noChangeArrowheads="1"/>
          </p:cNvSpPr>
          <p:nvPr/>
        </p:nvSpPr>
        <p:spPr bwMode="auto">
          <a:xfrm>
            <a:off x="1717264"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14" name="Rectangle 11">
            <a:extLst>
              <a:ext uri="{FF2B5EF4-FFF2-40B4-BE49-F238E27FC236}">
                <a16:creationId xmlns:a16="http://schemas.microsoft.com/office/drawing/2014/main" id="{81488C19-E728-B744-BBBF-333715DB9791}"/>
              </a:ext>
            </a:extLst>
          </p:cNvPr>
          <p:cNvSpPr>
            <a:spLocks noChangeArrowheads="1"/>
          </p:cNvSpPr>
          <p:nvPr/>
        </p:nvSpPr>
        <p:spPr bwMode="auto">
          <a:xfrm>
            <a:off x="1717264"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grpSp>
        <p:nvGrpSpPr>
          <p:cNvPr id="20" name="组合 19">
            <a:extLst>
              <a:ext uri="{FF2B5EF4-FFF2-40B4-BE49-F238E27FC236}">
                <a16:creationId xmlns:a16="http://schemas.microsoft.com/office/drawing/2014/main" id="{AD6A98DD-B7E5-1A40-8BF1-5DCEB1DCC054}"/>
              </a:ext>
            </a:extLst>
          </p:cNvPr>
          <p:cNvGrpSpPr/>
          <p:nvPr/>
        </p:nvGrpSpPr>
        <p:grpSpPr>
          <a:xfrm>
            <a:off x="2457777" y="3412284"/>
            <a:ext cx="540000" cy="1213599"/>
            <a:chOff x="2596031" y="3525424"/>
            <a:chExt cx="540000" cy="1449124"/>
          </a:xfrm>
        </p:grpSpPr>
        <p:sp>
          <p:nvSpPr>
            <p:cNvPr id="24" name="Rectangle 26">
              <a:extLst>
                <a:ext uri="{FF2B5EF4-FFF2-40B4-BE49-F238E27FC236}">
                  <a16:creationId xmlns:a16="http://schemas.microsoft.com/office/drawing/2014/main" id="{18239AA6-2107-B54B-BCF0-FF3D49920309}"/>
                </a:ext>
              </a:extLst>
            </p:cNvPr>
            <p:cNvSpPr>
              <a:spLocks noChangeArrowheads="1"/>
            </p:cNvSpPr>
            <p:nvPr/>
          </p:nvSpPr>
          <p:spPr bwMode="auto">
            <a:xfrm>
              <a:off x="2596031" y="3525424"/>
              <a:ext cx="540000" cy="360000"/>
            </a:xfrm>
            <a:prstGeom prst="rect">
              <a:avLst/>
            </a:prstGeom>
            <a:solidFill>
              <a:srgbClr val="CCFF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25" name="Rectangle 26">
              <a:extLst>
                <a:ext uri="{FF2B5EF4-FFF2-40B4-BE49-F238E27FC236}">
                  <a16:creationId xmlns:a16="http://schemas.microsoft.com/office/drawing/2014/main" id="{F48F01F4-E1FB-0043-B37C-4D4D89F5D7C8}"/>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26" name="Rectangle 26">
              <a:extLst>
                <a:ext uri="{FF2B5EF4-FFF2-40B4-BE49-F238E27FC236}">
                  <a16:creationId xmlns:a16="http://schemas.microsoft.com/office/drawing/2014/main" id="{AF9D90DD-67BE-944A-B08C-99024340F8EE}"/>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27" name="Rectangle 26">
              <a:extLst>
                <a:ext uri="{FF2B5EF4-FFF2-40B4-BE49-F238E27FC236}">
                  <a16:creationId xmlns:a16="http://schemas.microsoft.com/office/drawing/2014/main" id="{25BDD638-8E3F-9546-AA51-924B48C03330}"/>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22" name="Rectangle 11">
            <a:extLst>
              <a:ext uri="{FF2B5EF4-FFF2-40B4-BE49-F238E27FC236}">
                <a16:creationId xmlns:a16="http://schemas.microsoft.com/office/drawing/2014/main" id="{A0399615-A991-5E4E-BDF3-27E9605EB26F}"/>
              </a:ext>
            </a:extLst>
          </p:cNvPr>
          <p:cNvSpPr>
            <a:spLocks noChangeArrowheads="1"/>
          </p:cNvSpPr>
          <p:nvPr/>
        </p:nvSpPr>
        <p:spPr bwMode="auto">
          <a:xfrm>
            <a:off x="2457776"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23" name="Rectangle 11">
            <a:extLst>
              <a:ext uri="{FF2B5EF4-FFF2-40B4-BE49-F238E27FC236}">
                <a16:creationId xmlns:a16="http://schemas.microsoft.com/office/drawing/2014/main" id="{655B718D-DDD5-B048-8B87-937713D5A719}"/>
              </a:ext>
            </a:extLst>
          </p:cNvPr>
          <p:cNvSpPr>
            <a:spLocks noChangeArrowheads="1"/>
          </p:cNvSpPr>
          <p:nvPr/>
        </p:nvSpPr>
        <p:spPr bwMode="auto">
          <a:xfrm>
            <a:off x="2457776"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grpSp>
        <p:nvGrpSpPr>
          <p:cNvPr id="29" name="组合 28">
            <a:extLst>
              <a:ext uri="{FF2B5EF4-FFF2-40B4-BE49-F238E27FC236}">
                <a16:creationId xmlns:a16="http://schemas.microsoft.com/office/drawing/2014/main" id="{0DF235EB-24D1-4E4B-A7BA-8073CCB1EAAF}"/>
              </a:ext>
            </a:extLst>
          </p:cNvPr>
          <p:cNvGrpSpPr/>
          <p:nvPr/>
        </p:nvGrpSpPr>
        <p:grpSpPr>
          <a:xfrm>
            <a:off x="3198289" y="3412284"/>
            <a:ext cx="540000" cy="1213599"/>
            <a:chOff x="2596031" y="3525424"/>
            <a:chExt cx="540000" cy="1449124"/>
          </a:xfrm>
        </p:grpSpPr>
        <p:sp>
          <p:nvSpPr>
            <p:cNvPr id="33" name="Rectangle 26">
              <a:extLst>
                <a:ext uri="{FF2B5EF4-FFF2-40B4-BE49-F238E27FC236}">
                  <a16:creationId xmlns:a16="http://schemas.microsoft.com/office/drawing/2014/main" id="{3C8499B6-B08E-6A4F-B281-DB81DD8C3C0D}"/>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34" name="Rectangle 26">
              <a:extLst>
                <a:ext uri="{FF2B5EF4-FFF2-40B4-BE49-F238E27FC236}">
                  <a16:creationId xmlns:a16="http://schemas.microsoft.com/office/drawing/2014/main" id="{AE7009DF-66B2-B344-A8C6-9371A409288E}"/>
                </a:ext>
              </a:extLst>
            </p:cNvPr>
            <p:cNvSpPr>
              <a:spLocks noChangeArrowheads="1"/>
            </p:cNvSpPr>
            <p:nvPr/>
          </p:nvSpPr>
          <p:spPr bwMode="auto">
            <a:xfrm>
              <a:off x="2596031" y="3889854"/>
              <a:ext cx="540000" cy="360000"/>
            </a:xfrm>
            <a:prstGeom prst="rect">
              <a:avLst/>
            </a:prstGeom>
            <a:solidFill>
              <a:srgbClr val="FFFF00"/>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35" name="Rectangle 26">
              <a:extLst>
                <a:ext uri="{FF2B5EF4-FFF2-40B4-BE49-F238E27FC236}">
                  <a16:creationId xmlns:a16="http://schemas.microsoft.com/office/drawing/2014/main" id="{C31B225C-3969-BB4A-BFE3-011CB1448933}"/>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36" name="Rectangle 26">
              <a:extLst>
                <a:ext uri="{FF2B5EF4-FFF2-40B4-BE49-F238E27FC236}">
                  <a16:creationId xmlns:a16="http://schemas.microsoft.com/office/drawing/2014/main" id="{DA812CE5-FA12-874C-AE5C-784E32EB055F}"/>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31" name="Rectangle 11">
            <a:extLst>
              <a:ext uri="{FF2B5EF4-FFF2-40B4-BE49-F238E27FC236}">
                <a16:creationId xmlns:a16="http://schemas.microsoft.com/office/drawing/2014/main" id="{8F6B22A7-4F0A-B44C-B8A6-E487F1A0C502}"/>
              </a:ext>
            </a:extLst>
          </p:cNvPr>
          <p:cNvSpPr>
            <a:spLocks noChangeArrowheads="1"/>
          </p:cNvSpPr>
          <p:nvPr/>
        </p:nvSpPr>
        <p:spPr bwMode="auto">
          <a:xfrm>
            <a:off x="3198288"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32" name="Rectangle 11">
            <a:extLst>
              <a:ext uri="{FF2B5EF4-FFF2-40B4-BE49-F238E27FC236}">
                <a16:creationId xmlns:a16="http://schemas.microsoft.com/office/drawing/2014/main" id="{171CDFD0-6483-394A-A21E-DF121F723942}"/>
              </a:ext>
            </a:extLst>
          </p:cNvPr>
          <p:cNvSpPr>
            <a:spLocks noChangeArrowheads="1"/>
          </p:cNvSpPr>
          <p:nvPr/>
        </p:nvSpPr>
        <p:spPr bwMode="auto">
          <a:xfrm>
            <a:off x="3198288"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grpSp>
        <p:nvGrpSpPr>
          <p:cNvPr id="38" name="组合 37">
            <a:extLst>
              <a:ext uri="{FF2B5EF4-FFF2-40B4-BE49-F238E27FC236}">
                <a16:creationId xmlns:a16="http://schemas.microsoft.com/office/drawing/2014/main" id="{8A2D4A41-4EDD-4743-82EB-92C7D00D9AFC}"/>
              </a:ext>
            </a:extLst>
          </p:cNvPr>
          <p:cNvGrpSpPr/>
          <p:nvPr/>
        </p:nvGrpSpPr>
        <p:grpSpPr>
          <a:xfrm>
            <a:off x="3938801" y="3412284"/>
            <a:ext cx="540000" cy="1213599"/>
            <a:chOff x="2596031" y="3525424"/>
            <a:chExt cx="540000" cy="1449124"/>
          </a:xfrm>
        </p:grpSpPr>
        <p:sp>
          <p:nvSpPr>
            <p:cNvPr id="42" name="Rectangle 26">
              <a:extLst>
                <a:ext uri="{FF2B5EF4-FFF2-40B4-BE49-F238E27FC236}">
                  <a16:creationId xmlns:a16="http://schemas.microsoft.com/office/drawing/2014/main" id="{A1D36437-52BD-FE4E-809E-0A70E2A6A297}"/>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43" name="Rectangle 26">
              <a:extLst>
                <a:ext uri="{FF2B5EF4-FFF2-40B4-BE49-F238E27FC236}">
                  <a16:creationId xmlns:a16="http://schemas.microsoft.com/office/drawing/2014/main" id="{7E0D9038-8927-5F42-B553-CD5F23D620E1}"/>
                </a:ext>
              </a:extLst>
            </p:cNvPr>
            <p:cNvSpPr>
              <a:spLocks noChangeArrowheads="1"/>
            </p:cNvSpPr>
            <p:nvPr/>
          </p:nvSpPr>
          <p:spPr bwMode="auto">
            <a:xfrm>
              <a:off x="2596031" y="3889854"/>
              <a:ext cx="540000" cy="360000"/>
            </a:xfrm>
            <a:prstGeom prst="rect">
              <a:avLst/>
            </a:prstGeom>
            <a:solidFill>
              <a:srgbClr val="CCFFCC"/>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44" name="Rectangle 26">
              <a:extLst>
                <a:ext uri="{FF2B5EF4-FFF2-40B4-BE49-F238E27FC236}">
                  <a16:creationId xmlns:a16="http://schemas.microsoft.com/office/drawing/2014/main" id="{00759151-9B49-AA4E-A04E-220FF005E729}"/>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sp>
          <p:nvSpPr>
            <p:cNvPr id="45" name="Rectangle 26">
              <a:extLst>
                <a:ext uri="{FF2B5EF4-FFF2-40B4-BE49-F238E27FC236}">
                  <a16:creationId xmlns:a16="http://schemas.microsoft.com/office/drawing/2014/main" id="{4C6D82A4-7F83-6A45-A228-77E4206D82EE}"/>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40" name="Rectangle 11">
            <a:extLst>
              <a:ext uri="{FF2B5EF4-FFF2-40B4-BE49-F238E27FC236}">
                <a16:creationId xmlns:a16="http://schemas.microsoft.com/office/drawing/2014/main" id="{43F0002A-93A7-AC47-82C2-0CD23361AB8A}"/>
              </a:ext>
            </a:extLst>
          </p:cNvPr>
          <p:cNvSpPr>
            <a:spLocks noChangeArrowheads="1"/>
          </p:cNvSpPr>
          <p:nvPr/>
        </p:nvSpPr>
        <p:spPr bwMode="auto">
          <a:xfrm>
            <a:off x="3938800"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41" name="Rectangle 11">
            <a:extLst>
              <a:ext uri="{FF2B5EF4-FFF2-40B4-BE49-F238E27FC236}">
                <a16:creationId xmlns:a16="http://schemas.microsoft.com/office/drawing/2014/main" id="{C7EE1EE6-E294-5E4D-AFFB-C1E49D048410}"/>
              </a:ext>
            </a:extLst>
          </p:cNvPr>
          <p:cNvSpPr>
            <a:spLocks noChangeArrowheads="1"/>
          </p:cNvSpPr>
          <p:nvPr/>
        </p:nvSpPr>
        <p:spPr bwMode="auto">
          <a:xfrm>
            <a:off x="3938800"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grpSp>
        <p:nvGrpSpPr>
          <p:cNvPr id="47" name="组合 46">
            <a:extLst>
              <a:ext uri="{FF2B5EF4-FFF2-40B4-BE49-F238E27FC236}">
                <a16:creationId xmlns:a16="http://schemas.microsoft.com/office/drawing/2014/main" id="{88F49816-50C0-0D4C-9176-C054C1BF713C}"/>
              </a:ext>
            </a:extLst>
          </p:cNvPr>
          <p:cNvGrpSpPr/>
          <p:nvPr/>
        </p:nvGrpSpPr>
        <p:grpSpPr>
          <a:xfrm>
            <a:off x="4679313" y="3412284"/>
            <a:ext cx="540000" cy="1213599"/>
            <a:chOff x="2596031" y="3525424"/>
            <a:chExt cx="540000" cy="1449124"/>
          </a:xfrm>
        </p:grpSpPr>
        <p:sp>
          <p:nvSpPr>
            <p:cNvPr id="51" name="Rectangle 26">
              <a:extLst>
                <a:ext uri="{FF2B5EF4-FFF2-40B4-BE49-F238E27FC236}">
                  <a16:creationId xmlns:a16="http://schemas.microsoft.com/office/drawing/2014/main" id="{CFC54EB8-DDD2-F84C-BB9F-C3CED9B07403}"/>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52" name="Rectangle 26">
              <a:extLst>
                <a:ext uri="{FF2B5EF4-FFF2-40B4-BE49-F238E27FC236}">
                  <a16:creationId xmlns:a16="http://schemas.microsoft.com/office/drawing/2014/main" id="{A1E45A9B-B997-4A46-B7B2-2649B9ED02BE}"/>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53" name="Rectangle 26">
              <a:extLst>
                <a:ext uri="{FF2B5EF4-FFF2-40B4-BE49-F238E27FC236}">
                  <a16:creationId xmlns:a16="http://schemas.microsoft.com/office/drawing/2014/main" id="{63E0D797-D87C-A441-8C49-D92EDED9F437}"/>
                </a:ext>
              </a:extLst>
            </p:cNvPr>
            <p:cNvSpPr>
              <a:spLocks noChangeArrowheads="1"/>
            </p:cNvSpPr>
            <p:nvPr/>
          </p:nvSpPr>
          <p:spPr bwMode="auto">
            <a:xfrm>
              <a:off x="2596031" y="4251765"/>
              <a:ext cx="540000" cy="360000"/>
            </a:xfrm>
            <a:prstGeom prst="rect">
              <a:avLst/>
            </a:prstGeom>
            <a:solidFill>
              <a:srgbClr val="FFFF00"/>
            </a:solidFill>
            <a:ln w="17463">
              <a:solidFill>
                <a:srgbClr val="000000"/>
              </a:solidFill>
              <a:miter lim="800000"/>
              <a:headEnd/>
              <a:tailEnd/>
            </a:ln>
          </p:spPr>
          <p:txBody>
            <a:bodyPr lIns="0" tIns="0" rIns="0" bIns="0" anchor="ctr" anchorCtr="1"/>
            <a:lstStyle/>
            <a:p>
              <a:pPr algn="ctr"/>
              <a:r>
                <a:rPr lang="en-US" altLang="zh-CN" sz="1600" dirty="0">
                  <a:ea typeface="SimHei" panose="02010609060101010101" pitchFamily="49" charset="-122"/>
                </a:rPr>
                <a:t>16,20</a:t>
              </a:r>
              <a:endParaRPr lang="zh-CN" altLang="en-US" sz="1600" dirty="0">
                <a:ea typeface="SimHei" panose="02010609060101010101" pitchFamily="49" charset="-122"/>
              </a:endParaRPr>
            </a:p>
          </p:txBody>
        </p:sp>
        <p:sp>
          <p:nvSpPr>
            <p:cNvPr id="54" name="Rectangle 26">
              <a:extLst>
                <a:ext uri="{FF2B5EF4-FFF2-40B4-BE49-F238E27FC236}">
                  <a16:creationId xmlns:a16="http://schemas.microsoft.com/office/drawing/2014/main" id="{851D03B2-7789-A142-A4FC-F979DE2CB51F}"/>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48" name="Rectangle 11">
            <a:extLst>
              <a:ext uri="{FF2B5EF4-FFF2-40B4-BE49-F238E27FC236}">
                <a16:creationId xmlns:a16="http://schemas.microsoft.com/office/drawing/2014/main" id="{EA246335-4837-E84B-8E32-B74C59BA4E3A}"/>
              </a:ext>
            </a:extLst>
          </p:cNvPr>
          <p:cNvSpPr>
            <a:spLocks noChangeArrowheads="1"/>
          </p:cNvSpPr>
          <p:nvPr/>
        </p:nvSpPr>
        <p:spPr bwMode="auto">
          <a:xfrm>
            <a:off x="4679312" y="4831202"/>
            <a:ext cx="540001" cy="323165"/>
          </a:xfrm>
          <a:prstGeom prst="rect">
            <a:avLst/>
          </a:prstGeom>
          <a:solidFill>
            <a:srgbClr val="FFFF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49" name="Rectangle 11">
            <a:extLst>
              <a:ext uri="{FF2B5EF4-FFF2-40B4-BE49-F238E27FC236}">
                <a16:creationId xmlns:a16="http://schemas.microsoft.com/office/drawing/2014/main" id="{0A629D87-4C8E-C843-B96B-92B82165BBE3}"/>
              </a:ext>
            </a:extLst>
          </p:cNvPr>
          <p:cNvSpPr>
            <a:spLocks noChangeArrowheads="1"/>
          </p:cNvSpPr>
          <p:nvPr/>
        </p:nvSpPr>
        <p:spPr bwMode="auto">
          <a:xfrm>
            <a:off x="4679312"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50" name="Rectangle 11">
            <a:extLst>
              <a:ext uri="{FF2B5EF4-FFF2-40B4-BE49-F238E27FC236}">
                <a16:creationId xmlns:a16="http://schemas.microsoft.com/office/drawing/2014/main" id="{8F1A0D31-5456-7646-9DBE-3A7BBB5C1B97}"/>
              </a:ext>
            </a:extLst>
          </p:cNvPr>
          <p:cNvSpPr>
            <a:spLocks noChangeArrowheads="1"/>
          </p:cNvSpPr>
          <p:nvPr/>
        </p:nvSpPr>
        <p:spPr bwMode="auto">
          <a:xfrm>
            <a:off x="4679312"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5</a:t>
            </a:r>
            <a:endParaRPr lang="zh-CN" altLang="en-US" sz="1400" dirty="0">
              <a:latin typeface="+mn-lt"/>
              <a:ea typeface="SimHei" panose="02010609060101010101" pitchFamily="49" charset="-122"/>
            </a:endParaRPr>
          </a:p>
        </p:txBody>
      </p:sp>
      <p:grpSp>
        <p:nvGrpSpPr>
          <p:cNvPr id="56" name="组合 55">
            <a:extLst>
              <a:ext uri="{FF2B5EF4-FFF2-40B4-BE49-F238E27FC236}">
                <a16:creationId xmlns:a16="http://schemas.microsoft.com/office/drawing/2014/main" id="{DA2F6C78-7892-6A4E-A6C4-4A5BA1E792B0}"/>
              </a:ext>
            </a:extLst>
          </p:cNvPr>
          <p:cNvGrpSpPr/>
          <p:nvPr/>
        </p:nvGrpSpPr>
        <p:grpSpPr>
          <a:xfrm>
            <a:off x="5419825" y="3412284"/>
            <a:ext cx="540000" cy="1213599"/>
            <a:chOff x="2596031" y="3525424"/>
            <a:chExt cx="540000" cy="1449124"/>
          </a:xfrm>
        </p:grpSpPr>
        <p:sp>
          <p:nvSpPr>
            <p:cNvPr id="60" name="Rectangle 26">
              <a:extLst>
                <a:ext uri="{FF2B5EF4-FFF2-40B4-BE49-F238E27FC236}">
                  <a16:creationId xmlns:a16="http://schemas.microsoft.com/office/drawing/2014/main" id="{30CBABEF-3E9C-4444-946B-7BAE4E0BF143}"/>
                </a:ext>
              </a:extLst>
            </p:cNvPr>
            <p:cNvSpPr>
              <a:spLocks noChangeArrowheads="1"/>
            </p:cNvSpPr>
            <p:nvPr/>
          </p:nvSpPr>
          <p:spPr bwMode="auto">
            <a:xfrm>
              <a:off x="2596031" y="3525424"/>
              <a:ext cx="540000" cy="360000"/>
            </a:xfrm>
            <a:prstGeom prst="rect">
              <a:avLst/>
            </a:prstGeom>
            <a:solidFill>
              <a:srgbClr val="CCFF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61" name="Rectangle 26">
              <a:extLst>
                <a:ext uri="{FF2B5EF4-FFF2-40B4-BE49-F238E27FC236}">
                  <a16:creationId xmlns:a16="http://schemas.microsoft.com/office/drawing/2014/main" id="{7262428B-5B49-0C45-AA37-9D73C2805E24}"/>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62" name="Rectangle 26">
              <a:extLst>
                <a:ext uri="{FF2B5EF4-FFF2-40B4-BE49-F238E27FC236}">
                  <a16:creationId xmlns:a16="http://schemas.microsoft.com/office/drawing/2014/main" id="{2515C864-51CC-304C-BC23-6924D4694C66}"/>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lIns="0" rIns="0" anchor="ctr" anchorCtr="1"/>
            <a:lstStyle/>
            <a:p>
              <a:pPr algn="ctr"/>
              <a:r>
                <a:rPr lang="en-US" altLang="zh-CN" sz="1600" dirty="0">
                  <a:ea typeface="SimHei" panose="02010609060101010101" pitchFamily="49" charset="-122"/>
                </a:rPr>
                <a:t>16,20</a:t>
              </a:r>
              <a:endParaRPr lang="zh-CN" altLang="en-US" sz="1600" dirty="0">
                <a:ea typeface="SimHei" panose="02010609060101010101" pitchFamily="49" charset="-122"/>
              </a:endParaRPr>
            </a:p>
          </p:txBody>
        </p:sp>
        <p:sp>
          <p:nvSpPr>
            <p:cNvPr id="63" name="Rectangle 26">
              <a:extLst>
                <a:ext uri="{FF2B5EF4-FFF2-40B4-BE49-F238E27FC236}">
                  <a16:creationId xmlns:a16="http://schemas.microsoft.com/office/drawing/2014/main" id="{2D586044-C866-EC43-B524-DAC602C998EB}"/>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58" name="Rectangle 11">
            <a:extLst>
              <a:ext uri="{FF2B5EF4-FFF2-40B4-BE49-F238E27FC236}">
                <a16:creationId xmlns:a16="http://schemas.microsoft.com/office/drawing/2014/main" id="{016575FB-6A12-244C-A7DE-8D2D982F7BD8}"/>
              </a:ext>
            </a:extLst>
          </p:cNvPr>
          <p:cNvSpPr>
            <a:spLocks noChangeArrowheads="1"/>
          </p:cNvSpPr>
          <p:nvPr/>
        </p:nvSpPr>
        <p:spPr bwMode="auto">
          <a:xfrm>
            <a:off x="5419824"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59" name="Rectangle 11">
            <a:extLst>
              <a:ext uri="{FF2B5EF4-FFF2-40B4-BE49-F238E27FC236}">
                <a16:creationId xmlns:a16="http://schemas.microsoft.com/office/drawing/2014/main" id="{7E7FDE72-2E98-034A-9C48-DB6A9B3D2B40}"/>
              </a:ext>
            </a:extLst>
          </p:cNvPr>
          <p:cNvSpPr>
            <a:spLocks noChangeArrowheads="1"/>
          </p:cNvSpPr>
          <p:nvPr/>
        </p:nvSpPr>
        <p:spPr bwMode="auto">
          <a:xfrm>
            <a:off x="5419824"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6</a:t>
            </a:r>
            <a:endParaRPr lang="zh-CN" altLang="en-US" sz="1400" dirty="0">
              <a:latin typeface="+mn-lt"/>
              <a:ea typeface="SimHei" panose="02010609060101010101" pitchFamily="49" charset="-122"/>
            </a:endParaRPr>
          </a:p>
        </p:txBody>
      </p:sp>
      <p:grpSp>
        <p:nvGrpSpPr>
          <p:cNvPr id="65" name="组合 64">
            <a:extLst>
              <a:ext uri="{FF2B5EF4-FFF2-40B4-BE49-F238E27FC236}">
                <a16:creationId xmlns:a16="http://schemas.microsoft.com/office/drawing/2014/main" id="{08DA9B7C-0CBD-A547-941A-E82883C30F94}"/>
              </a:ext>
            </a:extLst>
          </p:cNvPr>
          <p:cNvGrpSpPr/>
          <p:nvPr/>
        </p:nvGrpSpPr>
        <p:grpSpPr>
          <a:xfrm>
            <a:off x="6160337" y="3412284"/>
            <a:ext cx="540000" cy="1213599"/>
            <a:chOff x="2596031" y="3525424"/>
            <a:chExt cx="540000" cy="1449124"/>
          </a:xfrm>
        </p:grpSpPr>
        <p:sp>
          <p:nvSpPr>
            <p:cNvPr id="69" name="Rectangle 26">
              <a:extLst>
                <a:ext uri="{FF2B5EF4-FFF2-40B4-BE49-F238E27FC236}">
                  <a16:creationId xmlns:a16="http://schemas.microsoft.com/office/drawing/2014/main" id="{569E2F6E-35AF-B840-A471-219A5B7BCAD2}"/>
                </a:ext>
              </a:extLst>
            </p:cNvPr>
            <p:cNvSpPr>
              <a:spLocks noChangeArrowheads="1"/>
            </p:cNvSpPr>
            <p:nvPr/>
          </p:nvSpPr>
          <p:spPr bwMode="auto">
            <a:xfrm>
              <a:off x="2596031" y="3525424"/>
              <a:ext cx="540000" cy="360000"/>
            </a:xfrm>
            <a:prstGeom prst="rect">
              <a:avLst/>
            </a:prstGeom>
            <a:solidFill>
              <a:srgbClr val="CCFFCC"/>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70" name="Rectangle 26">
              <a:extLst>
                <a:ext uri="{FF2B5EF4-FFF2-40B4-BE49-F238E27FC236}">
                  <a16:creationId xmlns:a16="http://schemas.microsoft.com/office/drawing/2014/main" id="{A00D7D4E-AB92-D046-9A45-0CD7FC6EE8F0}"/>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71" name="Rectangle 26">
              <a:extLst>
                <a:ext uri="{FF2B5EF4-FFF2-40B4-BE49-F238E27FC236}">
                  <a16:creationId xmlns:a16="http://schemas.microsoft.com/office/drawing/2014/main" id="{2C8C776B-625B-7B43-853F-2C73F2898501}"/>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lIns="0" tIns="46800" rIns="0" anchor="ctr" anchorCtr="1"/>
            <a:lstStyle/>
            <a:p>
              <a:pPr algn="ctr"/>
              <a:r>
                <a:rPr lang="en-US" altLang="zh-CN" sz="1600" dirty="0">
                  <a:ea typeface="SimHei" panose="02010609060101010101" pitchFamily="49" charset="-122"/>
                </a:rPr>
                <a:t>16,20</a:t>
              </a:r>
              <a:endParaRPr lang="zh-CN" altLang="en-US" sz="1600" dirty="0">
                <a:ea typeface="SimHei" panose="02010609060101010101" pitchFamily="49" charset="-122"/>
              </a:endParaRPr>
            </a:p>
          </p:txBody>
        </p:sp>
        <p:sp>
          <p:nvSpPr>
            <p:cNvPr id="72" name="Rectangle 26">
              <a:extLst>
                <a:ext uri="{FF2B5EF4-FFF2-40B4-BE49-F238E27FC236}">
                  <a16:creationId xmlns:a16="http://schemas.microsoft.com/office/drawing/2014/main" id="{2D4D728B-2DA8-2F4E-8F14-6CA060A403D2}"/>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67" name="Rectangle 11">
            <a:extLst>
              <a:ext uri="{FF2B5EF4-FFF2-40B4-BE49-F238E27FC236}">
                <a16:creationId xmlns:a16="http://schemas.microsoft.com/office/drawing/2014/main" id="{1C81CC1A-BB60-7040-9FA9-4CB6F1A7458F}"/>
              </a:ext>
            </a:extLst>
          </p:cNvPr>
          <p:cNvSpPr>
            <a:spLocks noChangeArrowheads="1"/>
          </p:cNvSpPr>
          <p:nvPr/>
        </p:nvSpPr>
        <p:spPr bwMode="auto">
          <a:xfrm>
            <a:off x="6160336"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68" name="Rectangle 11">
            <a:extLst>
              <a:ext uri="{FF2B5EF4-FFF2-40B4-BE49-F238E27FC236}">
                <a16:creationId xmlns:a16="http://schemas.microsoft.com/office/drawing/2014/main" id="{91C2F47B-CF78-674E-A582-5C9097BE5176}"/>
              </a:ext>
            </a:extLst>
          </p:cNvPr>
          <p:cNvSpPr>
            <a:spLocks noChangeArrowheads="1"/>
          </p:cNvSpPr>
          <p:nvPr/>
        </p:nvSpPr>
        <p:spPr bwMode="auto">
          <a:xfrm>
            <a:off x="6160336"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7</a:t>
            </a:r>
            <a:endParaRPr lang="zh-CN" altLang="en-US" sz="1400" dirty="0">
              <a:latin typeface="+mn-lt"/>
              <a:ea typeface="SimHei" panose="02010609060101010101" pitchFamily="49" charset="-122"/>
            </a:endParaRPr>
          </a:p>
        </p:txBody>
      </p:sp>
      <p:grpSp>
        <p:nvGrpSpPr>
          <p:cNvPr id="74" name="组合 73">
            <a:extLst>
              <a:ext uri="{FF2B5EF4-FFF2-40B4-BE49-F238E27FC236}">
                <a16:creationId xmlns:a16="http://schemas.microsoft.com/office/drawing/2014/main" id="{530E74D8-285A-964F-A3D7-95485670F5B0}"/>
              </a:ext>
            </a:extLst>
          </p:cNvPr>
          <p:cNvGrpSpPr/>
          <p:nvPr/>
        </p:nvGrpSpPr>
        <p:grpSpPr>
          <a:xfrm>
            <a:off x="6804135" y="3412284"/>
            <a:ext cx="540000" cy="1213599"/>
            <a:chOff x="2596031" y="3525424"/>
            <a:chExt cx="540000" cy="1449124"/>
          </a:xfrm>
        </p:grpSpPr>
        <p:sp>
          <p:nvSpPr>
            <p:cNvPr id="78" name="Rectangle 26">
              <a:extLst>
                <a:ext uri="{FF2B5EF4-FFF2-40B4-BE49-F238E27FC236}">
                  <a16:creationId xmlns:a16="http://schemas.microsoft.com/office/drawing/2014/main" id="{1C4A7A26-C214-E440-B436-6A7273CA7FDB}"/>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79" name="Rectangle 26">
              <a:extLst>
                <a:ext uri="{FF2B5EF4-FFF2-40B4-BE49-F238E27FC236}">
                  <a16:creationId xmlns:a16="http://schemas.microsoft.com/office/drawing/2014/main" id="{2DC6D94E-6530-4A47-A47C-35CAFA4C60B2}"/>
                </a:ext>
              </a:extLst>
            </p:cNvPr>
            <p:cNvSpPr>
              <a:spLocks noChangeArrowheads="1"/>
            </p:cNvSpPr>
            <p:nvPr/>
          </p:nvSpPr>
          <p:spPr bwMode="auto">
            <a:xfrm>
              <a:off x="2596031" y="3889854"/>
              <a:ext cx="540000" cy="360000"/>
            </a:xfrm>
            <a:prstGeom prst="rect">
              <a:avLst/>
            </a:prstGeom>
            <a:solidFill>
              <a:srgbClr val="CCFFCC"/>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80" name="Rectangle 26">
              <a:extLst>
                <a:ext uri="{FF2B5EF4-FFF2-40B4-BE49-F238E27FC236}">
                  <a16:creationId xmlns:a16="http://schemas.microsoft.com/office/drawing/2014/main" id="{0CA9B9B3-F974-A64C-B9ED-954B143021C3}"/>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lIns="0" tIns="46800" rIns="0" anchor="ctr" anchorCtr="1"/>
            <a:lstStyle/>
            <a:p>
              <a:pPr algn="ctr"/>
              <a:r>
                <a:rPr lang="en-US" altLang="zh-CN" sz="1600" dirty="0">
                  <a:ea typeface="SimHei" panose="02010609060101010101" pitchFamily="49" charset="-122"/>
                </a:rPr>
                <a:t>16,20</a:t>
              </a:r>
              <a:endParaRPr lang="zh-CN" altLang="en-US" sz="1600" dirty="0">
                <a:ea typeface="SimHei" panose="02010609060101010101" pitchFamily="49" charset="-122"/>
              </a:endParaRPr>
            </a:p>
          </p:txBody>
        </p:sp>
        <p:sp>
          <p:nvSpPr>
            <p:cNvPr id="81" name="Rectangle 26">
              <a:extLst>
                <a:ext uri="{FF2B5EF4-FFF2-40B4-BE49-F238E27FC236}">
                  <a16:creationId xmlns:a16="http://schemas.microsoft.com/office/drawing/2014/main" id="{E0F5436C-A910-3141-83D6-9F5E9AA1FC18}"/>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76" name="Rectangle 11">
            <a:extLst>
              <a:ext uri="{FF2B5EF4-FFF2-40B4-BE49-F238E27FC236}">
                <a16:creationId xmlns:a16="http://schemas.microsoft.com/office/drawing/2014/main" id="{57B52A28-34BE-9248-9046-4358AF32F92D}"/>
              </a:ext>
            </a:extLst>
          </p:cNvPr>
          <p:cNvSpPr>
            <a:spLocks noChangeArrowheads="1"/>
          </p:cNvSpPr>
          <p:nvPr/>
        </p:nvSpPr>
        <p:spPr bwMode="auto">
          <a:xfrm>
            <a:off x="6804134"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77" name="Rectangle 11">
            <a:extLst>
              <a:ext uri="{FF2B5EF4-FFF2-40B4-BE49-F238E27FC236}">
                <a16:creationId xmlns:a16="http://schemas.microsoft.com/office/drawing/2014/main" id="{C2C82AF8-1779-E648-8BDD-52F895D52AAA}"/>
              </a:ext>
            </a:extLst>
          </p:cNvPr>
          <p:cNvSpPr>
            <a:spLocks noChangeArrowheads="1"/>
          </p:cNvSpPr>
          <p:nvPr/>
        </p:nvSpPr>
        <p:spPr bwMode="auto">
          <a:xfrm>
            <a:off x="6804134"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8</a:t>
            </a:r>
            <a:endParaRPr lang="zh-CN" altLang="en-US" sz="1400" dirty="0">
              <a:latin typeface="+mn-lt"/>
              <a:ea typeface="SimHei" panose="02010609060101010101" pitchFamily="49" charset="-122"/>
            </a:endParaRPr>
          </a:p>
        </p:txBody>
      </p:sp>
      <p:grpSp>
        <p:nvGrpSpPr>
          <p:cNvPr id="83" name="组合 82">
            <a:extLst>
              <a:ext uri="{FF2B5EF4-FFF2-40B4-BE49-F238E27FC236}">
                <a16:creationId xmlns:a16="http://schemas.microsoft.com/office/drawing/2014/main" id="{0C486D56-164D-7443-B15B-9719B43B9849}"/>
              </a:ext>
            </a:extLst>
          </p:cNvPr>
          <p:cNvGrpSpPr/>
          <p:nvPr/>
        </p:nvGrpSpPr>
        <p:grpSpPr>
          <a:xfrm>
            <a:off x="7439140" y="3412284"/>
            <a:ext cx="540000" cy="1213599"/>
            <a:chOff x="2596031" y="3525424"/>
            <a:chExt cx="540000" cy="1449124"/>
          </a:xfrm>
        </p:grpSpPr>
        <p:sp>
          <p:nvSpPr>
            <p:cNvPr id="87" name="Rectangle 26">
              <a:extLst>
                <a:ext uri="{FF2B5EF4-FFF2-40B4-BE49-F238E27FC236}">
                  <a16:creationId xmlns:a16="http://schemas.microsoft.com/office/drawing/2014/main" id="{E09583B6-731C-174E-9E47-25AA13BB18F4}"/>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88" name="Rectangle 26">
              <a:extLst>
                <a:ext uri="{FF2B5EF4-FFF2-40B4-BE49-F238E27FC236}">
                  <a16:creationId xmlns:a16="http://schemas.microsoft.com/office/drawing/2014/main" id="{0EDB2EA3-5465-174A-ADD9-FFB95F1E3E29}"/>
                </a:ext>
              </a:extLst>
            </p:cNvPr>
            <p:cNvSpPr>
              <a:spLocks noChangeArrowheads="1"/>
            </p:cNvSpPr>
            <p:nvPr/>
          </p:nvSpPr>
          <p:spPr bwMode="auto">
            <a:xfrm>
              <a:off x="2596031" y="3889854"/>
              <a:ext cx="540000" cy="360000"/>
            </a:xfrm>
            <a:prstGeom prst="rect">
              <a:avLst/>
            </a:prstGeom>
            <a:solidFill>
              <a:srgbClr val="CCFFCC"/>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89" name="Rectangle 26">
              <a:extLst>
                <a:ext uri="{FF2B5EF4-FFF2-40B4-BE49-F238E27FC236}">
                  <a16:creationId xmlns:a16="http://schemas.microsoft.com/office/drawing/2014/main" id="{38616EFC-BE29-234B-9839-24B4B33B1A17}"/>
                </a:ext>
              </a:extLst>
            </p:cNvPr>
            <p:cNvSpPr>
              <a:spLocks noChangeArrowheads="1"/>
            </p:cNvSpPr>
            <p:nvPr/>
          </p:nvSpPr>
          <p:spPr bwMode="auto">
            <a:xfrm>
              <a:off x="2596031" y="4251765"/>
              <a:ext cx="540000" cy="360000"/>
            </a:xfrm>
            <a:prstGeom prst="rect">
              <a:avLst/>
            </a:prstGeom>
            <a:solidFill>
              <a:schemeClr val="bg1"/>
            </a:solidFill>
            <a:ln w="17463">
              <a:solidFill>
                <a:srgbClr val="000000"/>
              </a:solidFill>
              <a:miter lim="800000"/>
              <a:headEnd/>
              <a:tailEnd/>
            </a:ln>
          </p:spPr>
          <p:txBody>
            <a:bodyPr lIns="0" rIns="0" anchor="ctr" anchorCtr="1"/>
            <a:lstStyle/>
            <a:p>
              <a:pPr algn="ctr"/>
              <a:r>
                <a:rPr lang="en-US" altLang="zh-CN" sz="1600" dirty="0">
                  <a:ea typeface="SimHei" panose="02010609060101010101" pitchFamily="49" charset="-122"/>
                </a:rPr>
                <a:t>16,20</a:t>
              </a:r>
              <a:endParaRPr lang="zh-CN" altLang="en-US" sz="1600" dirty="0">
                <a:ea typeface="SimHei" panose="02010609060101010101" pitchFamily="49" charset="-122"/>
              </a:endParaRPr>
            </a:p>
          </p:txBody>
        </p:sp>
        <p:sp>
          <p:nvSpPr>
            <p:cNvPr id="90" name="Rectangle 26">
              <a:extLst>
                <a:ext uri="{FF2B5EF4-FFF2-40B4-BE49-F238E27FC236}">
                  <a16:creationId xmlns:a16="http://schemas.microsoft.com/office/drawing/2014/main" id="{FB6ACE62-01D4-4749-8F8C-63708190D380}"/>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85" name="Rectangle 11">
            <a:extLst>
              <a:ext uri="{FF2B5EF4-FFF2-40B4-BE49-F238E27FC236}">
                <a16:creationId xmlns:a16="http://schemas.microsoft.com/office/drawing/2014/main" id="{47FF878D-1ADA-0145-89CC-F33E8A3C214E}"/>
              </a:ext>
            </a:extLst>
          </p:cNvPr>
          <p:cNvSpPr>
            <a:spLocks noChangeArrowheads="1"/>
          </p:cNvSpPr>
          <p:nvPr/>
        </p:nvSpPr>
        <p:spPr bwMode="auto">
          <a:xfrm>
            <a:off x="7439139"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86" name="Rectangle 11">
            <a:extLst>
              <a:ext uri="{FF2B5EF4-FFF2-40B4-BE49-F238E27FC236}">
                <a16:creationId xmlns:a16="http://schemas.microsoft.com/office/drawing/2014/main" id="{BD4E7E3D-0119-AA4F-80EE-6D3EBFD68247}"/>
              </a:ext>
            </a:extLst>
          </p:cNvPr>
          <p:cNvSpPr>
            <a:spLocks noChangeArrowheads="1"/>
          </p:cNvSpPr>
          <p:nvPr/>
        </p:nvSpPr>
        <p:spPr bwMode="auto">
          <a:xfrm>
            <a:off x="7439139"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9</a:t>
            </a:r>
            <a:endParaRPr lang="zh-CN" altLang="en-US" sz="1400" dirty="0">
              <a:latin typeface="+mn-lt"/>
              <a:ea typeface="SimHei" panose="02010609060101010101" pitchFamily="49" charset="-122"/>
            </a:endParaRPr>
          </a:p>
        </p:txBody>
      </p:sp>
      <p:grpSp>
        <p:nvGrpSpPr>
          <p:cNvPr id="92" name="组合 91">
            <a:extLst>
              <a:ext uri="{FF2B5EF4-FFF2-40B4-BE49-F238E27FC236}">
                <a16:creationId xmlns:a16="http://schemas.microsoft.com/office/drawing/2014/main" id="{1041ECFB-F979-EA43-ADC7-9505946DCB90}"/>
              </a:ext>
            </a:extLst>
          </p:cNvPr>
          <p:cNvGrpSpPr/>
          <p:nvPr/>
        </p:nvGrpSpPr>
        <p:grpSpPr>
          <a:xfrm>
            <a:off x="8074145" y="3412284"/>
            <a:ext cx="540000" cy="1213599"/>
            <a:chOff x="2596031" y="3525424"/>
            <a:chExt cx="540000" cy="1449124"/>
          </a:xfrm>
        </p:grpSpPr>
        <p:sp>
          <p:nvSpPr>
            <p:cNvPr id="96" name="Rectangle 26">
              <a:extLst>
                <a:ext uri="{FF2B5EF4-FFF2-40B4-BE49-F238E27FC236}">
                  <a16:creationId xmlns:a16="http://schemas.microsoft.com/office/drawing/2014/main" id="{1BD7C5A5-C0C2-6945-9C0D-804D90BF423E}"/>
                </a:ext>
              </a:extLst>
            </p:cNvPr>
            <p:cNvSpPr>
              <a:spLocks noChangeArrowheads="1"/>
            </p:cNvSpPr>
            <p:nvPr/>
          </p:nvSpPr>
          <p:spPr bwMode="auto">
            <a:xfrm>
              <a:off x="2596031" y="3525424"/>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0,4</a:t>
              </a:r>
              <a:endParaRPr lang="zh-CN" altLang="en-US" dirty="0">
                <a:ea typeface="SimHei" panose="02010609060101010101" pitchFamily="49" charset="-122"/>
              </a:endParaRPr>
            </a:p>
          </p:txBody>
        </p:sp>
        <p:sp>
          <p:nvSpPr>
            <p:cNvPr id="97" name="Rectangle 26">
              <a:extLst>
                <a:ext uri="{FF2B5EF4-FFF2-40B4-BE49-F238E27FC236}">
                  <a16:creationId xmlns:a16="http://schemas.microsoft.com/office/drawing/2014/main" id="{79074F80-F9B5-BD49-A7BE-3EF55145A0A4}"/>
                </a:ext>
              </a:extLst>
            </p:cNvPr>
            <p:cNvSpPr>
              <a:spLocks noChangeArrowheads="1"/>
            </p:cNvSpPr>
            <p:nvPr/>
          </p:nvSpPr>
          <p:spPr bwMode="auto">
            <a:xfrm>
              <a:off x="2596031" y="3889854"/>
              <a:ext cx="540000" cy="360000"/>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dirty="0">
                  <a:ea typeface="SimHei" panose="02010609060101010101" pitchFamily="49" charset="-122"/>
                </a:rPr>
                <a:t>8,12</a:t>
              </a:r>
              <a:endParaRPr lang="zh-CN" altLang="en-US" dirty="0">
                <a:ea typeface="SimHei" panose="02010609060101010101" pitchFamily="49" charset="-122"/>
              </a:endParaRPr>
            </a:p>
          </p:txBody>
        </p:sp>
        <p:sp>
          <p:nvSpPr>
            <p:cNvPr id="98" name="Rectangle 26">
              <a:extLst>
                <a:ext uri="{FF2B5EF4-FFF2-40B4-BE49-F238E27FC236}">
                  <a16:creationId xmlns:a16="http://schemas.microsoft.com/office/drawing/2014/main" id="{5885D283-477B-9749-B1C6-BBA580A70989}"/>
                </a:ext>
              </a:extLst>
            </p:cNvPr>
            <p:cNvSpPr>
              <a:spLocks noChangeArrowheads="1"/>
            </p:cNvSpPr>
            <p:nvPr/>
          </p:nvSpPr>
          <p:spPr bwMode="auto">
            <a:xfrm>
              <a:off x="2596031" y="4251765"/>
              <a:ext cx="540000" cy="360000"/>
            </a:xfrm>
            <a:prstGeom prst="rect">
              <a:avLst/>
            </a:prstGeom>
            <a:solidFill>
              <a:srgbClr val="CCFFCC"/>
            </a:solidFill>
            <a:ln w="17463">
              <a:solidFill>
                <a:srgbClr val="000000"/>
              </a:solidFill>
              <a:miter lim="800000"/>
              <a:headEnd/>
              <a:tailEnd/>
            </a:ln>
          </p:spPr>
          <p:txBody>
            <a:bodyPr lIns="0" rIns="0" anchor="ctr" anchorCtr="1"/>
            <a:lstStyle/>
            <a:p>
              <a:pPr algn="ctr"/>
              <a:r>
                <a:rPr lang="en-US" altLang="zh-CN" sz="1600" dirty="0">
                  <a:ea typeface="SimHei" panose="02010609060101010101" pitchFamily="49" charset="-122"/>
                </a:rPr>
                <a:t>16,20</a:t>
              </a:r>
              <a:endParaRPr lang="zh-CN" altLang="en-US" sz="1600" dirty="0">
                <a:ea typeface="SimHei" panose="02010609060101010101" pitchFamily="49" charset="-122"/>
              </a:endParaRPr>
            </a:p>
          </p:txBody>
        </p:sp>
        <p:sp>
          <p:nvSpPr>
            <p:cNvPr id="99" name="Rectangle 26">
              <a:extLst>
                <a:ext uri="{FF2B5EF4-FFF2-40B4-BE49-F238E27FC236}">
                  <a16:creationId xmlns:a16="http://schemas.microsoft.com/office/drawing/2014/main" id="{FC41B285-9A11-6748-9E8D-2034E0DC2E61}"/>
                </a:ext>
              </a:extLst>
            </p:cNvPr>
            <p:cNvSpPr>
              <a:spLocks noChangeArrowheads="1"/>
            </p:cNvSpPr>
            <p:nvPr/>
          </p:nvSpPr>
          <p:spPr bwMode="auto">
            <a:xfrm>
              <a:off x="2596031" y="4614548"/>
              <a:ext cx="540000" cy="360000"/>
            </a:xfrm>
            <a:prstGeom prst="rect">
              <a:avLst/>
            </a:prstGeom>
            <a:solidFill>
              <a:schemeClr val="bg1"/>
            </a:solidFill>
            <a:ln w="17463">
              <a:solidFill>
                <a:srgbClr val="000000"/>
              </a:solidFill>
              <a:miter lim="800000"/>
              <a:headEnd/>
              <a:tailEnd/>
            </a:ln>
          </p:spPr>
          <p:txBody>
            <a:bodyPr anchor="ctr" anchorCtr="1"/>
            <a:lstStyle/>
            <a:p>
              <a:pPr algn="ctr"/>
              <a:r>
                <a:rPr lang="en-US" altLang="zh-CN" dirty="0">
                  <a:ea typeface="SimHei" panose="02010609060101010101" pitchFamily="49" charset="-122"/>
                </a:rPr>
                <a:t>-</a:t>
              </a:r>
              <a:endParaRPr lang="zh-CN" altLang="en-US" dirty="0">
                <a:ea typeface="SimHei" panose="02010609060101010101" pitchFamily="49" charset="-122"/>
              </a:endParaRPr>
            </a:p>
          </p:txBody>
        </p:sp>
      </p:grpSp>
      <p:sp>
        <p:nvSpPr>
          <p:cNvPr id="94" name="Rectangle 11">
            <a:extLst>
              <a:ext uri="{FF2B5EF4-FFF2-40B4-BE49-F238E27FC236}">
                <a16:creationId xmlns:a16="http://schemas.microsoft.com/office/drawing/2014/main" id="{0AD95C60-55FA-A54D-9E36-BCF486C0D0A3}"/>
              </a:ext>
            </a:extLst>
          </p:cNvPr>
          <p:cNvSpPr>
            <a:spLocks noChangeArrowheads="1"/>
          </p:cNvSpPr>
          <p:nvPr/>
        </p:nvSpPr>
        <p:spPr bwMode="auto">
          <a:xfrm>
            <a:off x="8074144" y="29933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95" name="Rectangle 11">
            <a:extLst>
              <a:ext uri="{FF2B5EF4-FFF2-40B4-BE49-F238E27FC236}">
                <a16:creationId xmlns:a16="http://schemas.microsoft.com/office/drawing/2014/main" id="{C1F3C5AC-7990-7B4B-AA69-176F43352857}"/>
              </a:ext>
            </a:extLst>
          </p:cNvPr>
          <p:cNvSpPr>
            <a:spLocks noChangeArrowheads="1"/>
          </p:cNvSpPr>
          <p:nvPr/>
        </p:nvSpPr>
        <p:spPr bwMode="auto">
          <a:xfrm>
            <a:off x="8074144" y="210890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10</a:t>
            </a:r>
            <a:endParaRPr lang="zh-CN" altLang="en-US" sz="1400" dirty="0">
              <a:latin typeface="+mn-lt"/>
              <a:ea typeface="SimHei" panose="02010609060101010101" pitchFamily="49" charset="-122"/>
            </a:endParaRPr>
          </a:p>
        </p:txBody>
      </p:sp>
      <p:sp>
        <p:nvSpPr>
          <p:cNvPr id="100" name="Rectangle 9">
            <a:extLst>
              <a:ext uri="{FF2B5EF4-FFF2-40B4-BE49-F238E27FC236}">
                <a16:creationId xmlns:a16="http://schemas.microsoft.com/office/drawing/2014/main" id="{EF28D8B4-CB57-A34C-B45E-5ADF1F466B5B}"/>
              </a:ext>
            </a:extLst>
          </p:cNvPr>
          <p:cNvSpPr>
            <a:spLocks noChangeArrowheads="1"/>
          </p:cNvSpPr>
          <p:nvPr/>
        </p:nvSpPr>
        <p:spPr bwMode="auto">
          <a:xfrm>
            <a:off x="222131" y="5237451"/>
            <a:ext cx="108363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是否命中</a:t>
            </a:r>
            <a:endParaRPr lang="zh-CN" altLang="en-US" sz="1400" dirty="0">
              <a:latin typeface="Times New Roman" pitchFamily="18" charset="0"/>
              <a:ea typeface="SimHei" panose="02010609060101010101" pitchFamily="49" charset="-122"/>
            </a:endParaRPr>
          </a:p>
        </p:txBody>
      </p:sp>
      <p:sp>
        <p:nvSpPr>
          <p:cNvPr id="101" name="Rectangle 11">
            <a:extLst>
              <a:ext uri="{FF2B5EF4-FFF2-40B4-BE49-F238E27FC236}">
                <a16:creationId xmlns:a16="http://schemas.microsoft.com/office/drawing/2014/main" id="{1EECBC8A-6F74-8D49-BEB8-77F5729A080D}"/>
              </a:ext>
            </a:extLst>
          </p:cNvPr>
          <p:cNvSpPr>
            <a:spLocks noChangeArrowheads="1"/>
          </p:cNvSpPr>
          <p:nvPr/>
        </p:nvSpPr>
        <p:spPr bwMode="auto">
          <a:xfrm>
            <a:off x="1453864" y="5237451"/>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02" name="Rectangle 11">
            <a:extLst>
              <a:ext uri="{FF2B5EF4-FFF2-40B4-BE49-F238E27FC236}">
                <a16:creationId xmlns:a16="http://schemas.microsoft.com/office/drawing/2014/main" id="{EDA488F1-F9E4-AE45-AC4A-0F9F3631134E}"/>
              </a:ext>
            </a:extLst>
          </p:cNvPr>
          <p:cNvSpPr>
            <a:spLocks noChangeArrowheads="1"/>
          </p:cNvSpPr>
          <p:nvPr/>
        </p:nvSpPr>
        <p:spPr bwMode="auto">
          <a:xfrm>
            <a:off x="2457776"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latin typeface="+mn-lt"/>
                <a:ea typeface="SimHei" panose="02010609060101010101" pitchFamily="49" charset="-122"/>
              </a:rPr>
              <a:t>命中</a:t>
            </a:r>
            <a:endParaRPr lang="zh-CN" altLang="en-US" sz="1400" dirty="0">
              <a:solidFill>
                <a:srgbClr val="0432FF"/>
              </a:solidFill>
              <a:latin typeface="+mn-lt"/>
              <a:ea typeface="SimHei" panose="02010609060101010101" pitchFamily="49" charset="-122"/>
            </a:endParaRPr>
          </a:p>
        </p:txBody>
      </p:sp>
      <p:sp>
        <p:nvSpPr>
          <p:cNvPr id="104" name="Rectangle 11">
            <a:extLst>
              <a:ext uri="{FF2B5EF4-FFF2-40B4-BE49-F238E27FC236}">
                <a16:creationId xmlns:a16="http://schemas.microsoft.com/office/drawing/2014/main" id="{80AE6A8B-5FC9-754A-B131-53260CDC8E76}"/>
              </a:ext>
            </a:extLst>
          </p:cNvPr>
          <p:cNvSpPr>
            <a:spLocks noChangeArrowheads="1"/>
          </p:cNvSpPr>
          <p:nvPr/>
        </p:nvSpPr>
        <p:spPr bwMode="auto">
          <a:xfrm>
            <a:off x="3938800"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latin typeface="+mn-lt"/>
                <a:ea typeface="SimHei" panose="02010609060101010101" pitchFamily="49" charset="-122"/>
              </a:rPr>
              <a:t>命中</a:t>
            </a:r>
            <a:endParaRPr lang="zh-CN" altLang="en-US" sz="1400" dirty="0">
              <a:solidFill>
                <a:srgbClr val="0432FF"/>
              </a:solidFill>
              <a:latin typeface="+mn-lt"/>
              <a:ea typeface="SimHei" panose="02010609060101010101" pitchFamily="49" charset="-122"/>
            </a:endParaRPr>
          </a:p>
        </p:txBody>
      </p:sp>
      <p:sp>
        <p:nvSpPr>
          <p:cNvPr id="106" name="Rectangle 11">
            <a:extLst>
              <a:ext uri="{FF2B5EF4-FFF2-40B4-BE49-F238E27FC236}">
                <a16:creationId xmlns:a16="http://schemas.microsoft.com/office/drawing/2014/main" id="{8CD042FA-4AFD-E040-BB31-1FE8134FABE3}"/>
              </a:ext>
            </a:extLst>
          </p:cNvPr>
          <p:cNvSpPr>
            <a:spLocks noChangeArrowheads="1"/>
          </p:cNvSpPr>
          <p:nvPr/>
        </p:nvSpPr>
        <p:spPr bwMode="auto">
          <a:xfrm>
            <a:off x="5419824"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latin typeface="+mn-lt"/>
                <a:ea typeface="SimHei" panose="02010609060101010101" pitchFamily="49" charset="-122"/>
              </a:rPr>
              <a:t>命中</a:t>
            </a:r>
            <a:endParaRPr lang="zh-CN" altLang="en-US" sz="1400" dirty="0">
              <a:solidFill>
                <a:srgbClr val="0432FF"/>
              </a:solidFill>
              <a:latin typeface="+mn-lt"/>
              <a:ea typeface="SimHei" panose="02010609060101010101" pitchFamily="49" charset="-122"/>
            </a:endParaRPr>
          </a:p>
        </p:txBody>
      </p:sp>
      <p:sp>
        <p:nvSpPr>
          <p:cNvPr id="107" name="Rectangle 11">
            <a:extLst>
              <a:ext uri="{FF2B5EF4-FFF2-40B4-BE49-F238E27FC236}">
                <a16:creationId xmlns:a16="http://schemas.microsoft.com/office/drawing/2014/main" id="{373FB718-659A-AE4A-8385-D6A3C5F3DF83}"/>
              </a:ext>
            </a:extLst>
          </p:cNvPr>
          <p:cNvSpPr>
            <a:spLocks noChangeArrowheads="1"/>
          </p:cNvSpPr>
          <p:nvPr/>
        </p:nvSpPr>
        <p:spPr bwMode="auto">
          <a:xfrm>
            <a:off x="6160336"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ea typeface="SimHei" panose="02010609060101010101" pitchFamily="49" charset="-122"/>
              </a:rPr>
              <a:t>命中</a:t>
            </a:r>
            <a:endParaRPr lang="zh-CN" altLang="en-US" sz="1400" dirty="0">
              <a:solidFill>
                <a:srgbClr val="0432FF"/>
              </a:solidFill>
              <a:ea typeface="SimHei" panose="02010609060101010101" pitchFamily="49" charset="-122"/>
            </a:endParaRPr>
          </a:p>
        </p:txBody>
      </p:sp>
      <p:sp>
        <p:nvSpPr>
          <p:cNvPr id="108" name="Rectangle 11">
            <a:extLst>
              <a:ext uri="{FF2B5EF4-FFF2-40B4-BE49-F238E27FC236}">
                <a16:creationId xmlns:a16="http://schemas.microsoft.com/office/drawing/2014/main" id="{D8184972-B288-3E47-83D2-BBFE68D5C98B}"/>
              </a:ext>
            </a:extLst>
          </p:cNvPr>
          <p:cNvSpPr>
            <a:spLocks noChangeArrowheads="1"/>
          </p:cNvSpPr>
          <p:nvPr/>
        </p:nvSpPr>
        <p:spPr bwMode="auto">
          <a:xfrm>
            <a:off x="6830510"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ea typeface="SimHei" panose="02010609060101010101" pitchFamily="49" charset="-122"/>
              </a:rPr>
              <a:t>命中</a:t>
            </a:r>
            <a:endParaRPr lang="zh-CN" altLang="en-US" sz="1400" dirty="0">
              <a:solidFill>
                <a:srgbClr val="0432FF"/>
              </a:solidFill>
              <a:ea typeface="SimHei" panose="02010609060101010101" pitchFamily="49" charset="-122"/>
            </a:endParaRPr>
          </a:p>
        </p:txBody>
      </p:sp>
      <p:sp>
        <p:nvSpPr>
          <p:cNvPr id="109" name="Rectangle 11">
            <a:extLst>
              <a:ext uri="{FF2B5EF4-FFF2-40B4-BE49-F238E27FC236}">
                <a16:creationId xmlns:a16="http://schemas.microsoft.com/office/drawing/2014/main" id="{617AD284-BFFD-0549-B246-BC3E6760D376}"/>
              </a:ext>
            </a:extLst>
          </p:cNvPr>
          <p:cNvSpPr>
            <a:spLocks noChangeArrowheads="1"/>
          </p:cNvSpPr>
          <p:nvPr/>
        </p:nvSpPr>
        <p:spPr bwMode="auto">
          <a:xfrm>
            <a:off x="7465518"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ea typeface="SimHei" panose="02010609060101010101" pitchFamily="49" charset="-122"/>
              </a:rPr>
              <a:t>命中</a:t>
            </a:r>
            <a:endParaRPr lang="zh-CN" altLang="en-US" sz="1400" dirty="0">
              <a:solidFill>
                <a:srgbClr val="0432FF"/>
              </a:solidFill>
              <a:ea typeface="SimHei" panose="02010609060101010101" pitchFamily="49" charset="-122"/>
            </a:endParaRPr>
          </a:p>
        </p:txBody>
      </p:sp>
      <p:sp>
        <p:nvSpPr>
          <p:cNvPr id="110" name="Rectangle 11">
            <a:extLst>
              <a:ext uri="{FF2B5EF4-FFF2-40B4-BE49-F238E27FC236}">
                <a16:creationId xmlns:a16="http://schemas.microsoft.com/office/drawing/2014/main" id="{BE53EF73-AA41-B547-B769-0473A4227976}"/>
              </a:ext>
            </a:extLst>
          </p:cNvPr>
          <p:cNvSpPr>
            <a:spLocks noChangeArrowheads="1"/>
          </p:cNvSpPr>
          <p:nvPr/>
        </p:nvSpPr>
        <p:spPr bwMode="auto">
          <a:xfrm>
            <a:off x="8082933" y="5237451"/>
            <a:ext cx="540001" cy="323165"/>
          </a:xfrm>
          <a:prstGeom prst="rect">
            <a:avLst/>
          </a:prstGeom>
          <a:solidFill>
            <a:srgbClr val="CCFFCC"/>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0432FF"/>
                </a:solidFill>
                <a:ea typeface="SimHei" panose="02010609060101010101" pitchFamily="49" charset="-122"/>
              </a:rPr>
              <a:t>命中</a:t>
            </a:r>
            <a:endParaRPr lang="zh-CN" altLang="en-US" sz="1400" dirty="0">
              <a:solidFill>
                <a:srgbClr val="0432FF"/>
              </a:solidFill>
              <a:ea typeface="SimHei" panose="02010609060101010101" pitchFamily="49" charset="-122"/>
            </a:endParaRPr>
          </a:p>
        </p:txBody>
      </p:sp>
      <p:sp>
        <p:nvSpPr>
          <p:cNvPr id="111" name="Rectangle 11">
            <a:extLst>
              <a:ext uri="{FF2B5EF4-FFF2-40B4-BE49-F238E27FC236}">
                <a16:creationId xmlns:a16="http://schemas.microsoft.com/office/drawing/2014/main" id="{ECC1C622-72C5-214F-9E58-19A743EA78A1}"/>
              </a:ext>
            </a:extLst>
          </p:cNvPr>
          <p:cNvSpPr>
            <a:spLocks noChangeArrowheads="1"/>
          </p:cNvSpPr>
          <p:nvPr/>
        </p:nvSpPr>
        <p:spPr bwMode="auto">
          <a:xfrm>
            <a:off x="2934888" y="5237451"/>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12" name="Rectangle 11">
            <a:extLst>
              <a:ext uri="{FF2B5EF4-FFF2-40B4-BE49-F238E27FC236}">
                <a16:creationId xmlns:a16="http://schemas.microsoft.com/office/drawing/2014/main" id="{FBA94D18-149D-CA46-B2C2-5665F2E5D1AA}"/>
              </a:ext>
            </a:extLst>
          </p:cNvPr>
          <p:cNvSpPr>
            <a:spLocks noChangeArrowheads="1"/>
          </p:cNvSpPr>
          <p:nvPr/>
        </p:nvSpPr>
        <p:spPr bwMode="auto">
          <a:xfrm>
            <a:off x="4415912" y="5237451"/>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13" name="Rectangle 11">
            <a:extLst>
              <a:ext uri="{FF2B5EF4-FFF2-40B4-BE49-F238E27FC236}">
                <a16:creationId xmlns:a16="http://schemas.microsoft.com/office/drawing/2014/main" id="{FA010C43-6A2B-ED47-8593-A2BC647EB53F}"/>
              </a:ext>
            </a:extLst>
          </p:cNvPr>
          <p:cNvSpPr>
            <a:spLocks noChangeArrowheads="1"/>
          </p:cNvSpPr>
          <p:nvPr/>
        </p:nvSpPr>
        <p:spPr bwMode="auto">
          <a:xfrm>
            <a:off x="3198288" y="4831202"/>
            <a:ext cx="540001" cy="323165"/>
          </a:xfrm>
          <a:prstGeom prst="rect">
            <a:avLst/>
          </a:prstGeom>
          <a:solidFill>
            <a:srgbClr val="FFFF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14" name="Rectangle 9">
            <a:extLst>
              <a:ext uri="{FF2B5EF4-FFF2-40B4-BE49-F238E27FC236}">
                <a16:creationId xmlns:a16="http://schemas.microsoft.com/office/drawing/2014/main" id="{093EE85E-DDC3-1B4B-958B-5A838730D0E3}"/>
              </a:ext>
            </a:extLst>
          </p:cNvPr>
          <p:cNvSpPr>
            <a:spLocks noChangeArrowheads="1"/>
          </p:cNvSpPr>
          <p:nvPr/>
        </p:nvSpPr>
        <p:spPr bwMode="auto">
          <a:xfrm>
            <a:off x="512837" y="6216258"/>
            <a:ext cx="762067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000" dirty="0">
                <a:latin typeface="STKaiti" panose="02010600040101010101" pitchFamily="2" charset="-122"/>
                <a:ea typeface="STKaiti" panose="02010600040101010101" pitchFamily="2" charset="-122"/>
              </a:rPr>
              <a:t>指令缺失率 </a:t>
            </a:r>
            <a:r>
              <a:rPr lang="en-US" altLang="zh-CN" sz="2000" dirty="0">
                <a:latin typeface="STKaiti" panose="02010600040101010101" pitchFamily="2" charset="-122"/>
                <a:ea typeface="STKaiti" panose="02010600040101010101" pitchFamily="2" charset="-122"/>
              </a:rPr>
              <a:t>=</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3</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(5</a:t>
            </a:r>
            <a:r>
              <a:rPr lang="zh-CN" altLang="en-US" sz="2000" dirty="0">
                <a:latin typeface="STKaiti" panose="02010600040101010101" pitchFamily="2" charset="-122"/>
                <a:ea typeface="STKaiti" panose="02010600040101010101" pitchFamily="2" charset="-122"/>
              </a:rPr>
              <a:t> * </a:t>
            </a:r>
            <a:r>
              <a:rPr lang="en-US" altLang="zh-CN" sz="2000" dirty="0">
                <a:latin typeface="STKaiti" panose="02010600040101010101" pitchFamily="2" charset="-122"/>
                <a:ea typeface="STKaiti" panose="02010600040101010101" pitchFamily="2" charset="-122"/>
              </a:rPr>
              <a:t>250)</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0.24%</a:t>
            </a:r>
            <a:r>
              <a:rPr lang="zh-CN" altLang="en-US" sz="2000" dirty="0">
                <a:latin typeface="STKaiti" panose="02010600040101010101" pitchFamily="2" charset="-122"/>
                <a:ea typeface="STKaiti" panose="02010600040101010101" pitchFamily="2" charset="-122"/>
              </a:rPr>
              <a:t>，指令命中率 </a:t>
            </a:r>
            <a:r>
              <a:rPr lang="en-US" altLang="zh-CN" sz="2000" dirty="0">
                <a:latin typeface="STKaiti" panose="02010600040101010101" pitchFamily="2" charset="-122"/>
                <a:ea typeface="STKaiti" panose="02010600040101010101" pitchFamily="2" charset="-122"/>
              </a:rPr>
              <a:t>= 1 - 0.24% = 99.76%</a:t>
            </a:r>
          </a:p>
        </p:txBody>
      </p:sp>
      <p:sp>
        <p:nvSpPr>
          <p:cNvPr id="5" name="Rectangle 4">
            <a:extLst>
              <a:ext uri="{FF2B5EF4-FFF2-40B4-BE49-F238E27FC236}">
                <a16:creationId xmlns:a16="http://schemas.microsoft.com/office/drawing/2014/main" id="{A9883742-2BC5-DF42-80E1-D563D5858C27}"/>
              </a:ext>
            </a:extLst>
          </p:cNvPr>
          <p:cNvSpPr/>
          <p:nvPr/>
        </p:nvSpPr>
        <p:spPr>
          <a:xfrm>
            <a:off x="1453864" y="5674800"/>
            <a:ext cx="2954655" cy="369332"/>
          </a:xfrm>
          <a:prstGeom prst="rect">
            <a:avLst/>
          </a:prstGeom>
        </p:spPr>
        <p:txBody>
          <a:bodyPr wrap="none">
            <a:spAutoFit/>
          </a:bodyPr>
          <a:lstStyle/>
          <a:p>
            <a:r>
              <a:rPr lang="en-US" altLang="zh-CN" dirty="0">
                <a:solidFill>
                  <a:srgbClr val="FF0000"/>
                </a:solidFill>
                <a:ea typeface="SimHei" panose="02010609060101010101" pitchFamily="49" charset="-122"/>
              </a:rPr>
              <a:t>data</a:t>
            </a:r>
            <a:r>
              <a:rPr lang="zh-CN" altLang="en-US" dirty="0">
                <a:solidFill>
                  <a:srgbClr val="FF0000"/>
                </a:solidFill>
                <a:ea typeface="SimHei" panose="02010609060101010101" pitchFamily="49" charset="-122"/>
              </a:rPr>
              <a:t> </a:t>
            </a:r>
            <a:r>
              <a:rPr lang="en-US" altLang="zh-CN" dirty="0">
                <a:solidFill>
                  <a:srgbClr val="FF0000"/>
                </a:solidFill>
                <a:ea typeface="SimHei" panose="02010609060101010101" pitchFamily="49" charset="-122"/>
              </a:rPr>
              <a:t>(inst.)</a:t>
            </a:r>
            <a:r>
              <a:rPr lang="zh-CN" altLang="en-US" dirty="0">
                <a:solidFill>
                  <a:srgbClr val="FF0000"/>
                </a:solidFill>
                <a:ea typeface="SimHei" panose="02010609060101010101" pitchFamily="49" charset="-122"/>
              </a:rPr>
              <a:t> </a:t>
            </a:r>
            <a:r>
              <a:rPr lang="en-US" altLang="zh-CN" dirty="0">
                <a:solidFill>
                  <a:srgbClr val="FF0000"/>
                </a:solidFill>
                <a:ea typeface="SimHei" panose="02010609060101010101" pitchFamily="49" charset="-122"/>
              </a:rPr>
              <a:t>not yet in cache</a:t>
            </a:r>
            <a:endParaRPr lang="en-CN" dirty="0">
              <a:ea typeface="SimHei" panose="02010609060101010101" pitchFamily="49" charset="-122"/>
            </a:endParaRPr>
          </a:p>
        </p:txBody>
      </p:sp>
      <p:sp>
        <p:nvSpPr>
          <p:cNvPr id="103" name="矩形 10">
            <a:extLst>
              <a:ext uri="{FF2B5EF4-FFF2-40B4-BE49-F238E27FC236}">
                <a16:creationId xmlns:a16="http://schemas.microsoft.com/office/drawing/2014/main" id="{70494BEA-F38B-9046-9863-B49027B946D6}"/>
              </a:ext>
            </a:extLst>
          </p:cNvPr>
          <p:cNvSpPr/>
          <p:nvPr/>
        </p:nvSpPr>
        <p:spPr>
          <a:xfrm>
            <a:off x="4950522" y="5677742"/>
            <a:ext cx="3708643" cy="369332"/>
          </a:xfrm>
          <a:prstGeom prst="rect">
            <a:avLst/>
          </a:prstGeom>
          <a:solidFill>
            <a:srgbClr val="CCFFCC"/>
          </a:solidFill>
        </p:spPr>
        <p:txBody>
          <a:bodyPr wrap="square">
            <a:spAutoFit/>
          </a:bodyPr>
          <a:lstStyle/>
          <a:p>
            <a:pPr algn="ctr"/>
            <a:r>
              <a:rPr lang="zh-CN" altLang="en-US" dirty="0">
                <a:solidFill>
                  <a:srgbClr val="0432FF"/>
                </a:solidFill>
                <a:latin typeface="+mj-lt"/>
                <a:ea typeface="SimHei" panose="02010609060101010101" pitchFamily="49" charset="-122"/>
              </a:rPr>
              <a:t>已经在</a:t>
            </a:r>
            <a:r>
              <a:rPr lang="en-US" altLang="zh-CN" dirty="0">
                <a:solidFill>
                  <a:srgbClr val="0432FF"/>
                </a:solidFill>
                <a:latin typeface="+mj-lt"/>
                <a:ea typeface="SimHei" panose="02010609060101010101" pitchFamily="49" charset="-122"/>
              </a:rPr>
              <a:t>cache</a:t>
            </a:r>
            <a:r>
              <a:rPr lang="zh-CN" altLang="en-US" dirty="0">
                <a:solidFill>
                  <a:srgbClr val="0432FF"/>
                </a:solidFill>
                <a:latin typeface="+mj-lt"/>
                <a:ea typeface="SimHei" panose="02010609060101010101" pitchFamily="49" charset="-122"/>
              </a:rPr>
              <a:t>里，</a:t>
            </a:r>
            <a:r>
              <a:rPr lang="zh-CN" altLang="en-CN" dirty="0">
                <a:solidFill>
                  <a:srgbClr val="0432FF"/>
                </a:solidFill>
                <a:latin typeface="+mj-lt"/>
                <a:ea typeface="SimHei" panose="02010609060101010101" pitchFamily="49" charset="-122"/>
              </a:rPr>
              <a:t>直接访问</a:t>
            </a:r>
            <a:endParaRPr lang="en-US" altLang="zh-CN" dirty="0">
              <a:solidFill>
                <a:srgbClr val="0432FF"/>
              </a:solidFill>
              <a:latin typeface="+mj-lt"/>
              <a:ea typeface="SimHei" panose="02010609060101010101" pitchFamily="49" charset="-122"/>
            </a:endParaRPr>
          </a:p>
        </p:txBody>
      </p:sp>
      <p:sp>
        <p:nvSpPr>
          <p:cNvPr id="10" name="Rectangle 9">
            <a:extLst>
              <a:ext uri="{FF2B5EF4-FFF2-40B4-BE49-F238E27FC236}">
                <a16:creationId xmlns:a16="http://schemas.microsoft.com/office/drawing/2014/main" id="{0CC09B40-1619-994F-B487-BC5935F86F95}"/>
              </a:ext>
            </a:extLst>
          </p:cNvPr>
          <p:cNvSpPr/>
          <p:nvPr/>
        </p:nvSpPr>
        <p:spPr>
          <a:xfrm>
            <a:off x="3842268" y="1651016"/>
            <a:ext cx="4575291" cy="369332"/>
          </a:xfrm>
          <a:prstGeom prst="rect">
            <a:avLst/>
          </a:prstGeom>
        </p:spPr>
        <p:txBody>
          <a:bodyPr wrap="none">
            <a:spAutoFit/>
          </a:bodyPr>
          <a:lstStyle/>
          <a:p>
            <a:r>
              <a:rPr lang="zh-CN" altLang="en-CN" b="1" dirty="0">
                <a:latin typeface="STKaiti" panose="02010600040101010101" pitchFamily="2" charset="-122"/>
                <a:ea typeface="STKaiti" panose="02010600040101010101" pitchFamily="2" charset="-122"/>
              </a:rPr>
              <a:t>直接映像</a:t>
            </a:r>
            <a:r>
              <a:rPr lang="zh-CN" altLang="en-US" b="1" dirty="0">
                <a:latin typeface="STKaiti" panose="02010600040101010101" pitchFamily="2" charset="-122"/>
                <a:ea typeface="STKaiti" panose="02010600040101010101" pitchFamily="2" charset="-122"/>
              </a:rPr>
              <a:t>，</a:t>
            </a:r>
            <a:r>
              <a:rPr lang="en-US" altLang="zh-CN" b="1" dirty="0">
                <a:latin typeface="STKaiti" panose="02010600040101010101" pitchFamily="2" charset="-122"/>
                <a:ea typeface="STKaiti" panose="02010600040101010101" pitchFamily="2" charset="-122"/>
              </a:rPr>
              <a:t>Cache</a:t>
            </a:r>
            <a:r>
              <a:rPr lang="zh-CN" altLang="en-US" b="1" dirty="0">
                <a:latin typeface="STKaiti" panose="02010600040101010101" pitchFamily="2" charset="-122"/>
                <a:ea typeface="STKaiti" panose="02010600040101010101" pitchFamily="2" charset="-122"/>
              </a:rPr>
              <a:t>共</a:t>
            </a:r>
            <a:r>
              <a:rPr lang="en-US" altLang="zh-CN" b="1" dirty="0">
                <a:latin typeface="STKaiti" panose="02010600040101010101" pitchFamily="2" charset="-122"/>
                <a:ea typeface="STKaiti" panose="02010600040101010101" pitchFamily="2" charset="-122"/>
              </a:rPr>
              <a:t>4</a:t>
            </a:r>
            <a:r>
              <a:rPr lang="zh-CN" altLang="en-US" b="1" dirty="0">
                <a:latin typeface="STKaiti" panose="02010600040101010101" pitchFamily="2" charset="-122"/>
                <a:ea typeface="STKaiti" panose="02010600040101010101" pitchFamily="2" charset="-122"/>
              </a:rPr>
              <a:t>行，每个行中有两个字</a:t>
            </a:r>
            <a:endParaRPr lang="en-CN" b="1" dirty="0">
              <a:latin typeface="STKaiti" panose="02010600040101010101" pitchFamily="2" charset="-122"/>
              <a:ea typeface="STKaiti" panose="02010600040101010101" pitchFamily="2" charset="-122"/>
            </a:endParaRPr>
          </a:p>
        </p:txBody>
      </p:sp>
      <p:sp>
        <p:nvSpPr>
          <p:cNvPr id="128" name="Rectangle 127">
            <a:extLst>
              <a:ext uri="{FF2B5EF4-FFF2-40B4-BE49-F238E27FC236}">
                <a16:creationId xmlns:a16="http://schemas.microsoft.com/office/drawing/2014/main" id="{0FC7423B-F2F6-9D46-A212-EDBC4BC18C03}"/>
              </a:ext>
            </a:extLst>
          </p:cNvPr>
          <p:cNvSpPr>
            <a:spLocks noChangeArrowheads="1"/>
          </p:cNvSpPr>
          <p:nvPr/>
        </p:nvSpPr>
        <p:spPr bwMode="auto">
          <a:xfrm>
            <a:off x="222131" y="2531332"/>
            <a:ext cx="108363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指令标号</a:t>
            </a:r>
            <a:endParaRPr lang="zh-CN" altLang="en-US" sz="1400" dirty="0">
              <a:latin typeface="Times New Roman" pitchFamily="18" charset="0"/>
              <a:ea typeface="SimHei" panose="02010609060101010101" pitchFamily="49" charset="-122"/>
            </a:endParaRPr>
          </a:p>
        </p:txBody>
      </p:sp>
      <p:sp>
        <p:nvSpPr>
          <p:cNvPr id="129" name="Rectangle 11">
            <a:extLst>
              <a:ext uri="{FF2B5EF4-FFF2-40B4-BE49-F238E27FC236}">
                <a16:creationId xmlns:a16="http://schemas.microsoft.com/office/drawing/2014/main" id="{8B01F62E-A6B7-2240-B26E-CFB86D835677}"/>
              </a:ext>
            </a:extLst>
          </p:cNvPr>
          <p:cNvSpPr>
            <a:spLocks noChangeArrowheads="1"/>
          </p:cNvSpPr>
          <p:nvPr/>
        </p:nvSpPr>
        <p:spPr bwMode="auto">
          <a:xfrm>
            <a:off x="1717264"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130" name="Rectangle 11">
            <a:extLst>
              <a:ext uri="{FF2B5EF4-FFF2-40B4-BE49-F238E27FC236}">
                <a16:creationId xmlns:a16="http://schemas.microsoft.com/office/drawing/2014/main" id="{7CDEAEDB-0958-B843-B192-805714EC2CB0}"/>
              </a:ext>
            </a:extLst>
          </p:cNvPr>
          <p:cNvSpPr>
            <a:spLocks noChangeArrowheads="1"/>
          </p:cNvSpPr>
          <p:nvPr/>
        </p:nvSpPr>
        <p:spPr bwMode="auto">
          <a:xfrm>
            <a:off x="2457776"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sp>
        <p:nvSpPr>
          <p:cNvPr id="131" name="Rectangle 11">
            <a:extLst>
              <a:ext uri="{FF2B5EF4-FFF2-40B4-BE49-F238E27FC236}">
                <a16:creationId xmlns:a16="http://schemas.microsoft.com/office/drawing/2014/main" id="{DC4389D8-7FA9-884C-826B-028AE57C481F}"/>
              </a:ext>
            </a:extLst>
          </p:cNvPr>
          <p:cNvSpPr>
            <a:spLocks noChangeArrowheads="1"/>
          </p:cNvSpPr>
          <p:nvPr/>
        </p:nvSpPr>
        <p:spPr bwMode="auto">
          <a:xfrm>
            <a:off x="3198288"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8</a:t>
            </a:r>
            <a:endParaRPr lang="zh-CN" altLang="en-US" sz="1400" dirty="0">
              <a:latin typeface="+mn-lt"/>
              <a:ea typeface="SimHei" panose="02010609060101010101" pitchFamily="49" charset="-122"/>
            </a:endParaRPr>
          </a:p>
        </p:txBody>
      </p:sp>
      <p:sp>
        <p:nvSpPr>
          <p:cNvPr id="132" name="Rectangle 11">
            <a:extLst>
              <a:ext uri="{FF2B5EF4-FFF2-40B4-BE49-F238E27FC236}">
                <a16:creationId xmlns:a16="http://schemas.microsoft.com/office/drawing/2014/main" id="{431E0C2D-630D-D54C-9FCF-059D7B2DE081}"/>
              </a:ext>
            </a:extLst>
          </p:cNvPr>
          <p:cNvSpPr>
            <a:spLocks noChangeArrowheads="1"/>
          </p:cNvSpPr>
          <p:nvPr/>
        </p:nvSpPr>
        <p:spPr bwMode="auto">
          <a:xfrm>
            <a:off x="3938800"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a:t>
            </a:r>
            <a:endParaRPr lang="zh-CN" altLang="en-US" sz="1400" dirty="0">
              <a:latin typeface="+mn-lt"/>
              <a:ea typeface="SimHei" panose="02010609060101010101" pitchFamily="49" charset="-122"/>
            </a:endParaRPr>
          </a:p>
        </p:txBody>
      </p:sp>
      <p:sp>
        <p:nvSpPr>
          <p:cNvPr id="133" name="Rectangle 11">
            <a:extLst>
              <a:ext uri="{FF2B5EF4-FFF2-40B4-BE49-F238E27FC236}">
                <a16:creationId xmlns:a16="http://schemas.microsoft.com/office/drawing/2014/main" id="{E55026C9-E8E7-184C-8AAE-DA283A615060}"/>
              </a:ext>
            </a:extLst>
          </p:cNvPr>
          <p:cNvSpPr>
            <a:spLocks noChangeArrowheads="1"/>
          </p:cNvSpPr>
          <p:nvPr/>
        </p:nvSpPr>
        <p:spPr bwMode="auto">
          <a:xfrm>
            <a:off x="4679312"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16</a:t>
            </a:r>
            <a:endParaRPr lang="zh-CN" altLang="en-US" sz="1400" dirty="0">
              <a:latin typeface="+mn-lt"/>
              <a:ea typeface="SimHei" panose="02010609060101010101" pitchFamily="49" charset="-122"/>
            </a:endParaRPr>
          </a:p>
        </p:txBody>
      </p:sp>
      <p:sp>
        <p:nvSpPr>
          <p:cNvPr id="134" name="Rectangle 11">
            <a:extLst>
              <a:ext uri="{FF2B5EF4-FFF2-40B4-BE49-F238E27FC236}">
                <a16:creationId xmlns:a16="http://schemas.microsoft.com/office/drawing/2014/main" id="{736F0ACB-5A6B-C04C-9B3C-E5A9BB9C40CE}"/>
              </a:ext>
            </a:extLst>
          </p:cNvPr>
          <p:cNvSpPr>
            <a:spLocks noChangeArrowheads="1"/>
          </p:cNvSpPr>
          <p:nvPr/>
        </p:nvSpPr>
        <p:spPr bwMode="auto">
          <a:xfrm>
            <a:off x="5419824"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135" name="Rectangle 11">
            <a:extLst>
              <a:ext uri="{FF2B5EF4-FFF2-40B4-BE49-F238E27FC236}">
                <a16:creationId xmlns:a16="http://schemas.microsoft.com/office/drawing/2014/main" id="{9FCA48B9-1E42-1A43-B8E7-D9F2E79828E1}"/>
              </a:ext>
            </a:extLst>
          </p:cNvPr>
          <p:cNvSpPr>
            <a:spLocks noChangeArrowheads="1"/>
          </p:cNvSpPr>
          <p:nvPr/>
        </p:nvSpPr>
        <p:spPr bwMode="auto">
          <a:xfrm>
            <a:off x="6160336"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sp>
        <p:nvSpPr>
          <p:cNvPr id="136" name="Rectangle 11">
            <a:extLst>
              <a:ext uri="{FF2B5EF4-FFF2-40B4-BE49-F238E27FC236}">
                <a16:creationId xmlns:a16="http://schemas.microsoft.com/office/drawing/2014/main" id="{CC0BC85A-55A1-8C47-82BC-5B76FF24DAF6}"/>
              </a:ext>
            </a:extLst>
          </p:cNvPr>
          <p:cNvSpPr>
            <a:spLocks noChangeArrowheads="1"/>
          </p:cNvSpPr>
          <p:nvPr/>
        </p:nvSpPr>
        <p:spPr bwMode="auto">
          <a:xfrm>
            <a:off x="6804134"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8</a:t>
            </a:r>
            <a:endParaRPr lang="zh-CN" altLang="en-US" sz="1400" dirty="0">
              <a:latin typeface="+mn-lt"/>
              <a:ea typeface="SimHei" panose="02010609060101010101" pitchFamily="49" charset="-122"/>
            </a:endParaRPr>
          </a:p>
        </p:txBody>
      </p:sp>
      <p:sp>
        <p:nvSpPr>
          <p:cNvPr id="137" name="Rectangle 11">
            <a:extLst>
              <a:ext uri="{FF2B5EF4-FFF2-40B4-BE49-F238E27FC236}">
                <a16:creationId xmlns:a16="http://schemas.microsoft.com/office/drawing/2014/main" id="{24A543F3-64E6-5143-B9C3-B3521CD3E628}"/>
              </a:ext>
            </a:extLst>
          </p:cNvPr>
          <p:cNvSpPr>
            <a:spLocks noChangeArrowheads="1"/>
          </p:cNvSpPr>
          <p:nvPr/>
        </p:nvSpPr>
        <p:spPr bwMode="auto">
          <a:xfrm>
            <a:off x="7439139"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a:t>
            </a:r>
            <a:endParaRPr lang="zh-CN" altLang="en-US" sz="1400" dirty="0">
              <a:latin typeface="+mn-lt"/>
              <a:ea typeface="SimHei" panose="02010609060101010101" pitchFamily="49" charset="-122"/>
            </a:endParaRPr>
          </a:p>
        </p:txBody>
      </p:sp>
      <p:sp>
        <p:nvSpPr>
          <p:cNvPr id="138" name="Rectangle 11">
            <a:extLst>
              <a:ext uri="{FF2B5EF4-FFF2-40B4-BE49-F238E27FC236}">
                <a16:creationId xmlns:a16="http://schemas.microsoft.com/office/drawing/2014/main" id="{A99F2EAB-52B7-6844-8C56-5397B8EFC90E}"/>
              </a:ext>
            </a:extLst>
          </p:cNvPr>
          <p:cNvSpPr>
            <a:spLocks noChangeArrowheads="1"/>
          </p:cNvSpPr>
          <p:nvPr/>
        </p:nvSpPr>
        <p:spPr bwMode="auto">
          <a:xfrm>
            <a:off x="8074144" y="254868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16</a:t>
            </a:r>
            <a:endParaRPr lang="zh-CN" altLang="en-US" sz="1400" dirty="0">
              <a:latin typeface="+mn-lt"/>
              <a:ea typeface="SimHei" panose="02010609060101010101" pitchFamily="49" charset="-122"/>
            </a:endParaRPr>
          </a:p>
        </p:txBody>
      </p:sp>
      <p:sp>
        <p:nvSpPr>
          <p:cNvPr id="139" name="Rectangle 11">
            <a:extLst>
              <a:ext uri="{FF2B5EF4-FFF2-40B4-BE49-F238E27FC236}">
                <a16:creationId xmlns:a16="http://schemas.microsoft.com/office/drawing/2014/main" id="{831A1E27-75C2-004F-829B-97346EAB0A62}"/>
              </a:ext>
            </a:extLst>
          </p:cNvPr>
          <p:cNvSpPr>
            <a:spLocks noChangeArrowheads="1"/>
          </p:cNvSpPr>
          <p:nvPr/>
        </p:nvSpPr>
        <p:spPr bwMode="auto">
          <a:xfrm>
            <a:off x="1207023" y="4018634"/>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140" name="Rectangle 11">
            <a:extLst>
              <a:ext uri="{FF2B5EF4-FFF2-40B4-BE49-F238E27FC236}">
                <a16:creationId xmlns:a16="http://schemas.microsoft.com/office/drawing/2014/main" id="{B7763D15-9CDF-1A46-8391-503AE1164C63}"/>
              </a:ext>
            </a:extLst>
          </p:cNvPr>
          <p:cNvSpPr>
            <a:spLocks noChangeArrowheads="1"/>
          </p:cNvSpPr>
          <p:nvPr/>
        </p:nvSpPr>
        <p:spPr bwMode="auto">
          <a:xfrm>
            <a:off x="1207023" y="3397697"/>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0</a:t>
            </a:r>
            <a:endParaRPr lang="zh-CN" altLang="en-US" sz="1400" dirty="0">
              <a:latin typeface="+mn-lt"/>
              <a:ea typeface="SimHei" panose="02010609060101010101" pitchFamily="49" charset="-122"/>
            </a:endParaRPr>
          </a:p>
        </p:txBody>
      </p:sp>
      <p:sp>
        <p:nvSpPr>
          <p:cNvPr id="141" name="Rectangle 11">
            <a:extLst>
              <a:ext uri="{FF2B5EF4-FFF2-40B4-BE49-F238E27FC236}">
                <a16:creationId xmlns:a16="http://schemas.microsoft.com/office/drawing/2014/main" id="{00BBC7A0-FCBB-2A4D-ADAD-858DAAC20618}"/>
              </a:ext>
            </a:extLst>
          </p:cNvPr>
          <p:cNvSpPr>
            <a:spLocks noChangeArrowheads="1"/>
          </p:cNvSpPr>
          <p:nvPr/>
        </p:nvSpPr>
        <p:spPr bwMode="auto">
          <a:xfrm>
            <a:off x="1207023" y="3699589"/>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142" name="Rectangle 11">
            <a:extLst>
              <a:ext uri="{FF2B5EF4-FFF2-40B4-BE49-F238E27FC236}">
                <a16:creationId xmlns:a16="http://schemas.microsoft.com/office/drawing/2014/main" id="{AE1F0B51-861F-BA4F-A958-4BF212CF9C85}"/>
              </a:ext>
            </a:extLst>
          </p:cNvPr>
          <p:cNvSpPr>
            <a:spLocks noChangeArrowheads="1"/>
          </p:cNvSpPr>
          <p:nvPr/>
        </p:nvSpPr>
        <p:spPr bwMode="auto">
          <a:xfrm>
            <a:off x="1207023" y="4309871"/>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graphicFrame>
        <p:nvGraphicFramePr>
          <p:cNvPr id="19" name="Table 20">
            <a:extLst>
              <a:ext uri="{FF2B5EF4-FFF2-40B4-BE49-F238E27FC236}">
                <a16:creationId xmlns:a16="http://schemas.microsoft.com/office/drawing/2014/main" id="{776409F9-5FEB-1F4D-A175-8D91E15601BF}"/>
              </a:ext>
            </a:extLst>
          </p:cNvPr>
          <p:cNvGraphicFramePr>
            <a:graphicFrameLocks noGrp="1"/>
          </p:cNvGraphicFramePr>
          <p:nvPr>
            <p:extLst>
              <p:ext uri="{D42A27DB-BD31-4B8C-83A1-F6EECF244321}">
                <p14:modId xmlns:p14="http://schemas.microsoft.com/office/powerpoint/2010/main" val="4207081116"/>
              </p:ext>
            </p:extLst>
          </p:nvPr>
        </p:nvGraphicFramePr>
        <p:xfrm>
          <a:off x="8574373" y="104895"/>
          <a:ext cx="465455" cy="2011680"/>
        </p:xfrm>
        <a:graphic>
          <a:graphicData uri="http://schemas.openxmlformats.org/drawingml/2006/table">
            <a:tbl>
              <a:tblPr firstRow="1" bandRow="1">
                <a:tableStyleId>{5940675A-B579-460E-94D1-54222C63F5DA}</a:tableStyleId>
              </a:tblPr>
              <a:tblGrid>
                <a:gridCol w="465455">
                  <a:extLst>
                    <a:ext uri="{9D8B030D-6E8A-4147-A177-3AD203B41FA5}">
                      <a16:colId xmlns:a16="http://schemas.microsoft.com/office/drawing/2014/main" val="3777275115"/>
                    </a:ext>
                  </a:extLst>
                </a:gridCol>
              </a:tblGrid>
              <a:tr h="322560">
                <a:tc>
                  <a:txBody>
                    <a:bodyPr/>
                    <a:lstStyle/>
                    <a:p>
                      <a:pPr algn="ctr"/>
                      <a:r>
                        <a:rPr lang="en-CN" sz="1600" dirty="0"/>
                        <a:t>0</a:t>
                      </a:r>
                    </a:p>
                  </a:txBody>
                  <a:tcPr>
                    <a:solidFill>
                      <a:schemeClr val="bg1"/>
                    </a:solidFill>
                  </a:tcPr>
                </a:tc>
                <a:extLst>
                  <a:ext uri="{0D108BD9-81ED-4DB2-BD59-A6C34878D82A}">
                    <a16:rowId xmlns:a16="http://schemas.microsoft.com/office/drawing/2014/main" val="1834820383"/>
                  </a:ext>
                </a:extLst>
              </a:tr>
              <a:tr h="322560">
                <a:tc>
                  <a:txBody>
                    <a:bodyPr/>
                    <a:lstStyle/>
                    <a:p>
                      <a:pPr algn="ctr"/>
                      <a:r>
                        <a:rPr lang="en-CN" sz="1600" dirty="0"/>
                        <a:t>4</a:t>
                      </a:r>
                    </a:p>
                  </a:txBody>
                  <a:tcPr>
                    <a:solidFill>
                      <a:schemeClr val="bg1"/>
                    </a:solidFill>
                  </a:tcPr>
                </a:tc>
                <a:extLst>
                  <a:ext uri="{0D108BD9-81ED-4DB2-BD59-A6C34878D82A}">
                    <a16:rowId xmlns:a16="http://schemas.microsoft.com/office/drawing/2014/main" val="1202016351"/>
                  </a:ext>
                </a:extLst>
              </a:tr>
              <a:tr h="322560">
                <a:tc>
                  <a:txBody>
                    <a:bodyPr/>
                    <a:lstStyle/>
                    <a:p>
                      <a:pPr algn="ctr"/>
                      <a:r>
                        <a:rPr lang="en-CN" sz="1600" dirty="0"/>
                        <a:t>8</a:t>
                      </a:r>
                    </a:p>
                  </a:txBody>
                  <a:tcPr>
                    <a:solidFill>
                      <a:schemeClr val="bg1"/>
                    </a:solidFill>
                  </a:tcPr>
                </a:tc>
                <a:extLst>
                  <a:ext uri="{0D108BD9-81ED-4DB2-BD59-A6C34878D82A}">
                    <a16:rowId xmlns:a16="http://schemas.microsoft.com/office/drawing/2014/main" val="1138424914"/>
                  </a:ext>
                </a:extLst>
              </a:tr>
              <a:tr h="322560">
                <a:tc>
                  <a:txBody>
                    <a:bodyPr/>
                    <a:lstStyle/>
                    <a:p>
                      <a:pPr algn="ctr"/>
                      <a:r>
                        <a:rPr lang="en-CN" sz="1600" dirty="0"/>
                        <a:t>12</a:t>
                      </a:r>
                    </a:p>
                  </a:txBody>
                  <a:tcPr>
                    <a:solidFill>
                      <a:schemeClr val="bg1"/>
                    </a:solidFill>
                  </a:tcPr>
                </a:tc>
                <a:extLst>
                  <a:ext uri="{0D108BD9-81ED-4DB2-BD59-A6C34878D82A}">
                    <a16:rowId xmlns:a16="http://schemas.microsoft.com/office/drawing/2014/main" val="2717052093"/>
                  </a:ext>
                </a:extLst>
              </a:tr>
              <a:tr h="322560">
                <a:tc>
                  <a:txBody>
                    <a:bodyPr/>
                    <a:lstStyle/>
                    <a:p>
                      <a:pPr algn="ctr"/>
                      <a:r>
                        <a:rPr lang="en-CN" sz="1600" dirty="0"/>
                        <a:t>16</a:t>
                      </a:r>
                    </a:p>
                  </a:txBody>
                  <a:tcPr>
                    <a:solidFill>
                      <a:schemeClr val="bg1"/>
                    </a:solidFill>
                  </a:tcPr>
                </a:tc>
                <a:extLst>
                  <a:ext uri="{0D108BD9-81ED-4DB2-BD59-A6C34878D82A}">
                    <a16:rowId xmlns:a16="http://schemas.microsoft.com/office/drawing/2014/main" val="575567721"/>
                  </a:ext>
                </a:extLst>
              </a:tr>
              <a:tr h="322560">
                <a:tc>
                  <a:txBody>
                    <a:bodyPr/>
                    <a:lstStyle/>
                    <a:p>
                      <a:pPr algn="ctr"/>
                      <a:r>
                        <a:rPr lang="en-CN" sz="1600" dirty="0"/>
                        <a:t>20</a:t>
                      </a:r>
                    </a:p>
                  </a:txBody>
                  <a:tcPr>
                    <a:solidFill>
                      <a:schemeClr val="bg1"/>
                    </a:solidFill>
                  </a:tcPr>
                </a:tc>
                <a:extLst>
                  <a:ext uri="{0D108BD9-81ED-4DB2-BD59-A6C34878D82A}">
                    <a16:rowId xmlns:a16="http://schemas.microsoft.com/office/drawing/2014/main" val="2696168406"/>
                  </a:ext>
                </a:extLst>
              </a:tr>
            </a:tbl>
          </a:graphicData>
        </a:graphic>
      </p:graphicFrame>
      <p:graphicFrame>
        <p:nvGraphicFramePr>
          <p:cNvPr id="21" name="Table 20">
            <a:extLst>
              <a:ext uri="{FF2B5EF4-FFF2-40B4-BE49-F238E27FC236}">
                <a16:creationId xmlns:a16="http://schemas.microsoft.com/office/drawing/2014/main" id="{CD8D81C2-E4D7-6D44-B003-3D72AAD7973E}"/>
              </a:ext>
            </a:extLst>
          </p:cNvPr>
          <p:cNvGraphicFramePr>
            <a:graphicFrameLocks noGrp="1"/>
          </p:cNvGraphicFramePr>
          <p:nvPr>
            <p:extLst>
              <p:ext uri="{D42A27DB-BD31-4B8C-83A1-F6EECF244321}">
                <p14:modId xmlns:p14="http://schemas.microsoft.com/office/powerpoint/2010/main" val="1530101850"/>
              </p:ext>
            </p:extLst>
          </p:nvPr>
        </p:nvGraphicFramePr>
        <p:xfrm>
          <a:off x="6390120" y="254139"/>
          <a:ext cx="1821180" cy="136450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dirty="0"/>
                        <a:t>L</a:t>
                      </a:r>
                      <a:r>
                        <a:rPr lang="en-CN" sz="1600" dirty="0"/>
                        <a:t>ine 0: two words</a:t>
                      </a:r>
                    </a:p>
                  </a:txBody>
                  <a:tcPr>
                    <a:solidFill>
                      <a:schemeClr val="bg1"/>
                    </a:solidFill>
                  </a:tcPr>
                </a:tc>
                <a:extLst>
                  <a:ext uri="{0D108BD9-81ED-4DB2-BD59-A6C34878D82A}">
                    <a16:rowId xmlns:a16="http://schemas.microsoft.com/office/drawing/2014/main" val="1118228480"/>
                  </a:ext>
                </a:extLst>
              </a:tr>
              <a:tr h="322560">
                <a:tc>
                  <a:txBody>
                    <a:bodyPr/>
                    <a:lstStyle/>
                    <a:p>
                      <a:r>
                        <a:rPr lang="en-CN" sz="1600" dirty="0"/>
                        <a:t>Line 1: two words</a:t>
                      </a:r>
                    </a:p>
                  </a:txBody>
                  <a:tcPr>
                    <a:solidFill>
                      <a:schemeClr val="bg1"/>
                    </a:solidFill>
                  </a:tcPr>
                </a:tc>
                <a:extLst>
                  <a:ext uri="{0D108BD9-81ED-4DB2-BD59-A6C34878D82A}">
                    <a16:rowId xmlns:a16="http://schemas.microsoft.com/office/drawing/2014/main" val="3945531257"/>
                  </a:ext>
                </a:extLst>
              </a:tr>
              <a:tr h="322560">
                <a:tc>
                  <a:txBody>
                    <a:bodyPr/>
                    <a:lstStyle/>
                    <a:p>
                      <a:r>
                        <a:rPr lang="en-CN" sz="1600" dirty="0"/>
                        <a:t>Line 2: two words</a:t>
                      </a:r>
                    </a:p>
                  </a:txBody>
                  <a:tcPr>
                    <a:solidFill>
                      <a:schemeClr val="bg1"/>
                    </a:solidFill>
                  </a:tcPr>
                </a:tc>
                <a:extLst>
                  <a:ext uri="{0D108BD9-81ED-4DB2-BD59-A6C34878D82A}">
                    <a16:rowId xmlns:a16="http://schemas.microsoft.com/office/drawing/2014/main" val="605631684"/>
                  </a:ext>
                </a:extLst>
              </a:tr>
              <a:tr h="322560">
                <a:tc>
                  <a:txBody>
                    <a:bodyPr/>
                    <a:lstStyle/>
                    <a:p>
                      <a:r>
                        <a:rPr lang="en-CN" sz="1600" dirty="0"/>
                        <a:t>Line 3: two words</a:t>
                      </a:r>
                    </a:p>
                  </a:txBody>
                  <a:tcPr>
                    <a:solidFill>
                      <a:schemeClr val="bg1"/>
                    </a:solidFill>
                  </a:tcPr>
                </a:tc>
                <a:extLst>
                  <a:ext uri="{0D108BD9-81ED-4DB2-BD59-A6C34878D82A}">
                    <a16:rowId xmlns:a16="http://schemas.microsoft.com/office/drawing/2014/main" val="1931199062"/>
                  </a:ext>
                </a:extLst>
              </a:tr>
            </a:tbl>
          </a:graphicData>
        </a:graphic>
      </p:graphicFrame>
      <p:cxnSp>
        <p:nvCxnSpPr>
          <p:cNvPr id="37" name="Straight Arrow Connector 36">
            <a:extLst>
              <a:ext uri="{FF2B5EF4-FFF2-40B4-BE49-F238E27FC236}">
                <a16:creationId xmlns:a16="http://schemas.microsoft.com/office/drawing/2014/main" id="{C36FE3DD-584A-2D4D-BC85-F022699D8A18}"/>
              </a:ext>
            </a:extLst>
          </p:cNvPr>
          <p:cNvCxnSpPr/>
          <p:nvPr/>
        </p:nvCxnSpPr>
        <p:spPr>
          <a:xfrm flipH="1">
            <a:off x="8211300" y="254139"/>
            <a:ext cx="363073" cy="1678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4" name="Straight Arrow Connector 143">
            <a:extLst>
              <a:ext uri="{FF2B5EF4-FFF2-40B4-BE49-F238E27FC236}">
                <a16:creationId xmlns:a16="http://schemas.microsoft.com/office/drawing/2014/main" id="{D38947EF-FF6F-FB42-8545-DF05165523D2}"/>
              </a:ext>
            </a:extLst>
          </p:cNvPr>
          <p:cNvCxnSpPr>
            <a:cxnSpLocks/>
          </p:cNvCxnSpPr>
          <p:nvPr/>
        </p:nvCxnSpPr>
        <p:spPr>
          <a:xfrm flipH="1" flipV="1">
            <a:off x="8211300" y="745348"/>
            <a:ext cx="352105" cy="157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Rectangle 54">
            <a:extLst>
              <a:ext uri="{FF2B5EF4-FFF2-40B4-BE49-F238E27FC236}">
                <a16:creationId xmlns:a16="http://schemas.microsoft.com/office/drawing/2014/main" id="{B481C19B-528E-A94B-B8CB-A829C2E43C34}"/>
              </a:ext>
            </a:extLst>
          </p:cNvPr>
          <p:cNvSpPr/>
          <p:nvPr/>
        </p:nvSpPr>
        <p:spPr>
          <a:xfrm>
            <a:off x="8570307" y="98997"/>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6" name="Rectangle 145">
            <a:extLst>
              <a:ext uri="{FF2B5EF4-FFF2-40B4-BE49-F238E27FC236}">
                <a16:creationId xmlns:a16="http://schemas.microsoft.com/office/drawing/2014/main" id="{E8E91F98-7295-2D48-B61C-E577434D715C}"/>
              </a:ext>
            </a:extLst>
          </p:cNvPr>
          <p:cNvSpPr/>
          <p:nvPr/>
        </p:nvSpPr>
        <p:spPr>
          <a:xfrm>
            <a:off x="8570307" y="766648"/>
            <a:ext cx="476422" cy="689812"/>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7" name="Straight Arrow Connector 146">
            <a:extLst>
              <a:ext uri="{FF2B5EF4-FFF2-40B4-BE49-F238E27FC236}">
                <a16:creationId xmlns:a16="http://schemas.microsoft.com/office/drawing/2014/main" id="{689B137A-93DC-5247-8B64-19D9E96CE95B}"/>
              </a:ext>
            </a:extLst>
          </p:cNvPr>
          <p:cNvCxnSpPr>
            <a:cxnSpLocks/>
          </p:cNvCxnSpPr>
          <p:nvPr/>
        </p:nvCxnSpPr>
        <p:spPr>
          <a:xfrm flipH="1" flipV="1">
            <a:off x="8218202" y="1097331"/>
            <a:ext cx="352105" cy="5224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8" name="Rectangle 147">
            <a:extLst>
              <a:ext uri="{FF2B5EF4-FFF2-40B4-BE49-F238E27FC236}">
                <a16:creationId xmlns:a16="http://schemas.microsoft.com/office/drawing/2014/main" id="{48CAD9CB-A745-4946-B9A6-D5A4490FF401}"/>
              </a:ext>
            </a:extLst>
          </p:cNvPr>
          <p:cNvSpPr/>
          <p:nvPr/>
        </p:nvSpPr>
        <p:spPr>
          <a:xfrm>
            <a:off x="6391308" y="246581"/>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9" name="Rectangle 148">
            <a:extLst>
              <a:ext uri="{FF2B5EF4-FFF2-40B4-BE49-F238E27FC236}">
                <a16:creationId xmlns:a16="http://schemas.microsoft.com/office/drawing/2014/main" id="{5A89FEC3-9DB5-CF42-90C8-2D271171CF64}"/>
              </a:ext>
            </a:extLst>
          </p:cNvPr>
          <p:cNvSpPr/>
          <p:nvPr/>
        </p:nvSpPr>
        <p:spPr>
          <a:xfrm>
            <a:off x="6394759" y="627055"/>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0" name="Rectangle 149">
            <a:extLst>
              <a:ext uri="{FF2B5EF4-FFF2-40B4-BE49-F238E27FC236}">
                <a16:creationId xmlns:a16="http://schemas.microsoft.com/office/drawing/2014/main" id="{E3E1CF26-46A6-254B-B816-2D7EA6FE9702}"/>
              </a:ext>
            </a:extLst>
          </p:cNvPr>
          <p:cNvSpPr/>
          <p:nvPr/>
        </p:nvSpPr>
        <p:spPr>
          <a:xfrm>
            <a:off x="6394759" y="955667"/>
            <a:ext cx="1826894" cy="30880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2" name="Rectangle 151">
            <a:extLst>
              <a:ext uri="{FF2B5EF4-FFF2-40B4-BE49-F238E27FC236}">
                <a16:creationId xmlns:a16="http://schemas.microsoft.com/office/drawing/2014/main" id="{2E3C7B08-386A-1A42-82FB-D82CA03C7F49}"/>
              </a:ext>
            </a:extLst>
          </p:cNvPr>
          <p:cNvSpPr/>
          <p:nvPr/>
        </p:nvSpPr>
        <p:spPr>
          <a:xfrm>
            <a:off x="8574037" y="1483509"/>
            <a:ext cx="476422" cy="62716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8471831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pPr algn="l"/>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77</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44741" y="1235807"/>
            <a:ext cx="4230101" cy="539939"/>
          </a:xfrm>
        </p:spPr>
        <p:txBody>
          <a:bodyPr/>
          <a:lstStyle/>
          <a:p>
            <a:pPr>
              <a:buClr>
                <a:schemeClr val="tx1"/>
              </a:buClr>
            </a:pPr>
            <a:r>
              <a:rPr lang="en-US" altLang="zh-CN" sz="2800" dirty="0">
                <a:solidFill>
                  <a:srgbClr val="0432FF"/>
                </a:solidFill>
              </a:rPr>
              <a:t>Step2</a:t>
            </a:r>
            <a:r>
              <a:rPr lang="zh-CN" altLang="en-US" sz="2800" dirty="0">
                <a:solidFill>
                  <a:srgbClr val="0432FF"/>
                </a:solidFill>
              </a:rPr>
              <a:t>：数据过程分析</a:t>
            </a:r>
            <a:endParaRPr lang="en-US" altLang="zh-CN" sz="2800" dirty="0">
              <a:solidFill>
                <a:srgbClr val="0432FF"/>
              </a:solidFill>
            </a:endParaRPr>
          </a:p>
        </p:txBody>
      </p:sp>
      <p:sp>
        <p:nvSpPr>
          <p:cNvPr id="6" name="Rectangle 4">
            <a:extLst>
              <a:ext uri="{FF2B5EF4-FFF2-40B4-BE49-F238E27FC236}">
                <a16:creationId xmlns:a16="http://schemas.microsoft.com/office/drawing/2014/main" id="{CA372B5B-E7A2-7043-9EED-5665506FBE81}"/>
              </a:ext>
            </a:extLst>
          </p:cNvPr>
          <p:cNvSpPr>
            <a:spLocks noChangeArrowheads="1"/>
          </p:cNvSpPr>
          <p:nvPr/>
        </p:nvSpPr>
        <p:spPr bwMode="auto">
          <a:xfrm>
            <a:off x="217661" y="2230025"/>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访问顺序</a:t>
            </a:r>
            <a:endParaRPr lang="zh-CN" altLang="en-US" sz="1400" dirty="0">
              <a:latin typeface="Times New Roman" pitchFamily="18" charset="0"/>
              <a:ea typeface="SimHei" panose="02010609060101010101" pitchFamily="49" charset="-122"/>
            </a:endParaRPr>
          </a:p>
        </p:txBody>
      </p:sp>
      <p:sp>
        <p:nvSpPr>
          <p:cNvPr id="7" name="Rectangle 6">
            <a:extLst>
              <a:ext uri="{FF2B5EF4-FFF2-40B4-BE49-F238E27FC236}">
                <a16:creationId xmlns:a16="http://schemas.microsoft.com/office/drawing/2014/main" id="{EC158702-ADE3-F543-A0B8-F22935313E6F}"/>
              </a:ext>
            </a:extLst>
          </p:cNvPr>
          <p:cNvSpPr>
            <a:spLocks noChangeArrowheads="1"/>
          </p:cNvSpPr>
          <p:nvPr/>
        </p:nvSpPr>
        <p:spPr bwMode="auto">
          <a:xfrm>
            <a:off x="217661" y="2640730"/>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地址块号</a:t>
            </a:r>
            <a:endParaRPr lang="zh-CN" altLang="en-US" sz="1400" dirty="0">
              <a:latin typeface="Times New Roman" pitchFamily="18" charset="0"/>
              <a:ea typeface="SimHei" panose="02010609060101010101" pitchFamily="49" charset="-122"/>
            </a:endParaRPr>
          </a:p>
        </p:txBody>
      </p:sp>
      <p:sp>
        <p:nvSpPr>
          <p:cNvPr id="8" name="Rectangle 8">
            <a:extLst>
              <a:ext uri="{FF2B5EF4-FFF2-40B4-BE49-F238E27FC236}">
                <a16:creationId xmlns:a16="http://schemas.microsoft.com/office/drawing/2014/main" id="{2EC430C7-7F5B-0C4B-8B6F-40EE2F3D0ACF}"/>
              </a:ext>
            </a:extLst>
          </p:cNvPr>
          <p:cNvSpPr>
            <a:spLocks noChangeArrowheads="1"/>
          </p:cNvSpPr>
          <p:nvPr/>
        </p:nvSpPr>
        <p:spPr bwMode="auto">
          <a:xfrm>
            <a:off x="284014" y="3650411"/>
            <a:ext cx="807913"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lgn="ctr" defTabSz="1009650"/>
            <a:r>
              <a:rPr lang="zh-CN" altLang="en-US" sz="2100" dirty="0">
                <a:latin typeface="SimHei" panose="02010609060101010101" pitchFamily="49" charset="-122"/>
                <a:ea typeface="SimHei" panose="02010609060101010101" pitchFamily="49" charset="-122"/>
              </a:rPr>
              <a:t>行分配</a:t>
            </a:r>
            <a:br>
              <a:rPr lang="en-US" altLang="zh-CN" sz="2100" dirty="0">
                <a:latin typeface="SimHei" panose="02010609060101010101" pitchFamily="49" charset="-122"/>
                <a:ea typeface="SimHei" panose="02010609060101010101" pitchFamily="49" charset="-122"/>
              </a:rPr>
            </a:br>
            <a:r>
              <a:rPr lang="zh-CN" altLang="en-US" sz="2100" dirty="0">
                <a:latin typeface="SimHei" panose="02010609060101010101" pitchFamily="49" charset="-122"/>
                <a:ea typeface="SimHei" panose="02010609060101010101" pitchFamily="49" charset="-122"/>
              </a:rPr>
              <a:t>情况</a:t>
            </a:r>
            <a:endParaRPr lang="zh-CN" altLang="en-US" sz="1400" dirty="0">
              <a:latin typeface="Times New Roman" pitchFamily="18" charset="0"/>
              <a:ea typeface="SimHei" panose="02010609060101010101" pitchFamily="49" charset="-122"/>
            </a:endParaRPr>
          </a:p>
        </p:txBody>
      </p:sp>
      <p:sp>
        <p:nvSpPr>
          <p:cNvPr id="9" name="Rectangle 9">
            <a:extLst>
              <a:ext uri="{FF2B5EF4-FFF2-40B4-BE49-F238E27FC236}">
                <a16:creationId xmlns:a16="http://schemas.microsoft.com/office/drawing/2014/main" id="{00D3E4BB-13D8-8342-8DAB-0FF112C10D59}"/>
              </a:ext>
            </a:extLst>
          </p:cNvPr>
          <p:cNvSpPr>
            <a:spLocks noChangeArrowheads="1"/>
          </p:cNvSpPr>
          <p:nvPr/>
        </p:nvSpPr>
        <p:spPr bwMode="auto">
          <a:xfrm>
            <a:off x="217661" y="4955603"/>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操作状态</a:t>
            </a:r>
            <a:endParaRPr lang="zh-CN" altLang="en-US" sz="1400" dirty="0">
              <a:latin typeface="Times New Roman" pitchFamily="18" charset="0"/>
              <a:ea typeface="SimHei" panose="02010609060101010101" pitchFamily="49" charset="-122"/>
            </a:endParaRPr>
          </a:p>
        </p:txBody>
      </p:sp>
      <p:sp>
        <p:nvSpPr>
          <p:cNvPr id="11" name="Rectangle 11">
            <a:extLst>
              <a:ext uri="{FF2B5EF4-FFF2-40B4-BE49-F238E27FC236}">
                <a16:creationId xmlns:a16="http://schemas.microsoft.com/office/drawing/2014/main" id="{05E7EBF1-BA77-EF4E-BACC-42132A665471}"/>
              </a:ext>
            </a:extLst>
          </p:cNvPr>
          <p:cNvSpPr>
            <a:spLocks noChangeArrowheads="1"/>
          </p:cNvSpPr>
          <p:nvPr/>
        </p:nvSpPr>
        <p:spPr bwMode="auto">
          <a:xfrm>
            <a:off x="1712794" y="4955603"/>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5" name="Rectangle 26">
            <a:extLst>
              <a:ext uri="{FF2B5EF4-FFF2-40B4-BE49-F238E27FC236}">
                <a16:creationId xmlns:a16="http://schemas.microsoft.com/office/drawing/2014/main" id="{BEFC1C1B-7B91-1940-BE3D-E5C83B063F41}"/>
              </a:ext>
            </a:extLst>
          </p:cNvPr>
          <p:cNvSpPr>
            <a:spLocks noChangeArrowheads="1"/>
          </p:cNvSpPr>
          <p:nvPr/>
        </p:nvSpPr>
        <p:spPr bwMode="auto">
          <a:xfrm>
            <a:off x="1712795" y="3497203"/>
            <a:ext cx="540000" cy="442482"/>
          </a:xfrm>
          <a:prstGeom prst="rect">
            <a:avLst/>
          </a:prstGeom>
          <a:solidFill>
            <a:srgbClr val="FFFF00"/>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16" name="Rectangle 26">
            <a:extLst>
              <a:ext uri="{FF2B5EF4-FFF2-40B4-BE49-F238E27FC236}">
                <a16:creationId xmlns:a16="http://schemas.microsoft.com/office/drawing/2014/main" id="{9AAE2028-D38D-2E44-81D3-B387C2C31BAB}"/>
              </a:ext>
            </a:extLst>
          </p:cNvPr>
          <p:cNvSpPr>
            <a:spLocks noChangeArrowheads="1"/>
          </p:cNvSpPr>
          <p:nvPr/>
        </p:nvSpPr>
        <p:spPr bwMode="auto">
          <a:xfrm>
            <a:off x="1712795" y="394513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7" name="Rectangle 26">
            <a:extLst>
              <a:ext uri="{FF2B5EF4-FFF2-40B4-BE49-F238E27FC236}">
                <a16:creationId xmlns:a16="http://schemas.microsoft.com/office/drawing/2014/main" id="{4AEBBAE0-C493-BF4F-8A8B-853E1D7C8C50}"/>
              </a:ext>
            </a:extLst>
          </p:cNvPr>
          <p:cNvSpPr>
            <a:spLocks noChangeArrowheads="1"/>
          </p:cNvSpPr>
          <p:nvPr/>
        </p:nvSpPr>
        <p:spPr bwMode="auto">
          <a:xfrm>
            <a:off x="1712795" y="4389961"/>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8" name="Rectangle 26">
            <a:extLst>
              <a:ext uri="{FF2B5EF4-FFF2-40B4-BE49-F238E27FC236}">
                <a16:creationId xmlns:a16="http://schemas.microsoft.com/office/drawing/2014/main" id="{38F401E3-766D-9349-96AB-08D1DA201361}"/>
              </a:ext>
            </a:extLst>
          </p:cNvPr>
          <p:cNvSpPr>
            <a:spLocks noChangeArrowheads="1"/>
          </p:cNvSpPr>
          <p:nvPr/>
        </p:nvSpPr>
        <p:spPr bwMode="auto">
          <a:xfrm>
            <a:off x="1712795" y="305456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3" name="Rectangle 11">
            <a:extLst>
              <a:ext uri="{FF2B5EF4-FFF2-40B4-BE49-F238E27FC236}">
                <a16:creationId xmlns:a16="http://schemas.microsoft.com/office/drawing/2014/main" id="{0AEFDF77-968C-0F4B-A99E-607A350233A6}"/>
              </a:ext>
            </a:extLst>
          </p:cNvPr>
          <p:cNvSpPr>
            <a:spLocks noChangeArrowheads="1"/>
          </p:cNvSpPr>
          <p:nvPr/>
        </p:nvSpPr>
        <p:spPr bwMode="auto">
          <a:xfrm>
            <a:off x="1712794"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125</a:t>
            </a:r>
            <a:endParaRPr lang="zh-CN" altLang="en-US" sz="1400" dirty="0">
              <a:latin typeface="+mn-lt"/>
              <a:ea typeface="SimHei" panose="02010609060101010101" pitchFamily="49" charset="-122"/>
            </a:endParaRPr>
          </a:p>
        </p:txBody>
      </p:sp>
      <p:sp>
        <p:nvSpPr>
          <p:cNvPr id="14" name="Rectangle 11">
            <a:extLst>
              <a:ext uri="{FF2B5EF4-FFF2-40B4-BE49-F238E27FC236}">
                <a16:creationId xmlns:a16="http://schemas.microsoft.com/office/drawing/2014/main" id="{81488C19-E728-B744-BBBF-333715DB9791}"/>
              </a:ext>
            </a:extLst>
          </p:cNvPr>
          <p:cNvSpPr>
            <a:spLocks noChangeArrowheads="1"/>
          </p:cNvSpPr>
          <p:nvPr/>
        </p:nvSpPr>
        <p:spPr bwMode="auto">
          <a:xfrm>
            <a:off x="1712794"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24" name="Rectangle 26">
            <a:extLst>
              <a:ext uri="{FF2B5EF4-FFF2-40B4-BE49-F238E27FC236}">
                <a16:creationId xmlns:a16="http://schemas.microsoft.com/office/drawing/2014/main" id="{18239AA6-2107-B54B-BCF0-FF3D49920309}"/>
              </a:ext>
            </a:extLst>
          </p:cNvPr>
          <p:cNvSpPr>
            <a:spLocks noChangeArrowheads="1"/>
          </p:cNvSpPr>
          <p:nvPr/>
        </p:nvSpPr>
        <p:spPr bwMode="auto">
          <a:xfrm>
            <a:off x="2453306" y="3497203"/>
            <a:ext cx="540000" cy="442482"/>
          </a:xfrm>
          <a:prstGeom prst="rect">
            <a:avLst/>
          </a:prstGeom>
          <a:solidFill>
            <a:srgbClr val="CCFFCC"/>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25" name="Rectangle 26">
            <a:extLst>
              <a:ext uri="{FF2B5EF4-FFF2-40B4-BE49-F238E27FC236}">
                <a16:creationId xmlns:a16="http://schemas.microsoft.com/office/drawing/2014/main" id="{F48F01F4-E1FB-0043-B37C-4D4D89F5D7C8}"/>
              </a:ext>
            </a:extLst>
          </p:cNvPr>
          <p:cNvSpPr>
            <a:spLocks noChangeArrowheads="1"/>
          </p:cNvSpPr>
          <p:nvPr/>
        </p:nvSpPr>
        <p:spPr bwMode="auto">
          <a:xfrm>
            <a:off x="2453306"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26" name="Rectangle 26">
            <a:extLst>
              <a:ext uri="{FF2B5EF4-FFF2-40B4-BE49-F238E27FC236}">
                <a16:creationId xmlns:a16="http://schemas.microsoft.com/office/drawing/2014/main" id="{AF9D90DD-67BE-944A-B08C-99024340F8EE}"/>
              </a:ext>
            </a:extLst>
          </p:cNvPr>
          <p:cNvSpPr>
            <a:spLocks noChangeArrowheads="1"/>
          </p:cNvSpPr>
          <p:nvPr/>
        </p:nvSpPr>
        <p:spPr bwMode="auto">
          <a:xfrm>
            <a:off x="2453306"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27" name="Rectangle 26">
            <a:extLst>
              <a:ext uri="{FF2B5EF4-FFF2-40B4-BE49-F238E27FC236}">
                <a16:creationId xmlns:a16="http://schemas.microsoft.com/office/drawing/2014/main" id="{25BDD638-8E3F-9546-AA51-924B48C03330}"/>
              </a:ext>
            </a:extLst>
          </p:cNvPr>
          <p:cNvSpPr>
            <a:spLocks noChangeArrowheads="1"/>
          </p:cNvSpPr>
          <p:nvPr/>
        </p:nvSpPr>
        <p:spPr bwMode="auto">
          <a:xfrm>
            <a:off x="2453306"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22" name="Rectangle 11">
            <a:extLst>
              <a:ext uri="{FF2B5EF4-FFF2-40B4-BE49-F238E27FC236}">
                <a16:creationId xmlns:a16="http://schemas.microsoft.com/office/drawing/2014/main" id="{A0399615-A991-5E4E-BDF3-27E9605EB26F}"/>
              </a:ext>
            </a:extLst>
          </p:cNvPr>
          <p:cNvSpPr>
            <a:spLocks noChangeArrowheads="1"/>
          </p:cNvSpPr>
          <p:nvPr/>
        </p:nvSpPr>
        <p:spPr bwMode="auto">
          <a:xfrm>
            <a:off x="2453306"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125</a:t>
            </a:r>
            <a:endParaRPr lang="zh-CN" altLang="en-US" sz="1400" dirty="0">
              <a:latin typeface="+mn-lt"/>
              <a:ea typeface="SimHei" panose="02010609060101010101" pitchFamily="49" charset="-122"/>
            </a:endParaRPr>
          </a:p>
        </p:txBody>
      </p:sp>
      <p:sp>
        <p:nvSpPr>
          <p:cNvPr id="23" name="Rectangle 11">
            <a:extLst>
              <a:ext uri="{FF2B5EF4-FFF2-40B4-BE49-F238E27FC236}">
                <a16:creationId xmlns:a16="http://schemas.microsoft.com/office/drawing/2014/main" id="{655B718D-DDD5-B048-8B87-937713D5A719}"/>
              </a:ext>
            </a:extLst>
          </p:cNvPr>
          <p:cNvSpPr>
            <a:spLocks noChangeArrowheads="1"/>
          </p:cNvSpPr>
          <p:nvPr/>
        </p:nvSpPr>
        <p:spPr bwMode="auto">
          <a:xfrm>
            <a:off x="2453306"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33" name="Rectangle 26">
            <a:extLst>
              <a:ext uri="{FF2B5EF4-FFF2-40B4-BE49-F238E27FC236}">
                <a16:creationId xmlns:a16="http://schemas.microsoft.com/office/drawing/2014/main" id="{3C8499B6-B08E-6A4F-B281-DB81DD8C3C0D}"/>
              </a:ext>
            </a:extLst>
          </p:cNvPr>
          <p:cNvSpPr>
            <a:spLocks noChangeArrowheads="1"/>
          </p:cNvSpPr>
          <p:nvPr/>
        </p:nvSpPr>
        <p:spPr bwMode="auto">
          <a:xfrm>
            <a:off x="3193818" y="3497203"/>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34" name="Rectangle 26">
            <a:extLst>
              <a:ext uri="{FF2B5EF4-FFF2-40B4-BE49-F238E27FC236}">
                <a16:creationId xmlns:a16="http://schemas.microsoft.com/office/drawing/2014/main" id="{AE7009DF-66B2-B344-A8C6-9371A409288E}"/>
              </a:ext>
            </a:extLst>
          </p:cNvPr>
          <p:cNvSpPr>
            <a:spLocks noChangeArrowheads="1"/>
          </p:cNvSpPr>
          <p:nvPr/>
        </p:nvSpPr>
        <p:spPr bwMode="auto">
          <a:xfrm>
            <a:off x="3193818" y="3945130"/>
            <a:ext cx="540000" cy="442482"/>
          </a:xfrm>
          <a:prstGeom prst="rect">
            <a:avLst/>
          </a:prstGeom>
          <a:solidFill>
            <a:srgbClr val="FFFF00"/>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35" name="Rectangle 26">
            <a:extLst>
              <a:ext uri="{FF2B5EF4-FFF2-40B4-BE49-F238E27FC236}">
                <a16:creationId xmlns:a16="http://schemas.microsoft.com/office/drawing/2014/main" id="{C31B225C-3969-BB4A-BFE3-011CB1448933}"/>
              </a:ext>
            </a:extLst>
          </p:cNvPr>
          <p:cNvSpPr>
            <a:spLocks noChangeArrowheads="1"/>
          </p:cNvSpPr>
          <p:nvPr/>
        </p:nvSpPr>
        <p:spPr bwMode="auto">
          <a:xfrm>
            <a:off x="3193818"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36" name="Rectangle 26">
            <a:extLst>
              <a:ext uri="{FF2B5EF4-FFF2-40B4-BE49-F238E27FC236}">
                <a16:creationId xmlns:a16="http://schemas.microsoft.com/office/drawing/2014/main" id="{DA812CE5-FA12-874C-AE5C-784E32EB055F}"/>
              </a:ext>
            </a:extLst>
          </p:cNvPr>
          <p:cNvSpPr>
            <a:spLocks noChangeArrowheads="1"/>
          </p:cNvSpPr>
          <p:nvPr/>
        </p:nvSpPr>
        <p:spPr bwMode="auto">
          <a:xfrm>
            <a:off x="3193818"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31" name="Rectangle 11">
            <a:extLst>
              <a:ext uri="{FF2B5EF4-FFF2-40B4-BE49-F238E27FC236}">
                <a16:creationId xmlns:a16="http://schemas.microsoft.com/office/drawing/2014/main" id="{8F6B22A7-4F0A-B44C-B8A6-E487F1A0C502}"/>
              </a:ext>
            </a:extLst>
          </p:cNvPr>
          <p:cNvSpPr>
            <a:spLocks noChangeArrowheads="1"/>
          </p:cNvSpPr>
          <p:nvPr/>
        </p:nvSpPr>
        <p:spPr bwMode="auto">
          <a:xfrm>
            <a:off x="3193818"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126</a:t>
            </a:r>
            <a:endParaRPr lang="zh-CN" altLang="en-US" sz="1400" dirty="0">
              <a:latin typeface="+mn-lt"/>
              <a:ea typeface="SimHei" panose="02010609060101010101" pitchFamily="49" charset="-122"/>
            </a:endParaRPr>
          </a:p>
        </p:txBody>
      </p:sp>
      <p:sp>
        <p:nvSpPr>
          <p:cNvPr id="32" name="Rectangle 11">
            <a:extLst>
              <a:ext uri="{FF2B5EF4-FFF2-40B4-BE49-F238E27FC236}">
                <a16:creationId xmlns:a16="http://schemas.microsoft.com/office/drawing/2014/main" id="{171CDFD0-6483-394A-A21E-DF121F723942}"/>
              </a:ext>
            </a:extLst>
          </p:cNvPr>
          <p:cNvSpPr>
            <a:spLocks noChangeArrowheads="1"/>
          </p:cNvSpPr>
          <p:nvPr/>
        </p:nvSpPr>
        <p:spPr bwMode="auto">
          <a:xfrm>
            <a:off x="3193818"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sp>
        <p:nvSpPr>
          <p:cNvPr id="42" name="Rectangle 26">
            <a:extLst>
              <a:ext uri="{FF2B5EF4-FFF2-40B4-BE49-F238E27FC236}">
                <a16:creationId xmlns:a16="http://schemas.microsoft.com/office/drawing/2014/main" id="{A1D36437-52BD-FE4E-809E-0A70E2A6A297}"/>
              </a:ext>
            </a:extLst>
          </p:cNvPr>
          <p:cNvSpPr>
            <a:spLocks noChangeArrowheads="1"/>
          </p:cNvSpPr>
          <p:nvPr/>
        </p:nvSpPr>
        <p:spPr bwMode="auto">
          <a:xfrm>
            <a:off x="3934330" y="3497203"/>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43" name="Rectangle 26">
            <a:extLst>
              <a:ext uri="{FF2B5EF4-FFF2-40B4-BE49-F238E27FC236}">
                <a16:creationId xmlns:a16="http://schemas.microsoft.com/office/drawing/2014/main" id="{7E0D9038-8927-5F42-B553-CD5F23D620E1}"/>
              </a:ext>
            </a:extLst>
          </p:cNvPr>
          <p:cNvSpPr>
            <a:spLocks noChangeArrowheads="1"/>
          </p:cNvSpPr>
          <p:nvPr/>
        </p:nvSpPr>
        <p:spPr bwMode="auto">
          <a:xfrm>
            <a:off x="3934330" y="3945130"/>
            <a:ext cx="540000" cy="442482"/>
          </a:xfrm>
          <a:prstGeom prst="rect">
            <a:avLst/>
          </a:prstGeom>
          <a:solidFill>
            <a:srgbClr val="CCFFCC"/>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44" name="Rectangle 26">
            <a:extLst>
              <a:ext uri="{FF2B5EF4-FFF2-40B4-BE49-F238E27FC236}">
                <a16:creationId xmlns:a16="http://schemas.microsoft.com/office/drawing/2014/main" id="{00759151-9B49-AA4E-A04E-220FF005E729}"/>
              </a:ext>
            </a:extLst>
          </p:cNvPr>
          <p:cNvSpPr>
            <a:spLocks noChangeArrowheads="1"/>
          </p:cNvSpPr>
          <p:nvPr/>
        </p:nvSpPr>
        <p:spPr bwMode="auto">
          <a:xfrm>
            <a:off x="3934330"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45" name="Rectangle 26">
            <a:extLst>
              <a:ext uri="{FF2B5EF4-FFF2-40B4-BE49-F238E27FC236}">
                <a16:creationId xmlns:a16="http://schemas.microsoft.com/office/drawing/2014/main" id="{4C6D82A4-7F83-6A45-A228-77E4206D82EE}"/>
              </a:ext>
            </a:extLst>
          </p:cNvPr>
          <p:cNvSpPr>
            <a:spLocks noChangeArrowheads="1"/>
          </p:cNvSpPr>
          <p:nvPr/>
        </p:nvSpPr>
        <p:spPr bwMode="auto">
          <a:xfrm>
            <a:off x="3934330"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40" name="Rectangle 11">
            <a:extLst>
              <a:ext uri="{FF2B5EF4-FFF2-40B4-BE49-F238E27FC236}">
                <a16:creationId xmlns:a16="http://schemas.microsoft.com/office/drawing/2014/main" id="{43F0002A-93A7-AC47-82C2-0CD23361AB8A}"/>
              </a:ext>
            </a:extLst>
          </p:cNvPr>
          <p:cNvSpPr>
            <a:spLocks noChangeArrowheads="1"/>
          </p:cNvSpPr>
          <p:nvPr/>
        </p:nvSpPr>
        <p:spPr bwMode="auto">
          <a:xfrm>
            <a:off x="3934330"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126</a:t>
            </a:r>
            <a:endParaRPr lang="zh-CN" altLang="en-US" sz="1400" dirty="0">
              <a:latin typeface="+mn-lt"/>
              <a:ea typeface="SimHei" panose="02010609060101010101" pitchFamily="49" charset="-122"/>
            </a:endParaRPr>
          </a:p>
        </p:txBody>
      </p:sp>
      <p:sp>
        <p:nvSpPr>
          <p:cNvPr id="41" name="Rectangle 11">
            <a:extLst>
              <a:ext uri="{FF2B5EF4-FFF2-40B4-BE49-F238E27FC236}">
                <a16:creationId xmlns:a16="http://schemas.microsoft.com/office/drawing/2014/main" id="{C7EE1EE6-E294-5E4D-AFFB-C1E49D048410}"/>
              </a:ext>
            </a:extLst>
          </p:cNvPr>
          <p:cNvSpPr>
            <a:spLocks noChangeArrowheads="1"/>
          </p:cNvSpPr>
          <p:nvPr/>
        </p:nvSpPr>
        <p:spPr bwMode="auto">
          <a:xfrm>
            <a:off x="3934330"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sp>
        <p:nvSpPr>
          <p:cNvPr id="51" name="Rectangle 26">
            <a:extLst>
              <a:ext uri="{FF2B5EF4-FFF2-40B4-BE49-F238E27FC236}">
                <a16:creationId xmlns:a16="http://schemas.microsoft.com/office/drawing/2014/main" id="{CFC54EB8-DDD2-F84C-BB9F-C3CED9B07403}"/>
              </a:ext>
            </a:extLst>
          </p:cNvPr>
          <p:cNvSpPr>
            <a:spLocks noChangeArrowheads="1"/>
          </p:cNvSpPr>
          <p:nvPr/>
        </p:nvSpPr>
        <p:spPr bwMode="auto">
          <a:xfrm>
            <a:off x="4674842" y="3497203"/>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52" name="Rectangle 26">
            <a:extLst>
              <a:ext uri="{FF2B5EF4-FFF2-40B4-BE49-F238E27FC236}">
                <a16:creationId xmlns:a16="http://schemas.microsoft.com/office/drawing/2014/main" id="{A1E45A9B-B997-4A46-B7B2-2649B9ED02BE}"/>
              </a:ext>
            </a:extLst>
          </p:cNvPr>
          <p:cNvSpPr>
            <a:spLocks noChangeArrowheads="1"/>
          </p:cNvSpPr>
          <p:nvPr/>
        </p:nvSpPr>
        <p:spPr bwMode="auto">
          <a:xfrm>
            <a:off x="4674842"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53" name="Rectangle 26">
            <a:extLst>
              <a:ext uri="{FF2B5EF4-FFF2-40B4-BE49-F238E27FC236}">
                <a16:creationId xmlns:a16="http://schemas.microsoft.com/office/drawing/2014/main" id="{63E0D797-D87C-A441-8C49-D92EDED9F437}"/>
              </a:ext>
            </a:extLst>
          </p:cNvPr>
          <p:cNvSpPr>
            <a:spLocks noChangeArrowheads="1"/>
          </p:cNvSpPr>
          <p:nvPr/>
        </p:nvSpPr>
        <p:spPr bwMode="auto">
          <a:xfrm>
            <a:off x="4674842" y="4389961"/>
            <a:ext cx="540000" cy="442482"/>
          </a:xfrm>
          <a:prstGeom prst="rect">
            <a:avLst/>
          </a:prstGeom>
          <a:solidFill>
            <a:srgbClr val="FFFF00"/>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127</a:t>
            </a:r>
            <a:endParaRPr lang="zh-CN" altLang="en-US" sz="1600" dirty="0">
              <a:ea typeface="SimHei" panose="02010609060101010101" pitchFamily="49" charset="-122"/>
            </a:endParaRPr>
          </a:p>
        </p:txBody>
      </p:sp>
      <p:sp>
        <p:nvSpPr>
          <p:cNvPr id="54" name="Rectangle 26">
            <a:extLst>
              <a:ext uri="{FF2B5EF4-FFF2-40B4-BE49-F238E27FC236}">
                <a16:creationId xmlns:a16="http://schemas.microsoft.com/office/drawing/2014/main" id="{851D03B2-7789-A142-A4FC-F979DE2CB51F}"/>
              </a:ext>
            </a:extLst>
          </p:cNvPr>
          <p:cNvSpPr>
            <a:spLocks noChangeArrowheads="1"/>
          </p:cNvSpPr>
          <p:nvPr/>
        </p:nvSpPr>
        <p:spPr bwMode="auto">
          <a:xfrm>
            <a:off x="4674842"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48" name="Rectangle 11">
            <a:extLst>
              <a:ext uri="{FF2B5EF4-FFF2-40B4-BE49-F238E27FC236}">
                <a16:creationId xmlns:a16="http://schemas.microsoft.com/office/drawing/2014/main" id="{EA246335-4837-E84B-8E32-B74C59BA4E3A}"/>
              </a:ext>
            </a:extLst>
          </p:cNvPr>
          <p:cNvSpPr>
            <a:spLocks noChangeArrowheads="1"/>
          </p:cNvSpPr>
          <p:nvPr/>
        </p:nvSpPr>
        <p:spPr bwMode="auto">
          <a:xfrm>
            <a:off x="4674842"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49" name="Rectangle 11">
            <a:extLst>
              <a:ext uri="{FF2B5EF4-FFF2-40B4-BE49-F238E27FC236}">
                <a16:creationId xmlns:a16="http://schemas.microsoft.com/office/drawing/2014/main" id="{0A629D87-4C8E-C843-B96B-92B82165BBE3}"/>
              </a:ext>
            </a:extLst>
          </p:cNvPr>
          <p:cNvSpPr>
            <a:spLocks noChangeArrowheads="1"/>
          </p:cNvSpPr>
          <p:nvPr/>
        </p:nvSpPr>
        <p:spPr bwMode="auto">
          <a:xfrm>
            <a:off x="4674842"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127</a:t>
            </a:r>
            <a:endParaRPr lang="zh-CN" altLang="en-US" sz="1400" dirty="0">
              <a:latin typeface="+mn-lt"/>
              <a:ea typeface="SimHei" panose="02010609060101010101" pitchFamily="49" charset="-122"/>
            </a:endParaRPr>
          </a:p>
        </p:txBody>
      </p:sp>
      <p:sp>
        <p:nvSpPr>
          <p:cNvPr id="50" name="Rectangle 11">
            <a:extLst>
              <a:ext uri="{FF2B5EF4-FFF2-40B4-BE49-F238E27FC236}">
                <a16:creationId xmlns:a16="http://schemas.microsoft.com/office/drawing/2014/main" id="{8F1A0D31-5456-7646-9DBE-3A7BBB5C1B97}"/>
              </a:ext>
            </a:extLst>
          </p:cNvPr>
          <p:cNvSpPr>
            <a:spLocks noChangeArrowheads="1"/>
          </p:cNvSpPr>
          <p:nvPr/>
        </p:nvSpPr>
        <p:spPr bwMode="auto">
          <a:xfrm>
            <a:off x="4674842"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5</a:t>
            </a:r>
            <a:endParaRPr lang="zh-CN" altLang="en-US" sz="1400" dirty="0">
              <a:latin typeface="+mn-lt"/>
              <a:ea typeface="SimHei" panose="02010609060101010101" pitchFamily="49" charset="-122"/>
            </a:endParaRPr>
          </a:p>
        </p:txBody>
      </p:sp>
      <p:sp>
        <p:nvSpPr>
          <p:cNvPr id="60" name="Rectangle 26">
            <a:extLst>
              <a:ext uri="{FF2B5EF4-FFF2-40B4-BE49-F238E27FC236}">
                <a16:creationId xmlns:a16="http://schemas.microsoft.com/office/drawing/2014/main" id="{30CBABEF-3E9C-4444-946B-7BAE4E0BF143}"/>
              </a:ext>
            </a:extLst>
          </p:cNvPr>
          <p:cNvSpPr>
            <a:spLocks noChangeArrowheads="1"/>
          </p:cNvSpPr>
          <p:nvPr/>
        </p:nvSpPr>
        <p:spPr bwMode="auto">
          <a:xfrm>
            <a:off x="5415354" y="3497203"/>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61" name="Rectangle 26">
            <a:extLst>
              <a:ext uri="{FF2B5EF4-FFF2-40B4-BE49-F238E27FC236}">
                <a16:creationId xmlns:a16="http://schemas.microsoft.com/office/drawing/2014/main" id="{7262428B-5B49-0C45-AA37-9D73C2805E24}"/>
              </a:ext>
            </a:extLst>
          </p:cNvPr>
          <p:cNvSpPr>
            <a:spLocks noChangeArrowheads="1"/>
          </p:cNvSpPr>
          <p:nvPr/>
        </p:nvSpPr>
        <p:spPr bwMode="auto">
          <a:xfrm>
            <a:off x="5415354"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62" name="Rectangle 26">
            <a:extLst>
              <a:ext uri="{FF2B5EF4-FFF2-40B4-BE49-F238E27FC236}">
                <a16:creationId xmlns:a16="http://schemas.microsoft.com/office/drawing/2014/main" id="{2515C864-51CC-304C-BC23-6924D4694C66}"/>
              </a:ext>
            </a:extLst>
          </p:cNvPr>
          <p:cNvSpPr>
            <a:spLocks noChangeArrowheads="1"/>
          </p:cNvSpPr>
          <p:nvPr/>
        </p:nvSpPr>
        <p:spPr bwMode="auto">
          <a:xfrm>
            <a:off x="5415354" y="4389961"/>
            <a:ext cx="540000" cy="442482"/>
          </a:xfrm>
          <a:prstGeom prst="rect">
            <a:avLst/>
          </a:prstGeom>
          <a:solidFill>
            <a:srgbClr val="CCFFCC"/>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127</a:t>
            </a:r>
            <a:endParaRPr lang="zh-CN" altLang="en-US" sz="1600" dirty="0">
              <a:ea typeface="SimHei" panose="02010609060101010101" pitchFamily="49" charset="-122"/>
            </a:endParaRPr>
          </a:p>
        </p:txBody>
      </p:sp>
      <p:sp>
        <p:nvSpPr>
          <p:cNvPr id="63" name="Rectangle 26">
            <a:extLst>
              <a:ext uri="{FF2B5EF4-FFF2-40B4-BE49-F238E27FC236}">
                <a16:creationId xmlns:a16="http://schemas.microsoft.com/office/drawing/2014/main" id="{2D586044-C866-EC43-B524-DAC602C998EB}"/>
              </a:ext>
            </a:extLst>
          </p:cNvPr>
          <p:cNvSpPr>
            <a:spLocks noChangeArrowheads="1"/>
          </p:cNvSpPr>
          <p:nvPr/>
        </p:nvSpPr>
        <p:spPr bwMode="auto">
          <a:xfrm>
            <a:off x="5415354"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58" name="Rectangle 11">
            <a:extLst>
              <a:ext uri="{FF2B5EF4-FFF2-40B4-BE49-F238E27FC236}">
                <a16:creationId xmlns:a16="http://schemas.microsoft.com/office/drawing/2014/main" id="{016575FB-6A12-244C-A7DE-8D2D982F7BD8}"/>
              </a:ext>
            </a:extLst>
          </p:cNvPr>
          <p:cNvSpPr>
            <a:spLocks noChangeArrowheads="1"/>
          </p:cNvSpPr>
          <p:nvPr/>
        </p:nvSpPr>
        <p:spPr bwMode="auto">
          <a:xfrm>
            <a:off x="5415354"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127</a:t>
            </a:r>
            <a:endParaRPr lang="zh-CN" altLang="en-US" sz="1400" dirty="0">
              <a:latin typeface="+mn-lt"/>
              <a:ea typeface="SimHei" panose="02010609060101010101" pitchFamily="49" charset="-122"/>
            </a:endParaRPr>
          </a:p>
        </p:txBody>
      </p:sp>
      <p:sp>
        <p:nvSpPr>
          <p:cNvPr id="59" name="Rectangle 11">
            <a:extLst>
              <a:ext uri="{FF2B5EF4-FFF2-40B4-BE49-F238E27FC236}">
                <a16:creationId xmlns:a16="http://schemas.microsoft.com/office/drawing/2014/main" id="{7E7FDE72-2E98-034A-9C48-DB6A9B3D2B40}"/>
              </a:ext>
            </a:extLst>
          </p:cNvPr>
          <p:cNvSpPr>
            <a:spLocks noChangeArrowheads="1"/>
          </p:cNvSpPr>
          <p:nvPr/>
        </p:nvSpPr>
        <p:spPr bwMode="auto">
          <a:xfrm>
            <a:off x="5415354"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6</a:t>
            </a:r>
            <a:endParaRPr lang="zh-CN" altLang="en-US" sz="1400" dirty="0">
              <a:latin typeface="+mn-lt"/>
              <a:ea typeface="SimHei" panose="02010609060101010101" pitchFamily="49" charset="-122"/>
            </a:endParaRPr>
          </a:p>
        </p:txBody>
      </p:sp>
      <p:sp>
        <p:nvSpPr>
          <p:cNvPr id="69" name="Rectangle 26">
            <a:extLst>
              <a:ext uri="{FF2B5EF4-FFF2-40B4-BE49-F238E27FC236}">
                <a16:creationId xmlns:a16="http://schemas.microsoft.com/office/drawing/2014/main" id="{569E2F6E-35AF-B840-A471-219A5B7BCAD2}"/>
              </a:ext>
            </a:extLst>
          </p:cNvPr>
          <p:cNvSpPr>
            <a:spLocks noChangeArrowheads="1"/>
          </p:cNvSpPr>
          <p:nvPr/>
        </p:nvSpPr>
        <p:spPr bwMode="auto">
          <a:xfrm>
            <a:off x="6155866" y="3497203"/>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70" name="Rectangle 26">
            <a:extLst>
              <a:ext uri="{FF2B5EF4-FFF2-40B4-BE49-F238E27FC236}">
                <a16:creationId xmlns:a16="http://schemas.microsoft.com/office/drawing/2014/main" id="{A00D7D4E-AB92-D046-9A45-0CD7FC6EE8F0}"/>
              </a:ext>
            </a:extLst>
          </p:cNvPr>
          <p:cNvSpPr>
            <a:spLocks noChangeArrowheads="1"/>
          </p:cNvSpPr>
          <p:nvPr/>
        </p:nvSpPr>
        <p:spPr bwMode="auto">
          <a:xfrm>
            <a:off x="6155866"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71" name="Rectangle 26">
            <a:extLst>
              <a:ext uri="{FF2B5EF4-FFF2-40B4-BE49-F238E27FC236}">
                <a16:creationId xmlns:a16="http://schemas.microsoft.com/office/drawing/2014/main" id="{2C8C776B-625B-7B43-853F-2C73F2898501}"/>
              </a:ext>
            </a:extLst>
          </p:cNvPr>
          <p:cNvSpPr>
            <a:spLocks noChangeArrowheads="1"/>
          </p:cNvSpPr>
          <p:nvPr/>
        </p:nvSpPr>
        <p:spPr bwMode="auto">
          <a:xfrm>
            <a:off x="6155866"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127</a:t>
            </a:r>
            <a:endParaRPr lang="zh-CN" altLang="en-US" sz="1600" dirty="0">
              <a:ea typeface="SimHei" panose="02010609060101010101" pitchFamily="49" charset="-122"/>
            </a:endParaRPr>
          </a:p>
        </p:txBody>
      </p:sp>
      <p:sp>
        <p:nvSpPr>
          <p:cNvPr id="72" name="Rectangle 26">
            <a:extLst>
              <a:ext uri="{FF2B5EF4-FFF2-40B4-BE49-F238E27FC236}">
                <a16:creationId xmlns:a16="http://schemas.microsoft.com/office/drawing/2014/main" id="{2D4D728B-2DA8-2F4E-8F14-6CA060A403D2}"/>
              </a:ext>
            </a:extLst>
          </p:cNvPr>
          <p:cNvSpPr>
            <a:spLocks noChangeArrowheads="1"/>
          </p:cNvSpPr>
          <p:nvPr/>
        </p:nvSpPr>
        <p:spPr bwMode="auto">
          <a:xfrm>
            <a:off x="6155866" y="3054560"/>
            <a:ext cx="540000" cy="442482"/>
          </a:xfrm>
          <a:prstGeom prst="rect">
            <a:avLst/>
          </a:prstGeom>
          <a:solidFill>
            <a:srgbClr val="FFFF00"/>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128</a:t>
            </a:r>
            <a:endParaRPr lang="zh-CN" altLang="en-US" sz="1600" dirty="0">
              <a:ea typeface="SimHei" panose="02010609060101010101" pitchFamily="49" charset="-122"/>
            </a:endParaRPr>
          </a:p>
        </p:txBody>
      </p:sp>
      <p:sp>
        <p:nvSpPr>
          <p:cNvPr id="67" name="Rectangle 11">
            <a:extLst>
              <a:ext uri="{FF2B5EF4-FFF2-40B4-BE49-F238E27FC236}">
                <a16:creationId xmlns:a16="http://schemas.microsoft.com/office/drawing/2014/main" id="{1C81CC1A-BB60-7040-9FA9-4CB6F1A7458F}"/>
              </a:ext>
            </a:extLst>
          </p:cNvPr>
          <p:cNvSpPr>
            <a:spLocks noChangeArrowheads="1"/>
          </p:cNvSpPr>
          <p:nvPr/>
        </p:nvSpPr>
        <p:spPr bwMode="auto">
          <a:xfrm>
            <a:off x="6155866"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128</a:t>
            </a:r>
            <a:endParaRPr lang="zh-CN" altLang="en-US" sz="1400" dirty="0">
              <a:latin typeface="+mn-lt"/>
              <a:ea typeface="SimHei" panose="02010609060101010101" pitchFamily="49" charset="-122"/>
            </a:endParaRPr>
          </a:p>
        </p:txBody>
      </p:sp>
      <p:sp>
        <p:nvSpPr>
          <p:cNvPr id="68" name="Rectangle 11">
            <a:extLst>
              <a:ext uri="{FF2B5EF4-FFF2-40B4-BE49-F238E27FC236}">
                <a16:creationId xmlns:a16="http://schemas.microsoft.com/office/drawing/2014/main" id="{91C2F47B-CF78-674E-A582-5C9097BE5176}"/>
              </a:ext>
            </a:extLst>
          </p:cNvPr>
          <p:cNvSpPr>
            <a:spLocks noChangeArrowheads="1"/>
          </p:cNvSpPr>
          <p:nvPr/>
        </p:nvSpPr>
        <p:spPr bwMode="auto">
          <a:xfrm>
            <a:off x="6155866"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7</a:t>
            </a:r>
            <a:endParaRPr lang="zh-CN" altLang="en-US" sz="1400" dirty="0">
              <a:latin typeface="+mn-lt"/>
              <a:ea typeface="SimHei" panose="02010609060101010101" pitchFamily="49" charset="-122"/>
            </a:endParaRPr>
          </a:p>
        </p:txBody>
      </p:sp>
      <p:sp>
        <p:nvSpPr>
          <p:cNvPr id="78" name="Rectangle 26">
            <a:extLst>
              <a:ext uri="{FF2B5EF4-FFF2-40B4-BE49-F238E27FC236}">
                <a16:creationId xmlns:a16="http://schemas.microsoft.com/office/drawing/2014/main" id="{1C4A7A26-C214-E440-B436-6A7273CA7FDB}"/>
              </a:ext>
            </a:extLst>
          </p:cNvPr>
          <p:cNvSpPr>
            <a:spLocks noChangeArrowheads="1"/>
          </p:cNvSpPr>
          <p:nvPr/>
        </p:nvSpPr>
        <p:spPr bwMode="auto">
          <a:xfrm>
            <a:off x="6896376" y="3497203"/>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79" name="Rectangle 26">
            <a:extLst>
              <a:ext uri="{FF2B5EF4-FFF2-40B4-BE49-F238E27FC236}">
                <a16:creationId xmlns:a16="http://schemas.microsoft.com/office/drawing/2014/main" id="{2DC6D94E-6530-4A47-A47C-35CAFA4C60B2}"/>
              </a:ext>
            </a:extLst>
          </p:cNvPr>
          <p:cNvSpPr>
            <a:spLocks noChangeArrowheads="1"/>
          </p:cNvSpPr>
          <p:nvPr/>
        </p:nvSpPr>
        <p:spPr bwMode="auto">
          <a:xfrm>
            <a:off x="6896376"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80" name="Rectangle 26">
            <a:extLst>
              <a:ext uri="{FF2B5EF4-FFF2-40B4-BE49-F238E27FC236}">
                <a16:creationId xmlns:a16="http://schemas.microsoft.com/office/drawing/2014/main" id="{0CA9B9B3-F974-A64C-B9ED-954B143021C3}"/>
              </a:ext>
            </a:extLst>
          </p:cNvPr>
          <p:cNvSpPr>
            <a:spLocks noChangeArrowheads="1"/>
          </p:cNvSpPr>
          <p:nvPr/>
        </p:nvSpPr>
        <p:spPr bwMode="auto">
          <a:xfrm>
            <a:off x="6896376"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127</a:t>
            </a:r>
            <a:endParaRPr lang="zh-CN" altLang="en-US" sz="1600" dirty="0">
              <a:ea typeface="SimHei" panose="02010609060101010101" pitchFamily="49" charset="-122"/>
            </a:endParaRPr>
          </a:p>
        </p:txBody>
      </p:sp>
      <p:sp>
        <p:nvSpPr>
          <p:cNvPr id="81" name="Rectangle 26">
            <a:extLst>
              <a:ext uri="{FF2B5EF4-FFF2-40B4-BE49-F238E27FC236}">
                <a16:creationId xmlns:a16="http://schemas.microsoft.com/office/drawing/2014/main" id="{E0F5436C-A910-3141-83D6-9F5E9AA1FC18}"/>
              </a:ext>
            </a:extLst>
          </p:cNvPr>
          <p:cNvSpPr>
            <a:spLocks noChangeArrowheads="1"/>
          </p:cNvSpPr>
          <p:nvPr/>
        </p:nvSpPr>
        <p:spPr bwMode="auto">
          <a:xfrm>
            <a:off x="6896376" y="3054560"/>
            <a:ext cx="540000" cy="442482"/>
          </a:xfrm>
          <a:prstGeom prst="rect">
            <a:avLst/>
          </a:prstGeom>
          <a:solidFill>
            <a:srgbClr val="CCFFCC"/>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128</a:t>
            </a:r>
            <a:endParaRPr lang="zh-CN" altLang="en-US" sz="1600" dirty="0">
              <a:ea typeface="SimHei" panose="02010609060101010101" pitchFamily="49" charset="-122"/>
            </a:endParaRPr>
          </a:p>
        </p:txBody>
      </p:sp>
      <p:sp>
        <p:nvSpPr>
          <p:cNvPr id="76" name="Rectangle 11">
            <a:extLst>
              <a:ext uri="{FF2B5EF4-FFF2-40B4-BE49-F238E27FC236}">
                <a16:creationId xmlns:a16="http://schemas.microsoft.com/office/drawing/2014/main" id="{57B52A28-34BE-9248-9046-4358AF32F92D}"/>
              </a:ext>
            </a:extLst>
          </p:cNvPr>
          <p:cNvSpPr>
            <a:spLocks noChangeArrowheads="1"/>
          </p:cNvSpPr>
          <p:nvPr/>
        </p:nvSpPr>
        <p:spPr bwMode="auto">
          <a:xfrm>
            <a:off x="6896376"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128</a:t>
            </a:r>
            <a:endParaRPr lang="zh-CN" altLang="en-US" sz="1400" dirty="0">
              <a:latin typeface="+mn-lt"/>
              <a:ea typeface="SimHei" panose="02010609060101010101" pitchFamily="49" charset="-122"/>
            </a:endParaRPr>
          </a:p>
        </p:txBody>
      </p:sp>
      <p:sp>
        <p:nvSpPr>
          <p:cNvPr id="77" name="Rectangle 11">
            <a:extLst>
              <a:ext uri="{FF2B5EF4-FFF2-40B4-BE49-F238E27FC236}">
                <a16:creationId xmlns:a16="http://schemas.microsoft.com/office/drawing/2014/main" id="{C2C82AF8-1779-E648-8BDD-52F895D52AAA}"/>
              </a:ext>
            </a:extLst>
          </p:cNvPr>
          <p:cNvSpPr>
            <a:spLocks noChangeArrowheads="1"/>
          </p:cNvSpPr>
          <p:nvPr/>
        </p:nvSpPr>
        <p:spPr bwMode="auto">
          <a:xfrm>
            <a:off x="6896376"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8</a:t>
            </a:r>
            <a:endParaRPr lang="zh-CN" altLang="en-US" sz="1400" dirty="0">
              <a:latin typeface="+mn-lt"/>
              <a:ea typeface="SimHei" panose="02010609060101010101" pitchFamily="49" charset="-122"/>
            </a:endParaRPr>
          </a:p>
        </p:txBody>
      </p:sp>
      <p:sp>
        <p:nvSpPr>
          <p:cNvPr id="87" name="Rectangle 26">
            <a:extLst>
              <a:ext uri="{FF2B5EF4-FFF2-40B4-BE49-F238E27FC236}">
                <a16:creationId xmlns:a16="http://schemas.microsoft.com/office/drawing/2014/main" id="{E09583B6-731C-174E-9E47-25AA13BB18F4}"/>
              </a:ext>
            </a:extLst>
          </p:cNvPr>
          <p:cNvSpPr>
            <a:spLocks noChangeArrowheads="1"/>
          </p:cNvSpPr>
          <p:nvPr/>
        </p:nvSpPr>
        <p:spPr bwMode="auto">
          <a:xfrm>
            <a:off x="7636889" y="3497203"/>
            <a:ext cx="540000" cy="442482"/>
          </a:xfrm>
          <a:prstGeom prst="rect">
            <a:avLst/>
          </a:prstGeom>
          <a:solidFill>
            <a:srgbClr val="FF99CC"/>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88" name="Rectangle 26">
            <a:extLst>
              <a:ext uri="{FF2B5EF4-FFF2-40B4-BE49-F238E27FC236}">
                <a16:creationId xmlns:a16="http://schemas.microsoft.com/office/drawing/2014/main" id="{0EDB2EA3-5465-174A-ADD9-FFB95F1E3E29}"/>
              </a:ext>
            </a:extLst>
          </p:cNvPr>
          <p:cNvSpPr>
            <a:spLocks noChangeArrowheads="1"/>
          </p:cNvSpPr>
          <p:nvPr/>
        </p:nvSpPr>
        <p:spPr bwMode="auto">
          <a:xfrm>
            <a:off x="7636889"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89" name="Rectangle 26">
            <a:extLst>
              <a:ext uri="{FF2B5EF4-FFF2-40B4-BE49-F238E27FC236}">
                <a16:creationId xmlns:a16="http://schemas.microsoft.com/office/drawing/2014/main" id="{38616EFC-BE29-234B-9839-24B4B33B1A17}"/>
              </a:ext>
            </a:extLst>
          </p:cNvPr>
          <p:cNvSpPr>
            <a:spLocks noChangeArrowheads="1"/>
          </p:cNvSpPr>
          <p:nvPr/>
        </p:nvSpPr>
        <p:spPr bwMode="auto">
          <a:xfrm>
            <a:off x="7636889"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127</a:t>
            </a:r>
            <a:endParaRPr lang="zh-CN" altLang="en-US" sz="1600" dirty="0">
              <a:ea typeface="SimHei" panose="02010609060101010101" pitchFamily="49" charset="-122"/>
            </a:endParaRPr>
          </a:p>
        </p:txBody>
      </p:sp>
      <p:sp>
        <p:nvSpPr>
          <p:cNvPr id="90" name="Rectangle 26">
            <a:extLst>
              <a:ext uri="{FF2B5EF4-FFF2-40B4-BE49-F238E27FC236}">
                <a16:creationId xmlns:a16="http://schemas.microsoft.com/office/drawing/2014/main" id="{FB6ACE62-01D4-4749-8F8C-63708190D380}"/>
              </a:ext>
            </a:extLst>
          </p:cNvPr>
          <p:cNvSpPr>
            <a:spLocks noChangeArrowheads="1"/>
          </p:cNvSpPr>
          <p:nvPr/>
        </p:nvSpPr>
        <p:spPr bwMode="auto">
          <a:xfrm>
            <a:off x="7636889"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128</a:t>
            </a:r>
            <a:endParaRPr lang="zh-CN" altLang="en-US" sz="1600" dirty="0">
              <a:ea typeface="SimHei" panose="02010609060101010101" pitchFamily="49" charset="-122"/>
            </a:endParaRPr>
          </a:p>
        </p:txBody>
      </p:sp>
      <p:sp>
        <p:nvSpPr>
          <p:cNvPr id="85" name="Rectangle 11">
            <a:extLst>
              <a:ext uri="{FF2B5EF4-FFF2-40B4-BE49-F238E27FC236}">
                <a16:creationId xmlns:a16="http://schemas.microsoft.com/office/drawing/2014/main" id="{47FF878D-1ADA-0145-89CC-F33E8A3C214E}"/>
              </a:ext>
            </a:extLst>
          </p:cNvPr>
          <p:cNvSpPr>
            <a:spLocks noChangeArrowheads="1"/>
          </p:cNvSpPr>
          <p:nvPr/>
        </p:nvSpPr>
        <p:spPr bwMode="auto">
          <a:xfrm>
            <a:off x="7636889"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129</a:t>
            </a:r>
            <a:endParaRPr lang="zh-CN" altLang="en-US" sz="1400" dirty="0">
              <a:latin typeface="+mn-lt"/>
              <a:ea typeface="SimHei" panose="02010609060101010101" pitchFamily="49" charset="-122"/>
            </a:endParaRPr>
          </a:p>
        </p:txBody>
      </p:sp>
      <p:sp>
        <p:nvSpPr>
          <p:cNvPr id="86" name="Rectangle 11">
            <a:extLst>
              <a:ext uri="{FF2B5EF4-FFF2-40B4-BE49-F238E27FC236}">
                <a16:creationId xmlns:a16="http://schemas.microsoft.com/office/drawing/2014/main" id="{BD4E7E3D-0119-AA4F-80EE-6D3EBFD68247}"/>
              </a:ext>
            </a:extLst>
          </p:cNvPr>
          <p:cNvSpPr>
            <a:spLocks noChangeArrowheads="1"/>
          </p:cNvSpPr>
          <p:nvPr/>
        </p:nvSpPr>
        <p:spPr bwMode="auto">
          <a:xfrm>
            <a:off x="7636889"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9</a:t>
            </a:r>
            <a:endParaRPr lang="zh-CN" altLang="en-US" sz="1400" dirty="0">
              <a:latin typeface="+mn-lt"/>
              <a:ea typeface="SimHei" panose="02010609060101010101" pitchFamily="49" charset="-122"/>
            </a:endParaRPr>
          </a:p>
        </p:txBody>
      </p:sp>
      <p:sp>
        <p:nvSpPr>
          <p:cNvPr id="96" name="Rectangle 26">
            <a:extLst>
              <a:ext uri="{FF2B5EF4-FFF2-40B4-BE49-F238E27FC236}">
                <a16:creationId xmlns:a16="http://schemas.microsoft.com/office/drawing/2014/main" id="{1BD7C5A5-C0C2-6945-9C0D-804D90BF423E}"/>
              </a:ext>
            </a:extLst>
          </p:cNvPr>
          <p:cNvSpPr>
            <a:spLocks noChangeArrowheads="1"/>
          </p:cNvSpPr>
          <p:nvPr/>
        </p:nvSpPr>
        <p:spPr bwMode="auto">
          <a:xfrm>
            <a:off x="8377398" y="3497203"/>
            <a:ext cx="540000" cy="442482"/>
          </a:xfrm>
          <a:prstGeom prst="rect">
            <a:avLst/>
          </a:prstGeom>
          <a:solidFill>
            <a:srgbClr val="CCFFCC"/>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97" name="Rectangle 26">
            <a:extLst>
              <a:ext uri="{FF2B5EF4-FFF2-40B4-BE49-F238E27FC236}">
                <a16:creationId xmlns:a16="http://schemas.microsoft.com/office/drawing/2014/main" id="{79074F80-F9B5-BD49-A7BE-3EF55145A0A4}"/>
              </a:ext>
            </a:extLst>
          </p:cNvPr>
          <p:cNvSpPr>
            <a:spLocks noChangeArrowheads="1"/>
          </p:cNvSpPr>
          <p:nvPr/>
        </p:nvSpPr>
        <p:spPr bwMode="auto">
          <a:xfrm>
            <a:off x="8377398" y="3945130"/>
            <a:ext cx="540000" cy="442482"/>
          </a:xfrm>
          <a:prstGeom prst="rect">
            <a:avLst/>
          </a:prstGeom>
          <a:solidFill>
            <a:schemeClr val="bg1"/>
          </a:solidFill>
          <a:ln w="17463">
            <a:solidFill>
              <a:srgbClr val="000000"/>
            </a:solidFill>
            <a:miter lim="800000"/>
            <a:headEnd/>
            <a:tailEnd/>
          </a:ln>
        </p:spPr>
        <p:txBody>
          <a:bodyPr lIns="0" tIns="0" rIns="0" bIns="0" anchor="ctr" anchorCtr="0">
            <a:normAutofit/>
          </a:bodyPr>
          <a:lstStyle/>
          <a:p>
            <a:pPr algn="ctr"/>
            <a:r>
              <a:rPr lang="en-US" altLang="zh-CN" sz="1600" dirty="0">
                <a:ea typeface="SimHei" panose="02010609060101010101" pitchFamily="49" charset="-122"/>
              </a:rPr>
              <a:t>126</a:t>
            </a:r>
            <a:endParaRPr lang="zh-CN" altLang="en-US" sz="1600" dirty="0">
              <a:ea typeface="SimHei" panose="02010609060101010101" pitchFamily="49" charset="-122"/>
            </a:endParaRPr>
          </a:p>
        </p:txBody>
      </p:sp>
      <p:sp>
        <p:nvSpPr>
          <p:cNvPr id="98" name="Rectangle 26">
            <a:extLst>
              <a:ext uri="{FF2B5EF4-FFF2-40B4-BE49-F238E27FC236}">
                <a16:creationId xmlns:a16="http://schemas.microsoft.com/office/drawing/2014/main" id="{5885D283-477B-9749-B1C6-BBA580A70989}"/>
              </a:ext>
            </a:extLst>
          </p:cNvPr>
          <p:cNvSpPr>
            <a:spLocks noChangeArrowheads="1"/>
          </p:cNvSpPr>
          <p:nvPr/>
        </p:nvSpPr>
        <p:spPr bwMode="auto">
          <a:xfrm>
            <a:off x="8377398" y="4389961"/>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127</a:t>
            </a:r>
            <a:endParaRPr lang="zh-CN" altLang="en-US" sz="1600" dirty="0">
              <a:ea typeface="SimHei" panose="02010609060101010101" pitchFamily="49" charset="-122"/>
            </a:endParaRPr>
          </a:p>
        </p:txBody>
      </p:sp>
      <p:sp>
        <p:nvSpPr>
          <p:cNvPr id="99" name="Rectangle 26">
            <a:extLst>
              <a:ext uri="{FF2B5EF4-FFF2-40B4-BE49-F238E27FC236}">
                <a16:creationId xmlns:a16="http://schemas.microsoft.com/office/drawing/2014/main" id="{FC41B285-9A11-6748-9E8D-2034E0DC2E61}"/>
              </a:ext>
            </a:extLst>
          </p:cNvPr>
          <p:cNvSpPr>
            <a:spLocks noChangeArrowheads="1"/>
          </p:cNvSpPr>
          <p:nvPr/>
        </p:nvSpPr>
        <p:spPr bwMode="auto">
          <a:xfrm>
            <a:off x="8377398" y="3054560"/>
            <a:ext cx="540000" cy="442482"/>
          </a:xfrm>
          <a:prstGeom prst="rect">
            <a:avLst/>
          </a:prstGeom>
          <a:solidFill>
            <a:schemeClr val="bg1"/>
          </a:solidFill>
          <a:ln w="17463">
            <a:solidFill>
              <a:srgbClr val="000000"/>
            </a:solidFill>
            <a:miter lim="800000"/>
            <a:headEnd/>
            <a:tailEnd/>
          </a:ln>
        </p:spPr>
        <p:txBody>
          <a:bodyPr anchor="ctr" anchorCtr="1"/>
          <a:lstStyle/>
          <a:p>
            <a:pPr algn="ctr"/>
            <a:r>
              <a:rPr lang="en-US" altLang="zh-CN" sz="1600" dirty="0">
                <a:ea typeface="SimHei" panose="02010609060101010101" pitchFamily="49" charset="-122"/>
              </a:rPr>
              <a:t>128</a:t>
            </a:r>
            <a:endParaRPr lang="zh-CN" altLang="en-US" sz="1600" dirty="0">
              <a:ea typeface="SimHei" panose="02010609060101010101" pitchFamily="49" charset="-122"/>
            </a:endParaRPr>
          </a:p>
        </p:txBody>
      </p:sp>
      <p:sp>
        <p:nvSpPr>
          <p:cNvPr id="94" name="Rectangle 11">
            <a:extLst>
              <a:ext uri="{FF2B5EF4-FFF2-40B4-BE49-F238E27FC236}">
                <a16:creationId xmlns:a16="http://schemas.microsoft.com/office/drawing/2014/main" id="{0AD95C60-55FA-A54D-9E36-BCF486C0D0A3}"/>
              </a:ext>
            </a:extLst>
          </p:cNvPr>
          <p:cNvSpPr>
            <a:spLocks noChangeArrowheads="1"/>
          </p:cNvSpPr>
          <p:nvPr/>
        </p:nvSpPr>
        <p:spPr bwMode="auto">
          <a:xfrm>
            <a:off x="8377398"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129</a:t>
            </a:r>
            <a:endParaRPr lang="zh-CN" altLang="en-US" sz="1400" dirty="0">
              <a:latin typeface="+mn-lt"/>
              <a:ea typeface="SimHei" panose="02010609060101010101" pitchFamily="49" charset="-122"/>
            </a:endParaRPr>
          </a:p>
        </p:txBody>
      </p:sp>
      <p:sp>
        <p:nvSpPr>
          <p:cNvPr id="95" name="Rectangle 11">
            <a:extLst>
              <a:ext uri="{FF2B5EF4-FFF2-40B4-BE49-F238E27FC236}">
                <a16:creationId xmlns:a16="http://schemas.microsoft.com/office/drawing/2014/main" id="{C1F3C5AC-7990-7B4B-AA69-176F43352857}"/>
              </a:ext>
            </a:extLst>
          </p:cNvPr>
          <p:cNvSpPr>
            <a:spLocks noChangeArrowheads="1"/>
          </p:cNvSpPr>
          <p:nvPr/>
        </p:nvSpPr>
        <p:spPr bwMode="auto">
          <a:xfrm>
            <a:off x="8377398"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10</a:t>
            </a:r>
            <a:endParaRPr lang="zh-CN" altLang="en-US" sz="1400" dirty="0">
              <a:latin typeface="+mn-lt"/>
              <a:ea typeface="SimHei" panose="02010609060101010101" pitchFamily="49" charset="-122"/>
            </a:endParaRPr>
          </a:p>
        </p:txBody>
      </p:sp>
      <p:sp>
        <p:nvSpPr>
          <p:cNvPr id="100" name="Rectangle 9">
            <a:extLst>
              <a:ext uri="{FF2B5EF4-FFF2-40B4-BE49-F238E27FC236}">
                <a16:creationId xmlns:a16="http://schemas.microsoft.com/office/drawing/2014/main" id="{EF28D8B4-CB57-A34C-B45E-5ADF1F466B5B}"/>
              </a:ext>
            </a:extLst>
          </p:cNvPr>
          <p:cNvSpPr>
            <a:spLocks noChangeArrowheads="1"/>
          </p:cNvSpPr>
          <p:nvPr/>
        </p:nvSpPr>
        <p:spPr bwMode="auto">
          <a:xfrm>
            <a:off x="217661" y="5361852"/>
            <a:ext cx="108363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是否命中</a:t>
            </a:r>
            <a:endParaRPr lang="zh-CN" altLang="en-US" sz="1400" dirty="0">
              <a:latin typeface="Times New Roman" pitchFamily="18" charset="0"/>
              <a:ea typeface="SimHei" panose="02010609060101010101" pitchFamily="49" charset="-122"/>
            </a:endParaRPr>
          </a:p>
        </p:txBody>
      </p:sp>
      <p:sp>
        <p:nvSpPr>
          <p:cNvPr id="101" name="Rectangle 11">
            <a:extLst>
              <a:ext uri="{FF2B5EF4-FFF2-40B4-BE49-F238E27FC236}">
                <a16:creationId xmlns:a16="http://schemas.microsoft.com/office/drawing/2014/main" id="{1EECBC8A-6F74-8D49-BEB8-77F5729A080D}"/>
              </a:ext>
            </a:extLst>
          </p:cNvPr>
          <p:cNvSpPr>
            <a:spLocks noChangeArrowheads="1"/>
          </p:cNvSpPr>
          <p:nvPr/>
        </p:nvSpPr>
        <p:spPr bwMode="auto">
          <a:xfrm>
            <a:off x="1449394"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02" name="Rectangle 11">
            <a:extLst>
              <a:ext uri="{FF2B5EF4-FFF2-40B4-BE49-F238E27FC236}">
                <a16:creationId xmlns:a16="http://schemas.microsoft.com/office/drawing/2014/main" id="{EDA488F1-F9E4-AE45-AC4A-0F9F3631134E}"/>
              </a:ext>
            </a:extLst>
          </p:cNvPr>
          <p:cNvSpPr>
            <a:spLocks noChangeArrowheads="1"/>
          </p:cNvSpPr>
          <p:nvPr/>
        </p:nvSpPr>
        <p:spPr bwMode="auto">
          <a:xfrm>
            <a:off x="2453306" y="536185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命中</a:t>
            </a:r>
            <a:endParaRPr lang="zh-CN" altLang="en-US" sz="1400" dirty="0">
              <a:latin typeface="+mn-lt"/>
              <a:ea typeface="SimHei" panose="02010609060101010101" pitchFamily="49" charset="-122"/>
            </a:endParaRPr>
          </a:p>
        </p:txBody>
      </p:sp>
      <p:sp>
        <p:nvSpPr>
          <p:cNvPr id="104" name="Rectangle 11">
            <a:extLst>
              <a:ext uri="{FF2B5EF4-FFF2-40B4-BE49-F238E27FC236}">
                <a16:creationId xmlns:a16="http://schemas.microsoft.com/office/drawing/2014/main" id="{80AE6A8B-5FC9-754A-B131-53260CDC8E76}"/>
              </a:ext>
            </a:extLst>
          </p:cNvPr>
          <p:cNvSpPr>
            <a:spLocks noChangeArrowheads="1"/>
          </p:cNvSpPr>
          <p:nvPr/>
        </p:nvSpPr>
        <p:spPr bwMode="auto">
          <a:xfrm>
            <a:off x="3934330" y="536185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命中</a:t>
            </a:r>
            <a:endParaRPr lang="zh-CN" altLang="en-US" sz="1400" dirty="0">
              <a:latin typeface="+mn-lt"/>
              <a:ea typeface="SimHei" panose="02010609060101010101" pitchFamily="49" charset="-122"/>
            </a:endParaRPr>
          </a:p>
        </p:txBody>
      </p:sp>
      <p:sp>
        <p:nvSpPr>
          <p:cNvPr id="106" name="Rectangle 11">
            <a:extLst>
              <a:ext uri="{FF2B5EF4-FFF2-40B4-BE49-F238E27FC236}">
                <a16:creationId xmlns:a16="http://schemas.microsoft.com/office/drawing/2014/main" id="{8CD042FA-4AFD-E040-BB31-1FE8134FABE3}"/>
              </a:ext>
            </a:extLst>
          </p:cNvPr>
          <p:cNvSpPr>
            <a:spLocks noChangeArrowheads="1"/>
          </p:cNvSpPr>
          <p:nvPr/>
        </p:nvSpPr>
        <p:spPr bwMode="auto">
          <a:xfrm>
            <a:off x="5415354" y="536185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命中</a:t>
            </a:r>
            <a:endParaRPr lang="zh-CN" altLang="en-US" sz="1400" dirty="0">
              <a:latin typeface="+mn-lt"/>
              <a:ea typeface="SimHei" panose="02010609060101010101" pitchFamily="49" charset="-122"/>
            </a:endParaRPr>
          </a:p>
        </p:txBody>
      </p:sp>
      <p:sp>
        <p:nvSpPr>
          <p:cNvPr id="108" name="Rectangle 11">
            <a:extLst>
              <a:ext uri="{FF2B5EF4-FFF2-40B4-BE49-F238E27FC236}">
                <a16:creationId xmlns:a16="http://schemas.microsoft.com/office/drawing/2014/main" id="{D8184972-B288-3E47-83D2-BBFE68D5C98B}"/>
              </a:ext>
            </a:extLst>
          </p:cNvPr>
          <p:cNvSpPr>
            <a:spLocks noChangeArrowheads="1"/>
          </p:cNvSpPr>
          <p:nvPr/>
        </p:nvSpPr>
        <p:spPr bwMode="auto">
          <a:xfrm>
            <a:off x="6896376" y="536185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命中</a:t>
            </a:r>
            <a:endParaRPr lang="zh-CN" altLang="en-US" sz="1400" dirty="0">
              <a:ea typeface="SimHei" panose="02010609060101010101" pitchFamily="49" charset="-122"/>
            </a:endParaRPr>
          </a:p>
        </p:txBody>
      </p:sp>
      <p:sp>
        <p:nvSpPr>
          <p:cNvPr id="110" name="Rectangle 11">
            <a:extLst>
              <a:ext uri="{FF2B5EF4-FFF2-40B4-BE49-F238E27FC236}">
                <a16:creationId xmlns:a16="http://schemas.microsoft.com/office/drawing/2014/main" id="{BE53EF73-AA41-B547-B769-0473A4227976}"/>
              </a:ext>
            </a:extLst>
          </p:cNvPr>
          <p:cNvSpPr>
            <a:spLocks noChangeArrowheads="1"/>
          </p:cNvSpPr>
          <p:nvPr/>
        </p:nvSpPr>
        <p:spPr bwMode="auto">
          <a:xfrm>
            <a:off x="8377398" y="5361852"/>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命中</a:t>
            </a:r>
            <a:endParaRPr lang="zh-CN" altLang="en-US" sz="1400" dirty="0">
              <a:ea typeface="SimHei" panose="02010609060101010101" pitchFamily="49" charset="-122"/>
            </a:endParaRPr>
          </a:p>
        </p:txBody>
      </p:sp>
      <p:sp>
        <p:nvSpPr>
          <p:cNvPr id="111" name="Rectangle 11">
            <a:extLst>
              <a:ext uri="{FF2B5EF4-FFF2-40B4-BE49-F238E27FC236}">
                <a16:creationId xmlns:a16="http://schemas.microsoft.com/office/drawing/2014/main" id="{ECC1C622-72C5-214F-9E58-19A743EA78A1}"/>
              </a:ext>
            </a:extLst>
          </p:cNvPr>
          <p:cNvSpPr>
            <a:spLocks noChangeArrowheads="1"/>
          </p:cNvSpPr>
          <p:nvPr/>
        </p:nvSpPr>
        <p:spPr bwMode="auto">
          <a:xfrm>
            <a:off x="2930418"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12" name="Rectangle 11">
            <a:extLst>
              <a:ext uri="{FF2B5EF4-FFF2-40B4-BE49-F238E27FC236}">
                <a16:creationId xmlns:a16="http://schemas.microsoft.com/office/drawing/2014/main" id="{FBA94D18-149D-CA46-B2C2-5665F2E5D1AA}"/>
              </a:ext>
            </a:extLst>
          </p:cNvPr>
          <p:cNvSpPr>
            <a:spLocks noChangeArrowheads="1"/>
          </p:cNvSpPr>
          <p:nvPr/>
        </p:nvSpPr>
        <p:spPr bwMode="auto">
          <a:xfrm>
            <a:off x="4411442"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13" name="Rectangle 11">
            <a:extLst>
              <a:ext uri="{FF2B5EF4-FFF2-40B4-BE49-F238E27FC236}">
                <a16:creationId xmlns:a16="http://schemas.microsoft.com/office/drawing/2014/main" id="{FA010C43-6A2B-ED47-8593-A2BC647EB53F}"/>
              </a:ext>
            </a:extLst>
          </p:cNvPr>
          <p:cNvSpPr>
            <a:spLocks noChangeArrowheads="1"/>
          </p:cNvSpPr>
          <p:nvPr/>
        </p:nvSpPr>
        <p:spPr bwMode="auto">
          <a:xfrm>
            <a:off x="3193818"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14" name="Rectangle 9">
            <a:extLst>
              <a:ext uri="{FF2B5EF4-FFF2-40B4-BE49-F238E27FC236}">
                <a16:creationId xmlns:a16="http://schemas.microsoft.com/office/drawing/2014/main" id="{093EE85E-DDC3-1B4B-958B-5A838730D0E3}"/>
              </a:ext>
            </a:extLst>
          </p:cNvPr>
          <p:cNvSpPr>
            <a:spLocks noChangeArrowheads="1"/>
          </p:cNvSpPr>
          <p:nvPr/>
        </p:nvSpPr>
        <p:spPr bwMode="auto">
          <a:xfrm>
            <a:off x="2303448" y="5953538"/>
            <a:ext cx="439383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400" dirty="0">
                <a:latin typeface="+mn-lt"/>
                <a:ea typeface="SimHei" panose="02010609060101010101" pitchFamily="49" charset="-122"/>
              </a:rPr>
              <a:t>数据缺失率 </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 </a:t>
            </a:r>
            <a:r>
              <a:rPr lang="zh-CN" altLang="en-US" sz="2400" dirty="0">
                <a:ea typeface="SimHei" panose="02010609060101010101" pitchFamily="49" charset="-122"/>
              </a:rPr>
              <a:t>数据命中率 </a:t>
            </a:r>
            <a:r>
              <a:rPr lang="en-US" altLang="zh-CN" sz="2400" dirty="0">
                <a:ea typeface="SimHei" panose="02010609060101010101" pitchFamily="49" charset="-122"/>
              </a:rPr>
              <a:t>=</a:t>
            </a:r>
            <a:r>
              <a:rPr lang="zh-CN" altLang="en-US" sz="2400" dirty="0">
                <a:ea typeface="SimHei" panose="02010609060101010101" pitchFamily="49" charset="-122"/>
              </a:rPr>
              <a:t> </a:t>
            </a:r>
            <a:r>
              <a:rPr lang="en-US" altLang="zh-CN" sz="2400" dirty="0">
                <a:latin typeface="+mn-lt"/>
                <a:ea typeface="SimHei" panose="02010609060101010101" pitchFamily="49" charset="-122"/>
              </a:rPr>
              <a:t>50%</a:t>
            </a:r>
            <a:endParaRPr lang="zh-CN" altLang="en-US" sz="1600" dirty="0">
              <a:latin typeface="+mn-lt"/>
              <a:ea typeface="SimHei" panose="02010609060101010101" pitchFamily="49" charset="-122"/>
            </a:endParaRPr>
          </a:p>
        </p:txBody>
      </p:sp>
      <p:sp>
        <p:nvSpPr>
          <p:cNvPr id="103" name="Rectangle 11">
            <a:extLst>
              <a:ext uri="{FF2B5EF4-FFF2-40B4-BE49-F238E27FC236}">
                <a16:creationId xmlns:a16="http://schemas.microsoft.com/office/drawing/2014/main" id="{AC31FEDD-1AE5-CD4C-ACE9-CE8D8EAF526C}"/>
              </a:ext>
            </a:extLst>
          </p:cNvPr>
          <p:cNvSpPr>
            <a:spLocks noChangeArrowheads="1"/>
          </p:cNvSpPr>
          <p:nvPr/>
        </p:nvSpPr>
        <p:spPr bwMode="auto">
          <a:xfrm>
            <a:off x="7636888"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替换</a:t>
            </a:r>
            <a:endParaRPr lang="zh-CN" altLang="en-US" sz="1400" dirty="0">
              <a:latin typeface="+mn-lt"/>
              <a:ea typeface="SimHei" panose="02010609060101010101" pitchFamily="49" charset="-122"/>
            </a:endParaRPr>
          </a:p>
        </p:txBody>
      </p:sp>
      <p:sp>
        <p:nvSpPr>
          <p:cNvPr id="105" name="Rectangle 11">
            <a:extLst>
              <a:ext uri="{FF2B5EF4-FFF2-40B4-BE49-F238E27FC236}">
                <a16:creationId xmlns:a16="http://schemas.microsoft.com/office/drawing/2014/main" id="{ACEAD2C9-9ED0-C948-BEE6-8DB37C41AFDC}"/>
              </a:ext>
            </a:extLst>
          </p:cNvPr>
          <p:cNvSpPr>
            <a:spLocks noChangeArrowheads="1"/>
          </p:cNvSpPr>
          <p:nvPr/>
        </p:nvSpPr>
        <p:spPr bwMode="auto">
          <a:xfrm>
            <a:off x="6155864"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17" name="Rectangle 11">
            <a:extLst>
              <a:ext uri="{FF2B5EF4-FFF2-40B4-BE49-F238E27FC236}">
                <a16:creationId xmlns:a16="http://schemas.microsoft.com/office/drawing/2014/main" id="{FFEC3640-FF3F-2D46-8D09-CBEF1BA9F1A2}"/>
              </a:ext>
            </a:extLst>
          </p:cNvPr>
          <p:cNvSpPr>
            <a:spLocks noChangeArrowheads="1"/>
          </p:cNvSpPr>
          <p:nvPr/>
        </p:nvSpPr>
        <p:spPr bwMode="auto">
          <a:xfrm>
            <a:off x="5883897"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118" name="Rectangle 11">
            <a:extLst>
              <a:ext uri="{FF2B5EF4-FFF2-40B4-BE49-F238E27FC236}">
                <a16:creationId xmlns:a16="http://schemas.microsoft.com/office/drawing/2014/main" id="{272EECF8-E53B-6F42-AD97-247B59EFEFD9}"/>
              </a:ext>
            </a:extLst>
          </p:cNvPr>
          <p:cNvSpPr>
            <a:spLocks noChangeArrowheads="1"/>
          </p:cNvSpPr>
          <p:nvPr/>
        </p:nvSpPr>
        <p:spPr bwMode="auto">
          <a:xfrm>
            <a:off x="7374893"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sp>
        <p:nvSpPr>
          <p:cNvPr id="93" name="左大括号 92">
            <a:extLst>
              <a:ext uri="{FF2B5EF4-FFF2-40B4-BE49-F238E27FC236}">
                <a16:creationId xmlns:a16="http://schemas.microsoft.com/office/drawing/2014/main" id="{32AD3B0A-DD77-EB40-9283-DEB71E1CFFF6}"/>
              </a:ext>
            </a:extLst>
          </p:cNvPr>
          <p:cNvSpPr/>
          <p:nvPr/>
        </p:nvSpPr>
        <p:spPr bwMode="auto">
          <a:xfrm rot="5400000" flipV="1">
            <a:off x="5782419" y="1523533"/>
            <a:ext cx="127764" cy="395021"/>
          </a:xfrm>
          <a:prstGeom prst="leftBrace">
            <a:avLst>
              <a:gd name="adj1" fmla="val 37790"/>
              <a:gd name="adj2" fmla="val 50000"/>
            </a:avLst>
          </a:prstGeom>
          <a:noFill/>
          <a:ln w="127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107" name="左大括号 106">
            <a:extLst>
              <a:ext uri="{FF2B5EF4-FFF2-40B4-BE49-F238E27FC236}">
                <a16:creationId xmlns:a16="http://schemas.microsoft.com/office/drawing/2014/main" id="{F2C2796D-DE6B-2143-9F85-0D5C91FF076A}"/>
              </a:ext>
            </a:extLst>
          </p:cNvPr>
          <p:cNvSpPr/>
          <p:nvPr/>
        </p:nvSpPr>
        <p:spPr bwMode="auto">
          <a:xfrm rot="5400000" flipV="1">
            <a:off x="5368765" y="1575966"/>
            <a:ext cx="127766" cy="290151"/>
          </a:xfrm>
          <a:prstGeom prst="leftBrace">
            <a:avLst>
              <a:gd name="adj1" fmla="val 37790"/>
              <a:gd name="adj2" fmla="val 50000"/>
            </a:avLst>
          </a:prstGeom>
          <a:noFill/>
          <a:ln w="12700" cap="flat" cmpd="sng" algn="ctr">
            <a:solidFill>
              <a:srgbClr val="0432FF"/>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1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115" name="文本框 114">
            <a:extLst>
              <a:ext uri="{FF2B5EF4-FFF2-40B4-BE49-F238E27FC236}">
                <a16:creationId xmlns:a16="http://schemas.microsoft.com/office/drawing/2014/main" id="{3C91E1EE-8C27-1C46-931D-1FEA3E4B97DD}"/>
              </a:ext>
            </a:extLst>
          </p:cNvPr>
          <p:cNvSpPr txBox="1"/>
          <p:nvPr/>
        </p:nvSpPr>
        <p:spPr>
          <a:xfrm>
            <a:off x="5047884" y="1366393"/>
            <a:ext cx="712341" cy="307777"/>
          </a:xfrm>
          <a:prstGeom prst="rect">
            <a:avLst/>
          </a:prstGeom>
          <a:noFill/>
        </p:spPr>
        <p:txBody>
          <a:bodyPr wrap="square" rtlCol="0">
            <a:spAutoFit/>
          </a:bodyPr>
          <a:lstStyle/>
          <a:p>
            <a:pPr algn="ctr"/>
            <a:r>
              <a:rPr lang="zh-CN" altLang="en-US" sz="1400" b="1" dirty="0">
                <a:solidFill>
                  <a:srgbClr val="0432FF"/>
                </a:solidFill>
                <a:latin typeface="STKaiti" panose="02010600040101010101" pitchFamily="2" charset="-122"/>
                <a:ea typeface="STKaiti" panose="02010600040101010101" pitchFamily="2" charset="-122"/>
              </a:rPr>
              <a:t>行号</a:t>
            </a:r>
          </a:p>
        </p:txBody>
      </p:sp>
      <p:sp>
        <p:nvSpPr>
          <p:cNvPr id="116" name="文本框 115">
            <a:extLst>
              <a:ext uri="{FF2B5EF4-FFF2-40B4-BE49-F238E27FC236}">
                <a16:creationId xmlns:a16="http://schemas.microsoft.com/office/drawing/2014/main" id="{69DA1DE9-5B3B-E241-AC02-FDC41BBC65F8}"/>
              </a:ext>
            </a:extLst>
          </p:cNvPr>
          <p:cNvSpPr txBox="1"/>
          <p:nvPr/>
        </p:nvSpPr>
        <p:spPr>
          <a:xfrm>
            <a:off x="5330634" y="1366394"/>
            <a:ext cx="1252536" cy="307777"/>
          </a:xfrm>
          <a:prstGeom prst="rect">
            <a:avLst/>
          </a:prstGeom>
          <a:noFill/>
        </p:spPr>
        <p:txBody>
          <a:bodyPr wrap="square" rtlCol="0">
            <a:spAutoFit/>
          </a:bodyPr>
          <a:lstStyle/>
          <a:p>
            <a:pPr algn="ctr"/>
            <a:r>
              <a:rPr lang="zh-CN" altLang="en-US" sz="1400" b="1" dirty="0">
                <a:solidFill>
                  <a:srgbClr val="00B050"/>
                </a:solidFill>
                <a:latin typeface="STKaiti" panose="02010600040101010101" pitchFamily="2" charset="-122"/>
                <a:ea typeface="STKaiti" panose="02010600040101010101" pitchFamily="2" charset="-122"/>
              </a:rPr>
              <a:t>行内地址</a:t>
            </a:r>
          </a:p>
        </p:txBody>
      </p:sp>
      <p:grpSp>
        <p:nvGrpSpPr>
          <p:cNvPr id="5" name="Group 4">
            <a:extLst>
              <a:ext uri="{FF2B5EF4-FFF2-40B4-BE49-F238E27FC236}">
                <a16:creationId xmlns:a16="http://schemas.microsoft.com/office/drawing/2014/main" id="{0178A9F3-D553-2946-9D24-0ED3672922C7}"/>
              </a:ext>
            </a:extLst>
          </p:cNvPr>
          <p:cNvGrpSpPr/>
          <p:nvPr/>
        </p:nvGrpSpPr>
        <p:grpSpPr>
          <a:xfrm>
            <a:off x="2602017" y="1738140"/>
            <a:ext cx="3864005" cy="416974"/>
            <a:chOff x="2689195" y="1736406"/>
            <a:chExt cx="3864005" cy="416974"/>
          </a:xfrm>
        </p:grpSpPr>
        <p:sp>
          <p:nvSpPr>
            <p:cNvPr id="91" name="矩形 90">
              <a:extLst>
                <a:ext uri="{FF2B5EF4-FFF2-40B4-BE49-F238E27FC236}">
                  <a16:creationId xmlns:a16="http://schemas.microsoft.com/office/drawing/2014/main" id="{45BD6867-FD39-B54D-9F22-7454286FBFE1}"/>
                </a:ext>
              </a:extLst>
            </p:cNvPr>
            <p:cNvSpPr/>
            <p:nvPr/>
          </p:nvSpPr>
          <p:spPr>
            <a:xfrm>
              <a:off x="3986194" y="1753270"/>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0b0011</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111</a:t>
              </a:r>
              <a:r>
                <a:rPr lang="en-US" altLang="zh-CN" sz="2000" dirty="0">
                  <a:solidFill>
                    <a:srgbClr val="0432FF"/>
                  </a:solidFill>
                  <a:ea typeface="SimHei" panose="02010609060101010101" pitchFamily="49" charset="-122"/>
                </a:rPr>
                <a:t>0</a:t>
              </a:r>
              <a:r>
                <a:rPr lang="zh-CN" altLang="en-US" sz="2000" dirty="0">
                  <a:solidFill>
                    <a:srgbClr val="0432FF"/>
                  </a:solidFill>
                  <a:ea typeface="SimHei" panose="02010609060101010101" pitchFamily="49" charset="-122"/>
                </a:rPr>
                <a:t> </a:t>
              </a:r>
              <a:r>
                <a:rPr lang="en-US" altLang="zh-CN" sz="2000" dirty="0">
                  <a:solidFill>
                    <a:srgbClr val="0432FF"/>
                  </a:solidFill>
                  <a:ea typeface="SimHei" panose="02010609060101010101" pitchFamily="49" charset="-122"/>
                </a:rPr>
                <a:t>1</a:t>
              </a:r>
              <a:r>
                <a:rPr lang="en-US" altLang="zh-CN" sz="2000" dirty="0">
                  <a:solidFill>
                    <a:srgbClr val="00B050"/>
                  </a:solidFill>
                  <a:ea typeface="SimHei" panose="02010609060101010101" pitchFamily="49" charset="-122"/>
                </a:rPr>
                <a:t>000</a:t>
              </a:r>
              <a:endParaRPr lang="zh-CN" altLang="en-US" sz="2000" dirty="0">
                <a:solidFill>
                  <a:srgbClr val="00B050"/>
                </a:solidFill>
                <a:ea typeface="SimHei" panose="02010609060101010101" pitchFamily="49" charset="-122"/>
              </a:endParaRPr>
            </a:p>
          </p:txBody>
        </p:sp>
        <p:sp>
          <p:nvSpPr>
            <p:cNvPr id="119" name="矩形 118">
              <a:extLst>
                <a:ext uri="{FF2B5EF4-FFF2-40B4-BE49-F238E27FC236}">
                  <a16:creationId xmlns:a16="http://schemas.microsoft.com/office/drawing/2014/main" id="{8AB7BB7B-3E5D-6344-B204-64550572CCCB}"/>
                </a:ext>
              </a:extLst>
            </p:cNvPr>
            <p:cNvSpPr/>
            <p:nvPr/>
          </p:nvSpPr>
          <p:spPr>
            <a:xfrm>
              <a:off x="2689195" y="1736406"/>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1000</a:t>
              </a:r>
              <a:endParaRPr lang="zh-CN" altLang="en-US" sz="2000" dirty="0">
                <a:solidFill>
                  <a:srgbClr val="FF0000"/>
                </a:solidFill>
                <a:ea typeface="SimHei" panose="02010609060101010101" pitchFamily="49" charset="-122"/>
              </a:endParaRPr>
            </a:p>
          </p:txBody>
        </p:sp>
        <p:cxnSp>
          <p:nvCxnSpPr>
            <p:cNvPr id="120" name="直接箭头连接符 47">
              <a:extLst>
                <a:ext uri="{FF2B5EF4-FFF2-40B4-BE49-F238E27FC236}">
                  <a16:creationId xmlns:a16="http://schemas.microsoft.com/office/drawing/2014/main" id="{30A1E773-91A5-F947-B85A-1D88E2741C07}"/>
                </a:ext>
              </a:extLst>
            </p:cNvPr>
            <p:cNvCxnSpPr/>
            <p:nvPr/>
          </p:nvCxnSpPr>
          <p:spPr bwMode="auto">
            <a:xfrm flipV="1">
              <a:off x="3533087" y="1953325"/>
              <a:ext cx="351986"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09" name="Rectangle 108">
            <a:extLst>
              <a:ext uri="{FF2B5EF4-FFF2-40B4-BE49-F238E27FC236}">
                <a16:creationId xmlns:a16="http://schemas.microsoft.com/office/drawing/2014/main" id="{D024F7A9-5342-274D-817C-A86D14653328}"/>
              </a:ext>
            </a:extLst>
          </p:cNvPr>
          <p:cNvSpPr/>
          <p:nvPr/>
        </p:nvSpPr>
        <p:spPr>
          <a:xfrm>
            <a:off x="6390120" y="37931"/>
            <a:ext cx="2753880" cy="175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121" name="Table 20">
            <a:extLst>
              <a:ext uri="{FF2B5EF4-FFF2-40B4-BE49-F238E27FC236}">
                <a16:creationId xmlns:a16="http://schemas.microsoft.com/office/drawing/2014/main" id="{B538EB05-DFCA-2D42-8007-99105C53EFC3}"/>
              </a:ext>
            </a:extLst>
          </p:cNvPr>
          <p:cNvGraphicFramePr>
            <a:graphicFrameLocks noGrp="1"/>
          </p:cNvGraphicFramePr>
          <p:nvPr>
            <p:extLst>
              <p:ext uri="{D42A27DB-BD31-4B8C-83A1-F6EECF244321}">
                <p14:modId xmlns:p14="http://schemas.microsoft.com/office/powerpoint/2010/main" val="91288724"/>
              </p:ext>
            </p:extLst>
          </p:nvPr>
        </p:nvGraphicFramePr>
        <p:xfrm>
          <a:off x="8574373" y="104895"/>
          <a:ext cx="465455" cy="1935360"/>
        </p:xfrm>
        <a:graphic>
          <a:graphicData uri="http://schemas.openxmlformats.org/drawingml/2006/table">
            <a:tbl>
              <a:tblPr firstRow="1" bandRow="1">
                <a:tableStyleId>{5940675A-B579-460E-94D1-54222C63F5DA}</a:tableStyleId>
              </a:tblPr>
              <a:tblGrid>
                <a:gridCol w="465455">
                  <a:extLst>
                    <a:ext uri="{9D8B030D-6E8A-4147-A177-3AD203B41FA5}">
                      <a16:colId xmlns:a16="http://schemas.microsoft.com/office/drawing/2014/main" val="3777275115"/>
                    </a:ext>
                  </a:extLst>
                </a:gridCol>
              </a:tblGrid>
              <a:tr h="322560">
                <a:tc>
                  <a:txBody>
                    <a:bodyPr/>
                    <a:lstStyle/>
                    <a:p>
                      <a:pPr algn="ctr"/>
                      <a:r>
                        <a:rPr lang="en-CN" sz="1200" dirty="0"/>
                        <a:t>a[0]</a:t>
                      </a:r>
                    </a:p>
                  </a:txBody>
                  <a:tcPr marL="0" marR="0" marT="0" marB="0" anchor="ctr">
                    <a:solidFill>
                      <a:schemeClr val="bg1"/>
                    </a:solidFill>
                  </a:tcPr>
                </a:tc>
                <a:extLst>
                  <a:ext uri="{0D108BD9-81ED-4DB2-BD59-A6C34878D82A}">
                    <a16:rowId xmlns:a16="http://schemas.microsoft.com/office/drawing/2014/main" val="183482038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a:t>
                      </a:r>
                    </a:p>
                  </a:txBody>
                  <a:tcPr marL="0" marR="0" marT="0" marB="0" anchor="ctr">
                    <a:solidFill>
                      <a:schemeClr val="bg1"/>
                    </a:solidFill>
                  </a:tcPr>
                </a:tc>
                <a:extLst>
                  <a:ext uri="{0D108BD9-81ED-4DB2-BD59-A6C34878D82A}">
                    <a16:rowId xmlns:a16="http://schemas.microsoft.com/office/drawing/2014/main" val="1202016351"/>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a[2]</a:t>
                      </a:r>
                    </a:p>
                  </a:txBody>
                  <a:tcPr marL="0" marR="0" marT="0" marB="0" anchor="ctr">
                    <a:solidFill>
                      <a:schemeClr val="bg1"/>
                    </a:solidFill>
                  </a:tcPr>
                </a:tc>
                <a:extLst>
                  <a:ext uri="{0D108BD9-81ED-4DB2-BD59-A6C34878D82A}">
                    <a16:rowId xmlns:a16="http://schemas.microsoft.com/office/drawing/2014/main" val="1138424914"/>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a[3]</a:t>
                      </a:r>
                    </a:p>
                  </a:txBody>
                  <a:tcPr marL="0" marR="0" marT="0" marB="0" anchor="ctr">
                    <a:solidFill>
                      <a:schemeClr val="bg1"/>
                    </a:solidFill>
                  </a:tcPr>
                </a:tc>
                <a:extLst>
                  <a:ext uri="{0D108BD9-81ED-4DB2-BD59-A6C34878D82A}">
                    <a16:rowId xmlns:a16="http://schemas.microsoft.com/office/drawing/2014/main" val="271705209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a[4]</a:t>
                      </a:r>
                    </a:p>
                  </a:txBody>
                  <a:tcPr marL="0" marR="0" marT="0" marB="0" anchor="ctr">
                    <a:solidFill>
                      <a:schemeClr val="bg1"/>
                    </a:solidFill>
                  </a:tcPr>
                </a:tc>
                <a:extLst>
                  <a:ext uri="{0D108BD9-81ED-4DB2-BD59-A6C34878D82A}">
                    <a16:rowId xmlns:a16="http://schemas.microsoft.com/office/drawing/2014/main" val="575567721"/>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a[5]</a:t>
                      </a:r>
                    </a:p>
                  </a:txBody>
                  <a:tcPr marL="0" marR="0" marT="0" marB="0" anchor="ctr">
                    <a:solidFill>
                      <a:schemeClr val="bg1"/>
                    </a:solidFill>
                  </a:tcPr>
                </a:tc>
                <a:extLst>
                  <a:ext uri="{0D108BD9-81ED-4DB2-BD59-A6C34878D82A}">
                    <a16:rowId xmlns:a16="http://schemas.microsoft.com/office/drawing/2014/main" val="2696168406"/>
                  </a:ext>
                </a:extLst>
              </a:tr>
            </a:tbl>
          </a:graphicData>
        </a:graphic>
      </p:graphicFrame>
      <p:graphicFrame>
        <p:nvGraphicFramePr>
          <p:cNvPr id="122" name="Table 121">
            <a:extLst>
              <a:ext uri="{FF2B5EF4-FFF2-40B4-BE49-F238E27FC236}">
                <a16:creationId xmlns:a16="http://schemas.microsoft.com/office/drawing/2014/main" id="{0226EB5B-3AB2-B741-96E6-BFCC9C01A011}"/>
              </a:ext>
            </a:extLst>
          </p:cNvPr>
          <p:cNvGraphicFramePr>
            <a:graphicFrameLocks noGrp="1"/>
          </p:cNvGraphicFramePr>
          <p:nvPr>
            <p:extLst>
              <p:ext uri="{D42A27DB-BD31-4B8C-83A1-F6EECF244321}">
                <p14:modId xmlns:p14="http://schemas.microsoft.com/office/powerpoint/2010/main" val="1656866691"/>
              </p:ext>
            </p:extLst>
          </p:nvPr>
        </p:nvGraphicFramePr>
        <p:xfrm>
          <a:off x="6390120" y="254139"/>
          <a:ext cx="1821180" cy="136450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dirty="0"/>
                        <a:t>L</a:t>
                      </a:r>
                      <a:r>
                        <a:rPr lang="en-CN" sz="1600" dirty="0"/>
                        <a:t>ine 0: two words</a:t>
                      </a:r>
                    </a:p>
                  </a:txBody>
                  <a:tcPr>
                    <a:solidFill>
                      <a:schemeClr val="bg1"/>
                    </a:solidFill>
                  </a:tcPr>
                </a:tc>
                <a:extLst>
                  <a:ext uri="{0D108BD9-81ED-4DB2-BD59-A6C34878D82A}">
                    <a16:rowId xmlns:a16="http://schemas.microsoft.com/office/drawing/2014/main" val="1118228480"/>
                  </a:ext>
                </a:extLst>
              </a:tr>
              <a:tr h="322560">
                <a:tc>
                  <a:txBody>
                    <a:bodyPr/>
                    <a:lstStyle/>
                    <a:p>
                      <a:r>
                        <a:rPr lang="en-CN" sz="1600" dirty="0"/>
                        <a:t>Line 1: two words</a:t>
                      </a:r>
                    </a:p>
                  </a:txBody>
                  <a:tcPr>
                    <a:solidFill>
                      <a:schemeClr val="bg1"/>
                    </a:solidFill>
                  </a:tcPr>
                </a:tc>
                <a:extLst>
                  <a:ext uri="{0D108BD9-81ED-4DB2-BD59-A6C34878D82A}">
                    <a16:rowId xmlns:a16="http://schemas.microsoft.com/office/drawing/2014/main" val="3945531257"/>
                  </a:ext>
                </a:extLst>
              </a:tr>
              <a:tr h="322560">
                <a:tc>
                  <a:txBody>
                    <a:bodyPr/>
                    <a:lstStyle/>
                    <a:p>
                      <a:r>
                        <a:rPr lang="en-CN" sz="1600" dirty="0"/>
                        <a:t>Line 2: two words</a:t>
                      </a:r>
                    </a:p>
                  </a:txBody>
                  <a:tcPr>
                    <a:solidFill>
                      <a:schemeClr val="bg1"/>
                    </a:solidFill>
                  </a:tcPr>
                </a:tc>
                <a:extLst>
                  <a:ext uri="{0D108BD9-81ED-4DB2-BD59-A6C34878D82A}">
                    <a16:rowId xmlns:a16="http://schemas.microsoft.com/office/drawing/2014/main" val="605631684"/>
                  </a:ext>
                </a:extLst>
              </a:tr>
              <a:tr h="322560">
                <a:tc>
                  <a:txBody>
                    <a:bodyPr/>
                    <a:lstStyle/>
                    <a:p>
                      <a:r>
                        <a:rPr lang="en-CN" sz="1600" dirty="0"/>
                        <a:t>Line 3: two words</a:t>
                      </a:r>
                    </a:p>
                  </a:txBody>
                  <a:tcPr>
                    <a:solidFill>
                      <a:schemeClr val="bg1"/>
                    </a:solidFill>
                  </a:tcPr>
                </a:tc>
                <a:extLst>
                  <a:ext uri="{0D108BD9-81ED-4DB2-BD59-A6C34878D82A}">
                    <a16:rowId xmlns:a16="http://schemas.microsoft.com/office/drawing/2014/main" val="1931199062"/>
                  </a:ext>
                </a:extLst>
              </a:tr>
            </a:tbl>
          </a:graphicData>
        </a:graphic>
      </p:graphicFrame>
      <p:cxnSp>
        <p:nvCxnSpPr>
          <p:cNvPr id="123" name="Straight Arrow Connector 122">
            <a:extLst>
              <a:ext uri="{FF2B5EF4-FFF2-40B4-BE49-F238E27FC236}">
                <a16:creationId xmlns:a16="http://schemas.microsoft.com/office/drawing/2014/main" id="{9048DFFC-5B59-D74A-A0F1-81731D0B0ED5}"/>
              </a:ext>
            </a:extLst>
          </p:cNvPr>
          <p:cNvCxnSpPr/>
          <p:nvPr/>
        </p:nvCxnSpPr>
        <p:spPr>
          <a:xfrm flipH="1">
            <a:off x="8211300" y="254139"/>
            <a:ext cx="363073" cy="1678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a:extLst>
              <a:ext uri="{FF2B5EF4-FFF2-40B4-BE49-F238E27FC236}">
                <a16:creationId xmlns:a16="http://schemas.microsoft.com/office/drawing/2014/main" id="{AD69AD1F-0AAB-2C44-9B48-CCCD69682CAA}"/>
              </a:ext>
            </a:extLst>
          </p:cNvPr>
          <p:cNvCxnSpPr>
            <a:cxnSpLocks/>
          </p:cNvCxnSpPr>
          <p:nvPr/>
        </p:nvCxnSpPr>
        <p:spPr>
          <a:xfrm flipH="1" flipV="1">
            <a:off x="8211300" y="745348"/>
            <a:ext cx="352105" cy="157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7" name="Rectangle 126">
            <a:extLst>
              <a:ext uri="{FF2B5EF4-FFF2-40B4-BE49-F238E27FC236}">
                <a16:creationId xmlns:a16="http://schemas.microsoft.com/office/drawing/2014/main" id="{CC45DFAF-A537-1440-B971-6353AE50ACA1}"/>
              </a:ext>
            </a:extLst>
          </p:cNvPr>
          <p:cNvSpPr/>
          <p:nvPr/>
        </p:nvSpPr>
        <p:spPr>
          <a:xfrm>
            <a:off x="8570307" y="98997"/>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8" name="Rectangle 127">
            <a:extLst>
              <a:ext uri="{FF2B5EF4-FFF2-40B4-BE49-F238E27FC236}">
                <a16:creationId xmlns:a16="http://schemas.microsoft.com/office/drawing/2014/main" id="{91C0D66F-DD1A-6748-9F59-B6D41E408F10}"/>
              </a:ext>
            </a:extLst>
          </p:cNvPr>
          <p:cNvSpPr/>
          <p:nvPr/>
        </p:nvSpPr>
        <p:spPr>
          <a:xfrm>
            <a:off x="8570307" y="766648"/>
            <a:ext cx="476422" cy="61147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29" name="Straight Arrow Connector 128">
            <a:extLst>
              <a:ext uri="{FF2B5EF4-FFF2-40B4-BE49-F238E27FC236}">
                <a16:creationId xmlns:a16="http://schemas.microsoft.com/office/drawing/2014/main" id="{5EC22870-99EE-8B48-B9BA-00725856CA9B}"/>
              </a:ext>
            </a:extLst>
          </p:cNvPr>
          <p:cNvCxnSpPr>
            <a:cxnSpLocks/>
          </p:cNvCxnSpPr>
          <p:nvPr/>
        </p:nvCxnSpPr>
        <p:spPr>
          <a:xfrm flipH="1" flipV="1">
            <a:off x="8218202" y="1097331"/>
            <a:ext cx="352105" cy="5224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0" name="Rectangle 129">
            <a:extLst>
              <a:ext uri="{FF2B5EF4-FFF2-40B4-BE49-F238E27FC236}">
                <a16:creationId xmlns:a16="http://schemas.microsoft.com/office/drawing/2014/main" id="{170C7E00-0FDD-874D-8D0B-A4AE3BBEFF04}"/>
              </a:ext>
            </a:extLst>
          </p:cNvPr>
          <p:cNvSpPr/>
          <p:nvPr/>
        </p:nvSpPr>
        <p:spPr>
          <a:xfrm>
            <a:off x="6391308" y="246581"/>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1" name="Rectangle 130">
            <a:extLst>
              <a:ext uri="{FF2B5EF4-FFF2-40B4-BE49-F238E27FC236}">
                <a16:creationId xmlns:a16="http://schemas.microsoft.com/office/drawing/2014/main" id="{535C5D0D-1276-094F-8C4C-C7AF9D402A40}"/>
              </a:ext>
            </a:extLst>
          </p:cNvPr>
          <p:cNvSpPr/>
          <p:nvPr/>
        </p:nvSpPr>
        <p:spPr>
          <a:xfrm>
            <a:off x="6394759" y="627055"/>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2" name="Rectangle 131">
            <a:extLst>
              <a:ext uri="{FF2B5EF4-FFF2-40B4-BE49-F238E27FC236}">
                <a16:creationId xmlns:a16="http://schemas.microsoft.com/office/drawing/2014/main" id="{79EB6504-9B19-0F41-8239-3C89BECCC776}"/>
              </a:ext>
            </a:extLst>
          </p:cNvPr>
          <p:cNvSpPr/>
          <p:nvPr/>
        </p:nvSpPr>
        <p:spPr>
          <a:xfrm>
            <a:off x="6394759" y="955667"/>
            <a:ext cx="1826894" cy="30880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3" name="Rectangle 132">
            <a:extLst>
              <a:ext uri="{FF2B5EF4-FFF2-40B4-BE49-F238E27FC236}">
                <a16:creationId xmlns:a16="http://schemas.microsoft.com/office/drawing/2014/main" id="{ABB2CDDC-A1A7-864C-A491-F35EC1A2DFC9}"/>
              </a:ext>
            </a:extLst>
          </p:cNvPr>
          <p:cNvSpPr/>
          <p:nvPr/>
        </p:nvSpPr>
        <p:spPr>
          <a:xfrm>
            <a:off x="8574037" y="1395589"/>
            <a:ext cx="476422" cy="62716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文本框 19">
            <a:extLst>
              <a:ext uri="{FF2B5EF4-FFF2-40B4-BE49-F238E27FC236}">
                <a16:creationId xmlns:a16="http://schemas.microsoft.com/office/drawing/2014/main" id="{D1EF1E53-6F17-AA3C-89A6-FD7D75995D18}"/>
              </a:ext>
            </a:extLst>
          </p:cNvPr>
          <p:cNvSpPr txBox="1"/>
          <p:nvPr/>
        </p:nvSpPr>
        <p:spPr>
          <a:xfrm>
            <a:off x="1199440" y="3096932"/>
            <a:ext cx="540000"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srgbClr val="0432FF"/>
                </a:solidFill>
                <a:effectLst/>
                <a:uLnTx/>
                <a:uFillTx/>
                <a:latin typeface="Arial" charset="0"/>
                <a:ea typeface="SimHei" panose="02010609060101010101" pitchFamily="49" charset="-122"/>
                <a:cs typeface="+mn-cs"/>
              </a:rPr>
              <a:t>0</a:t>
            </a:r>
            <a:r>
              <a:rPr lang="en-US" altLang="zh-CN" sz="2000" dirty="0">
                <a:solidFill>
                  <a:srgbClr val="0432FF"/>
                </a:solidFill>
                <a:ea typeface="SimHei" panose="02010609060101010101" pitchFamily="49" charset="-122"/>
              </a:rPr>
              <a:t>0</a:t>
            </a:r>
            <a:endParaRPr lang="zh-CN" altLang="en-US" dirty="0"/>
          </a:p>
        </p:txBody>
      </p:sp>
      <p:sp>
        <p:nvSpPr>
          <p:cNvPr id="21" name="文本框 20">
            <a:extLst>
              <a:ext uri="{FF2B5EF4-FFF2-40B4-BE49-F238E27FC236}">
                <a16:creationId xmlns:a16="http://schemas.microsoft.com/office/drawing/2014/main" id="{F8B68A66-FD9C-6BB4-77A3-E7DAAA750A84}"/>
              </a:ext>
            </a:extLst>
          </p:cNvPr>
          <p:cNvSpPr txBox="1"/>
          <p:nvPr/>
        </p:nvSpPr>
        <p:spPr>
          <a:xfrm>
            <a:off x="1200383" y="3502233"/>
            <a:ext cx="540000"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srgbClr val="0432FF"/>
                </a:solidFill>
                <a:effectLst/>
                <a:uLnTx/>
                <a:uFillTx/>
                <a:latin typeface="Arial" charset="0"/>
                <a:ea typeface="SimHei" panose="02010609060101010101" pitchFamily="49" charset="-122"/>
                <a:cs typeface="+mn-cs"/>
              </a:rPr>
              <a:t>0</a:t>
            </a:r>
            <a:r>
              <a:rPr lang="en-US" altLang="zh-CN" sz="2000" dirty="0">
                <a:solidFill>
                  <a:srgbClr val="0432FF"/>
                </a:solidFill>
                <a:ea typeface="SimHei" panose="02010609060101010101" pitchFamily="49" charset="-122"/>
              </a:rPr>
              <a:t>1</a:t>
            </a:r>
            <a:endParaRPr lang="zh-CN" altLang="en-US" dirty="0"/>
          </a:p>
        </p:txBody>
      </p:sp>
      <p:sp>
        <p:nvSpPr>
          <p:cNvPr id="28" name="文本框 27">
            <a:extLst>
              <a:ext uri="{FF2B5EF4-FFF2-40B4-BE49-F238E27FC236}">
                <a16:creationId xmlns:a16="http://schemas.microsoft.com/office/drawing/2014/main" id="{5D881B9D-E04B-CD93-D372-0ED86DD745BC}"/>
              </a:ext>
            </a:extLst>
          </p:cNvPr>
          <p:cNvSpPr txBox="1"/>
          <p:nvPr/>
        </p:nvSpPr>
        <p:spPr>
          <a:xfrm>
            <a:off x="1201326" y="3907534"/>
            <a:ext cx="540000" cy="400110"/>
          </a:xfrm>
          <a:prstGeom prst="rect">
            <a:avLst/>
          </a:prstGeom>
          <a:noFill/>
        </p:spPr>
        <p:txBody>
          <a:bodyPr wrap="square">
            <a:spAutoFit/>
          </a:bodyPr>
          <a:lstStyle/>
          <a:p>
            <a:r>
              <a:rPr lang="en-US" altLang="zh-CN" sz="2000" dirty="0">
                <a:solidFill>
                  <a:srgbClr val="0432FF"/>
                </a:solidFill>
                <a:ea typeface="SimHei" panose="02010609060101010101" pitchFamily="49" charset="-122"/>
              </a:rPr>
              <a:t>10</a:t>
            </a:r>
            <a:endParaRPr lang="zh-CN" altLang="en-US" dirty="0"/>
          </a:p>
        </p:txBody>
      </p:sp>
      <p:sp>
        <p:nvSpPr>
          <p:cNvPr id="29" name="文本框 28">
            <a:extLst>
              <a:ext uri="{FF2B5EF4-FFF2-40B4-BE49-F238E27FC236}">
                <a16:creationId xmlns:a16="http://schemas.microsoft.com/office/drawing/2014/main" id="{06122F38-88FA-C412-0DEA-387EB1E0DE1B}"/>
              </a:ext>
            </a:extLst>
          </p:cNvPr>
          <p:cNvSpPr txBox="1"/>
          <p:nvPr/>
        </p:nvSpPr>
        <p:spPr>
          <a:xfrm>
            <a:off x="1202269" y="4312835"/>
            <a:ext cx="540000" cy="400110"/>
          </a:xfrm>
          <a:prstGeom prst="rect">
            <a:avLst/>
          </a:prstGeom>
          <a:noFill/>
        </p:spPr>
        <p:txBody>
          <a:bodyPr wrap="square">
            <a:spAutoFit/>
          </a:bodyPr>
          <a:lstStyle/>
          <a:p>
            <a:r>
              <a:rPr lang="en-US" altLang="zh-CN" sz="2000" dirty="0">
                <a:solidFill>
                  <a:srgbClr val="0432FF"/>
                </a:solidFill>
                <a:ea typeface="SimHei" panose="02010609060101010101" pitchFamily="49" charset="-122"/>
              </a:rPr>
              <a:t>11</a:t>
            </a:r>
            <a:endParaRPr lang="zh-CN" altLang="en-US" dirty="0"/>
          </a:p>
        </p:txBody>
      </p:sp>
      <p:sp>
        <p:nvSpPr>
          <p:cNvPr id="30" name="任意多边形: 形状 29">
            <a:extLst>
              <a:ext uri="{FF2B5EF4-FFF2-40B4-BE49-F238E27FC236}">
                <a16:creationId xmlns:a16="http://schemas.microsoft.com/office/drawing/2014/main" id="{809E7511-888B-A408-2672-4B5F5C4908BA}"/>
              </a:ext>
            </a:extLst>
          </p:cNvPr>
          <p:cNvSpPr/>
          <p:nvPr/>
        </p:nvSpPr>
        <p:spPr>
          <a:xfrm>
            <a:off x="1425677" y="2059858"/>
            <a:ext cx="4001729" cy="1071716"/>
          </a:xfrm>
          <a:custGeom>
            <a:avLst/>
            <a:gdLst>
              <a:gd name="connsiteX0" fmla="*/ 4001729 w 4001729"/>
              <a:gd name="connsiteY0" fmla="*/ 0 h 1071716"/>
              <a:gd name="connsiteX1" fmla="*/ 4001729 w 4001729"/>
              <a:gd name="connsiteY1" fmla="*/ 127819 h 1071716"/>
              <a:gd name="connsiteX2" fmla="*/ 3256575 w 4001729"/>
              <a:gd name="connsiteY2" fmla="*/ 127819 h 1071716"/>
              <a:gd name="connsiteX3" fmla="*/ 2711016 w 4001729"/>
              <a:gd name="connsiteY3" fmla="*/ 127819 h 1071716"/>
              <a:gd name="connsiteX4" fmla="*/ 2125538 w 4001729"/>
              <a:gd name="connsiteY4" fmla="*/ 127819 h 1071716"/>
              <a:gd name="connsiteX5" fmla="*/ 1540060 w 4001729"/>
              <a:gd name="connsiteY5" fmla="*/ 127819 h 1071716"/>
              <a:gd name="connsiteX6" fmla="*/ 874744 w 4001729"/>
              <a:gd name="connsiteY6" fmla="*/ 127819 h 1071716"/>
              <a:gd name="connsiteX7" fmla="*/ 9833 w 4001729"/>
              <a:gd name="connsiteY7" fmla="*/ 127819 h 1071716"/>
              <a:gd name="connsiteX8" fmla="*/ 4818 w 4001729"/>
              <a:gd name="connsiteY8" fmla="*/ 609206 h 1071716"/>
              <a:gd name="connsiteX9" fmla="*/ 0 w 4001729"/>
              <a:gd name="connsiteY9" fmla="*/ 1071716 h 107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1729" h="1071716" extrusionOk="0">
                <a:moveTo>
                  <a:pt x="4001729" y="0"/>
                </a:moveTo>
                <a:cubicBezTo>
                  <a:pt x="4003588" y="34249"/>
                  <a:pt x="4007154" y="88223"/>
                  <a:pt x="4001729" y="127819"/>
                </a:cubicBezTo>
                <a:cubicBezTo>
                  <a:pt x="3811186" y="150108"/>
                  <a:pt x="3617876" y="114567"/>
                  <a:pt x="3256575" y="127819"/>
                </a:cubicBezTo>
                <a:cubicBezTo>
                  <a:pt x="2895274" y="141071"/>
                  <a:pt x="2924639" y="106861"/>
                  <a:pt x="2711016" y="127819"/>
                </a:cubicBezTo>
                <a:cubicBezTo>
                  <a:pt x="2497393" y="148777"/>
                  <a:pt x="2263445" y="144888"/>
                  <a:pt x="2125538" y="127819"/>
                </a:cubicBezTo>
                <a:cubicBezTo>
                  <a:pt x="1987631" y="110750"/>
                  <a:pt x="1660379" y="115504"/>
                  <a:pt x="1540060" y="127819"/>
                </a:cubicBezTo>
                <a:cubicBezTo>
                  <a:pt x="1419741" y="140134"/>
                  <a:pt x="1077173" y="104811"/>
                  <a:pt x="874744" y="127819"/>
                </a:cubicBezTo>
                <a:cubicBezTo>
                  <a:pt x="672315" y="150827"/>
                  <a:pt x="311077" y="168477"/>
                  <a:pt x="9833" y="127819"/>
                </a:cubicBezTo>
                <a:cubicBezTo>
                  <a:pt x="-10045" y="259817"/>
                  <a:pt x="26916" y="402472"/>
                  <a:pt x="4818" y="609206"/>
                </a:cubicBezTo>
                <a:cubicBezTo>
                  <a:pt x="-17280" y="815940"/>
                  <a:pt x="-20225" y="969175"/>
                  <a:pt x="0" y="1071716"/>
                </a:cubicBezTo>
              </a:path>
            </a:pathLst>
          </a:custGeom>
          <a:noFill/>
          <a:ln>
            <a:solidFill>
              <a:srgbClr val="0432FF"/>
            </a:solidFill>
            <a:headEnd type="none" w="med" len="med"/>
            <a:tailEnd type="triangle" w="med" len="med"/>
            <a:extLst>
              <a:ext uri="{C807C97D-BFC1-408E-A445-0C87EB9F89A2}">
                <ask:lineSketchStyleProps xmlns:ask="http://schemas.microsoft.com/office/drawing/2018/sketchyshapes" sd="2568367803">
                  <a:custGeom>
                    <a:avLst/>
                    <a:gdLst>
                      <a:gd name="connsiteX0" fmla="*/ 4001729 w 4001729"/>
                      <a:gd name="connsiteY0" fmla="*/ 0 h 1071716"/>
                      <a:gd name="connsiteX1" fmla="*/ 4001729 w 4001729"/>
                      <a:gd name="connsiteY1" fmla="*/ 127819 h 1071716"/>
                      <a:gd name="connsiteX2" fmla="*/ 9833 w 4001729"/>
                      <a:gd name="connsiteY2" fmla="*/ 127819 h 1071716"/>
                      <a:gd name="connsiteX3" fmla="*/ 0 w 4001729"/>
                      <a:gd name="connsiteY3" fmla="*/ 1071716 h 1071716"/>
                    </a:gdLst>
                    <a:ahLst/>
                    <a:cxnLst>
                      <a:cxn ang="0">
                        <a:pos x="connsiteX0" y="connsiteY0"/>
                      </a:cxn>
                      <a:cxn ang="0">
                        <a:pos x="connsiteX1" y="connsiteY1"/>
                      </a:cxn>
                      <a:cxn ang="0">
                        <a:pos x="connsiteX2" y="connsiteY2"/>
                      </a:cxn>
                      <a:cxn ang="0">
                        <a:pos x="connsiteX3" y="connsiteY3"/>
                      </a:cxn>
                    </a:cxnLst>
                    <a:rect l="l" t="t" r="r" b="b"/>
                    <a:pathLst>
                      <a:path w="4001729" h="1071716">
                        <a:moveTo>
                          <a:pt x="4001729" y="0"/>
                        </a:moveTo>
                        <a:lnTo>
                          <a:pt x="4001729" y="127819"/>
                        </a:lnTo>
                        <a:lnTo>
                          <a:pt x="9833" y="127819"/>
                        </a:lnTo>
                        <a:lnTo>
                          <a:pt x="0" y="1071716"/>
                        </a:ln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8553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78</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8229600" cy="4693793"/>
          </a:xfrm>
        </p:spPr>
        <p:txBody>
          <a:bodyPr/>
          <a:lstStyle/>
          <a:p>
            <a:pPr>
              <a:buClr>
                <a:schemeClr val="tx1"/>
              </a:buClr>
            </a:pPr>
            <a:r>
              <a:rPr lang="zh-CN" altLang="en-US" sz="2800" dirty="0"/>
              <a:t>假定我们有如下一个</a:t>
            </a:r>
            <a:r>
              <a:rPr lang="en-US" altLang="zh-CN" sz="2800" dirty="0"/>
              <a:t>Cache</a:t>
            </a:r>
          </a:p>
          <a:p>
            <a:pPr lvl="1">
              <a:buClr>
                <a:schemeClr val="tx1"/>
              </a:buClr>
              <a:buFont typeface="Wingdings" pitchFamily="2" charset="2"/>
              <a:buChar char="Ø"/>
            </a:pPr>
            <a:r>
              <a:rPr lang="en-US" altLang="zh-CN" sz="2400" dirty="0"/>
              <a:t>Cache</a:t>
            </a:r>
            <a:r>
              <a:rPr lang="zh-CN" altLang="en-US" sz="2400" dirty="0"/>
              <a:t>总容量八个字</a:t>
            </a:r>
            <a:r>
              <a:rPr lang="en-US" altLang="zh-CN" sz="2400" dirty="0"/>
              <a:t>(32 bytes)</a:t>
            </a:r>
            <a:endParaRPr lang="zh-CN" altLang="en-US" sz="2400" dirty="0"/>
          </a:p>
          <a:p>
            <a:pPr lvl="1">
              <a:buClr>
                <a:schemeClr val="tx1"/>
              </a:buClr>
              <a:buFont typeface="Wingdings" pitchFamily="2" charset="2"/>
              <a:buChar char="Ø"/>
            </a:pPr>
            <a:r>
              <a:rPr lang="zh-CN" altLang="en-US" sz="2400" dirty="0"/>
              <a:t>每个</a:t>
            </a:r>
            <a:r>
              <a:rPr lang="en-US" altLang="zh-CN" sz="2400" dirty="0"/>
              <a:t>cache</a:t>
            </a:r>
            <a:r>
              <a:rPr lang="zh-CN" altLang="en-US" sz="2400" dirty="0"/>
              <a:t>行中有两个字</a:t>
            </a:r>
            <a:r>
              <a:rPr lang="en-US" altLang="zh-CN" sz="2400" dirty="0"/>
              <a:t>(8 bytes)</a:t>
            </a:r>
            <a:endParaRPr lang="zh-CN" altLang="en-US" sz="2400" dirty="0"/>
          </a:p>
          <a:p>
            <a:pPr>
              <a:buClr>
                <a:schemeClr val="tx1"/>
              </a:buClr>
            </a:pPr>
            <a:r>
              <a:rPr lang="zh-CN" altLang="en-US" sz="2800" dirty="0"/>
              <a:t>有如下的地址轨迹</a:t>
            </a:r>
          </a:p>
          <a:p>
            <a:pPr lvl="1">
              <a:buClr>
                <a:schemeClr val="tx1"/>
              </a:buClr>
              <a:buFont typeface="Wingdings" pitchFamily="2" charset="2"/>
              <a:buChar char="Ø"/>
            </a:pPr>
            <a:r>
              <a:rPr lang="en-US" altLang="zh-CN" sz="2400" dirty="0"/>
              <a:t>1000,1032,1000,1032,…</a:t>
            </a:r>
          </a:p>
          <a:p>
            <a:pPr>
              <a:buClr>
                <a:schemeClr val="tx1"/>
              </a:buClr>
            </a:pPr>
            <a:r>
              <a:rPr lang="zh-CN" altLang="en-US" sz="2800" dirty="0"/>
              <a:t>请思考</a:t>
            </a:r>
          </a:p>
          <a:p>
            <a:pPr lvl="1">
              <a:buClr>
                <a:schemeClr val="tx1"/>
              </a:buClr>
              <a:buFont typeface="Wingdings" pitchFamily="2" charset="2"/>
              <a:buChar char="Ø"/>
            </a:pPr>
            <a:r>
              <a:rPr lang="zh-CN" altLang="en-US" sz="2400" dirty="0"/>
              <a:t>直接映像的性能如何？</a:t>
            </a:r>
          </a:p>
          <a:p>
            <a:pPr lvl="1">
              <a:buClr>
                <a:schemeClr val="tx1"/>
              </a:buClr>
              <a:buFont typeface="Wingdings" pitchFamily="2" charset="2"/>
              <a:buChar char="Ø"/>
            </a:pPr>
            <a:r>
              <a:rPr lang="zh-CN" altLang="en-US" sz="2400" dirty="0"/>
              <a:t>采用</a:t>
            </a:r>
            <a:r>
              <a:rPr lang="en-US" altLang="zh-CN" sz="2400" dirty="0"/>
              <a:t>LRU</a:t>
            </a:r>
            <a:r>
              <a:rPr lang="zh-CN" altLang="en-US" sz="2400" dirty="0"/>
              <a:t>替换策略的</a:t>
            </a:r>
            <a:r>
              <a:rPr lang="en-US" altLang="zh-CN" sz="2400" dirty="0"/>
              <a:t>2</a:t>
            </a:r>
            <a:r>
              <a:rPr lang="zh-CN" altLang="en-US" sz="2400" dirty="0"/>
              <a:t>路组相联映像性能如何？和直接映像有差别吗？</a:t>
            </a:r>
            <a:endParaRPr lang="en-US" altLang="zh-CN" sz="2400" dirty="0"/>
          </a:p>
        </p:txBody>
      </p:sp>
      <p:sp>
        <p:nvSpPr>
          <p:cNvPr id="5" name="Rectangle 4">
            <a:extLst>
              <a:ext uri="{FF2B5EF4-FFF2-40B4-BE49-F238E27FC236}">
                <a16:creationId xmlns:a16="http://schemas.microsoft.com/office/drawing/2014/main" id="{2F2A8324-65FA-004F-9C27-A60E314BB303}"/>
              </a:ext>
            </a:extLst>
          </p:cNvPr>
          <p:cNvSpPr/>
          <p:nvPr/>
        </p:nvSpPr>
        <p:spPr>
          <a:xfrm>
            <a:off x="6143935" y="1885842"/>
            <a:ext cx="2753880" cy="175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6" name="Table 20">
            <a:extLst>
              <a:ext uri="{FF2B5EF4-FFF2-40B4-BE49-F238E27FC236}">
                <a16:creationId xmlns:a16="http://schemas.microsoft.com/office/drawing/2014/main" id="{274A40AD-6ADC-804E-946F-D4DF4502F94D}"/>
              </a:ext>
            </a:extLst>
          </p:cNvPr>
          <p:cNvGraphicFramePr>
            <a:graphicFrameLocks noGrp="1"/>
          </p:cNvGraphicFramePr>
          <p:nvPr>
            <p:extLst>
              <p:ext uri="{D42A27DB-BD31-4B8C-83A1-F6EECF244321}">
                <p14:modId xmlns:p14="http://schemas.microsoft.com/office/powerpoint/2010/main" val="2678725056"/>
              </p:ext>
            </p:extLst>
          </p:nvPr>
        </p:nvGraphicFramePr>
        <p:xfrm>
          <a:off x="8328188" y="1952806"/>
          <a:ext cx="465455" cy="1935360"/>
        </p:xfrm>
        <a:graphic>
          <a:graphicData uri="http://schemas.openxmlformats.org/drawingml/2006/table">
            <a:tbl>
              <a:tblPr firstRow="1" bandRow="1">
                <a:tableStyleId>{5940675A-B579-460E-94D1-54222C63F5DA}</a:tableStyleId>
              </a:tblPr>
              <a:tblGrid>
                <a:gridCol w="465455">
                  <a:extLst>
                    <a:ext uri="{9D8B030D-6E8A-4147-A177-3AD203B41FA5}">
                      <a16:colId xmlns:a16="http://schemas.microsoft.com/office/drawing/2014/main" val="3777275115"/>
                    </a:ext>
                  </a:extLst>
                </a:gridCol>
              </a:tblGrid>
              <a:tr h="322560">
                <a:tc>
                  <a:txBody>
                    <a:bodyPr/>
                    <a:lstStyle/>
                    <a:p>
                      <a:pPr algn="ctr"/>
                      <a:r>
                        <a:rPr lang="en-CN" sz="1200" dirty="0"/>
                        <a:t>a[0]</a:t>
                      </a:r>
                    </a:p>
                  </a:txBody>
                  <a:tcPr marL="0" marR="0" marT="0" marB="0" anchor="ctr">
                    <a:solidFill>
                      <a:schemeClr val="bg1"/>
                    </a:solidFill>
                  </a:tcPr>
                </a:tc>
                <a:extLst>
                  <a:ext uri="{0D108BD9-81ED-4DB2-BD59-A6C34878D82A}">
                    <a16:rowId xmlns:a16="http://schemas.microsoft.com/office/drawing/2014/main" val="183482038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a:t>
                      </a:r>
                    </a:p>
                  </a:txBody>
                  <a:tcPr marL="0" marR="0" marT="0" marB="0" anchor="ctr">
                    <a:solidFill>
                      <a:schemeClr val="bg1"/>
                    </a:solidFill>
                  </a:tcPr>
                </a:tc>
                <a:extLst>
                  <a:ext uri="{0D108BD9-81ED-4DB2-BD59-A6C34878D82A}">
                    <a16:rowId xmlns:a16="http://schemas.microsoft.com/office/drawing/2014/main" val="1202016351"/>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a[2]</a:t>
                      </a:r>
                    </a:p>
                  </a:txBody>
                  <a:tcPr marL="0" marR="0" marT="0" marB="0" anchor="ctr">
                    <a:solidFill>
                      <a:schemeClr val="bg1"/>
                    </a:solidFill>
                  </a:tcPr>
                </a:tc>
                <a:extLst>
                  <a:ext uri="{0D108BD9-81ED-4DB2-BD59-A6C34878D82A}">
                    <a16:rowId xmlns:a16="http://schemas.microsoft.com/office/drawing/2014/main" val="1138424914"/>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a[3]</a:t>
                      </a:r>
                    </a:p>
                  </a:txBody>
                  <a:tcPr marL="0" marR="0" marT="0" marB="0" anchor="ctr">
                    <a:solidFill>
                      <a:schemeClr val="bg1"/>
                    </a:solidFill>
                  </a:tcPr>
                </a:tc>
                <a:extLst>
                  <a:ext uri="{0D108BD9-81ED-4DB2-BD59-A6C34878D82A}">
                    <a16:rowId xmlns:a16="http://schemas.microsoft.com/office/drawing/2014/main" val="271705209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a[4]</a:t>
                      </a:r>
                    </a:p>
                  </a:txBody>
                  <a:tcPr marL="0" marR="0" marT="0" marB="0" anchor="ctr">
                    <a:solidFill>
                      <a:schemeClr val="bg1"/>
                    </a:solidFill>
                  </a:tcPr>
                </a:tc>
                <a:extLst>
                  <a:ext uri="{0D108BD9-81ED-4DB2-BD59-A6C34878D82A}">
                    <a16:rowId xmlns:a16="http://schemas.microsoft.com/office/drawing/2014/main" val="575567721"/>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a[5]</a:t>
                      </a:r>
                    </a:p>
                  </a:txBody>
                  <a:tcPr marL="0" marR="0" marT="0" marB="0" anchor="ctr">
                    <a:solidFill>
                      <a:schemeClr val="bg1"/>
                    </a:solidFill>
                  </a:tcPr>
                </a:tc>
                <a:extLst>
                  <a:ext uri="{0D108BD9-81ED-4DB2-BD59-A6C34878D82A}">
                    <a16:rowId xmlns:a16="http://schemas.microsoft.com/office/drawing/2014/main" val="2696168406"/>
                  </a:ext>
                </a:extLst>
              </a:tr>
            </a:tbl>
          </a:graphicData>
        </a:graphic>
      </p:graphicFrame>
      <p:graphicFrame>
        <p:nvGraphicFramePr>
          <p:cNvPr id="7" name="Table 6">
            <a:extLst>
              <a:ext uri="{FF2B5EF4-FFF2-40B4-BE49-F238E27FC236}">
                <a16:creationId xmlns:a16="http://schemas.microsoft.com/office/drawing/2014/main" id="{36A7098A-8BF2-0E49-B7B1-AAA1DECA9CA9}"/>
              </a:ext>
            </a:extLst>
          </p:cNvPr>
          <p:cNvGraphicFramePr>
            <a:graphicFrameLocks noGrp="1"/>
          </p:cNvGraphicFramePr>
          <p:nvPr>
            <p:extLst>
              <p:ext uri="{D42A27DB-BD31-4B8C-83A1-F6EECF244321}">
                <p14:modId xmlns:p14="http://schemas.microsoft.com/office/powerpoint/2010/main" val="983635187"/>
              </p:ext>
            </p:extLst>
          </p:nvPr>
        </p:nvGraphicFramePr>
        <p:xfrm>
          <a:off x="6143935" y="2102050"/>
          <a:ext cx="1821180" cy="136450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dirty="0"/>
                        <a:t>L</a:t>
                      </a:r>
                      <a:r>
                        <a:rPr lang="en-CN" sz="1600" dirty="0"/>
                        <a:t>ine 0: two words</a:t>
                      </a:r>
                    </a:p>
                  </a:txBody>
                  <a:tcPr>
                    <a:solidFill>
                      <a:schemeClr val="bg1"/>
                    </a:solidFill>
                  </a:tcPr>
                </a:tc>
                <a:extLst>
                  <a:ext uri="{0D108BD9-81ED-4DB2-BD59-A6C34878D82A}">
                    <a16:rowId xmlns:a16="http://schemas.microsoft.com/office/drawing/2014/main" val="1118228480"/>
                  </a:ext>
                </a:extLst>
              </a:tr>
              <a:tr h="322560">
                <a:tc>
                  <a:txBody>
                    <a:bodyPr/>
                    <a:lstStyle/>
                    <a:p>
                      <a:r>
                        <a:rPr lang="en-CN" sz="1600" dirty="0"/>
                        <a:t>Line 1: two words</a:t>
                      </a:r>
                    </a:p>
                  </a:txBody>
                  <a:tcPr>
                    <a:solidFill>
                      <a:schemeClr val="bg1"/>
                    </a:solidFill>
                  </a:tcPr>
                </a:tc>
                <a:extLst>
                  <a:ext uri="{0D108BD9-81ED-4DB2-BD59-A6C34878D82A}">
                    <a16:rowId xmlns:a16="http://schemas.microsoft.com/office/drawing/2014/main" val="3945531257"/>
                  </a:ext>
                </a:extLst>
              </a:tr>
              <a:tr h="322560">
                <a:tc>
                  <a:txBody>
                    <a:bodyPr/>
                    <a:lstStyle/>
                    <a:p>
                      <a:r>
                        <a:rPr lang="en-CN" sz="1600" dirty="0"/>
                        <a:t>Line 2: two words</a:t>
                      </a:r>
                    </a:p>
                  </a:txBody>
                  <a:tcPr>
                    <a:solidFill>
                      <a:schemeClr val="bg1"/>
                    </a:solidFill>
                  </a:tcPr>
                </a:tc>
                <a:extLst>
                  <a:ext uri="{0D108BD9-81ED-4DB2-BD59-A6C34878D82A}">
                    <a16:rowId xmlns:a16="http://schemas.microsoft.com/office/drawing/2014/main" val="605631684"/>
                  </a:ext>
                </a:extLst>
              </a:tr>
              <a:tr h="322560">
                <a:tc>
                  <a:txBody>
                    <a:bodyPr/>
                    <a:lstStyle/>
                    <a:p>
                      <a:r>
                        <a:rPr lang="en-CN" sz="1600" dirty="0"/>
                        <a:t>Line 3: two words</a:t>
                      </a:r>
                    </a:p>
                  </a:txBody>
                  <a:tcPr>
                    <a:solidFill>
                      <a:schemeClr val="bg1"/>
                    </a:solidFill>
                  </a:tcPr>
                </a:tc>
                <a:extLst>
                  <a:ext uri="{0D108BD9-81ED-4DB2-BD59-A6C34878D82A}">
                    <a16:rowId xmlns:a16="http://schemas.microsoft.com/office/drawing/2014/main" val="1931199062"/>
                  </a:ext>
                </a:extLst>
              </a:tr>
            </a:tbl>
          </a:graphicData>
        </a:graphic>
      </p:graphicFrame>
      <p:cxnSp>
        <p:nvCxnSpPr>
          <p:cNvPr id="8" name="Straight Arrow Connector 7">
            <a:extLst>
              <a:ext uri="{FF2B5EF4-FFF2-40B4-BE49-F238E27FC236}">
                <a16:creationId xmlns:a16="http://schemas.microsoft.com/office/drawing/2014/main" id="{ECCA3CD4-DC03-FD43-9ACD-36373024BC19}"/>
              </a:ext>
            </a:extLst>
          </p:cNvPr>
          <p:cNvCxnSpPr/>
          <p:nvPr/>
        </p:nvCxnSpPr>
        <p:spPr>
          <a:xfrm flipH="1">
            <a:off x="7965115" y="2102050"/>
            <a:ext cx="363073" cy="1678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6F789E17-44E3-0646-AC73-A43F59EDC0C7}"/>
              </a:ext>
            </a:extLst>
          </p:cNvPr>
          <p:cNvCxnSpPr>
            <a:cxnSpLocks/>
          </p:cNvCxnSpPr>
          <p:nvPr/>
        </p:nvCxnSpPr>
        <p:spPr>
          <a:xfrm flipH="1" flipV="1">
            <a:off x="7965115" y="2593259"/>
            <a:ext cx="352105" cy="157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74C50885-4567-BE4E-8EC3-D97EB43DEEC3}"/>
              </a:ext>
            </a:extLst>
          </p:cNvPr>
          <p:cNvSpPr/>
          <p:nvPr/>
        </p:nvSpPr>
        <p:spPr>
          <a:xfrm>
            <a:off x="8324122" y="1946908"/>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12">
            <a:extLst>
              <a:ext uri="{FF2B5EF4-FFF2-40B4-BE49-F238E27FC236}">
                <a16:creationId xmlns:a16="http://schemas.microsoft.com/office/drawing/2014/main" id="{2859032B-3E01-E64A-8EE9-636D68CE49AF}"/>
              </a:ext>
            </a:extLst>
          </p:cNvPr>
          <p:cNvSpPr/>
          <p:nvPr/>
        </p:nvSpPr>
        <p:spPr>
          <a:xfrm>
            <a:off x="8324122" y="2614559"/>
            <a:ext cx="476422" cy="61147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Arrow Connector 13">
            <a:extLst>
              <a:ext uri="{FF2B5EF4-FFF2-40B4-BE49-F238E27FC236}">
                <a16:creationId xmlns:a16="http://schemas.microsoft.com/office/drawing/2014/main" id="{59FDA287-4C13-3A45-9284-80E0215A385D}"/>
              </a:ext>
            </a:extLst>
          </p:cNvPr>
          <p:cNvCxnSpPr>
            <a:cxnSpLocks/>
          </p:cNvCxnSpPr>
          <p:nvPr/>
        </p:nvCxnSpPr>
        <p:spPr>
          <a:xfrm flipH="1" flipV="1">
            <a:off x="7972017" y="2945242"/>
            <a:ext cx="352105" cy="5224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7380154F-C15F-6A46-884D-9C0FF98B0C50}"/>
              </a:ext>
            </a:extLst>
          </p:cNvPr>
          <p:cNvSpPr/>
          <p:nvPr/>
        </p:nvSpPr>
        <p:spPr>
          <a:xfrm>
            <a:off x="6145123" y="2094492"/>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Rectangle 15">
            <a:extLst>
              <a:ext uri="{FF2B5EF4-FFF2-40B4-BE49-F238E27FC236}">
                <a16:creationId xmlns:a16="http://schemas.microsoft.com/office/drawing/2014/main" id="{04ECED91-5967-0D4C-B60A-7E1362FC1AE4}"/>
              </a:ext>
            </a:extLst>
          </p:cNvPr>
          <p:cNvSpPr/>
          <p:nvPr/>
        </p:nvSpPr>
        <p:spPr>
          <a:xfrm>
            <a:off x="6148574" y="2474966"/>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Rectangle 16">
            <a:extLst>
              <a:ext uri="{FF2B5EF4-FFF2-40B4-BE49-F238E27FC236}">
                <a16:creationId xmlns:a16="http://schemas.microsoft.com/office/drawing/2014/main" id="{8B7AA30A-A8A2-8844-8A82-BB9917C4475B}"/>
              </a:ext>
            </a:extLst>
          </p:cNvPr>
          <p:cNvSpPr/>
          <p:nvPr/>
        </p:nvSpPr>
        <p:spPr>
          <a:xfrm>
            <a:off x="6148574" y="2803578"/>
            <a:ext cx="1826894" cy="30880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Rectangle 17">
            <a:extLst>
              <a:ext uri="{FF2B5EF4-FFF2-40B4-BE49-F238E27FC236}">
                <a16:creationId xmlns:a16="http://schemas.microsoft.com/office/drawing/2014/main" id="{84370EEB-6893-534C-A5A7-A40DAAB8F92F}"/>
              </a:ext>
            </a:extLst>
          </p:cNvPr>
          <p:cNvSpPr/>
          <p:nvPr/>
        </p:nvSpPr>
        <p:spPr>
          <a:xfrm>
            <a:off x="8327852" y="3243500"/>
            <a:ext cx="476422" cy="627168"/>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TextBox 19">
            <a:extLst>
              <a:ext uri="{FF2B5EF4-FFF2-40B4-BE49-F238E27FC236}">
                <a16:creationId xmlns:a16="http://schemas.microsoft.com/office/drawing/2014/main" id="{03E24D53-0E68-CC4D-AC19-1DBE2ECD320F}"/>
              </a:ext>
            </a:extLst>
          </p:cNvPr>
          <p:cNvSpPr txBox="1"/>
          <p:nvPr/>
        </p:nvSpPr>
        <p:spPr>
          <a:xfrm>
            <a:off x="6553200" y="1701176"/>
            <a:ext cx="851515" cy="369332"/>
          </a:xfrm>
          <a:prstGeom prst="rect">
            <a:avLst/>
          </a:prstGeom>
          <a:noFill/>
        </p:spPr>
        <p:txBody>
          <a:bodyPr wrap="none" rtlCol="0">
            <a:spAutoFit/>
          </a:bodyPr>
          <a:lstStyle/>
          <a:p>
            <a:r>
              <a:rPr lang="en-CN" dirty="0">
                <a:ea typeface="SimHei" panose="02010609060101010101" pitchFamily="49" charset="-122"/>
              </a:rPr>
              <a:t>Cache</a:t>
            </a:r>
          </a:p>
        </p:txBody>
      </p:sp>
      <p:sp>
        <p:nvSpPr>
          <p:cNvPr id="21" name="TextBox 20">
            <a:extLst>
              <a:ext uri="{FF2B5EF4-FFF2-40B4-BE49-F238E27FC236}">
                <a16:creationId xmlns:a16="http://schemas.microsoft.com/office/drawing/2014/main" id="{DC808E85-FE01-7842-87BE-8B79C6EBEF12}"/>
              </a:ext>
            </a:extLst>
          </p:cNvPr>
          <p:cNvSpPr txBox="1"/>
          <p:nvPr/>
        </p:nvSpPr>
        <p:spPr>
          <a:xfrm>
            <a:off x="8237749" y="1554287"/>
            <a:ext cx="646331" cy="369332"/>
          </a:xfrm>
          <a:prstGeom prst="rect">
            <a:avLst/>
          </a:prstGeom>
          <a:noFill/>
        </p:spPr>
        <p:txBody>
          <a:bodyPr wrap="none" rtlCol="0">
            <a:spAutoFit/>
          </a:bodyPr>
          <a:lstStyle/>
          <a:p>
            <a:r>
              <a:rPr lang="en-CN" dirty="0">
                <a:ea typeface="SimHei" panose="02010609060101010101" pitchFamily="49" charset="-122"/>
              </a:rPr>
              <a:t>主存</a:t>
            </a:r>
          </a:p>
        </p:txBody>
      </p:sp>
      <mc:AlternateContent xmlns:mc="http://schemas.openxmlformats.org/markup-compatibility/2006">
        <mc:Choice xmlns:p14="http://schemas.microsoft.com/office/powerpoint/2010/main" Requires="p14">
          <p:contentPart p14:bwMode="auto" r:id="rId3">
            <p14:nvContentPartPr>
              <p14:cNvPr id="9" name="墨迹 8">
                <a:extLst>
                  <a:ext uri="{FF2B5EF4-FFF2-40B4-BE49-F238E27FC236}">
                    <a16:creationId xmlns:a16="http://schemas.microsoft.com/office/drawing/2014/main" id="{CD7AB5C5-7EC8-5060-0C6C-0A8AE26052C5}"/>
                  </a:ext>
                </a:extLst>
              </p14:cNvPr>
              <p14:cNvContentPartPr/>
              <p14:nvPr/>
            </p14:nvContentPartPr>
            <p14:xfrm>
              <a:off x="4064040" y="5397480"/>
              <a:ext cx="360" cy="360"/>
            </p14:xfrm>
          </p:contentPart>
        </mc:Choice>
        <mc:Fallback>
          <p:pic>
            <p:nvPicPr>
              <p:cNvPr id="9" name="墨迹 8">
                <a:extLst>
                  <a:ext uri="{FF2B5EF4-FFF2-40B4-BE49-F238E27FC236}">
                    <a16:creationId xmlns:a16="http://schemas.microsoft.com/office/drawing/2014/main" id="{CD7AB5C5-7EC8-5060-0C6C-0A8AE26052C5}"/>
                  </a:ext>
                </a:extLst>
              </p:cNvPr>
              <p:cNvPicPr/>
              <p:nvPr/>
            </p:nvPicPr>
            <p:blipFill>
              <a:blip r:embed="rId4"/>
              <a:stretch>
                <a:fillRect/>
              </a:stretch>
            </p:blipFill>
            <p:spPr>
              <a:xfrm>
                <a:off x="4054680" y="5388120"/>
                <a:ext cx="19080" cy="19080"/>
              </a:xfrm>
              <a:prstGeom prst="rect">
                <a:avLst/>
              </a:prstGeom>
            </p:spPr>
          </p:pic>
        </mc:Fallback>
      </mc:AlternateContent>
    </p:spTree>
    <p:extLst>
      <p:ext uri="{BB962C8B-B14F-4D97-AF65-F5344CB8AC3E}">
        <p14:creationId xmlns:p14="http://schemas.microsoft.com/office/powerpoint/2010/main" val="1072674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79</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7179689" cy="539939"/>
          </a:xfrm>
        </p:spPr>
        <p:txBody>
          <a:bodyPr/>
          <a:lstStyle/>
          <a:p>
            <a:pPr>
              <a:buClr>
                <a:schemeClr val="tx1"/>
              </a:buClr>
            </a:pPr>
            <a:r>
              <a:rPr lang="zh-CN" altLang="en-US" sz="2800" dirty="0"/>
              <a:t>直接映像</a:t>
            </a:r>
            <a:endParaRPr lang="en-US" altLang="zh-CN" sz="2800" dirty="0"/>
          </a:p>
        </p:txBody>
      </p:sp>
      <p:sp>
        <p:nvSpPr>
          <p:cNvPr id="114" name="Rectangle 9">
            <a:extLst>
              <a:ext uri="{FF2B5EF4-FFF2-40B4-BE49-F238E27FC236}">
                <a16:creationId xmlns:a16="http://schemas.microsoft.com/office/drawing/2014/main" id="{093EE85E-DDC3-1B4B-958B-5A838730D0E3}"/>
              </a:ext>
            </a:extLst>
          </p:cNvPr>
          <p:cNvSpPr>
            <a:spLocks noChangeArrowheads="1"/>
          </p:cNvSpPr>
          <p:nvPr/>
        </p:nvSpPr>
        <p:spPr bwMode="auto">
          <a:xfrm>
            <a:off x="244485" y="5802922"/>
            <a:ext cx="7542807"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defTabSz="1009650">
              <a:buFont typeface="Arial" panose="020B0604020202020204" pitchFamily="34" charset="0"/>
              <a:buChar char="•"/>
            </a:pPr>
            <a:r>
              <a:rPr lang="zh-CN" altLang="en-US" sz="2000" dirty="0">
                <a:latin typeface="STKaiti" panose="02010600040101010101" pitchFamily="2" charset="-122"/>
                <a:ea typeface="STKaiti" panose="02010600040101010101" pitchFamily="2" charset="-122"/>
              </a:rPr>
              <a:t>两个</a:t>
            </a:r>
            <a:r>
              <a:rPr lang="zh-CN" altLang="en-US" sz="2000" dirty="0">
                <a:solidFill>
                  <a:srgbClr val="FF0000"/>
                </a:solidFill>
                <a:latin typeface="STKaiti" panose="02010600040101010101" pitchFamily="2" charset="-122"/>
                <a:ea typeface="STKaiti" panose="02010600040101010101" pitchFamily="2" charset="-122"/>
              </a:rPr>
              <a:t>交替访问</a:t>
            </a:r>
            <a:r>
              <a:rPr lang="zh-CN" altLang="en-US" sz="2000" dirty="0">
                <a:latin typeface="STKaiti" panose="02010600040101010101" pitchFamily="2" charset="-122"/>
                <a:ea typeface="STKaiti" panose="02010600040101010101" pitchFamily="2" charset="-122"/>
              </a:rPr>
              <a:t>的主存地址分别所属的块被映射到了</a:t>
            </a:r>
            <a:r>
              <a:rPr lang="zh-CN" altLang="en-US" sz="2000" dirty="0">
                <a:solidFill>
                  <a:srgbClr val="009051"/>
                </a:solidFill>
                <a:latin typeface="STKaiti" panose="02010600040101010101" pitchFamily="2" charset="-122"/>
                <a:ea typeface="STKaiti" panose="02010600040101010101" pitchFamily="2" charset="-122"/>
              </a:rPr>
              <a:t>同一个</a:t>
            </a:r>
            <a:r>
              <a:rPr lang="en-US" altLang="zh-CN" sz="2000" dirty="0">
                <a:solidFill>
                  <a:srgbClr val="009051"/>
                </a:solidFill>
                <a:latin typeface="STKaiti" panose="02010600040101010101" pitchFamily="2" charset="-122"/>
                <a:ea typeface="STKaiti" panose="02010600040101010101" pitchFamily="2" charset="-122"/>
              </a:rPr>
              <a:t>cache</a:t>
            </a:r>
            <a:r>
              <a:rPr lang="zh-CN" altLang="en-US" sz="2000" dirty="0">
                <a:solidFill>
                  <a:srgbClr val="009051"/>
                </a:solidFill>
                <a:latin typeface="STKaiti" panose="02010600040101010101" pitchFamily="2" charset="-122"/>
                <a:ea typeface="STKaiti" panose="02010600040101010101" pitchFamily="2" charset="-122"/>
              </a:rPr>
              <a:t>行</a:t>
            </a:r>
            <a:r>
              <a:rPr lang="zh-CN" altLang="en-US" sz="2000" dirty="0">
                <a:latin typeface="STKaiti" panose="02010600040101010101" pitchFamily="2" charset="-122"/>
                <a:ea typeface="STKaiti" panose="02010600040101010101" pitchFamily="2" charset="-122"/>
              </a:rPr>
              <a:t>中，因此每次访问都发生缺失，缺失率 </a:t>
            </a:r>
            <a:r>
              <a:rPr lang="en-US" altLang="zh-CN" sz="2000" dirty="0">
                <a:latin typeface="STKaiti" panose="02010600040101010101" pitchFamily="2" charset="-122"/>
                <a:ea typeface="STKaiti" panose="02010600040101010101" pitchFamily="2" charset="-122"/>
              </a:rPr>
              <a:t>=</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100%,</a:t>
            </a:r>
            <a:r>
              <a:rPr lang="zh-CN" altLang="en-US" sz="2000" dirty="0">
                <a:latin typeface="STKaiti" panose="02010600040101010101" pitchFamily="2" charset="-122"/>
                <a:ea typeface="STKaiti" panose="02010600040101010101" pitchFamily="2" charset="-122"/>
              </a:rPr>
              <a:t> 命中率 </a:t>
            </a:r>
            <a:r>
              <a:rPr lang="en-US" altLang="zh-CN" sz="2000" dirty="0">
                <a:latin typeface="STKaiti" panose="02010600040101010101" pitchFamily="2" charset="-122"/>
                <a:ea typeface="STKaiti" panose="02010600040101010101" pitchFamily="2" charset="-122"/>
              </a:rPr>
              <a:t>=</a:t>
            </a:r>
            <a:r>
              <a:rPr lang="zh-CN" altLang="en-US" sz="2000" dirty="0">
                <a:latin typeface="STKaiti" panose="02010600040101010101" pitchFamily="2" charset="-122"/>
                <a:ea typeface="STKaiti" panose="02010600040101010101" pitchFamily="2" charset="-122"/>
              </a:rPr>
              <a:t> </a:t>
            </a:r>
            <a:r>
              <a:rPr lang="en-US" altLang="zh-CN" sz="2000" dirty="0">
                <a:latin typeface="STKaiti" panose="02010600040101010101" pitchFamily="2" charset="-122"/>
                <a:ea typeface="STKaiti" panose="02010600040101010101" pitchFamily="2" charset="-122"/>
              </a:rPr>
              <a:t>0%</a:t>
            </a:r>
            <a:endParaRPr lang="zh-CN" altLang="en-US" sz="1400" dirty="0">
              <a:latin typeface="STKaiti" panose="02010600040101010101" pitchFamily="2" charset="-122"/>
              <a:ea typeface="STKaiti" panose="02010600040101010101" pitchFamily="2" charset="-122"/>
            </a:endParaRPr>
          </a:p>
        </p:txBody>
      </p:sp>
      <p:grpSp>
        <p:nvGrpSpPr>
          <p:cNvPr id="27" name="Group 26">
            <a:extLst>
              <a:ext uri="{FF2B5EF4-FFF2-40B4-BE49-F238E27FC236}">
                <a16:creationId xmlns:a16="http://schemas.microsoft.com/office/drawing/2014/main" id="{32529266-5253-B34B-98B8-7327E2D3C40B}"/>
              </a:ext>
            </a:extLst>
          </p:cNvPr>
          <p:cNvGrpSpPr/>
          <p:nvPr/>
        </p:nvGrpSpPr>
        <p:grpSpPr>
          <a:xfrm>
            <a:off x="904298" y="2111275"/>
            <a:ext cx="1354538" cy="3454992"/>
            <a:chOff x="904298" y="2111275"/>
            <a:chExt cx="1354538" cy="3454992"/>
          </a:xfrm>
        </p:grpSpPr>
        <p:sp>
          <p:nvSpPr>
            <p:cNvPr id="6" name="Rectangle 4">
              <a:extLst>
                <a:ext uri="{FF2B5EF4-FFF2-40B4-BE49-F238E27FC236}">
                  <a16:creationId xmlns:a16="http://schemas.microsoft.com/office/drawing/2014/main" id="{CA372B5B-E7A2-7043-9EED-5665506FBE81}"/>
                </a:ext>
              </a:extLst>
            </p:cNvPr>
            <p:cNvSpPr>
              <a:spLocks noChangeArrowheads="1"/>
            </p:cNvSpPr>
            <p:nvPr/>
          </p:nvSpPr>
          <p:spPr bwMode="auto">
            <a:xfrm>
              <a:off x="904298" y="2111275"/>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访问顺序</a:t>
              </a:r>
              <a:endParaRPr lang="zh-CN" altLang="en-US" sz="1400" dirty="0">
                <a:latin typeface="Times New Roman" pitchFamily="18" charset="0"/>
                <a:ea typeface="SimHei" panose="02010609060101010101" pitchFamily="49" charset="-122"/>
              </a:endParaRPr>
            </a:p>
          </p:txBody>
        </p:sp>
        <p:sp>
          <p:nvSpPr>
            <p:cNvPr id="7" name="Rectangle 6">
              <a:extLst>
                <a:ext uri="{FF2B5EF4-FFF2-40B4-BE49-F238E27FC236}">
                  <a16:creationId xmlns:a16="http://schemas.microsoft.com/office/drawing/2014/main" id="{EC158702-ADE3-F543-A0B8-F22935313E6F}"/>
                </a:ext>
              </a:extLst>
            </p:cNvPr>
            <p:cNvSpPr>
              <a:spLocks noChangeArrowheads="1"/>
            </p:cNvSpPr>
            <p:nvPr/>
          </p:nvSpPr>
          <p:spPr bwMode="auto">
            <a:xfrm>
              <a:off x="904298" y="2521980"/>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地址块号</a:t>
              </a:r>
              <a:endParaRPr lang="zh-CN" altLang="en-US" sz="1400" dirty="0">
                <a:latin typeface="Times New Roman" pitchFamily="18" charset="0"/>
                <a:ea typeface="SimHei" panose="02010609060101010101" pitchFamily="49" charset="-122"/>
              </a:endParaRPr>
            </a:p>
          </p:txBody>
        </p:sp>
        <p:sp>
          <p:nvSpPr>
            <p:cNvPr id="8" name="Rectangle 8">
              <a:extLst>
                <a:ext uri="{FF2B5EF4-FFF2-40B4-BE49-F238E27FC236}">
                  <a16:creationId xmlns:a16="http://schemas.microsoft.com/office/drawing/2014/main" id="{2EC430C7-7F5B-0C4B-8B6F-40EE2F3D0ACF}"/>
                </a:ext>
              </a:extLst>
            </p:cNvPr>
            <p:cNvSpPr>
              <a:spLocks noChangeArrowheads="1"/>
            </p:cNvSpPr>
            <p:nvPr/>
          </p:nvSpPr>
          <p:spPr bwMode="auto">
            <a:xfrm>
              <a:off x="904298" y="3662249"/>
              <a:ext cx="1354538"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行分配情况</a:t>
              </a:r>
              <a:endParaRPr lang="zh-CN" altLang="en-US" sz="1400" dirty="0">
                <a:latin typeface="Times New Roman" pitchFamily="18" charset="0"/>
                <a:ea typeface="SimHei" panose="02010609060101010101" pitchFamily="49" charset="-122"/>
              </a:endParaRPr>
            </a:p>
          </p:txBody>
        </p:sp>
        <p:sp>
          <p:nvSpPr>
            <p:cNvPr id="9" name="Rectangle 9">
              <a:extLst>
                <a:ext uri="{FF2B5EF4-FFF2-40B4-BE49-F238E27FC236}">
                  <a16:creationId xmlns:a16="http://schemas.microsoft.com/office/drawing/2014/main" id="{00D3E4BB-13D8-8342-8DAB-0FF112C10D59}"/>
                </a:ext>
              </a:extLst>
            </p:cNvPr>
            <p:cNvSpPr>
              <a:spLocks noChangeArrowheads="1"/>
            </p:cNvSpPr>
            <p:nvPr/>
          </p:nvSpPr>
          <p:spPr bwMode="auto">
            <a:xfrm>
              <a:off x="904298" y="4836853"/>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操作状态</a:t>
              </a:r>
              <a:endParaRPr lang="zh-CN" altLang="en-US" sz="1400" dirty="0">
                <a:latin typeface="Times New Roman" pitchFamily="18" charset="0"/>
                <a:ea typeface="SimHei" panose="02010609060101010101" pitchFamily="49" charset="-122"/>
              </a:endParaRPr>
            </a:p>
          </p:txBody>
        </p:sp>
        <p:sp>
          <p:nvSpPr>
            <p:cNvPr id="100" name="Rectangle 9">
              <a:extLst>
                <a:ext uri="{FF2B5EF4-FFF2-40B4-BE49-F238E27FC236}">
                  <a16:creationId xmlns:a16="http://schemas.microsoft.com/office/drawing/2014/main" id="{EF28D8B4-CB57-A34C-B45E-5ADF1F466B5B}"/>
                </a:ext>
              </a:extLst>
            </p:cNvPr>
            <p:cNvSpPr>
              <a:spLocks noChangeArrowheads="1"/>
            </p:cNvSpPr>
            <p:nvPr/>
          </p:nvSpPr>
          <p:spPr bwMode="auto">
            <a:xfrm>
              <a:off x="904298" y="5243102"/>
              <a:ext cx="108363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是否命中</a:t>
              </a:r>
              <a:endParaRPr lang="zh-CN" altLang="en-US" sz="1400" dirty="0">
                <a:latin typeface="Times New Roman" pitchFamily="18" charset="0"/>
                <a:ea typeface="SimHei" panose="02010609060101010101" pitchFamily="49" charset="-122"/>
              </a:endParaRPr>
            </a:p>
          </p:txBody>
        </p:sp>
      </p:grpSp>
      <p:grpSp>
        <p:nvGrpSpPr>
          <p:cNvPr id="5" name="组合 4">
            <a:extLst>
              <a:ext uri="{FF2B5EF4-FFF2-40B4-BE49-F238E27FC236}">
                <a16:creationId xmlns:a16="http://schemas.microsoft.com/office/drawing/2014/main" id="{13C4B43E-4C94-8842-8F33-DCAF25220329}"/>
              </a:ext>
            </a:extLst>
          </p:cNvPr>
          <p:cNvGrpSpPr/>
          <p:nvPr/>
        </p:nvGrpSpPr>
        <p:grpSpPr>
          <a:xfrm>
            <a:off x="2136031" y="2114553"/>
            <a:ext cx="1066800" cy="3451714"/>
            <a:chOff x="2090645" y="2233303"/>
            <a:chExt cx="1066800" cy="3451714"/>
          </a:xfrm>
        </p:grpSpPr>
        <p:sp>
          <p:nvSpPr>
            <p:cNvPr id="11" name="Rectangle 11">
              <a:extLst>
                <a:ext uri="{FF2B5EF4-FFF2-40B4-BE49-F238E27FC236}">
                  <a16:creationId xmlns:a16="http://schemas.microsoft.com/office/drawing/2014/main" id="{05E7EBF1-BA77-EF4E-BACC-42132A665471}"/>
                </a:ext>
              </a:extLst>
            </p:cNvPr>
            <p:cNvSpPr>
              <a:spLocks noChangeArrowheads="1"/>
            </p:cNvSpPr>
            <p:nvPr/>
          </p:nvSpPr>
          <p:spPr bwMode="auto">
            <a:xfrm>
              <a:off x="2354045" y="4955603"/>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sp>
          <p:nvSpPr>
            <p:cNvPr id="15" name="Rectangle 26">
              <a:extLst>
                <a:ext uri="{FF2B5EF4-FFF2-40B4-BE49-F238E27FC236}">
                  <a16:creationId xmlns:a16="http://schemas.microsoft.com/office/drawing/2014/main" id="{BEFC1C1B-7B91-1940-BE3D-E5C83B063F41}"/>
                </a:ext>
              </a:extLst>
            </p:cNvPr>
            <p:cNvSpPr>
              <a:spLocks noChangeArrowheads="1"/>
            </p:cNvSpPr>
            <p:nvPr/>
          </p:nvSpPr>
          <p:spPr bwMode="auto">
            <a:xfrm>
              <a:off x="2354045" y="3497203"/>
              <a:ext cx="540000" cy="442482"/>
            </a:xfrm>
            <a:prstGeom prst="rect">
              <a:avLst/>
            </a:prstGeom>
            <a:solidFill>
              <a:srgbClr val="FFFF00"/>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16" name="Rectangle 26">
              <a:extLst>
                <a:ext uri="{FF2B5EF4-FFF2-40B4-BE49-F238E27FC236}">
                  <a16:creationId xmlns:a16="http://schemas.microsoft.com/office/drawing/2014/main" id="{9AAE2028-D38D-2E44-81D3-B387C2C31BAB}"/>
                </a:ext>
              </a:extLst>
            </p:cNvPr>
            <p:cNvSpPr>
              <a:spLocks noChangeArrowheads="1"/>
            </p:cNvSpPr>
            <p:nvPr/>
          </p:nvSpPr>
          <p:spPr bwMode="auto">
            <a:xfrm>
              <a:off x="2354045" y="394513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7" name="Rectangle 26">
              <a:extLst>
                <a:ext uri="{FF2B5EF4-FFF2-40B4-BE49-F238E27FC236}">
                  <a16:creationId xmlns:a16="http://schemas.microsoft.com/office/drawing/2014/main" id="{4AEBBAE0-C493-BF4F-8A8B-853E1D7C8C50}"/>
                </a:ext>
              </a:extLst>
            </p:cNvPr>
            <p:cNvSpPr>
              <a:spLocks noChangeArrowheads="1"/>
            </p:cNvSpPr>
            <p:nvPr/>
          </p:nvSpPr>
          <p:spPr bwMode="auto">
            <a:xfrm>
              <a:off x="2354045" y="4389961"/>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8" name="Rectangle 26">
              <a:extLst>
                <a:ext uri="{FF2B5EF4-FFF2-40B4-BE49-F238E27FC236}">
                  <a16:creationId xmlns:a16="http://schemas.microsoft.com/office/drawing/2014/main" id="{38F401E3-766D-9349-96AB-08D1DA201361}"/>
                </a:ext>
              </a:extLst>
            </p:cNvPr>
            <p:cNvSpPr>
              <a:spLocks noChangeArrowheads="1"/>
            </p:cNvSpPr>
            <p:nvPr/>
          </p:nvSpPr>
          <p:spPr bwMode="auto">
            <a:xfrm>
              <a:off x="2354045" y="305456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3" name="Rectangle 11">
              <a:extLst>
                <a:ext uri="{FF2B5EF4-FFF2-40B4-BE49-F238E27FC236}">
                  <a16:creationId xmlns:a16="http://schemas.microsoft.com/office/drawing/2014/main" id="{0AEFDF77-968C-0F4B-A99E-607A350233A6}"/>
                </a:ext>
              </a:extLst>
            </p:cNvPr>
            <p:cNvSpPr>
              <a:spLocks noChangeArrowheads="1"/>
            </p:cNvSpPr>
            <p:nvPr/>
          </p:nvSpPr>
          <p:spPr bwMode="auto">
            <a:xfrm>
              <a:off x="2354045"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125</a:t>
              </a:r>
              <a:endParaRPr lang="zh-CN" altLang="en-US" sz="1400" dirty="0">
                <a:latin typeface="+mn-lt"/>
                <a:ea typeface="SimHei" panose="02010609060101010101" pitchFamily="49" charset="-122"/>
              </a:endParaRPr>
            </a:p>
          </p:txBody>
        </p:sp>
        <p:sp>
          <p:nvSpPr>
            <p:cNvPr id="14" name="Rectangle 11">
              <a:extLst>
                <a:ext uri="{FF2B5EF4-FFF2-40B4-BE49-F238E27FC236}">
                  <a16:creationId xmlns:a16="http://schemas.microsoft.com/office/drawing/2014/main" id="{81488C19-E728-B744-BBBF-333715DB9791}"/>
                </a:ext>
              </a:extLst>
            </p:cNvPr>
            <p:cNvSpPr>
              <a:spLocks noChangeArrowheads="1"/>
            </p:cNvSpPr>
            <p:nvPr/>
          </p:nvSpPr>
          <p:spPr bwMode="auto">
            <a:xfrm>
              <a:off x="2354045"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101" name="Rectangle 11">
              <a:extLst>
                <a:ext uri="{FF2B5EF4-FFF2-40B4-BE49-F238E27FC236}">
                  <a16:creationId xmlns:a16="http://schemas.microsoft.com/office/drawing/2014/main" id="{1EECBC8A-6F74-8D49-BEB8-77F5729A080D}"/>
                </a:ext>
              </a:extLst>
            </p:cNvPr>
            <p:cNvSpPr>
              <a:spLocks noChangeArrowheads="1"/>
            </p:cNvSpPr>
            <p:nvPr/>
          </p:nvSpPr>
          <p:spPr bwMode="auto">
            <a:xfrm>
              <a:off x="2090645"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grpSp>
      <p:grpSp>
        <p:nvGrpSpPr>
          <p:cNvPr id="91" name="组合 90">
            <a:extLst>
              <a:ext uri="{FF2B5EF4-FFF2-40B4-BE49-F238E27FC236}">
                <a16:creationId xmlns:a16="http://schemas.microsoft.com/office/drawing/2014/main" id="{A9FD12FC-4BDF-5345-84DE-0CCE7DF801B5}"/>
              </a:ext>
            </a:extLst>
          </p:cNvPr>
          <p:cNvGrpSpPr/>
          <p:nvPr/>
        </p:nvGrpSpPr>
        <p:grpSpPr>
          <a:xfrm>
            <a:off x="2980205" y="2114553"/>
            <a:ext cx="1066800" cy="3451714"/>
            <a:chOff x="2090645" y="2233303"/>
            <a:chExt cx="1066800" cy="3451714"/>
          </a:xfrm>
        </p:grpSpPr>
        <p:sp>
          <p:nvSpPr>
            <p:cNvPr id="92" name="Rectangle 11">
              <a:extLst>
                <a:ext uri="{FF2B5EF4-FFF2-40B4-BE49-F238E27FC236}">
                  <a16:creationId xmlns:a16="http://schemas.microsoft.com/office/drawing/2014/main" id="{9924D246-1D23-D54D-9400-F75864B6E8D0}"/>
                </a:ext>
              </a:extLst>
            </p:cNvPr>
            <p:cNvSpPr>
              <a:spLocks noChangeArrowheads="1"/>
            </p:cNvSpPr>
            <p:nvPr/>
          </p:nvSpPr>
          <p:spPr bwMode="auto">
            <a:xfrm>
              <a:off x="2354045"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替换</a:t>
              </a:r>
              <a:endParaRPr lang="zh-CN" altLang="en-US" sz="1400" dirty="0">
                <a:latin typeface="+mn-lt"/>
                <a:ea typeface="SimHei" panose="02010609060101010101" pitchFamily="49" charset="-122"/>
              </a:endParaRPr>
            </a:p>
          </p:txBody>
        </p:sp>
        <p:sp>
          <p:nvSpPr>
            <p:cNvPr id="93" name="Rectangle 26">
              <a:extLst>
                <a:ext uri="{FF2B5EF4-FFF2-40B4-BE49-F238E27FC236}">
                  <a16:creationId xmlns:a16="http://schemas.microsoft.com/office/drawing/2014/main" id="{F25C5E39-8A53-004C-87B5-5844EBEBB67E}"/>
                </a:ext>
              </a:extLst>
            </p:cNvPr>
            <p:cNvSpPr>
              <a:spLocks noChangeArrowheads="1"/>
            </p:cNvSpPr>
            <p:nvPr/>
          </p:nvSpPr>
          <p:spPr bwMode="auto">
            <a:xfrm>
              <a:off x="2354045" y="3497203"/>
              <a:ext cx="540000" cy="442482"/>
            </a:xfrm>
            <a:prstGeom prst="rect">
              <a:avLst/>
            </a:prstGeom>
            <a:solidFill>
              <a:srgbClr val="FF99CC"/>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107" name="Rectangle 26">
              <a:extLst>
                <a:ext uri="{FF2B5EF4-FFF2-40B4-BE49-F238E27FC236}">
                  <a16:creationId xmlns:a16="http://schemas.microsoft.com/office/drawing/2014/main" id="{4020F372-E40C-8446-AEF0-676CCC021EA9}"/>
                </a:ext>
              </a:extLst>
            </p:cNvPr>
            <p:cNvSpPr>
              <a:spLocks noChangeArrowheads="1"/>
            </p:cNvSpPr>
            <p:nvPr/>
          </p:nvSpPr>
          <p:spPr bwMode="auto">
            <a:xfrm>
              <a:off x="2354045" y="394513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09" name="Rectangle 26">
              <a:extLst>
                <a:ext uri="{FF2B5EF4-FFF2-40B4-BE49-F238E27FC236}">
                  <a16:creationId xmlns:a16="http://schemas.microsoft.com/office/drawing/2014/main" id="{873412A9-719C-0145-A27C-555C423945F2}"/>
                </a:ext>
              </a:extLst>
            </p:cNvPr>
            <p:cNvSpPr>
              <a:spLocks noChangeArrowheads="1"/>
            </p:cNvSpPr>
            <p:nvPr/>
          </p:nvSpPr>
          <p:spPr bwMode="auto">
            <a:xfrm>
              <a:off x="2354045" y="4389961"/>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15" name="Rectangle 26">
              <a:extLst>
                <a:ext uri="{FF2B5EF4-FFF2-40B4-BE49-F238E27FC236}">
                  <a16:creationId xmlns:a16="http://schemas.microsoft.com/office/drawing/2014/main" id="{E7AA8567-4F62-8242-A42B-90AEB1CC45E1}"/>
                </a:ext>
              </a:extLst>
            </p:cNvPr>
            <p:cNvSpPr>
              <a:spLocks noChangeArrowheads="1"/>
            </p:cNvSpPr>
            <p:nvPr/>
          </p:nvSpPr>
          <p:spPr bwMode="auto">
            <a:xfrm>
              <a:off x="2354045" y="305456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16" name="Rectangle 11">
              <a:extLst>
                <a:ext uri="{FF2B5EF4-FFF2-40B4-BE49-F238E27FC236}">
                  <a16:creationId xmlns:a16="http://schemas.microsoft.com/office/drawing/2014/main" id="{E4EB6E7D-A39E-8940-BCDC-F51FFAEEED33}"/>
                </a:ext>
              </a:extLst>
            </p:cNvPr>
            <p:cNvSpPr>
              <a:spLocks noChangeArrowheads="1"/>
            </p:cNvSpPr>
            <p:nvPr/>
          </p:nvSpPr>
          <p:spPr bwMode="auto">
            <a:xfrm>
              <a:off x="2354045"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129</a:t>
              </a:r>
              <a:endParaRPr lang="zh-CN" altLang="en-US" sz="1400" dirty="0">
                <a:latin typeface="+mn-lt"/>
                <a:ea typeface="SimHei" panose="02010609060101010101" pitchFamily="49" charset="-122"/>
              </a:endParaRPr>
            </a:p>
          </p:txBody>
        </p:sp>
        <p:sp>
          <p:nvSpPr>
            <p:cNvPr id="119" name="Rectangle 11">
              <a:extLst>
                <a:ext uri="{FF2B5EF4-FFF2-40B4-BE49-F238E27FC236}">
                  <a16:creationId xmlns:a16="http://schemas.microsoft.com/office/drawing/2014/main" id="{DC104C72-52A9-AE4C-9F15-1012A8DB565F}"/>
                </a:ext>
              </a:extLst>
            </p:cNvPr>
            <p:cNvSpPr>
              <a:spLocks noChangeArrowheads="1"/>
            </p:cNvSpPr>
            <p:nvPr/>
          </p:nvSpPr>
          <p:spPr bwMode="auto">
            <a:xfrm>
              <a:off x="2354045"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120" name="Rectangle 11">
              <a:extLst>
                <a:ext uri="{FF2B5EF4-FFF2-40B4-BE49-F238E27FC236}">
                  <a16:creationId xmlns:a16="http://schemas.microsoft.com/office/drawing/2014/main" id="{60F582EB-C1B4-0A48-A383-D2C4128CC4B7}"/>
                </a:ext>
              </a:extLst>
            </p:cNvPr>
            <p:cNvSpPr>
              <a:spLocks noChangeArrowheads="1"/>
            </p:cNvSpPr>
            <p:nvPr/>
          </p:nvSpPr>
          <p:spPr bwMode="auto">
            <a:xfrm>
              <a:off x="2090645"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grpSp>
      <p:grpSp>
        <p:nvGrpSpPr>
          <p:cNvPr id="121" name="组合 120">
            <a:extLst>
              <a:ext uri="{FF2B5EF4-FFF2-40B4-BE49-F238E27FC236}">
                <a16:creationId xmlns:a16="http://schemas.microsoft.com/office/drawing/2014/main" id="{B120194F-9606-DA4A-B46A-E1763B4AB6BA}"/>
              </a:ext>
            </a:extLst>
          </p:cNvPr>
          <p:cNvGrpSpPr/>
          <p:nvPr/>
        </p:nvGrpSpPr>
        <p:grpSpPr>
          <a:xfrm>
            <a:off x="3824378" y="2114553"/>
            <a:ext cx="1066800" cy="3451714"/>
            <a:chOff x="2090645" y="2233303"/>
            <a:chExt cx="1066800" cy="3451714"/>
          </a:xfrm>
        </p:grpSpPr>
        <p:sp>
          <p:nvSpPr>
            <p:cNvPr id="122" name="Rectangle 11">
              <a:extLst>
                <a:ext uri="{FF2B5EF4-FFF2-40B4-BE49-F238E27FC236}">
                  <a16:creationId xmlns:a16="http://schemas.microsoft.com/office/drawing/2014/main" id="{A358BE10-4653-E842-94BA-0AFCE1ED5F15}"/>
                </a:ext>
              </a:extLst>
            </p:cNvPr>
            <p:cNvSpPr>
              <a:spLocks noChangeArrowheads="1"/>
            </p:cNvSpPr>
            <p:nvPr/>
          </p:nvSpPr>
          <p:spPr bwMode="auto">
            <a:xfrm>
              <a:off x="2354045"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替换</a:t>
              </a:r>
              <a:endParaRPr lang="zh-CN" altLang="en-US" sz="1400" dirty="0">
                <a:ea typeface="SimHei" panose="02010609060101010101" pitchFamily="49" charset="-122"/>
              </a:endParaRPr>
            </a:p>
          </p:txBody>
        </p:sp>
        <p:sp>
          <p:nvSpPr>
            <p:cNvPr id="123" name="Rectangle 26">
              <a:extLst>
                <a:ext uri="{FF2B5EF4-FFF2-40B4-BE49-F238E27FC236}">
                  <a16:creationId xmlns:a16="http://schemas.microsoft.com/office/drawing/2014/main" id="{4DFA8674-1259-2B4E-8A76-0271E3AC9617}"/>
                </a:ext>
              </a:extLst>
            </p:cNvPr>
            <p:cNvSpPr>
              <a:spLocks noChangeArrowheads="1"/>
            </p:cNvSpPr>
            <p:nvPr/>
          </p:nvSpPr>
          <p:spPr bwMode="auto">
            <a:xfrm>
              <a:off x="2354045" y="3497203"/>
              <a:ext cx="540000" cy="442482"/>
            </a:xfrm>
            <a:prstGeom prst="rect">
              <a:avLst/>
            </a:prstGeom>
            <a:solidFill>
              <a:srgbClr val="FF99CC"/>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124" name="Rectangle 26">
              <a:extLst>
                <a:ext uri="{FF2B5EF4-FFF2-40B4-BE49-F238E27FC236}">
                  <a16:creationId xmlns:a16="http://schemas.microsoft.com/office/drawing/2014/main" id="{E0FEAA94-EF67-2C46-ACB3-E653B4FB0991}"/>
                </a:ext>
              </a:extLst>
            </p:cNvPr>
            <p:cNvSpPr>
              <a:spLocks noChangeArrowheads="1"/>
            </p:cNvSpPr>
            <p:nvPr/>
          </p:nvSpPr>
          <p:spPr bwMode="auto">
            <a:xfrm>
              <a:off x="2354045" y="394513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25" name="Rectangle 26">
              <a:extLst>
                <a:ext uri="{FF2B5EF4-FFF2-40B4-BE49-F238E27FC236}">
                  <a16:creationId xmlns:a16="http://schemas.microsoft.com/office/drawing/2014/main" id="{F14F66CC-9530-744D-A2FC-8BAA8064409A}"/>
                </a:ext>
              </a:extLst>
            </p:cNvPr>
            <p:cNvSpPr>
              <a:spLocks noChangeArrowheads="1"/>
            </p:cNvSpPr>
            <p:nvPr/>
          </p:nvSpPr>
          <p:spPr bwMode="auto">
            <a:xfrm>
              <a:off x="2354045" y="4389961"/>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26" name="Rectangle 26">
              <a:extLst>
                <a:ext uri="{FF2B5EF4-FFF2-40B4-BE49-F238E27FC236}">
                  <a16:creationId xmlns:a16="http://schemas.microsoft.com/office/drawing/2014/main" id="{3F2C9C12-A9CC-D744-882E-3F7DDEB4C795}"/>
                </a:ext>
              </a:extLst>
            </p:cNvPr>
            <p:cNvSpPr>
              <a:spLocks noChangeArrowheads="1"/>
            </p:cNvSpPr>
            <p:nvPr/>
          </p:nvSpPr>
          <p:spPr bwMode="auto">
            <a:xfrm>
              <a:off x="2354045" y="305456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27" name="Rectangle 11">
              <a:extLst>
                <a:ext uri="{FF2B5EF4-FFF2-40B4-BE49-F238E27FC236}">
                  <a16:creationId xmlns:a16="http://schemas.microsoft.com/office/drawing/2014/main" id="{A3632498-FAEE-DB45-822E-C30D89C40CBD}"/>
                </a:ext>
              </a:extLst>
            </p:cNvPr>
            <p:cNvSpPr>
              <a:spLocks noChangeArrowheads="1"/>
            </p:cNvSpPr>
            <p:nvPr/>
          </p:nvSpPr>
          <p:spPr bwMode="auto">
            <a:xfrm>
              <a:off x="2354045"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125</a:t>
              </a:r>
              <a:endParaRPr lang="zh-CN" altLang="en-US" sz="1400" dirty="0">
                <a:latin typeface="+mn-lt"/>
                <a:ea typeface="SimHei" panose="02010609060101010101" pitchFamily="49" charset="-122"/>
              </a:endParaRPr>
            </a:p>
          </p:txBody>
        </p:sp>
        <p:sp>
          <p:nvSpPr>
            <p:cNvPr id="128" name="Rectangle 11">
              <a:extLst>
                <a:ext uri="{FF2B5EF4-FFF2-40B4-BE49-F238E27FC236}">
                  <a16:creationId xmlns:a16="http://schemas.microsoft.com/office/drawing/2014/main" id="{A0521750-1707-A543-BCFD-9BC462BCE251}"/>
                </a:ext>
              </a:extLst>
            </p:cNvPr>
            <p:cNvSpPr>
              <a:spLocks noChangeArrowheads="1"/>
            </p:cNvSpPr>
            <p:nvPr/>
          </p:nvSpPr>
          <p:spPr bwMode="auto">
            <a:xfrm>
              <a:off x="2354045"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sp>
          <p:nvSpPr>
            <p:cNvPr id="129" name="Rectangle 11">
              <a:extLst>
                <a:ext uri="{FF2B5EF4-FFF2-40B4-BE49-F238E27FC236}">
                  <a16:creationId xmlns:a16="http://schemas.microsoft.com/office/drawing/2014/main" id="{9AEB921E-16AF-E24A-BC25-354321F938E6}"/>
                </a:ext>
              </a:extLst>
            </p:cNvPr>
            <p:cNvSpPr>
              <a:spLocks noChangeArrowheads="1"/>
            </p:cNvSpPr>
            <p:nvPr/>
          </p:nvSpPr>
          <p:spPr bwMode="auto">
            <a:xfrm>
              <a:off x="2090645"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grpSp>
      <p:grpSp>
        <p:nvGrpSpPr>
          <p:cNvPr id="130" name="组合 129">
            <a:extLst>
              <a:ext uri="{FF2B5EF4-FFF2-40B4-BE49-F238E27FC236}">
                <a16:creationId xmlns:a16="http://schemas.microsoft.com/office/drawing/2014/main" id="{8AB1FBA9-BA72-0247-82DA-05846C331FB0}"/>
              </a:ext>
            </a:extLst>
          </p:cNvPr>
          <p:cNvGrpSpPr/>
          <p:nvPr/>
        </p:nvGrpSpPr>
        <p:grpSpPr>
          <a:xfrm>
            <a:off x="4694930" y="2114553"/>
            <a:ext cx="1066800" cy="3451714"/>
            <a:chOff x="2090645" y="2233303"/>
            <a:chExt cx="1066800" cy="3451714"/>
          </a:xfrm>
        </p:grpSpPr>
        <p:sp>
          <p:nvSpPr>
            <p:cNvPr id="131" name="Rectangle 11">
              <a:extLst>
                <a:ext uri="{FF2B5EF4-FFF2-40B4-BE49-F238E27FC236}">
                  <a16:creationId xmlns:a16="http://schemas.microsoft.com/office/drawing/2014/main" id="{56D3B907-9EB1-6840-9ADB-8CE28F0CC182}"/>
                </a:ext>
              </a:extLst>
            </p:cNvPr>
            <p:cNvSpPr>
              <a:spLocks noChangeArrowheads="1"/>
            </p:cNvSpPr>
            <p:nvPr/>
          </p:nvSpPr>
          <p:spPr bwMode="auto">
            <a:xfrm>
              <a:off x="2354045" y="49556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ea typeface="SimHei" panose="02010609060101010101" pitchFamily="49" charset="-122"/>
                </a:rPr>
                <a:t>替换</a:t>
              </a:r>
              <a:endParaRPr lang="zh-CN" altLang="en-US" sz="1400" dirty="0">
                <a:ea typeface="SimHei" panose="02010609060101010101" pitchFamily="49" charset="-122"/>
              </a:endParaRPr>
            </a:p>
          </p:txBody>
        </p:sp>
        <p:sp>
          <p:nvSpPr>
            <p:cNvPr id="132" name="Rectangle 26">
              <a:extLst>
                <a:ext uri="{FF2B5EF4-FFF2-40B4-BE49-F238E27FC236}">
                  <a16:creationId xmlns:a16="http://schemas.microsoft.com/office/drawing/2014/main" id="{F722AAC1-E30A-6D49-AA7C-1CACF70BAE25}"/>
                </a:ext>
              </a:extLst>
            </p:cNvPr>
            <p:cNvSpPr>
              <a:spLocks noChangeArrowheads="1"/>
            </p:cNvSpPr>
            <p:nvPr/>
          </p:nvSpPr>
          <p:spPr bwMode="auto">
            <a:xfrm>
              <a:off x="2354045" y="3497203"/>
              <a:ext cx="540000" cy="442482"/>
            </a:xfrm>
            <a:prstGeom prst="rect">
              <a:avLst/>
            </a:prstGeom>
            <a:solidFill>
              <a:srgbClr val="FF99CC"/>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133" name="Rectangle 26">
              <a:extLst>
                <a:ext uri="{FF2B5EF4-FFF2-40B4-BE49-F238E27FC236}">
                  <a16:creationId xmlns:a16="http://schemas.microsoft.com/office/drawing/2014/main" id="{9D8F1BC3-CCB6-D546-BBC4-073EA31F784F}"/>
                </a:ext>
              </a:extLst>
            </p:cNvPr>
            <p:cNvSpPr>
              <a:spLocks noChangeArrowheads="1"/>
            </p:cNvSpPr>
            <p:nvPr/>
          </p:nvSpPr>
          <p:spPr bwMode="auto">
            <a:xfrm>
              <a:off x="2354045" y="394513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34" name="Rectangle 26">
              <a:extLst>
                <a:ext uri="{FF2B5EF4-FFF2-40B4-BE49-F238E27FC236}">
                  <a16:creationId xmlns:a16="http://schemas.microsoft.com/office/drawing/2014/main" id="{E3111679-A7C4-0A4A-9966-1757E1FB105A}"/>
                </a:ext>
              </a:extLst>
            </p:cNvPr>
            <p:cNvSpPr>
              <a:spLocks noChangeArrowheads="1"/>
            </p:cNvSpPr>
            <p:nvPr/>
          </p:nvSpPr>
          <p:spPr bwMode="auto">
            <a:xfrm>
              <a:off x="2354045" y="4389961"/>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35" name="Rectangle 26">
              <a:extLst>
                <a:ext uri="{FF2B5EF4-FFF2-40B4-BE49-F238E27FC236}">
                  <a16:creationId xmlns:a16="http://schemas.microsoft.com/office/drawing/2014/main" id="{7DAA2960-9433-C449-8FB3-27B31F92EC25}"/>
                </a:ext>
              </a:extLst>
            </p:cNvPr>
            <p:cNvSpPr>
              <a:spLocks noChangeArrowheads="1"/>
            </p:cNvSpPr>
            <p:nvPr/>
          </p:nvSpPr>
          <p:spPr bwMode="auto">
            <a:xfrm>
              <a:off x="2354045" y="305456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36" name="Rectangle 11">
              <a:extLst>
                <a:ext uri="{FF2B5EF4-FFF2-40B4-BE49-F238E27FC236}">
                  <a16:creationId xmlns:a16="http://schemas.microsoft.com/office/drawing/2014/main" id="{58E77986-DF40-474B-9447-6A1C9F1BDFFA}"/>
                </a:ext>
              </a:extLst>
            </p:cNvPr>
            <p:cNvSpPr>
              <a:spLocks noChangeArrowheads="1"/>
            </p:cNvSpPr>
            <p:nvPr/>
          </p:nvSpPr>
          <p:spPr bwMode="auto">
            <a:xfrm>
              <a:off x="2354045" y="264261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129</a:t>
              </a:r>
              <a:endParaRPr lang="zh-CN" altLang="en-US" sz="1400" dirty="0">
                <a:latin typeface="+mn-lt"/>
                <a:ea typeface="SimHei" panose="02010609060101010101" pitchFamily="49" charset="-122"/>
              </a:endParaRPr>
            </a:p>
          </p:txBody>
        </p:sp>
        <p:sp>
          <p:nvSpPr>
            <p:cNvPr id="137" name="Rectangle 11">
              <a:extLst>
                <a:ext uri="{FF2B5EF4-FFF2-40B4-BE49-F238E27FC236}">
                  <a16:creationId xmlns:a16="http://schemas.microsoft.com/office/drawing/2014/main" id="{F6E18555-1F47-2447-8D11-7152480A1DA3}"/>
                </a:ext>
              </a:extLst>
            </p:cNvPr>
            <p:cNvSpPr>
              <a:spLocks noChangeArrowheads="1"/>
            </p:cNvSpPr>
            <p:nvPr/>
          </p:nvSpPr>
          <p:spPr bwMode="auto">
            <a:xfrm>
              <a:off x="2354045" y="223330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sp>
          <p:nvSpPr>
            <p:cNvPr id="138" name="Rectangle 11">
              <a:extLst>
                <a:ext uri="{FF2B5EF4-FFF2-40B4-BE49-F238E27FC236}">
                  <a16:creationId xmlns:a16="http://schemas.microsoft.com/office/drawing/2014/main" id="{4A8F69BD-3946-1F46-B074-499EE64C2BB8}"/>
                </a:ext>
              </a:extLst>
            </p:cNvPr>
            <p:cNvSpPr>
              <a:spLocks noChangeArrowheads="1"/>
            </p:cNvSpPr>
            <p:nvPr/>
          </p:nvSpPr>
          <p:spPr bwMode="auto">
            <a:xfrm>
              <a:off x="2090645" y="5361852"/>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grpSp>
      <p:sp>
        <p:nvSpPr>
          <p:cNvPr id="50" name="矩形 49">
            <a:extLst>
              <a:ext uri="{FF2B5EF4-FFF2-40B4-BE49-F238E27FC236}">
                <a16:creationId xmlns:a16="http://schemas.microsoft.com/office/drawing/2014/main" id="{ED1FA09E-229A-4240-B81D-F33962942B02}"/>
              </a:ext>
            </a:extLst>
          </p:cNvPr>
          <p:cNvSpPr/>
          <p:nvPr/>
        </p:nvSpPr>
        <p:spPr>
          <a:xfrm>
            <a:off x="5924777" y="1316125"/>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0b0011</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111</a:t>
            </a:r>
            <a:r>
              <a:rPr lang="en-US" altLang="zh-CN" sz="2000" dirty="0">
                <a:solidFill>
                  <a:srgbClr val="00B050"/>
                </a:solidFill>
                <a:ea typeface="SimHei" panose="02010609060101010101" pitchFamily="49" charset="-122"/>
              </a:rPr>
              <a:t>0</a:t>
            </a:r>
            <a:r>
              <a:rPr lang="zh-CN" altLang="en-US" sz="2000" dirty="0">
                <a:solidFill>
                  <a:srgbClr val="00B050"/>
                </a:solidFill>
                <a:ea typeface="SimHei" panose="02010609060101010101" pitchFamily="49" charset="-122"/>
              </a:rPr>
              <a:t> </a:t>
            </a:r>
            <a:r>
              <a:rPr lang="en-US" altLang="zh-CN" sz="2000" dirty="0">
                <a:solidFill>
                  <a:srgbClr val="00B050"/>
                </a:solidFill>
                <a:ea typeface="SimHei" panose="02010609060101010101" pitchFamily="49" charset="-122"/>
              </a:rPr>
              <a:t>1</a:t>
            </a:r>
            <a:r>
              <a:rPr lang="en-US" altLang="zh-CN" sz="2000" dirty="0">
                <a:solidFill>
                  <a:srgbClr val="0432FF"/>
                </a:solidFill>
                <a:ea typeface="SimHei" panose="02010609060101010101" pitchFamily="49" charset="-122"/>
              </a:rPr>
              <a:t>000</a:t>
            </a:r>
            <a:endParaRPr lang="zh-CN" altLang="en-US" sz="2000" dirty="0">
              <a:solidFill>
                <a:srgbClr val="0432FF"/>
              </a:solidFill>
              <a:ea typeface="SimHei" panose="02010609060101010101" pitchFamily="49" charset="-122"/>
            </a:endParaRPr>
          </a:p>
        </p:txBody>
      </p:sp>
      <p:sp>
        <p:nvSpPr>
          <p:cNvPr id="51" name="左大括号 50">
            <a:extLst>
              <a:ext uri="{FF2B5EF4-FFF2-40B4-BE49-F238E27FC236}">
                <a16:creationId xmlns:a16="http://schemas.microsoft.com/office/drawing/2014/main" id="{449CCBC1-E3B7-654C-A5E0-DCC1396E8FED}"/>
              </a:ext>
            </a:extLst>
          </p:cNvPr>
          <p:cNvSpPr/>
          <p:nvPr/>
        </p:nvSpPr>
        <p:spPr bwMode="auto">
          <a:xfrm rot="16200000">
            <a:off x="7806667" y="1863194"/>
            <a:ext cx="123106" cy="395021"/>
          </a:xfrm>
          <a:prstGeom prst="leftBrace">
            <a:avLst>
              <a:gd name="adj1" fmla="val 37790"/>
              <a:gd name="adj2" fmla="val 50000"/>
            </a:avLst>
          </a:prstGeom>
          <a:noFill/>
          <a:ln w="12700" cap="flat" cmpd="sng" algn="ctr">
            <a:solidFill>
              <a:srgbClr val="0432FF"/>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52" name="左大括号 51">
            <a:extLst>
              <a:ext uri="{FF2B5EF4-FFF2-40B4-BE49-F238E27FC236}">
                <a16:creationId xmlns:a16="http://schemas.microsoft.com/office/drawing/2014/main" id="{6B54809B-6BA5-734D-80B2-CD1AF43BFE78}"/>
              </a:ext>
            </a:extLst>
          </p:cNvPr>
          <p:cNvSpPr/>
          <p:nvPr/>
        </p:nvSpPr>
        <p:spPr bwMode="auto">
          <a:xfrm rot="16200000">
            <a:off x="7411510" y="1863194"/>
            <a:ext cx="123110" cy="395021"/>
          </a:xfrm>
          <a:prstGeom prst="leftBrace">
            <a:avLst>
              <a:gd name="adj1" fmla="val 37790"/>
              <a:gd name="adj2" fmla="val 50000"/>
            </a:avLst>
          </a:prstGeom>
          <a:noFill/>
          <a:ln w="127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53" name="文本框 52">
            <a:extLst>
              <a:ext uri="{FF2B5EF4-FFF2-40B4-BE49-F238E27FC236}">
                <a16:creationId xmlns:a16="http://schemas.microsoft.com/office/drawing/2014/main" id="{EC3C2CE7-98D0-E848-A63D-6331E76C004B}"/>
              </a:ext>
            </a:extLst>
          </p:cNvPr>
          <p:cNvSpPr txBox="1"/>
          <p:nvPr/>
        </p:nvSpPr>
        <p:spPr>
          <a:xfrm>
            <a:off x="7119423" y="2122259"/>
            <a:ext cx="712341" cy="307777"/>
          </a:xfrm>
          <a:prstGeom prst="rect">
            <a:avLst/>
          </a:prstGeom>
          <a:noFill/>
        </p:spPr>
        <p:txBody>
          <a:bodyPr wrap="square" rtlCol="0">
            <a:spAutoFit/>
          </a:bodyPr>
          <a:lstStyle/>
          <a:p>
            <a:pPr algn="ctr"/>
            <a:r>
              <a:rPr lang="zh-CN" altLang="en-US" sz="1400" b="1" dirty="0">
                <a:solidFill>
                  <a:srgbClr val="00B050"/>
                </a:solidFill>
                <a:latin typeface="STKaiti" panose="02010600040101010101" pitchFamily="2" charset="-122"/>
                <a:ea typeface="STKaiti" panose="02010600040101010101" pitchFamily="2" charset="-122"/>
              </a:rPr>
              <a:t>行号</a:t>
            </a:r>
          </a:p>
        </p:txBody>
      </p:sp>
      <p:sp>
        <p:nvSpPr>
          <p:cNvPr id="54" name="文本框 53">
            <a:extLst>
              <a:ext uri="{FF2B5EF4-FFF2-40B4-BE49-F238E27FC236}">
                <a16:creationId xmlns:a16="http://schemas.microsoft.com/office/drawing/2014/main" id="{92884E5D-01B8-C040-AD9A-125DD790ADBE}"/>
              </a:ext>
            </a:extLst>
          </p:cNvPr>
          <p:cNvSpPr txBox="1"/>
          <p:nvPr/>
        </p:nvSpPr>
        <p:spPr>
          <a:xfrm>
            <a:off x="7402173" y="2122260"/>
            <a:ext cx="1252536" cy="307777"/>
          </a:xfrm>
          <a:prstGeom prst="rect">
            <a:avLst/>
          </a:prstGeom>
          <a:noFill/>
        </p:spPr>
        <p:txBody>
          <a:bodyPr wrap="square" rtlCol="0">
            <a:spAutoFit/>
          </a:bodyPr>
          <a:lstStyle/>
          <a:p>
            <a:pPr algn="ctr"/>
            <a:r>
              <a:rPr lang="zh-CN" altLang="en-US" sz="1400" b="1" dirty="0">
                <a:solidFill>
                  <a:srgbClr val="0432FF"/>
                </a:solidFill>
                <a:latin typeface="STKaiti" panose="02010600040101010101" pitchFamily="2" charset="-122"/>
                <a:ea typeface="STKaiti" panose="02010600040101010101" pitchFamily="2" charset="-122"/>
              </a:rPr>
              <a:t>行内地址</a:t>
            </a:r>
          </a:p>
        </p:txBody>
      </p:sp>
      <p:sp>
        <p:nvSpPr>
          <p:cNvPr id="55" name="矩形 54">
            <a:extLst>
              <a:ext uri="{FF2B5EF4-FFF2-40B4-BE49-F238E27FC236}">
                <a16:creationId xmlns:a16="http://schemas.microsoft.com/office/drawing/2014/main" id="{FF8B9760-20C7-234B-92E1-4DA4956F902C}"/>
              </a:ext>
            </a:extLst>
          </p:cNvPr>
          <p:cNvSpPr/>
          <p:nvPr/>
        </p:nvSpPr>
        <p:spPr>
          <a:xfrm>
            <a:off x="4627778" y="1299261"/>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1000</a:t>
            </a:r>
            <a:endParaRPr lang="zh-CN" altLang="en-US" sz="2000" dirty="0">
              <a:solidFill>
                <a:srgbClr val="FF0000"/>
              </a:solidFill>
              <a:ea typeface="SimHei" panose="02010609060101010101" pitchFamily="49" charset="-122"/>
            </a:endParaRPr>
          </a:p>
        </p:txBody>
      </p:sp>
      <p:cxnSp>
        <p:nvCxnSpPr>
          <p:cNvPr id="56" name="直接箭头连接符 47">
            <a:extLst>
              <a:ext uri="{FF2B5EF4-FFF2-40B4-BE49-F238E27FC236}">
                <a16:creationId xmlns:a16="http://schemas.microsoft.com/office/drawing/2014/main" id="{A3F14ED4-7E95-B44F-B3C6-0F5DBE45D1D6}"/>
              </a:ext>
            </a:extLst>
          </p:cNvPr>
          <p:cNvCxnSpPr/>
          <p:nvPr/>
        </p:nvCxnSpPr>
        <p:spPr bwMode="auto">
          <a:xfrm flipV="1">
            <a:off x="5471670" y="1516180"/>
            <a:ext cx="351986"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8" name="矩形 57">
            <a:extLst>
              <a:ext uri="{FF2B5EF4-FFF2-40B4-BE49-F238E27FC236}">
                <a16:creationId xmlns:a16="http://schemas.microsoft.com/office/drawing/2014/main" id="{FF3CA38A-AF71-084B-9869-C6DF1084BA34}"/>
              </a:ext>
            </a:extLst>
          </p:cNvPr>
          <p:cNvSpPr/>
          <p:nvPr/>
        </p:nvSpPr>
        <p:spPr>
          <a:xfrm>
            <a:off x="5851625" y="1668827"/>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0b0100</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000</a:t>
            </a:r>
            <a:r>
              <a:rPr lang="en-US" altLang="zh-CN" sz="2000" dirty="0">
                <a:solidFill>
                  <a:srgbClr val="00B050"/>
                </a:solidFill>
                <a:ea typeface="SimHei" panose="02010609060101010101" pitchFamily="49" charset="-122"/>
              </a:rPr>
              <a:t>0</a:t>
            </a:r>
            <a:r>
              <a:rPr lang="zh-CN" altLang="en-US" sz="2000" dirty="0">
                <a:solidFill>
                  <a:srgbClr val="00B050"/>
                </a:solidFill>
                <a:ea typeface="SimHei" panose="02010609060101010101" pitchFamily="49" charset="-122"/>
              </a:rPr>
              <a:t> </a:t>
            </a:r>
            <a:r>
              <a:rPr lang="en-US" altLang="zh-CN" sz="2000" dirty="0">
                <a:solidFill>
                  <a:srgbClr val="00B050"/>
                </a:solidFill>
                <a:ea typeface="SimHei" panose="02010609060101010101" pitchFamily="49" charset="-122"/>
              </a:rPr>
              <a:t>1</a:t>
            </a:r>
            <a:r>
              <a:rPr lang="en-US" altLang="zh-CN" sz="2000" dirty="0">
                <a:solidFill>
                  <a:srgbClr val="0432FF"/>
                </a:solidFill>
                <a:ea typeface="SimHei" panose="02010609060101010101" pitchFamily="49" charset="-122"/>
              </a:rPr>
              <a:t>000</a:t>
            </a:r>
            <a:endParaRPr lang="zh-CN" altLang="en-US" sz="2000" dirty="0">
              <a:solidFill>
                <a:srgbClr val="0432FF"/>
              </a:solidFill>
              <a:ea typeface="SimHei" panose="02010609060101010101" pitchFamily="49" charset="-122"/>
            </a:endParaRPr>
          </a:p>
        </p:txBody>
      </p:sp>
      <p:sp>
        <p:nvSpPr>
          <p:cNvPr id="59" name="矩形 58">
            <a:extLst>
              <a:ext uri="{FF2B5EF4-FFF2-40B4-BE49-F238E27FC236}">
                <a16:creationId xmlns:a16="http://schemas.microsoft.com/office/drawing/2014/main" id="{07B2D7E5-FF00-D943-8B78-F92EBC5F30BF}"/>
              </a:ext>
            </a:extLst>
          </p:cNvPr>
          <p:cNvSpPr/>
          <p:nvPr/>
        </p:nvSpPr>
        <p:spPr>
          <a:xfrm>
            <a:off x="4627778" y="1651963"/>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1032</a:t>
            </a:r>
            <a:endParaRPr lang="zh-CN" altLang="en-US" sz="2000" dirty="0">
              <a:solidFill>
                <a:srgbClr val="FF0000"/>
              </a:solidFill>
              <a:ea typeface="SimHei" panose="02010609060101010101" pitchFamily="49" charset="-122"/>
            </a:endParaRPr>
          </a:p>
        </p:txBody>
      </p:sp>
      <p:cxnSp>
        <p:nvCxnSpPr>
          <p:cNvPr id="60" name="直接箭头连接符 47">
            <a:extLst>
              <a:ext uri="{FF2B5EF4-FFF2-40B4-BE49-F238E27FC236}">
                <a16:creationId xmlns:a16="http://schemas.microsoft.com/office/drawing/2014/main" id="{3D169A78-05AF-6F49-B82F-E07A2C3DB3C9}"/>
              </a:ext>
            </a:extLst>
          </p:cNvPr>
          <p:cNvCxnSpPr/>
          <p:nvPr/>
        </p:nvCxnSpPr>
        <p:spPr bwMode="auto">
          <a:xfrm flipV="1">
            <a:off x="5471670" y="1868882"/>
            <a:ext cx="351986"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1" name="Rectangle 60">
            <a:extLst>
              <a:ext uri="{FF2B5EF4-FFF2-40B4-BE49-F238E27FC236}">
                <a16:creationId xmlns:a16="http://schemas.microsoft.com/office/drawing/2014/main" id="{4C7C5A99-85CD-FE46-8613-FC805D8C323B}"/>
              </a:ext>
            </a:extLst>
          </p:cNvPr>
          <p:cNvSpPr/>
          <p:nvPr/>
        </p:nvSpPr>
        <p:spPr>
          <a:xfrm>
            <a:off x="6204570" y="2675068"/>
            <a:ext cx="2753880" cy="175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62" name="Table 20">
            <a:extLst>
              <a:ext uri="{FF2B5EF4-FFF2-40B4-BE49-F238E27FC236}">
                <a16:creationId xmlns:a16="http://schemas.microsoft.com/office/drawing/2014/main" id="{79222D43-C7A8-514C-94C4-52158F04CDC1}"/>
              </a:ext>
            </a:extLst>
          </p:cNvPr>
          <p:cNvGraphicFramePr>
            <a:graphicFrameLocks noGrp="1"/>
          </p:cNvGraphicFramePr>
          <p:nvPr>
            <p:extLst>
              <p:ext uri="{D42A27DB-BD31-4B8C-83A1-F6EECF244321}">
                <p14:modId xmlns:p14="http://schemas.microsoft.com/office/powerpoint/2010/main" val="2936473845"/>
              </p:ext>
            </p:extLst>
          </p:nvPr>
        </p:nvGraphicFramePr>
        <p:xfrm>
          <a:off x="8388823" y="2742032"/>
          <a:ext cx="465455" cy="2903040"/>
        </p:xfrm>
        <a:graphic>
          <a:graphicData uri="http://schemas.openxmlformats.org/drawingml/2006/table">
            <a:tbl>
              <a:tblPr firstRow="1" bandRow="1">
                <a:tableStyleId>{5940675A-B579-460E-94D1-54222C63F5DA}</a:tableStyleId>
              </a:tblPr>
              <a:tblGrid>
                <a:gridCol w="465455">
                  <a:extLst>
                    <a:ext uri="{9D8B030D-6E8A-4147-A177-3AD203B41FA5}">
                      <a16:colId xmlns:a16="http://schemas.microsoft.com/office/drawing/2014/main" val="3777275115"/>
                    </a:ext>
                  </a:extLst>
                </a:gridCol>
              </a:tblGrid>
              <a:tr h="322560">
                <a:tc>
                  <a:txBody>
                    <a:bodyPr/>
                    <a:lstStyle/>
                    <a:p>
                      <a:pPr algn="ctr"/>
                      <a:r>
                        <a:rPr lang="en-CN" sz="1200" dirty="0"/>
                        <a:t>a[0]</a:t>
                      </a:r>
                    </a:p>
                  </a:txBody>
                  <a:tcPr marL="0" marR="0" marT="0" marB="0" anchor="ctr">
                    <a:solidFill>
                      <a:srgbClr val="FFFF00"/>
                    </a:solidFill>
                  </a:tcPr>
                </a:tc>
                <a:extLst>
                  <a:ext uri="{0D108BD9-81ED-4DB2-BD59-A6C34878D82A}">
                    <a16:rowId xmlns:a16="http://schemas.microsoft.com/office/drawing/2014/main" val="183482038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a:t>
                      </a:r>
                    </a:p>
                  </a:txBody>
                  <a:tcPr marL="0" marR="0" marT="0" marB="0" anchor="ctr">
                    <a:solidFill>
                      <a:schemeClr val="bg1"/>
                    </a:solidFill>
                  </a:tcPr>
                </a:tc>
                <a:extLst>
                  <a:ext uri="{0D108BD9-81ED-4DB2-BD59-A6C34878D82A}">
                    <a16:rowId xmlns:a16="http://schemas.microsoft.com/office/drawing/2014/main" val="1202016351"/>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a[2]</a:t>
                      </a:r>
                    </a:p>
                  </a:txBody>
                  <a:tcPr marL="0" marR="0" marT="0" marB="0" anchor="ctr">
                    <a:solidFill>
                      <a:schemeClr val="bg1"/>
                    </a:solidFill>
                  </a:tcPr>
                </a:tc>
                <a:extLst>
                  <a:ext uri="{0D108BD9-81ED-4DB2-BD59-A6C34878D82A}">
                    <a16:rowId xmlns:a16="http://schemas.microsoft.com/office/drawing/2014/main" val="1138424914"/>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a[3]</a:t>
                      </a:r>
                    </a:p>
                  </a:txBody>
                  <a:tcPr marL="0" marR="0" marT="0" marB="0" anchor="ctr">
                    <a:solidFill>
                      <a:schemeClr val="bg1"/>
                    </a:solidFill>
                  </a:tcPr>
                </a:tc>
                <a:extLst>
                  <a:ext uri="{0D108BD9-81ED-4DB2-BD59-A6C34878D82A}">
                    <a16:rowId xmlns:a16="http://schemas.microsoft.com/office/drawing/2014/main" val="271705209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t>
                      </a:r>
                    </a:p>
                  </a:txBody>
                  <a:tcPr marL="0" marR="0" marT="0" marB="0" anchor="ctr">
                    <a:solidFill>
                      <a:schemeClr val="bg1"/>
                    </a:solidFill>
                  </a:tcPr>
                </a:tc>
                <a:extLst>
                  <a:ext uri="{0D108BD9-81ED-4DB2-BD59-A6C34878D82A}">
                    <a16:rowId xmlns:a16="http://schemas.microsoft.com/office/drawing/2014/main" val="522142120"/>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a[8]</a:t>
                      </a:r>
                    </a:p>
                  </a:txBody>
                  <a:tcPr marL="0" marR="0" marT="0" marB="0" anchor="ctr">
                    <a:solidFill>
                      <a:srgbClr val="FFFF00"/>
                    </a:solidFill>
                  </a:tcPr>
                </a:tc>
                <a:extLst>
                  <a:ext uri="{0D108BD9-81ED-4DB2-BD59-A6C34878D82A}">
                    <a16:rowId xmlns:a16="http://schemas.microsoft.com/office/drawing/2014/main" val="1193944868"/>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a[9]</a:t>
                      </a:r>
                    </a:p>
                  </a:txBody>
                  <a:tcPr marL="0" marR="0" marT="0" marB="0" anchor="ctr">
                    <a:solidFill>
                      <a:schemeClr val="bg1"/>
                    </a:solidFill>
                  </a:tcPr>
                </a:tc>
                <a:extLst>
                  <a:ext uri="{0D108BD9-81ED-4DB2-BD59-A6C34878D82A}">
                    <a16:rowId xmlns:a16="http://schemas.microsoft.com/office/drawing/2014/main" val="1251289379"/>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a[10]</a:t>
                      </a:r>
                    </a:p>
                  </a:txBody>
                  <a:tcPr marL="0" marR="0" marT="0" marB="0" anchor="ctr">
                    <a:solidFill>
                      <a:schemeClr val="bg1"/>
                    </a:solidFill>
                  </a:tcPr>
                </a:tc>
                <a:extLst>
                  <a:ext uri="{0D108BD9-81ED-4DB2-BD59-A6C34878D82A}">
                    <a16:rowId xmlns:a16="http://schemas.microsoft.com/office/drawing/2014/main" val="3780105567"/>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a[11]</a:t>
                      </a:r>
                    </a:p>
                  </a:txBody>
                  <a:tcPr marL="0" marR="0" marT="0" marB="0" anchor="ctr">
                    <a:solidFill>
                      <a:schemeClr val="bg1"/>
                    </a:solidFill>
                  </a:tcPr>
                </a:tc>
                <a:extLst>
                  <a:ext uri="{0D108BD9-81ED-4DB2-BD59-A6C34878D82A}">
                    <a16:rowId xmlns:a16="http://schemas.microsoft.com/office/drawing/2014/main" val="2741638177"/>
                  </a:ext>
                </a:extLst>
              </a:tr>
            </a:tbl>
          </a:graphicData>
        </a:graphic>
      </p:graphicFrame>
      <p:graphicFrame>
        <p:nvGraphicFramePr>
          <p:cNvPr id="63" name="Table 62">
            <a:extLst>
              <a:ext uri="{FF2B5EF4-FFF2-40B4-BE49-F238E27FC236}">
                <a16:creationId xmlns:a16="http://schemas.microsoft.com/office/drawing/2014/main" id="{7A219C95-0167-B447-93D5-771D5F2F3802}"/>
              </a:ext>
            </a:extLst>
          </p:cNvPr>
          <p:cNvGraphicFramePr>
            <a:graphicFrameLocks noGrp="1"/>
          </p:cNvGraphicFramePr>
          <p:nvPr>
            <p:extLst>
              <p:ext uri="{D42A27DB-BD31-4B8C-83A1-F6EECF244321}">
                <p14:modId xmlns:p14="http://schemas.microsoft.com/office/powerpoint/2010/main" val="1246680027"/>
              </p:ext>
            </p:extLst>
          </p:nvPr>
        </p:nvGraphicFramePr>
        <p:xfrm>
          <a:off x="6002347" y="2891276"/>
          <a:ext cx="1821180" cy="136450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dirty="0"/>
                        <a:t>L</a:t>
                      </a:r>
                      <a:r>
                        <a:rPr lang="en-CN" sz="1600" dirty="0"/>
                        <a:t>ine 0: two words</a:t>
                      </a:r>
                    </a:p>
                  </a:txBody>
                  <a:tcPr>
                    <a:solidFill>
                      <a:schemeClr val="bg1"/>
                    </a:solidFill>
                  </a:tcPr>
                </a:tc>
                <a:extLst>
                  <a:ext uri="{0D108BD9-81ED-4DB2-BD59-A6C34878D82A}">
                    <a16:rowId xmlns:a16="http://schemas.microsoft.com/office/drawing/2014/main" val="1118228480"/>
                  </a:ext>
                </a:extLst>
              </a:tr>
              <a:tr h="322560">
                <a:tc>
                  <a:txBody>
                    <a:bodyPr/>
                    <a:lstStyle/>
                    <a:p>
                      <a:r>
                        <a:rPr lang="en-CN" sz="1600" dirty="0"/>
                        <a:t>Line 1: two words</a:t>
                      </a:r>
                    </a:p>
                  </a:txBody>
                  <a:tcPr>
                    <a:solidFill>
                      <a:schemeClr val="bg1"/>
                    </a:solidFill>
                  </a:tcPr>
                </a:tc>
                <a:extLst>
                  <a:ext uri="{0D108BD9-81ED-4DB2-BD59-A6C34878D82A}">
                    <a16:rowId xmlns:a16="http://schemas.microsoft.com/office/drawing/2014/main" val="3945531257"/>
                  </a:ext>
                </a:extLst>
              </a:tr>
              <a:tr h="322560">
                <a:tc>
                  <a:txBody>
                    <a:bodyPr/>
                    <a:lstStyle/>
                    <a:p>
                      <a:r>
                        <a:rPr lang="en-CN" sz="1600" dirty="0"/>
                        <a:t>Line 2: two words</a:t>
                      </a:r>
                    </a:p>
                  </a:txBody>
                  <a:tcPr>
                    <a:solidFill>
                      <a:schemeClr val="bg1"/>
                    </a:solidFill>
                  </a:tcPr>
                </a:tc>
                <a:extLst>
                  <a:ext uri="{0D108BD9-81ED-4DB2-BD59-A6C34878D82A}">
                    <a16:rowId xmlns:a16="http://schemas.microsoft.com/office/drawing/2014/main" val="605631684"/>
                  </a:ext>
                </a:extLst>
              </a:tr>
              <a:tr h="322560">
                <a:tc>
                  <a:txBody>
                    <a:bodyPr/>
                    <a:lstStyle/>
                    <a:p>
                      <a:r>
                        <a:rPr lang="en-CN" sz="1600" dirty="0"/>
                        <a:t>Line 3: two words</a:t>
                      </a:r>
                    </a:p>
                  </a:txBody>
                  <a:tcPr>
                    <a:solidFill>
                      <a:schemeClr val="bg1"/>
                    </a:solidFill>
                  </a:tcPr>
                </a:tc>
                <a:extLst>
                  <a:ext uri="{0D108BD9-81ED-4DB2-BD59-A6C34878D82A}">
                    <a16:rowId xmlns:a16="http://schemas.microsoft.com/office/drawing/2014/main" val="1931199062"/>
                  </a:ext>
                </a:extLst>
              </a:tr>
            </a:tbl>
          </a:graphicData>
        </a:graphic>
      </p:graphicFrame>
      <p:cxnSp>
        <p:nvCxnSpPr>
          <p:cNvPr id="64" name="Straight Arrow Connector 63">
            <a:extLst>
              <a:ext uri="{FF2B5EF4-FFF2-40B4-BE49-F238E27FC236}">
                <a16:creationId xmlns:a16="http://schemas.microsoft.com/office/drawing/2014/main" id="{871F10F0-C453-244A-8E2C-35D1D0016A88}"/>
              </a:ext>
            </a:extLst>
          </p:cNvPr>
          <p:cNvCxnSpPr>
            <a:cxnSpLocks/>
          </p:cNvCxnSpPr>
          <p:nvPr/>
        </p:nvCxnSpPr>
        <p:spPr>
          <a:xfrm flipH="1">
            <a:off x="7850101" y="2891276"/>
            <a:ext cx="538723" cy="17061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B941BF05-C928-D144-A958-A7B73E5BEFCA}"/>
              </a:ext>
            </a:extLst>
          </p:cNvPr>
          <p:cNvCxnSpPr>
            <a:cxnSpLocks/>
            <a:stCxn id="78" idx="1"/>
          </p:cNvCxnSpPr>
          <p:nvPr/>
        </p:nvCxnSpPr>
        <p:spPr>
          <a:xfrm flipH="1" flipV="1">
            <a:off x="7865644" y="3061141"/>
            <a:ext cx="519892" cy="162121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6327684F-693F-F043-94AA-873147B14C22}"/>
              </a:ext>
            </a:extLst>
          </p:cNvPr>
          <p:cNvCxnSpPr>
            <a:cxnSpLocks/>
            <a:endCxn id="72" idx="3"/>
          </p:cNvCxnSpPr>
          <p:nvPr/>
        </p:nvCxnSpPr>
        <p:spPr>
          <a:xfrm flipH="1" flipV="1">
            <a:off x="7833880" y="3418596"/>
            <a:ext cx="543976" cy="121462"/>
          </a:xfrm>
          <a:prstGeom prst="straightConnector1">
            <a:avLst/>
          </a:prstGeom>
          <a:ln>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5A68F7DF-0301-ED40-A4E8-854AE588DED3}"/>
              </a:ext>
            </a:extLst>
          </p:cNvPr>
          <p:cNvCxnSpPr>
            <a:cxnSpLocks/>
          </p:cNvCxnSpPr>
          <p:nvPr/>
        </p:nvCxnSpPr>
        <p:spPr>
          <a:xfrm flipH="1" flipV="1">
            <a:off x="7863382" y="3456374"/>
            <a:ext cx="505324" cy="1739778"/>
          </a:xfrm>
          <a:prstGeom prst="straightConnector1">
            <a:avLst/>
          </a:prstGeom>
          <a:ln>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68" name="Rectangle 67">
            <a:extLst>
              <a:ext uri="{FF2B5EF4-FFF2-40B4-BE49-F238E27FC236}">
                <a16:creationId xmlns:a16="http://schemas.microsoft.com/office/drawing/2014/main" id="{5C2A752F-4858-D241-8C89-8926670D6D57}"/>
              </a:ext>
            </a:extLst>
          </p:cNvPr>
          <p:cNvSpPr/>
          <p:nvPr/>
        </p:nvSpPr>
        <p:spPr>
          <a:xfrm>
            <a:off x="8384757" y="2736134"/>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9" name="Rectangle 68">
            <a:extLst>
              <a:ext uri="{FF2B5EF4-FFF2-40B4-BE49-F238E27FC236}">
                <a16:creationId xmlns:a16="http://schemas.microsoft.com/office/drawing/2014/main" id="{6B47B2CE-D36E-534E-AF6E-91E1373A5621}"/>
              </a:ext>
            </a:extLst>
          </p:cNvPr>
          <p:cNvSpPr/>
          <p:nvPr/>
        </p:nvSpPr>
        <p:spPr>
          <a:xfrm>
            <a:off x="8384757" y="3403785"/>
            <a:ext cx="476422" cy="61147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1" name="Rectangle 70">
            <a:extLst>
              <a:ext uri="{FF2B5EF4-FFF2-40B4-BE49-F238E27FC236}">
                <a16:creationId xmlns:a16="http://schemas.microsoft.com/office/drawing/2014/main" id="{87E4B997-4FDD-E04E-80EF-B34DE061EE3C}"/>
              </a:ext>
            </a:extLst>
          </p:cNvPr>
          <p:cNvSpPr/>
          <p:nvPr/>
        </p:nvSpPr>
        <p:spPr>
          <a:xfrm>
            <a:off x="6003535" y="2883718"/>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2" name="Rectangle 71">
            <a:extLst>
              <a:ext uri="{FF2B5EF4-FFF2-40B4-BE49-F238E27FC236}">
                <a16:creationId xmlns:a16="http://schemas.microsoft.com/office/drawing/2014/main" id="{89040963-4FF7-024C-8DBA-0E603027B487}"/>
              </a:ext>
            </a:extLst>
          </p:cNvPr>
          <p:cNvSpPr/>
          <p:nvPr/>
        </p:nvSpPr>
        <p:spPr>
          <a:xfrm>
            <a:off x="6006986" y="3264192"/>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6" name="TextBox 75">
            <a:extLst>
              <a:ext uri="{FF2B5EF4-FFF2-40B4-BE49-F238E27FC236}">
                <a16:creationId xmlns:a16="http://schemas.microsoft.com/office/drawing/2014/main" id="{97E7D88A-9DD1-C24F-9927-4DF518DED24E}"/>
              </a:ext>
            </a:extLst>
          </p:cNvPr>
          <p:cNvSpPr txBox="1"/>
          <p:nvPr/>
        </p:nvSpPr>
        <p:spPr>
          <a:xfrm>
            <a:off x="6411612" y="2490402"/>
            <a:ext cx="851515" cy="369332"/>
          </a:xfrm>
          <a:prstGeom prst="rect">
            <a:avLst/>
          </a:prstGeom>
          <a:noFill/>
        </p:spPr>
        <p:txBody>
          <a:bodyPr wrap="none" rtlCol="0">
            <a:spAutoFit/>
          </a:bodyPr>
          <a:lstStyle/>
          <a:p>
            <a:r>
              <a:rPr lang="en-CN" dirty="0">
                <a:ea typeface="SimHei" panose="02010609060101010101" pitchFamily="49" charset="-122"/>
              </a:rPr>
              <a:t>Cache</a:t>
            </a:r>
          </a:p>
        </p:txBody>
      </p:sp>
      <p:sp>
        <p:nvSpPr>
          <p:cNvPr id="77" name="TextBox 76">
            <a:extLst>
              <a:ext uri="{FF2B5EF4-FFF2-40B4-BE49-F238E27FC236}">
                <a16:creationId xmlns:a16="http://schemas.microsoft.com/office/drawing/2014/main" id="{D2639FF5-9A91-2846-BDB0-83D586AEA34F}"/>
              </a:ext>
            </a:extLst>
          </p:cNvPr>
          <p:cNvSpPr txBox="1"/>
          <p:nvPr/>
        </p:nvSpPr>
        <p:spPr>
          <a:xfrm>
            <a:off x="8298384" y="2343513"/>
            <a:ext cx="646331" cy="369332"/>
          </a:xfrm>
          <a:prstGeom prst="rect">
            <a:avLst/>
          </a:prstGeom>
          <a:noFill/>
        </p:spPr>
        <p:txBody>
          <a:bodyPr wrap="none" rtlCol="0">
            <a:spAutoFit/>
          </a:bodyPr>
          <a:lstStyle/>
          <a:p>
            <a:r>
              <a:rPr lang="en-CN" dirty="0">
                <a:ea typeface="SimHei" panose="02010609060101010101" pitchFamily="49" charset="-122"/>
              </a:rPr>
              <a:t>主存</a:t>
            </a:r>
          </a:p>
        </p:txBody>
      </p:sp>
      <p:sp>
        <p:nvSpPr>
          <p:cNvPr id="78" name="Rectangle 77">
            <a:extLst>
              <a:ext uri="{FF2B5EF4-FFF2-40B4-BE49-F238E27FC236}">
                <a16:creationId xmlns:a16="http://schemas.microsoft.com/office/drawing/2014/main" id="{CDFD7236-8D9A-9B49-88A3-6DB361FA0AE6}"/>
              </a:ext>
            </a:extLst>
          </p:cNvPr>
          <p:cNvSpPr/>
          <p:nvPr/>
        </p:nvSpPr>
        <p:spPr>
          <a:xfrm>
            <a:off x="8385536" y="4362059"/>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9" name="Rectangle 78">
            <a:extLst>
              <a:ext uri="{FF2B5EF4-FFF2-40B4-BE49-F238E27FC236}">
                <a16:creationId xmlns:a16="http://schemas.microsoft.com/office/drawing/2014/main" id="{2BA56AF4-FF5A-A546-A176-7B43AC3F679E}"/>
              </a:ext>
            </a:extLst>
          </p:cNvPr>
          <p:cNvSpPr/>
          <p:nvPr/>
        </p:nvSpPr>
        <p:spPr>
          <a:xfrm>
            <a:off x="8385536" y="5029710"/>
            <a:ext cx="476422" cy="61147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mc:Choice xmlns:p14="http://schemas.microsoft.com/office/powerpoint/2010/main" Requires="p14">
          <p:contentPart p14:bwMode="auto" r:id="rId3">
            <p14:nvContentPartPr>
              <p14:cNvPr id="10" name="墨迹 9">
                <a:extLst>
                  <a:ext uri="{FF2B5EF4-FFF2-40B4-BE49-F238E27FC236}">
                    <a16:creationId xmlns:a16="http://schemas.microsoft.com/office/drawing/2014/main" id="{D7B76CBA-76B5-6D02-6885-5F719A9D41D2}"/>
                  </a:ext>
                </a:extLst>
              </p14:cNvPr>
              <p14:cNvContentPartPr/>
              <p14:nvPr/>
            </p14:nvContentPartPr>
            <p14:xfrm>
              <a:off x="7480440" y="1924200"/>
              <a:ext cx="360" cy="360"/>
            </p14:xfrm>
          </p:contentPart>
        </mc:Choice>
        <mc:Fallback>
          <p:pic>
            <p:nvPicPr>
              <p:cNvPr id="10" name="墨迹 9">
                <a:extLst>
                  <a:ext uri="{FF2B5EF4-FFF2-40B4-BE49-F238E27FC236}">
                    <a16:creationId xmlns:a16="http://schemas.microsoft.com/office/drawing/2014/main" id="{D7B76CBA-76B5-6D02-6885-5F719A9D41D2}"/>
                  </a:ext>
                </a:extLst>
              </p:cNvPr>
              <p:cNvPicPr/>
              <p:nvPr/>
            </p:nvPicPr>
            <p:blipFill>
              <a:blip r:embed="rId4"/>
              <a:stretch>
                <a:fillRect/>
              </a:stretch>
            </p:blipFill>
            <p:spPr>
              <a:xfrm>
                <a:off x="7471080" y="1914840"/>
                <a:ext cx="19080" cy="19080"/>
              </a:xfrm>
              <a:prstGeom prst="rect">
                <a:avLst/>
              </a:prstGeom>
            </p:spPr>
          </p:pic>
        </mc:Fallback>
      </mc:AlternateContent>
    </p:spTree>
    <p:extLst>
      <p:ext uri="{BB962C8B-B14F-4D97-AF65-F5344CB8AC3E}">
        <p14:creationId xmlns:p14="http://schemas.microsoft.com/office/powerpoint/2010/main" val="3235956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80</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7179689" cy="539939"/>
          </a:xfrm>
        </p:spPr>
        <p:txBody>
          <a:bodyPr/>
          <a:lstStyle/>
          <a:p>
            <a:pPr>
              <a:buClr>
                <a:schemeClr val="tx1"/>
              </a:buClr>
            </a:pPr>
            <a:r>
              <a:rPr lang="en-US" altLang="zh-CN" sz="2800" dirty="0"/>
              <a:t>2</a:t>
            </a:r>
            <a:r>
              <a:rPr lang="zh-CN" altLang="en-US" sz="2800" dirty="0"/>
              <a:t>路组相联映像</a:t>
            </a:r>
            <a:endParaRPr lang="en-US" altLang="zh-CN" sz="2800" dirty="0"/>
          </a:p>
        </p:txBody>
      </p:sp>
      <p:sp>
        <p:nvSpPr>
          <p:cNvPr id="114" name="Rectangle 9">
            <a:extLst>
              <a:ext uri="{FF2B5EF4-FFF2-40B4-BE49-F238E27FC236}">
                <a16:creationId xmlns:a16="http://schemas.microsoft.com/office/drawing/2014/main" id="{093EE85E-DDC3-1B4B-958B-5A838730D0E3}"/>
              </a:ext>
            </a:extLst>
          </p:cNvPr>
          <p:cNvSpPr>
            <a:spLocks noChangeArrowheads="1"/>
          </p:cNvSpPr>
          <p:nvPr/>
        </p:nvSpPr>
        <p:spPr bwMode="auto">
          <a:xfrm>
            <a:off x="214799" y="4820075"/>
            <a:ext cx="5438871" cy="1477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pPr marL="342900" indent="-342900" defTabSz="1009650">
              <a:buFont typeface="Arial" panose="020B0604020202020204" pitchFamily="34" charset="0"/>
              <a:buChar char="•"/>
            </a:pPr>
            <a:r>
              <a:rPr lang="zh-CN" altLang="en-US" sz="2400" dirty="0">
                <a:solidFill>
                  <a:srgbClr val="0432FF"/>
                </a:solidFill>
                <a:latin typeface="STKaiti" panose="02010600040101010101" pitchFamily="2" charset="-122"/>
                <a:ea typeface="STKaiti" panose="02010600040101010101" pitchFamily="2" charset="-122"/>
              </a:rPr>
              <a:t>两个交替访问的主存地址分别所属的块被映射到了</a:t>
            </a:r>
            <a:r>
              <a:rPr lang="zh-CN" altLang="en-US" sz="2400" dirty="0">
                <a:solidFill>
                  <a:srgbClr val="009051"/>
                </a:solidFill>
                <a:latin typeface="STKaiti" panose="02010600040101010101" pitchFamily="2" charset="-122"/>
                <a:ea typeface="STKaiti" panose="02010600040101010101" pitchFamily="2" charset="-122"/>
              </a:rPr>
              <a:t>同一个</a:t>
            </a:r>
            <a:r>
              <a:rPr lang="en-US" altLang="zh-CN" sz="2400" dirty="0">
                <a:solidFill>
                  <a:srgbClr val="009051"/>
                </a:solidFill>
                <a:latin typeface="STKaiti" panose="02010600040101010101" pitchFamily="2" charset="-122"/>
                <a:ea typeface="STKaiti" panose="02010600040101010101" pitchFamily="2" charset="-122"/>
              </a:rPr>
              <a:t>cache</a:t>
            </a:r>
            <a:r>
              <a:rPr lang="zh-CN" altLang="en-US" sz="2400" dirty="0">
                <a:solidFill>
                  <a:srgbClr val="009051"/>
                </a:solidFill>
                <a:latin typeface="STKaiti" panose="02010600040101010101" pitchFamily="2" charset="-122"/>
                <a:ea typeface="STKaiti" panose="02010600040101010101" pitchFamily="2" charset="-122"/>
              </a:rPr>
              <a:t>组中</a:t>
            </a:r>
            <a:endParaRPr lang="en-US" altLang="zh-CN" sz="2400" dirty="0">
              <a:solidFill>
                <a:srgbClr val="009051"/>
              </a:solidFill>
              <a:latin typeface="STKaiti" panose="02010600040101010101" pitchFamily="2" charset="-122"/>
              <a:ea typeface="STKaiti" panose="02010600040101010101" pitchFamily="2" charset="-122"/>
            </a:endParaRPr>
          </a:p>
          <a:p>
            <a:pPr marL="800100" lvl="1" indent="-342900" defTabSz="1009650">
              <a:buFont typeface="Arial" panose="020B0604020202020204" pitchFamily="34" charset="0"/>
              <a:buChar char="•"/>
            </a:pPr>
            <a:r>
              <a:rPr lang="zh-CN" altLang="en-US" sz="2400" dirty="0">
                <a:latin typeface="STKaiti" panose="02010600040101010101" pitchFamily="2" charset="-122"/>
                <a:ea typeface="STKaiti" panose="02010600040101010101" pitchFamily="2" charset="-122"/>
              </a:rPr>
              <a:t>行</a:t>
            </a:r>
            <a:r>
              <a:rPr lang="en-US" altLang="zh-CN" sz="2400" dirty="0">
                <a:latin typeface="STKaiti" panose="02010600040101010101" pitchFamily="2" charset="-122"/>
                <a:ea typeface="STKaiti" panose="02010600040101010101" pitchFamily="2" charset="-122"/>
              </a:rPr>
              <a:t>0</a:t>
            </a:r>
            <a:r>
              <a:rPr lang="zh-CN" altLang="en-US" sz="2400" dirty="0">
                <a:latin typeface="STKaiti" panose="02010600040101010101" pitchFamily="2" charset="-122"/>
                <a:ea typeface="STKaiti" panose="02010600040101010101" pitchFamily="2" charset="-122"/>
              </a:rPr>
              <a:t>和行</a:t>
            </a:r>
            <a:r>
              <a:rPr lang="en-US" altLang="zh-CN" sz="2400" dirty="0">
                <a:latin typeface="STKaiti" panose="02010600040101010101" pitchFamily="2" charset="-122"/>
                <a:ea typeface="STKaiti" panose="02010600040101010101" pitchFamily="2" charset="-122"/>
              </a:rPr>
              <a:t>1</a:t>
            </a:r>
          </a:p>
          <a:p>
            <a:pPr marL="800100" lvl="1" indent="-342900" defTabSz="1009650">
              <a:buFont typeface="Arial" panose="020B0604020202020204" pitchFamily="34" charset="0"/>
              <a:buChar char="•"/>
            </a:pPr>
            <a:r>
              <a:rPr lang="zh-CN" altLang="en-US" sz="2400" dirty="0">
                <a:latin typeface="STKaiti" panose="02010600040101010101" pitchFamily="2" charset="-122"/>
                <a:ea typeface="STKaiti" panose="02010600040101010101" pitchFamily="2" charset="-122"/>
              </a:rPr>
              <a:t>块</a:t>
            </a:r>
            <a:r>
              <a:rPr lang="en-US" altLang="zh-CN" sz="2400" dirty="0">
                <a:latin typeface="STKaiti" panose="02010600040101010101" pitchFamily="2" charset="-122"/>
                <a:ea typeface="STKaiti" panose="02010600040101010101" pitchFamily="2" charset="-122"/>
              </a:rPr>
              <a:t>(a[0]&amp;a[1])</a:t>
            </a:r>
            <a:r>
              <a:rPr lang="zh-CN" altLang="en-US" sz="2400" dirty="0">
                <a:latin typeface="STKaiti" panose="02010600040101010101" pitchFamily="2" charset="-122"/>
                <a:ea typeface="STKaiti" panose="02010600040101010101" pitchFamily="2" charset="-122"/>
              </a:rPr>
              <a:t> 和块</a:t>
            </a:r>
            <a:r>
              <a:rPr lang="en-US" altLang="zh-CN" sz="2400" dirty="0">
                <a:latin typeface="STKaiti" panose="02010600040101010101" pitchFamily="2" charset="-122"/>
                <a:ea typeface="STKaiti" panose="02010600040101010101" pitchFamily="2" charset="-122"/>
              </a:rPr>
              <a:t>(a[8]&amp;a[9])</a:t>
            </a:r>
            <a:endParaRPr lang="zh-CN" altLang="en-US" sz="2400" dirty="0">
              <a:latin typeface="STKaiti" panose="02010600040101010101" pitchFamily="2" charset="-122"/>
              <a:ea typeface="STKaiti" panose="02010600040101010101" pitchFamily="2" charset="-122"/>
            </a:endParaRPr>
          </a:p>
        </p:txBody>
      </p:sp>
      <p:sp>
        <p:nvSpPr>
          <p:cNvPr id="50" name="矩形 49">
            <a:extLst>
              <a:ext uri="{FF2B5EF4-FFF2-40B4-BE49-F238E27FC236}">
                <a16:creationId xmlns:a16="http://schemas.microsoft.com/office/drawing/2014/main" id="{ED1FA09E-229A-4240-B81D-F33962942B02}"/>
              </a:ext>
            </a:extLst>
          </p:cNvPr>
          <p:cNvSpPr/>
          <p:nvPr/>
        </p:nvSpPr>
        <p:spPr>
          <a:xfrm>
            <a:off x="5924777" y="1316125"/>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0b0011</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1110</a:t>
            </a:r>
            <a:r>
              <a:rPr lang="zh-CN" altLang="en-US" sz="2000" dirty="0">
                <a:solidFill>
                  <a:srgbClr val="00B050"/>
                </a:solidFill>
                <a:ea typeface="SimHei" panose="02010609060101010101" pitchFamily="49" charset="-122"/>
              </a:rPr>
              <a:t> </a:t>
            </a:r>
            <a:r>
              <a:rPr lang="en-US" altLang="zh-CN" sz="2000" dirty="0">
                <a:solidFill>
                  <a:srgbClr val="00B050"/>
                </a:solidFill>
                <a:ea typeface="SimHei" panose="02010609060101010101" pitchFamily="49" charset="-122"/>
              </a:rPr>
              <a:t>1</a:t>
            </a:r>
            <a:r>
              <a:rPr lang="en-US" altLang="zh-CN" sz="2000" dirty="0">
                <a:solidFill>
                  <a:srgbClr val="0432FF"/>
                </a:solidFill>
                <a:ea typeface="SimHei" panose="02010609060101010101" pitchFamily="49" charset="-122"/>
              </a:rPr>
              <a:t>000</a:t>
            </a:r>
            <a:endParaRPr lang="zh-CN" altLang="en-US" sz="2000" dirty="0">
              <a:solidFill>
                <a:srgbClr val="0432FF"/>
              </a:solidFill>
              <a:ea typeface="SimHei" panose="02010609060101010101" pitchFamily="49" charset="-122"/>
            </a:endParaRPr>
          </a:p>
        </p:txBody>
      </p:sp>
      <p:sp>
        <p:nvSpPr>
          <p:cNvPr id="51" name="左大括号 50">
            <a:extLst>
              <a:ext uri="{FF2B5EF4-FFF2-40B4-BE49-F238E27FC236}">
                <a16:creationId xmlns:a16="http://schemas.microsoft.com/office/drawing/2014/main" id="{449CCBC1-E3B7-654C-A5E0-DCC1396E8FED}"/>
              </a:ext>
            </a:extLst>
          </p:cNvPr>
          <p:cNvSpPr/>
          <p:nvPr/>
        </p:nvSpPr>
        <p:spPr bwMode="auto">
          <a:xfrm rot="16200000">
            <a:off x="7806667" y="1863194"/>
            <a:ext cx="123106" cy="395021"/>
          </a:xfrm>
          <a:prstGeom prst="leftBrace">
            <a:avLst>
              <a:gd name="adj1" fmla="val 37790"/>
              <a:gd name="adj2" fmla="val 50000"/>
            </a:avLst>
          </a:prstGeom>
          <a:noFill/>
          <a:ln w="12700" cap="flat" cmpd="sng" algn="ctr">
            <a:solidFill>
              <a:srgbClr val="0432FF"/>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sp>
        <p:nvSpPr>
          <p:cNvPr id="53" name="文本框 52">
            <a:extLst>
              <a:ext uri="{FF2B5EF4-FFF2-40B4-BE49-F238E27FC236}">
                <a16:creationId xmlns:a16="http://schemas.microsoft.com/office/drawing/2014/main" id="{EC3C2CE7-98D0-E848-A63D-6331E76C004B}"/>
              </a:ext>
            </a:extLst>
          </p:cNvPr>
          <p:cNvSpPr txBox="1"/>
          <p:nvPr/>
        </p:nvSpPr>
        <p:spPr>
          <a:xfrm>
            <a:off x="7128215" y="2122259"/>
            <a:ext cx="712341" cy="307777"/>
          </a:xfrm>
          <a:prstGeom prst="rect">
            <a:avLst/>
          </a:prstGeom>
          <a:noFill/>
        </p:spPr>
        <p:txBody>
          <a:bodyPr wrap="square" rtlCol="0">
            <a:spAutoFit/>
          </a:bodyPr>
          <a:lstStyle/>
          <a:p>
            <a:pPr algn="ctr"/>
            <a:r>
              <a:rPr lang="zh-CN" altLang="en-US" sz="1400" b="1" dirty="0">
                <a:solidFill>
                  <a:srgbClr val="00B050"/>
                </a:solidFill>
                <a:latin typeface="STKaiti" panose="02010600040101010101" pitchFamily="2" charset="-122"/>
                <a:ea typeface="STKaiti" panose="02010600040101010101" pitchFamily="2" charset="-122"/>
              </a:rPr>
              <a:t>组号</a:t>
            </a:r>
          </a:p>
        </p:txBody>
      </p:sp>
      <p:sp>
        <p:nvSpPr>
          <p:cNvPr id="54" name="文本框 53">
            <a:extLst>
              <a:ext uri="{FF2B5EF4-FFF2-40B4-BE49-F238E27FC236}">
                <a16:creationId xmlns:a16="http://schemas.microsoft.com/office/drawing/2014/main" id="{92884E5D-01B8-C040-AD9A-125DD790ADBE}"/>
              </a:ext>
            </a:extLst>
          </p:cNvPr>
          <p:cNvSpPr txBox="1"/>
          <p:nvPr/>
        </p:nvSpPr>
        <p:spPr>
          <a:xfrm>
            <a:off x="7402173" y="2122260"/>
            <a:ext cx="1252536" cy="307777"/>
          </a:xfrm>
          <a:prstGeom prst="rect">
            <a:avLst/>
          </a:prstGeom>
          <a:noFill/>
        </p:spPr>
        <p:txBody>
          <a:bodyPr wrap="square" rtlCol="0">
            <a:spAutoFit/>
          </a:bodyPr>
          <a:lstStyle/>
          <a:p>
            <a:pPr algn="ctr"/>
            <a:r>
              <a:rPr lang="zh-CN" altLang="en-US" sz="1400" b="1" dirty="0">
                <a:solidFill>
                  <a:srgbClr val="0432FF"/>
                </a:solidFill>
                <a:latin typeface="STKaiti" panose="02010600040101010101" pitchFamily="2" charset="-122"/>
                <a:ea typeface="STKaiti" panose="02010600040101010101" pitchFamily="2" charset="-122"/>
              </a:rPr>
              <a:t>行内地址</a:t>
            </a:r>
          </a:p>
        </p:txBody>
      </p:sp>
      <p:sp>
        <p:nvSpPr>
          <p:cNvPr id="55" name="矩形 54">
            <a:extLst>
              <a:ext uri="{FF2B5EF4-FFF2-40B4-BE49-F238E27FC236}">
                <a16:creationId xmlns:a16="http://schemas.microsoft.com/office/drawing/2014/main" id="{FF8B9760-20C7-234B-92E1-4DA4956F902C}"/>
              </a:ext>
            </a:extLst>
          </p:cNvPr>
          <p:cNvSpPr/>
          <p:nvPr/>
        </p:nvSpPr>
        <p:spPr>
          <a:xfrm>
            <a:off x="4627778" y="1299261"/>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1000</a:t>
            </a:r>
            <a:endParaRPr lang="zh-CN" altLang="en-US" sz="2000" dirty="0">
              <a:solidFill>
                <a:srgbClr val="FF0000"/>
              </a:solidFill>
              <a:ea typeface="SimHei" panose="02010609060101010101" pitchFamily="49" charset="-122"/>
            </a:endParaRPr>
          </a:p>
        </p:txBody>
      </p:sp>
      <p:cxnSp>
        <p:nvCxnSpPr>
          <p:cNvPr id="56" name="直接箭头连接符 47">
            <a:extLst>
              <a:ext uri="{FF2B5EF4-FFF2-40B4-BE49-F238E27FC236}">
                <a16:creationId xmlns:a16="http://schemas.microsoft.com/office/drawing/2014/main" id="{A3F14ED4-7E95-B44F-B3C6-0F5DBE45D1D6}"/>
              </a:ext>
            </a:extLst>
          </p:cNvPr>
          <p:cNvCxnSpPr/>
          <p:nvPr/>
        </p:nvCxnSpPr>
        <p:spPr bwMode="auto">
          <a:xfrm flipV="1">
            <a:off x="5471670" y="1516180"/>
            <a:ext cx="351986"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58" name="矩形 57">
            <a:extLst>
              <a:ext uri="{FF2B5EF4-FFF2-40B4-BE49-F238E27FC236}">
                <a16:creationId xmlns:a16="http://schemas.microsoft.com/office/drawing/2014/main" id="{FF3CA38A-AF71-084B-9869-C6DF1084BA34}"/>
              </a:ext>
            </a:extLst>
          </p:cNvPr>
          <p:cNvSpPr/>
          <p:nvPr/>
        </p:nvSpPr>
        <p:spPr>
          <a:xfrm>
            <a:off x="5851625" y="1668827"/>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0b0100</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0000</a:t>
            </a:r>
            <a:r>
              <a:rPr lang="zh-CN" altLang="en-US" sz="2000" dirty="0">
                <a:solidFill>
                  <a:srgbClr val="00B050"/>
                </a:solidFill>
                <a:ea typeface="SimHei" panose="02010609060101010101" pitchFamily="49" charset="-122"/>
              </a:rPr>
              <a:t> </a:t>
            </a:r>
            <a:r>
              <a:rPr lang="en-US" altLang="zh-CN" sz="2000" dirty="0">
                <a:solidFill>
                  <a:srgbClr val="00B050"/>
                </a:solidFill>
                <a:ea typeface="SimHei" panose="02010609060101010101" pitchFamily="49" charset="-122"/>
              </a:rPr>
              <a:t>1</a:t>
            </a:r>
            <a:r>
              <a:rPr lang="en-US" altLang="zh-CN" sz="2000" dirty="0">
                <a:solidFill>
                  <a:srgbClr val="0432FF"/>
                </a:solidFill>
                <a:ea typeface="SimHei" panose="02010609060101010101" pitchFamily="49" charset="-122"/>
              </a:rPr>
              <a:t>000</a:t>
            </a:r>
            <a:endParaRPr lang="zh-CN" altLang="en-US" sz="2000" dirty="0">
              <a:solidFill>
                <a:srgbClr val="0432FF"/>
              </a:solidFill>
              <a:ea typeface="SimHei" panose="02010609060101010101" pitchFamily="49" charset="-122"/>
            </a:endParaRPr>
          </a:p>
        </p:txBody>
      </p:sp>
      <p:sp>
        <p:nvSpPr>
          <p:cNvPr id="59" name="矩形 58">
            <a:extLst>
              <a:ext uri="{FF2B5EF4-FFF2-40B4-BE49-F238E27FC236}">
                <a16:creationId xmlns:a16="http://schemas.microsoft.com/office/drawing/2014/main" id="{07B2D7E5-FF00-D943-8B78-F92EBC5F30BF}"/>
              </a:ext>
            </a:extLst>
          </p:cNvPr>
          <p:cNvSpPr/>
          <p:nvPr/>
        </p:nvSpPr>
        <p:spPr>
          <a:xfrm>
            <a:off x="4627778" y="1651963"/>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1032</a:t>
            </a:r>
            <a:endParaRPr lang="zh-CN" altLang="en-US" sz="2000" dirty="0">
              <a:solidFill>
                <a:srgbClr val="FF0000"/>
              </a:solidFill>
              <a:ea typeface="SimHei" panose="02010609060101010101" pitchFamily="49" charset="-122"/>
            </a:endParaRPr>
          </a:p>
        </p:txBody>
      </p:sp>
      <p:sp>
        <p:nvSpPr>
          <p:cNvPr id="61" name="Rectangle 60">
            <a:extLst>
              <a:ext uri="{FF2B5EF4-FFF2-40B4-BE49-F238E27FC236}">
                <a16:creationId xmlns:a16="http://schemas.microsoft.com/office/drawing/2014/main" id="{4C7C5A99-85CD-FE46-8613-FC805D8C323B}"/>
              </a:ext>
            </a:extLst>
          </p:cNvPr>
          <p:cNvSpPr/>
          <p:nvPr/>
        </p:nvSpPr>
        <p:spPr>
          <a:xfrm>
            <a:off x="3488196" y="2668444"/>
            <a:ext cx="2753880" cy="1750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62" name="Table 20">
            <a:extLst>
              <a:ext uri="{FF2B5EF4-FFF2-40B4-BE49-F238E27FC236}">
                <a16:creationId xmlns:a16="http://schemas.microsoft.com/office/drawing/2014/main" id="{79222D43-C7A8-514C-94C4-52158F04CDC1}"/>
              </a:ext>
            </a:extLst>
          </p:cNvPr>
          <p:cNvGraphicFramePr>
            <a:graphicFrameLocks noGrp="1"/>
          </p:cNvGraphicFramePr>
          <p:nvPr>
            <p:extLst>
              <p:ext uri="{D42A27DB-BD31-4B8C-83A1-F6EECF244321}">
                <p14:modId xmlns:p14="http://schemas.microsoft.com/office/powerpoint/2010/main" val="2931402249"/>
              </p:ext>
            </p:extLst>
          </p:nvPr>
        </p:nvGraphicFramePr>
        <p:xfrm>
          <a:off x="5672449" y="2735408"/>
          <a:ext cx="465455" cy="2903040"/>
        </p:xfrm>
        <a:graphic>
          <a:graphicData uri="http://schemas.openxmlformats.org/drawingml/2006/table">
            <a:tbl>
              <a:tblPr firstRow="1" bandRow="1">
                <a:tableStyleId>{5940675A-B579-460E-94D1-54222C63F5DA}</a:tableStyleId>
              </a:tblPr>
              <a:tblGrid>
                <a:gridCol w="465455">
                  <a:extLst>
                    <a:ext uri="{9D8B030D-6E8A-4147-A177-3AD203B41FA5}">
                      <a16:colId xmlns:a16="http://schemas.microsoft.com/office/drawing/2014/main" val="3777275115"/>
                    </a:ext>
                  </a:extLst>
                </a:gridCol>
              </a:tblGrid>
              <a:tr h="322560">
                <a:tc>
                  <a:txBody>
                    <a:bodyPr/>
                    <a:lstStyle/>
                    <a:p>
                      <a:pPr algn="ctr"/>
                      <a:r>
                        <a:rPr lang="en-CN" sz="1200" dirty="0"/>
                        <a:t>a[0]</a:t>
                      </a:r>
                    </a:p>
                  </a:txBody>
                  <a:tcPr marL="0" marR="0" marT="0" marB="0" anchor="ctr">
                    <a:solidFill>
                      <a:srgbClr val="FFFF00"/>
                    </a:solidFill>
                  </a:tcPr>
                </a:tc>
                <a:extLst>
                  <a:ext uri="{0D108BD9-81ED-4DB2-BD59-A6C34878D82A}">
                    <a16:rowId xmlns:a16="http://schemas.microsoft.com/office/drawing/2014/main" val="183482038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a:t>
                      </a:r>
                    </a:p>
                  </a:txBody>
                  <a:tcPr marL="0" marR="0" marT="0" marB="0" anchor="ctr">
                    <a:solidFill>
                      <a:schemeClr val="bg1"/>
                    </a:solidFill>
                  </a:tcPr>
                </a:tc>
                <a:extLst>
                  <a:ext uri="{0D108BD9-81ED-4DB2-BD59-A6C34878D82A}">
                    <a16:rowId xmlns:a16="http://schemas.microsoft.com/office/drawing/2014/main" val="1202016351"/>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a[2]</a:t>
                      </a:r>
                    </a:p>
                  </a:txBody>
                  <a:tcPr marL="0" marR="0" marT="0" marB="0" anchor="ctr">
                    <a:solidFill>
                      <a:schemeClr val="bg1"/>
                    </a:solidFill>
                  </a:tcPr>
                </a:tc>
                <a:extLst>
                  <a:ext uri="{0D108BD9-81ED-4DB2-BD59-A6C34878D82A}">
                    <a16:rowId xmlns:a16="http://schemas.microsoft.com/office/drawing/2014/main" val="1138424914"/>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a[3]</a:t>
                      </a:r>
                    </a:p>
                  </a:txBody>
                  <a:tcPr marL="0" marR="0" marT="0" marB="0" anchor="ctr">
                    <a:solidFill>
                      <a:schemeClr val="bg1"/>
                    </a:solidFill>
                  </a:tcPr>
                </a:tc>
                <a:extLst>
                  <a:ext uri="{0D108BD9-81ED-4DB2-BD59-A6C34878D82A}">
                    <a16:rowId xmlns:a16="http://schemas.microsoft.com/office/drawing/2014/main" val="2717052093"/>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t>
                      </a:r>
                    </a:p>
                  </a:txBody>
                  <a:tcPr marL="0" marR="0" marT="0" marB="0" anchor="ctr">
                    <a:solidFill>
                      <a:schemeClr val="bg1"/>
                    </a:solidFill>
                  </a:tcPr>
                </a:tc>
                <a:extLst>
                  <a:ext uri="{0D108BD9-81ED-4DB2-BD59-A6C34878D82A}">
                    <a16:rowId xmlns:a16="http://schemas.microsoft.com/office/drawing/2014/main" val="522142120"/>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a[8]</a:t>
                      </a:r>
                    </a:p>
                  </a:txBody>
                  <a:tcPr marL="0" marR="0" marT="0" marB="0" anchor="ctr">
                    <a:solidFill>
                      <a:srgbClr val="FFFF00"/>
                    </a:solidFill>
                  </a:tcPr>
                </a:tc>
                <a:extLst>
                  <a:ext uri="{0D108BD9-81ED-4DB2-BD59-A6C34878D82A}">
                    <a16:rowId xmlns:a16="http://schemas.microsoft.com/office/drawing/2014/main" val="1193944868"/>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a[9]</a:t>
                      </a:r>
                    </a:p>
                  </a:txBody>
                  <a:tcPr marL="0" marR="0" marT="0" marB="0" anchor="ctr">
                    <a:solidFill>
                      <a:schemeClr val="bg1"/>
                    </a:solidFill>
                  </a:tcPr>
                </a:tc>
                <a:extLst>
                  <a:ext uri="{0D108BD9-81ED-4DB2-BD59-A6C34878D82A}">
                    <a16:rowId xmlns:a16="http://schemas.microsoft.com/office/drawing/2014/main" val="1251289379"/>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a[10]</a:t>
                      </a:r>
                    </a:p>
                  </a:txBody>
                  <a:tcPr marL="0" marR="0" marT="0" marB="0" anchor="ctr">
                    <a:solidFill>
                      <a:schemeClr val="bg1"/>
                    </a:solidFill>
                  </a:tcPr>
                </a:tc>
                <a:extLst>
                  <a:ext uri="{0D108BD9-81ED-4DB2-BD59-A6C34878D82A}">
                    <a16:rowId xmlns:a16="http://schemas.microsoft.com/office/drawing/2014/main" val="3780105567"/>
                  </a:ext>
                </a:extLst>
              </a:tr>
              <a:tr h="3225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N" sz="1200" b="0" i="0" u="none" strike="noStrike" kern="1200" cap="none" spc="0" normalizeH="0" baseline="0" noProof="0" dirty="0">
                          <a:ln>
                            <a:noFill/>
                          </a:ln>
                          <a:solidFill>
                            <a:srgbClr val="000000"/>
                          </a:solidFill>
                          <a:effectLst/>
                          <a:uLnTx/>
                          <a:uFillTx/>
                          <a:latin typeface="Arial"/>
                          <a:ea typeface="SimHei" panose="02010609060101010101" pitchFamily="49" charset="-122"/>
                          <a:cs typeface="+mn-cs"/>
                        </a:rPr>
                        <a:t>a[11]</a:t>
                      </a:r>
                    </a:p>
                  </a:txBody>
                  <a:tcPr marL="0" marR="0" marT="0" marB="0" anchor="ctr">
                    <a:solidFill>
                      <a:schemeClr val="bg1"/>
                    </a:solidFill>
                  </a:tcPr>
                </a:tc>
                <a:extLst>
                  <a:ext uri="{0D108BD9-81ED-4DB2-BD59-A6C34878D82A}">
                    <a16:rowId xmlns:a16="http://schemas.microsoft.com/office/drawing/2014/main" val="2741638177"/>
                  </a:ext>
                </a:extLst>
              </a:tr>
            </a:tbl>
          </a:graphicData>
        </a:graphic>
      </p:graphicFrame>
      <p:cxnSp>
        <p:nvCxnSpPr>
          <p:cNvPr id="64" name="Straight Arrow Connector 63">
            <a:extLst>
              <a:ext uri="{FF2B5EF4-FFF2-40B4-BE49-F238E27FC236}">
                <a16:creationId xmlns:a16="http://schemas.microsoft.com/office/drawing/2014/main" id="{871F10F0-C453-244A-8E2C-35D1D0016A88}"/>
              </a:ext>
            </a:extLst>
          </p:cNvPr>
          <p:cNvCxnSpPr>
            <a:cxnSpLocks/>
          </p:cNvCxnSpPr>
          <p:nvPr/>
        </p:nvCxnSpPr>
        <p:spPr>
          <a:xfrm flipH="1">
            <a:off x="5133727" y="2884652"/>
            <a:ext cx="538723" cy="17061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B941BF05-C928-D144-A958-A7B73E5BEFCA}"/>
              </a:ext>
            </a:extLst>
          </p:cNvPr>
          <p:cNvCxnSpPr>
            <a:cxnSpLocks/>
            <a:stCxn id="78" idx="1"/>
          </p:cNvCxnSpPr>
          <p:nvPr/>
        </p:nvCxnSpPr>
        <p:spPr>
          <a:xfrm flipH="1" flipV="1">
            <a:off x="5149270" y="3054517"/>
            <a:ext cx="519892" cy="162121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6327684F-693F-F043-94AA-873147B14C22}"/>
              </a:ext>
            </a:extLst>
          </p:cNvPr>
          <p:cNvCxnSpPr>
            <a:cxnSpLocks/>
          </p:cNvCxnSpPr>
          <p:nvPr/>
        </p:nvCxnSpPr>
        <p:spPr>
          <a:xfrm flipH="1" flipV="1">
            <a:off x="5117506" y="3418273"/>
            <a:ext cx="543976" cy="123953"/>
          </a:xfrm>
          <a:prstGeom prst="straightConnector1">
            <a:avLst/>
          </a:prstGeom>
          <a:ln>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5A68F7DF-0301-ED40-A4E8-854AE588DED3}"/>
              </a:ext>
            </a:extLst>
          </p:cNvPr>
          <p:cNvCxnSpPr>
            <a:cxnSpLocks/>
          </p:cNvCxnSpPr>
          <p:nvPr/>
        </p:nvCxnSpPr>
        <p:spPr>
          <a:xfrm flipH="1" flipV="1">
            <a:off x="5147008" y="3449750"/>
            <a:ext cx="505324" cy="1739778"/>
          </a:xfrm>
          <a:prstGeom prst="straightConnector1">
            <a:avLst/>
          </a:prstGeom>
          <a:ln>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68" name="Rectangle 67">
            <a:extLst>
              <a:ext uri="{FF2B5EF4-FFF2-40B4-BE49-F238E27FC236}">
                <a16:creationId xmlns:a16="http://schemas.microsoft.com/office/drawing/2014/main" id="{5C2A752F-4858-D241-8C89-8926670D6D57}"/>
              </a:ext>
            </a:extLst>
          </p:cNvPr>
          <p:cNvSpPr/>
          <p:nvPr/>
        </p:nvSpPr>
        <p:spPr>
          <a:xfrm>
            <a:off x="5668383" y="2729510"/>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9" name="Rectangle 68">
            <a:extLst>
              <a:ext uri="{FF2B5EF4-FFF2-40B4-BE49-F238E27FC236}">
                <a16:creationId xmlns:a16="http://schemas.microsoft.com/office/drawing/2014/main" id="{6B47B2CE-D36E-534E-AF6E-91E1373A5621}"/>
              </a:ext>
            </a:extLst>
          </p:cNvPr>
          <p:cNvSpPr/>
          <p:nvPr/>
        </p:nvSpPr>
        <p:spPr>
          <a:xfrm>
            <a:off x="5668383" y="3397161"/>
            <a:ext cx="476422" cy="61147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6" name="TextBox 75">
            <a:extLst>
              <a:ext uri="{FF2B5EF4-FFF2-40B4-BE49-F238E27FC236}">
                <a16:creationId xmlns:a16="http://schemas.microsoft.com/office/drawing/2014/main" id="{97E7D88A-9DD1-C24F-9927-4DF518DED24E}"/>
              </a:ext>
            </a:extLst>
          </p:cNvPr>
          <p:cNvSpPr txBox="1"/>
          <p:nvPr/>
        </p:nvSpPr>
        <p:spPr>
          <a:xfrm>
            <a:off x="2854502" y="2300074"/>
            <a:ext cx="851515" cy="369332"/>
          </a:xfrm>
          <a:prstGeom prst="rect">
            <a:avLst/>
          </a:prstGeom>
          <a:noFill/>
        </p:spPr>
        <p:txBody>
          <a:bodyPr wrap="none" rtlCol="0">
            <a:spAutoFit/>
          </a:bodyPr>
          <a:lstStyle/>
          <a:p>
            <a:r>
              <a:rPr lang="en-CN" dirty="0">
                <a:ea typeface="SimHei" panose="02010609060101010101" pitchFamily="49" charset="-122"/>
              </a:rPr>
              <a:t>Cache</a:t>
            </a:r>
          </a:p>
        </p:txBody>
      </p:sp>
      <p:sp>
        <p:nvSpPr>
          <p:cNvPr id="77" name="TextBox 76">
            <a:extLst>
              <a:ext uri="{FF2B5EF4-FFF2-40B4-BE49-F238E27FC236}">
                <a16:creationId xmlns:a16="http://schemas.microsoft.com/office/drawing/2014/main" id="{D2639FF5-9A91-2846-BDB0-83D586AEA34F}"/>
              </a:ext>
            </a:extLst>
          </p:cNvPr>
          <p:cNvSpPr txBox="1"/>
          <p:nvPr/>
        </p:nvSpPr>
        <p:spPr>
          <a:xfrm>
            <a:off x="5582010" y="2336889"/>
            <a:ext cx="646331" cy="369332"/>
          </a:xfrm>
          <a:prstGeom prst="rect">
            <a:avLst/>
          </a:prstGeom>
          <a:noFill/>
        </p:spPr>
        <p:txBody>
          <a:bodyPr wrap="none" rtlCol="0">
            <a:spAutoFit/>
          </a:bodyPr>
          <a:lstStyle/>
          <a:p>
            <a:r>
              <a:rPr lang="en-CN" dirty="0">
                <a:ea typeface="SimHei" panose="02010609060101010101" pitchFamily="49" charset="-122"/>
              </a:rPr>
              <a:t>主存</a:t>
            </a:r>
          </a:p>
        </p:txBody>
      </p:sp>
      <p:sp>
        <p:nvSpPr>
          <p:cNvPr id="78" name="Rectangle 77">
            <a:extLst>
              <a:ext uri="{FF2B5EF4-FFF2-40B4-BE49-F238E27FC236}">
                <a16:creationId xmlns:a16="http://schemas.microsoft.com/office/drawing/2014/main" id="{CDFD7236-8D9A-9B49-88A3-6DB361FA0AE6}"/>
              </a:ext>
            </a:extLst>
          </p:cNvPr>
          <p:cNvSpPr/>
          <p:nvPr/>
        </p:nvSpPr>
        <p:spPr>
          <a:xfrm>
            <a:off x="5669162" y="4355435"/>
            <a:ext cx="476422" cy="640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9" name="Rectangle 78">
            <a:extLst>
              <a:ext uri="{FF2B5EF4-FFF2-40B4-BE49-F238E27FC236}">
                <a16:creationId xmlns:a16="http://schemas.microsoft.com/office/drawing/2014/main" id="{2BA56AF4-FF5A-A546-A176-7B43AC3F679E}"/>
              </a:ext>
            </a:extLst>
          </p:cNvPr>
          <p:cNvSpPr/>
          <p:nvPr/>
        </p:nvSpPr>
        <p:spPr>
          <a:xfrm>
            <a:off x="5669162" y="5023086"/>
            <a:ext cx="476422" cy="61147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TextBox 9">
            <a:extLst>
              <a:ext uri="{FF2B5EF4-FFF2-40B4-BE49-F238E27FC236}">
                <a16:creationId xmlns:a16="http://schemas.microsoft.com/office/drawing/2014/main" id="{0D5D1259-F48D-F64E-8D62-78559080012B}"/>
              </a:ext>
            </a:extLst>
          </p:cNvPr>
          <p:cNvSpPr txBox="1"/>
          <p:nvPr/>
        </p:nvSpPr>
        <p:spPr>
          <a:xfrm>
            <a:off x="894282" y="2851528"/>
            <a:ext cx="543739" cy="369332"/>
          </a:xfrm>
          <a:prstGeom prst="rect">
            <a:avLst/>
          </a:prstGeom>
          <a:noFill/>
        </p:spPr>
        <p:txBody>
          <a:bodyPr wrap="none" rtlCol="0">
            <a:spAutoFit/>
          </a:bodyPr>
          <a:lstStyle/>
          <a:p>
            <a:pPr algn="ctr"/>
            <a:r>
              <a:rPr lang="en-CN" dirty="0">
                <a:latin typeface="STKaiti" panose="02010600040101010101" pitchFamily="2" charset="-122"/>
                <a:ea typeface="STKaiti" panose="02010600040101010101" pitchFamily="2" charset="-122"/>
              </a:rPr>
              <a:t>组</a:t>
            </a:r>
            <a:r>
              <a:rPr lang="en-US" altLang="zh-CN" dirty="0">
                <a:latin typeface="STKaiti" panose="02010600040101010101" pitchFamily="2" charset="-122"/>
                <a:ea typeface="STKaiti" panose="02010600040101010101" pitchFamily="2" charset="-122"/>
              </a:rPr>
              <a:t>1</a:t>
            </a:r>
            <a:endParaRPr lang="en-CN" dirty="0">
              <a:latin typeface="STKaiti" panose="02010600040101010101" pitchFamily="2" charset="-122"/>
              <a:ea typeface="STKaiti" panose="02010600040101010101" pitchFamily="2" charset="-122"/>
            </a:endParaRPr>
          </a:p>
        </p:txBody>
      </p:sp>
      <p:sp>
        <p:nvSpPr>
          <p:cNvPr id="82" name="TextBox 81">
            <a:extLst>
              <a:ext uri="{FF2B5EF4-FFF2-40B4-BE49-F238E27FC236}">
                <a16:creationId xmlns:a16="http://schemas.microsoft.com/office/drawing/2014/main" id="{C17AF7BF-7B23-7140-9E02-094180745891}"/>
              </a:ext>
            </a:extLst>
          </p:cNvPr>
          <p:cNvSpPr txBox="1"/>
          <p:nvPr/>
        </p:nvSpPr>
        <p:spPr>
          <a:xfrm>
            <a:off x="894282" y="3225029"/>
            <a:ext cx="543739" cy="369332"/>
          </a:xfrm>
          <a:prstGeom prst="rect">
            <a:avLst/>
          </a:prstGeom>
          <a:noFill/>
        </p:spPr>
        <p:txBody>
          <a:bodyPr wrap="none" rtlCol="0">
            <a:spAutoFit/>
          </a:bodyPr>
          <a:lstStyle/>
          <a:p>
            <a:pPr algn="ctr"/>
            <a:r>
              <a:rPr lang="en-CN" dirty="0">
                <a:latin typeface="STKaiti" panose="02010600040101010101" pitchFamily="2" charset="-122"/>
                <a:ea typeface="STKaiti" panose="02010600040101010101" pitchFamily="2" charset="-122"/>
              </a:rPr>
              <a:t>组</a:t>
            </a:r>
            <a:r>
              <a:rPr lang="en-US" altLang="zh-CN" dirty="0">
                <a:latin typeface="STKaiti" panose="02010600040101010101" pitchFamily="2" charset="-122"/>
                <a:ea typeface="STKaiti" panose="02010600040101010101" pitchFamily="2" charset="-122"/>
              </a:rPr>
              <a:t>2</a:t>
            </a:r>
            <a:endParaRPr lang="en-CN" dirty="0">
              <a:latin typeface="STKaiti" panose="02010600040101010101" pitchFamily="2" charset="-122"/>
              <a:ea typeface="STKaiti" panose="02010600040101010101" pitchFamily="2" charset="-122"/>
            </a:endParaRPr>
          </a:p>
        </p:txBody>
      </p:sp>
      <p:sp>
        <p:nvSpPr>
          <p:cNvPr id="86" name="TextBox 85">
            <a:extLst>
              <a:ext uri="{FF2B5EF4-FFF2-40B4-BE49-F238E27FC236}">
                <a16:creationId xmlns:a16="http://schemas.microsoft.com/office/drawing/2014/main" id="{9AFC5A7C-771A-6241-87D9-7242CA073F61}"/>
              </a:ext>
            </a:extLst>
          </p:cNvPr>
          <p:cNvSpPr txBox="1"/>
          <p:nvPr/>
        </p:nvSpPr>
        <p:spPr>
          <a:xfrm>
            <a:off x="2002934" y="2503375"/>
            <a:ext cx="755335" cy="369332"/>
          </a:xfrm>
          <a:prstGeom prst="rect">
            <a:avLst/>
          </a:prstGeom>
          <a:noFill/>
        </p:spPr>
        <p:txBody>
          <a:bodyPr wrap="none" rtlCol="0">
            <a:spAutoFit/>
          </a:bodyPr>
          <a:lstStyle/>
          <a:p>
            <a:pPr algn="ctr"/>
            <a:r>
              <a:rPr lang="zh-CN" altLang="en-CN" dirty="0">
                <a:latin typeface="STKaiti" panose="02010600040101010101" pitchFamily="2" charset="-122"/>
                <a:ea typeface="STKaiti" panose="02010600040101010101" pitchFamily="2" charset="-122"/>
              </a:rPr>
              <a:t>第</a:t>
            </a:r>
            <a:r>
              <a:rPr lang="en-US" altLang="zh-CN" dirty="0">
                <a:latin typeface="STKaiti" panose="02010600040101010101" pitchFamily="2" charset="-122"/>
                <a:ea typeface="STKaiti" panose="02010600040101010101" pitchFamily="2" charset="-122"/>
              </a:rPr>
              <a:t>1</a:t>
            </a:r>
            <a:r>
              <a:rPr lang="zh-CN" altLang="en-US" dirty="0">
                <a:latin typeface="STKaiti" panose="02010600040101010101" pitchFamily="2" charset="-122"/>
                <a:ea typeface="STKaiti" panose="02010600040101010101" pitchFamily="2" charset="-122"/>
              </a:rPr>
              <a:t>路</a:t>
            </a:r>
            <a:endParaRPr lang="en-CN" dirty="0">
              <a:latin typeface="STKaiti" panose="02010600040101010101" pitchFamily="2" charset="-122"/>
              <a:ea typeface="STKaiti" panose="02010600040101010101" pitchFamily="2" charset="-122"/>
            </a:endParaRPr>
          </a:p>
        </p:txBody>
      </p:sp>
      <p:sp>
        <p:nvSpPr>
          <p:cNvPr id="87" name="TextBox 86">
            <a:extLst>
              <a:ext uri="{FF2B5EF4-FFF2-40B4-BE49-F238E27FC236}">
                <a16:creationId xmlns:a16="http://schemas.microsoft.com/office/drawing/2014/main" id="{56B874E3-A2E1-6047-9A96-210C9AA6081B}"/>
              </a:ext>
            </a:extLst>
          </p:cNvPr>
          <p:cNvSpPr txBox="1"/>
          <p:nvPr/>
        </p:nvSpPr>
        <p:spPr>
          <a:xfrm>
            <a:off x="3751952" y="2488471"/>
            <a:ext cx="755335" cy="369332"/>
          </a:xfrm>
          <a:prstGeom prst="rect">
            <a:avLst/>
          </a:prstGeom>
          <a:noFill/>
        </p:spPr>
        <p:txBody>
          <a:bodyPr wrap="none" rtlCol="0">
            <a:spAutoFit/>
          </a:bodyPr>
          <a:lstStyle/>
          <a:p>
            <a:pPr algn="ctr"/>
            <a:r>
              <a:rPr lang="zh-CN" altLang="en-CN" dirty="0">
                <a:latin typeface="STKaiti" panose="02010600040101010101" pitchFamily="2" charset="-122"/>
                <a:ea typeface="STKaiti" panose="02010600040101010101" pitchFamily="2" charset="-122"/>
              </a:rPr>
              <a:t>第</a:t>
            </a:r>
            <a:r>
              <a:rPr lang="en-US" altLang="zh-CN" dirty="0">
                <a:latin typeface="STKaiti" panose="02010600040101010101" pitchFamily="2" charset="-122"/>
                <a:ea typeface="STKaiti" panose="02010600040101010101" pitchFamily="2" charset="-122"/>
              </a:rPr>
              <a:t>2</a:t>
            </a:r>
            <a:r>
              <a:rPr lang="zh-CN" altLang="en-US" dirty="0">
                <a:latin typeface="STKaiti" panose="02010600040101010101" pitchFamily="2" charset="-122"/>
                <a:ea typeface="STKaiti" panose="02010600040101010101" pitchFamily="2" charset="-122"/>
              </a:rPr>
              <a:t>路</a:t>
            </a:r>
            <a:endParaRPr lang="en-CN" dirty="0">
              <a:latin typeface="STKaiti" panose="02010600040101010101" pitchFamily="2" charset="-122"/>
              <a:ea typeface="STKaiti" panose="02010600040101010101" pitchFamily="2" charset="-122"/>
            </a:endParaRPr>
          </a:p>
        </p:txBody>
      </p:sp>
      <p:sp>
        <p:nvSpPr>
          <p:cNvPr id="88" name="文本框 52">
            <a:extLst>
              <a:ext uri="{FF2B5EF4-FFF2-40B4-BE49-F238E27FC236}">
                <a16:creationId xmlns:a16="http://schemas.microsoft.com/office/drawing/2014/main" id="{88D17BBA-E6F3-644B-8262-4421DB45B40E}"/>
              </a:ext>
            </a:extLst>
          </p:cNvPr>
          <p:cNvSpPr txBox="1"/>
          <p:nvPr/>
        </p:nvSpPr>
        <p:spPr>
          <a:xfrm>
            <a:off x="6359438" y="2126013"/>
            <a:ext cx="712341" cy="307777"/>
          </a:xfrm>
          <a:prstGeom prst="rect">
            <a:avLst/>
          </a:prstGeom>
          <a:noFill/>
        </p:spPr>
        <p:txBody>
          <a:bodyPr wrap="square" rtlCol="0">
            <a:spAutoFit/>
          </a:bodyPr>
          <a:lstStyle/>
          <a:p>
            <a:pPr algn="ctr"/>
            <a:r>
              <a:rPr lang="zh-CN" altLang="en-US" sz="1400" b="1" dirty="0">
                <a:solidFill>
                  <a:srgbClr val="FF0000"/>
                </a:solidFill>
                <a:latin typeface="STKaiti" panose="02010600040101010101" pitchFamily="2" charset="-122"/>
                <a:ea typeface="STKaiti" panose="02010600040101010101" pitchFamily="2" charset="-122"/>
              </a:rPr>
              <a:t>标签</a:t>
            </a:r>
          </a:p>
        </p:txBody>
      </p:sp>
      <p:sp>
        <p:nvSpPr>
          <p:cNvPr id="89" name="左大括号 50">
            <a:extLst>
              <a:ext uri="{FF2B5EF4-FFF2-40B4-BE49-F238E27FC236}">
                <a16:creationId xmlns:a16="http://schemas.microsoft.com/office/drawing/2014/main" id="{ADE9E120-201A-2D45-A7C8-494F8D7702FA}"/>
              </a:ext>
            </a:extLst>
          </p:cNvPr>
          <p:cNvSpPr/>
          <p:nvPr/>
        </p:nvSpPr>
        <p:spPr bwMode="auto">
          <a:xfrm rot="16200000">
            <a:off x="6655008" y="1920606"/>
            <a:ext cx="104392" cy="391443"/>
          </a:xfrm>
          <a:prstGeom prst="leftBrace">
            <a:avLst>
              <a:gd name="adj1" fmla="val 37790"/>
              <a:gd name="adj2" fmla="val 50000"/>
            </a:avLst>
          </a:prstGeom>
          <a:noFill/>
          <a:ln w="127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u="none" strike="noStrike" cap="none" normalizeH="0" baseline="0" dirty="0">
              <a:ln>
                <a:noFill/>
              </a:ln>
              <a:solidFill>
                <a:schemeClr val="tx1"/>
              </a:solidFill>
              <a:effectLst/>
              <a:latin typeface="Tahoma" pitchFamily="34" charset="0"/>
              <a:ea typeface="SimHei" panose="02010609060101010101" pitchFamily="49" charset="-122"/>
            </a:endParaRPr>
          </a:p>
        </p:txBody>
      </p:sp>
      <p:cxnSp>
        <p:nvCxnSpPr>
          <p:cNvPr id="24" name="Straight Arrow Connector 23">
            <a:extLst>
              <a:ext uri="{FF2B5EF4-FFF2-40B4-BE49-F238E27FC236}">
                <a16:creationId xmlns:a16="http://schemas.microsoft.com/office/drawing/2014/main" id="{1CBB9CB8-A5FF-FE4B-8034-43235A5BE2A6}"/>
              </a:ext>
            </a:extLst>
          </p:cNvPr>
          <p:cNvCxnSpPr/>
          <p:nvPr/>
        </p:nvCxnSpPr>
        <p:spPr>
          <a:xfrm>
            <a:off x="7593624" y="2007944"/>
            <a:ext cx="0" cy="16937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6AFACB0-0C03-7C40-B860-97D56F3172A8}"/>
              </a:ext>
            </a:extLst>
          </p:cNvPr>
          <p:cNvSpPr txBox="1"/>
          <p:nvPr/>
        </p:nvSpPr>
        <p:spPr>
          <a:xfrm>
            <a:off x="6242076" y="3601630"/>
            <a:ext cx="2753880" cy="707886"/>
          </a:xfrm>
          <a:prstGeom prst="rect">
            <a:avLst/>
          </a:prstGeom>
          <a:noFill/>
        </p:spPr>
        <p:txBody>
          <a:bodyPr wrap="square" rtlCol="0">
            <a:spAutoFit/>
          </a:bodyPr>
          <a:lstStyle/>
          <a:p>
            <a:pPr algn="ctr"/>
            <a:r>
              <a:rPr lang="en-CN" altLang="zh-CN" sz="2000" dirty="0">
                <a:solidFill>
                  <a:srgbClr val="FF9300"/>
                </a:solidFill>
                <a:latin typeface="Arial" panose="020B0604020202020204" pitchFamily="34" charset="0"/>
                <a:ea typeface="STKaiti" panose="02010600040101010101" pitchFamily="2" charset="-122"/>
                <a:cs typeface="Arial" panose="020B0604020202020204" pitchFamily="34" charset="0"/>
              </a:rPr>
              <a:t>a[0]</a:t>
            </a:r>
            <a:r>
              <a:rPr lang="en-US" altLang="zh-CN" sz="2000" dirty="0">
                <a:solidFill>
                  <a:srgbClr val="FF9300"/>
                </a:solidFill>
                <a:latin typeface="Arial" panose="020B0604020202020204" pitchFamily="34" charset="0"/>
                <a:ea typeface="STKaiti" panose="02010600040101010101" pitchFamily="2" charset="-122"/>
                <a:cs typeface="Arial" panose="020B0604020202020204" pitchFamily="34" charset="0"/>
              </a:rPr>
              <a:t> </a:t>
            </a:r>
            <a:r>
              <a:rPr lang="en-CN" sz="2000" dirty="0">
                <a:latin typeface="STKaiti" panose="02010600040101010101" pitchFamily="2" charset="-122"/>
                <a:ea typeface="STKaiti" panose="02010600040101010101" pitchFamily="2" charset="-122"/>
              </a:rPr>
              <a:t>和</a:t>
            </a:r>
            <a:r>
              <a:rPr lang="en-CN" altLang="zh-CN" sz="2000" dirty="0">
                <a:solidFill>
                  <a:srgbClr val="FF40FF"/>
                </a:solidFill>
                <a:latin typeface="Arial" panose="020B0604020202020204" pitchFamily="34" charset="0"/>
                <a:ea typeface="STKaiti" panose="02010600040101010101" pitchFamily="2" charset="-122"/>
                <a:cs typeface="Arial" panose="020B0604020202020204" pitchFamily="34" charset="0"/>
              </a:rPr>
              <a:t> a[8]</a:t>
            </a:r>
            <a:r>
              <a:rPr lang="en-US" altLang="zh-CN" sz="2000" dirty="0">
                <a:latin typeface="Arial" panose="020B0604020202020204" pitchFamily="34" charset="0"/>
                <a:ea typeface="STKaiti" panose="02010600040101010101" pitchFamily="2" charset="-122"/>
                <a:cs typeface="Arial" panose="020B0604020202020204" pitchFamily="34" charset="0"/>
              </a:rPr>
              <a:t> </a:t>
            </a:r>
            <a:r>
              <a:rPr lang="en-CN" sz="2000" dirty="0">
                <a:latin typeface="STKaiti" panose="02010600040101010101" pitchFamily="2" charset="-122"/>
                <a:ea typeface="STKaiti" panose="02010600040101010101" pitchFamily="2" charset="-122"/>
              </a:rPr>
              <a:t>可以同时存在Cache中</a:t>
            </a:r>
            <a:r>
              <a:rPr lang="zh-CN" altLang="en-US" sz="2000" dirty="0">
                <a:latin typeface="STKaiti" panose="02010600040101010101" pitchFamily="2" charset="-122"/>
                <a:ea typeface="STKaiti" panose="02010600040101010101" pitchFamily="2" charset="-122"/>
              </a:rPr>
              <a:t>（</a:t>
            </a:r>
            <a:r>
              <a:rPr lang="en-CN" sz="2000" dirty="0">
                <a:highlight>
                  <a:srgbClr val="FFFF00"/>
                </a:highlight>
                <a:latin typeface="STKaiti" panose="02010600040101010101" pitchFamily="2" charset="-122"/>
                <a:ea typeface="STKaiti" panose="02010600040101010101" pitchFamily="2" charset="-122"/>
              </a:rPr>
              <a:t>组</a:t>
            </a:r>
            <a:r>
              <a:rPr lang="en-US" altLang="zh-CN" sz="2000" dirty="0">
                <a:highlight>
                  <a:srgbClr val="FFFF00"/>
                </a:highlight>
                <a:latin typeface="STKaiti" panose="02010600040101010101" pitchFamily="2" charset="-122"/>
                <a:ea typeface="STKaiti" panose="02010600040101010101" pitchFamily="2" charset="-122"/>
              </a:rPr>
              <a:t>1</a:t>
            </a:r>
            <a:r>
              <a:rPr lang="zh-CN" altLang="en-US" sz="2000" dirty="0">
                <a:latin typeface="STKaiti" panose="02010600040101010101" pitchFamily="2" charset="-122"/>
                <a:ea typeface="STKaiti" panose="02010600040101010101" pitchFamily="2" charset="-122"/>
              </a:rPr>
              <a:t>）</a:t>
            </a:r>
            <a:endParaRPr lang="en-CN" sz="2000" dirty="0">
              <a:latin typeface="STKaiti" panose="02010600040101010101" pitchFamily="2" charset="-122"/>
              <a:ea typeface="STKaiti" panose="02010600040101010101" pitchFamily="2" charset="-122"/>
            </a:endParaRPr>
          </a:p>
        </p:txBody>
      </p:sp>
      <p:sp>
        <p:nvSpPr>
          <p:cNvPr id="44" name="Rectangle 24">
            <a:extLst>
              <a:ext uri="{FF2B5EF4-FFF2-40B4-BE49-F238E27FC236}">
                <a16:creationId xmlns:a16="http://schemas.microsoft.com/office/drawing/2014/main" id="{AD70AC6B-8470-65E1-8915-CC93E2D8C388}"/>
              </a:ext>
            </a:extLst>
          </p:cNvPr>
          <p:cNvSpPr/>
          <p:nvPr/>
        </p:nvSpPr>
        <p:spPr>
          <a:xfrm>
            <a:off x="1438021" y="2851528"/>
            <a:ext cx="1849140" cy="741059"/>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45" name="Table 72">
            <a:extLst>
              <a:ext uri="{FF2B5EF4-FFF2-40B4-BE49-F238E27FC236}">
                <a16:creationId xmlns:a16="http://schemas.microsoft.com/office/drawing/2014/main" id="{411ADADC-76B3-C312-65FB-E9A10C1EF7E9}"/>
              </a:ext>
            </a:extLst>
          </p:cNvPr>
          <p:cNvGraphicFramePr>
            <a:graphicFrameLocks noGrp="1"/>
          </p:cNvGraphicFramePr>
          <p:nvPr>
            <p:extLst>
              <p:ext uri="{D42A27DB-BD31-4B8C-83A1-F6EECF244321}">
                <p14:modId xmlns:p14="http://schemas.microsoft.com/office/powerpoint/2010/main" val="836415897"/>
              </p:ext>
            </p:extLst>
          </p:nvPr>
        </p:nvGraphicFramePr>
        <p:xfrm>
          <a:off x="1459080" y="2879671"/>
          <a:ext cx="1821180" cy="69394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dirty="0"/>
                        <a:t>L</a:t>
                      </a:r>
                      <a:r>
                        <a:rPr lang="en-CN" sz="1600" dirty="0"/>
                        <a:t>ine 0: two words</a:t>
                      </a:r>
                    </a:p>
                  </a:txBody>
                  <a:tcPr>
                    <a:noFill/>
                  </a:tcPr>
                </a:tc>
                <a:extLst>
                  <a:ext uri="{0D108BD9-81ED-4DB2-BD59-A6C34878D82A}">
                    <a16:rowId xmlns:a16="http://schemas.microsoft.com/office/drawing/2014/main" val="1118228480"/>
                  </a:ext>
                </a:extLst>
              </a:tr>
              <a:tr h="322560">
                <a:tc>
                  <a:txBody>
                    <a:bodyPr/>
                    <a:lstStyle/>
                    <a:p>
                      <a:r>
                        <a:rPr lang="en-CN" sz="1600" dirty="0"/>
                        <a:t>Line </a:t>
                      </a:r>
                      <a:r>
                        <a:rPr lang="en-US" altLang="zh-CN" sz="1600" dirty="0"/>
                        <a:t>2</a:t>
                      </a:r>
                      <a:r>
                        <a:rPr lang="en-CN" sz="1600" dirty="0"/>
                        <a:t>: two words</a:t>
                      </a:r>
                    </a:p>
                  </a:txBody>
                  <a:tcPr>
                    <a:noFill/>
                  </a:tcPr>
                </a:tc>
                <a:extLst>
                  <a:ext uri="{0D108BD9-81ED-4DB2-BD59-A6C34878D82A}">
                    <a16:rowId xmlns:a16="http://schemas.microsoft.com/office/drawing/2014/main" val="3945531257"/>
                  </a:ext>
                </a:extLst>
              </a:tr>
            </a:tbl>
          </a:graphicData>
        </a:graphic>
      </p:graphicFrame>
      <p:sp>
        <p:nvSpPr>
          <p:cNvPr id="46" name="Rectangle 74">
            <a:extLst>
              <a:ext uri="{FF2B5EF4-FFF2-40B4-BE49-F238E27FC236}">
                <a16:creationId xmlns:a16="http://schemas.microsoft.com/office/drawing/2014/main" id="{654913D0-B9D5-A671-A64E-F6DAF0A42ECF}"/>
              </a:ext>
            </a:extLst>
          </p:cNvPr>
          <p:cNvSpPr/>
          <p:nvPr/>
        </p:nvSpPr>
        <p:spPr>
          <a:xfrm>
            <a:off x="1463719" y="3263869"/>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7" name="Rectangle 80">
            <a:extLst>
              <a:ext uri="{FF2B5EF4-FFF2-40B4-BE49-F238E27FC236}">
                <a16:creationId xmlns:a16="http://schemas.microsoft.com/office/drawing/2014/main" id="{93460F2D-745E-440A-2520-587D792D05F3}"/>
              </a:ext>
            </a:extLst>
          </p:cNvPr>
          <p:cNvSpPr/>
          <p:nvPr/>
        </p:nvSpPr>
        <p:spPr>
          <a:xfrm>
            <a:off x="1460268" y="2874604"/>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8" name="Rectangle 43">
            <a:extLst>
              <a:ext uri="{FF2B5EF4-FFF2-40B4-BE49-F238E27FC236}">
                <a16:creationId xmlns:a16="http://schemas.microsoft.com/office/drawing/2014/main" id="{71CFAE72-EDF8-28EE-381A-0D7639042EC6}"/>
              </a:ext>
            </a:extLst>
          </p:cNvPr>
          <p:cNvSpPr/>
          <p:nvPr/>
        </p:nvSpPr>
        <p:spPr>
          <a:xfrm>
            <a:off x="3320452" y="2844534"/>
            <a:ext cx="1849140" cy="741059"/>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49" name="Table 51">
            <a:extLst>
              <a:ext uri="{FF2B5EF4-FFF2-40B4-BE49-F238E27FC236}">
                <a16:creationId xmlns:a16="http://schemas.microsoft.com/office/drawing/2014/main" id="{EA6ACD93-ABB0-8896-3F13-81619BC8A923}"/>
              </a:ext>
            </a:extLst>
          </p:cNvPr>
          <p:cNvGraphicFramePr>
            <a:graphicFrameLocks noGrp="1"/>
          </p:cNvGraphicFramePr>
          <p:nvPr>
            <p:extLst>
              <p:ext uri="{D42A27DB-BD31-4B8C-83A1-F6EECF244321}">
                <p14:modId xmlns:p14="http://schemas.microsoft.com/office/powerpoint/2010/main" val="1489025994"/>
              </p:ext>
            </p:extLst>
          </p:nvPr>
        </p:nvGraphicFramePr>
        <p:xfrm>
          <a:off x="3285973" y="2884652"/>
          <a:ext cx="1821180" cy="693948"/>
        </p:xfrm>
        <a:graphic>
          <a:graphicData uri="http://schemas.openxmlformats.org/drawingml/2006/table">
            <a:tbl>
              <a:tblPr firstRow="1" bandRow="1">
                <a:tableStyleId>{5940675A-B579-460E-94D1-54222C63F5DA}</a:tableStyleId>
              </a:tblPr>
              <a:tblGrid>
                <a:gridCol w="1821180">
                  <a:extLst>
                    <a:ext uri="{9D8B030D-6E8A-4147-A177-3AD203B41FA5}">
                      <a16:colId xmlns:a16="http://schemas.microsoft.com/office/drawing/2014/main" val="3912651068"/>
                    </a:ext>
                  </a:extLst>
                </a:gridCol>
              </a:tblGrid>
              <a:tr h="358668">
                <a:tc>
                  <a:txBody>
                    <a:bodyPr/>
                    <a:lstStyle/>
                    <a:p>
                      <a:r>
                        <a:rPr lang="en-US" sz="1600"/>
                        <a:t>L</a:t>
                      </a:r>
                      <a:r>
                        <a:rPr lang="en-CN" sz="1600"/>
                        <a:t>ine </a:t>
                      </a:r>
                      <a:r>
                        <a:rPr lang="en-US" altLang="zh-CN" sz="1600"/>
                        <a:t>1</a:t>
                      </a:r>
                      <a:r>
                        <a:rPr lang="en-CN" sz="1600"/>
                        <a:t>: two words</a:t>
                      </a:r>
                      <a:endParaRPr lang="en-CN" sz="1600" dirty="0"/>
                    </a:p>
                  </a:txBody>
                  <a:tcPr>
                    <a:noFill/>
                  </a:tcPr>
                </a:tc>
                <a:extLst>
                  <a:ext uri="{0D108BD9-81ED-4DB2-BD59-A6C34878D82A}">
                    <a16:rowId xmlns:a16="http://schemas.microsoft.com/office/drawing/2014/main" val="1118228480"/>
                  </a:ext>
                </a:extLst>
              </a:tr>
              <a:tr h="322560">
                <a:tc>
                  <a:txBody>
                    <a:bodyPr/>
                    <a:lstStyle/>
                    <a:p>
                      <a:r>
                        <a:rPr lang="en-CN" sz="1600" dirty="0"/>
                        <a:t>Line </a:t>
                      </a:r>
                      <a:r>
                        <a:rPr lang="en-US" altLang="zh-CN" sz="1600" dirty="0"/>
                        <a:t>3</a:t>
                      </a:r>
                      <a:r>
                        <a:rPr lang="en-CN" sz="1600" dirty="0"/>
                        <a:t>: two words</a:t>
                      </a:r>
                    </a:p>
                  </a:txBody>
                  <a:tcPr>
                    <a:noFill/>
                  </a:tcPr>
                </a:tc>
                <a:extLst>
                  <a:ext uri="{0D108BD9-81ED-4DB2-BD59-A6C34878D82A}">
                    <a16:rowId xmlns:a16="http://schemas.microsoft.com/office/drawing/2014/main" val="3945531257"/>
                  </a:ext>
                </a:extLst>
              </a:tr>
            </a:tbl>
          </a:graphicData>
        </a:graphic>
      </p:graphicFrame>
      <p:sp>
        <p:nvSpPr>
          <p:cNvPr id="52" name="Rectangle 52">
            <a:extLst>
              <a:ext uri="{FF2B5EF4-FFF2-40B4-BE49-F238E27FC236}">
                <a16:creationId xmlns:a16="http://schemas.microsoft.com/office/drawing/2014/main" id="{0ADD8B69-7933-7F47-1168-00EF945B4F75}"/>
              </a:ext>
            </a:extLst>
          </p:cNvPr>
          <p:cNvSpPr/>
          <p:nvPr/>
        </p:nvSpPr>
        <p:spPr>
          <a:xfrm>
            <a:off x="3290612" y="3263869"/>
            <a:ext cx="1826894" cy="3088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7" name="Rectangle 53">
            <a:extLst>
              <a:ext uri="{FF2B5EF4-FFF2-40B4-BE49-F238E27FC236}">
                <a16:creationId xmlns:a16="http://schemas.microsoft.com/office/drawing/2014/main" id="{34317965-E41D-46AA-0AD0-060A2ACCA3FD}"/>
              </a:ext>
            </a:extLst>
          </p:cNvPr>
          <p:cNvSpPr/>
          <p:nvPr/>
        </p:nvSpPr>
        <p:spPr>
          <a:xfrm>
            <a:off x="3287161" y="2874604"/>
            <a:ext cx="1826894" cy="3767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9665364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471" y="136525"/>
            <a:ext cx="8889357" cy="1143000"/>
          </a:xfrm>
        </p:spPr>
        <p:txBody>
          <a:bodyPr/>
          <a:lstStyle/>
          <a:p>
            <a:r>
              <a:rPr lang="zh-CN" altLang="en-US" dirty="0"/>
              <a:t>缓存技术：</a:t>
            </a:r>
            <a:r>
              <a:rPr lang="en-US" altLang="zh-CN" dirty="0"/>
              <a:t>Cache</a:t>
            </a:r>
            <a:r>
              <a:rPr lang="zh-CN" altLang="en-US" dirty="0"/>
              <a:t>的作用</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81</a:t>
            </a:fld>
            <a:endParaRPr lang="en-US" altLang="zh-CN" dirty="0"/>
          </a:p>
        </p:txBody>
      </p:sp>
      <p:sp>
        <p:nvSpPr>
          <p:cNvPr id="4" name="内容占位符 2">
            <a:extLst>
              <a:ext uri="{FF2B5EF4-FFF2-40B4-BE49-F238E27FC236}">
                <a16:creationId xmlns:a16="http://schemas.microsoft.com/office/drawing/2014/main" id="{FBE02D7A-4922-804D-B66B-910F9081B8A5}"/>
              </a:ext>
            </a:extLst>
          </p:cNvPr>
          <p:cNvSpPr>
            <a:spLocks noGrp="1"/>
          </p:cNvSpPr>
          <p:nvPr>
            <p:ph idx="1"/>
          </p:nvPr>
        </p:nvSpPr>
        <p:spPr>
          <a:xfrm>
            <a:off x="457200" y="1551432"/>
            <a:ext cx="7179689" cy="539939"/>
          </a:xfrm>
        </p:spPr>
        <p:txBody>
          <a:bodyPr/>
          <a:lstStyle/>
          <a:p>
            <a:pPr>
              <a:buClr>
                <a:schemeClr val="tx1"/>
              </a:buClr>
            </a:pPr>
            <a:r>
              <a:rPr lang="en-US" altLang="zh-CN" sz="2800" dirty="0"/>
              <a:t>2</a:t>
            </a:r>
            <a:r>
              <a:rPr lang="zh-CN" altLang="en-US" sz="2800" dirty="0"/>
              <a:t>路组相联映像</a:t>
            </a:r>
            <a:endParaRPr lang="en-US" altLang="zh-CN" sz="2800" dirty="0"/>
          </a:p>
        </p:txBody>
      </p:sp>
      <p:sp>
        <p:nvSpPr>
          <p:cNvPr id="114" name="Rectangle 9">
            <a:extLst>
              <a:ext uri="{FF2B5EF4-FFF2-40B4-BE49-F238E27FC236}">
                <a16:creationId xmlns:a16="http://schemas.microsoft.com/office/drawing/2014/main" id="{093EE85E-DDC3-1B4B-958B-5A838730D0E3}"/>
              </a:ext>
            </a:extLst>
          </p:cNvPr>
          <p:cNvSpPr>
            <a:spLocks noChangeArrowheads="1"/>
          </p:cNvSpPr>
          <p:nvPr/>
        </p:nvSpPr>
        <p:spPr bwMode="auto">
          <a:xfrm>
            <a:off x="2670193" y="5285061"/>
            <a:ext cx="40010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400" dirty="0">
                <a:latin typeface="+mn-lt"/>
                <a:ea typeface="SimHei" panose="02010609060101010101" pitchFamily="49" charset="-122"/>
              </a:rPr>
              <a:t>数据缺失仅发生在前两次访问</a:t>
            </a:r>
            <a:endParaRPr lang="zh-CN" altLang="en-US" sz="1600" dirty="0">
              <a:latin typeface="+mn-lt"/>
              <a:ea typeface="SimHei" panose="02010609060101010101" pitchFamily="49" charset="-122"/>
            </a:endParaRPr>
          </a:p>
        </p:txBody>
      </p:sp>
      <p:sp>
        <p:nvSpPr>
          <p:cNvPr id="6" name="Rectangle 4">
            <a:extLst>
              <a:ext uri="{FF2B5EF4-FFF2-40B4-BE49-F238E27FC236}">
                <a16:creationId xmlns:a16="http://schemas.microsoft.com/office/drawing/2014/main" id="{CA372B5B-E7A2-7043-9EED-5665506FBE81}"/>
              </a:ext>
            </a:extLst>
          </p:cNvPr>
          <p:cNvSpPr>
            <a:spLocks noChangeArrowheads="1"/>
          </p:cNvSpPr>
          <p:nvPr/>
        </p:nvSpPr>
        <p:spPr bwMode="auto">
          <a:xfrm>
            <a:off x="1161168" y="2111275"/>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访问顺序</a:t>
            </a:r>
            <a:endParaRPr lang="zh-CN" altLang="en-US" sz="1400" dirty="0">
              <a:latin typeface="Times New Roman" pitchFamily="18" charset="0"/>
              <a:ea typeface="SimHei" panose="02010609060101010101" pitchFamily="49" charset="-122"/>
            </a:endParaRPr>
          </a:p>
        </p:txBody>
      </p:sp>
      <p:sp>
        <p:nvSpPr>
          <p:cNvPr id="7" name="Rectangle 6">
            <a:extLst>
              <a:ext uri="{FF2B5EF4-FFF2-40B4-BE49-F238E27FC236}">
                <a16:creationId xmlns:a16="http://schemas.microsoft.com/office/drawing/2014/main" id="{EC158702-ADE3-F543-A0B8-F22935313E6F}"/>
              </a:ext>
            </a:extLst>
          </p:cNvPr>
          <p:cNvSpPr>
            <a:spLocks noChangeArrowheads="1"/>
          </p:cNvSpPr>
          <p:nvPr/>
        </p:nvSpPr>
        <p:spPr bwMode="auto">
          <a:xfrm>
            <a:off x="1161168" y="2521980"/>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地址块号</a:t>
            </a:r>
            <a:endParaRPr lang="zh-CN" altLang="en-US" sz="1400" dirty="0">
              <a:latin typeface="Times New Roman" pitchFamily="18" charset="0"/>
              <a:ea typeface="SimHei" panose="02010609060101010101" pitchFamily="49" charset="-122"/>
            </a:endParaRPr>
          </a:p>
        </p:txBody>
      </p:sp>
      <p:sp>
        <p:nvSpPr>
          <p:cNvPr id="8" name="Rectangle 8">
            <a:extLst>
              <a:ext uri="{FF2B5EF4-FFF2-40B4-BE49-F238E27FC236}">
                <a16:creationId xmlns:a16="http://schemas.microsoft.com/office/drawing/2014/main" id="{2EC430C7-7F5B-0C4B-8B6F-40EE2F3D0ACF}"/>
              </a:ext>
            </a:extLst>
          </p:cNvPr>
          <p:cNvSpPr>
            <a:spLocks noChangeArrowheads="1"/>
          </p:cNvSpPr>
          <p:nvPr/>
        </p:nvSpPr>
        <p:spPr bwMode="auto">
          <a:xfrm>
            <a:off x="1161168" y="3200334"/>
            <a:ext cx="1354538"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行分配情况</a:t>
            </a:r>
            <a:endParaRPr lang="zh-CN" altLang="en-US" sz="1400" dirty="0">
              <a:latin typeface="Times New Roman" pitchFamily="18" charset="0"/>
              <a:ea typeface="SimHei" panose="02010609060101010101" pitchFamily="49" charset="-122"/>
            </a:endParaRPr>
          </a:p>
        </p:txBody>
      </p:sp>
      <p:sp>
        <p:nvSpPr>
          <p:cNvPr id="9" name="Rectangle 9">
            <a:extLst>
              <a:ext uri="{FF2B5EF4-FFF2-40B4-BE49-F238E27FC236}">
                <a16:creationId xmlns:a16="http://schemas.microsoft.com/office/drawing/2014/main" id="{00D3E4BB-13D8-8342-8DAB-0FF112C10D59}"/>
              </a:ext>
            </a:extLst>
          </p:cNvPr>
          <p:cNvSpPr>
            <a:spLocks noChangeArrowheads="1"/>
          </p:cNvSpPr>
          <p:nvPr/>
        </p:nvSpPr>
        <p:spPr bwMode="auto">
          <a:xfrm>
            <a:off x="1161168" y="3922449"/>
            <a:ext cx="1066800"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操作状态</a:t>
            </a:r>
            <a:endParaRPr lang="zh-CN" altLang="en-US" sz="1400" dirty="0">
              <a:latin typeface="Times New Roman" pitchFamily="18" charset="0"/>
              <a:ea typeface="SimHei" panose="02010609060101010101" pitchFamily="49" charset="-122"/>
            </a:endParaRPr>
          </a:p>
        </p:txBody>
      </p:sp>
      <p:sp>
        <p:nvSpPr>
          <p:cNvPr id="100" name="Rectangle 9">
            <a:extLst>
              <a:ext uri="{FF2B5EF4-FFF2-40B4-BE49-F238E27FC236}">
                <a16:creationId xmlns:a16="http://schemas.microsoft.com/office/drawing/2014/main" id="{EF28D8B4-CB57-A34C-B45E-5ADF1F466B5B}"/>
              </a:ext>
            </a:extLst>
          </p:cNvPr>
          <p:cNvSpPr>
            <a:spLocks noChangeArrowheads="1"/>
          </p:cNvSpPr>
          <p:nvPr/>
        </p:nvSpPr>
        <p:spPr bwMode="auto">
          <a:xfrm>
            <a:off x="1161168" y="4328698"/>
            <a:ext cx="108363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defTabSz="1009650"/>
            <a:r>
              <a:rPr lang="zh-CN" altLang="en-US" sz="2100" dirty="0">
                <a:latin typeface="SimHei" panose="02010609060101010101" pitchFamily="49" charset="-122"/>
                <a:ea typeface="SimHei" panose="02010609060101010101" pitchFamily="49" charset="-122"/>
              </a:rPr>
              <a:t>是否命中</a:t>
            </a:r>
            <a:endParaRPr lang="zh-CN" altLang="en-US" sz="1400" dirty="0">
              <a:latin typeface="Times New Roman" pitchFamily="18" charset="0"/>
              <a:ea typeface="SimHei" panose="02010609060101010101" pitchFamily="49" charset="-122"/>
            </a:endParaRPr>
          </a:p>
        </p:txBody>
      </p:sp>
      <p:grpSp>
        <p:nvGrpSpPr>
          <p:cNvPr id="20" name="组合 19">
            <a:extLst>
              <a:ext uri="{FF2B5EF4-FFF2-40B4-BE49-F238E27FC236}">
                <a16:creationId xmlns:a16="http://schemas.microsoft.com/office/drawing/2014/main" id="{008F3747-FC10-A040-8DEF-A3D80805953D}"/>
              </a:ext>
            </a:extLst>
          </p:cNvPr>
          <p:cNvGrpSpPr/>
          <p:nvPr/>
        </p:nvGrpSpPr>
        <p:grpSpPr>
          <a:xfrm>
            <a:off x="2731717" y="2114553"/>
            <a:ext cx="1081182" cy="2537310"/>
            <a:chOff x="2524453" y="2114553"/>
            <a:chExt cx="1081182" cy="2537310"/>
          </a:xfrm>
        </p:grpSpPr>
        <p:sp>
          <p:nvSpPr>
            <p:cNvPr id="11" name="Rectangle 11">
              <a:extLst>
                <a:ext uri="{FF2B5EF4-FFF2-40B4-BE49-F238E27FC236}">
                  <a16:creationId xmlns:a16="http://schemas.microsoft.com/office/drawing/2014/main" id="{05E7EBF1-BA77-EF4E-BACC-42132A665471}"/>
                </a:ext>
              </a:extLst>
            </p:cNvPr>
            <p:cNvSpPr>
              <a:spLocks noChangeArrowheads="1"/>
            </p:cNvSpPr>
            <p:nvPr/>
          </p:nvSpPr>
          <p:spPr bwMode="auto">
            <a:xfrm>
              <a:off x="2788405" y="3922449"/>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grpSp>
          <p:nvGrpSpPr>
            <p:cNvPr id="19" name="组合 18">
              <a:extLst>
                <a:ext uri="{FF2B5EF4-FFF2-40B4-BE49-F238E27FC236}">
                  <a16:creationId xmlns:a16="http://schemas.microsoft.com/office/drawing/2014/main" id="{57E891DD-E3B3-A940-B30A-B9A863FDD273}"/>
                </a:ext>
              </a:extLst>
            </p:cNvPr>
            <p:cNvGrpSpPr/>
            <p:nvPr/>
          </p:nvGrpSpPr>
          <p:grpSpPr>
            <a:xfrm>
              <a:off x="2524453" y="2935810"/>
              <a:ext cx="1081182" cy="885125"/>
              <a:chOff x="2449037" y="2935810"/>
              <a:chExt cx="1081182" cy="885125"/>
            </a:xfrm>
          </p:grpSpPr>
          <p:sp>
            <p:nvSpPr>
              <p:cNvPr id="15" name="Rectangle 26">
                <a:extLst>
                  <a:ext uri="{FF2B5EF4-FFF2-40B4-BE49-F238E27FC236}">
                    <a16:creationId xmlns:a16="http://schemas.microsoft.com/office/drawing/2014/main" id="{BEFC1C1B-7B91-1940-BE3D-E5C83B063F41}"/>
                  </a:ext>
                </a:extLst>
              </p:cNvPr>
              <p:cNvSpPr>
                <a:spLocks noChangeArrowheads="1"/>
              </p:cNvSpPr>
              <p:nvPr/>
            </p:nvSpPr>
            <p:spPr bwMode="auto">
              <a:xfrm>
                <a:off x="2449037" y="3378453"/>
                <a:ext cx="540000" cy="442482"/>
              </a:xfrm>
              <a:prstGeom prst="rect">
                <a:avLst/>
              </a:prstGeom>
              <a:solidFill>
                <a:srgbClr val="FFFF00"/>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16" name="Rectangle 26">
                <a:extLst>
                  <a:ext uri="{FF2B5EF4-FFF2-40B4-BE49-F238E27FC236}">
                    <a16:creationId xmlns:a16="http://schemas.microsoft.com/office/drawing/2014/main" id="{9AAE2028-D38D-2E44-81D3-B387C2C31BAB}"/>
                  </a:ext>
                </a:extLst>
              </p:cNvPr>
              <p:cNvSpPr>
                <a:spLocks noChangeArrowheads="1"/>
              </p:cNvSpPr>
              <p:nvPr/>
            </p:nvSpPr>
            <p:spPr bwMode="auto">
              <a:xfrm>
                <a:off x="2990219"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7" name="Rectangle 26">
                <a:extLst>
                  <a:ext uri="{FF2B5EF4-FFF2-40B4-BE49-F238E27FC236}">
                    <a16:creationId xmlns:a16="http://schemas.microsoft.com/office/drawing/2014/main" id="{4AEBBAE0-C493-BF4F-8A8B-853E1D7C8C50}"/>
                  </a:ext>
                </a:extLst>
              </p:cNvPr>
              <p:cNvSpPr>
                <a:spLocks noChangeArrowheads="1"/>
              </p:cNvSpPr>
              <p:nvPr/>
            </p:nvSpPr>
            <p:spPr bwMode="auto">
              <a:xfrm>
                <a:off x="2990219" y="3378453"/>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18" name="Rectangle 26">
                <a:extLst>
                  <a:ext uri="{FF2B5EF4-FFF2-40B4-BE49-F238E27FC236}">
                    <a16:creationId xmlns:a16="http://schemas.microsoft.com/office/drawing/2014/main" id="{38F401E3-766D-9349-96AB-08D1DA201361}"/>
                  </a:ext>
                </a:extLst>
              </p:cNvPr>
              <p:cNvSpPr>
                <a:spLocks noChangeArrowheads="1"/>
              </p:cNvSpPr>
              <p:nvPr/>
            </p:nvSpPr>
            <p:spPr bwMode="auto">
              <a:xfrm>
                <a:off x="2449037"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grpSp>
        <p:sp>
          <p:nvSpPr>
            <p:cNvPr id="13" name="Rectangle 11">
              <a:extLst>
                <a:ext uri="{FF2B5EF4-FFF2-40B4-BE49-F238E27FC236}">
                  <a16:creationId xmlns:a16="http://schemas.microsoft.com/office/drawing/2014/main" id="{0AEFDF77-968C-0F4B-A99E-607A350233A6}"/>
                </a:ext>
              </a:extLst>
            </p:cNvPr>
            <p:cNvSpPr>
              <a:spLocks noChangeArrowheads="1"/>
            </p:cNvSpPr>
            <p:nvPr/>
          </p:nvSpPr>
          <p:spPr bwMode="auto">
            <a:xfrm>
              <a:off x="2788405" y="252386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125</a:t>
              </a:r>
              <a:endParaRPr lang="zh-CN" altLang="en-US" sz="1400" dirty="0">
                <a:latin typeface="+mn-lt"/>
                <a:ea typeface="SimHei" panose="02010609060101010101" pitchFamily="49" charset="-122"/>
              </a:endParaRPr>
            </a:p>
          </p:txBody>
        </p:sp>
        <p:sp>
          <p:nvSpPr>
            <p:cNvPr id="14" name="Rectangle 11">
              <a:extLst>
                <a:ext uri="{FF2B5EF4-FFF2-40B4-BE49-F238E27FC236}">
                  <a16:creationId xmlns:a16="http://schemas.microsoft.com/office/drawing/2014/main" id="{81488C19-E728-B744-BBBF-333715DB9791}"/>
                </a:ext>
              </a:extLst>
            </p:cNvPr>
            <p:cNvSpPr>
              <a:spLocks noChangeArrowheads="1"/>
            </p:cNvSpPr>
            <p:nvPr/>
          </p:nvSpPr>
          <p:spPr bwMode="auto">
            <a:xfrm>
              <a:off x="2788405" y="211455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a:t>
              </a:r>
              <a:endParaRPr lang="zh-CN" altLang="en-US" sz="1400" dirty="0">
                <a:latin typeface="+mn-lt"/>
                <a:ea typeface="SimHei" panose="02010609060101010101" pitchFamily="49" charset="-122"/>
              </a:endParaRPr>
            </a:p>
          </p:txBody>
        </p:sp>
        <p:sp>
          <p:nvSpPr>
            <p:cNvPr id="101" name="Rectangle 11">
              <a:extLst>
                <a:ext uri="{FF2B5EF4-FFF2-40B4-BE49-F238E27FC236}">
                  <a16:creationId xmlns:a16="http://schemas.microsoft.com/office/drawing/2014/main" id="{1EECBC8A-6F74-8D49-BEB8-77F5729A080D}"/>
                </a:ext>
              </a:extLst>
            </p:cNvPr>
            <p:cNvSpPr>
              <a:spLocks noChangeArrowheads="1"/>
            </p:cNvSpPr>
            <p:nvPr/>
          </p:nvSpPr>
          <p:spPr bwMode="auto">
            <a:xfrm>
              <a:off x="2525005" y="4328698"/>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grpSp>
      <p:grpSp>
        <p:nvGrpSpPr>
          <p:cNvPr id="52" name="组合 51">
            <a:extLst>
              <a:ext uri="{FF2B5EF4-FFF2-40B4-BE49-F238E27FC236}">
                <a16:creationId xmlns:a16="http://schemas.microsoft.com/office/drawing/2014/main" id="{16F54688-887B-8C47-A50F-60FB18BDA262}"/>
              </a:ext>
            </a:extLst>
          </p:cNvPr>
          <p:cNvGrpSpPr/>
          <p:nvPr/>
        </p:nvGrpSpPr>
        <p:grpSpPr>
          <a:xfrm>
            <a:off x="4136789" y="2114553"/>
            <a:ext cx="1081182" cy="2537310"/>
            <a:chOff x="2524453" y="2114553"/>
            <a:chExt cx="1081182" cy="2537310"/>
          </a:xfrm>
        </p:grpSpPr>
        <p:sp>
          <p:nvSpPr>
            <p:cNvPr id="53" name="Rectangle 11">
              <a:extLst>
                <a:ext uri="{FF2B5EF4-FFF2-40B4-BE49-F238E27FC236}">
                  <a16:creationId xmlns:a16="http://schemas.microsoft.com/office/drawing/2014/main" id="{597E7BA6-5DA9-9846-A085-36FBCD6DAF99}"/>
                </a:ext>
              </a:extLst>
            </p:cNvPr>
            <p:cNvSpPr>
              <a:spLocks noChangeArrowheads="1"/>
            </p:cNvSpPr>
            <p:nvPr/>
          </p:nvSpPr>
          <p:spPr bwMode="auto">
            <a:xfrm>
              <a:off x="2788405" y="3922449"/>
              <a:ext cx="540001"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调进</a:t>
              </a:r>
              <a:endParaRPr lang="zh-CN" altLang="en-US" sz="1400" dirty="0">
                <a:latin typeface="+mn-lt"/>
                <a:ea typeface="SimHei" panose="02010609060101010101" pitchFamily="49" charset="-122"/>
              </a:endParaRPr>
            </a:p>
          </p:txBody>
        </p:sp>
        <p:grpSp>
          <p:nvGrpSpPr>
            <p:cNvPr id="54" name="组合 53">
              <a:extLst>
                <a:ext uri="{FF2B5EF4-FFF2-40B4-BE49-F238E27FC236}">
                  <a16:creationId xmlns:a16="http://schemas.microsoft.com/office/drawing/2014/main" id="{06F88C4B-D8BE-CC4B-859F-6AF9D04F76B0}"/>
                </a:ext>
              </a:extLst>
            </p:cNvPr>
            <p:cNvGrpSpPr/>
            <p:nvPr/>
          </p:nvGrpSpPr>
          <p:grpSpPr>
            <a:xfrm>
              <a:off x="2524453" y="2935810"/>
              <a:ext cx="1081182" cy="885125"/>
              <a:chOff x="2449037" y="2935810"/>
              <a:chExt cx="1081182" cy="885125"/>
            </a:xfrm>
          </p:grpSpPr>
          <p:sp>
            <p:nvSpPr>
              <p:cNvPr id="58" name="Rectangle 26">
                <a:extLst>
                  <a:ext uri="{FF2B5EF4-FFF2-40B4-BE49-F238E27FC236}">
                    <a16:creationId xmlns:a16="http://schemas.microsoft.com/office/drawing/2014/main" id="{2D567F1C-BA66-3A40-A98D-D89635AD927A}"/>
                  </a:ext>
                </a:extLst>
              </p:cNvPr>
              <p:cNvSpPr>
                <a:spLocks noChangeArrowheads="1"/>
              </p:cNvSpPr>
              <p:nvPr/>
            </p:nvSpPr>
            <p:spPr bwMode="auto">
              <a:xfrm>
                <a:off x="2449037" y="3378453"/>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59" name="Rectangle 26">
                <a:extLst>
                  <a:ext uri="{FF2B5EF4-FFF2-40B4-BE49-F238E27FC236}">
                    <a16:creationId xmlns:a16="http://schemas.microsoft.com/office/drawing/2014/main" id="{19CF0761-CCF6-5243-8869-A3702F82AB70}"/>
                  </a:ext>
                </a:extLst>
              </p:cNvPr>
              <p:cNvSpPr>
                <a:spLocks noChangeArrowheads="1"/>
              </p:cNvSpPr>
              <p:nvPr/>
            </p:nvSpPr>
            <p:spPr bwMode="auto">
              <a:xfrm>
                <a:off x="2990219"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60" name="Rectangle 26">
                <a:extLst>
                  <a:ext uri="{FF2B5EF4-FFF2-40B4-BE49-F238E27FC236}">
                    <a16:creationId xmlns:a16="http://schemas.microsoft.com/office/drawing/2014/main" id="{0E20537E-6A25-F14E-9DE4-DFA77BF0FCBE}"/>
                  </a:ext>
                </a:extLst>
              </p:cNvPr>
              <p:cNvSpPr>
                <a:spLocks noChangeArrowheads="1"/>
              </p:cNvSpPr>
              <p:nvPr/>
            </p:nvSpPr>
            <p:spPr bwMode="auto">
              <a:xfrm>
                <a:off x="2990219" y="3378453"/>
                <a:ext cx="540000" cy="442482"/>
              </a:xfrm>
              <a:prstGeom prst="rect">
                <a:avLst/>
              </a:prstGeom>
              <a:solidFill>
                <a:srgbClr val="FFFF00"/>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61" name="Rectangle 26">
                <a:extLst>
                  <a:ext uri="{FF2B5EF4-FFF2-40B4-BE49-F238E27FC236}">
                    <a16:creationId xmlns:a16="http://schemas.microsoft.com/office/drawing/2014/main" id="{8117A6D5-8AE9-6D4C-AB45-E19129085B23}"/>
                  </a:ext>
                </a:extLst>
              </p:cNvPr>
              <p:cNvSpPr>
                <a:spLocks noChangeArrowheads="1"/>
              </p:cNvSpPr>
              <p:nvPr/>
            </p:nvSpPr>
            <p:spPr bwMode="auto">
              <a:xfrm>
                <a:off x="2449037"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grpSp>
        <p:sp>
          <p:nvSpPr>
            <p:cNvPr id="55" name="Rectangle 11">
              <a:extLst>
                <a:ext uri="{FF2B5EF4-FFF2-40B4-BE49-F238E27FC236}">
                  <a16:creationId xmlns:a16="http://schemas.microsoft.com/office/drawing/2014/main" id="{B0CA4832-1A59-CB45-BB81-5C5C6D2DCCFF}"/>
                </a:ext>
              </a:extLst>
            </p:cNvPr>
            <p:cNvSpPr>
              <a:spLocks noChangeArrowheads="1"/>
            </p:cNvSpPr>
            <p:nvPr/>
          </p:nvSpPr>
          <p:spPr bwMode="auto">
            <a:xfrm>
              <a:off x="2788405" y="252386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129</a:t>
              </a:r>
              <a:endParaRPr lang="zh-CN" altLang="en-US" sz="1400" dirty="0">
                <a:latin typeface="+mn-lt"/>
                <a:ea typeface="SimHei" panose="02010609060101010101" pitchFamily="49" charset="-122"/>
              </a:endParaRPr>
            </a:p>
          </p:txBody>
        </p:sp>
        <p:sp>
          <p:nvSpPr>
            <p:cNvPr id="56" name="Rectangle 11">
              <a:extLst>
                <a:ext uri="{FF2B5EF4-FFF2-40B4-BE49-F238E27FC236}">
                  <a16:creationId xmlns:a16="http://schemas.microsoft.com/office/drawing/2014/main" id="{7316B871-6996-3947-90F2-4E699E049D42}"/>
                </a:ext>
              </a:extLst>
            </p:cNvPr>
            <p:cNvSpPr>
              <a:spLocks noChangeArrowheads="1"/>
            </p:cNvSpPr>
            <p:nvPr/>
          </p:nvSpPr>
          <p:spPr bwMode="auto">
            <a:xfrm>
              <a:off x="2788405" y="211455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2</a:t>
              </a:r>
              <a:endParaRPr lang="zh-CN" altLang="en-US" sz="1400" dirty="0">
                <a:latin typeface="+mn-lt"/>
                <a:ea typeface="SimHei" panose="02010609060101010101" pitchFamily="49" charset="-122"/>
              </a:endParaRPr>
            </a:p>
          </p:txBody>
        </p:sp>
        <p:sp>
          <p:nvSpPr>
            <p:cNvPr id="57" name="Rectangle 11">
              <a:extLst>
                <a:ext uri="{FF2B5EF4-FFF2-40B4-BE49-F238E27FC236}">
                  <a16:creationId xmlns:a16="http://schemas.microsoft.com/office/drawing/2014/main" id="{D1F09AE1-CEA6-BD44-B370-1B154E687474}"/>
                </a:ext>
              </a:extLst>
            </p:cNvPr>
            <p:cNvSpPr>
              <a:spLocks noChangeArrowheads="1"/>
            </p:cNvSpPr>
            <p:nvPr/>
          </p:nvSpPr>
          <p:spPr bwMode="auto">
            <a:xfrm>
              <a:off x="2525005" y="4328698"/>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solidFill>
                    <a:srgbClr val="FF0000"/>
                  </a:solidFill>
                  <a:latin typeface="+mn-lt"/>
                  <a:ea typeface="SimHei" panose="02010609060101010101" pitchFamily="49" charset="-122"/>
                </a:rPr>
                <a:t>未命中</a:t>
              </a:r>
              <a:endParaRPr lang="zh-CN" altLang="en-US" sz="1400" dirty="0">
                <a:solidFill>
                  <a:srgbClr val="FF0000"/>
                </a:solidFill>
                <a:latin typeface="+mn-lt"/>
                <a:ea typeface="SimHei" panose="02010609060101010101" pitchFamily="49" charset="-122"/>
              </a:endParaRPr>
            </a:p>
          </p:txBody>
        </p:sp>
      </p:grpSp>
      <p:grpSp>
        <p:nvGrpSpPr>
          <p:cNvPr id="62" name="组合 61">
            <a:extLst>
              <a:ext uri="{FF2B5EF4-FFF2-40B4-BE49-F238E27FC236}">
                <a16:creationId xmlns:a16="http://schemas.microsoft.com/office/drawing/2014/main" id="{838626C2-2F57-2543-8B21-B2E88368EF56}"/>
              </a:ext>
            </a:extLst>
          </p:cNvPr>
          <p:cNvGrpSpPr/>
          <p:nvPr/>
        </p:nvGrpSpPr>
        <p:grpSpPr>
          <a:xfrm>
            <a:off x="5541861" y="2114553"/>
            <a:ext cx="1081182" cy="2537310"/>
            <a:chOff x="2524453" y="2114553"/>
            <a:chExt cx="1081182" cy="2537310"/>
          </a:xfrm>
        </p:grpSpPr>
        <p:grpSp>
          <p:nvGrpSpPr>
            <p:cNvPr id="64" name="组合 63">
              <a:extLst>
                <a:ext uri="{FF2B5EF4-FFF2-40B4-BE49-F238E27FC236}">
                  <a16:creationId xmlns:a16="http://schemas.microsoft.com/office/drawing/2014/main" id="{D2184847-7D41-F146-B696-8329E1CBB2EA}"/>
                </a:ext>
              </a:extLst>
            </p:cNvPr>
            <p:cNvGrpSpPr/>
            <p:nvPr/>
          </p:nvGrpSpPr>
          <p:grpSpPr>
            <a:xfrm>
              <a:off x="2524453" y="2935810"/>
              <a:ext cx="1081182" cy="885125"/>
              <a:chOff x="2449037" y="2935810"/>
              <a:chExt cx="1081182" cy="885125"/>
            </a:xfrm>
          </p:grpSpPr>
          <p:sp>
            <p:nvSpPr>
              <p:cNvPr id="68" name="Rectangle 26">
                <a:extLst>
                  <a:ext uri="{FF2B5EF4-FFF2-40B4-BE49-F238E27FC236}">
                    <a16:creationId xmlns:a16="http://schemas.microsoft.com/office/drawing/2014/main" id="{9512CBA0-8B16-9840-BBFF-8D7CCD9BF773}"/>
                  </a:ext>
                </a:extLst>
              </p:cNvPr>
              <p:cNvSpPr>
                <a:spLocks noChangeArrowheads="1"/>
              </p:cNvSpPr>
              <p:nvPr/>
            </p:nvSpPr>
            <p:spPr bwMode="auto">
              <a:xfrm>
                <a:off x="2449037" y="3378453"/>
                <a:ext cx="540000" cy="442482"/>
              </a:xfrm>
              <a:prstGeom prst="rect">
                <a:avLst/>
              </a:prstGeom>
              <a:solidFill>
                <a:srgbClr val="CCFFCC"/>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69" name="Rectangle 26">
                <a:extLst>
                  <a:ext uri="{FF2B5EF4-FFF2-40B4-BE49-F238E27FC236}">
                    <a16:creationId xmlns:a16="http://schemas.microsoft.com/office/drawing/2014/main" id="{7E45D154-216F-144B-A2D2-35766E5A5FCC}"/>
                  </a:ext>
                </a:extLst>
              </p:cNvPr>
              <p:cNvSpPr>
                <a:spLocks noChangeArrowheads="1"/>
              </p:cNvSpPr>
              <p:nvPr/>
            </p:nvSpPr>
            <p:spPr bwMode="auto">
              <a:xfrm>
                <a:off x="2990219"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70" name="Rectangle 26">
                <a:extLst>
                  <a:ext uri="{FF2B5EF4-FFF2-40B4-BE49-F238E27FC236}">
                    <a16:creationId xmlns:a16="http://schemas.microsoft.com/office/drawing/2014/main" id="{19155DFC-5F3B-894C-9C46-75EF78B477D7}"/>
                  </a:ext>
                </a:extLst>
              </p:cNvPr>
              <p:cNvSpPr>
                <a:spLocks noChangeArrowheads="1"/>
              </p:cNvSpPr>
              <p:nvPr/>
            </p:nvSpPr>
            <p:spPr bwMode="auto">
              <a:xfrm>
                <a:off x="2990219" y="3378453"/>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71" name="Rectangle 26">
                <a:extLst>
                  <a:ext uri="{FF2B5EF4-FFF2-40B4-BE49-F238E27FC236}">
                    <a16:creationId xmlns:a16="http://schemas.microsoft.com/office/drawing/2014/main" id="{50EB4A55-63E3-2F4B-BAA3-E724ADBA2DC0}"/>
                  </a:ext>
                </a:extLst>
              </p:cNvPr>
              <p:cNvSpPr>
                <a:spLocks noChangeArrowheads="1"/>
              </p:cNvSpPr>
              <p:nvPr/>
            </p:nvSpPr>
            <p:spPr bwMode="auto">
              <a:xfrm>
                <a:off x="2449037"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grpSp>
        <p:sp>
          <p:nvSpPr>
            <p:cNvPr id="65" name="Rectangle 11">
              <a:extLst>
                <a:ext uri="{FF2B5EF4-FFF2-40B4-BE49-F238E27FC236}">
                  <a16:creationId xmlns:a16="http://schemas.microsoft.com/office/drawing/2014/main" id="{AD8668BC-ECAC-5949-A6AF-C97FDCD59084}"/>
                </a:ext>
              </a:extLst>
            </p:cNvPr>
            <p:cNvSpPr>
              <a:spLocks noChangeArrowheads="1"/>
            </p:cNvSpPr>
            <p:nvPr/>
          </p:nvSpPr>
          <p:spPr bwMode="auto">
            <a:xfrm>
              <a:off x="2788405" y="252386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125</a:t>
              </a:r>
              <a:endParaRPr lang="zh-CN" altLang="en-US" sz="1400" dirty="0">
                <a:latin typeface="+mn-lt"/>
                <a:ea typeface="SimHei" panose="02010609060101010101" pitchFamily="49" charset="-122"/>
              </a:endParaRPr>
            </a:p>
          </p:txBody>
        </p:sp>
        <p:sp>
          <p:nvSpPr>
            <p:cNvPr id="66" name="Rectangle 11">
              <a:extLst>
                <a:ext uri="{FF2B5EF4-FFF2-40B4-BE49-F238E27FC236}">
                  <a16:creationId xmlns:a16="http://schemas.microsoft.com/office/drawing/2014/main" id="{6322BD2A-DC5A-1E48-924E-85CF2BC5F1CF}"/>
                </a:ext>
              </a:extLst>
            </p:cNvPr>
            <p:cNvSpPr>
              <a:spLocks noChangeArrowheads="1"/>
            </p:cNvSpPr>
            <p:nvPr/>
          </p:nvSpPr>
          <p:spPr bwMode="auto">
            <a:xfrm>
              <a:off x="2788405" y="211455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3</a:t>
              </a:r>
              <a:endParaRPr lang="zh-CN" altLang="en-US" sz="1400" dirty="0">
                <a:latin typeface="+mn-lt"/>
                <a:ea typeface="SimHei" panose="02010609060101010101" pitchFamily="49" charset="-122"/>
              </a:endParaRPr>
            </a:p>
          </p:txBody>
        </p:sp>
        <p:sp>
          <p:nvSpPr>
            <p:cNvPr id="67" name="Rectangle 11">
              <a:extLst>
                <a:ext uri="{FF2B5EF4-FFF2-40B4-BE49-F238E27FC236}">
                  <a16:creationId xmlns:a16="http://schemas.microsoft.com/office/drawing/2014/main" id="{C269405E-89AE-354E-B584-465F108C002C}"/>
                </a:ext>
              </a:extLst>
            </p:cNvPr>
            <p:cNvSpPr>
              <a:spLocks noChangeArrowheads="1"/>
            </p:cNvSpPr>
            <p:nvPr/>
          </p:nvSpPr>
          <p:spPr bwMode="auto">
            <a:xfrm>
              <a:off x="2525005" y="4328698"/>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命中</a:t>
              </a:r>
              <a:endParaRPr lang="zh-CN" altLang="en-US" sz="1400" dirty="0">
                <a:latin typeface="+mn-lt"/>
                <a:ea typeface="SimHei" panose="02010609060101010101" pitchFamily="49" charset="-122"/>
              </a:endParaRPr>
            </a:p>
          </p:txBody>
        </p:sp>
      </p:grpSp>
      <p:grpSp>
        <p:nvGrpSpPr>
          <p:cNvPr id="72" name="组合 71">
            <a:extLst>
              <a:ext uri="{FF2B5EF4-FFF2-40B4-BE49-F238E27FC236}">
                <a16:creationId xmlns:a16="http://schemas.microsoft.com/office/drawing/2014/main" id="{B7F6F9D5-09AF-124E-82BF-8B4395DC05D8}"/>
              </a:ext>
            </a:extLst>
          </p:cNvPr>
          <p:cNvGrpSpPr/>
          <p:nvPr/>
        </p:nvGrpSpPr>
        <p:grpSpPr>
          <a:xfrm>
            <a:off x="6946932" y="2114553"/>
            <a:ext cx="1081182" cy="2537310"/>
            <a:chOff x="2524453" y="2114553"/>
            <a:chExt cx="1081182" cy="2537310"/>
          </a:xfrm>
        </p:grpSpPr>
        <p:grpSp>
          <p:nvGrpSpPr>
            <p:cNvPr id="74" name="组合 73">
              <a:extLst>
                <a:ext uri="{FF2B5EF4-FFF2-40B4-BE49-F238E27FC236}">
                  <a16:creationId xmlns:a16="http://schemas.microsoft.com/office/drawing/2014/main" id="{67504AF5-AAAA-F54C-8F30-58F5F31813FA}"/>
                </a:ext>
              </a:extLst>
            </p:cNvPr>
            <p:cNvGrpSpPr/>
            <p:nvPr/>
          </p:nvGrpSpPr>
          <p:grpSpPr>
            <a:xfrm>
              <a:off x="2524453" y="2935810"/>
              <a:ext cx="1081182" cy="885125"/>
              <a:chOff x="2449037" y="2935810"/>
              <a:chExt cx="1081182" cy="885125"/>
            </a:xfrm>
          </p:grpSpPr>
          <p:sp>
            <p:nvSpPr>
              <p:cNvPr id="78" name="Rectangle 26">
                <a:extLst>
                  <a:ext uri="{FF2B5EF4-FFF2-40B4-BE49-F238E27FC236}">
                    <a16:creationId xmlns:a16="http://schemas.microsoft.com/office/drawing/2014/main" id="{D0583B52-D8A4-F74E-920C-AD00A4A4F2CF}"/>
                  </a:ext>
                </a:extLst>
              </p:cNvPr>
              <p:cNvSpPr>
                <a:spLocks noChangeArrowheads="1"/>
              </p:cNvSpPr>
              <p:nvPr/>
            </p:nvSpPr>
            <p:spPr bwMode="auto">
              <a:xfrm>
                <a:off x="2449037" y="3378453"/>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125</a:t>
                </a:r>
                <a:endParaRPr lang="zh-CN" altLang="en-US" sz="1600" dirty="0">
                  <a:ea typeface="SimHei" panose="02010609060101010101" pitchFamily="49" charset="-122"/>
                </a:endParaRPr>
              </a:p>
            </p:txBody>
          </p:sp>
          <p:sp>
            <p:nvSpPr>
              <p:cNvPr id="79" name="Rectangle 26">
                <a:extLst>
                  <a:ext uri="{FF2B5EF4-FFF2-40B4-BE49-F238E27FC236}">
                    <a16:creationId xmlns:a16="http://schemas.microsoft.com/office/drawing/2014/main" id="{FE7B738E-B68E-9D43-9AF8-ECBB3C6368CE}"/>
                  </a:ext>
                </a:extLst>
              </p:cNvPr>
              <p:cNvSpPr>
                <a:spLocks noChangeArrowheads="1"/>
              </p:cNvSpPr>
              <p:nvPr/>
            </p:nvSpPr>
            <p:spPr bwMode="auto">
              <a:xfrm>
                <a:off x="2990219"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sp>
            <p:nvSpPr>
              <p:cNvPr id="80" name="Rectangle 26">
                <a:extLst>
                  <a:ext uri="{FF2B5EF4-FFF2-40B4-BE49-F238E27FC236}">
                    <a16:creationId xmlns:a16="http://schemas.microsoft.com/office/drawing/2014/main" id="{1DC7585A-FE38-8144-BA3F-CBA3BCBCCF77}"/>
                  </a:ext>
                </a:extLst>
              </p:cNvPr>
              <p:cNvSpPr>
                <a:spLocks noChangeArrowheads="1"/>
              </p:cNvSpPr>
              <p:nvPr/>
            </p:nvSpPr>
            <p:spPr bwMode="auto">
              <a:xfrm>
                <a:off x="2990219" y="3378453"/>
                <a:ext cx="540000" cy="442482"/>
              </a:xfrm>
              <a:prstGeom prst="rect">
                <a:avLst/>
              </a:prstGeom>
              <a:solidFill>
                <a:srgbClr val="CCFFCC"/>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129</a:t>
                </a:r>
                <a:endParaRPr lang="zh-CN" altLang="en-US" sz="1600" dirty="0">
                  <a:ea typeface="SimHei" panose="02010609060101010101" pitchFamily="49" charset="-122"/>
                </a:endParaRPr>
              </a:p>
            </p:txBody>
          </p:sp>
          <p:sp>
            <p:nvSpPr>
              <p:cNvPr id="81" name="Rectangle 26">
                <a:extLst>
                  <a:ext uri="{FF2B5EF4-FFF2-40B4-BE49-F238E27FC236}">
                    <a16:creationId xmlns:a16="http://schemas.microsoft.com/office/drawing/2014/main" id="{8C2777D2-08FA-704E-92D3-69B7A2A01DE0}"/>
                  </a:ext>
                </a:extLst>
              </p:cNvPr>
              <p:cNvSpPr>
                <a:spLocks noChangeArrowheads="1"/>
              </p:cNvSpPr>
              <p:nvPr/>
            </p:nvSpPr>
            <p:spPr bwMode="auto">
              <a:xfrm>
                <a:off x="2449037" y="2935810"/>
                <a:ext cx="540000" cy="442482"/>
              </a:xfrm>
              <a:prstGeom prst="rect">
                <a:avLst/>
              </a:prstGeom>
              <a:solidFill>
                <a:schemeClr val="bg1"/>
              </a:solidFill>
              <a:ln w="17463">
                <a:solidFill>
                  <a:srgbClr val="000000"/>
                </a:solidFill>
                <a:miter lim="800000"/>
                <a:headEnd/>
                <a:tailEnd/>
              </a:ln>
            </p:spPr>
            <p:txBody>
              <a:bodyPr anchor="ctr" anchorCtr="0"/>
              <a:lstStyle/>
              <a:p>
                <a:pPr algn="ctr"/>
                <a:r>
                  <a:rPr lang="en-US" altLang="zh-CN" sz="1600" dirty="0">
                    <a:ea typeface="SimHei" panose="02010609060101010101" pitchFamily="49" charset="-122"/>
                  </a:rPr>
                  <a:t>-</a:t>
                </a:r>
                <a:endParaRPr lang="zh-CN" altLang="en-US" sz="1600" dirty="0">
                  <a:ea typeface="SimHei" panose="02010609060101010101" pitchFamily="49" charset="-122"/>
                </a:endParaRPr>
              </a:p>
            </p:txBody>
          </p:sp>
        </p:grpSp>
        <p:sp>
          <p:nvSpPr>
            <p:cNvPr id="75" name="Rectangle 11">
              <a:extLst>
                <a:ext uri="{FF2B5EF4-FFF2-40B4-BE49-F238E27FC236}">
                  <a16:creationId xmlns:a16="http://schemas.microsoft.com/office/drawing/2014/main" id="{BC369B1A-6D1B-564D-B10D-40B60DAB67C6}"/>
                </a:ext>
              </a:extLst>
            </p:cNvPr>
            <p:cNvSpPr>
              <a:spLocks noChangeArrowheads="1"/>
            </p:cNvSpPr>
            <p:nvPr/>
          </p:nvSpPr>
          <p:spPr bwMode="auto">
            <a:xfrm>
              <a:off x="2788405" y="2523866"/>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129</a:t>
              </a:r>
              <a:endParaRPr lang="zh-CN" altLang="en-US" sz="1400" dirty="0">
                <a:latin typeface="+mn-lt"/>
                <a:ea typeface="SimHei" panose="02010609060101010101" pitchFamily="49" charset="-122"/>
              </a:endParaRPr>
            </a:p>
          </p:txBody>
        </p:sp>
        <p:sp>
          <p:nvSpPr>
            <p:cNvPr id="76" name="Rectangle 11">
              <a:extLst>
                <a:ext uri="{FF2B5EF4-FFF2-40B4-BE49-F238E27FC236}">
                  <a16:creationId xmlns:a16="http://schemas.microsoft.com/office/drawing/2014/main" id="{3C8D2155-21C0-C444-BEFE-0710BFCD5D9C}"/>
                </a:ext>
              </a:extLst>
            </p:cNvPr>
            <p:cNvSpPr>
              <a:spLocks noChangeArrowheads="1"/>
            </p:cNvSpPr>
            <p:nvPr/>
          </p:nvSpPr>
          <p:spPr bwMode="auto">
            <a:xfrm>
              <a:off x="2788405" y="2114553"/>
              <a:ext cx="540001"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en-US" altLang="zh-CN" sz="2100" dirty="0">
                  <a:latin typeface="+mn-lt"/>
                  <a:ea typeface="SimHei" panose="02010609060101010101" pitchFamily="49" charset="-122"/>
                </a:rPr>
                <a:t>4</a:t>
              </a:r>
              <a:endParaRPr lang="zh-CN" altLang="en-US" sz="1400" dirty="0">
                <a:latin typeface="+mn-lt"/>
                <a:ea typeface="SimHei" panose="02010609060101010101" pitchFamily="49" charset="-122"/>
              </a:endParaRPr>
            </a:p>
          </p:txBody>
        </p:sp>
        <p:sp>
          <p:nvSpPr>
            <p:cNvPr id="77" name="Rectangle 11">
              <a:extLst>
                <a:ext uri="{FF2B5EF4-FFF2-40B4-BE49-F238E27FC236}">
                  <a16:creationId xmlns:a16="http://schemas.microsoft.com/office/drawing/2014/main" id="{7BF86391-A1B4-DA43-B7BD-811D083F2C8C}"/>
                </a:ext>
              </a:extLst>
            </p:cNvPr>
            <p:cNvSpPr>
              <a:spLocks noChangeArrowheads="1"/>
            </p:cNvSpPr>
            <p:nvPr/>
          </p:nvSpPr>
          <p:spPr bwMode="auto">
            <a:xfrm>
              <a:off x="2525005" y="4328698"/>
              <a:ext cx="1066800"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lgn="ctr" defTabSz="1009650"/>
              <a:r>
                <a:rPr lang="zh-CN" altLang="en-US" sz="2100" dirty="0">
                  <a:latin typeface="+mn-lt"/>
                  <a:ea typeface="SimHei" panose="02010609060101010101" pitchFamily="49" charset="-122"/>
                </a:rPr>
                <a:t>命中</a:t>
              </a:r>
              <a:endParaRPr lang="zh-CN" altLang="en-US" sz="1400" dirty="0">
                <a:latin typeface="+mn-lt"/>
                <a:ea typeface="SimHei" panose="02010609060101010101" pitchFamily="49" charset="-122"/>
              </a:endParaRPr>
            </a:p>
          </p:txBody>
        </p:sp>
      </p:grpSp>
      <p:sp>
        <p:nvSpPr>
          <p:cNvPr id="82" name="矩形 81">
            <a:extLst>
              <a:ext uri="{FF2B5EF4-FFF2-40B4-BE49-F238E27FC236}">
                <a16:creationId xmlns:a16="http://schemas.microsoft.com/office/drawing/2014/main" id="{D92D01D5-16AC-8242-9866-68664CF6C7A0}"/>
              </a:ext>
            </a:extLst>
          </p:cNvPr>
          <p:cNvSpPr/>
          <p:nvPr/>
        </p:nvSpPr>
        <p:spPr>
          <a:xfrm>
            <a:off x="5577924" y="1376826"/>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0b0011</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1110</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1000</a:t>
            </a:r>
            <a:endParaRPr lang="zh-CN" altLang="en-US" sz="2000" dirty="0">
              <a:solidFill>
                <a:srgbClr val="FF0000"/>
              </a:solidFill>
              <a:ea typeface="SimHei" panose="02010609060101010101" pitchFamily="49" charset="-122"/>
            </a:endParaRPr>
          </a:p>
        </p:txBody>
      </p:sp>
      <p:sp>
        <p:nvSpPr>
          <p:cNvPr id="87" name="矩形 86">
            <a:extLst>
              <a:ext uri="{FF2B5EF4-FFF2-40B4-BE49-F238E27FC236}">
                <a16:creationId xmlns:a16="http://schemas.microsoft.com/office/drawing/2014/main" id="{DB3FFAF7-1CD0-2049-A1BB-34CD2981A867}"/>
              </a:ext>
            </a:extLst>
          </p:cNvPr>
          <p:cNvSpPr/>
          <p:nvPr/>
        </p:nvSpPr>
        <p:spPr>
          <a:xfrm>
            <a:off x="4280925" y="1359962"/>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1000</a:t>
            </a:r>
            <a:endParaRPr lang="zh-CN" altLang="en-US" sz="2000" dirty="0">
              <a:solidFill>
                <a:srgbClr val="FF0000"/>
              </a:solidFill>
              <a:ea typeface="SimHei" panose="02010609060101010101" pitchFamily="49" charset="-122"/>
            </a:endParaRPr>
          </a:p>
        </p:txBody>
      </p:sp>
      <p:cxnSp>
        <p:nvCxnSpPr>
          <p:cNvPr id="88" name="直接箭头连接符 47">
            <a:extLst>
              <a:ext uri="{FF2B5EF4-FFF2-40B4-BE49-F238E27FC236}">
                <a16:creationId xmlns:a16="http://schemas.microsoft.com/office/drawing/2014/main" id="{A8E0E6F5-042B-5949-8912-690ABD5B6D35}"/>
              </a:ext>
            </a:extLst>
          </p:cNvPr>
          <p:cNvCxnSpPr/>
          <p:nvPr/>
        </p:nvCxnSpPr>
        <p:spPr bwMode="auto">
          <a:xfrm flipV="1">
            <a:off x="5124817" y="1576881"/>
            <a:ext cx="351986"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9" name="矩形 88">
            <a:extLst>
              <a:ext uri="{FF2B5EF4-FFF2-40B4-BE49-F238E27FC236}">
                <a16:creationId xmlns:a16="http://schemas.microsoft.com/office/drawing/2014/main" id="{7CF8F08E-84A0-9648-9C5D-EB74F0BA5EB8}"/>
              </a:ext>
            </a:extLst>
          </p:cNvPr>
          <p:cNvSpPr/>
          <p:nvPr/>
        </p:nvSpPr>
        <p:spPr>
          <a:xfrm>
            <a:off x="5527735" y="1729528"/>
            <a:ext cx="2567006"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0b0100</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0000</a:t>
            </a:r>
            <a:r>
              <a:rPr lang="zh-CN" altLang="en-US" sz="2000" dirty="0">
                <a:solidFill>
                  <a:srgbClr val="FF0000"/>
                </a:solidFill>
                <a:ea typeface="SimHei" panose="02010609060101010101" pitchFamily="49" charset="-122"/>
              </a:rPr>
              <a:t> </a:t>
            </a:r>
            <a:r>
              <a:rPr lang="en-US" altLang="zh-CN" sz="2000" dirty="0">
                <a:solidFill>
                  <a:srgbClr val="FF0000"/>
                </a:solidFill>
                <a:ea typeface="SimHei" panose="02010609060101010101" pitchFamily="49" charset="-122"/>
              </a:rPr>
              <a:t>1000</a:t>
            </a:r>
            <a:endParaRPr lang="zh-CN" altLang="en-US" sz="2000" dirty="0">
              <a:solidFill>
                <a:srgbClr val="FF0000"/>
              </a:solidFill>
              <a:ea typeface="SimHei" panose="02010609060101010101" pitchFamily="49" charset="-122"/>
            </a:endParaRPr>
          </a:p>
        </p:txBody>
      </p:sp>
      <p:sp>
        <p:nvSpPr>
          <p:cNvPr id="90" name="矩形 89">
            <a:extLst>
              <a:ext uri="{FF2B5EF4-FFF2-40B4-BE49-F238E27FC236}">
                <a16:creationId xmlns:a16="http://schemas.microsoft.com/office/drawing/2014/main" id="{84C2E72B-DBC1-5B47-B629-834C51A11316}"/>
              </a:ext>
            </a:extLst>
          </p:cNvPr>
          <p:cNvSpPr/>
          <p:nvPr/>
        </p:nvSpPr>
        <p:spPr>
          <a:xfrm>
            <a:off x="4280925" y="1712664"/>
            <a:ext cx="939720" cy="400110"/>
          </a:xfrm>
          <a:prstGeom prst="rect">
            <a:avLst/>
          </a:prstGeom>
          <a:noFill/>
        </p:spPr>
        <p:txBody>
          <a:bodyPr wrap="square">
            <a:spAutoFit/>
          </a:bodyPr>
          <a:lstStyle/>
          <a:p>
            <a:r>
              <a:rPr lang="en-US" altLang="zh-CN" sz="2000" dirty="0">
                <a:solidFill>
                  <a:srgbClr val="FF0000"/>
                </a:solidFill>
                <a:ea typeface="SimHei" panose="02010609060101010101" pitchFamily="49" charset="-122"/>
              </a:rPr>
              <a:t>1032</a:t>
            </a:r>
            <a:endParaRPr lang="zh-CN" altLang="en-US" sz="2000" dirty="0">
              <a:solidFill>
                <a:srgbClr val="FF0000"/>
              </a:solidFill>
              <a:ea typeface="SimHei" panose="02010609060101010101" pitchFamily="49" charset="-122"/>
            </a:endParaRPr>
          </a:p>
        </p:txBody>
      </p:sp>
      <p:cxnSp>
        <p:nvCxnSpPr>
          <p:cNvPr id="91" name="直接箭头连接符 47">
            <a:extLst>
              <a:ext uri="{FF2B5EF4-FFF2-40B4-BE49-F238E27FC236}">
                <a16:creationId xmlns:a16="http://schemas.microsoft.com/office/drawing/2014/main" id="{AE2E82A3-444D-BF40-8656-26C4C12DC11B}"/>
              </a:ext>
            </a:extLst>
          </p:cNvPr>
          <p:cNvCxnSpPr/>
          <p:nvPr/>
        </p:nvCxnSpPr>
        <p:spPr bwMode="auto">
          <a:xfrm flipV="1">
            <a:off x="5124817" y="1929583"/>
            <a:ext cx="351986" cy="3152"/>
          </a:xfrm>
          <a:prstGeom prst="straightConnector1">
            <a:avLst/>
          </a:prstGeom>
          <a:solidFill>
            <a:schemeClr val="accent1"/>
          </a:solidFill>
          <a:ln w="25400" cap="rnd" cmpd="sng" algn="ctr">
            <a:solidFill>
              <a:srgbClr val="0070C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 name="矩形 4">
            <a:extLst>
              <a:ext uri="{FF2B5EF4-FFF2-40B4-BE49-F238E27FC236}">
                <a16:creationId xmlns:a16="http://schemas.microsoft.com/office/drawing/2014/main" id="{012C6F3F-0E18-F042-85C5-1EEC7CAE2197}"/>
              </a:ext>
            </a:extLst>
          </p:cNvPr>
          <p:cNvSpPr/>
          <p:nvPr/>
        </p:nvSpPr>
        <p:spPr>
          <a:xfrm>
            <a:off x="7143501" y="1376826"/>
            <a:ext cx="177468" cy="7528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箭头连接符 11">
            <a:extLst>
              <a:ext uri="{FF2B5EF4-FFF2-40B4-BE49-F238E27FC236}">
                <a16:creationId xmlns:a16="http://schemas.microsoft.com/office/drawing/2014/main" id="{E6D1A1FF-D4C0-2940-8B67-8B518F4669AE}"/>
              </a:ext>
            </a:extLst>
          </p:cNvPr>
          <p:cNvCxnSpPr>
            <a:stCxn id="5" idx="2"/>
          </p:cNvCxnSpPr>
          <p:nvPr/>
        </p:nvCxnSpPr>
        <p:spPr>
          <a:xfrm flipV="1">
            <a:off x="7232235" y="2111275"/>
            <a:ext cx="823010" cy="183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BCD2E827-4F2F-934A-A954-E0B65C9C8D05}"/>
              </a:ext>
            </a:extLst>
          </p:cNvPr>
          <p:cNvSpPr txBox="1"/>
          <p:nvPr/>
        </p:nvSpPr>
        <p:spPr>
          <a:xfrm>
            <a:off x="7943979" y="1963127"/>
            <a:ext cx="712341" cy="307777"/>
          </a:xfrm>
          <a:prstGeom prst="rect">
            <a:avLst/>
          </a:prstGeom>
          <a:noFill/>
        </p:spPr>
        <p:txBody>
          <a:bodyPr wrap="square" rtlCol="0">
            <a:spAutoFit/>
          </a:bodyPr>
          <a:lstStyle/>
          <a:p>
            <a:pPr algn="ctr"/>
            <a:r>
              <a:rPr lang="zh-CN" altLang="en-US" sz="1400" dirty="0">
                <a:ea typeface="SimHei" panose="02010609060101010101" pitchFamily="49" charset="-122"/>
              </a:rPr>
              <a:t>组号</a:t>
            </a:r>
          </a:p>
        </p:txBody>
      </p:sp>
    </p:spTree>
    <p:extLst>
      <p:ext uri="{BB962C8B-B14F-4D97-AF65-F5344CB8AC3E}">
        <p14:creationId xmlns:p14="http://schemas.microsoft.com/office/powerpoint/2010/main" val="3479013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59143-A02A-4166-9B46-6435F5E75761}"/>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587F2CCD-FAF3-4270-B3C2-C4DB30E67EA4}"/>
              </a:ext>
            </a:extLst>
          </p:cNvPr>
          <p:cNvSpPr>
            <a:spLocks noGrp="1"/>
          </p:cNvSpPr>
          <p:nvPr>
            <p:ph idx="1"/>
          </p:nvPr>
        </p:nvSpPr>
        <p:spPr>
          <a:xfrm>
            <a:off x="457200" y="1551432"/>
            <a:ext cx="8229600" cy="4952885"/>
          </a:xfrm>
        </p:spPr>
        <p:txBody>
          <a:bodyPr/>
          <a:lstStyle/>
          <a:p>
            <a:r>
              <a:rPr lang="zh-CN" altLang="en-US" dirty="0">
                <a:solidFill>
                  <a:srgbClr val="0432FF"/>
                </a:solidFill>
              </a:rPr>
              <a:t>存储系统基础：半导体存储器</a:t>
            </a:r>
            <a:endParaRPr lang="en-US" altLang="zh-CN" dirty="0">
              <a:solidFill>
                <a:srgbClr val="0432FF"/>
              </a:solidFill>
            </a:endParaRPr>
          </a:p>
          <a:p>
            <a:pPr lvl="1"/>
            <a:r>
              <a:rPr lang="en-US" altLang="zh-CN" sz="2400" dirty="0"/>
              <a:t>SRAM</a:t>
            </a:r>
            <a:r>
              <a:rPr lang="zh-CN" altLang="en-US" sz="2400" dirty="0"/>
              <a:t>、</a:t>
            </a:r>
            <a:r>
              <a:rPr lang="en-US" altLang="zh-CN" sz="2400" dirty="0"/>
              <a:t>DRAM</a:t>
            </a:r>
            <a:r>
              <a:rPr lang="zh-CN" altLang="en-US" sz="2400" dirty="0"/>
              <a:t>的基本电路、读写流程及各自特点</a:t>
            </a:r>
            <a:endParaRPr lang="en-US" altLang="zh-CN" sz="2400" dirty="0"/>
          </a:p>
          <a:p>
            <a:pPr lvl="1"/>
            <a:r>
              <a:rPr lang="zh-CN" altLang="en-US" sz="2400" dirty="0"/>
              <a:t>存储器的三个基本参数</a:t>
            </a:r>
            <a:endParaRPr lang="en-US" altLang="zh-CN" sz="2400" dirty="0"/>
          </a:p>
          <a:p>
            <a:pPr lvl="1"/>
            <a:endParaRPr lang="en-US" altLang="zh-CN" sz="2400" dirty="0"/>
          </a:p>
          <a:p>
            <a:r>
              <a:rPr lang="zh-CN" altLang="en-US" dirty="0">
                <a:solidFill>
                  <a:srgbClr val="0432FF"/>
                </a:solidFill>
              </a:rPr>
              <a:t>存储系统的设计理论</a:t>
            </a:r>
            <a:endParaRPr lang="en-US" altLang="zh-CN" dirty="0">
              <a:solidFill>
                <a:srgbClr val="0432FF"/>
              </a:solidFill>
            </a:endParaRPr>
          </a:p>
          <a:p>
            <a:pPr lvl="1"/>
            <a:r>
              <a:rPr lang="zh-CN" altLang="en-US" sz="2400" dirty="0"/>
              <a:t>局部性原理：时间局部性、空间局部性</a:t>
            </a:r>
            <a:endParaRPr lang="en-US" altLang="zh-CN" sz="2400" dirty="0"/>
          </a:p>
          <a:p>
            <a:pPr lvl="1"/>
            <a:r>
              <a:rPr lang="zh-CN" altLang="en-US" sz="2400" dirty="0"/>
              <a:t>存储器层次结构及其性能指标</a:t>
            </a:r>
            <a:endParaRPr lang="en-US" altLang="zh-CN" sz="2400" dirty="0"/>
          </a:p>
          <a:p>
            <a:pPr lvl="2"/>
            <a:r>
              <a:rPr lang="zh-CN" altLang="en-US" sz="2000" dirty="0"/>
              <a:t>缓存命中、缓存缺失、命中率、平均访问时间</a:t>
            </a:r>
            <a:endParaRPr lang="en-US" altLang="zh-CN" sz="2000" dirty="0"/>
          </a:p>
        </p:txBody>
      </p:sp>
      <p:sp>
        <p:nvSpPr>
          <p:cNvPr id="5" name="Slide Number Placeholder 4">
            <a:extLst>
              <a:ext uri="{FF2B5EF4-FFF2-40B4-BE49-F238E27FC236}">
                <a16:creationId xmlns:a16="http://schemas.microsoft.com/office/drawing/2014/main" id="{1AD75CA3-D753-C240-B995-BC67CCE6DAE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mc:AlternateContent xmlns:mc="http://schemas.openxmlformats.org/markup-compatibility/2006">
        <mc:Choice xmlns:p14="http://schemas.microsoft.com/office/powerpoint/2010/main" Requires="p14">
          <p:contentPart p14:bwMode="auto" r:id="rId3">
            <p14:nvContentPartPr>
              <p14:cNvPr id="4" name="墨迹 3">
                <a:extLst>
                  <a:ext uri="{FF2B5EF4-FFF2-40B4-BE49-F238E27FC236}">
                    <a16:creationId xmlns:a16="http://schemas.microsoft.com/office/drawing/2014/main" id="{60E29FA8-6FDF-25AB-5DC1-E4AC804B965D}"/>
                  </a:ext>
                </a:extLst>
              </p14:cNvPr>
              <p14:cNvContentPartPr/>
              <p14:nvPr/>
            </p14:nvContentPartPr>
            <p14:xfrm>
              <a:off x="1823040" y="2616120"/>
              <a:ext cx="3415680" cy="2756160"/>
            </p14:xfrm>
          </p:contentPart>
        </mc:Choice>
        <mc:Fallback>
          <p:pic>
            <p:nvPicPr>
              <p:cNvPr id="4" name="墨迹 3">
                <a:extLst>
                  <a:ext uri="{FF2B5EF4-FFF2-40B4-BE49-F238E27FC236}">
                    <a16:creationId xmlns:a16="http://schemas.microsoft.com/office/drawing/2014/main" id="{60E29FA8-6FDF-25AB-5DC1-E4AC804B965D}"/>
                  </a:ext>
                </a:extLst>
              </p:cNvPr>
              <p:cNvPicPr/>
              <p:nvPr/>
            </p:nvPicPr>
            <p:blipFill>
              <a:blip r:embed="rId4"/>
              <a:stretch>
                <a:fillRect/>
              </a:stretch>
            </p:blipFill>
            <p:spPr>
              <a:xfrm>
                <a:off x="1813680" y="2606760"/>
                <a:ext cx="3434400" cy="2774880"/>
              </a:xfrm>
              <a:prstGeom prst="rect">
                <a:avLst/>
              </a:prstGeom>
            </p:spPr>
          </p:pic>
        </mc:Fallback>
      </mc:AlternateContent>
    </p:spTree>
    <p:extLst>
      <p:ext uri="{BB962C8B-B14F-4D97-AF65-F5344CB8AC3E}">
        <p14:creationId xmlns:p14="http://schemas.microsoft.com/office/powerpoint/2010/main" val="6268276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59143-A02A-4166-9B46-6435F5E75761}"/>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587F2CCD-FAF3-4270-B3C2-C4DB30E67EA4}"/>
              </a:ext>
            </a:extLst>
          </p:cNvPr>
          <p:cNvSpPr>
            <a:spLocks noGrp="1"/>
          </p:cNvSpPr>
          <p:nvPr>
            <p:ph idx="1"/>
          </p:nvPr>
        </p:nvSpPr>
        <p:spPr>
          <a:xfrm>
            <a:off x="457200" y="1551432"/>
            <a:ext cx="8229600" cy="4952885"/>
          </a:xfrm>
        </p:spPr>
        <p:txBody>
          <a:bodyPr/>
          <a:lstStyle/>
          <a:p>
            <a:r>
              <a:rPr lang="zh-CN" altLang="en-US" sz="2800" dirty="0">
                <a:solidFill>
                  <a:srgbClr val="0432FF"/>
                </a:solidFill>
              </a:rPr>
              <a:t>缓存技术基础：</a:t>
            </a:r>
            <a:r>
              <a:rPr lang="zh-CN" altLang="en-US" sz="2800" dirty="0"/>
              <a:t>三种主流的</a:t>
            </a:r>
            <a:r>
              <a:rPr lang="en-US" altLang="zh-CN" sz="2800" dirty="0"/>
              <a:t>Cache</a:t>
            </a:r>
            <a:r>
              <a:rPr lang="zh-CN" altLang="en-US" sz="2800" dirty="0"/>
              <a:t>地址映像</a:t>
            </a:r>
            <a:endParaRPr lang="en-US" altLang="zh-CN" sz="2800" dirty="0"/>
          </a:p>
          <a:p>
            <a:pPr lvl="1"/>
            <a:r>
              <a:rPr lang="zh-CN" altLang="en-US" sz="2200" dirty="0">
                <a:solidFill>
                  <a:srgbClr val="0432FF"/>
                </a:solidFill>
              </a:rPr>
              <a:t>主存地址：</a:t>
            </a:r>
            <a:endParaRPr lang="en-US" altLang="zh-CN" sz="2200" dirty="0">
              <a:solidFill>
                <a:srgbClr val="0432FF"/>
              </a:solidFill>
            </a:endParaRPr>
          </a:p>
          <a:p>
            <a:pPr lvl="1"/>
            <a:r>
              <a:rPr lang="zh-CN" altLang="en-US" sz="2200" dirty="0">
                <a:solidFill>
                  <a:srgbClr val="0432FF"/>
                </a:solidFill>
              </a:rPr>
              <a:t>全相联映像</a:t>
            </a:r>
            <a:r>
              <a:rPr lang="en-US" altLang="zh-CN" sz="2200" dirty="0"/>
              <a:t>: </a:t>
            </a:r>
            <a:r>
              <a:rPr lang="zh-CN" altLang="en-US" sz="2200" b="0" dirty="0"/>
              <a:t>主存块可以放在</a:t>
            </a:r>
            <a:r>
              <a:rPr lang="en-US" altLang="zh-CN" sz="2200" b="0" dirty="0"/>
              <a:t>Cache</a:t>
            </a:r>
            <a:r>
              <a:rPr lang="zh-CN" altLang="en-US" sz="2200" b="0" dirty="0"/>
              <a:t>的任意行中</a:t>
            </a:r>
            <a:endParaRPr lang="en-US" altLang="zh-CN" sz="2200" b="0" dirty="0"/>
          </a:p>
          <a:p>
            <a:pPr lvl="1"/>
            <a:endParaRPr lang="en-US" altLang="zh-CN" sz="2200" dirty="0"/>
          </a:p>
          <a:p>
            <a:pPr lvl="1"/>
            <a:r>
              <a:rPr lang="zh-CN" altLang="en-US" sz="2200" dirty="0">
                <a:solidFill>
                  <a:srgbClr val="0432FF"/>
                </a:solidFill>
              </a:rPr>
              <a:t>直接映像</a:t>
            </a:r>
            <a:r>
              <a:rPr lang="en-US" altLang="zh-CN" sz="2200" dirty="0"/>
              <a:t>: </a:t>
            </a:r>
            <a:r>
              <a:rPr lang="zh-CN" altLang="en-US" sz="2200" b="0" dirty="0"/>
              <a:t>主存块只可能在</a:t>
            </a:r>
            <a:r>
              <a:rPr lang="en-US" altLang="zh-CN" sz="2200" b="0" dirty="0"/>
              <a:t>Cache</a:t>
            </a:r>
            <a:r>
              <a:rPr lang="zh-CN" altLang="en-US" sz="2200" b="0" dirty="0"/>
              <a:t>的某个特定行中</a:t>
            </a:r>
            <a:endParaRPr lang="en-US" altLang="zh-CN" sz="2200" b="0" dirty="0"/>
          </a:p>
          <a:p>
            <a:pPr marL="1828800" lvl="4" indent="0">
              <a:buNone/>
            </a:pPr>
            <a:endParaRPr lang="en-US" altLang="zh-CN" sz="2200" dirty="0"/>
          </a:p>
          <a:p>
            <a:pPr lvl="1"/>
            <a:r>
              <a:rPr lang="zh-CN" altLang="en-US" sz="2200" dirty="0">
                <a:solidFill>
                  <a:srgbClr val="0432FF"/>
                </a:solidFill>
              </a:rPr>
              <a:t>组相联映像</a:t>
            </a:r>
            <a:r>
              <a:rPr lang="en-US" altLang="zh-CN" sz="2200" dirty="0"/>
              <a:t>: </a:t>
            </a:r>
            <a:r>
              <a:rPr lang="zh-CN" altLang="en-US" sz="2200" b="0" dirty="0"/>
              <a:t>主存块可以放在</a:t>
            </a:r>
            <a:r>
              <a:rPr lang="en-US" altLang="zh-CN" sz="2200" b="0" dirty="0"/>
              <a:t>Cache</a:t>
            </a:r>
            <a:r>
              <a:rPr lang="zh-CN" altLang="en-US" sz="2200" b="0" dirty="0"/>
              <a:t>中的</a:t>
            </a:r>
            <a:r>
              <a:rPr lang="en-US" altLang="zh-CN" sz="2200" b="0" dirty="0"/>
              <a:t>n</a:t>
            </a:r>
            <a:r>
              <a:rPr lang="zh-CN" altLang="en-US" sz="2200" b="0" dirty="0"/>
              <a:t>个特定行中，      </a:t>
            </a:r>
            <a:r>
              <a:rPr lang="en-US" altLang="zh-CN" sz="2200" b="0" dirty="0"/>
              <a:t>n</a:t>
            </a:r>
            <a:r>
              <a:rPr lang="zh-CN" altLang="en-US" sz="2200" b="0" dirty="0"/>
              <a:t>一般在</a:t>
            </a:r>
            <a:r>
              <a:rPr lang="en-US" altLang="zh-CN" sz="2200" b="0" dirty="0"/>
              <a:t>2</a:t>
            </a:r>
            <a:r>
              <a:rPr lang="zh-CN" altLang="en-US" sz="2200" b="0" dirty="0"/>
              <a:t>到</a:t>
            </a:r>
            <a:r>
              <a:rPr lang="en-US" altLang="zh-CN" sz="2200" b="0" dirty="0"/>
              <a:t>8</a:t>
            </a:r>
            <a:r>
              <a:rPr lang="zh-CN" altLang="en-US" sz="2200" b="0" dirty="0"/>
              <a:t>之间，将这</a:t>
            </a:r>
            <a:r>
              <a:rPr lang="en-US" altLang="zh-CN" sz="2200" b="0" dirty="0"/>
              <a:t>n</a:t>
            </a:r>
            <a:r>
              <a:rPr lang="zh-CN" altLang="en-US" sz="2200" b="0" dirty="0"/>
              <a:t>个行称为一个</a:t>
            </a:r>
            <a:r>
              <a:rPr lang="en-US" altLang="zh-CN" sz="2200" b="0" dirty="0"/>
              <a:t>Cache</a:t>
            </a:r>
            <a:r>
              <a:rPr lang="zh-CN" altLang="en-US" sz="2200" b="0" dirty="0"/>
              <a:t>组</a:t>
            </a:r>
            <a:endParaRPr lang="en-US" altLang="zh-CN" sz="2200" b="0" dirty="0"/>
          </a:p>
          <a:p>
            <a:pPr lvl="1"/>
            <a:endParaRPr lang="en-US" altLang="zh-CN" sz="2400" dirty="0"/>
          </a:p>
          <a:p>
            <a:pPr lvl="1"/>
            <a:r>
              <a:rPr kumimoji="1" lang="en-US" altLang="zh-CN" sz="2200" b="0" dirty="0">
                <a:solidFill>
                  <a:srgbClr val="0432FF"/>
                </a:solidFill>
              </a:rPr>
              <a:t>Cache</a:t>
            </a:r>
            <a:r>
              <a:rPr kumimoji="1" lang="zh-CN" altLang="en-US" sz="2200" b="0" dirty="0">
                <a:solidFill>
                  <a:srgbClr val="0432FF"/>
                </a:solidFill>
              </a:rPr>
              <a:t>行号及</a:t>
            </a:r>
            <a:r>
              <a:rPr kumimoji="1" lang="en-US" altLang="zh-CN" sz="2200" b="0" dirty="0">
                <a:solidFill>
                  <a:srgbClr val="0432FF"/>
                </a:solidFill>
              </a:rPr>
              <a:t>Cache</a:t>
            </a:r>
            <a:r>
              <a:rPr kumimoji="1" lang="zh-CN" altLang="en-US" sz="2200" b="0" dirty="0">
                <a:solidFill>
                  <a:srgbClr val="0432FF"/>
                </a:solidFill>
              </a:rPr>
              <a:t>组号</a:t>
            </a:r>
            <a:r>
              <a:rPr kumimoji="1" lang="zh-CN" altLang="en-US" sz="2200" b="0" dirty="0"/>
              <a:t>也称为</a:t>
            </a:r>
            <a:r>
              <a:rPr kumimoji="1" lang="zh-CN" altLang="en-US" sz="2200" b="0" dirty="0">
                <a:solidFill>
                  <a:srgbClr val="1A49EA"/>
                </a:solidFill>
              </a:rPr>
              <a:t>索引</a:t>
            </a:r>
            <a:r>
              <a:rPr kumimoji="1" lang="en-US" altLang="zh-CN" sz="2200" b="0" dirty="0">
                <a:solidFill>
                  <a:srgbClr val="1A49EA"/>
                </a:solidFill>
              </a:rPr>
              <a:t>Index</a:t>
            </a:r>
          </a:p>
          <a:p>
            <a:pPr lvl="1"/>
            <a:r>
              <a:rPr lang="zh-CN" altLang="en-US" sz="2200" b="0" dirty="0">
                <a:solidFill>
                  <a:srgbClr val="0432FF"/>
                </a:solidFill>
              </a:rPr>
              <a:t>将主存块放入</a:t>
            </a:r>
            <a:r>
              <a:rPr lang="en-US" altLang="zh-CN" sz="2200" b="0" dirty="0">
                <a:solidFill>
                  <a:srgbClr val="0432FF"/>
                </a:solidFill>
              </a:rPr>
              <a:t>Cache</a:t>
            </a:r>
            <a:r>
              <a:rPr lang="zh-CN" altLang="en-US" sz="2200" b="0" dirty="0">
                <a:solidFill>
                  <a:srgbClr val="0432FF"/>
                </a:solidFill>
              </a:rPr>
              <a:t>中的某行：</a:t>
            </a:r>
            <a:r>
              <a:rPr kumimoji="1" lang="zh-CN" altLang="en-US" sz="2200" b="0" dirty="0"/>
              <a:t>标签</a:t>
            </a:r>
            <a:r>
              <a:rPr kumimoji="1" lang="en-US" altLang="zh-CN" sz="2200" b="0" dirty="0"/>
              <a:t>(Tag)</a:t>
            </a:r>
            <a:r>
              <a:rPr kumimoji="1" lang="zh-CN" altLang="en-US" sz="2200" b="0" dirty="0"/>
              <a:t>和索引</a:t>
            </a:r>
            <a:r>
              <a:rPr kumimoji="1" lang="en-US" altLang="zh-CN" sz="2200" b="0" dirty="0"/>
              <a:t>(Index)</a:t>
            </a:r>
            <a:r>
              <a:rPr kumimoji="1" lang="zh-CN" altLang="en-US" sz="2200" b="0" dirty="0"/>
              <a:t>都是从主存块号中得到</a:t>
            </a:r>
            <a:endParaRPr lang="en-US" altLang="zh-CN" sz="2200" b="0" dirty="0"/>
          </a:p>
          <a:p>
            <a:pPr lvl="1"/>
            <a:endParaRPr kumimoji="1" lang="en-US" altLang="zh-CN" sz="2200" b="0" dirty="0">
              <a:solidFill>
                <a:srgbClr val="1A49EA"/>
              </a:solidFill>
            </a:endParaRPr>
          </a:p>
          <a:p>
            <a:pPr marL="457200" lvl="1" indent="0">
              <a:buNone/>
            </a:pPr>
            <a:endParaRPr lang="en-US" altLang="zh-CN" sz="2400" dirty="0"/>
          </a:p>
        </p:txBody>
      </p:sp>
      <p:sp>
        <p:nvSpPr>
          <p:cNvPr id="5" name="Slide Number Placeholder 4">
            <a:extLst>
              <a:ext uri="{FF2B5EF4-FFF2-40B4-BE49-F238E27FC236}">
                <a16:creationId xmlns:a16="http://schemas.microsoft.com/office/drawing/2014/main" id="{1AD75CA3-D753-C240-B995-BC67CCE6DAE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659731-6BD7-46E7-8D3C-2F3AC07E20B1}" type="slidenum">
              <a:rPr kumimoji="0" lang="en-US" altLang="zh-CN" sz="1400" u="none" strike="noStrike" kern="1200" cap="none" spc="0" normalizeH="0" baseline="0" noProof="0" smtClean="0">
                <a:ln>
                  <a:noFill/>
                </a:ln>
                <a:solidFill>
                  <a:srgbClr val="000000"/>
                </a:solidFill>
                <a:effectLst/>
                <a:uLnTx/>
                <a:uFillTx/>
                <a:latin typeface="Arial"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zh-CN" sz="1400" u="none" strike="noStrike" kern="1200" cap="none" spc="0" normalizeH="0" baseline="0" noProof="0" dirty="0">
              <a:ln>
                <a:noFill/>
              </a:ln>
              <a:solidFill>
                <a:srgbClr val="000000"/>
              </a:solidFill>
              <a:effectLst/>
              <a:uLnTx/>
              <a:uFillTx/>
              <a:latin typeface="Arial" charset="0"/>
              <a:cs typeface="+mn-cs"/>
            </a:endParaRPr>
          </a:p>
        </p:txBody>
      </p:sp>
      <p:sp>
        <p:nvSpPr>
          <p:cNvPr id="7" name="Rectangle 143">
            <a:extLst>
              <a:ext uri="{FF2B5EF4-FFF2-40B4-BE49-F238E27FC236}">
                <a16:creationId xmlns:a16="http://schemas.microsoft.com/office/drawing/2014/main" id="{4C8C4917-C707-897A-DB87-2E56A0F3BF7B}"/>
              </a:ext>
            </a:extLst>
          </p:cNvPr>
          <p:cNvSpPr>
            <a:spLocks noChangeArrowheads="1"/>
          </p:cNvSpPr>
          <p:nvPr/>
        </p:nvSpPr>
        <p:spPr bwMode="auto">
          <a:xfrm>
            <a:off x="2809104" y="2137578"/>
            <a:ext cx="3974980"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2045" tIns="46023" rIns="92045" bIns="46023" anchor="ctr">
            <a:spAutoFit/>
          </a:bodyPr>
          <a:lstStyle/>
          <a:p>
            <a:pPr algn="ctr" defTabSz="1009650" eaLnBrk="0" hangingPunct="0"/>
            <a:endParaRPr lang="en-US" altLang="zh-CN" sz="1600" dirty="0">
              <a:solidFill>
                <a:srgbClr val="FF0000"/>
              </a:solidFill>
              <a:latin typeface="Comic Sans MS" pitchFamily="66" charset="0"/>
              <a:ea typeface="SimHei" panose="02010609060101010101" pitchFamily="49" charset="-122"/>
            </a:endParaRPr>
          </a:p>
        </p:txBody>
      </p:sp>
      <p:sp>
        <p:nvSpPr>
          <p:cNvPr id="9" name="Rectangle 144">
            <a:extLst>
              <a:ext uri="{FF2B5EF4-FFF2-40B4-BE49-F238E27FC236}">
                <a16:creationId xmlns:a16="http://schemas.microsoft.com/office/drawing/2014/main" id="{E07031DB-87FC-61F8-AB8B-02171E5A1615}"/>
              </a:ext>
            </a:extLst>
          </p:cNvPr>
          <p:cNvSpPr>
            <a:spLocks noChangeArrowheads="1"/>
          </p:cNvSpPr>
          <p:nvPr/>
        </p:nvSpPr>
        <p:spPr bwMode="auto">
          <a:xfrm>
            <a:off x="5454637" y="2923080"/>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0" name="Rectangle 145">
            <a:extLst>
              <a:ext uri="{FF2B5EF4-FFF2-40B4-BE49-F238E27FC236}">
                <a16:creationId xmlns:a16="http://schemas.microsoft.com/office/drawing/2014/main" id="{1C073E60-98F2-5CBC-E1F8-E1A0FF4BE084}"/>
              </a:ext>
            </a:extLst>
          </p:cNvPr>
          <p:cNvSpPr>
            <a:spLocks noChangeArrowheads="1"/>
          </p:cNvSpPr>
          <p:nvPr/>
        </p:nvSpPr>
        <p:spPr bwMode="auto">
          <a:xfrm>
            <a:off x="2808288" y="2923080"/>
            <a:ext cx="2646349"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11" name="Rectangle 147">
            <a:extLst>
              <a:ext uri="{FF2B5EF4-FFF2-40B4-BE49-F238E27FC236}">
                <a16:creationId xmlns:a16="http://schemas.microsoft.com/office/drawing/2014/main" id="{2F704398-C3EA-F0B7-0A3D-7B5AA9AFC716}"/>
              </a:ext>
            </a:extLst>
          </p:cNvPr>
          <p:cNvSpPr>
            <a:spLocks noChangeArrowheads="1"/>
          </p:cNvSpPr>
          <p:nvPr/>
        </p:nvSpPr>
        <p:spPr bwMode="auto">
          <a:xfrm>
            <a:off x="5454637" y="3692983"/>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2" name="Rectangle 149">
            <a:extLst>
              <a:ext uri="{FF2B5EF4-FFF2-40B4-BE49-F238E27FC236}">
                <a16:creationId xmlns:a16="http://schemas.microsoft.com/office/drawing/2014/main" id="{A6641146-FED4-955F-44D4-2F7FF02F4BE8}"/>
              </a:ext>
            </a:extLst>
          </p:cNvPr>
          <p:cNvSpPr>
            <a:spLocks noChangeArrowheads="1"/>
          </p:cNvSpPr>
          <p:nvPr/>
        </p:nvSpPr>
        <p:spPr bwMode="auto">
          <a:xfrm>
            <a:off x="4123278" y="3692983"/>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en-US" altLang="zh-CN" sz="1600" dirty="0">
                <a:solidFill>
                  <a:schemeClr val="tx2"/>
                </a:solidFill>
                <a:latin typeface="+mn-lt"/>
                <a:ea typeface="SimHei" panose="02010609060101010101" pitchFamily="49" charset="-122"/>
              </a:rPr>
              <a:t>Cache</a:t>
            </a:r>
            <a:r>
              <a:rPr lang="zh-CN" altLang="en-US" sz="1600" dirty="0">
                <a:solidFill>
                  <a:schemeClr val="tx2"/>
                </a:solidFill>
                <a:latin typeface="+mn-lt"/>
                <a:ea typeface="SimHei" panose="02010609060101010101" pitchFamily="49" charset="-122"/>
              </a:rPr>
              <a:t>行号</a:t>
            </a:r>
            <a:endParaRPr lang="en-US" altLang="zh-CN" sz="1600" dirty="0">
              <a:solidFill>
                <a:schemeClr val="tx2"/>
              </a:solidFill>
              <a:latin typeface="+mn-lt"/>
              <a:ea typeface="SimHei" panose="02010609060101010101" pitchFamily="49" charset="-122"/>
            </a:endParaRPr>
          </a:p>
        </p:txBody>
      </p:sp>
      <p:sp>
        <p:nvSpPr>
          <p:cNvPr id="13" name="Rectangle 150">
            <a:extLst>
              <a:ext uri="{FF2B5EF4-FFF2-40B4-BE49-F238E27FC236}">
                <a16:creationId xmlns:a16="http://schemas.microsoft.com/office/drawing/2014/main" id="{C6A93F51-5677-3217-54E1-FCF80DD2D3B7}"/>
              </a:ext>
            </a:extLst>
          </p:cNvPr>
          <p:cNvSpPr>
            <a:spLocks noChangeArrowheads="1"/>
          </p:cNvSpPr>
          <p:nvPr/>
        </p:nvSpPr>
        <p:spPr bwMode="auto">
          <a:xfrm>
            <a:off x="2808288" y="3694714"/>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
        <p:nvSpPr>
          <p:cNvPr id="14" name="Rectangle 151">
            <a:extLst>
              <a:ext uri="{FF2B5EF4-FFF2-40B4-BE49-F238E27FC236}">
                <a16:creationId xmlns:a16="http://schemas.microsoft.com/office/drawing/2014/main" id="{D18523E8-D223-5C8F-A429-E896DEC110D6}"/>
              </a:ext>
            </a:extLst>
          </p:cNvPr>
          <p:cNvSpPr>
            <a:spLocks noChangeArrowheads="1"/>
          </p:cNvSpPr>
          <p:nvPr/>
        </p:nvSpPr>
        <p:spPr bwMode="auto">
          <a:xfrm>
            <a:off x="5454637" y="485821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行内地址</a:t>
            </a:r>
            <a:endParaRPr lang="en-US" altLang="zh-CN" sz="1600" dirty="0">
              <a:solidFill>
                <a:schemeClr val="tx2"/>
              </a:solidFill>
              <a:latin typeface="+mn-lt"/>
              <a:ea typeface="SimHei" panose="02010609060101010101" pitchFamily="49" charset="-122"/>
            </a:endParaRPr>
          </a:p>
        </p:txBody>
      </p:sp>
      <p:sp>
        <p:nvSpPr>
          <p:cNvPr id="15" name="Rectangle 152">
            <a:extLst>
              <a:ext uri="{FF2B5EF4-FFF2-40B4-BE49-F238E27FC236}">
                <a16:creationId xmlns:a16="http://schemas.microsoft.com/office/drawing/2014/main" id="{2418B057-1583-9C63-A887-83AFCA237C2F}"/>
              </a:ext>
            </a:extLst>
          </p:cNvPr>
          <p:cNvSpPr>
            <a:spLocks noChangeArrowheads="1"/>
          </p:cNvSpPr>
          <p:nvPr/>
        </p:nvSpPr>
        <p:spPr bwMode="auto">
          <a:xfrm>
            <a:off x="4123278" y="485821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en-US" altLang="zh-CN" sz="1600" dirty="0">
                <a:solidFill>
                  <a:schemeClr val="tx2"/>
                </a:solidFill>
                <a:latin typeface="+mn-lt"/>
                <a:ea typeface="SimHei" panose="02010609060101010101" pitchFamily="49" charset="-122"/>
              </a:rPr>
              <a:t>Cache</a:t>
            </a:r>
            <a:r>
              <a:rPr lang="zh-CN" altLang="en-US" sz="1600" dirty="0">
                <a:solidFill>
                  <a:schemeClr val="tx2"/>
                </a:solidFill>
                <a:latin typeface="+mn-lt"/>
                <a:ea typeface="SimHei" panose="02010609060101010101" pitchFamily="49" charset="-122"/>
              </a:rPr>
              <a:t>组号</a:t>
            </a:r>
            <a:endParaRPr lang="en-US" altLang="zh-CN" sz="1600" dirty="0">
              <a:solidFill>
                <a:schemeClr val="tx2"/>
              </a:solidFill>
              <a:latin typeface="+mn-lt"/>
              <a:ea typeface="SimHei" panose="02010609060101010101" pitchFamily="49" charset="-122"/>
            </a:endParaRPr>
          </a:p>
        </p:txBody>
      </p:sp>
      <p:sp>
        <p:nvSpPr>
          <p:cNvPr id="16" name="Rectangle 153">
            <a:extLst>
              <a:ext uri="{FF2B5EF4-FFF2-40B4-BE49-F238E27FC236}">
                <a16:creationId xmlns:a16="http://schemas.microsoft.com/office/drawing/2014/main" id="{0E2C331E-71CA-A67D-DFC7-F38BDABE2A09}"/>
              </a:ext>
            </a:extLst>
          </p:cNvPr>
          <p:cNvSpPr>
            <a:spLocks noChangeArrowheads="1"/>
          </p:cNvSpPr>
          <p:nvPr/>
        </p:nvSpPr>
        <p:spPr bwMode="auto">
          <a:xfrm>
            <a:off x="2802831" y="4858215"/>
            <a:ext cx="1328631" cy="339166"/>
          </a:xfrm>
          <a:prstGeom prst="rect">
            <a:avLst/>
          </a:prstGeom>
          <a:solidFill>
            <a:srgbClr val="F8F8F8"/>
          </a:solidFill>
          <a:ln w="2857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2045" tIns="46023" rIns="92045" bIns="46023" anchor="ctr">
            <a:spAutoFit/>
          </a:bodyPr>
          <a:lstStyle/>
          <a:p>
            <a:pPr algn="ctr" defTabSz="1009650" eaLnBrk="0" hangingPunct="0"/>
            <a:r>
              <a:rPr lang="zh-CN" altLang="en-US" sz="1600" dirty="0">
                <a:solidFill>
                  <a:schemeClr val="tx2"/>
                </a:solidFill>
                <a:latin typeface="+mn-lt"/>
                <a:ea typeface="SimHei" panose="02010609060101010101" pitchFamily="49" charset="-122"/>
              </a:rPr>
              <a:t>标签</a:t>
            </a:r>
            <a:endParaRPr lang="en-US" altLang="zh-CN" sz="1600" dirty="0">
              <a:solidFill>
                <a:schemeClr val="tx2"/>
              </a:solidFill>
              <a:latin typeface="+mn-lt"/>
              <a:ea typeface="SimHei" panose="02010609060101010101" pitchFamily="49" charset="-122"/>
            </a:endParaRPr>
          </a:p>
        </p:txBody>
      </p:sp>
    </p:spTree>
    <p:extLst>
      <p:ext uri="{BB962C8B-B14F-4D97-AF65-F5344CB8AC3E}">
        <p14:creationId xmlns:p14="http://schemas.microsoft.com/office/powerpoint/2010/main" val="3344277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Slide Number Placeholder 2">
            <a:extLst>
              <a:ext uri="{FF2B5EF4-FFF2-40B4-BE49-F238E27FC236}">
                <a16:creationId xmlns:a16="http://schemas.microsoft.com/office/drawing/2014/main" id="{08D780C1-2AA3-B847-BA6A-B8A7ACF91AE3}"/>
              </a:ext>
            </a:extLst>
          </p:cNvPr>
          <p:cNvSpPr>
            <a:spLocks noGrp="1"/>
          </p:cNvSpPr>
          <p:nvPr>
            <p:ph type="sldNum" sz="quarter" idx="12"/>
          </p:nvPr>
        </p:nvSpPr>
        <p:spPr/>
        <p:txBody>
          <a:bodyPr/>
          <a:lstStyle/>
          <a:p>
            <a:fld id="{14659731-6BD7-46E7-8D3C-2F3AC07E20B1}" type="slidenum">
              <a:rPr lang="en-US" altLang="zh-CN" smtClean="0"/>
              <a:pPr/>
              <a:t>84</a:t>
            </a:fld>
            <a:endParaRPr lang="en-US" altLang="zh-CN"/>
          </a:p>
        </p:txBody>
      </p:sp>
      <p:sp>
        <p:nvSpPr>
          <p:cNvPr id="7" name="内容占位符 2">
            <a:extLst>
              <a:ext uri="{FF2B5EF4-FFF2-40B4-BE49-F238E27FC236}">
                <a16:creationId xmlns:a16="http://schemas.microsoft.com/office/drawing/2014/main" id="{44AD668E-C9A5-DB48-A89D-D4F75849297A}"/>
              </a:ext>
            </a:extLst>
          </p:cNvPr>
          <p:cNvSpPr>
            <a:spLocks noGrp="1"/>
          </p:cNvSpPr>
          <p:nvPr>
            <p:ph idx="1"/>
          </p:nvPr>
        </p:nvSpPr>
        <p:spPr>
          <a:xfrm>
            <a:off x="457200" y="1551432"/>
            <a:ext cx="8229600" cy="4779793"/>
          </a:xfrm>
        </p:spPr>
        <p:txBody>
          <a:bodyPr/>
          <a:lstStyle/>
          <a:p>
            <a:pPr marL="514350" indent="-457200">
              <a:spcBef>
                <a:spcPts val="1000"/>
              </a:spcBef>
            </a:pPr>
            <a:r>
              <a:rPr kumimoji="1" lang="zh-CN" altLang="en-US" dirty="0"/>
              <a:t>作业</a:t>
            </a:r>
            <a:endParaRPr kumimoji="1" lang="en-US" altLang="zh-CN" dirty="0"/>
          </a:p>
          <a:p>
            <a:pPr marL="914400" lvl="1" indent="-457200">
              <a:spcBef>
                <a:spcPts val="1000"/>
              </a:spcBef>
            </a:pPr>
            <a:r>
              <a:rPr kumimoji="1" lang="zh-CN" altLang="en-US" dirty="0"/>
              <a:t>存储器设计第</a:t>
            </a:r>
            <a:r>
              <a:rPr kumimoji="1" lang="en-US" altLang="zh-CN" dirty="0"/>
              <a:t>2</a:t>
            </a:r>
            <a:r>
              <a:rPr kumimoji="1" lang="zh-CN" altLang="en-US" dirty="0"/>
              <a:t>、</a:t>
            </a:r>
            <a:r>
              <a:rPr kumimoji="1" lang="en-US" altLang="zh-CN" dirty="0"/>
              <a:t>4</a:t>
            </a:r>
            <a:r>
              <a:rPr kumimoji="1" lang="zh-CN" altLang="en-US" dirty="0"/>
              <a:t>、</a:t>
            </a:r>
            <a:r>
              <a:rPr kumimoji="1" lang="en-US" altLang="zh-CN" dirty="0"/>
              <a:t>8</a:t>
            </a:r>
            <a:r>
              <a:rPr kumimoji="1" lang="zh-CN" altLang="en-US" dirty="0"/>
              <a:t>、</a:t>
            </a:r>
            <a:r>
              <a:rPr kumimoji="1" lang="en-US" altLang="zh-CN" dirty="0"/>
              <a:t>13</a:t>
            </a:r>
            <a:r>
              <a:rPr kumimoji="1" lang="zh-CN" altLang="en-US" dirty="0"/>
              <a:t>、</a:t>
            </a:r>
            <a:r>
              <a:rPr kumimoji="1" lang="en-US" altLang="zh-CN" dirty="0"/>
              <a:t>14</a:t>
            </a:r>
            <a:r>
              <a:rPr kumimoji="1" lang="zh-CN" altLang="en-US" dirty="0"/>
              <a:t>题</a:t>
            </a:r>
            <a:endParaRPr kumimoji="1" lang="en-US" altLang="zh-CN" dirty="0"/>
          </a:p>
        </p:txBody>
      </p:sp>
    </p:spTree>
    <p:extLst>
      <p:ext uri="{BB962C8B-B14F-4D97-AF65-F5344CB8AC3E}">
        <p14:creationId xmlns:p14="http://schemas.microsoft.com/office/powerpoint/2010/main" val="757713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26142</TotalTime>
  <Words>8640</Words>
  <Application>Microsoft Office PowerPoint</Application>
  <PresentationFormat>全屏显示(4:3)</PresentationFormat>
  <Paragraphs>2013</Paragraphs>
  <Slides>84</Slides>
  <Notes>75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84</vt:i4>
      </vt:variant>
    </vt:vector>
  </HeadingPairs>
  <TitlesOfParts>
    <vt:vector size="97" baseType="lpstr">
      <vt:lpstr>黑体</vt:lpstr>
      <vt:lpstr>黑体</vt:lpstr>
      <vt:lpstr>STKaiti</vt:lpstr>
      <vt:lpstr>Arial</vt:lpstr>
      <vt:lpstr>Cambria Math</vt:lpstr>
      <vt:lpstr>Comic Sans MS</vt:lpstr>
      <vt:lpstr>Consolas</vt:lpstr>
      <vt:lpstr>Courier New</vt:lpstr>
      <vt:lpstr>Symbol</vt:lpstr>
      <vt:lpstr>Tahoma</vt:lpstr>
      <vt:lpstr>Times New Roman</vt:lpstr>
      <vt:lpstr>Wingdings</vt:lpstr>
      <vt:lpstr>默认设计模板</vt:lpstr>
      <vt:lpstr>PowerPoint 演示文稿</vt:lpstr>
      <vt:lpstr>第四次习题课与期末课程安排</vt:lpstr>
      <vt:lpstr>PowerPoint 演示文稿</vt:lpstr>
      <vt:lpstr>微体系结构</vt:lpstr>
      <vt:lpstr>目录</vt:lpstr>
      <vt:lpstr>存储系统基础：半导体存储器</vt:lpstr>
      <vt:lpstr>PC价格vs存储</vt:lpstr>
      <vt:lpstr>PC：CPU  DRAM</vt:lpstr>
      <vt:lpstr>CPU内部</vt:lpstr>
      <vt:lpstr>CPU内部</vt:lpstr>
      <vt:lpstr>从CPU到内存、硬盘</vt:lpstr>
      <vt:lpstr>不同类别的存储器</vt:lpstr>
      <vt:lpstr>存储系统基础：单一存储器的困境</vt:lpstr>
      <vt:lpstr>理想 vs 现实：直面挑战 &amp; 协同创新</vt:lpstr>
      <vt:lpstr>身边的例子：写作</vt:lpstr>
      <vt:lpstr>存储系统的设计理论</vt:lpstr>
      <vt:lpstr>存储系统的设计理论</vt:lpstr>
      <vt:lpstr>存储系统的设计理论</vt:lpstr>
      <vt:lpstr>缓存的结构化组织和描述方法</vt:lpstr>
      <vt:lpstr>层次化存储器的分析</vt:lpstr>
      <vt:lpstr>层次化存储器的分析</vt:lpstr>
      <vt:lpstr>缓存（Cache）技术：基本结构</vt:lpstr>
      <vt:lpstr>缓存性能的分析：二级缓存</vt:lpstr>
      <vt:lpstr>PowerPoint 演示文稿</vt:lpstr>
      <vt:lpstr>PowerPoint 演示文稿</vt:lpstr>
      <vt:lpstr>缓存技术基础</vt:lpstr>
      <vt:lpstr>目录</vt:lpstr>
      <vt:lpstr>缓存（Cache）：技术实现</vt:lpstr>
      <vt:lpstr>缓存技术：Cache存储体</vt:lpstr>
      <vt:lpstr>缓存技术：Cache存储体</vt:lpstr>
      <vt:lpstr>缓存技术：Cache存储体</vt:lpstr>
      <vt:lpstr>缓存技术： Cache存储体</vt:lpstr>
      <vt:lpstr>PowerPoint 演示文稿</vt:lpstr>
      <vt:lpstr>PowerPoint 演示文稿</vt:lpstr>
      <vt:lpstr>缓存技术实现</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缓存技术：Cache地址映像方式</vt:lpstr>
      <vt:lpstr>全相联缓存:  并行查找</vt:lpstr>
      <vt:lpstr>缓存技术：Cache地址映像方式</vt:lpstr>
      <vt:lpstr>缓存技术：Cache地址映像方式</vt:lpstr>
      <vt:lpstr>缓存技术：Cache地址映像方式</vt:lpstr>
      <vt:lpstr>练习题</vt:lpstr>
      <vt:lpstr>缓存技术：Cache地址映像方式</vt:lpstr>
      <vt:lpstr>缓存技术：Cache地址映像方式练习</vt:lpstr>
      <vt:lpstr>缓存技术：Cache地址映像方式练习</vt:lpstr>
      <vt:lpstr>缓存技术：Cache地址映像方式练习</vt:lpstr>
      <vt:lpstr>缓存技术：Cache地址映像方式练习</vt:lpstr>
      <vt:lpstr>缓存技术实现</vt:lpstr>
      <vt:lpstr>缓存技术：Cache基本结构</vt:lpstr>
      <vt:lpstr>缓存技术：Cache数据的替换及更新</vt:lpstr>
      <vt:lpstr>缓存技术：Cache数据的替换及更新</vt:lpstr>
      <vt:lpstr>缓存技术：Cache数据的替换及更新</vt:lpstr>
      <vt:lpstr>缓存技术：Cache数据的替换及更新</vt:lpstr>
      <vt:lpstr>缓存：数据替换和更新策略</vt:lpstr>
      <vt:lpstr>缓存技术：Cache数据的替换及更新</vt:lpstr>
      <vt:lpstr>缓存技术：Cache数据的替换及更新</vt:lpstr>
      <vt:lpstr>缓存技术：Cache数据的替换及更新</vt:lpstr>
      <vt:lpstr>缓存技术：Cache数据的替换及更新</vt:lpstr>
      <vt:lpstr>缓存技术：Cache数据的替换及更新</vt:lpstr>
      <vt:lpstr>PowerPoint 演示文稿</vt:lpstr>
      <vt:lpstr>PowerPoint 演示文稿</vt:lpstr>
      <vt:lpstr>缓存技术实现</vt:lpstr>
      <vt:lpstr>缓存技术：Cache的作用</vt:lpstr>
      <vt:lpstr>缓存技术：Cache的作用</vt:lpstr>
      <vt:lpstr>缓存技术：Cache的作用</vt:lpstr>
      <vt:lpstr>缓存技术：Cache的作用</vt:lpstr>
      <vt:lpstr>缓存技术：Cache的作用</vt:lpstr>
      <vt:lpstr>缓存技术：Cache的作用</vt:lpstr>
      <vt:lpstr>缓存技术：Cache的作用</vt:lpstr>
      <vt:lpstr>缓存技术：Cache的作用</vt:lpstr>
      <vt:lpstr>小结</vt:lpstr>
      <vt:lpstr>小结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xing</dc:creator>
  <cp:lastModifiedBy>学清 李</cp:lastModifiedBy>
  <cp:revision>2492</cp:revision>
  <dcterms:created xsi:type="dcterms:W3CDTF">2009-12-11T02:45:36Z</dcterms:created>
  <dcterms:modified xsi:type="dcterms:W3CDTF">2024-06-05T02:21:37Z</dcterms:modified>
</cp:coreProperties>
</file>